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23"/>
  </p:notesMasterIdLst>
  <p:sldIdLst>
    <p:sldId id="393" r:id="rId11"/>
    <p:sldId id="453" r:id="rId12"/>
    <p:sldId id="454" r:id="rId13"/>
    <p:sldId id="464" r:id="rId14"/>
    <p:sldId id="455" r:id="rId15"/>
    <p:sldId id="456" r:id="rId16"/>
    <p:sldId id="457" r:id="rId17"/>
    <p:sldId id="458" r:id="rId18"/>
    <p:sldId id="459" r:id="rId19"/>
    <p:sldId id="460" r:id="rId20"/>
    <p:sldId id="461" r:id="rId21"/>
    <p:sldId id="462"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92" userDrawn="1">
          <p15:clr>
            <a:srgbClr val="A4A3A4"/>
          </p15:clr>
        </p15:guide>
        <p15:guide id="3" pos="5568" userDrawn="1">
          <p15:clr>
            <a:srgbClr val="A4A3A4"/>
          </p15:clr>
        </p15:guide>
        <p15:guide id="4" orient="horz" pos="1104" userDrawn="1">
          <p15:clr>
            <a:srgbClr val="A4A3A4"/>
          </p15:clr>
        </p15:guide>
        <p15:guide id="8" orient="horz" pos="3984" userDrawn="1">
          <p15:clr>
            <a:srgbClr val="A4A3A4"/>
          </p15:clr>
        </p15:guide>
        <p15:guide id="9" orient="horz" pos="240" userDrawn="1">
          <p15:clr>
            <a:srgbClr val="A4A3A4"/>
          </p15:clr>
        </p15:guide>
        <p15:guide id="10" pos="5472" userDrawn="1">
          <p15:clr>
            <a:srgbClr val="A4A3A4"/>
          </p15:clr>
        </p15:guide>
        <p15:guide id="11" pos="4560" userDrawn="1">
          <p15:clr>
            <a:srgbClr val="A4A3A4"/>
          </p15:clr>
        </p15:guide>
        <p15:guide id="12" pos="1392" userDrawn="1">
          <p15:clr>
            <a:srgbClr val="A4A3A4"/>
          </p15:clr>
        </p15:guide>
        <p15:guide id="13" orient="horz" pos="139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7F"/>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3867" autoAdjust="0"/>
  </p:normalViewPr>
  <p:slideViewPr>
    <p:cSldViewPr>
      <p:cViewPr varScale="1">
        <p:scale>
          <a:sx n="67" d="100"/>
          <a:sy n="67" d="100"/>
        </p:scale>
        <p:origin x="1280" y="40"/>
      </p:cViewPr>
      <p:guideLst>
        <p:guide pos="192"/>
        <p:guide pos="5568"/>
        <p:guide orient="horz" pos="1104"/>
        <p:guide orient="horz" pos="3984"/>
        <p:guide orient="horz" pos="240"/>
        <p:guide pos="5472"/>
        <p:guide pos="4560"/>
        <p:guide pos="1392"/>
        <p:guide orient="horz" pos="1392"/>
      </p:guideLst>
    </p:cSldViewPr>
  </p:slideViewPr>
  <p:outlineViewPr>
    <p:cViewPr>
      <p:scale>
        <a:sx n="33" d="100"/>
        <a:sy n="33" d="100"/>
      </p:scale>
      <p:origin x="0" y="-21653"/>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10/24/2024</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4</a:t>
            </a:fld>
            <a:endParaRPr lang="en-US" dirty="0"/>
          </a:p>
        </p:txBody>
      </p:sp>
    </p:spTree>
    <p:extLst>
      <p:ext uri="{BB962C8B-B14F-4D97-AF65-F5344CB8AC3E}">
        <p14:creationId xmlns:p14="http://schemas.microsoft.com/office/powerpoint/2010/main" val="3833623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914400"/>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990600"/>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304800" y="2918345"/>
            <a:ext cx="4114800" cy="1120255"/>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51FEAA41-A5BC-4E32-B920-51DF9D693409}"/>
              </a:ext>
            </a:extLst>
          </p:cNvPr>
          <p:cNvSpPr>
            <a:spLocks noGrp="1"/>
          </p:cNvSpPr>
          <p:nvPr>
            <p:ph sz="quarter" idx="19"/>
          </p:nvPr>
        </p:nvSpPr>
        <p:spPr>
          <a:xfrm>
            <a:off x="4724400" y="2917825"/>
            <a:ext cx="4114800" cy="1152525"/>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11" name="Content Placeholder 10">
            <a:extLst>
              <a:ext uri="{FF2B5EF4-FFF2-40B4-BE49-F238E27FC236}">
                <a16:creationId xmlns:a16="http://schemas.microsoft.com/office/drawing/2014/main" id="{2A3E0FA6-4C6D-4A31-880E-641C71D12BEE}"/>
              </a:ext>
            </a:extLst>
          </p:cNvPr>
          <p:cNvSpPr>
            <a:spLocks noGrp="1"/>
          </p:cNvSpPr>
          <p:nvPr>
            <p:ph sz="quarter" idx="20"/>
          </p:nvPr>
        </p:nvSpPr>
        <p:spPr>
          <a:xfrm>
            <a:off x="304800" y="4191000"/>
            <a:ext cx="4114800" cy="1174750"/>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13" name="Content Placeholder 12">
            <a:extLst>
              <a:ext uri="{FF2B5EF4-FFF2-40B4-BE49-F238E27FC236}">
                <a16:creationId xmlns:a16="http://schemas.microsoft.com/office/drawing/2014/main" id="{EFBE7233-B2B2-4887-BD47-A806A3D3F600}"/>
              </a:ext>
            </a:extLst>
          </p:cNvPr>
          <p:cNvSpPr>
            <a:spLocks noGrp="1"/>
          </p:cNvSpPr>
          <p:nvPr>
            <p:ph sz="quarter" idx="21"/>
          </p:nvPr>
        </p:nvSpPr>
        <p:spPr>
          <a:xfrm>
            <a:off x="4724400" y="4191000"/>
            <a:ext cx="4114800" cy="1295400"/>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990302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6.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7" r:id="rId11"/>
    <p:sldLayoutId id="2147483986" r:id="rId1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5</a:t>
            </a:r>
          </a:p>
        </p:txBody>
      </p:sp>
      <p:sp>
        <p:nvSpPr>
          <p:cNvPr id="6" name="CT"/>
          <p:cNvSpPr>
            <a:spLocks noGrp="1"/>
          </p:cNvSpPr>
          <p:nvPr>
            <p:ph sz="quarter" idx="20"/>
          </p:nvPr>
        </p:nvSpPr>
        <p:spPr>
          <a:xfrm>
            <a:off x="152400" y="4856282"/>
            <a:ext cx="8839200" cy="645414"/>
          </a:xfrm>
        </p:spPr>
        <p:txBody>
          <a:bodyPr/>
          <a:lstStyle/>
          <a:p>
            <a:pPr>
              <a:spcBef>
                <a:spcPts val="0"/>
              </a:spcBef>
            </a:pPr>
            <a:r>
              <a:rPr lang="en-US" sz="4000" dirty="0"/>
              <a:t>Accounting for Merchandising Operations</a:t>
            </a:r>
          </a:p>
          <a:p>
            <a:pPr>
              <a:spcBef>
                <a:spcPts val="0"/>
              </a:spcBef>
            </a:pPr>
            <a:r>
              <a:rPr lang="en-US" sz="4000" dirty="0">
                <a:latin typeface="Calibri" panose="020F0502020204030204" pitchFamily="34" charset="0"/>
                <a:ea typeface="Source Sans Pro" charset="0"/>
                <a:cs typeface="Calibri" panose="020F0502020204030204" pitchFamily="34" charset="0"/>
              </a:rPr>
              <a:t>Periodic Inventory System</a:t>
            </a:r>
            <a:endParaRPr lang="en-US" sz="4000" dirty="0"/>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84BF-C130-43F7-88FF-2886315676B9}"/>
              </a:ext>
            </a:extLst>
          </p:cNvPr>
          <p:cNvSpPr>
            <a:spLocks noGrp="1"/>
          </p:cNvSpPr>
          <p:nvPr>
            <p:ph type="title"/>
          </p:nvPr>
        </p:nvSpPr>
        <p:spPr>
          <a:xfrm>
            <a:off x="304800" y="762001"/>
            <a:ext cx="8763000" cy="685799"/>
          </a:xfrm>
        </p:spPr>
        <p:txBody>
          <a:bodyPr>
            <a:noAutofit/>
          </a:bodyPr>
          <a:lstStyle/>
          <a:p>
            <a:r>
              <a:rPr lang="en-US" sz="3600" dirty="0">
                <a:latin typeface="Calibri" panose="020F0502020204030204" pitchFamily="34" charset="0"/>
                <a:ea typeface="Source Sans Pro" charset="0"/>
                <a:cs typeface="Calibri" panose="020F0502020204030204" pitchFamily="34" charset="0"/>
              </a:rPr>
              <a:t>Periodic Inventory System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sp>
        <p:nvSpPr>
          <p:cNvPr id="3" name="Content Placeholder 2">
            <a:extLst>
              <a:ext uri="{FF2B5EF4-FFF2-40B4-BE49-F238E27FC236}">
                <a16:creationId xmlns:a16="http://schemas.microsoft.com/office/drawing/2014/main" id="{3ED28588-6FE3-4D4D-8C65-7B100C0C0BB6}"/>
              </a:ext>
            </a:extLst>
          </p:cNvPr>
          <p:cNvSpPr>
            <a:spLocks noGrp="1"/>
          </p:cNvSpPr>
          <p:nvPr>
            <p:ph sz="quarter" idx="16"/>
          </p:nvPr>
        </p:nvSpPr>
        <p:spPr>
          <a:xfrm>
            <a:off x="304800" y="1676400"/>
            <a:ext cx="8534400" cy="4343400"/>
          </a:xfrm>
        </p:spPr>
        <p:txBody>
          <a:bodyPr/>
          <a:lstStyle/>
          <a:p>
            <a:r>
              <a:rPr lang="en-US" b="1" dirty="0">
                <a:solidFill>
                  <a:srgbClr val="990000"/>
                </a:solidFill>
                <a:latin typeface="Calibri" panose="020F0502020204030204" pitchFamily="34" charset="0"/>
              </a:rPr>
              <a:t>Determining Cost of Goods Sold Under a Periodic System</a:t>
            </a:r>
            <a:endParaRPr lang="en-US" altLang="en-US" dirty="0">
              <a:solidFill>
                <a:srgbClr val="990000"/>
              </a:solidFill>
              <a:latin typeface="Calibri" panose="020F0502020204030204" pitchFamily="34" charset="0"/>
            </a:endParaRPr>
          </a:p>
          <a:p>
            <a:pPr marL="292608" lvl="2" indent="-292608">
              <a:spcBef>
                <a:spcPts val="1000"/>
              </a:spcBef>
              <a:buClr>
                <a:srgbClr val="990000"/>
              </a:buClr>
              <a:buSzPct val="100000"/>
            </a:pPr>
            <a:r>
              <a:rPr lang="en-US" altLang="en-US" sz="2400" dirty="0"/>
              <a:t>No running account of changes in inventory</a:t>
            </a:r>
          </a:p>
          <a:p>
            <a:pPr marL="292608" lvl="2" indent="-292608">
              <a:spcBef>
                <a:spcPts val="1000"/>
              </a:spcBef>
              <a:buClr>
                <a:srgbClr val="990000"/>
              </a:buClr>
              <a:buSzPct val="100000"/>
            </a:pPr>
            <a:r>
              <a:rPr lang="en-US" altLang="en-US" sz="2400" dirty="0"/>
              <a:t>Ending inventory determined by physical count</a:t>
            </a:r>
          </a:p>
          <a:p>
            <a:pPr marL="292608" lvl="2" indent="-292608">
              <a:spcBef>
                <a:spcPts val="1000"/>
              </a:spcBef>
              <a:buClr>
                <a:srgbClr val="990000"/>
              </a:buClr>
              <a:buSzPct val="100000"/>
            </a:pPr>
            <a:r>
              <a:rPr lang="en-US" altLang="en-US" sz="2400" dirty="0"/>
              <a:t>Cost of goods sold not determined until end of period</a:t>
            </a:r>
          </a:p>
          <a:p>
            <a:pPr marL="292608" lvl="2" indent="-292608">
              <a:spcBef>
                <a:spcPts val="1000"/>
              </a:spcBef>
              <a:buClr>
                <a:srgbClr val="990000"/>
              </a:buClr>
              <a:buSzPct val="100000"/>
            </a:pPr>
            <a:r>
              <a:rPr lang="en-IN" sz="2400" dirty="0"/>
              <a:t>Different accounts used for purchases, freight costs, returns, and discounts</a:t>
            </a:r>
            <a:endParaRPr lang="en-US" sz="2400" dirty="0"/>
          </a:p>
        </p:txBody>
      </p:sp>
      <p:sp>
        <p:nvSpPr>
          <p:cNvPr id="4" name="Slide Number Placeholder 3">
            <a:extLst>
              <a:ext uri="{FF2B5EF4-FFF2-40B4-BE49-F238E27FC236}">
                <a16:creationId xmlns:a16="http://schemas.microsoft.com/office/drawing/2014/main" id="{B02FCC52-7E3D-4454-AED0-2417CBCD431B}"/>
              </a:ext>
            </a:extLst>
          </p:cNvPr>
          <p:cNvSpPr>
            <a:spLocks noGrp="1"/>
          </p:cNvSpPr>
          <p:nvPr>
            <p:ph type="sldNum" sz="quarter" idx="10"/>
          </p:nvPr>
        </p:nvSpPr>
        <p:spPr/>
        <p:txBody>
          <a:bodyPr/>
          <a:lstStyle/>
          <a:p>
            <a:fld id="{67B19427-F580-D146-B60E-4CADEE75497F}" type="slidenum">
              <a:rPr lang="en-US" smtClean="0"/>
              <a:pPr/>
              <a:t>2</a:t>
            </a:fld>
            <a:endParaRPr lang="en-US" dirty="0"/>
          </a:p>
        </p:txBody>
      </p:sp>
      <p:sp>
        <p:nvSpPr>
          <p:cNvPr id="5" name="Footer Placeholder 4">
            <a:extLst>
              <a:ext uri="{FF2B5EF4-FFF2-40B4-BE49-F238E27FC236}">
                <a16:creationId xmlns:a16="http://schemas.microsoft.com/office/drawing/2014/main" id="{9C6402A9-04AB-4AC0-A73D-E20D3DA3526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82936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F2B3-42D2-4950-9B7B-F6D388C6BFBF}"/>
              </a:ext>
            </a:extLst>
          </p:cNvPr>
          <p:cNvSpPr>
            <a:spLocks noGrp="1"/>
          </p:cNvSpPr>
          <p:nvPr>
            <p:ph type="title"/>
          </p:nvPr>
        </p:nvSpPr>
        <p:spPr>
          <a:xfrm>
            <a:off x="304800" y="762001"/>
            <a:ext cx="8763000" cy="609599"/>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Periodic Inventory System </a:t>
            </a:r>
            <a:r>
              <a:rPr lang="en-US" sz="2700" b="0" dirty="0">
                <a:latin typeface="Calibri" panose="020F0502020204030204" pitchFamily="34" charset="0"/>
                <a:ea typeface="Source Sans Pro" charset="0"/>
                <a:cs typeface="Calibri" panose="020F0502020204030204" pitchFamily="34" charset="0"/>
              </a:rPr>
              <a:t>(2 of 2)</a:t>
            </a:r>
            <a:endParaRPr lang="en-US" sz="2700" dirty="0"/>
          </a:p>
        </p:txBody>
      </p:sp>
      <p:pic>
        <p:nvPicPr>
          <p:cNvPr id="4" name="Content Placeholder 3" descr="An illustration displays a cost of goods sold. The statement displays a three-line heading consisting of the name of the company, PW Audio Supply; the type of statement, cost of goods sold; and the time period the statement covers, For the Year Ended December 31, 2020. There are four columns in this statement, the first displaying labels and the other three displaying the respective numeric amounts. The subheading of the statement reads cost of goods sold. The inventory on January 1 is $36,000 displayed in the third numeric column and highlighted in blue font. The purchases are $325,000 displayed in the second numeric column. After subtracting purchase returns and allowances of $10,400; and purchase discounts of 6,800, the total of 17,200 is displayed in the second numeric column of purchase discount. The net purchase is 307,800 displayed in the second numeric column. An amount of 12,200 is added to the net purchase as freight in. The cost of goods purchased is 320,000 displayed in the third numeric column in blue font. The cost of goods available for sale is 356,000 in the third numeric column. After subtracting inventory on December 31, of 40,000 displayed in blue font in third numeric column, the cost of goods sold is $316,000 displayed in the third numeric column in red font."/>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844193" y="1752600"/>
            <a:ext cx="7455613" cy="4267200"/>
          </a:xfrm>
        </p:spPr>
      </p:pic>
      <p:sp>
        <p:nvSpPr>
          <p:cNvPr id="5" name="Slide Number Placeholder 4">
            <a:extLst>
              <a:ext uri="{FF2B5EF4-FFF2-40B4-BE49-F238E27FC236}">
                <a16:creationId xmlns:a16="http://schemas.microsoft.com/office/drawing/2014/main" id="{40BFCDEF-A5A7-4CDB-985C-503FEE17F0EB}"/>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6" name="Footer Placeholder 5">
            <a:extLst>
              <a:ext uri="{FF2B5EF4-FFF2-40B4-BE49-F238E27FC236}">
                <a16:creationId xmlns:a16="http://schemas.microsoft.com/office/drawing/2014/main" id="{0CBFE05C-6977-48E4-998A-8DD9964EE2A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14193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Table&#10;&#10;Description automatically generated">
            <a:extLst>
              <a:ext uri="{FF2B5EF4-FFF2-40B4-BE49-F238E27FC236}">
                <a16:creationId xmlns:a16="http://schemas.microsoft.com/office/drawing/2014/main" id="{08E81BA6-2882-4835-8228-5677A3F03400}"/>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167196" y="80917"/>
            <a:ext cx="8809608" cy="6696165"/>
          </a:xfrm>
        </p:spPr>
      </p:pic>
    </p:spTree>
    <p:extLst>
      <p:ext uri="{BB962C8B-B14F-4D97-AF65-F5344CB8AC3E}">
        <p14:creationId xmlns:p14="http://schemas.microsoft.com/office/powerpoint/2010/main" val="204785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CF44-C6B1-47B0-8C05-670C97BF719E}"/>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Recording Merchandise Transactions</a:t>
            </a:r>
            <a:endParaRPr lang="en-US" dirty="0"/>
          </a:p>
        </p:txBody>
      </p:sp>
      <p:sp>
        <p:nvSpPr>
          <p:cNvPr id="3" name="Content Placeholder 2">
            <a:extLst>
              <a:ext uri="{FF2B5EF4-FFF2-40B4-BE49-F238E27FC236}">
                <a16:creationId xmlns:a16="http://schemas.microsoft.com/office/drawing/2014/main" id="{F1988E81-B7AD-45A8-8A4E-100465648DDB}"/>
              </a:ext>
            </a:extLst>
          </p:cNvPr>
          <p:cNvSpPr>
            <a:spLocks noGrp="1"/>
          </p:cNvSpPr>
          <p:nvPr>
            <p:ph sz="quarter" idx="16"/>
          </p:nvPr>
        </p:nvSpPr>
        <p:spPr>
          <a:xfrm>
            <a:off x="304800" y="1828800"/>
            <a:ext cx="8534400" cy="3810000"/>
          </a:xfrm>
        </p:spPr>
        <p:txBody>
          <a:bodyPr/>
          <a:lstStyle/>
          <a:p>
            <a:pPr marL="292608" lvl="2" indent="-292608">
              <a:spcBef>
                <a:spcPts val="1000"/>
              </a:spcBef>
              <a:buClr>
                <a:srgbClr val="990000"/>
              </a:buClr>
              <a:buSzPct val="100000"/>
            </a:pPr>
            <a:r>
              <a:rPr lang="en-US" altLang="en-US" sz="2800" dirty="0">
                <a:latin typeface="Calibri" panose="020F0502020204030204" pitchFamily="34" charset="0"/>
              </a:rPr>
              <a:t>Record revenues when sales are made</a:t>
            </a:r>
          </a:p>
          <a:p>
            <a:pPr marL="292608" lvl="2" indent="-292608">
              <a:spcBef>
                <a:spcPts val="1000"/>
              </a:spcBef>
              <a:buClr>
                <a:srgbClr val="990000"/>
              </a:buClr>
              <a:buSzPct val="100000"/>
            </a:pPr>
            <a:r>
              <a:rPr lang="en-US" altLang="en-US" sz="2800" dirty="0">
                <a:latin typeface="Calibri" panose="020F0502020204030204" pitchFamily="34" charset="0"/>
              </a:rPr>
              <a:t>Cost of merchandise sold not recorded on date of sale</a:t>
            </a:r>
          </a:p>
          <a:p>
            <a:pPr marL="292608" lvl="2" indent="-292608">
              <a:spcBef>
                <a:spcPts val="1000"/>
              </a:spcBef>
              <a:buClr>
                <a:srgbClr val="990000"/>
              </a:buClr>
              <a:buSzPct val="100000"/>
            </a:pPr>
            <a:r>
              <a:rPr lang="en-US" altLang="en-US" sz="2800" dirty="0">
                <a:latin typeface="Calibri" panose="020F0502020204030204" pitchFamily="34" charset="0"/>
              </a:rPr>
              <a:t>Physical inventory count at end of period determines:</a:t>
            </a:r>
          </a:p>
          <a:p>
            <a:pPr marL="621792" lvl="3" indent="-320040">
              <a:buClr>
                <a:srgbClr val="990000"/>
              </a:buClr>
              <a:buSzPct val="80000"/>
              <a:buFont typeface="Courier New" panose="02070309020205020404" pitchFamily="49" charset="0"/>
              <a:buChar char="o"/>
            </a:pPr>
            <a:r>
              <a:rPr lang="en-US" altLang="en-US" sz="2600" dirty="0">
                <a:latin typeface="Calibri" panose="020F0502020204030204" pitchFamily="34" charset="0"/>
              </a:rPr>
              <a:t>cost of merchandise </a:t>
            </a:r>
            <a:r>
              <a:rPr lang="en-US" altLang="en-US" sz="2600" b="1" dirty="0">
                <a:latin typeface="Calibri" panose="020F0502020204030204" pitchFamily="34" charset="0"/>
              </a:rPr>
              <a:t>on hand </a:t>
            </a:r>
            <a:r>
              <a:rPr lang="en-US" altLang="en-US" sz="2600" dirty="0">
                <a:latin typeface="Calibri" panose="020F0502020204030204" pitchFamily="34" charset="0"/>
              </a:rPr>
              <a:t>and</a:t>
            </a:r>
          </a:p>
          <a:p>
            <a:pPr marL="621792" lvl="3" indent="-320040">
              <a:buClr>
                <a:srgbClr val="990000"/>
              </a:buClr>
              <a:buSzPct val="80000"/>
              <a:buFont typeface="Courier New" panose="02070309020205020404" pitchFamily="49" charset="0"/>
              <a:buChar char="o"/>
            </a:pPr>
            <a:r>
              <a:rPr lang="en-US" altLang="en-US" sz="2600" dirty="0">
                <a:latin typeface="Calibri" panose="020F0502020204030204" pitchFamily="34" charset="0"/>
              </a:rPr>
              <a:t>cost of merchandise </a:t>
            </a:r>
            <a:r>
              <a:rPr lang="en-US" altLang="en-US" sz="2600" b="1" dirty="0">
                <a:latin typeface="Calibri" panose="020F0502020204030204" pitchFamily="34" charset="0"/>
              </a:rPr>
              <a:t>sold</a:t>
            </a:r>
            <a:r>
              <a:rPr lang="en-US" altLang="en-US" sz="2600" dirty="0">
                <a:latin typeface="Calibri" panose="020F0502020204030204" pitchFamily="34" charset="0"/>
              </a:rPr>
              <a:t> during the period</a:t>
            </a:r>
          </a:p>
          <a:p>
            <a:pPr marL="292608" lvl="2" indent="-292608">
              <a:spcBef>
                <a:spcPts val="1000"/>
              </a:spcBef>
              <a:buClr>
                <a:srgbClr val="990000"/>
              </a:buClr>
              <a:buSzPct val="100000"/>
            </a:pPr>
            <a:r>
              <a:rPr lang="en-US" altLang="en-US" sz="2800" dirty="0">
                <a:latin typeface="Calibri" panose="020F0502020204030204" pitchFamily="34" charset="0"/>
              </a:rPr>
              <a:t>Purchases recorded in Purchases account</a:t>
            </a:r>
          </a:p>
          <a:p>
            <a:pPr marL="292608" lvl="2" indent="-292608">
              <a:spcBef>
                <a:spcPts val="1000"/>
              </a:spcBef>
              <a:buClr>
                <a:srgbClr val="990000"/>
              </a:buClr>
              <a:buSzPct val="100000"/>
            </a:pPr>
            <a:r>
              <a:rPr lang="en-US" altLang="en-US" sz="2800" dirty="0">
                <a:latin typeface="Calibri" panose="020F0502020204030204" pitchFamily="34" charset="0"/>
              </a:rPr>
              <a:t>Purchase returns and allowances, Purchase discounts, and Freight costs are recorded in separate accounts</a:t>
            </a:r>
            <a:endParaRPr lang="en-US"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0AE9C1F7-8D2C-4C97-9D1C-2349BAD3D47F}"/>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6BB362BD-11AC-4C17-B3F6-EDB2F323260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87349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686800" cy="7619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(1 of 4)</a:t>
            </a:r>
            <a:endParaRPr lang="en-US" sz="2700" b="0" dirty="0">
              <a:latin typeface="Calibri" panose="020F0502020204030204" pitchFamily="34" charset="0"/>
            </a:endParaRPr>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1100861"/>
          </a:xfrm>
        </p:spPr>
        <p:txBody>
          <a:bodyPr/>
          <a:lstStyle/>
          <a:p>
            <a:r>
              <a:rPr lang="en-US" altLang="en-US" sz="2400" b="1" dirty="0">
                <a:latin typeface="Calibri" panose="020F0502020204030204" pitchFamily="34" charset="0"/>
              </a:rPr>
              <a:t>Illustration: </a:t>
            </a:r>
            <a:r>
              <a:rPr lang="en-US" sz="2400" dirty="0">
                <a:latin typeface="Calibri" panose="020F0502020204030204" pitchFamily="34" charset="0"/>
              </a:rPr>
              <a:t>On the basis of the sales invoice (Illustration 5.6) and receipt of the merchandise ordered from P</a:t>
            </a:r>
            <a:r>
              <a:rPr lang="en-US" sz="100" dirty="0">
                <a:latin typeface="Calibri" panose="020F0502020204030204" pitchFamily="34" charset="0"/>
              </a:rPr>
              <a:t> </a:t>
            </a:r>
            <a:r>
              <a:rPr lang="en-US" sz="2400" dirty="0">
                <a:latin typeface="Calibri" panose="020F0502020204030204" pitchFamily="34" charset="0"/>
              </a:rPr>
              <a:t>W Audio Supply, Sauk Stereo records the $3,800 purchase as follows.</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132569"/>
            <a:ext cx="990600" cy="406159"/>
          </a:xfrm>
        </p:spPr>
        <p:txBody>
          <a:bodyPr/>
          <a:lstStyle/>
          <a:p>
            <a:r>
              <a:rPr lang="en-US" sz="2400" dirty="0">
                <a:latin typeface="Calibri" panose="020F0502020204030204" pitchFamily="34" charset="0"/>
              </a:rPr>
              <a:t>May 4</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132569"/>
            <a:ext cx="1517074" cy="365125"/>
          </a:xfrm>
        </p:spPr>
        <p:txBody>
          <a:bodyPr/>
          <a:lstStyle/>
          <a:p>
            <a:r>
              <a:rPr lang="en-US" sz="2400" dirty="0">
                <a:latin typeface="Calibri" panose="020F0502020204030204" pitchFamily="34" charset="0"/>
              </a:rPr>
              <a:t>Purchases</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324600" y="3124200"/>
            <a:ext cx="980768" cy="365125"/>
          </a:xfrm>
        </p:spPr>
        <p:txBody>
          <a:bodyPr/>
          <a:lstStyle/>
          <a:p>
            <a:r>
              <a:rPr lang="en-US" sz="2400" dirty="0">
                <a:latin typeface="Calibri" panose="020F0502020204030204" pitchFamily="34" charset="0"/>
              </a:rPr>
              <a:t>3,800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10082" y="3505201"/>
            <a:ext cx="3857318" cy="1100861"/>
          </a:xfrm>
        </p:spPr>
        <p:txBody>
          <a:bodyPr/>
          <a:lstStyle/>
          <a:p>
            <a:r>
              <a:rPr lang="en-US" sz="2400" dirty="0">
                <a:latin typeface="Calibri" panose="020F0502020204030204" pitchFamily="34" charset="0"/>
              </a:rPr>
              <a:t>Accounts Payable</a:t>
            </a:r>
          </a:p>
          <a:p>
            <a:pPr marL="357188">
              <a:spcBef>
                <a:spcPts val="600"/>
              </a:spcBef>
            </a:pPr>
            <a:r>
              <a:rPr lang="en-IN" sz="2000" dirty="0"/>
              <a:t>(To record goods purchased on account from P</a:t>
            </a:r>
            <a:r>
              <a:rPr lang="en-IN" sz="100" dirty="0"/>
              <a:t> </a:t>
            </a:r>
            <a:r>
              <a:rPr lang="en-IN" sz="2000" dirty="0"/>
              <a:t>W Audio Supply)</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697763" y="3505200"/>
            <a:ext cx="882778" cy="365125"/>
          </a:xfrm>
        </p:spPr>
        <p:txBody>
          <a:bodyPr/>
          <a:lstStyle/>
          <a:p>
            <a:r>
              <a:rPr lang="en-US" sz="2400" dirty="0">
                <a:latin typeface="Calibri" panose="020F0502020204030204" pitchFamily="34" charset="0"/>
              </a:rPr>
              <a:t>3,800</a:t>
            </a:r>
            <a:endParaRPr lang="en-US" sz="22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6</a:t>
            </a:fld>
            <a:endParaRPr lang="en-US" dirty="0">
              <a:latin typeface="Calibri" panose="020F0502020204030204" pitchFamily="34" charset="0"/>
            </a:endParaRPr>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148310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701675"/>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(2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7985077" cy="1631951"/>
          </a:xfrm>
        </p:spPr>
        <p:txBody>
          <a:bodyPr/>
          <a:lstStyle/>
          <a:p>
            <a:r>
              <a:rPr lang="en-US" altLang="en-US" sz="2600" b="1" dirty="0"/>
              <a:t>Freight Costs</a:t>
            </a:r>
          </a:p>
          <a:p>
            <a:r>
              <a:rPr lang="en-US" altLang="en-US" sz="2600" b="1" dirty="0"/>
              <a:t>Illustration: </a:t>
            </a:r>
            <a:r>
              <a:rPr lang="en-US" sz="2600" dirty="0"/>
              <a:t>If Sauk Stereo pays Public Carrier Co. $150 for freight charges on its purchase from P</a:t>
            </a:r>
            <a:r>
              <a:rPr lang="en-US" sz="100" dirty="0"/>
              <a:t> </a:t>
            </a:r>
            <a:r>
              <a:rPr lang="en-US" sz="2600" dirty="0"/>
              <a:t>W Audio Supply on May 6, the entry on Sauk Stereo’s books is:</a:t>
            </a:r>
            <a:endParaRPr lang="en-US" sz="26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25875"/>
            <a:ext cx="990600" cy="428625"/>
          </a:xfrm>
        </p:spPr>
        <p:txBody>
          <a:bodyPr/>
          <a:lstStyle/>
          <a:p>
            <a:r>
              <a:rPr lang="en-US" sz="2400" dirty="0"/>
              <a:t>May 6</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25875"/>
            <a:ext cx="3803074" cy="407797"/>
          </a:xfrm>
        </p:spPr>
        <p:txBody>
          <a:bodyPr/>
          <a:lstStyle/>
          <a:p>
            <a:r>
              <a:rPr lang="en-US" sz="2400" dirty="0"/>
              <a:t>Freight-In (Transportation-In)</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75120" y="3843400"/>
            <a:ext cx="685800" cy="363602"/>
          </a:xfrm>
        </p:spPr>
        <p:txBody>
          <a:bodyPr/>
          <a:lstStyle/>
          <a:p>
            <a:r>
              <a:rPr lang="en-US" sz="2400" dirty="0"/>
              <a:t>150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81200" y="4267201"/>
            <a:ext cx="3803074" cy="1066799"/>
          </a:xfrm>
        </p:spPr>
        <p:txBody>
          <a:bodyPr/>
          <a:lstStyle/>
          <a:p>
            <a:r>
              <a:rPr lang="en-US" sz="2400" dirty="0"/>
              <a:t>Cash</a:t>
            </a:r>
          </a:p>
          <a:p>
            <a:pPr marL="268288">
              <a:spcBef>
                <a:spcPts val="600"/>
              </a:spcBef>
            </a:pPr>
            <a:r>
              <a:rPr lang="en-IN" sz="2000" dirty="0"/>
              <a:t>(To record payment of freight on goods purchased)</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18219" y="4267200"/>
            <a:ext cx="669877" cy="365125"/>
          </a:xfrm>
        </p:spPr>
        <p:txBody>
          <a:bodyPr/>
          <a:lstStyle/>
          <a:p>
            <a:r>
              <a:rPr lang="en-US" sz="2400" dirty="0"/>
              <a:t>150</a:t>
            </a:r>
            <a:endParaRPr lang="en-US" sz="22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0632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7619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(3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600200"/>
          </a:xfrm>
        </p:spPr>
        <p:txBody>
          <a:bodyPr/>
          <a:lstStyle/>
          <a:p>
            <a:r>
              <a:rPr lang="en-US" sz="2600" b="1" dirty="0"/>
              <a:t>Purchase Returns and Allowances</a:t>
            </a:r>
            <a:endParaRPr lang="en-US" altLang="en-US" sz="2600" b="1" dirty="0"/>
          </a:p>
          <a:p>
            <a:r>
              <a:rPr lang="en-US" altLang="en-US" sz="2600" b="1" dirty="0"/>
              <a:t>Illustration: </a:t>
            </a:r>
            <a:r>
              <a:rPr lang="en-US" sz="2600" dirty="0"/>
              <a:t>Sauk Stereo returns goods costing $300 to P</a:t>
            </a:r>
            <a:r>
              <a:rPr lang="en-US" sz="100" dirty="0"/>
              <a:t> </a:t>
            </a:r>
            <a:r>
              <a:rPr lang="en-US" sz="2600" dirty="0"/>
              <a:t>W Audio Supply and prepares the following entry to recognize the return.</a:t>
            </a:r>
            <a:endParaRPr lang="en-US" sz="26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25875"/>
            <a:ext cx="990600" cy="454025"/>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25875"/>
            <a:ext cx="2355274" cy="365125"/>
          </a:xfrm>
        </p:spPr>
        <p:txBody>
          <a:bodyPr/>
          <a:lstStyle/>
          <a:p>
            <a:r>
              <a:rPr lang="en-US" sz="2400" dirty="0"/>
              <a:t>Accounts Payable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78168" y="3844938"/>
            <a:ext cx="669877"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00938" y="4206875"/>
            <a:ext cx="4677230" cy="1127125"/>
          </a:xfrm>
        </p:spPr>
        <p:txBody>
          <a:bodyPr/>
          <a:lstStyle/>
          <a:p>
            <a:r>
              <a:rPr lang="en-US" sz="2400" dirty="0"/>
              <a:t>Purchase Returns and Allowances</a:t>
            </a:r>
          </a:p>
          <a:p>
            <a:pPr marL="357188">
              <a:spcBef>
                <a:spcPts val="600"/>
              </a:spcBef>
            </a:pPr>
            <a:r>
              <a:rPr lang="en-IN" sz="2000" dirty="0"/>
              <a:t>(To record return of goods purchased from P</a:t>
            </a:r>
            <a:r>
              <a:rPr lang="en-IN" sz="100" dirty="0"/>
              <a:t> </a:t>
            </a:r>
            <a:r>
              <a:rPr lang="en-IN" sz="2000" dirty="0"/>
              <a:t>W Audio Supply)</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17536" y="4206875"/>
            <a:ext cx="679615" cy="365125"/>
          </a:xfrm>
        </p:spPr>
        <p:txBody>
          <a:bodyPr/>
          <a:lstStyle/>
          <a:p>
            <a:r>
              <a:rPr lang="en-US" sz="2400" dirty="0"/>
              <a:t>300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97446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095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(4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305800" cy="2011679"/>
          </a:xfrm>
        </p:spPr>
        <p:txBody>
          <a:bodyPr/>
          <a:lstStyle/>
          <a:p>
            <a:r>
              <a:rPr lang="en-US" altLang="en-US" sz="2600" b="1" dirty="0">
                <a:latin typeface="Calibri" panose="020F0502020204030204" pitchFamily="34" charset="0"/>
              </a:rPr>
              <a:t>Purchase Discounts</a:t>
            </a:r>
          </a:p>
          <a:p>
            <a:r>
              <a:rPr lang="en-US" altLang="en-US" sz="2600" b="1" dirty="0">
                <a:latin typeface="Calibri" panose="020F0502020204030204" pitchFamily="34" charset="0"/>
              </a:rPr>
              <a:t>Illustration: </a:t>
            </a:r>
            <a:r>
              <a:rPr lang="en-US" sz="2600" dirty="0">
                <a:latin typeface="Calibri" panose="020F0502020204030204" pitchFamily="34" charset="0"/>
              </a:rPr>
              <a:t>On May 14, Sauk Stereo pays the balance due on account to PW Audio Supply, taking the 2% cash discount allowed by PW Audio Supply for payment within 10 days. Sauk Stereo records the payment and discount as follows.</a:t>
            </a: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4051300"/>
            <a:ext cx="1143000" cy="435356"/>
          </a:xfrm>
        </p:spPr>
        <p:txBody>
          <a:bodyPr/>
          <a:lstStyle/>
          <a:p>
            <a:r>
              <a:rPr lang="en-US" sz="2400" dirty="0">
                <a:latin typeface="Calibri" panose="020F0502020204030204" pitchFamily="34" charset="0"/>
              </a:rPr>
              <a:t>May 14</a:t>
            </a: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9344" y="4053087"/>
            <a:ext cx="4345618" cy="412255"/>
          </a:xfrm>
        </p:spPr>
        <p:txBody>
          <a:bodyPr/>
          <a:lstStyle/>
          <a:p>
            <a:r>
              <a:rPr lang="en-US" sz="2400" dirty="0">
                <a:latin typeface="Calibri" panose="020F0502020204030204" pitchFamily="34" charset="0"/>
              </a:rPr>
              <a:t>Accounts Payable ($3,800 − $300)</a:t>
            </a: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579035" y="4072636"/>
            <a:ext cx="888565" cy="365125"/>
          </a:xfrm>
        </p:spPr>
        <p:txBody>
          <a:bodyPr/>
          <a:lstStyle/>
          <a:p>
            <a:r>
              <a:rPr lang="en-US" sz="2400" dirty="0">
                <a:latin typeface="Calibri" panose="020F0502020204030204" pitchFamily="34" charset="0"/>
              </a:rPr>
              <a:t>3,500</a:t>
            </a: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99488" y="4452409"/>
            <a:ext cx="4400549" cy="401638"/>
          </a:xfrm>
        </p:spPr>
        <p:txBody>
          <a:bodyPr/>
          <a:lstStyle/>
          <a:p>
            <a:r>
              <a:rPr lang="en-US" sz="2400" dirty="0">
                <a:latin typeface="Calibri" panose="020F0502020204030204" pitchFamily="34" charset="0"/>
              </a:rPr>
              <a:t>Purchase Discounts ($3,500 × .02)</a:t>
            </a: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878712" y="4419600"/>
            <a:ext cx="503288" cy="401638"/>
          </a:xfrm>
        </p:spPr>
        <p:txBody>
          <a:bodyPr/>
          <a:lstStyle/>
          <a:p>
            <a:pPr>
              <a:lnSpc>
                <a:spcPct val="100000"/>
              </a:lnSpc>
              <a:spcBef>
                <a:spcPts val="600"/>
              </a:spcBef>
              <a:tabLst>
                <a:tab pos="1371600" algn="l"/>
                <a:tab pos="1828800" algn="l"/>
                <a:tab pos="6459538" algn="r"/>
                <a:tab pos="7942263" algn="r"/>
              </a:tabLst>
            </a:pPr>
            <a:r>
              <a:rPr lang="en-US" sz="2400" dirty="0">
                <a:latin typeface="Calibri" panose="020F0502020204030204" pitchFamily="34" charset="0"/>
              </a:rPr>
              <a:t>70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999488" y="4876800"/>
            <a:ext cx="4858511" cy="1090845"/>
          </a:xfrm>
        </p:spPr>
        <p:txBody>
          <a:bodyPr/>
          <a:lstStyle/>
          <a:p>
            <a:r>
              <a:rPr lang="en-US" sz="2400" dirty="0">
                <a:latin typeface="Calibri" panose="020F0502020204030204" pitchFamily="34" charset="0"/>
              </a:rPr>
              <a:t>Cash</a:t>
            </a:r>
          </a:p>
          <a:p>
            <a:pPr marL="268288">
              <a:spcBef>
                <a:spcPts val="600"/>
              </a:spcBef>
            </a:pPr>
            <a:r>
              <a:rPr lang="en-IN" sz="2000" dirty="0"/>
              <a:t>(To record payment within the discount period)</a:t>
            </a:r>
            <a:endParaRPr lang="en-US" sz="1800" dirty="0">
              <a:latin typeface="Calibri" panose="020F0502020204030204" pitchFamily="34" charset="0"/>
            </a:endParaRP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7497712" y="4876800"/>
            <a:ext cx="882165" cy="381771"/>
          </a:xfrm>
        </p:spPr>
        <p:txBody>
          <a:bodyPr/>
          <a:lstStyle/>
          <a:p>
            <a:r>
              <a:rPr lang="en-US" sz="2400" dirty="0">
                <a:latin typeface="Calibri" panose="020F0502020204030204" pitchFamily="34" charset="0"/>
              </a:rPr>
              <a:t>3,430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5797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build="p"/>
      <p:bldP spid="20" grpId="0" uiExpand="1" build="p"/>
      <p:bldP spid="2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6935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(1 of 3)</a:t>
            </a:r>
            <a:endParaRPr lang="en-US" sz="2400" b="0"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069847"/>
          </a:xfrm>
        </p:spPr>
        <p:txBody>
          <a:bodyPr/>
          <a:lstStyle/>
          <a:p>
            <a:r>
              <a:rPr lang="en-US" altLang="en-US" sz="2400" b="1" dirty="0"/>
              <a:t>Illustration: </a:t>
            </a:r>
            <a:r>
              <a:rPr lang="en-US" sz="2400" dirty="0"/>
              <a:t>The seller, PW Audio Supply, records the sale of $3,800 of merchandise to Sauk Stereo on May 4 (sales invoice No. 731, Illustration 5.6) as follows.</a:t>
            </a:r>
            <a:endParaRPr lang="en-US" sz="24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361169"/>
            <a:ext cx="990600" cy="424447"/>
          </a:xfrm>
        </p:spPr>
        <p:txBody>
          <a:bodyPr/>
          <a:lstStyle/>
          <a:p>
            <a:r>
              <a:rPr lang="en-US" sz="2400" dirty="0"/>
              <a:t>May 4</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361169"/>
            <a:ext cx="2736274" cy="372631"/>
          </a:xfrm>
        </p:spPr>
        <p:txBody>
          <a:bodyPr/>
          <a:lstStyle/>
          <a:p>
            <a:r>
              <a:rPr lang="en-US" sz="2400" dirty="0"/>
              <a:t>Accounts Receivable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456131" y="3352800"/>
            <a:ext cx="888565" cy="368300"/>
          </a:xfrm>
        </p:spPr>
        <p:txBody>
          <a:bodyPr/>
          <a:lstStyle/>
          <a:p>
            <a:r>
              <a:rPr lang="en-US" sz="2400" dirty="0"/>
              <a:t>3,800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57401" y="3750037"/>
            <a:ext cx="3962399" cy="974363"/>
          </a:xfrm>
        </p:spPr>
        <p:txBody>
          <a:bodyPr/>
          <a:lstStyle/>
          <a:p>
            <a:r>
              <a:rPr lang="en-US" sz="2400" dirty="0"/>
              <a:t>Sales Revenue</a:t>
            </a:r>
          </a:p>
          <a:p>
            <a:pPr marL="268288">
              <a:spcBef>
                <a:spcPts val="600"/>
              </a:spcBef>
            </a:pPr>
            <a:r>
              <a:rPr lang="en-IN" sz="2000" dirty="0"/>
              <a:t>(To record credit sales per invoice #731 to Sauk Stereo)</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925232" y="3733800"/>
            <a:ext cx="888803" cy="401638"/>
          </a:xfrm>
        </p:spPr>
        <p:txBody>
          <a:bodyPr/>
          <a:lstStyle/>
          <a:p>
            <a:pPr>
              <a:lnSpc>
                <a:spcPct val="100000"/>
              </a:lnSpc>
              <a:spcBef>
                <a:spcPts val="600"/>
              </a:spcBef>
              <a:tabLst>
                <a:tab pos="1371600" algn="l"/>
                <a:tab pos="1828800" algn="l"/>
                <a:tab pos="6459538" algn="r"/>
                <a:tab pos="7942263" algn="r"/>
              </a:tabLst>
            </a:pPr>
            <a:r>
              <a:rPr lang="en-US" sz="2400" dirty="0"/>
              <a:t>3,800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304800" y="4999028"/>
            <a:ext cx="8305800" cy="792172"/>
          </a:xfrm>
        </p:spPr>
        <p:txBody>
          <a:bodyPr/>
          <a:lstStyle/>
          <a:p>
            <a:r>
              <a:rPr lang="en-US" altLang="en-US" sz="2400" b="1" dirty="0">
                <a:solidFill>
                  <a:srgbClr val="990000"/>
                </a:solidFill>
                <a:latin typeface="Calibri" panose="020F0502020204030204" pitchFamily="34" charset="0"/>
              </a:rPr>
              <a:t>No entry is recorded for cost of goods sold at time of sale under a periodic system.</a:t>
            </a:r>
            <a:endParaRPr lang="en-US" sz="24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3039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83819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(2 of 3)</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153400" cy="1523999"/>
          </a:xfrm>
        </p:spPr>
        <p:txBody>
          <a:bodyPr/>
          <a:lstStyle/>
          <a:p>
            <a:r>
              <a:rPr lang="en-US" sz="2400" b="1" dirty="0"/>
              <a:t>Sales Returns and Allowances</a:t>
            </a:r>
            <a:endParaRPr lang="en-US" altLang="en-US" sz="2400" b="1" dirty="0"/>
          </a:p>
          <a:p>
            <a:r>
              <a:rPr lang="en-US" altLang="en-US" sz="2400" b="1" dirty="0"/>
              <a:t>Illustration: </a:t>
            </a:r>
            <a:r>
              <a:rPr lang="en-US" sz="2400" dirty="0"/>
              <a:t>To record the returned goods received from Sauk Stereo on May 8, PW Audio Supply records the $300 sales return as follows.</a:t>
            </a:r>
            <a:endParaRPr lang="en-US" sz="24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94569"/>
            <a:ext cx="990600" cy="412255"/>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94569"/>
            <a:ext cx="3803074" cy="365125"/>
          </a:xfrm>
        </p:spPr>
        <p:txBody>
          <a:bodyPr/>
          <a:lstStyle/>
          <a:p>
            <a:r>
              <a:rPr lang="en-US" sz="2400" dirty="0"/>
              <a:t>Sales Returns and Allowance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97665" y="3886200"/>
            <a:ext cx="667592"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57401" y="4283075"/>
            <a:ext cx="4190999" cy="1050925"/>
          </a:xfrm>
        </p:spPr>
        <p:txBody>
          <a:bodyPr/>
          <a:lstStyle/>
          <a:p>
            <a:r>
              <a:rPr lang="en-US" sz="2400" dirty="0"/>
              <a:t>Accounts Receivable</a:t>
            </a:r>
          </a:p>
          <a:p>
            <a:pPr marL="357188">
              <a:spcBef>
                <a:spcPts val="600"/>
              </a:spcBef>
            </a:pPr>
            <a:r>
              <a:rPr lang="en-IN" sz="2000" dirty="0"/>
              <a:t>(To record credit granted to Sauk Stereo for returned goods)</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8124314" y="4246562"/>
            <a:ext cx="667772" cy="401638"/>
          </a:xfrm>
        </p:spPr>
        <p:txBody>
          <a:bodyPr/>
          <a:lstStyle/>
          <a:p>
            <a:pPr>
              <a:lnSpc>
                <a:spcPct val="100000"/>
              </a:lnSpc>
              <a:spcBef>
                <a:spcPts val="600"/>
              </a:spcBef>
              <a:tabLst>
                <a:tab pos="1371600" algn="l"/>
                <a:tab pos="1828800" algn="l"/>
                <a:tab pos="6459538" algn="r"/>
                <a:tab pos="7942263" algn="r"/>
              </a:tabLst>
            </a:pPr>
            <a:r>
              <a:rPr lang="en-US" sz="2400" dirty="0"/>
              <a:t>300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0907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81279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(3 of 3)</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46592" cy="1828799"/>
          </a:xfrm>
        </p:spPr>
        <p:txBody>
          <a:bodyPr/>
          <a:lstStyle/>
          <a:p>
            <a:r>
              <a:rPr lang="en-US" sz="2400" b="1" dirty="0">
                <a:latin typeface="Calibri" panose="020F0502020204030204" pitchFamily="34" charset="0"/>
              </a:rPr>
              <a:t>Sales Discounts</a:t>
            </a:r>
            <a:endParaRPr lang="en-US" altLang="en-US" sz="2400" b="1" dirty="0">
              <a:latin typeface="Calibri" panose="020F0502020204030204" pitchFamily="34" charset="0"/>
            </a:endParaRPr>
          </a:p>
          <a:p>
            <a:r>
              <a:rPr lang="en-US" altLang="en-US" sz="2400" b="1" dirty="0">
                <a:latin typeface="Calibri" panose="020F0502020204030204" pitchFamily="34" charset="0"/>
              </a:rPr>
              <a:t>Illustration: </a:t>
            </a:r>
            <a:r>
              <a:rPr lang="en-US" sz="2400" dirty="0">
                <a:latin typeface="Calibri" panose="020F0502020204030204" pitchFamily="34" charset="0"/>
              </a:rPr>
              <a:t>On May 14, PW Audio Supply receives payment of $3,430 on account from Sauk Stereo. PW Audio Supply honors the 2% cash discount and records the payment of Sauk Stereo’s account receivable in full as follows.</a:t>
            </a: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94569"/>
            <a:ext cx="1143000" cy="421399"/>
          </a:xfrm>
        </p:spPr>
        <p:txBody>
          <a:bodyPr/>
          <a:lstStyle/>
          <a:p>
            <a:r>
              <a:rPr lang="en-US" sz="2400" dirty="0">
                <a:latin typeface="Calibri" panose="020F0502020204030204" pitchFamily="34" charset="0"/>
              </a:rPr>
              <a:t>May 14</a:t>
            </a: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94569"/>
            <a:ext cx="831274" cy="365125"/>
          </a:xfrm>
        </p:spPr>
        <p:txBody>
          <a:bodyPr/>
          <a:lstStyle/>
          <a:p>
            <a:r>
              <a:rPr lang="en-US" sz="2400" dirty="0">
                <a:latin typeface="Calibri" panose="020F0502020204030204" pitchFamily="34" charset="0"/>
              </a:rPr>
              <a:t>Cash</a:t>
            </a: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807635" y="3886200"/>
            <a:ext cx="888565" cy="365125"/>
          </a:xfrm>
        </p:spPr>
        <p:txBody>
          <a:bodyPr/>
          <a:lstStyle/>
          <a:p>
            <a:r>
              <a:rPr lang="en-US" sz="2400" dirty="0">
                <a:latin typeface="Calibri" panose="020F0502020204030204" pitchFamily="34" charset="0"/>
              </a:rPr>
              <a:t>3,430</a:t>
            </a: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614057" y="4283437"/>
            <a:ext cx="3872344" cy="402070"/>
          </a:xfrm>
        </p:spPr>
        <p:txBody>
          <a:bodyPr/>
          <a:lstStyle/>
          <a:p>
            <a:r>
              <a:rPr lang="en-US" sz="2400" dirty="0">
                <a:latin typeface="Calibri" panose="020F0502020204030204" pitchFamily="34" charset="0"/>
              </a:rPr>
              <a:t>Sales Discounts ($3,500 × .02)</a:t>
            </a: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141931" y="4267200"/>
            <a:ext cx="503288" cy="401638"/>
          </a:xfrm>
        </p:spPr>
        <p:txBody>
          <a:bodyPr/>
          <a:lstStyle/>
          <a:p>
            <a:pPr>
              <a:lnSpc>
                <a:spcPct val="100000"/>
              </a:lnSpc>
              <a:spcBef>
                <a:spcPts val="600"/>
              </a:spcBef>
              <a:tabLst>
                <a:tab pos="1371600" algn="l"/>
                <a:tab pos="1828800" algn="l"/>
                <a:tab pos="6459538" algn="r"/>
                <a:tab pos="7942263" algn="r"/>
              </a:tabLst>
            </a:pPr>
            <a:r>
              <a:rPr lang="en-US" sz="2400" dirty="0">
                <a:latin typeface="Calibri" panose="020F0502020204030204" pitchFamily="34" charset="0"/>
              </a:rPr>
              <a:t>70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968500" y="4703086"/>
            <a:ext cx="4762935" cy="1059539"/>
          </a:xfrm>
        </p:spPr>
        <p:txBody>
          <a:bodyPr/>
          <a:lstStyle/>
          <a:p>
            <a:r>
              <a:rPr lang="en-US" sz="2400" dirty="0">
                <a:latin typeface="Calibri" panose="020F0502020204030204" pitchFamily="34" charset="0"/>
              </a:rPr>
              <a:t>Accounts Receivable ($3,800 − $300)</a:t>
            </a:r>
          </a:p>
          <a:p>
            <a:pPr marL="357188">
              <a:spcBef>
                <a:spcPts val="600"/>
              </a:spcBef>
            </a:pPr>
            <a:r>
              <a:rPr lang="en-IN" sz="2000" dirty="0"/>
              <a:t>(To record collection within 2/10, n/30 discount period from Sauk Stereo)</a:t>
            </a:r>
            <a:endParaRPr lang="en-US" sz="1800" dirty="0">
              <a:latin typeface="Calibri" panose="020F0502020204030204" pitchFamily="34" charset="0"/>
            </a:endParaRP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8001432" y="4699920"/>
            <a:ext cx="913968" cy="365125"/>
          </a:xfrm>
        </p:spPr>
        <p:txBody>
          <a:bodyPr/>
          <a:lstStyle/>
          <a:p>
            <a:r>
              <a:rPr lang="en-US" sz="2400" dirty="0">
                <a:latin typeface="Calibri" panose="020F0502020204030204" pitchFamily="34" charset="0"/>
              </a:rPr>
              <a:t>3,500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52911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build="p"/>
      <p:bldP spid="20" grpId="0" uiExpand="1" build="p"/>
      <p:bldP spid="21" grpId="0" build="p"/>
    </p:bldLst>
  </p:timing>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BD084E-B55F-4B9C-B01D-5689564D27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1C71EB-81EB-430C-AADD-7391148CA650}">
  <ds:schemaRefs>
    <ds:schemaRef ds:uri="991c6ba3-1c6f-40a9-b60d-1b3170aa9e50"/>
    <ds:schemaRef ds:uri="http://purl.org/dc/dcmitype/"/>
    <ds:schemaRef ds:uri="http://purl.org/dc/elements/1.1/"/>
    <ds:schemaRef ds:uri="http://schemas.microsoft.com/office/2006/metadata/properties"/>
    <ds:schemaRef ds:uri="7a71b9a5-dc42-4723-8d0f-e8d6ba5fbeb6"/>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88F1D47-4251-47E8-ACDB-2528FF86B6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16696</TotalTime>
  <Words>784</Words>
  <Application>Microsoft Office PowerPoint</Application>
  <PresentationFormat>On-screen Show (4:3)</PresentationFormat>
  <Paragraphs>109</Paragraphs>
  <Slides>12</Slides>
  <Notes>1</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12</vt:i4>
      </vt:variant>
    </vt:vector>
  </HeadingPairs>
  <TitlesOfParts>
    <vt:vector size="25" baseType="lpstr">
      <vt:lpstr>Arial</vt:lpstr>
      <vt:lpstr>Calibri</vt:lpstr>
      <vt:lpstr>Calibri Light</vt:lpstr>
      <vt:lpstr>Courier New</vt:lpstr>
      <vt:lpstr>Source Sans Pro</vt:lpstr>
      <vt:lpstr>STIX</vt:lpstr>
      <vt:lpstr>Opener</vt:lpstr>
      <vt:lpstr>Chapter Outline</vt:lpstr>
      <vt:lpstr>Learning Objectives</vt:lpstr>
      <vt:lpstr>Concept Check Question</vt:lpstr>
      <vt:lpstr>Key Term</vt:lpstr>
      <vt:lpstr>Section</vt:lpstr>
      <vt:lpstr>Image Slide Master</vt:lpstr>
      <vt:lpstr>Accounting Principles</vt:lpstr>
      <vt:lpstr>Periodic Inventory System (1 of 2)</vt:lpstr>
      <vt:lpstr>Periodic Inventory System (2 of 2)</vt:lpstr>
      <vt:lpstr>PowerPoint Presentation</vt:lpstr>
      <vt:lpstr>Recording Merchandise Transactions</vt:lpstr>
      <vt:lpstr>Recording Purchases of Merchandise (1 of 4)</vt:lpstr>
      <vt:lpstr>Recording Purchases of Merchandise (2 of 4)</vt:lpstr>
      <vt:lpstr>Recording Purchases of Merchandise (3 of 4)</vt:lpstr>
      <vt:lpstr>Recording Purchases of Merchandise (4 of 4)</vt:lpstr>
      <vt:lpstr>Recording Sales of Merchandise (1 of 3)</vt:lpstr>
      <vt:lpstr>Recording Sales of Merchandise (2 of 3)</vt:lpstr>
      <vt:lpstr>Recording Sales of Merchandise (3 of 3)</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USER</cp:lastModifiedBy>
  <cp:revision>1600</cp:revision>
  <cp:lastPrinted>2017-04-26T13:25:47Z</cp:lastPrinted>
  <dcterms:created xsi:type="dcterms:W3CDTF">2017-04-21T14:49:46Z</dcterms:created>
  <dcterms:modified xsi:type="dcterms:W3CDTF">2024-10-24T17:24:20Z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