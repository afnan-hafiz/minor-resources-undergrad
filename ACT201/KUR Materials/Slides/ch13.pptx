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90"/>
  </p:notesMasterIdLst>
  <p:sldIdLst>
    <p:sldId id="393" r:id="rId11"/>
    <p:sldId id="258" r:id="rId12"/>
    <p:sldId id="612" r:id="rId13"/>
    <p:sldId id="671" r:id="rId14"/>
    <p:sldId id="613" r:id="rId15"/>
    <p:sldId id="614" r:id="rId16"/>
    <p:sldId id="670" r:id="rId17"/>
    <p:sldId id="623" r:id="rId18"/>
    <p:sldId id="624" r:id="rId19"/>
    <p:sldId id="625" r:id="rId20"/>
    <p:sldId id="626" r:id="rId21"/>
    <p:sldId id="627" r:id="rId22"/>
    <p:sldId id="632" r:id="rId23"/>
    <p:sldId id="633" r:id="rId24"/>
    <p:sldId id="634" r:id="rId25"/>
    <p:sldId id="635" r:id="rId26"/>
    <p:sldId id="636" r:id="rId27"/>
    <p:sldId id="637" r:id="rId28"/>
    <p:sldId id="638" r:id="rId29"/>
    <p:sldId id="698" r:id="rId30"/>
    <p:sldId id="699" r:id="rId31"/>
    <p:sldId id="639" r:id="rId32"/>
    <p:sldId id="640" r:id="rId33"/>
    <p:sldId id="641" r:id="rId34"/>
    <p:sldId id="642" r:id="rId35"/>
    <p:sldId id="643" r:id="rId36"/>
    <p:sldId id="644" r:id="rId37"/>
    <p:sldId id="645" r:id="rId38"/>
    <p:sldId id="646" r:id="rId39"/>
    <p:sldId id="647" r:id="rId40"/>
    <p:sldId id="648" r:id="rId41"/>
    <p:sldId id="649" r:id="rId42"/>
    <p:sldId id="650" r:id="rId43"/>
    <p:sldId id="651" r:id="rId44"/>
    <p:sldId id="652" r:id="rId45"/>
    <p:sldId id="653" r:id="rId46"/>
    <p:sldId id="654" r:id="rId47"/>
    <p:sldId id="655" r:id="rId48"/>
    <p:sldId id="656" r:id="rId49"/>
    <p:sldId id="657" r:id="rId50"/>
    <p:sldId id="659" r:id="rId51"/>
    <p:sldId id="660" r:id="rId52"/>
    <p:sldId id="682" r:id="rId53"/>
    <p:sldId id="683" r:id="rId54"/>
    <p:sldId id="684" r:id="rId55"/>
    <p:sldId id="700" r:id="rId56"/>
    <p:sldId id="685" r:id="rId57"/>
    <p:sldId id="686" r:id="rId58"/>
    <p:sldId id="697" r:id="rId59"/>
    <p:sldId id="687" r:id="rId60"/>
    <p:sldId id="688" r:id="rId61"/>
    <p:sldId id="689" r:id="rId62"/>
    <p:sldId id="690" r:id="rId63"/>
    <p:sldId id="691" r:id="rId64"/>
    <p:sldId id="692" r:id="rId65"/>
    <p:sldId id="693" r:id="rId66"/>
    <p:sldId id="694" r:id="rId67"/>
    <p:sldId id="695" r:id="rId68"/>
    <p:sldId id="696" r:id="rId69"/>
    <p:sldId id="661" r:id="rId70"/>
    <p:sldId id="662" r:id="rId71"/>
    <p:sldId id="663" r:id="rId72"/>
    <p:sldId id="664" r:id="rId73"/>
    <p:sldId id="619" r:id="rId74"/>
    <p:sldId id="681" r:id="rId75"/>
    <p:sldId id="620" r:id="rId76"/>
    <p:sldId id="680" r:id="rId77"/>
    <p:sldId id="621" r:id="rId78"/>
    <p:sldId id="622" r:id="rId79"/>
    <p:sldId id="673" r:id="rId80"/>
    <p:sldId id="674" r:id="rId81"/>
    <p:sldId id="481" r:id="rId82"/>
    <p:sldId id="675" r:id="rId83"/>
    <p:sldId id="676" r:id="rId84"/>
    <p:sldId id="677" r:id="rId85"/>
    <p:sldId id="678" r:id="rId86"/>
    <p:sldId id="679" r:id="rId87"/>
    <p:sldId id="667" r:id="rId88"/>
    <p:sldId id="298" r:id="rId8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10"/>
    <a:srgbClr val="0000A3"/>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64" autoAdjust="0"/>
    <p:restoredTop sz="86443" autoAdjust="0"/>
  </p:normalViewPr>
  <p:slideViewPr>
    <p:cSldViewPr>
      <p:cViewPr varScale="1">
        <p:scale>
          <a:sx n="86" d="100"/>
          <a:sy n="86" d="100"/>
        </p:scale>
        <p:origin x="1026" y="96"/>
      </p:cViewPr>
      <p:guideLst>
        <p:guide orient="horz" pos="2160"/>
        <p:guide pos="2880"/>
      </p:guideLst>
    </p:cSldViewPr>
  </p:slideViewPr>
  <p:outlineViewPr>
    <p:cViewPr>
      <p:scale>
        <a:sx n="33" d="100"/>
        <a:sy n="33" d="100"/>
      </p:scale>
      <p:origin x="0" y="-47448"/>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5" Type="http://schemas.openxmlformats.org/officeDocument/2006/relationships/slideMaster" Target="slideMasters/slideMaster2.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slide" Target="slides/slide75.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4.xml"/><Relationship Id="rId71" Type="http://schemas.openxmlformats.org/officeDocument/2006/relationships/slide" Target="slides/slide61.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08/23/2025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79</a:t>
            </a:fld>
            <a:endParaRPr lang="en-US" dirty="0"/>
          </a:p>
        </p:txBody>
      </p:sp>
    </p:spTree>
    <p:extLst>
      <p:ext uri="{BB962C8B-B14F-4D97-AF65-F5344CB8AC3E}">
        <p14:creationId xmlns:p14="http://schemas.microsoft.com/office/powerpoint/2010/main" val="1997925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52400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 </a:t>
            </a:r>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3429000"/>
            <a:ext cx="8534400" cy="15240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5029200"/>
            <a:ext cx="8534400" cy="990600"/>
          </a:xfrm>
          <a:prstGeom prst="rect">
            <a:avLst/>
          </a:prstGeom>
        </p:spPr>
        <p:txBody>
          <a:bodyPr/>
          <a:lstStyle>
            <a:lvl1pPr marL="0" indent="0">
              <a:buNone/>
              <a:defRPr/>
            </a:lvl1pPr>
          </a:lstStyle>
          <a:p>
            <a:pPr lvl="0"/>
            <a:endParaRPr lang="en-US" dirty="0"/>
          </a:p>
        </p:txBody>
      </p:sp>
      <p:sp>
        <p:nvSpPr>
          <p:cNvPr id="8" name="LON">
            <a:extLst>
              <a:ext uri="{FF2B5EF4-FFF2-40B4-BE49-F238E27FC236}">
                <a16:creationId xmlns:a16="http://schemas.microsoft.com/office/drawing/2014/main" id="{00E25674-8754-427E-955C-E619C6E5008C}"/>
              </a:ext>
            </a:extLst>
          </p:cNvPr>
          <p:cNvSpPr>
            <a:spLocks noGrp="1"/>
          </p:cNvSpPr>
          <p:nvPr>
            <p:ph sz="quarter" idx="15" hasCustomPrompt="1"/>
          </p:nvPr>
        </p:nvSpPr>
        <p:spPr>
          <a:xfrm>
            <a:off x="331788" y="6356351"/>
            <a:ext cx="749300" cy="365125"/>
          </a:xfrm>
          <a:prstGeom prst="rect">
            <a:avLst/>
          </a:prstGeom>
        </p:spPr>
        <p:txBody>
          <a:bodyPr anchor="ctr">
            <a:normAutofit/>
          </a:bodyPr>
          <a:lstStyle>
            <a:lvl1pPr marL="0" indent="0">
              <a:buNone/>
              <a:defRPr sz="1200">
                <a:solidFill>
                  <a:schemeClr val="bg1">
                    <a:lumMod val="50000"/>
                  </a:schemeClr>
                </a:solidFill>
              </a:defRPr>
            </a:lvl1pPr>
          </a:lstStyle>
          <a:p>
            <a:pPr lvl="0"/>
            <a:r>
              <a:rPr lang="en-US" dirty="0"/>
              <a:t>LO #</a:t>
            </a:r>
          </a:p>
        </p:txBody>
      </p:sp>
      <p:sp>
        <p:nvSpPr>
          <p:cNvPr id="10" name="Content Placeholder 8">
            <a:extLst>
              <a:ext uri="{FF2B5EF4-FFF2-40B4-BE49-F238E27FC236}">
                <a16:creationId xmlns:a16="http://schemas.microsoft.com/office/drawing/2014/main" id="{B96800FA-0E94-40F2-858D-7BF7F09A2767}"/>
              </a:ext>
            </a:extLst>
          </p:cNvPr>
          <p:cNvSpPr>
            <a:spLocks noGrp="1"/>
          </p:cNvSpPr>
          <p:nvPr>
            <p:ph sz="quarter" idx="19"/>
          </p:nvPr>
        </p:nvSpPr>
        <p:spPr>
          <a:xfrm>
            <a:off x="278717" y="5029200"/>
            <a:ext cx="8534400" cy="9906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29637368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Learning Objectives: Version A">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panose="020F0502020204030204" pitchFamily="34" charset="0"/>
                <a:ea typeface="Calibri" panose="020F0502020204030204" pitchFamily="34" charset="0"/>
                <a:cs typeface="Calibri" panose="020F0502020204030204" pitchFamily="34"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p>
            <a:fld id="{957104EA-F2AF-1046-9253-EE8D978719B5}" type="slidenum">
              <a:rPr lang="en-US" smtClean="0"/>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r>
              <a:rPr lang="en-US" dirty="0"/>
              <a:t>Copyright ©2019 John Wiley &amp; Sons, Inc. </a:t>
            </a:r>
          </a:p>
        </p:txBody>
      </p:sp>
      <p:sp>
        <p:nvSpPr>
          <p:cNvPr id="7" name="LON">
            <a:extLst>
              <a:ext uri="{FF2B5EF4-FFF2-40B4-BE49-F238E27FC236}">
                <a16:creationId xmlns:a16="http://schemas.microsoft.com/office/drawing/2014/main" id="{DBC62EF4-2972-4484-A114-752BFF062C71}"/>
              </a:ext>
            </a:extLst>
          </p:cNvPr>
          <p:cNvSpPr>
            <a:spLocks noGrp="1"/>
          </p:cNvSpPr>
          <p:nvPr>
            <p:ph sz="quarter" idx="15" hasCustomPrompt="1"/>
          </p:nvPr>
        </p:nvSpPr>
        <p:spPr>
          <a:xfrm>
            <a:off x="331788" y="6356351"/>
            <a:ext cx="749300" cy="365125"/>
          </a:xfrm>
          <a:prstGeom prst="rect">
            <a:avLst/>
          </a:prstGeom>
        </p:spPr>
        <p:txBody>
          <a:bodyPr anchor="ctr">
            <a:normAutofit/>
          </a:bodyPr>
          <a:lstStyle>
            <a:lvl1pPr marL="0" indent="0">
              <a:buNone/>
              <a:defRPr sz="1200">
                <a:solidFill>
                  <a:schemeClr val="bg1">
                    <a:lumMod val="50000"/>
                  </a:schemeClr>
                </a:solidFill>
              </a:defRPr>
            </a:lvl1pPr>
          </a:lstStyle>
          <a:p>
            <a:pPr lvl="0"/>
            <a:r>
              <a:rPr lang="en-US" dirty="0"/>
              <a:t>LO #</a:t>
            </a:r>
          </a:p>
        </p:txBody>
      </p:sp>
    </p:spTree>
    <p:extLst>
      <p:ext uri="{BB962C8B-B14F-4D97-AF65-F5344CB8AC3E}">
        <p14:creationId xmlns:p14="http://schemas.microsoft.com/office/powerpoint/2010/main" val="31022907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Section or Topic Heading</a:t>
            </a:r>
          </a:p>
        </p:txBody>
      </p:sp>
      <p:sp>
        <p:nvSpPr>
          <p:cNvPr id="6" name="Content Placeholder"/>
          <p:cNvSpPr>
            <a:spLocks noGrp="1"/>
          </p:cNvSpPr>
          <p:nvPr>
            <p:ph sz="quarter" idx="16"/>
          </p:nvPr>
        </p:nvSpPr>
        <p:spPr>
          <a:xfrm>
            <a:off x="304800" y="1752600"/>
            <a:ext cx="3429000" cy="304800"/>
          </a:xfrm>
          <a:prstGeom prst="rect">
            <a:avLst/>
          </a:prstGeom>
        </p:spPr>
        <p:txBody>
          <a:bodyPr/>
          <a:lstStyle>
            <a:lvl1pPr marL="0" indent="0">
              <a:buNone/>
              <a:defRPr sz="2800" b="0" i="0">
                <a:latin typeface="Calibri" panose="020F0502020204030204" pitchFamily="34" charset="0"/>
                <a:ea typeface="Calibri" panose="020F0502020204030204" pitchFamily="34" charset="0"/>
                <a:cs typeface="Calibri" panose="020F0502020204030204" pitchFamily="34"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dirty="0"/>
              <a:t>Copyright ©2019 John Wiley &amp; Sons, Inc. </a:t>
            </a:r>
          </a:p>
        </p:txBody>
      </p:sp>
      <p:sp>
        <p:nvSpPr>
          <p:cNvPr id="10" name="Content Placeholder 9"/>
          <p:cNvSpPr>
            <a:spLocks noGrp="1"/>
          </p:cNvSpPr>
          <p:nvPr>
            <p:ph sz="quarter" idx="17"/>
          </p:nvPr>
        </p:nvSpPr>
        <p:spPr>
          <a:xfrm>
            <a:off x="304800" y="2152650"/>
            <a:ext cx="3505200" cy="304800"/>
          </a:xfrm>
          <a:prstGeom prst="rect">
            <a:avLst/>
          </a:prstGeom>
        </p:spPr>
        <p:txBody>
          <a:bodyPr/>
          <a:lstStyle>
            <a:lvl1pPr>
              <a:buNone/>
              <a:defRPr/>
            </a:lvl1pPr>
          </a:lstStyle>
          <a:p>
            <a:pPr lvl="0"/>
            <a:endParaRPr lang="en-US" dirty="0"/>
          </a:p>
        </p:txBody>
      </p:sp>
      <p:sp>
        <p:nvSpPr>
          <p:cNvPr id="12" name="Content Placeholder 11"/>
          <p:cNvSpPr>
            <a:spLocks noGrp="1"/>
          </p:cNvSpPr>
          <p:nvPr>
            <p:ph sz="quarter" idx="18"/>
          </p:nvPr>
        </p:nvSpPr>
        <p:spPr>
          <a:xfrm>
            <a:off x="304800" y="2533650"/>
            <a:ext cx="3429000" cy="228600"/>
          </a:xfrm>
          <a:prstGeom prst="rect">
            <a:avLst/>
          </a:prstGeom>
        </p:spPr>
        <p:txBody>
          <a:bodyPr/>
          <a:lstStyle>
            <a:lvl1pPr>
              <a:buNone/>
              <a:defRPr/>
            </a:lvl1pPr>
          </a:lstStyle>
          <a:p>
            <a:pPr lvl="0"/>
            <a:endParaRPr lang="en-US" dirty="0"/>
          </a:p>
        </p:txBody>
      </p:sp>
      <p:sp>
        <p:nvSpPr>
          <p:cNvPr id="14" name="Content Placeholder 13"/>
          <p:cNvSpPr>
            <a:spLocks noGrp="1"/>
          </p:cNvSpPr>
          <p:nvPr>
            <p:ph sz="quarter" idx="19"/>
          </p:nvPr>
        </p:nvSpPr>
        <p:spPr>
          <a:xfrm>
            <a:off x="304800" y="2914650"/>
            <a:ext cx="3505200" cy="304800"/>
          </a:xfrm>
          <a:prstGeom prst="rect">
            <a:avLst/>
          </a:prstGeom>
        </p:spPr>
        <p:txBody>
          <a:bodyPr/>
          <a:lstStyle>
            <a:lvl1pPr>
              <a:buNone/>
              <a:defRPr/>
            </a:lvl1pPr>
          </a:lstStyle>
          <a:p>
            <a:pPr lvl="0"/>
            <a:endParaRPr lang="en-US" dirty="0"/>
          </a:p>
        </p:txBody>
      </p:sp>
      <p:sp>
        <p:nvSpPr>
          <p:cNvPr id="16" name="Content Placeholder 15"/>
          <p:cNvSpPr>
            <a:spLocks noGrp="1"/>
          </p:cNvSpPr>
          <p:nvPr>
            <p:ph sz="quarter" idx="20"/>
          </p:nvPr>
        </p:nvSpPr>
        <p:spPr>
          <a:xfrm>
            <a:off x="304800" y="3295650"/>
            <a:ext cx="3505200" cy="228600"/>
          </a:xfrm>
          <a:prstGeom prst="rect">
            <a:avLst/>
          </a:prstGeom>
        </p:spPr>
        <p:txBody>
          <a:bodyPr/>
          <a:lstStyle>
            <a:lvl1pPr>
              <a:buNone/>
              <a:defRPr/>
            </a:lvl1pPr>
          </a:lstStyle>
          <a:p>
            <a:pPr lvl="0"/>
            <a:endParaRPr lang="en-US" dirty="0"/>
          </a:p>
        </p:txBody>
      </p:sp>
      <p:sp>
        <p:nvSpPr>
          <p:cNvPr id="18" name="Content Placeholder 17"/>
          <p:cNvSpPr>
            <a:spLocks noGrp="1"/>
          </p:cNvSpPr>
          <p:nvPr>
            <p:ph sz="quarter" idx="21"/>
          </p:nvPr>
        </p:nvSpPr>
        <p:spPr>
          <a:xfrm>
            <a:off x="304800" y="3676650"/>
            <a:ext cx="3505200" cy="228600"/>
          </a:xfrm>
          <a:prstGeom prst="rect">
            <a:avLst/>
          </a:prstGeom>
        </p:spPr>
        <p:txBody>
          <a:bodyPr/>
          <a:lstStyle>
            <a:lvl1pPr>
              <a:buNone/>
              <a:defRPr/>
            </a:lvl1pPr>
          </a:lstStyle>
          <a:p>
            <a:pPr lvl="0"/>
            <a:endParaRPr lang="en-US" dirty="0"/>
          </a:p>
        </p:txBody>
      </p:sp>
      <p:sp>
        <p:nvSpPr>
          <p:cNvPr id="20" name="Content Placeholder 19"/>
          <p:cNvSpPr>
            <a:spLocks noGrp="1"/>
          </p:cNvSpPr>
          <p:nvPr>
            <p:ph sz="quarter" idx="22"/>
          </p:nvPr>
        </p:nvSpPr>
        <p:spPr>
          <a:xfrm>
            <a:off x="304800" y="3962400"/>
            <a:ext cx="3505200" cy="304800"/>
          </a:xfrm>
          <a:prstGeom prst="rect">
            <a:avLst/>
          </a:prstGeom>
        </p:spPr>
        <p:txBody>
          <a:bodyPr/>
          <a:lstStyle>
            <a:lvl1pPr>
              <a:buNone/>
              <a:defRPr/>
            </a:lvl1pPr>
          </a:lstStyle>
          <a:p>
            <a:pPr lvl="0"/>
            <a:endParaRPr lang="en-US" dirty="0"/>
          </a:p>
        </p:txBody>
      </p:sp>
      <p:sp>
        <p:nvSpPr>
          <p:cNvPr id="22" name="Content Placeholder 21"/>
          <p:cNvSpPr>
            <a:spLocks noGrp="1"/>
          </p:cNvSpPr>
          <p:nvPr>
            <p:ph sz="quarter" idx="23"/>
          </p:nvPr>
        </p:nvSpPr>
        <p:spPr>
          <a:xfrm>
            <a:off x="304800" y="4343400"/>
            <a:ext cx="3581400" cy="304800"/>
          </a:xfrm>
          <a:prstGeom prst="rect">
            <a:avLst/>
          </a:prstGeom>
        </p:spPr>
        <p:txBody>
          <a:bodyPr/>
          <a:lstStyle>
            <a:lvl1pPr>
              <a:buNone/>
              <a:defRPr/>
            </a:lvl1pPr>
          </a:lstStyle>
          <a:p>
            <a:pPr lvl="0"/>
            <a:endParaRPr lang="en-US" dirty="0"/>
          </a:p>
        </p:txBody>
      </p:sp>
      <p:sp>
        <p:nvSpPr>
          <p:cNvPr id="24" name="Content Placeholder 23"/>
          <p:cNvSpPr>
            <a:spLocks noGrp="1"/>
          </p:cNvSpPr>
          <p:nvPr>
            <p:ph sz="quarter" idx="24"/>
          </p:nvPr>
        </p:nvSpPr>
        <p:spPr>
          <a:xfrm>
            <a:off x="304800" y="4724400"/>
            <a:ext cx="3505200" cy="304800"/>
          </a:xfrm>
          <a:prstGeom prst="rect">
            <a:avLst/>
          </a:prstGeom>
        </p:spPr>
        <p:txBody>
          <a:bodyPr/>
          <a:lstStyle>
            <a:lvl1pPr>
              <a:buNone/>
              <a:defRPr/>
            </a:lvl1pPr>
          </a:lstStyle>
          <a:p>
            <a:pPr lvl="0"/>
            <a:endParaRPr lang="en-US" dirty="0"/>
          </a:p>
        </p:txBody>
      </p:sp>
      <p:sp>
        <p:nvSpPr>
          <p:cNvPr id="26" name="Content Placeholder 25"/>
          <p:cNvSpPr>
            <a:spLocks noGrp="1"/>
          </p:cNvSpPr>
          <p:nvPr>
            <p:ph sz="quarter" idx="25"/>
          </p:nvPr>
        </p:nvSpPr>
        <p:spPr>
          <a:xfrm>
            <a:off x="304800" y="5105400"/>
            <a:ext cx="3505200" cy="304800"/>
          </a:xfrm>
          <a:prstGeom prst="rect">
            <a:avLst/>
          </a:prstGeom>
        </p:spPr>
        <p:txBody>
          <a:bodyPr/>
          <a:lstStyle>
            <a:lvl1pPr>
              <a:buNone/>
              <a:defRPr/>
            </a:lvl1pPr>
          </a:lstStyle>
          <a:p>
            <a:pPr lvl="0"/>
            <a:endParaRPr lang="en-US" dirty="0"/>
          </a:p>
        </p:txBody>
      </p:sp>
      <p:sp>
        <p:nvSpPr>
          <p:cNvPr id="28" name="Content Placeholder 27"/>
          <p:cNvSpPr>
            <a:spLocks noGrp="1"/>
          </p:cNvSpPr>
          <p:nvPr>
            <p:ph sz="quarter" idx="26"/>
          </p:nvPr>
        </p:nvSpPr>
        <p:spPr>
          <a:xfrm>
            <a:off x="304800" y="5486400"/>
            <a:ext cx="3581400" cy="304800"/>
          </a:xfrm>
          <a:prstGeom prst="rect">
            <a:avLst/>
          </a:prstGeom>
        </p:spPr>
        <p:txBody>
          <a:bodyPr/>
          <a:lstStyle>
            <a:lvl1pPr>
              <a:buNone/>
              <a:defRPr/>
            </a:lvl1pPr>
          </a:lstStyle>
          <a:p>
            <a:pPr lvl="0"/>
            <a:endParaRPr lang="en-US" dirty="0"/>
          </a:p>
        </p:txBody>
      </p:sp>
      <p:sp>
        <p:nvSpPr>
          <p:cNvPr id="30" name="Content Placeholder 29"/>
          <p:cNvSpPr>
            <a:spLocks noGrp="1"/>
          </p:cNvSpPr>
          <p:nvPr>
            <p:ph sz="quarter" idx="27"/>
          </p:nvPr>
        </p:nvSpPr>
        <p:spPr>
          <a:xfrm>
            <a:off x="304800" y="5867400"/>
            <a:ext cx="3581400" cy="304800"/>
          </a:xfrm>
          <a:prstGeom prst="rect">
            <a:avLst/>
          </a:prstGeom>
        </p:spPr>
        <p:txBody>
          <a:bodyPr/>
          <a:lstStyle>
            <a:lvl1pPr>
              <a:buNone/>
              <a:defRPr/>
            </a:lvl1pPr>
          </a:lstStyle>
          <a:p>
            <a:pPr lvl="0"/>
            <a:endParaRPr lang="en-US" dirty="0"/>
          </a:p>
        </p:txBody>
      </p:sp>
      <p:sp>
        <p:nvSpPr>
          <p:cNvPr id="32" name="Content Placeholder 31"/>
          <p:cNvSpPr>
            <a:spLocks noGrp="1"/>
          </p:cNvSpPr>
          <p:nvPr>
            <p:ph sz="quarter" idx="28"/>
          </p:nvPr>
        </p:nvSpPr>
        <p:spPr>
          <a:xfrm>
            <a:off x="304800" y="6248400"/>
            <a:ext cx="3505200" cy="304800"/>
          </a:xfrm>
          <a:prstGeom prst="rect">
            <a:avLst/>
          </a:prstGeom>
        </p:spPr>
        <p:txBody>
          <a:bodyPr/>
          <a:lstStyle>
            <a:lvl1pPr>
              <a:buNone/>
              <a:defRPr/>
            </a:lvl1pPr>
          </a:lstStyle>
          <a:p>
            <a:pPr lvl="0"/>
            <a:endParaRPr lang="en-US" dirty="0"/>
          </a:p>
        </p:txBody>
      </p:sp>
      <p:sp>
        <p:nvSpPr>
          <p:cNvPr id="34" name="Content Placeholder 33"/>
          <p:cNvSpPr>
            <a:spLocks noGrp="1"/>
          </p:cNvSpPr>
          <p:nvPr>
            <p:ph sz="quarter" idx="29"/>
          </p:nvPr>
        </p:nvSpPr>
        <p:spPr>
          <a:xfrm>
            <a:off x="4343400" y="1752600"/>
            <a:ext cx="2756747" cy="381000"/>
          </a:xfrm>
          <a:prstGeom prst="rect">
            <a:avLst/>
          </a:prstGeom>
        </p:spPr>
        <p:txBody>
          <a:bodyPr/>
          <a:lstStyle>
            <a:lvl1pPr>
              <a:buNone/>
              <a:defRPr/>
            </a:lvl1pPr>
          </a:lstStyle>
          <a:p>
            <a:pPr lvl="0"/>
            <a:endParaRPr lang="en-US" dirty="0"/>
          </a:p>
        </p:txBody>
      </p:sp>
      <p:sp>
        <p:nvSpPr>
          <p:cNvPr id="36" name="Content Placeholder 35"/>
          <p:cNvSpPr>
            <a:spLocks noGrp="1"/>
          </p:cNvSpPr>
          <p:nvPr>
            <p:ph sz="quarter" idx="30"/>
          </p:nvPr>
        </p:nvSpPr>
        <p:spPr>
          <a:xfrm>
            <a:off x="4343400" y="2209800"/>
            <a:ext cx="2756747" cy="381000"/>
          </a:xfrm>
          <a:prstGeom prst="rect">
            <a:avLst/>
          </a:prstGeom>
        </p:spPr>
        <p:txBody>
          <a:bodyPr/>
          <a:lstStyle>
            <a:lvl1pPr>
              <a:buNone/>
              <a:defRPr/>
            </a:lvl1pPr>
          </a:lstStyle>
          <a:p>
            <a:pPr lvl="0"/>
            <a:endParaRPr lang="en-US" dirty="0"/>
          </a:p>
        </p:txBody>
      </p:sp>
      <p:sp>
        <p:nvSpPr>
          <p:cNvPr id="38" name="Content Placeholder 37"/>
          <p:cNvSpPr>
            <a:spLocks noGrp="1"/>
          </p:cNvSpPr>
          <p:nvPr>
            <p:ph sz="quarter" idx="31"/>
          </p:nvPr>
        </p:nvSpPr>
        <p:spPr>
          <a:xfrm>
            <a:off x="4343400" y="2590800"/>
            <a:ext cx="2819400" cy="381000"/>
          </a:xfrm>
          <a:prstGeom prst="rect">
            <a:avLst/>
          </a:prstGeom>
        </p:spPr>
        <p:txBody>
          <a:bodyPr/>
          <a:lstStyle>
            <a:lvl1pPr>
              <a:buNone/>
              <a:defRPr/>
            </a:lvl1pPr>
          </a:lstStyle>
          <a:p>
            <a:pPr lvl="0"/>
            <a:endParaRPr lang="en-US" dirty="0"/>
          </a:p>
        </p:txBody>
      </p:sp>
      <p:sp>
        <p:nvSpPr>
          <p:cNvPr id="40" name="Content Placeholder 39"/>
          <p:cNvSpPr>
            <a:spLocks noGrp="1"/>
          </p:cNvSpPr>
          <p:nvPr>
            <p:ph sz="quarter" idx="32"/>
          </p:nvPr>
        </p:nvSpPr>
        <p:spPr>
          <a:xfrm>
            <a:off x="4343400" y="2971800"/>
            <a:ext cx="2819400" cy="381000"/>
          </a:xfrm>
          <a:prstGeom prst="rect">
            <a:avLst/>
          </a:prstGeom>
        </p:spPr>
        <p:txBody>
          <a:bodyPr/>
          <a:lstStyle>
            <a:lvl1pPr>
              <a:buNone/>
              <a:defRPr/>
            </a:lvl1pPr>
          </a:lstStyle>
          <a:p>
            <a:pPr lvl="0"/>
            <a:endParaRPr lang="en-US" dirty="0"/>
          </a:p>
        </p:txBody>
      </p:sp>
      <p:sp>
        <p:nvSpPr>
          <p:cNvPr id="42" name="Content Placeholder 41"/>
          <p:cNvSpPr>
            <a:spLocks noGrp="1"/>
          </p:cNvSpPr>
          <p:nvPr>
            <p:ph sz="quarter" idx="33"/>
          </p:nvPr>
        </p:nvSpPr>
        <p:spPr>
          <a:xfrm>
            <a:off x="4343400" y="3429000"/>
            <a:ext cx="2819400" cy="285750"/>
          </a:xfrm>
          <a:prstGeom prst="rect">
            <a:avLst/>
          </a:prstGeom>
        </p:spPr>
        <p:txBody>
          <a:bodyPr/>
          <a:lstStyle>
            <a:lvl1pPr>
              <a:buNone/>
              <a:defRPr/>
            </a:lvl1pPr>
          </a:lstStyle>
          <a:p>
            <a:pPr lvl="0"/>
            <a:endParaRPr lang="en-US" dirty="0"/>
          </a:p>
        </p:txBody>
      </p:sp>
      <p:sp>
        <p:nvSpPr>
          <p:cNvPr id="44" name="Content Placeholder 43"/>
          <p:cNvSpPr>
            <a:spLocks noGrp="1"/>
          </p:cNvSpPr>
          <p:nvPr>
            <p:ph sz="quarter" idx="34"/>
          </p:nvPr>
        </p:nvSpPr>
        <p:spPr>
          <a:xfrm>
            <a:off x="4343400" y="3810000"/>
            <a:ext cx="2819400" cy="381000"/>
          </a:xfrm>
          <a:prstGeom prst="rect">
            <a:avLst/>
          </a:prstGeom>
        </p:spPr>
        <p:txBody>
          <a:bodyPr/>
          <a:lstStyle>
            <a:lvl1pPr>
              <a:buNone/>
              <a:defRPr/>
            </a:lvl1pPr>
          </a:lstStyle>
          <a:p>
            <a:pPr lvl="0"/>
            <a:endParaRPr lang="en-US" dirty="0"/>
          </a:p>
        </p:txBody>
      </p:sp>
      <p:sp>
        <p:nvSpPr>
          <p:cNvPr id="46" name="Content Placeholder 45"/>
          <p:cNvSpPr>
            <a:spLocks noGrp="1"/>
          </p:cNvSpPr>
          <p:nvPr>
            <p:ph sz="quarter" idx="35"/>
          </p:nvPr>
        </p:nvSpPr>
        <p:spPr>
          <a:xfrm>
            <a:off x="4343400" y="4191000"/>
            <a:ext cx="2819400" cy="476250"/>
          </a:xfrm>
          <a:prstGeom prst="rect">
            <a:avLst/>
          </a:prstGeom>
        </p:spPr>
        <p:txBody>
          <a:bodyPr/>
          <a:lstStyle>
            <a:lvl1pPr>
              <a:buNone/>
              <a:defRPr/>
            </a:lvl1pPr>
          </a:lstStyle>
          <a:p>
            <a:pPr lvl="0"/>
            <a:endParaRPr lang="en-US" dirty="0"/>
          </a:p>
        </p:txBody>
      </p:sp>
      <p:sp>
        <p:nvSpPr>
          <p:cNvPr id="48" name="Content Placeholder 47"/>
          <p:cNvSpPr>
            <a:spLocks noGrp="1"/>
          </p:cNvSpPr>
          <p:nvPr>
            <p:ph sz="quarter" idx="36"/>
          </p:nvPr>
        </p:nvSpPr>
        <p:spPr>
          <a:xfrm>
            <a:off x="4343400" y="4648200"/>
            <a:ext cx="2882053" cy="381000"/>
          </a:xfrm>
          <a:prstGeom prst="rect">
            <a:avLst/>
          </a:prstGeom>
        </p:spPr>
        <p:txBody>
          <a:bodyPr/>
          <a:lstStyle>
            <a:lvl1pPr>
              <a:buNone/>
              <a:defRPr/>
            </a:lvl1pPr>
          </a:lstStyle>
          <a:p>
            <a:pPr lvl="0"/>
            <a:endParaRPr lang="en-US" dirty="0"/>
          </a:p>
        </p:txBody>
      </p:sp>
      <p:sp>
        <p:nvSpPr>
          <p:cNvPr id="50" name="Content Placeholder 49"/>
          <p:cNvSpPr>
            <a:spLocks noGrp="1"/>
          </p:cNvSpPr>
          <p:nvPr>
            <p:ph sz="quarter" idx="37"/>
          </p:nvPr>
        </p:nvSpPr>
        <p:spPr>
          <a:xfrm>
            <a:off x="4343400" y="5029200"/>
            <a:ext cx="2819400" cy="381000"/>
          </a:xfrm>
          <a:prstGeom prst="rect">
            <a:avLst/>
          </a:prstGeom>
        </p:spPr>
        <p:txBody>
          <a:bodyPr/>
          <a:lstStyle>
            <a:lvl1pPr>
              <a:buNone/>
              <a:defRPr/>
            </a:lvl1pPr>
          </a:lstStyle>
          <a:p>
            <a:pPr lvl="0"/>
            <a:endParaRPr lang="en-US" dirty="0"/>
          </a:p>
        </p:txBody>
      </p:sp>
      <p:sp>
        <p:nvSpPr>
          <p:cNvPr id="52" name="Content Placeholder 51"/>
          <p:cNvSpPr>
            <a:spLocks noGrp="1"/>
          </p:cNvSpPr>
          <p:nvPr>
            <p:ph sz="quarter" idx="38"/>
          </p:nvPr>
        </p:nvSpPr>
        <p:spPr>
          <a:xfrm>
            <a:off x="4343400" y="5410200"/>
            <a:ext cx="2882053" cy="381000"/>
          </a:xfrm>
          <a:prstGeom prst="rect">
            <a:avLst/>
          </a:prstGeom>
        </p:spPr>
        <p:txBody>
          <a:bodyPr/>
          <a:lstStyle>
            <a:lvl1pPr>
              <a:buNone/>
              <a:defRPr/>
            </a:lvl1pPr>
          </a:lstStyle>
          <a:p>
            <a:pPr lvl="0"/>
            <a:endParaRPr lang="en-US" dirty="0"/>
          </a:p>
        </p:txBody>
      </p:sp>
      <p:sp>
        <p:nvSpPr>
          <p:cNvPr id="54" name="Content Placeholder 53"/>
          <p:cNvSpPr>
            <a:spLocks noGrp="1"/>
          </p:cNvSpPr>
          <p:nvPr>
            <p:ph sz="quarter" idx="39"/>
          </p:nvPr>
        </p:nvSpPr>
        <p:spPr>
          <a:xfrm>
            <a:off x="4343400" y="5791200"/>
            <a:ext cx="2882053" cy="381000"/>
          </a:xfrm>
          <a:prstGeom prst="rect">
            <a:avLst/>
          </a:prstGeom>
        </p:spPr>
        <p:txBody>
          <a:bodyPr/>
          <a:lstStyle>
            <a:lvl1pPr>
              <a:buNone/>
              <a:defRPr/>
            </a:lvl1pPr>
          </a:lstStyle>
          <a:p>
            <a:pPr lvl="0"/>
            <a:endParaRPr lang="en-US" dirty="0"/>
          </a:p>
        </p:txBody>
      </p:sp>
      <p:sp>
        <p:nvSpPr>
          <p:cNvPr id="56" name="Content Placeholder 55"/>
          <p:cNvSpPr>
            <a:spLocks noGrp="1"/>
          </p:cNvSpPr>
          <p:nvPr>
            <p:ph sz="quarter" idx="40"/>
          </p:nvPr>
        </p:nvSpPr>
        <p:spPr>
          <a:xfrm>
            <a:off x="7543800" y="1828800"/>
            <a:ext cx="1295400" cy="304800"/>
          </a:xfrm>
          <a:prstGeom prst="rect">
            <a:avLst/>
          </a:prstGeom>
        </p:spPr>
        <p:txBody>
          <a:bodyPr/>
          <a:lstStyle>
            <a:lvl1pPr>
              <a:buNone/>
              <a:defRPr/>
            </a:lvl1pPr>
          </a:lstStyle>
          <a:p>
            <a:pPr lvl="0"/>
            <a:endParaRPr lang="en-US" dirty="0"/>
          </a:p>
        </p:txBody>
      </p:sp>
      <p:sp>
        <p:nvSpPr>
          <p:cNvPr id="58" name="Content Placeholder 57"/>
          <p:cNvSpPr>
            <a:spLocks noGrp="1"/>
          </p:cNvSpPr>
          <p:nvPr>
            <p:ph sz="quarter" idx="41"/>
          </p:nvPr>
        </p:nvSpPr>
        <p:spPr>
          <a:xfrm>
            <a:off x="7543800" y="2286000"/>
            <a:ext cx="1295400" cy="381000"/>
          </a:xfrm>
          <a:prstGeom prst="rect">
            <a:avLst/>
          </a:prstGeom>
        </p:spPr>
        <p:txBody>
          <a:bodyPr/>
          <a:lstStyle>
            <a:lvl1pPr>
              <a:buNone/>
              <a:defRPr/>
            </a:lvl1pPr>
          </a:lstStyle>
          <a:p>
            <a:pPr lvl="0"/>
            <a:endParaRPr lang="en-US" dirty="0"/>
          </a:p>
        </p:txBody>
      </p:sp>
      <p:sp>
        <p:nvSpPr>
          <p:cNvPr id="60" name="Content Placeholder 59"/>
          <p:cNvSpPr>
            <a:spLocks noGrp="1"/>
          </p:cNvSpPr>
          <p:nvPr>
            <p:ph sz="quarter" idx="42"/>
          </p:nvPr>
        </p:nvSpPr>
        <p:spPr>
          <a:xfrm>
            <a:off x="7543800" y="2895600"/>
            <a:ext cx="1371600" cy="381000"/>
          </a:xfrm>
          <a:prstGeom prst="rect">
            <a:avLst/>
          </a:prstGeom>
        </p:spPr>
        <p:txBody>
          <a:bodyPr/>
          <a:lstStyle>
            <a:lvl1pPr>
              <a:buNone/>
              <a:defRPr/>
            </a:lvl1pPr>
          </a:lstStyle>
          <a:p>
            <a:pPr lvl="0"/>
            <a:endParaRPr lang="en-US" dirty="0"/>
          </a:p>
        </p:txBody>
      </p:sp>
      <p:sp>
        <p:nvSpPr>
          <p:cNvPr id="62" name="Content Placeholder 61"/>
          <p:cNvSpPr>
            <a:spLocks noGrp="1"/>
          </p:cNvSpPr>
          <p:nvPr>
            <p:ph sz="quarter" idx="43"/>
          </p:nvPr>
        </p:nvSpPr>
        <p:spPr>
          <a:xfrm>
            <a:off x="7543800" y="3505200"/>
            <a:ext cx="1371600" cy="381000"/>
          </a:xfrm>
          <a:prstGeom prst="rect">
            <a:avLst/>
          </a:prstGeom>
        </p:spPr>
        <p:txBody>
          <a:bodyPr/>
          <a:lstStyle>
            <a:lvl1pPr>
              <a:buNone/>
              <a:defRPr/>
            </a:lvl1pPr>
          </a:lstStyle>
          <a:p>
            <a:pPr lvl="0"/>
            <a:endParaRPr lang="en-US" dirty="0"/>
          </a:p>
        </p:txBody>
      </p:sp>
      <p:sp>
        <p:nvSpPr>
          <p:cNvPr id="33" name="LON">
            <a:extLst>
              <a:ext uri="{FF2B5EF4-FFF2-40B4-BE49-F238E27FC236}">
                <a16:creationId xmlns:a16="http://schemas.microsoft.com/office/drawing/2014/main" id="{62ADFE7E-5FD0-45E3-8E21-C57D05F59C2B}"/>
              </a:ext>
            </a:extLst>
          </p:cNvPr>
          <p:cNvSpPr>
            <a:spLocks noGrp="1"/>
          </p:cNvSpPr>
          <p:nvPr>
            <p:ph sz="quarter" idx="44" hasCustomPrompt="1"/>
          </p:nvPr>
        </p:nvSpPr>
        <p:spPr>
          <a:xfrm>
            <a:off x="331788" y="6403255"/>
            <a:ext cx="749300" cy="365125"/>
          </a:xfrm>
          <a:prstGeom prst="rect">
            <a:avLst/>
          </a:prstGeom>
        </p:spPr>
        <p:txBody>
          <a:bodyPr anchor="ctr">
            <a:normAutofit/>
          </a:bodyPr>
          <a:lstStyle>
            <a:lvl1pPr marL="0" indent="0">
              <a:buNone/>
              <a:defRPr sz="1200">
                <a:solidFill>
                  <a:schemeClr val="bg1">
                    <a:lumMod val="50000"/>
                  </a:schemeClr>
                </a:solidFill>
              </a:defRPr>
            </a:lvl1pPr>
          </a:lstStyle>
          <a:p>
            <a:pPr lvl="0"/>
            <a:r>
              <a:rPr lang="en-US" dirty="0"/>
              <a:t>LO #</a:t>
            </a:r>
          </a:p>
        </p:txBody>
      </p:sp>
    </p:spTree>
    <p:extLst>
      <p:ext uri="{BB962C8B-B14F-4D97-AF65-F5344CB8AC3E}">
        <p14:creationId xmlns:p14="http://schemas.microsoft.com/office/powerpoint/2010/main" val="15196333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heme" Target="../theme/theme6.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6" r:id="rId11"/>
    <p:sldLayoutId id="2147483989" r:id="rId12"/>
    <p:sldLayoutId id="2147483990" r:id="rId13"/>
    <p:sldLayoutId id="2147483991" r:id="rId14"/>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3.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3.bin"/><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4.bin"/><Relationship Id="rId1" Type="http://schemas.openxmlformats.org/officeDocument/2006/relationships/slideLayout" Target="../slideLayouts/slideLayout31.xml"/><Relationship Id="rId6" Type="http://schemas.openxmlformats.org/officeDocument/2006/relationships/oleObject" Target="../embeddings/oleObject6.bin"/><Relationship Id="rId5" Type="http://schemas.openxmlformats.org/officeDocument/2006/relationships/image" Target="../media/image21.wmf"/><Relationship Id="rId4" Type="http://schemas.openxmlformats.org/officeDocument/2006/relationships/oleObject" Target="../embeddings/oleObject5.bin"/></Relationships>
</file>

<file path=ppt/slides/_rels/slide6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7.bin"/><Relationship Id="rId1" Type="http://schemas.openxmlformats.org/officeDocument/2006/relationships/slideLayout" Target="../slideLayouts/slideLayout25.xml"/><Relationship Id="rId5" Type="http://schemas.openxmlformats.org/officeDocument/2006/relationships/image" Target="../media/image24.wmf"/><Relationship Id="rId4" Type="http://schemas.openxmlformats.org/officeDocument/2006/relationships/oleObject" Target="../embeddings/oleObject8.bin"/></Relationships>
</file>

<file path=ppt/slides/_rels/slide67.x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9.bin"/><Relationship Id="rId1" Type="http://schemas.openxmlformats.org/officeDocument/2006/relationships/slideLayout" Target="../slideLayouts/slideLayout31.xml"/><Relationship Id="rId6" Type="http://schemas.openxmlformats.org/officeDocument/2006/relationships/oleObject" Target="../embeddings/oleObject11.bin"/><Relationship Id="rId5" Type="http://schemas.openxmlformats.org/officeDocument/2006/relationships/image" Target="../media/image26.wmf"/><Relationship Id="rId4" Type="http://schemas.openxmlformats.org/officeDocument/2006/relationships/oleObject" Target="../embeddings/oleObject10.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2.bin"/><Relationship Id="rId1" Type="http://schemas.openxmlformats.org/officeDocument/2006/relationships/slideLayout" Target="../slideLayouts/slideLayout22.xml"/><Relationship Id="rId5" Type="http://schemas.openxmlformats.org/officeDocument/2006/relationships/image" Target="../media/image29.wmf"/><Relationship Id="rId4" Type="http://schemas.openxmlformats.org/officeDocument/2006/relationships/oleObject" Target="../embeddings/oleObject13.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14.bin"/><Relationship Id="rId1" Type="http://schemas.openxmlformats.org/officeDocument/2006/relationships/slideLayout" Target="../slideLayouts/slideLayout25.xml"/><Relationship Id="rId5" Type="http://schemas.openxmlformats.org/officeDocument/2006/relationships/image" Target="../media/image32.wmf"/><Relationship Id="rId4" Type="http://schemas.openxmlformats.org/officeDocument/2006/relationships/oleObject" Target="../embeddings/oleObject15.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6.bin"/><Relationship Id="rId1" Type="http://schemas.openxmlformats.org/officeDocument/2006/relationships/slideLayout" Target="../slideLayouts/slideLayout22.xml"/><Relationship Id="rId5" Type="http://schemas.openxmlformats.org/officeDocument/2006/relationships/image" Target="../media/image34.wmf"/><Relationship Id="rId4" Type="http://schemas.openxmlformats.org/officeDocument/2006/relationships/oleObject" Target="../embeddings/oleObject17.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13</a:t>
            </a:r>
          </a:p>
        </p:txBody>
      </p:sp>
      <p:sp>
        <p:nvSpPr>
          <p:cNvPr id="6" name="CT"/>
          <p:cNvSpPr>
            <a:spLocks noGrp="1"/>
          </p:cNvSpPr>
          <p:nvPr>
            <p:ph sz="quarter" idx="20"/>
          </p:nvPr>
        </p:nvSpPr>
        <p:spPr>
          <a:xfrm>
            <a:off x="152400" y="4572000"/>
            <a:ext cx="8839200" cy="990600"/>
          </a:xfrm>
        </p:spPr>
        <p:txBody>
          <a:bodyPr/>
          <a:lstStyle/>
          <a:p>
            <a:r>
              <a:rPr lang="en-US" sz="4000" dirty="0"/>
              <a:t>Corporations: Organization and Capital Stock Transactions</a:t>
            </a:r>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685799"/>
          </a:xfrm>
          <a:prstGeom prst="rect">
            <a:avLst/>
          </a:prstGeom>
        </p:spPr>
        <p:txBody>
          <a:bodyPr/>
          <a:lstStyle/>
          <a:p>
            <a:r>
              <a:rPr lang="en-US" b="1" dirty="0">
                <a:solidFill>
                  <a:schemeClr val="accent1"/>
                </a:solidFill>
                <a:ea typeface="Source Sans Pro" charset="0"/>
              </a:rPr>
              <a:t>Chapter Outline</a:t>
            </a:r>
            <a:endParaRPr lang="en-US" sz="2400" dirty="0">
              <a:solidFill>
                <a:schemeClr val="accent1"/>
              </a:solidFill>
            </a:endParaRPr>
          </a:p>
        </p:txBody>
      </p:sp>
      <p:sp>
        <p:nvSpPr>
          <p:cNvPr id="4" name="COBBL"/>
          <p:cNvSpPr>
            <a:spLocks noGrp="1"/>
          </p:cNvSpPr>
          <p:nvPr>
            <p:ph sz="quarter" idx="16"/>
          </p:nvPr>
        </p:nvSpPr>
        <p:spPr>
          <a:xfrm>
            <a:off x="304800" y="1752600"/>
            <a:ext cx="8686800" cy="2819400"/>
          </a:xfrm>
        </p:spPr>
        <p:txBody>
          <a:bodyPr/>
          <a:lstStyle/>
          <a:p>
            <a:pPr marL="0" lvl="1" indent="0">
              <a:lnSpc>
                <a:spcPct val="100000"/>
              </a:lnSpc>
              <a:spcBef>
                <a:spcPts val="1200"/>
              </a:spcBef>
              <a:buNone/>
            </a:pPr>
            <a:r>
              <a:rPr lang="en-US" sz="2800" b="1" dirty="0">
                <a:solidFill>
                  <a:schemeClr val="accent2"/>
                </a:solidFill>
                <a:latin typeface="Calibri" panose="020F0502020204030204" pitchFamily="34" charset="0"/>
              </a:rPr>
              <a:t>Learning Objectives</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1 </a:t>
            </a:r>
            <a:r>
              <a:rPr lang="en-US" dirty="0">
                <a:latin typeface="Calibri" panose="020F0502020204030204" pitchFamily="34" charset="0"/>
              </a:rPr>
              <a:t>Discuss and major characteristics of a corporation.</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2 </a:t>
            </a:r>
            <a:r>
              <a:rPr lang="en-US" dirty="0">
                <a:latin typeface="Calibri" panose="020F0502020204030204" pitchFamily="34" charset="0"/>
              </a:rPr>
              <a:t>Explain how to account for common, preferred, and treasury stock.</a:t>
            </a:r>
          </a:p>
          <a:p>
            <a:pPr marL="746125" indent="-746125"/>
            <a:r>
              <a:rPr lang="en-US" b="1" dirty="0">
                <a:solidFill>
                  <a:srgbClr val="990000"/>
                </a:solidFill>
                <a:latin typeface="Calibri" panose="020F0502020204030204" pitchFamily="34" charset="0"/>
              </a:rPr>
              <a:t>L</a:t>
            </a:r>
            <a:r>
              <a:rPr lang="en-US" sz="100" b="1" dirty="0">
                <a:solidFill>
                  <a:srgbClr val="990000"/>
                </a:solidFill>
                <a:latin typeface="Calibri" panose="020F0502020204030204" pitchFamily="34" charset="0"/>
              </a:rPr>
              <a:t> </a:t>
            </a:r>
            <a:r>
              <a:rPr lang="en-US" b="1" dirty="0">
                <a:solidFill>
                  <a:srgbClr val="990000"/>
                </a:solidFill>
                <a:latin typeface="Calibri" panose="020F0502020204030204" pitchFamily="34" charset="0"/>
              </a:rPr>
              <a:t>O 3 </a:t>
            </a:r>
            <a:r>
              <a:rPr lang="en-US" dirty="0">
                <a:latin typeface="Calibri" panose="020F0502020204030204" pitchFamily="34" charset="0"/>
              </a:rPr>
              <a:t>Prepare a stockholders’ equity section.</a:t>
            </a:r>
          </a:p>
        </p:txBody>
      </p:sp>
      <p:sp>
        <p:nvSpPr>
          <p:cNvPr id="5" name="Slide Number Placeholder"/>
          <p:cNvSpPr>
            <a:spLocks noGrp="1"/>
          </p:cNvSpPr>
          <p:nvPr>
            <p:ph type="sldNum" sz="quarter" idx="10"/>
          </p:nvPr>
        </p:nvSpPr>
        <p:spPr/>
        <p:txBody>
          <a:bodyPr/>
          <a:lstStyle/>
          <a:p>
            <a:fld id="{67B19427-F580-D146-B60E-4CADEE75497F}" type="slidenum">
              <a:rPr lang="en-US" smtClean="0"/>
              <a:t>2</a:t>
            </a:fld>
            <a:endParaRPr lang="en-US"/>
          </a:p>
        </p:txBody>
      </p:sp>
      <p:sp>
        <p:nvSpPr>
          <p:cNvPr id="6" name="Footer Placeholde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663153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2AD4-D339-4D90-8D48-5695A27B0073}"/>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Corporate Form of Organization</a:t>
            </a:r>
            <a:endParaRPr lang="en-US" dirty="0"/>
          </a:p>
        </p:txBody>
      </p:sp>
      <p:sp>
        <p:nvSpPr>
          <p:cNvPr id="3" name="Content Placeholder 2">
            <a:extLst>
              <a:ext uri="{FF2B5EF4-FFF2-40B4-BE49-F238E27FC236}">
                <a16:creationId xmlns:a16="http://schemas.microsoft.com/office/drawing/2014/main" id="{4A26108D-CBFF-4190-9FE4-3A9B6D477203}"/>
              </a:ext>
            </a:extLst>
          </p:cNvPr>
          <p:cNvSpPr>
            <a:spLocks noGrp="1"/>
          </p:cNvSpPr>
          <p:nvPr>
            <p:ph sz="quarter" idx="16"/>
          </p:nvPr>
        </p:nvSpPr>
        <p:spPr>
          <a:xfrm>
            <a:off x="304800" y="1828800"/>
            <a:ext cx="8534400" cy="457200"/>
          </a:xfrm>
        </p:spPr>
        <p:txBody>
          <a:bodyPr/>
          <a:lstStyle/>
          <a:p>
            <a:r>
              <a:rPr lang="en-US" altLang="en-US" sz="2600" b="1" dirty="0"/>
              <a:t>An entity separate and distinct from its owners.</a:t>
            </a:r>
            <a:endParaRPr lang="en-US" sz="2600" dirty="0"/>
          </a:p>
        </p:txBody>
      </p:sp>
      <p:pic>
        <p:nvPicPr>
          <p:cNvPr id="7" name="Content Placeholder 6" descr="Entities can be of two types: classified by purpose which contain, not for profit and for profit. Classified by ownership which contain, publicly held and privately held. Examples of not for profit organizations: Salvation Army and American cancer society. Examples of for profit and publicly held organizations: Mc Donald’s, Nike, Pepsi Co, and Google. Examples of privately held organizations: Cargill Inc. ">
            <a:extLst>
              <a:ext uri="{FF2B5EF4-FFF2-40B4-BE49-F238E27FC236}">
                <a16:creationId xmlns:a16="http://schemas.microsoft.com/office/drawing/2014/main" id="{9BD4625B-6355-4C9D-90D5-A13EB3412152}"/>
              </a:ext>
            </a:extLst>
          </p:cNvPr>
          <p:cNvPicPr>
            <a:picLocks noGrp="1" noChangeAspect="1"/>
          </p:cNvPicPr>
          <p:nvPr>
            <p:ph sz="quarter" idx="17"/>
          </p:nvPr>
        </p:nvPicPr>
        <p:blipFill>
          <a:blip r:embed="rId2"/>
          <a:stretch>
            <a:fillRect/>
          </a:stretch>
        </p:blipFill>
        <p:spPr>
          <a:xfrm>
            <a:off x="685800" y="2510184"/>
            <a:ext cx="7510502" cy="3639332"/>
          </a:xfrm>
          <a:prstGeom prst="rect">
            <a:avLst/>
          </a:prstGeom>
        </p:spPr>
      </p:pic>
      <p:sp>
        <p:nvSpPr>
          <p:cNvPr id="5" name="Slide Number Placeholder 4">
            <a:extLst>
              <a:ext uri="{FF2B5EF4-FFF2-40B4-BE49-F238E27FC236}">
                <a16:creationId xmlns:a16="http://schemas.microsoft.com/office/drawing/2014/main" id="{EC3B1F0C-3D14-4445-99C3-F2B0BB16DD06}"/>
              </a:ext>
            </a:extLst>
          </p:cNvPr>
          <p:cNvSpPr>
            <a:spLocks noGrp="1"/>
          </p:cNvSpPr>
          <p:nvPr>
            <p:ph type="sldNum" sz="quarter" idx="10"/>
          </p:nvPr>
        </p:nvSpPr>
        <p:spPr/>
        <p:txBody>
          <a:bodyPr/>
          <a:lstStyle/>
          <a:p>
            <a:fld id="{67B19427-F580-D146-B60E-4CADEE75497F}" type="slidenum">
              <a:rPr lang="en-US" smtClean="0"/>
              <a:pPr/>
              <a:t>3</a:t>
            </a:fld>
            <a:endParaRPr lang="en-US" dirty="0"/>
          </a:p>
        </p:txBody>
      </p:sp>
      <p:sp>
        <p:nvSpPr>
          <p:cNvPr id="6" name="Footer Placeholder 5">
            <a:extLst>
              <a:ext uri="{FF2B5EF4-FFF2-40B4-BE49-F238E27FC236}">
                <a16:creationId xmlns:a16="http://schemas.microsoft.com/office/drawing/2014/main" id="{23A7B95F-389E-409C-BA8E-598AA15E15C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282654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E49C-FAB4-4838-8B7C-4194268D7FA8}"/>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 </a:t>
            </a:r>
            <a:r>
              <a:rPr lang="en-US" sz="2400" dirty="0">
                <a:latin typeface="Calibri" panose="020F0502020204030204" pitchFamily="34" charset="0"/>
                <a:ea typeface="Source Sans Pro" charset="0"/>
                <a:cs typeface="Calibri" panose="020F0502020204030204" pitchFamily="34" charset="0"/>
              </a:rPr>
              <a:t>(1 of 4)</a:t>
            </a:r>
            <a:endParaRPr lang="en-US" sz="2400" dirty="0"/>
          </a:p>
        </p:txBody>
      </p:sp>
      <p:pic>
        <p:nvPicPr>
          <p:cNvPr id="7" name="Content Placeholder 6" descr="An illustration shows a flowchart of a typical corporate organization chart. The Flowchart starts from Stockholders, leading to Chairman and Board of Directors and further leads to President and Chief executive officers. From here, it branches into the following in the next tier: General counsel or secretary, Vice president Marketing, Vice President Finance or Chief Financial Officer, Vice President Operations, and Vice President Human Resources. Vice President Finance or Chief Financial Officer further branches into Treasurer and Controller.">
            <a:extLst>
              <a:ext uri="{FF2B5EF4-FFF2-40B4-BE49-F238E27FC236}">
                <a16:creationId xmlns:a16="http://schemas.microsoft.com/office/drawing/2014/main" id="{56DAD227-A7C0-40FF-856C-B17D465F1EA0}"/>
              </a:ext>
            </a:extLst>
          </p:cNvPr>
          <p:cNvPicPr>
            <a:picLocks noGrp="1" noChangeAspect="1"/>
          </p:cNvPicPr>
          <p:nvPr>
            <p:ph sz="quarter" idx="16"/>
          </p:nvPr>
        </p:nvPicPr>
        <p:blipFill>
          <a:blip r:embed="rId2"/>
          <a:stretch>
            <a:fillRect/>
          </a:stretch>
        </p:blipFill>
        <p:spPr>
          <a:xfrm>
            <a:off x="774155" y="1763633"/>
            <a:ext cx="7595690" cy="4493303"/>
          </a:xfrm>
          <a:prstGeom prst="rect">
            <a:avLst/>
          </a:prstGeom>
        </p:spPr>
      </p:pic>
      <p:sp>
        <p:nvSpPr>
          <p:cNvPr id="5" name="Slide Number Placeholder 4">
            <a:extLst>
              <a:ext uri="{FF2B5EF4-FFF2-40B4-BE49-F238E27FC236}">
                <a16:creationId xmlns:a16="http://schemas.microsoft.com/office/drawing/2014/main" id="{19817A9D-4BE1-408E-A244-B7D89F978079}"/>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6" name="Footer Placeholder 5">
            <a:extLst>
              <a:ext uri="{FF2B5EF4-FFF2-40B4-BE49-F238E27FC236}">
                <a16:creationId xmlns:a16="http://schemas.microsoft.com/office/drawing/2014/main" id="{B05F9E2A-503C-42D2-8AF5-6D032001734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6028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81E25-C006-4763-AC3F-BB4306B27DB7}"/>
              </a:ext>
            </a:extLst>
          </p:cNvPr>
          <p:cNvSpPr>
            <a:spLocks noGrp="1"/>
          </p:cNvSpPr>
          <p:nvPr>
            <p:ph type="title"/>
          </p:nvPr>
        </p:nvSpPr>
        <p:spPr>
          <a:xfrm>
            <a:off x="304800" y="762001"/>
            <a:ext cx="8534400" cy="731836"/>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 </a:t>
            </a:r>
            <a:r>
              <a:rPr lang="en-US" sz="2400" dirty="0">
                <a:latin typeface="Calibri" panose="020F0502020204030204" pitchFamily="34" charset="0"/>
                <a:ea typeface="Source Sans Pro" charset="0"/>
                <a:cs typeface="Calibri" panose="020F0502020204030204" pitchFamily="34" charset="0"/>
              </a:rPr>
              <a:t>(2 of 4)</a:t>
            </a:r>
            <a:endParaRPr lang="en-US" sz="2400" dirty="0"/>
          </a:p>
        </p:txBody>
      </p:sp>
      <p:sp>
        <p:nvSpPr>
          <p:cNvPr id="3" name="Content Placeholder 2">
            <a:extLst>
              <a:ext uri="{FF2B5EF4-FFF2-40B4-BE49-F238E27FC236}">
                <a16:creationId xmlns:a16="http://schemas.microsoft.com/office/drawing/2014/main" id="{2DC42F61-913A-4CF9-8263-97D24006ACF6}"/>
              </a:ext>
            </a:extLst>
          </p:cNvPr>
          <p:cNvSpPr>
            <a:spLocks noGrp="1"/>
          </p:cNvSpPr>
          <p:nvPr>
            <p:ph sz="quarter" idx="16"/>
          </p:nvPr>
        </p:nvSpPr>
        <p:spPr>
          <a:xfrm>
            <a:off x="304800" y="1828800"/>
            <a:ext cx="8534400" cy="731836"/>
          </a:xfrm>
        </p:spPr>
        <p:txBody>
          <a:bodyPr/>
          <a:lstStyle/>
          <a:p>
            <a:r>
              <a:rPr lang="en-US" altLang="en-US" sz="2400" dirty="0">
                <a:latin typeface="Calibri" panose="020F0502020204030204" pitchFamily="34" charset="0"/>
              </a:rPr>
              <a:t>Characteristics that distinguish corporations from proprietorships and partnerships.</a:t>
            </a:r>
            <a:endParaRPr lang="en-US" sz="2400" dirty="0">
              <a:latin typeface="Calibri" panose="020F0502020204030204" pitchFamily="34" charset="0"/>
            </a:endParaRPr>
          </a:p>
        </p:txBody>
      </p:sp>
      <p:sp>
        <p:nvSpPr>
          <p:cNvPr id="4" name="Content Placeholder 3">
            <a:extLst>
              <a:ext uri="{FF2B5EF4-FFF2-40B4-BE49-F238E27FC236}">
                <a16:creationId xmlns:a16="http://schemas.microsoft.com/office/drawing/2014/main" id="{F56D9DCE-B4F1-46C3-9B63-645A0E4BE00D}"/>
              </a:ext>
            </a:extLst>
          </p:cNvPr>
          <p:cNvSpPr>
            <a:spLocks noGrp="1"/>
          </p:cNvSpPr>
          <p:nvPr>
            <p:ph sz="quarter" idx="17"/>
          </p:nvPr>
        </p:nvSpPr>
        <p:spPr>
          <a:xfrm>
            <a:off x="304800" y="2743200"/>
            <a:ext cx="4343400" cy="3430586"/>
          </a:xfrm>
        </p:spPr>
        <p:txBody>
          <a:bodyPr/>
          <a:lstStyle/>
          <a:p>
            <a:r>
              <a:rPr lang="en-US" altLang="en-US" sz="2400" b="1" dirty="0">
                <a:latin typeface="Calibri" panose="020F0502020204030204" pitchFamily="34" charset="0"/>
              </a:rPr>
              <a:t>Advantages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Separate Legal Existence</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Limited Liability of Stockholders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Transferable Ownership Rights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Ability to Acquire Capital</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Continuous Life</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Corporate Management</a:t>
            </a:r>
          </a:p>
        </p:txBody>
      </p:sp>
      <p:sp>
        <p:nvSpPr>
          <p:cNvPr id="5" name="Content Placeholder 4">
            <a:extLst>
              <a:ext uri="{FF2B5EF4-FFF2-40B4-BE49-F238E27FC236}">
                <a16:creationId xmlns:a16="http://schemas.microsoft.com/office/drawing/2014/main" id="{A653A712-631A-4700-8A29-7380EFAE53C2}"/>
              </a:ext>
            </a:extLst>
          </p:cNvPr>
          <p:cNvSpPr>
            <a:spLocks noGrp="1"/>
          </p:cNvSpPr>
          <p:nvPr>
            <p:ph sz="quarter" idx="18"/>
          </p:nvPr>
        </p:nvSpPr>
        <p:spPr>
          <a:xfrm>
            <a:off x="4800601" y="2743200"/>
            <a:ext cx="4057260" cy="1981200"/>
          </a:xfrm>
        </p:spPr>
        <p:txBody>
          <a:bodyPr/>
          <a:lstStyle/>
          <a:p>
            <a:r>
              <a:rPr lang="en-US" altLang="en-US" sz="2400" b="1" dirty="0">
                <a:latin typeface="Calibri" panose="020F0502020204030204" pitchFamily="34" charset="0"/>
              </a:rPr>
              <a:t>Disadvantages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Corporate Management</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Government Regulations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Additional Taxes</a:t>
            </a:r>
          </a:p>
        </p:txBody>
      </p:sp>
      <p:sp>
        <p:nvSpPr>
          <p:cNvPr id="12" name="Slide Number Placeholder 11">
            <a:extLst>
              <a:ext uri="{FF2B5EF4-FFF2-40B4-BE49-F238E27FC236}">
                <a16:creationId xmlns:a16="http://schemas.microsoft.com/office/drawing/2014/main" id="{30B6987F-BA41-4BBE-BD10-B5FF2DE378DF}"/>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13" name="Footer Placeholder 12">
            <a:extLst>
              <a:ext uri="{FF2B5EF4-FFF2-40B4-BE49-F238E27FC236}">
                <a16:creationId xmlns:a16="http://schemas.microsoft.com/office/drawing/2014/main" id="{1180CCFD-91C6-4B82-8A10-E7308E18349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99683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82F4-BF09-4910-9DE9-0D0BEADE2025}"/>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 </a:t>
            </a:r>
            <a:r>
              <a:rPr lang="en-US" sz="2400" dirty="0">
                <a:latin typeface="Calibri" panose="020F0502020204030204" pitchFamily="34" charset="0"/>
                <a:ea typeface="Source Sans Pro" charset="0"/>
                <a:cs typeface="Calibri" panose="020F0502020204030204" pitchFamily="34" charset="0"/>
              </a:rPr>
              <a:t>(3 of 4)</a:t>
            </a:r>
            <a:endParaRPr lang="en-US" dirty="0"/>
          </a:p>
        </p:txBody>
      </p:sp>
      <p:sp>
        <p:nvSpPr>
          <p:cNvPr id="3" name="Content Placeholder 2">
            <a:extLst>
              <a:ext uri="{FF2B5EF4-FFF2-40B4-BE49-F238E27FC236}">
                <a16:creationId xmlns:a16="http://schemas.microsoft.com/office/drawing/2014/main" id="{C54D4B01-0FA1-4547-B133-A5D107F90603}"/>
              </a:ext>
            </a:extLst>
          </p:cNvPr>
          <p:cNvSpPr>
            <a:spLocks noGrp="1"/>
          </p:cNvSpPr>
          <p:nvPr>
            <p:ph sz="quarter" idx="16"/>
          </p:nvPr>
        </p:nvSpPr>
        <p:spPr>
          <a:xfrm>
            <a:off x="304800" y="1828800"/>
            <a:ext cx="8534400" cy="3810000"/>
          </a:xfrm>
        </p:spPr>
        <p:txBody>
          <a:bodyPr/>
          <a:lstStyle/>
          <a:p>
            <a:pPr>
              <a:buClr>
                <a:srgbClr val="990000"/>
              </a:buClr>
            </a:pPr>
            <a:r>
              <a:rPr lang="en-US" altLang="en-US" sz="2400" dirty="0">
                <a:latin typeface="Calibri" panose="020F0502020204030204" pitchFamily="34" charset="0"/>
              </a:rPr>
              <a:t>Characteristics that distinguish corporations from proprietorships and partnerships.</a:t>
            </a:r>
            <a:endParaRPr lang="en-US" altLang="en-US" sz="2400" b="1" dirty="0">
              <a:latin typeface="Calibri" panose="020F0502020204030204" pitchFamily="34" charset="0"/>
            </a:endParaRP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Separate Legal Existence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Corporation acts under its own name rather than in the name of its stockholders.</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Limited Liability of Stockholders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Limited to their investment.</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Transferable Ownership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Stockholders may sell their stock.</a:t>
            </a:r>
          </a:p>
          <a:p>
            <a:pPr marL="292608" indent="-292608">
              <a:buClr>
                <a:srgbClr val="990000"/>
              </a:buClr>
              <a:buFont typeface="Arial" panose="020B0604020202020204" pitchFamily="34" charset="0"/>
              <a:buChar char="•"/>
            </a:pPr>
            <a:r>
              <a:rPr lang="en-US" altLang="en-US" sz="2400" dirty="0">
                <a:solidFill>
                  <a:srgbClr val="000000"/>
                </a:solidFill>
                <a:latin typeface="Calibri" panose="020F0502020204030204" pitchFamily="34" charset="0"/>
              </a:rPr>
              <a:t>Ability to Acquire Capital </a:t>
            </a:r>
            <a:r>
              <a:rPr lang="en-US" altLang="en-US" sz="2400" dirty="0">
                <a:solidFill>
                  <a:srgbClr val="000000"/>
                </a:solidFill>
                <a:latin typeface="Calibri" panose="020F0502020204030204" pitchFamily="34" charset="0"/>
                <a:cs typeface="Times New Roman" panose="02020603050405020304" pitchFamily="18" charset="0"/>
              </a:rPr>
              <a:t>→ </a:t>
            </a:r>
            <a:r>
              <a:rPr lang="en-US" altLang="en-US" sz="2400" dirty="0">
                <a:solidFill>
                  <a:schemeClr val="accent2"/>
                </a:solidFill>
                <a:latin typeface="Calibri" panose="020F0502020204030204" pitchFamily="34" charset="0"/>
              </a:rPr>
              <a:t>Corporation can obtain capital through the issuance of stock.</a:t>
            </a:r>
          </a:p>
        </p:txBody>
      </p:sp>
      <p:sp>
        <p:nvSpPr>
          <p:cNvPr id="4" name="Slide Number Placeholder 3">
            <a:extLst>
              <a:ext uri="{FF2B5EF4-FFF2-40B4-BE49-F238E27FC236}">
                <a16:creationId xmlns:a16="http://schemas.microsoft.com/office/drawing/2014/main" id="{FEF846EB-D87A-4159-9401-97EDD9CEAC04}"/>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5" name="Footer Placeholder 4">
            <a:extLst>
              <a:ext uri="{FF2B5EF4-FFF2-40B4-BE49-F238E27FC236}">
                <a16:creationId xmlns:a16="http://schemas.microsoft.com/office/drawing/2014/main" id="{15A66007-C725-45A8-B2B3-026CF24A65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3393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82F4-BF09-4910-9DE9-0D0BEADE2025}"/>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Characteristics of Corporation </a:t>
            </a:r>
            <a:r>
              <a:rPr lang="en-US" sz="2400" dirty="0">
                <a:latin typeface="Calibri" panose="020F0502020204030204" pitchFamily="34" charset="0"/>
                <a:ea typeface="Source Sans Pro" charset="0"/>
                <a:cs typeface="Calibri" panose="020F0502020204030204" pitchFamily="34" charset="0"/>
              </a:rPr>
              <a:t>(4 of 4)</a:t>
            </a:r>
            <a:endParaRPr lang="en-US" dirty="0"/>
          </a:p>
        </p:txBody>
      </p:sp>
      <p:sp>
        <p:nvSpPr>
          <p:cNvPr id="3" name="Content Placeholder 2">
            <a:extLst>
              <a:ext uri="{FF2B5EF4-FFF2-40B4-BE49-F238E27FC236}">
                <a16:creationId xmlns:a16="http://schemas.microsoft.com/office/drawing/2014/main" id="{C54D4B01-0FA1-4547-B133-A5D107F90603}"/>
              </a:ext>
            </a:extLst>
          </p:cNvPr>
          <p:cNvSpPr>
            <a:spLocks noGrp="1"/>
          </p:cNvSpPr>
          <p:nvPr>
            <p:ph sz="quarter" idx="16"/>
          </p:nvPr>
        </p:nvSpPr>
        <p:spPr>
          <a:xfrm>
            <a:off x="304800" y="1828800"/>
            <a:ext cx="8686800" cy="3962400"/>
          </a:xfrm>
        </p:spPr>
        <p:txBody>
          <a:bodyPr/>
          <a:lstStyle/>
          <a:p>
            <a:pPr>
              <a:buClr>
                <a:srgbClr val="990000"/>
              </a:buClr>
            </a:pPr>
            <a:r>
              <a:rPr lang="en-US" altLang="en-US" sz="2400" dirty="0">
                <a:latin typeface="Calibri" panose="020F0502020204030204" pitchFamily="34" charset="0"/>
              </a:rPr>
              <a:t>Characteristics that distinguish corporations from proprietorships and partnerships.</a:t>
            </a:r>
            <a:endParaRPr lang="en-US" altLang="en-US" sz="24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Continuous Life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Continuance as a going concern is not affected by the withdrawal, death, or incapacity of a stockholder, employee, or officer.</a:t>
            </a:r>
            <a:endParaRPr lang="en-US" altLang="en-US" sz="22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Corporate Management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Separation of ownership and management often reduces an owner’s ability to actively manage the company.</a:t>
            </a:r>
            <a:endParaRPr lang="en-US" altLang="en-US" sz="22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Government Regulations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A corporation is subject to numerous state and federal regulations.</a:t>
            </a:r>
            <a:endParaRPr lang="en-US" altLang="en-US" sz="2200" dirty="0">
              <a:solidFill>
                <a:schemeClr val="accent2"/>
              </a:solidFill>
              <a:latin typeface="Calibri" panose="020F0502020204030204" pitchFamily="34" charset="0"/>
            </a:endParaRPr>
          </a:p>
          <a:p>
            <a:pPr marL="292608" indent="-292608">
              <a:buClr>
                <a:srgbClr val="990000"/>
              </a:buClr>
              <a:buFont typeface="Arial" panose="020B0604020202020204" pitchFamily="34" charset="0"/>
              <a:buChar char="•"/>
            </a:pPr>
            <a:r>
              <a:rPr lang="en-US" altLang="en-US" sz="2200" dirty="0">
                <a:solidFill>
                  <a:srgbClr val="000000"/>
                </a:solidFill>
                <a:latin typeface="Calibri" panose="020F0502020204030204" pitchFamily="34" charset="0"/>
              </a:rPr>
              <a:t>Additional Taxes </a:t>
            </a:r>
            <a:r>
              <a:rPr lang="en-US" altLang="en-US" sz="2200" dirty="0">
                <a:solidFill>
                  <a:srgbClr val="000000"/>
                </a:solidFill>
                <a:latin typeface="Calibri" panose="020F0502020204030204" pitchFamily="34" charset="0"/>
                <a:cs typeface="Times New Roman" panose="02020603050405020304" pitchFamily="18" charset="0"/>
              </a:rPr>
              <a:t>→ </a:t>
            </a:r>
            <a:r>
              <a:rPr lang="en-US" altLang="en-US" sz="2200" dirty="0">
                <a:solidFill>
                  <a:schemeClr val="accent2"/>
                </a:solidFill>
                <a:latin typeface="Calibri" panose="020F0502020204030204" pitchFamily="34" charset="0"/>
                <a:cs typeface="Times New Roman" panose="02020603050405020304" pitchFamily="18" charset="0"/>
              </a:rPr>
              <a:t>Corporations pay income taxes as a separate legal entity and in addition, stockholders pay taxes on cash dividends.</a:t>
            </a:r>
            <a:endParaRPr lang="en-US" altLang="en-US" sz="2200" dirty="0">
              <a:solidFill>
                <a:schemeClr val="accent2"/>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FEF846EB-D87A-4159-9401-97EDD9CEAC04}"/>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5" name="Footer Placeholder 4">
            <a:extLst>
              <a:ext uri="{FF2B5EF4-FFF2-40B4-BE49-F238E27FC236}">
                <a16:creationId xmlns:a16="http://schemas.microsoft.com/office/drawing/2014/main" id="{15A66007-C725-45A8-B2B3-026CF24A65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67272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54575-B38A-47B0-ADC1-F3B013044E3B}"/>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Forming a Corporation</a:t>
            </a:r>
            <a:endParaRPr lang="en-US" dirty="0"/>
          </a:p>
        </p:txBody>
      </p:sp>
      <p:sp>
        <p:nvSpPr>
          <p:cNvPr id="3" name="Content Placeholder 2">
            <a:extLst>
              <a:ext uri="{FF2B5EF4-FFF2-40B4-BE49-F238E27FC236}">
                <a16:creationId xmlns:a16="http://schemas.microsoft.com/office/drawing/2014/main" id="{86011ED1-FB97-4C67-8A1A-BDB857EC18AB}"/>
              </a:ext>
            </a:extLst>
          </p:cNvPr>
          <p:cNvSpPr>
            <a:spLocks noGrp="1"/>
          </p:cNvSpPr>
          <p:nvPr>
            <p:ph sz="quarter" idx="16"/>
          </p:nvPr>
        </p:nvSpPr>
        <p:spPr>
          <a:xfrm>
            <a:off x="304800" y="1828800"/>
            <a:ext cx="8534400" cy="1905000"/>
          </a:xfrm>
        </p:spPr>
        <p:txBody>
          <a:bodyPr/>
          <a:lstStyle/>
          <a:p>
            <a:pPr>
              <a:buClr>
                <a:srgbClr val="990000"/>
              </a:buClr>
            </a:pPr>
            <a:r>
              <a:rPr lang="en-US" altLang="en-US" sz="2600" b="1" dirty="0"/>
              <a:t>Initial Steps:</a:t>
            </a:r>
          </a:p>
          <a:p>
            <a:pPr marL="292608" indent="-292608">
              <a:buClr>
                <a:srgbClr val="990000"/>
              </a:buClr>
              <a:buFont typeface="Arial" panose="020B0604020202020204" pitchFamily="34" charset="0"/>
              <a:buChar char="•"/>
            </a:pPr>
            <a:r>
              <a:rPr lang="en-US" sz="2600" dirty="0"/>
              <a:t>File application with the Secretary of State</a:t>
            </a:r>
          </a:p>
          <a:p>
            <a:pPr marL="292608" indent="-292608">
              <a:buClr>
                <a:srgbClr val="990000"/>
              </a:buClr>
              <a:buFont typeface="Arial" panose="020B0604020202020204" pitchFamily="34" charset="0"/>
              <a:buChar char="•"/>
            </a:pPr>
            <a:r>
              <a:rPr lang="en-US" sz="2600" dirty="0"/>
              <a:t>State grants </a:t>
            </a:r>
            <a:r>
              <a:rPr lang="en-US" sz="2600" b="1" dirty="0">
                <a:solidFill>
                  <a:schemeClr val="accent4"/>
                </a:solidFill>
              </a:rPr>
              <a:t>charter</a:t>
            </a:r>
          </a:p>
          <a:p>
            <a:pPr marL="292608" indent="-292608">
              <a:buClr>
                <a:srgbClr val="990000"/>
              </a:buClr>
              <a:buFont typeface="Arial" panose="020B0604020202020204" pitchFamily="34" charset="0"/>
              <a:buChar char="•"/>
            </a:pPr>
            <a:r>
              <a:rPr lang="en-US" sz="2600" dirty="0"/>
              <a:t>Corporation develops by-laws</a:t>
            </a:r>
          </a:p>
        </p:txBody>
      </p:sp>
      <p:sp>
        <p:nvSpPr>
          <p:cNvPr id="7" name="Content Placeholder 6"/>
          <p:cNvSpPr>
            <a:spLocks noGrp="1"/>
          </p:cNvSpPr>
          <p:nvPr>
            <p:ph sz="quarter" idx="18"/>
          </p:nvPr>
        </p:nvSpPr>
        <p:spPr>
          <a:xfrm>
            <a:off x="313267" y="3809999"/>
            <a:ext cx="8534400" cy="2057401"/>
          </a:xfrm>
        </p:spPr>
        <p:txBody>
          <a:bodyPr/>
          <a:lstStyle/>
          <a:p>
            <a:pPr>
              <a:defRPr/>
            </a:pPr>
            <a:r>
              <a:rPr lang="en-US" dirty="0"/>
              <a:t>Companies generally incorporate in a state whose laws are favorable to the corporate form of business.</a:t>
            </a:r>
          </a:p>
          <a:p>
            <a:pPr>
              <a:defRPr/>
            </a:pPr>
            <a:r>
              <a:rPr lang="en-US" dirty="0"/>
              <a:t>Corporations engaged in interstate commerce must obtain a license from each state in which they do business.</a:t>
            </a:r>
          </a:p>
        </p:txBody>
      </p:sp>
      <p:sp>
        <p:nvSpPr>
          <p:cNvPr id="4" name="Slide Number Placeholder 3">
            <a:extLst>
              <a:ext uri="{FF2B5EF4-FFF2-40B4-BE49-F238E27FC236}">
                <a16:creationId xmlns:a16="http://schemas.microsoft.com/office/drawing/2014/main" id="{8B7356C1-D7BE-485C-B658-A37A71FFB0F5}"/>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5" name="Footer Placeholder 4">
            <a:extLst>
              <a:ext uri="{FF2B5EF4-FFF2-40B4-BE49-F238E27FC236}">
                <a16:creationId xmlns:a16="http://schemas.microsoft.com/office/drawing/2014/main" id="{CD6D2261-9E9A-43D3-9771-1C84566FEAA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53782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a:xfrm>
            <a:off x="304800" y="762001"/>
            <a:ext cx="8534400" cy="838199"/>
          </a:xfrm>
        </p:spPr>
        <p:txBody>
          <a:bodyPr/>
          <a:lstStyle/>
          <a:p>
            <a:r>
              <a:rPr lang="en-US" b="1" dirty="0">
                <a:latin typeface="Calibri" panose="020F0502020204030204" pitchFamily="34" charset="0"/>
                <a:ea typeface="Source Sans Pro" charset="0"/>
                <a:cs typeface="Calibri" panose="020F0502020204030204" pitchFamily="34" charset="0"/>
              </a:rPr>
              <a:t>Stockholder Rights</a:t>
            </a:r>
            <a:endParaRPr lang="en-US"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3352800"/>
          </a:xfrm>
        </p:spPr>
        <p:txBody>
          <a:bodyPr/>
          <a:lstStyle/>
          <a:p>
            <a:pPr marL="402336" indent="-402336">
              <a:buClr>
                <a:schemeClr val="accent2"/>
              </a:buClr>
              <a:buFont typeface="+mj-lt"/>
              <a:buAutoNum type="arabicPeriod"/>
            </a:pPr>
            <a:r>
              <a:rPr lang="en-US" sz="2600" dirty="0"/>
              <a:t>Vote in election of board of directors at annual meeting and vote on actions that require stockholder approval.</a:t>
            </a:r>
          </a:p>
          <a:p>
            <a:pPr marL="402336" indent="-402336">
              <a:buClr>
                <a:schemeClr val="accent2"/>
              </a:buClr>
              <a:buFont typeface="+mj-lt"/>
              <a:buAutoNum type="arabicPeriod"/>
            </a:pPr>
            <a:r>
              <a:rPr lang="en-US" altLang="en-US" sz="2600" dirty="0"/>
              <a:t>Share the corporate earnings through receipt of dividends.</a:t>
            </a:r>
          </a:p>
          <a:p>
            <a:pPr marL="402336" indent="-402336">
              <a:buClr>
                <a:schemeClr val="accent2"/>
              </a:buClr>
              <a:buFont typeface="+mj-lt"/>
              <a:buAutoNum type="arabicPeriod"/>
            </a:pPr>
            <a:r>
              <a:rPr lang="en-US" altLang="en-US" sz="2600" dirty="0"/>
              <a:t>Keep the same percentage ownership when new shares of stock are issued (preemptive right).</a:t>
            </a:r>
          </a:p>
          <a:p>
            <a:pPr marL="402336" indent="-402336">
              <a:buClr>
                <a:schemeClr val="accent2"/>
              </a:buClr>
              <a:buFont typeface="+mj-lt"/>
              <a:buAutoNum type="arabicPeriod"/>
            </a:pPr>
            <a:r>
              <a:rPr lang="en-US" sz="2600" dirty="0"/>
              <a:t>Share in assets upon liquidation in proportion to their holdings. This is called a </a:t>
            </a:r>
            <a:r>
              <a:rPr lang="en-US" sz="2600" b="1" dirty="0"/>
              <a:t>residual claim</a:t>
            </a:r>
            <a:r>
              <a:rPr lang="en-US" sz="2600" dirty="0"/>
              <a:t>.</a:t>
            </a:r>
            <a:endParaRPr lang="en-US" altLang="en-US" sz="2600" dirty="0"/>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4540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 </a:t>
            </a:r>
            <a:r>
              <a:rPr lang="en-US" sz="2400" dirty="0">
                <a:latin typeface="Calibri" panose="020F0502020204030204" pitchFamily="34" charset="0"/>
                <a:ea typeface="Source Sans Pro" charset="0"/>
                <a:cs typeface="Calibri" panose="020F0502020204030204" pitchFamily="34" charset="0"/>
              </a:rPr>
              <a:t>(1 of 6)</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2438400"/>
          </a:xfrm>
        </p:spPr>
        <p:txBody>
          <a:bodyPr/>
          <a:lstStyle/>
          <a:p>
            <a:pPr>
              <a:buClr>
                <a:schemeClr val="accent2"/>
              </a:buClr>
            </a:pPr>
            <a:r>
              <a:rPr lang="en-US" sz="2600" dirty="0"/>
              <a:t>When a corporation decides to issue stock, it must resolve a number of basic questions:</a:t>
            </a:r>
          </a:p>
          <a:p>
            <a:pPr marL="402336" indent="-402336">
              <a:buClr>
                <a:schemeClr val="accent2"/>
              </a:buClr>
              <a:buFont typeface="+mj-lt"/>
              <a:buAutoNum type="arabicPeriod"/>
            </a:pPr>
            <a:r>
              <a:rPr lang="en-US" sz="2600" dirty="0"/>
              <a:t>How many shares should it authorize for sale?</a:t>
            </a:r>
          </a:p>
          <a:p>
            <a:pPr marL="402336" indent="-402336">
              <a:buClr>
                <a:schemeClr val="accent2"/>
              </a:buClr>
              <a:buFont typeface="+mj-lt"/>
              <a:buAutoNum type="arabicPeriod"/>
            </a:pPr>
            <a:r>
              <a:rPr lang="en-US" sz="2600" dirty="0"/>
              <a:t>How should it issue the stock?</a:t>
            </a:r>
          </a:p>
          <a:p>
            <a:pPr marL="402336" indent="-402336">
              <a:buClr>
                <a:schemeClr val="accent2"/>
              </a:buClr>
              <a:buFont typeface="+mj-lt"/>
              <a:buAutoNum type="arabicPeriod"/>
            </a:pPr>
            <a:r>
              <a:rPr lang="en-US" sz="2600" dirty="0"/>
              <a:t>What value should the corporation assign to the stock?</a:t>
            </a:r>
            <a:endParaRPr lang="en-US" altLang="en-US" sz="2600" dirty="0"/>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15557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 </a:t>
            </a:r>
            <a:r>
              <a:rPr lang="en-US" sz="2400" dirty="0">
                <a:latin typeface="Calibri" panose="020F0502020204030204" pitchFamily="34" charset="0"/>
                <a:ea typeface="Source Sans Pro" charset="0"/>
                <a:cs typeface="Calibri" panose="020F0502020204030204" pitchFamily="34" charset="0"/>
              </a:rPr>
              <a:t>(2 of 6)</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3200400"/>
          </a:xfrm>
        </p:spPr>
        <p:txBody>
          <a:bodyPr/>
          <a:lstStyle/>
          <a:p>
            <a:pPr>
              <a:buClr>
                <a:srgbClr val="990000"/>
              </a:buClr>
            </a:pPr>
            <a:r>
              <a:rPr lang="en-US" altLang="en-US" sz="2600" b="1" dirty="0"/>
              <a:t>Authorized Stock</a:t>
            </a:r>
          </a:p>
          <a:p>
            <a:pPr marL="292608" indent="-292608">
              <a:buClr>
                <a:srgbClr val="990000"/>
              </a:buClr>
              <a:buFont typeface="Arial" panose="020B0604020202020204" pitchFamily="34" charset="0"/>
              <a:buChar char="•"/>
            </a:pPr>
            <a:r>
              <a:rPr lang="en-US" altLang="en-US" sz="2600" dirty="0"/>
              <a:t>Charter indicates amount of stock that a corporation is </a:t>
            </a:r>
            <a:r>
              <a:rPr lang="en-US" altLang="en-US" sz="2600" b="1" dirty="0"/>
              <a:t>authorized</a:t>
            </a:r>
            <a:r>
              <a:rPr lang="en-US" altLang="en-US" sz="2600" dirty="0"/>
              <a:t> to sell</a:t>
            </a:r>
          </a:p>
          <a:p>
            <a:pPr marL="292608" indent="-292608">
              <a:buClr>
                <a:srgbClr val="990000"/>
              </a:buClr>
              <a:buFont typeface="Arial" panose="020B0604020202020204" pitchFamily="34" charset="0"/>
              <a:buChar char="•"/>
            </a:pPr>
            <a:r>
              <a:rPr lang="en-US" altLang="en-US" sz="2600" dirty="0"/>
              <a:t>Number of authorized shares is often reported in stockholders’ equity section</a:t>
            </a:r>
          </a:p>
          <a:p>
            <a:pPr marL="292608" indent="-292608">
              <a:buClr>
                <a:srgbClr val="990000"/>
              </a:buClr>
              <a:buFont typeface="Arial" panose="020B0604020202020204" pitchFamily="34" charset="0"/>
              <a:buChar char="•"/>
            </a:pPr>
            <a:r>
              <a:rPr lang="en-US" altLang="en-US" sz="2600" dirty="0"/>
              <a:t>No formal accounting entry</a:t>
            </a:r>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5344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45D-432E-4E15-9D56-380D447B35B8}"/>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Stock Issue Considerations </a:t>
            </a:r>
            <a:r>
              <a:rPr lang="en-US" sz="2400" dirty="0">
                <a:latin typeface="Calibri" panose="020F0502020204030204" pitchFamily="34" charset="0"/>
                <a:ea typeface="Source Sans Pro" charset="0"/>
                <a:cs typeface="Calibri" panose="020F0502020204030204" pitchFamily="34" charset="0"/>
              </a:rPr>
              <a:t>(3 of 6)</a:t>
            </a:r>
            <a:endParaRPr lang="en-US" sz="2400" dirty="0"/>
          </a:p>
        </p:txBody>
      </p:sp>
      <p:sp>
        <p:nvSpPr>
          <p:cNvPr id="3" name="Content Placeholder 2">
            <a:extLst>
              <a:ext uri="{FF2B5EF4-FFF2-40B4-BE49-F238E27FC236}">
                <a16:creationId xmlns:a16="http://schemas.microsoft.com/office/drawing/2014/main" id="{660D45B2-43DD-47A3-B5D7-D4D30392FC92}"/>
              </a:ext>
            </a:extLst>
          </p:cNvPr>
          <p:cNvSpPr>
            <a:spLocks noGrp="1"/>
          </p:cNvSpPr>
          <p:nvPr>
            <p:ph sz="quarter" idx="16"/>
          </p:nvPr>
        </p:nvSpPr>
        <p:spPr>
          <a:xfrm>
            <a:off x="304800" y="1828800"/>
            <a:ext cx="8534400" cy="3886200"/>
          </a:xfrm>
        </p:spPr>
        <p:txBody>
          <a:bodyPr/>
          <a:lstStyle/>
          <a:p>
            <a:pPr>
              <a:buClr>
                <a:srgbClr val="990000"/>
              </a:buClr>
            </a:pPr>
            <a:r>
              <a:rPr lang="en-US" altLang="en-US" sz="2600" b="1" dirty="0">
                <a:latin typeface="Calibri" panose="020F0502020204030204" pitchFamily="34" charset="0"/>
              </a:rPr>
              <a:t>Issuance of Stock</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Companies issue common stock </a:t>
            </a:r>
            <a:r>
              <a:rPr lang="en-US" altLang="en-US" sz="2600" b="1" dirty="0">
                <a:latin typeface="Calibri" panose="020F0502020204030204" pitchFamily="34" charset="0"/>
              </a:rPr>
              <a:t>directly</a:t>
            </a:r>
            <a:r>
              <a:rPr lang="en-US" altLang="en-US" sz="2600" dirty="0">
                <a:latin typeface="Calibri" panose="020F0502020204030204" pitchFamily="34" charset="0"/>
              </a:rPr>
              <a:t> to investors or </a:t>
            </a:r>
            <a:r>
              <a:rPr lang="en-US" altLang="en-US" sz="2600" b="1" dirty="0">
                <a:latin typeface="Calibri" panose="020F0502020204030204" pitchFamily="34" charset="0"/>
              </a:rPr>
              <a:t>indirectly</a:t>
            </a:r>
            <a:r>
              <a:rPr lang="en-US" altLang="en-US" sz="2600" dirty="0">
                <a:latin typeface="Calibri" panose="020F0502020204030204" pitchFamily="34" charset="0"/>
              </a:rPr>
              <a:t> through an investment banking firm</a:t>
            </a:r>
          </a:p>
          <a:p>
            <a:pPr marL="292608" indent="-292608">
              <a:buClr>
                <a:srgbClr val="990000"/>
              </a:buClr>
              <a:buFont typeface="Arial" panose="020B0604020202020204" pitchFamily="34" charset="0"/>
              <a:buChar char="•"/>
            </a:pPr>
            <a:r>
              <a:rPr lang="en-US" altLang="en-US" sz="2600" dirty="0">
                <a:latin typeface="Calibri" panose="020F0502020204030204" pitchFamily="34" charset="0"/>
              </a:rPr>
              <a:t>Factors in setting price for a new issue of stock:</a:t>
            </a:r>
          </a:p>
          <a:p>
            <a:pPr marL="804672" lvl="1" indent="-402336">
              <a:buClr>
                <a:schemeClr val="accent2"/>
              </a:buClr>
              <a:buFont typeface="+mj-lt"/>
              <a:buAutoNum type="arabicPeriod"/>
            </a:pPr>
            <a:r>
              <a:rPr lang="en-US" altLang="en-US" dirty="0">
                <a:latin typeface="Calibri" panose="020F0502020204030204" pitchFamily="34" charset="0"/>
              </a:rPr>
              <a:t>Company’s anticipated future earnings</a:t>
            </a:r>
          </a:p>
          <a:p>
            <a:pPr marL="804672" lvl="1" indent="-402336">
              <a:buClr>
                <a:schemeClr val="accent2"/>
              </a:buClr>
              <a:buFont typeface="+mj-lt"/>
              <a:buAutoNum type="arabicPeriod"/>
            </a:pPr>
            <a:r>
              <a:rPr lang="en-US" altLang="en-US" dirty="0">
                <a:latin typeface="Calibri" panose="020F0502020204030204" pitchFamily="34" charset="0"/>
              </a:rPr>
              <a:t>Expected dividend rate per share</a:t>
            </a:r>
          </a:p>
          <a:p>
            <a:pPr marL="804672" lvl="1" indent="-402336">
              <a:buClr>
                <a:schemeClr val="accent2"/>
              </a:buClr>
              <a:buFont typeface="+mj-lt"/>
              <a:buAutoNum type="arabicPeriod"/>
            </a:pPr>
            <a:r>
              <a:rPr lang="en-US" altLang="en-US" dirty="0">
                <a:latin typeface="Calibri" panose="020F0502020204030204" pitchFamily="34" charset="0"/>
              </a:rPr>
              <a:t>Current financial position</a:t>
            </a:r>
          </a:p>
          <a:p>
            <a:pPr marL="804672" lvl="1" indent="-402336">
              <a:buClr>
                <a:schemeClr val="accent2"/>
              </a:buClr>
              <a:buFont typeface="+mj-lt"/>
              <a:buAutoNum type="arabicPeriod"/>
            </a:pPr>
            <a:r>
              <a:rPr lang="en-US" altLang="en-US" dirty="0">
                <a:latin typeface="Calibri" panose="020F0502020204030204" pitchFamily="34" charset="0"/>
              </a:rPr>
              <a:t>Current state of economy</a:t>
            </a:r>
          </a:p>
          <a:p>
            <a:pPr marL="804672" lvl="1" indent="-402336">
              <a:buClr>
                <a:schemeClr val="accent2"/>
              </a:buClr>
              <a:buFont typeface="+mj-lt"/>
              <a:buAutoNum type="arabicPeriod"/>
            </a:pPr>
            <a:r>
              <a:rPr lang="en-US" altLang="en-US" dirty="0">
                <a:latin typeface="Calibri" panose="020F0502020204030204" pitchFamily="34" charset="0"/>
              </a:rPr>
              <a:t>Current state of securities market</a:t>
            </a:r>
          </a:p>
        </p:txBody>
      </p:sp>
      <p:sp>
        <p:nvSpPr>
          <p:cNvPr id="4" name="Slide Number Placeholder 3">
            <a:extLst>
              <a:ext uri="{FF2B5EF4-FFF2-40B4-BE49-F238E27FC236}">
                <a16:creationId xmlns:a16="http://schemas.microsoft.com/office/drawing/2014/main" id="{974595B5-9CE1-471F-8CBF-E3C5D90389A3}"/>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5" name="Footer Placeholder 4">
            <a:extLst>
              <a:ext uri="{FF2B5EF4-FFF2-40B4-BE49-F238E27FC236}">
                <a16:creationId xmlns:a16="http://schemas.microsoft.com/office/drawing/2014/main" id="{2981E4B9-0878-4E67-8F59-D4B56F6354A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61980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AB0F-91CF-4E3B-9037-4ABBFB830914}"/>
              </a:ext>
            </a:extLst>
          </p:cNvPr>
          <p:cNvSpPr>
            <a:spLocks noGrp="1"/>
          </p:cNvSpPr>
          <p:nvPr>
            <p:ph type="title"/>
          </p:nvPr>
        </p:nvSpPr>
        <p:spPr>
          <a:xfrm>
            <a:off x="304800" y="762001"/>
            <a:ext cx="8534400" cy="761999"/>
          </a:xfrm>
        </p:spPr>
        <p:txBody>
          <a:bodyPr/>
          <a:lstStyle/>
          <a:p>
            <a:r>
              <a:rPr lang="en-US" b="1" dirty="0">
                <a:ea typeface="Source Sans Pro" charset="0"/>
              </a:rPr>
              <a:t>Do It! 1a: </a:t>
            </a:r>
            <a:r>
              <a:rPr lang="en-US" b="1" dirty="0">
                <a:solidFill>
                  <a:srgbClr val="196E78"/>
                </a:solidFill>
                <a:ea typeface="Source Sans Pro" charset="0"/>
              </a:rPr>
              <a:t>Corporate Organization </a:t>
            </a:r>
            <a:r>
              <a:rPr lang="en-US" sz="2400" dirty="0">
                <a:solidFill>
                  <a:srgbClr val="196E78"/>
                </a:solidFill>
                <a:ea typeface="Source Sans Pro" charset="0"/>
              </a:rPr>
              <a:t>(3 of 3)</a:t>
            </a:r>
            <a:endParaRPr lang="en-US" sz="2400" dirty="0"/>
          </a:p>
        </p:txBody>
      </p:sp>
      <p:sp>
        <p:nvSpPr>
          <p:cNvPr id="3" name="Content Placeholder 2">
            <a:extLst>
              <a:ext uri="{FF2B5EF4-FFF2-40B4-BE49-F238E27FC236}">
                <a16:creationId xmlns:a16="http://schemas.microsoft.com/office/drawing/2014/main" id="{F09B547A-DB86-40BB-8A7A-8DB36660952F}"/>
              </a:ext>
            </a:extLst>
          </p:cNvPr>
          <p:cNvSpPr>
            <a:spLocks noGrp="1"/>
          </p:cNvSpPr>
          <p:nvPr>
            <p:ph sz="quarter" idx="16"/>
          </p:nvPr>
        </p:nvSpPr>
        <p:spPr>
          <a:xfrm>
            <a:off x="304800" y="1600200"/>
            <a:ext cx="8534400" cy="4419600"/>
          </a:xfrm>
        </p:spPr>
        <p:txBody>
          <a:bodyPr/>
          <a:lstStyle/>
          <a:p>
            <a:pPr>
              <a:lnSpc>
                <a:spcPct val="95000"/>
              </a:lnSpc>
              <a:spcBef>
                <a:spcPts val="1200"/>
              </a:spcBef>
            </a:pPr>
            <a:r>
              <a:rPr lang="en-US" sz="2200" dirty="0"/>
              <a:t>Indicate whether each of the following statements is </a:t>
            </a:r>
            <a:r>
              <a:rPr lang="en-US" sz="2200" b="1" dirty="0"/>
              <a:t>true</a:t>
            </a:r>
            <a:r>
              <a:rPr lang="en-US" sz="2200" dirty="0"/>
              <a:t> or </a:t>
            </a:r>
            <a:r>
              <a:rPr lang="en-US" sz="2200" b="1" dirty="0"/>
              <a:t>false</a:t>
            </a:r>
            <a:r>
              <a:rPr lang="en-US" sz="2200" dirty="0"/>
              <a:t>. If </a:t>
            </a:r>
            <a:r>
              <a:rPr lang="en-US" sz="2200" b="1" dirty="0"/>
              <a:t>false</a:t>
            </a:r>
            <a:r>
              <a:rPr lang="en-US" sz="2200" dirty="0"/>
              <a:t>, indicate how to correct the statement.</a:t>
            </a:r>
          </a:p>
          <a:p>
            <a:pPr marL="271463" indent="-271463">
              <a:lnSpc>
                <a:spcPct val="95000"/>
              </a:lnSpc>
              <a:spcBef>
                <a:spcPts val="1200"/>
              </a:spcBef>
            </a:pPr>
            <a:r>
              <a:rPr lang="en-US" sz="2200" dirty="0"/>
              <a:t>4. The journal entry to record the authorization of capital stock includes a credit to the appropriate capital stock account.</a:t>
            </a:r>
          </a:p>
          <a:p>
            <a:pPr marL="271463">
              <a:lnSpc>
                <a:spcPct val="95000"/>
              </a:lnSpc>
              <a:spcBef>
                <a:spcPts val="1200"/>
              </a:spcBef>
            </a:pPr>
            <a:r>
              <a:rPr lang="en-US" sz="2200" b="1" dirty="0"/>
              <a:t>False. </a:t>
            </a:r>
            <a:r>
              <a:rPr lang="en-US" sz="2200" dirty="0"/>
              <a:t>The authorization of capital stock does not result in a formal accounting entry.</a:t>
            </a:r>
          </a:p>
          <a:p>
            <a:pPr marL="1147763" indent="-1147763">
              <a:lnSpc>
                <a:spcPct val="95000"/>
              </a:lnSpc>
              <a:spcBef>
                <a:spcPts val="1200"/>
              </a:spcBef>
            </a:pPr>
            <a:r>
              <a:rPr lang="en-US" sz="2200" dirty="0"/>
              <a:t>5. All states require a par value per share for capital stock.</a:t>
            </a:r>
          </a:p>
          <a:p>
            <a:pPr marL="1147763" indent="-876300">
              <a:lnSpc>
                <a:spcPct val="95000"/>
              </a:lnSpc>
              <a:spcBef>
                <a:spcPts val="1200"/>
              </a:spcBef>
            </a:pPr>
            <a:r>
              <a:rPr lang="en-US" sz="2200" b="1" dirty="0"/>
              <a:t>False.</a:t>
            </a:r>
            <a:r>
              <a:rPr lang="en-US" sz="2200" dirty="0"/>
              <a:t> Many states do not require a par value.</a:t>
            </a:r>
          </a:p>
        </p:txBody>
      </p:sp>
      <p:sp>
        <p:nvSpPr>
          <p:cNvPr id="4" name="Slide Number Placeholder 3">
            <a:extLst>
              <a:ext uri="{FF2B5EF4-FFF2-40B4-BE49-F238E27FC236}">
                <a16:creationId xmlns:a16="http://schemas.microsoft.com/office/drawing/2014/main" id="{FA905748-1281-42B2-91A0-DA6862C66F70}"/>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5" name="Footer Placeholder 4">
            <a:extLst>
              <a:ext uri="{FF2B5EF4-FFF2-40B4-BE49-F238E27FC236}">
                <a16:creationId xmlns:a16="http://schemas.microsoft.com/office/drawing/2014/main" id="{458DEF5F-2D64-45E2-B9EA-CF8E847C4DE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296680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7B5F-EACD-4463-8CF4-E4A0E67A2FCF}"/>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Corporate Capital </a:t>
            </a:r>
            <a:r>
              <a:rPr lang="en-US" sz="2400" dirty="0">
                <a:latin typeface="Calibri" panose="020F0502020204030204" pitchFamily="34" charset="0"/>
                <a:ea typeface="Source Sans Pro" charset="0"/>
                <a:cs typeface="Calibri" panose="020F0502020204030204" pitchFamily="34" charset="0"/>
              </a:rPr>
              <a:t>(1 of 3)</a:t>
            </a:r>
            <a:endParaRPr lang="en-US" sz="2400" dirty="0"/>
          </a:p>
        </p:txBody>
      </p:sp>
      <p:pic>
        <p:nvPicPr>
          <p:cNvPr id="7" name="Content Placeholder 6" descr="An illustration displays corporate capital. The two primary sources of equity are paid-in capital and the retained earnings account. The paid-in capital is divided into common stock account, and preferred stock account. The common stock account, and preferred stock account combine to form the paid-in capital in excess of par account.">
            <a:extLst>
              <a:ext uri="{FF2B5EF4-FFF2-40B4-BE49-F238E27FC236}">
                <a16:creationId xmlns:a16="http://schemas.microsoft.com/office/drawing/2014/main" id="{E9CC1753-F188-4557-A23D-BFB1420D660B}"/>
              </a:ext>
            </a:extLst>
          </p:cNvPr>
          <p:cNvPicPr>
            <a:picLocks noGrp="1" noChangeAspect="1"/>
          </p:cNvPicPr>
          <p:nvPr>
            <p:ph sz="quarter" idx="16"/>
          </p:nvPr>
        </p:nvPicPr>
        <p:blipFill>
          <a:blip r:embed="rId2"/>
          <a:stretch>
            <a:fillRect/>
          </a:stretch>
        </p:blipFill>
        <p:spPr>
          <a:xfrm>
            <a:off x="1155790" y="1905000"/>
            <a:ext cx="7289620" cy="2859941"/>
          </a:xfrm>
          <a:prstGeom prst="rect">
            <a:avLst/>
          </a:prstGeom>
        </p:spPr>
      </p:pic>
      <p:sp>
        <p:nvSpPr>
          <p:cNvPr id="4" name="Content Placeholder 3">
            <a:extLst>
              <a:ext uri="{FF2B5EF4-FFF2-40B4-BE49-F238E27FC236}">
                <a16:creationId xmlns:a16="http://schemas.microsoft.com/office/drawing/2014/main" id="{54CB3538-D5E5-4570-BE3F-A4936FBBD8E4}"/>
              </a:ext>
            </a:extLst>
          </p:cNvPr>
          <p:cNvSpPr>
            <a:spLocks noGrp="1"/>
          </p:cNvSpPr>
          <p:nvPr>
            <p:ph sz="quarter" idx="17"/>
          </p:nvPr>
        </p:nvSpPr>
        <p:spPr>
          <a:xfrm>
            <a:off x="304800" y="5181600"/>
            <a:ext cx="8534400" cy="990600"/>
          </a:xfrm>
        </p:spPr>
        <p:txBody>
          <a:bodyPr/>
          <a:lstStyle/>
          <a:p>
            <a:r>
              <a:rPr lang="en-US" altLang="en-US" sz="2400" b="1" dirty="0">
                <a:solidFill>
                  <a:schemeClr val="accent4"/>
                </a:solidFill>
              </a:rPr>
              <a:t>Paid-in capital</a:t>
            </a:r>
            <a:r>
              <a:rPr lang="en-US" altLang="en-US" sz="2400" b="1" dirty="0">
                <a:solidFill>
                  <a:srgbClr val="0000CC"/>
                </a:solidFill>
              </a:rPr>
              <a:t> </a:t>
            </a:r>
            <a:r>
              <a:rPr lang="en-US" altLang="en-US" sz="2400" dirty="0"/>
              <a:t>is the total amount of cash and other assets paid in to the corporation by stockholders in exchange for capital stock.</a:t>
            </a:r>
          </a:p>
        </p:txBody>
      </p:sp>
      <p:sp>
        <p:nvSpPr>
          <p:cNvPr id="5" name="Slide Number Placeholder 4">
            <a:extLst>
              <a:ext uri="{FF2B5EF4-FFF2-40B4-BE49-F238E27FC236}">
                <a16:creationId xmlns:a16="http://schemas.microsoft.com/office/drawing/2014/main" id="{AE311DBD-1DC4-4423-825A-EC7FEB60419E}"/>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6" name="Footer Placeholder 5">
            <a:extLst>
              <a:ext uri="{FF2B5EF4-FFF2-40B4-BE49-F238E27FC236}">
                <a16:creationId xmlns:a16="http://schemas.microsoft.com/office/drawing/2014/main" id="{011835B1-2EBE-465C-A05E-DC27F80595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7400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7B5F-EACD-4463-8CF4-E4A0E67A2FCF}"/>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Corporate Capital </a:t>
            </a:r>
            <a:r>
              <a:rPr lang="en-US" sz="2400" dirty="0">
                <a:latin typeface="Calibri" panose="020F0502020204030204" pitchFamily="34" charset="0"/>
                <a:ea typeface="Source Sans Pro" charset="0"/>
                <a:cs typeface="Calibri" panose="020F0502020204030204" pitchFamily="34" charset="0"/>
              </a:rPr>
              <a:t>(2 of 3)</a:t>
            </a:r>
            <a:endParaRPr lang="en-US" sz="2400" dirty="0"/>
          </a:p>
        </p:txBody>
      </p:sp>
      <p:pic>
        <p:nvPicPr>
          <p:cNvPr id="7" name="Content Placeholder 6" descr="An illustration displays corporate capital. The two primary sources of equity are paid-in capital and the retained earnings account. The paid-in capital is divided into common stock account, and preferred stock account. The common stock account, and preferred stock account combine to form the paid-in capital in excess of par account.&#10;">
            <a:extLst>
              <a:ext uri="{FF2B5EF4-FFF2-40B4-BE49-F238E27FC236}">
                <a16:creationId xmlns:a16="http://schemas.microsoft.com/office/drawing/2014/main" id="{E9CC1753-F188-4557-A23D-BFB1420D660B}"/>
              </a:ext>
            </a:extLst>
          </p:cNvPr>
          <p:cNvPicPr>
            <a:picLocks noGrp="1" noChangeAspect="1"/>
          </p:cNvPicPr>
          <p:nvPr>
            <p:ph sz="quarter" idx="16"/>
          </p:nvPr>
        </p:nvPicPr>
        <p:blipFill>
          <a:blip r:embed="rId2"/>
          <a:stretch>
            <a:fillRect/>
          </a:stretch>
        </p:blipFill>
        <p:spPr>
          <a:xfrm>
            <a:off x="1155790" y="1905000"/>
            <a:ext cx="7289620" cy="2859941"/>
          </a:xfrm>
          <a:prstGeom prst="rect">
            <a:avLst/>
          </a:prstGeom>
        </p:spPr>
      </p:pic>
      <p:sp>
        <p:nvSpPr>
          <p:cNvPr id="4" name="Content Placeholder 3">
            <a:extLst>
              <a:ext uri="{FF2B5EF4-FFF2-40B4-BE49-F238E27FC236}">
                <a16:creationId xmlns:a16="http://schemas.microsoft.com/office/drawing/2014/main" id="{54CB3538-D5E5-4570-BE3F-A4936FBBD8E4}"/>
              </a:ext>
            </a:extLst>
          </p:cNvPr>
          <p:cNvSpPr>
            <a:spLocks noGrp="1"/>
          </p:cNvSpPr>
          <p:nvPr>
            <p:ph sz="quarter" idx="17"/>
          </p:nvPr>
        </p:nvSpPr>
        <p:spPr>
          <a:xfrm>
            <a:off x="304800" y="5181600"/>
            <a:ext cx="8534400" cy="990600"/>
          </a:xfrm>
        </p:spPr>
        <p:txBody>
          <a:bodyPr/>
          <a:lstStyle/>
          <a:p>
            <a:r>
              <a:rPr lang="en-US" altLang="en-US" sz="2400" b="1" dirty="0">
                <a:solidFill>
                  <a:schemeClr val="accent4"/>
                </a:solidFill>
              </a:rPr>
              <a:t>Retained earnings</a:t>
            </a:r>
            <a:r>
              <a:rPr lang="en-US" altLang="en-US" sz="2400" dirty="0"/>
              <a:t> is net income that a corporation retains for future use.</a:t>
            </a:r>
          </a:p>
        </p:txBody>
      </p:sp>
      <p:sp>
        <p:nvSpPr>
          <p:cNvPr id="5" name="Slide Number Placeholder 4">
            <a:extLst>
              <a:ext uri="{FF2B5EF4-FFF2-40B4-BE49-F238E27FC236}">
                <a16:creationId xmlns:a16="http://schemas.microsoft.com/office/drawing/2014/main" id="{AE311DBD-1DC4-4423-825A-EC7FEB60419E}"/>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6" name="Footer Placeholder 5">
            <a:extLst>
              <a:ext uri="{FF2B5EF4-FFF2-40B4-BE49-F238E27FC236}">
                <a16:creationId xmlns:a16="http://schemas.microsoft.com/office/drawing/2014/main" id="{011835B1-2EBE-465C-A05E-DC27F80595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59779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85801-69AD-4DC5-9B0E-E90F2738588A}"/>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Retained Earnings</a:t>
            </a:r>
            <a:endParaRPr lang="en-US" dirty="0"/>
          </a:p>
        </p:txBody>
      </p:sp>
      <p:sp>
        <p:nvSpPr>
          <p:cNvPr id="3" name="Content Placeholder 2">
            <a:extLst>
              <a:ext uri="{FF2B5EF4-FFF2-40B4-BE49-F238E27FC236}">
                <a16:creationId xmlns:a16="http://schemas.microsoft.com/office/drawing/2014/main" id="{B830C7E9-F75A-42BC-B54F-4542397D1303}"/>
              </a:ext>
            </a:extLst>
          </p:cNvPr>
          <p:cNvSpPr>
            <a:spLocks noGrp="1"/>
          </p:cNvSpPr>
          <p:nvPr>
            <p:ph sz="quarter" idx="16"/>
          </p:nvPr>
        </p:nvSpPr>
        <p:spPr>
          <a:xfrm>
            <a:off x="304800" y="1828800"/>
            <a:ext cx="8534400" cy="1066800"/>
          </a:xfrm>
        </p:spPr>
        <p:txBody>
          <a:bodyPr/>
          <a:lstStyle/>
          <a:p>
            <a:r>
              <a:rPr lang="en-US" altLang="en-US" sz="2400" dirty="0"/>
              <a:t>If Delta Robotics has a balance of $800,000 in common stock and $130,000 in retained earnings at the end of its first year, its stockholders’ equity section is as follows.</a:t>
            </a:r>
          </a:p>
        </p:txBody>
      </p:sp>
      <p:pic>
        <p:nvPicPr>
          <p:cNvPr id="10" name="Content Placeholder 9" descr="An illustration displays stockholders' equity section. It has a two-line heading that contains, the name of the company, Delta Robotics; and the type of statement, balance sheet, partial. The stockholders' equity reads paid-in capital, displayed in red font. The common stock is $800,000 displayed in the first numeric column. The retained earnings, highlighted in red font read 130,000 in the first numeric column. The total stockholders' equity of $930,000 is displayed in second numeric column, in red font. ">
            <a:extLst>
              <a:ext uri="{FF2B5EF4-FFF2-40B4-BE49-F238E27FC236}">
                <a16:creationId xmlns:a16="http://schemas.microsoft.com/office/drawing/2014/main" id="{965C5656-D9A4-4767-8AC8-0838ADAA7840}"/>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634947" y="3401367"/>
            <a:ext cx="7874106" cy="2071303"/>
          </a:xfrm>
        </p:spPr>
      </p:pic>
      <p:sp>
        <p:nvSpPr>
          <p:cNvPr id="5" name="Slide Number Placeholder 4">
            <a:extLst>
              <a:ext uri="{FF2B5EF4-FFF2-40B4-BE49-F238E27FC236}">
                <a16:creationId xmlns:a16="http://schemas.microsoft.com/office/drawing/2014/main" id="{2F0BD2F1-6FE6-471E-9FF8-2B0B43EC9BE8}"/>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6" name="Footer Placeholder 5">
            <a:extLst>
              <a:ext uri="{FF2B5EF4-FFF2-40B4-BE49-F238E27FC236}">
                <a16:creationId xmlns:a16="http://schemas.microsoft.com/office/drawing/2014/main" id="{B5992D59-21FA-4B88-92EF-33F0898B0F7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21146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5FFB-BBB5-4647-B885-E49962533FA9}"/>
              </a:ext>
            </a:extLst>
          </p:cNvPr>
          <p:cNvSpPr>
            <a:spLocks noGrp="1"/>
          </p:cNvSpPr>
          <p:nvPr>
            <p:ph type="title"/>
          </p:nvPr>
        </p:nvSpPr>
        <p:spPr>
          <a:xfrm>
            <a:off x="304800" y="762001"/>
            <a:ext cx="8534400" cy="685800"/>
          </a:xfrm>
        </p:spPr>
        <p:txBody>
          <a:bodyPr/>
          <a:lstStyle/>
          <a:p>
            <a:r>
              <a:rPr lang="en-US" b="1" dirty="0">
                <a:latin typeface="Calibri" panose="020F0502020204030204" pitchFamily="34" charset="0"/>
                <a:ea typeface="Source Sans Pro" charset="0"/>
                <a:cs typeface="Calibri" panose="020F0502020204030204" pitchFamily="34" charset="0"/>
              </a:rPr>
              <a:t>Corporate Capital </a:t>
            </a:r>
            <a:r>
              <a:rPr lang="en-US" sz="2400" dirty="0">
                <a:latin typeface="Calibri" panose="020F0502020204030204" pitchFamily="34" charset="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FC0A030F-4734-40ED-BD65-FA8CD08D64BC}"/>
              </a:ext>
            </a:extLst>
          </p:cNvPr>
          <p:cNvSpPr>
            <a:spLocks noGrp="1"/>
          </p:cNvSpPr>
          <p:nvPr>
            <p:ph sz="quarter" idx="16"/>
          </p:nvPr>
        </p:nvSpPr>
        <p:spPr>
          <a:xfrm>
            <a:off x="304800" y="1676400"/>
            <a:ext cx="8534400" cy="685800"/>
          </a:xfrm>
        </p:spPr>
        <p:txBody>
          <a:bodyPr/>
          <a:lstStyle/>
          <a:p>
            <a:r>
              <a:rPr lang="en-US" altLang="en-US" sz="2400" dirty="0"/>
              <a:t>Comparison of the owners’ equity (stockholders’ equity) accounts reported on a balance sheet.</a:t>
            </a:r>
          </a:p>
        </p:txBody>
      </p:sp>
      <p:pic>
        <p:nvPicPr>
          <p:cNvPr id="7" name="Content Placeholder 6" descr="An illustration displays comparison of owner's equity accounts. It is divided into proprietorship, partnership, and corporation. The proprietorship includes only one t account titled Owner's capital with normal balance in the credit section. The partnership includes two t accounts titled Able, capital, and Baker, capital. The t account of Able, capital reads, normal balance on the credit section. The t account of Baker capital reads, normal balance on the credit section. The corporation includes two t accounts titled, common stock, and retained earnings. The t account of common stock reads normal balance on the credit section. The t account of retained earnings reads normal balance on the credit section.&#10;">
            <a:extLst>
              <a:ext uri="{FF2B5EF4-FFF2-40B4-BE49-F238E27FC236}">
                <a16:creationId xmlns:a16="http://schemas.microsoft.com/office/drawing/2014/main" id="{4EB4F681-14F0-41CC-8EB3-E4A456B54451}"/>
              </a:ext>
            </a:extLst>
          </p:cNvPr>
          <p:cNvPicPr>
            <a:picLocks noGrp="1" noChangeAspect="1"/>
          </p:cNvPicPr>
          <p:nvPr>
            <p:ph sz="quarter" idx="17"/>
          </p:nvPr>
        </p:nvPicPr>
        <p:blipFill>
          <a:blip r:embed="rId2"/>
          <a:stretch>
            <a:fillRect/>
          </a:stretch>
        </p:blipFill>
        <p:spPr>
          <a:xfrm>
            <a:off x="507044" y="2743200"/>
            <a:ext cx="8179756" cy="3432106"/>
          </a:xfrm>
          <a:prstGeom prst="rect">
            <a:avLst/>
          </a:prstGeom>
          <a:ln w="12700">
            <a:solidFill>
              <a:srgbClr val="000010"/>
            </a:solidFill>
          </a:ln>
        </p:spPr>
      </p:pic>
      <p:sp>
        <p:nvSpPr>
          <p:cNvPr id="5" name="Slide Number Placeholder 4">
            <a:extLst>
              <a:ext uri="{FF2B5EF4-FFF2-40B4-BE49-F238E27FC236}">
                <a16:creationId xmlns:a16="http://schemas.microsoft.com/office/drawing/2014/main" id="{AF9EF664-1656-4338-A4DE-BD3AB42E1B5C}"/>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6" name="Footer Placeholder 5">
            <a:extLst>
              <a:ext uri="{FF2B5EF4-FFF2-40B4-BE49-F238E27FC236}">
                <a16:creationId xmlns:a16="http://schemas.microsoft.com/office/drawing/2014/main" id="{5E186A22-76B6-4367-9C4E-875D6F2070B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45224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609600"/>
            <a:ext cx="8534400" cy="685799"/>
          </a:xfrm>
        </p:spPr>
        <p:txBody>
          <a:bodyPr/>
          <a:lstStyle/>
          <a:p>
            <a:r>
              <a:rPr lang="en-US" b="1" dirty="0">
                <a:ea typeface="Source Sans Pro" charset="0"/>
              </a:rPr>
              <a:t>Do It! 1b: </a:t>
            </a:r>
            <a:r>
              <a:rPr lang="en-US" b="1" dirty="0">
                <a:solidFill>
                  <a:srgbClr val="196E78"/>
                </a:solidFill>
                <a:ea typeface="Source Sans Pro" charset="0"/>
              </a:rPr>
              <a:t>Corporate Capital</a:t>
            </a:r>
            <a:endParaRPr lang="en-US"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295400"/>
            <a:ext cx="8534400" cy="1311275"/>
          </a:xfrm>
        </p:spPr>
        <p:txBody>
          <a:bodyPr/>
          <a:lstStyle/>
          <a:p>
            <a:r>
              <a:rPr lang="en-US" sz="2400" b="1" dirty="0"/>
              <a:t>Illustration: </a:t>
            </a:r>
            <a:r>
              <a:rPr lang="en-US" sz="2400" dirty="0"/>
              <a:t>At the end of its first year of operation, Doral Corporation has $750,000 of common stock and net income of $122,000. Prepare (a) the closing entry for net income and (b) the stockholders’ equity section at year-end.</a:t>
            </a:r>
          </a:p>
        </p:txBody>
      </p:sp>
      <p:sp>
        <p:nvSpPr>
          <p:cNvPr id="4" name="Content Placeholder 3">
            <a:extLst>
              <a:ext uri="{FF2B5EF4-FFF2-40B4-BE49-F238E27FC236}">
                <a16:creationId xmlns:a16="http://schemas.microsoft.com/office/drawing/2014/main" id="{49FC3CF8-911A-4FC3-87C9-D5E9CC120DA8}"/>
              </a:ext>
            </a:extLst>
          </p:cNvPr>
          <p:cNvSpPr>
            <a:spLocks noGrp="1"/>
          </p:cNvSpPr>
          <p:nvPr>
            <p:ph sz="quarter" idx="17"/>
          </p:nvPr>
        </p:nvSpPr>
        <p:spPr>
          <a:xfrm>
            <a:off x="304800" y="2759075"/>
            <a:ext cx="609600" cy="365125"/>
          </a:xfrm>
        </p:spPr>
        <p:txBody>
          <a:bodyPr/>
          <a:lstStyle/>
          <a:p>
            <a:r>
              <a:rPr lang="en-US" sz="2400" dirty="0"/>
              <a:t>(a)</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2743200"/>
            <a:ext cx="3337686" cy="365125"/>
          </a:xfrm>
        </p:spPr>
        <p:txBody>
          <a:bodyPr/>
          <a:lstStyle/>
          <a:p>
            <a:r>
              <a:rPr lang="en-US" sz="2400" dirty="0">
                <a:solidFill>
                  <a:srgbClr val="000000"/>
                </a:solidFill>
              </a:rPr>
              <a:t>Income Summary</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374014" y="2743200"/>
            <a:ext cx="1263118" cy="365125"/>
          </a:xfrm>
        </p:spPr>
        <p:txBody>
          <a:bodyPr/>
          <a:lstStyle/>
          <a:p>
            <a:r>
              <a:rPr lang="en-US" sz="2400" dirty="0">
                <a:solidFill>
                  <a:srgbClr val="000000"/>
                </a:solidFill>
              </a:rPr>
              <a:t>122,000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66800" y="3109931"/>
            <a:ext cx="5404338" cy="928669"/>
          </a:xfrm>
        </p:spPr>
        <p:txBody>
          <a:bodyPr/>
          <a:lstStyle/>
          <a:p>
            <a:r>
              <a:rPr lang="en-US" sz="2400" dirty="0">
                <a:solidFill>
                  <a:srgbClr val="000000"/>
                </a:solidFill>
              </a:rPr>
              <a:t>Retained Earnings</a:t>
            </a:r>
          </a:p>
          <a:p>
            <a:pPr marL="271463">
              <a:spcBef>
                <a:spcPts val="0"/>
              </a:spcBef>
            </a:pPr>
            <a:r>
              <a:rPr lang="en-US" sz="2400" dirty="0"/>
              <a:t>(To close Income Summary and transfer net income to Retained Earnings)</a:t>
            </a:r>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772400" y="3109931"/>
            <a:ext cx="1219200" cy="365125"/>
          </a:xfrm>
        </p:spPr>
        <p:txBody>
          <a:bodyPr/>
          <a:lstStyle/>
          <a:p>
            <a:r>
              <a:rPr lang="en-US" sz="2400" dirty="0">
                <a:solidFill>
                  <a:srgbClr val="000000"/>
                </a:solidFill>
              </a:rPr>
              <a:t>122,000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304800" y="4317405"/>
            <a:ext cx="609600" cy="365125"/>
          </a:xfrm>
        </p:spPr>
        <p:txBody>
          <a:bodyPr/>
          <a:lstStyle/>
          <a:p>
            <a:r>
              <a:rPr lang="en-US" sz="2400" dirty="0">
                <a:solidFill>
                  <a:srgbClr val="000000"/>
                </a:solidFill>
              </a:rPr>
              <a:t>(b)</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4317405"/>
            <a:ext cx="2999824" cy="365125"/>
          </a:xfrm>
        </p:spPr>
        <p:txBody>
          <a:bodyPr/>
          <a:lstStyle/>
          <a:p>
            <a:r>
              <a:rPr lang="en-US" sz="2400" dirty="0">
                <a:solidFill>
                  <a:srgbClr val="000000"/>
                </a:solidFill>
              </a:rPr>
              <a:t>Stockholders’ equity</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1066800" y="4698405"/>
            <a:ext cx="2590800" cy="669925"/>
          </a:xfrm>
        </p:spPr>
        <p:txBody>
          <a:bodyPr/>
          <a:lstStyle/>
          <a:p>
            <a:r>
              <a:rPr lang="en-US" sz="2400" dirty="0"/>
              <a:t>Paid-in capital</a:t>
            </a:r>
            <a:endParaRPr lang="en-US" sz="2400" dirty="0">
              <a:solidFill>
                <a:srgbClr val="000000"/>
              </a:solidFill>
            </a:endParaRPr>
          </a:p>
          <a:p>
            <a:pPr indent="361950">
              <a:spcBef>
                <a:spcPts val="0"/>
              </a:spcBef>
            </a:pPr>
            <a:r>
              <a:rPr lang="en-US" sz="2400" dirty="0">
                <a:solidFill>
                  <a:srgbClr val="000000"/>
                </a:solidFill>
              </a:rPr>
              <a:t>Common stock</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6253438" y="4911130"/>
            <a:ext cx="1366562" cy="365125"/>
          </a:xfrm>
        </p:spPr>
        <p:txBody>
          <a:bodyPr/>
          <a:lstStyle/>
          <a:p>
            <a:r>
              <a:rPr lang="en-US" sz="2400" dirty="0">
                <a:solidFill>
                  <a:srgbClr val="000000"/>
                </a:solidFill>
              </a:rPr>
              <a:t>$750,000</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1066800" y="5368330"/>
            <a:ext cx="2895600" cy="365125"/>
          </a:xfrm>
        </p:spPr>
        <p:txBody>
          <a:bodyPr/>
          <a:lstStyle/>
          <a:p>
            <a:r>
              <a:rPr lang="en-US" sz="2400" dirty="0">
                <a:solidFill>
                  <a:srgbClr val="000000"/>
                </a:solidFill>
              </a:rPr>
              <a:t>Retained earnings</a:t>
            </a:r>
            <a:endParaRPr lang="en-US" sz="2400" dirty="0"/>
          </a:p>
        </p:txBody>
      </p:sp>
      <p:graphicFrame>
        <p:nvGraphicFramePr>
          <p:cNvPr id="26" name="Content Placeholder 25" descr="122,000 double underlined.&#10;">
            <a:extLst>
              <a:ext uri="{FF2B5EF4-FFF2-40B4-BE49-F238E27FC236}">
                <a16:creationId xmlns:a16="http://schemas.microsoft.com/office/drawing/2014/main" id="{1830CBC7-45F7-4E2A-8FC2-2DCB5E7450FE}"/>
              </a:ext>
            </a:extLst>
          </p:cNvPr>
          <p:cNvGraphicFramePr>
            <a:graphicFrameLocks noGrp="1" noChangeAspect="1"/>
          </p:cNvGraphicFramePr>
          <p:nvPr>
            <p:ph sz="quarter" idx="28"/>
            <p:extLst>
              <p:ext uri="{D42A27DB-BD31-4B8C-83A1-F6EECF244321}">
                <p14:modId xmlns:p14="http://schemas.microsoft.com/office/powerpoint/2010/main" val="3203974298"/>
              </p:ext>
            </p:extLst>
          </p:nvPr>
        </p:nvGraphicFramePr>
        <p:xfrm>
          <a:off x="6344696" y="5318265"/>
          <a:ext cx="1191956" cy="401638"/>
        </p:xfrm>
        <a:graphic>
          <a:graphicData uri="http://schemas.openxmlformats.org/presentationml/2006/ole">
            <mc:AlternateContent xmlns:mc="http://schemas.openxmlformats.org/markup-compatibility/2006">
              <mc:Choice xmlns:v="urn:schemas-microsoft-com:vml" Requires="v">
                <p:oleObj name="Equation" r:id="rId2" imgW="1168200" imgH="393480" progId="Equation.DSMT4">
                  <p:embed/>
                </p:oleObj>
              </mc:Choice>
              <mc:Fallback>
                <p:oleObj name="Equation" r:id="rId2" imgW="1168200" imgH="393480" progId="Equation.DSMT4">
                  <p:embed/>
                  <p:pic>
                    <p:nvPicPr>
                      <p:cNvPr id="25" name="Object 24">
                        <a:extLst>
                          <a:ext uri="{FF2B5EF4-FFF2-40B4-BE49-F238E27FC236}">
                            <a16:creationId xmlns:a16="http://schemas.microsoft.com/office/drawing/2014/main" id="{E2B07809-755F-408C-B826-534FF32EFDDF}"/>
                          </a:ext>
                        </a:extLst>
                      </p:cNvPr>
                      <p:cNvPicPr/>
                      <p:nvPr/>
                    </p:nvPicPr>
                    <p:blipFill>
                      <a:blip r:embed="rId3"/>
                      <a:stretch>
                        <a:fillRect/>
                      </a:stretch>
                    </p:blipFill>
                    <p:spPr>
                      <a:xfrm>
                        <a:off x="6344696" y="5318265"/>
                        <a:ext cx="1191956" cy="401638"/>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838200" y="5765241"/>
            <a:ext cx="3652562" cy="365125"/>
          </a:xfrm>
        </p:spPr>
        <p:txBody>
          <a:bodyPr/>
          <a:lstStyle/>
          <a:p>
            <a:r>
              <a:rPr lang="en-US" sz="2400" dirty="0">
                <a:solidFill>
                  <a:srgbClr val="000000"/>
                </a:solidFill>
              </a:rPr>
              <a:t>Total stockholders’ equity</a:t>
            </a:r>
            <a:endParaRPr lang="en-US" sz="2400" dirty="0"/>
          </a:p>
        </p:txBody>
      </p:sp>
      <p:graphicFrame>
        <p:nvGraphicFramePr>
          <p:cNvPr id="28" name="Content Placeholder 27" descr="$872,000 double underlined.&#10;">
            <a:extLst>
              <a:ext uri="{FF2B5EF4-FFF2-40B4-BE49-F238E27FC236}">
                <a16:creationId xmlns:a16="http://schemas.microsoft.com/office/drawing/2014/main" id="{997554A7-AA58-4604-855C-211306CC615F}"/>
              </a:ext>
            </a:extLst>
          </p:cNvPr>
          <p:cNvGraphicFramePr>
            <a:graphicFrameLocks noGrp="1" noChangeAspect="1"/>
          </p:cNvGraphicFramePr>
          <p:nvPr>
            <p:ph sz="quarter" idx="30"/>
            <p:extLst>
              <p:ext uri="{D42A27DB-BD31-4B8C-83A1-F6EECF244321}">
                <p14:modId xmlns:p14="http://schemas.microsoft.com/office/powerpoint/2010/main" val="955329250"/>
              </p:ext>
            </p:extLst>
          </p:nvPr>
        </p:nvGraphicFramePr>
        <p:xfrm>
          <a:off x="7732708" y="5715000"/>
          <a:ext cx="1182692" cy="457817"/>
        </p:xfrm>
        <a:graphic>
          <a:graphicData uri="http://schemas.openxmlformats.org/presentationml/2006/ole">
            <mc:AlternateContent xmlns:mc="http://schemas.openxmlformats.org/markup-compatibility/2006">
              <mc:Choice xmlns:v="urn:schemas-microsoft-com:vml" Requires="v">
                <p:oleObj name="Equation" r:id="rId4" imgW="1180800" imgH="457200" progId="Equation.DSMT4">
                  <p:embed/>
                </p:oleObj>
              </mc:Choice>
              <mc:Fallback>
                <p:oleObj name="Equation" r:id="rId4" imgW="1180800" imgH="457200" progId="Equation.DSMT4">
                  <p:embed/>
                  <p:pic>
                    <p:nvPicPr>
                      <p:cNvPr id="27" name="Object 26">
                        <a:extLst>
                          <a:ext uri="{FF2B5EF4-FFF2-40B4-BE49-F238E27FC236}">
                            <a16:creationId xmlns:a16="http://schemas.microsoft.com/office/drawing/2014/main" id="{46100045-55E7-4988-A8EB-F16297B124C1}"/>
                          </a:ext>
                        </a:extLst>
                      </p:cNvPr>
                      <p:cNvPicPr/>
                      <p:nvPr/>
                    </p:nvPicPr>
                    <p:blipFill>
                      <a:blip r:embed="rId5"/>
                      <a:stretch>
                        <a:fillRect/>
                      </a:stretch>
                    </p:blipFill>
                    <p:spPr>
                      <a:xfrm>
                        <a:off x="7732708" y="5715000"/>
                        <a:ext cx="1182692" cy="457817"/>
                      </a:xfrm>
                      <a:prstGeom prst="rect">
                        <a:avLst/>
                      </a:prstGeom>
                    </p:spPr>
                  </p:pic>
                </p:oleObj>
              </mc:Fallback>
            </mc:AlternateContent>
          </a:graphicData>
        </a:graphic>
      </p:graphicFrame>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8465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DC79-C0D4-491A-9B44-5595DE4A08DF}"/>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Stock Transactions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6DAC37CE-5E34-4811-80BF-051881133B80}"/>
              </a:ext>
            </a:extLst>
          </p:cNvPr>
          <p:cNvSpPr>
            <a:spLocks noGrp="1"/>
          </p:cNvSpPr>
          <p:nvPr>
            <p:ph sz="quarter" idx="16"/>
          </p:nvPr>
        </p:nvSpPr>
        <p:spPr>
          <a:xfrm>
            <a:off x="304800" y="1828800"/>
            <a:ext cx="8534400" cy="2286000"/>
          </a:xfrm>
        </p:spPr>
        <p:txBody>
          <a:bodyPr/>
          <a:lstStyle/>
          <a:p>
            <a:pPr>
              <a:buClr>
                <a:srgbClr val="990000"/>
              </a:buClr>
            </a:pPr>
            <a:r>
              <a:rPr lang="en-US" altLang="en-US" b="1" dirty="0">
                <a:latin typeface="Calibri" panose="020F0502020204030204" pitchFamily="34" charset="0"/>
              </a:rPr>
              <a:t>Accounting for Common Stock</a:t>
            </a:r>
          </a:p>
          <a:p>
            <a:pPr>
              <a:buClr>
                <a:srgbClr val="990000"/>
              </a:buClr>
            </a:pPr>
            <a:r>
              <a:rPr lang="en-US" altLang="en-US" b="1" dirty="0">
                <a:latin typeface="Calibri" panose="020F0502020204030204" pitchFamily="34" charset="0"/>
              </a:rPr>
              <a:t>Primary Objectives: </a:t>
            </a:r>
          </a:p>
          <a:p>
            <a:pPr marL="402336" lvl="1" indent="-402336">
              <a:spcBef>
                <a:spcPts val="1000"/>
              </a:spcBef>
              <a:buClr>
                <a:schemeClr val="accent2"/>
              </a:buClr>
              <a:buFont typeface="+mj-lt"/>
              <a:buAutoNum type="arabicPeriod"/>
            </a:pPr>
            <a:r>
              <a:rPr lang="en-US" altLang="en-US" sz="2800" dirty="0">
                <a:latin typeface="Calibri" panose="020F0502020204030204" pitchFamily="34" charset="0"/>
              </a:rPr>
              <a:t>Identify the specific sources of paid-in capital.</a:t>
            </a:r>
          </a:p>
          <a:p>
            <a:pPr marL="402336" lvl="1" indent="-402336">
              <a:spcBef>
                <a:spcPts val="1000"/>
              </a:spcBef>
              <a:buClr>
                <a:schemeClr val="accent2"/>
              </a:buClr>
              <a:buFont typeface="+mj-lt"/>
              <a:buAutoNum type="arabicPeriod"/>
            </a:pPr>
            <a:r>
              <a:rPr lang="en-US" altLang="en-US" sz="2800" dirty="0">
                <a:latin typeface="Calibri" panose="020F0502020204030204" pitchFamily="34" charset="0"/>
              </a:rPr>
              <a:t>Maintain the distinction between paid-in capital and retained earnings.</a:t>
            </a:r>
          </a:p>
        </p:txBody>
      </p:sp>
      <p:sp>
        <p:nvSpPr>
          <p:cNvPr id="7" name="Content Placeholder 6"/>
          <p:cNvSpPr>
            <a:spLocks noGrp="1"/>
          </p:cNvSpPr>
          <p:nvPr>
            <p:ph sz="quarter" idx="18"/>
          </p:nvPr>
        </p:nvSpPr>
        <p:spPr/>
        <p:txBody>
          <a:bodyPr/>
          <a:lstStyle/>
          <a:p>
            <a:pPr marL="0" lvl="1" indent="0">
              <a:spcBef>
                <a:spcPts val="1000"/>
              </a:spcBef>
              <a:buNone/>
            </a:pPr>
            <a:r>
              <a:rPr lang="en-US" altLang="en-US" sz="2800" dirty="0">
                <a:latin typeface="Calibri" panose="020F0502020204030204" pitchFamily="34" charset="0"/>
              </a:rPr>
              <a:t>Other than consideration received, the issuance of common stock affects only paid-in capital accounts.</a:t>
            </a:r>
          </a:p>
        </p:txBody>
      </p:sp>
      <p:sp>
        <p:nvSpPr>
          <p:cNvPr id="4" name="Slide Number Placeholder 3">
            <a:extLst>
              <a:ext uri="{FF2B5EF4-FFF2-40B4-BE49-F238E27FC236}">
                <a16:creationId xmlns:a16="http://schemas.microsoft.com/office/drawing/2014/main" id="{C5E074EB-EB25-4AA3-93BC-C1D32B9E619A}"/>
              </a:ext>
            </a:extLst>
          </p:cNvPr>
          <p:cNvSpPr>
            <a:spLocks noGrp="1"/>
          </p:cNvSpPr>
          <p:nvPr>
            <p:ph type="sldNum" sz="quarter" idx="10"/>
          </p:nvPr>
        </p:nvSpPr>
        <p:spPr/>
        <p:txBody>
          <a:bodyPr/>
          <a:lstStyle/>
          <a:p>
            <a:fld id="{67B19427-F580-D146-B60E-4CADEE75497F}" type="slidenum">
              <a:rPr lang="en-US" smtClean="0"/>
              <a:pPr/>
              <a:t>19</a:t>
            </a:fld>
            <a:endParaRPr lang="en-US" dirty="0"/>
          </a:p>
        </p:txBody>
      </p:sp>
      <p:sp>
        <p:nvSpPr>
          <p:cNvPr id="5" name="Footer Placeholder 4">
            <a:extLst>
              <a:ext uri="{FF2B5EF4-FFF2-40B4-BE49-F238E27FC236}">
                <a16:creationId xmlns:a16="http://schemas.microsoft.com/office/drawing/2014/main" id="{188C7078-F4D1-4397-9076-246160F0701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63501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AEC17-89F0-B89D-4CE7-E61508E0DB76}"/>
              </a:ext>
            </a:extLst>
          </p:cNvPr>
          <p:cNvSpPr>
            <a:spLocks noGrp="1"/>
          </p:cNvSpPr>
          <p:nvPr>
            <p:ph type="title"/>
          </p:nvPr>
        </p:nvSpPr>
        <p:spPr>
          <a:xfrm>
            <a:off x="304800" y="402845"/>
            <a:ext cx="8534400" cy="457199"/>
          </a:xfrm>
        </p:spPr>
        <p:txBody>
          <a:bodyPr>
            <a:normAutofit fontScale="90000"/>
          </a:bodyPr>
          <a:lstStyle/>
          <a:p>
            <a:pPr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Share Issue Journals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6" name="Slide Number Placeholder 5">
            <a:extLst>
              <a:ext uri="{FF2B5EF4-FFF2-40B4-BE49-F238E27FC236}">
                <a16:creationId xmlns:a16="http://schemas.microsoft.com/office/drawing/2014/main" id="{4A220EE8-AF55-CB57-E0B0-44743C0060D4}"/>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7" name="Footer Placeholder 6">
            <a:extLst>
              <a:ext uri="{FF2B5EF4-FFF2-40B4-BE49-F238E27FC236}">
                <a16:creationId xmlns:a16="http://schemas.microsoft.com/office/drawing/2014/main" id="{5B544256-A5CC-9FD3-ED2A-4D72E3AB281E}"/>
              </a:ext>
            </a:extLst>
          </p:cNvPr>
          <p:cNvSpPr>
            <a:spLocks noGrp="1"/>
          </p:cNvSpPr>
          <p:nvPr>
            <p:ph type="ftr" sz="quarter" idx="11"/>
          </p:nvPr>
        </p:nvSpPr>
        <p:spPr/>
        <p:txBody>
          <a:bodyPr/>
          <a:lstStyle/>
          <a:p>
            <a:r>
              <a:rPr lang="en-US"/>
              <a:t>Copyright ©2018 John Wiley &amp; Sons, Inc. </a:t>
            </a:r>
            <a:endParaRPr lang="en-US" dirty="0"/>
          </a:p>
        </p:txBody>
      </p:sp>
      <p:pic>
        <p:nvPicPr>
          <p:cNvPr id="10" name="Picture 9">
            <a:extLst>
              <a:ext uri="{FF2B5EF4-FFF2-40B4-BE49-F238E27FC236}">
                <a16:creationId xmlns:a16="http://schemas.microsoft.com/office/drawing/2014/main" id="{39B67E7C-088F-9D43-CC18-3AF85C6F4508}"/>
              </a:ext>
            </a:extLst>
          </p:cNvPr>
          <p:cNvPicPr>
            <a:picLocks noChangeAspect="1"/>
          </p:cNvPicPr>
          <p:nvPr/>
        </p:nvPicPr>
        <p:blipFill>
          <a:blip r:embed="rId2"/>
          <a:stretch>
            <a:fillRect/>
          </a:stretch>
        </p:blipFill>
        <p:spPr>
          <a:xfrm>
            <a:off x="1362075" y="852487"/>
            <a:ext cx="6419850" cy="5153025"/>
          </a:xfrm>
          <a:prstGeom prst="rect">
            <a:avLst/>
          </a:prstGeom>
        </p:spPr>
      </p:pic>
    </p:spTree>
    <p:extLst>
      <p:ext uri="{BB962C8B-B14F-4D97-AF65-F5344CB8AC3E}">
        <p14:creationId xmlns:p14="http://schemas.microsoft.com/office/powerpoint/2010/main" val="504769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DC8ACE4-E6A7-7960-7FFC-22FE32EB5D07}"/>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7" name="Footer Placeholder 6">
            <a:extLst>
              <a:ext uri="{FF2B5EF4-FFF2-40B4-BE49-F238E27FC236}">
                <a16:creationId xmlns:a16="http://schemas.microsoft.com/office/drawing/2014/main" id="{81C5444E-BD4D-F925-76FF-9B89CEB40ADF}"/>
              </a:ext>
            </a:extLst>
          </p:cNvPr>
          <p:cNvSpPr>
            <a:spLocks noGrp="1"/>
          </p:cNvSpPr>
          <p:nvPr>
            <p:ph type="ftr" sz="quarter" idx="11"/>
          </p:nvPr>
        </p:nvSpPr>
        <p:spPr/>
        <p:txBody>
          <a:bodyPr/>
          <a:lstStyle/>
          <a:p>
            <a:r>
              <a:rPr lang="en-US"/>
              <a:t>Copyright ©2018 John Wiley &amp; Sons, Inc. </a:t>
            </a:r>
            <a:endParaRPr lang="en-US" dirty="0"/>
          </a:p>
        </p:txBody>
      </p:sp>
      <p:sp>
        <p:nvSpPr>
          <p:cNvPr id="8" name="Title 1">
            <a:extLst>
              <a:ext uri="{FF2B5EF4-FFF2-40B4-BE49-F238E27FC236}">
                <a16:creationId xmlns:a16="http://schemas.microsoft.com/office/drawing/2014/main" id="{A51BA909-604F-ECC8-F1FE-A1B1A951AD52}"/>
              </a:ext>
            </a:extLst>
          </p:cNvPr>
          <p:cNvSpPr txBox="1">
            <a:spLocks/>
          </p:cNvSpPr>
          <p:nvPr/>
        </p:nvSpPr>
        <p:spPr>
          <a:xfrm>
            <a:off x="301083" y="447480"/>
            <a:ext cx="8534400" cy="457199"/>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4000" b="0" i="0" kern="1200">
                <a:solidFill>
                  <a:schemeClr val="accent1"/>
                </a:solidFill>
                <a:latin typeface="Calibri" charset="0"/>
                <a:ea typeface="Calibri" charset="0"/>
                <a:cs typeface="Calibri" charset="0"/>
              </a:defRPr>
            </a:lvl1pPr>
          </a:lstStyle>
          <a:p>
            <a:pPr algn="ctr"/>
            <a:r>
              <a:rPr lang="en-US" sz="12800" b="1" dirty="0">
                <a:latin typeface="Times New Roman" panose="02020603050405020304" pitchFamily="18" charset="0"/>
                <a:ea typeface="Calibri" panose="020F0502020204030204" pitchFamily="34" charset="0"/>
                <a:cs typeface="Times New Roman" panose="02020603050405020304" pitchFamily="18" charset="0"/>
              </a:rPr>
              <a:t>Share Issue Journals</a:t>
            </a:r>
            <a:br>
              <a:rPr lang="en-US" sz="18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9" name="Table 8">
            <a:extLst>
              <a:ext uri="{FF2B5EF4-FFF2-40B4-BE49-F238E27FC236}">
                <a16:creationId xmlns:a16="http://schemas.microsoft.com/office/drawing/2014/main" id="{B335ABBF-032B-DC69-A4E5-9FACA1DDEED0}"/>
              </a:ext>
            </a:extLst>
          </p:cNvPr>
          <p:cNvGraphicFramePr>
            <a:graphicFrameLocks noGrp="1"/>
          </p:cNvGraphicFramePr>
          <p:nvPr>
            <p:extLst>
              <p:ext uri="{D42A27DB-BD31-4B8C-83A1-F6EECF244321}">
                <p14:modId xmlns:p14="http://schemas.microsoft.com/office/powerpoint/2010/main" val="2559489887"/>
              </p:ext>
            </p:extLst>
          </p:nvPr>
        </p:nvGraphicFramePr>
        <p:xfrm>
          <a:off x="1371600" y="899103"/>
          <a:ext cx="6629399" cy="5440365"/>
        </p:xfrm>
        <a:graphic>
          <a:graphicData uri="http://schemas.openxmlformats.org/drawingml/2006/table">
            <a:tbl>
              <a:tblPr firstRow="1" firstCol="1" bandRow="1">
                <a:tableStyleId>{5C22544A-7EE6-4342-B048-85BDC9FD1C3A}</a:tableStyleId>
              </a:tblPr>
              <a:tblGrid>
                <a:gridCol w="2444400">
                  <a:extLst>
                    <a:ext uri="{9D8B030D-6E8A-4147-A177-3AD203B41FA5}">
                      <a16:colId xmlns:a16="http://schemas.microsoft.com/office/drawing/2014/main" val="2852688886"/>
                    </a:ext>
                  </a:extLst>
                </a:gridCol>
                <a:gridCol w="4184999">
                  <a:extLst>
                    <a:ext uri="{9D8B030D-6E8A-4147-A177-3AD203B41FA5}">
                      <a16:colId xmlns:a16="http://schemas.microsoft.com/office/drawing/2014/main" val="1141708715"/>
                    </a:ext>
                  </a:extLst>
                </a:gridCol>
              </a:tblGrid>
              <a:tr h="48632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For issuing Common Stock at a regular Price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      Common Stock Cr. </a:t>
                      </a:r>
                    </a:p>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3426677140"/>
                  </a:ext>
                </a:extLst>
              </a:tr>
              <a:tr h="650857">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For issuing Common Stock at an additional Price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Cash Dr.</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Common Stock Cr.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Paid-in Capital in Excess of Stated Value—Common Stock Cr.</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Or Additional PIC Common Stock Cr.</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997303995"/>
                  </a:ext>
                </a:extLst>
              </a:tr>
              <a:tr h="32179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For issuing Preferred Stock at a regular Price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Preferred Stock Cr.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1472147609"/>
                  </a:ext>
                </a:extLst>
              </a:tr>
              <a:tr h="650857">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For issuing Preferred Stock at an additional Price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Cash Dr.</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Preferred Stock Cr.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Paid-in Capital in Excess of Stated Value—Preferred Stock Cr.</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Or Additional PIC Preferred Stock Cr.</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402851865"/>
                  </a:ext>
                </a:extLst>
              </a:tr>
              <a:tr h="48632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Issuing Common Stock for Services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Organization Expense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Common Stock Cr.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Additional PIC Common Stock Cr (If any)</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3894401642"/>
                  </a:ext>
                </a:extLst>
              </a:tr>
              <a:tr h="48632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Issuing Common Stock for Noncash Assets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Land/Building/Assets Dr. </a:t>
                      </a:r>
                    </a:p>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      Common Stock Cr. </a:t>
                      </a:r>
                    </a:p>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      Additional PIC Common Stock Cr (If any)</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2910080640"/>
                  </a:ext>
                </a:extLst>
              </a:tr>
              <a:tr h="32179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Purchase of Treasury Stock</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Treasury Stock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Cash Cr.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2545276181"/>
                  </a:ext>
                </a:extLst>
              </a:tr>
              <a:tr h="48632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Sale of Treasury Stock Above Cost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Treasury Stock Cr.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Paid-in Capital from Treasury Stock Cr.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2156487340"/>
                  </a:ext>
                </a:extLst>
              </a:tr>
              <a:tr h="486328">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Sale of Treasury Stock Below Cost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Paid-in Capital from Treasury Stock Dr. </a:t>
                      </a:r>
                    </a:p>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      Treasury Stock Cr.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470654789"/>
                  </a:ext>
                </a:extLst>
              </a:tr>
              <a:tr h="650857">
                <a:tc>
                  <a:txBody>
                    <a:bodyPr/>
                    <a:lstStyle/>
                    <a:p>
                      <a:pPr marL="0" marR="0">
                        <a:lnSpc>
                          <a:spcPct val="107000"/>
                        </a:lnSpc>
                        <a:spcBef>
                          <a:spcPts val="0"/>
                        </a:spcBef>
                        <a:spcAft>
                          <a:spcPts val="0"/>
                        </a:spcAft>
                      </a:pPr>
                      <a:r>
                        <a:rPr lang="en-US" sz="1100">
                          <a:effectLst/>
                          <a:latin typeface="Times New Roman" panose="02020603050405020304" pitchFamily="18" charset="0"/>
                          <a:cs typeface="Times New Roman" panose="02020603050405020304" pitchFamily="18" charset="0"/>
                        </a:rPr>
                        <a:t>Sale of Treasury Stock Below Cost if sold in full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Paid-in Capital from Treasury Stock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Retained Earnings Dr. </a:t>
                      </a:r>
                    </a:p>
                    <a:p>
                      <a:pPr marL="0" marR="0">
                        <a:lnSpc>
                          <a:spcPct val="107000"/>
                        </a:lnSpc>
                        <a:spcBef>
                          <a:spcPts val="0"/>
                        </a:spcBef>
                        <a:spcAft>
                          <a:spcPts val="0"/>
                        </a:spcAft>
                      </a:pPr>
                      <a:r>
                        <a:rPr lang="en-US" sz="1100" dirty="0">
                          <a:effectLst/>
                          <a:latin typeface="Times New Roman" panose="02020603050405020304" pitchFamily="18" charset="0"/>
                          <a:cs typeface="Times New Roman" panose="02020603050405020304" pitchFamily="18" charset="0"/>
                        </a:rPr>
                        <a:t>      Treasury Stock Cr.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527" marR="54527" marT="0" marB="0"/>
                </a:tc>
                <a:extLst>
                  <a:ext uri="{0D108BD9-81ED-4DB2-BD59-A6C34878D82A}">
                    <a16:rowId xmlns:a16="http://schemas.microsoft.com/office/drawing/2014/main" val="2859994890"/>
                  </a:ext>
                </a:extLst>
              </a:tr>
            </a:tbl>
          </a:graphicData>
        </a:graphic>
      </p:graphicFrame>
    </p:spTree>
    <p:extLst>
      <p:ext uri="{BB962C8B-B14F-4D97-AF65-F5344CB8AC3E}">
        <p14:creationId xmlns:p14="http://schemas.microsoft.com/office/powerpoint/2010/main" val="4253042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533400"/>
            <a:ext cx="8534400" cy="654049"/>
          </a:xfrm>
        </p:spPr>
        <p:txBody>
          <a:bodyPr/>
          <a:lstStyle/>
          <a:p>
            <a:r>
              <a:rPr lang="en-US" b="1" dirty="0">
                <a:ea typeface="Source Sans Pro" charset="0"/>
              </a:rPr>
              <a:t>Issuing Common Stock for Cash </a:t>
            </a:r>
            <a:r>
              <a:rPr lang="en-US" sz="2400" dirty="0">
                <a:ea typeface="Source Sans Pro" charset="0"/>
              </a:rPr>
              <a:t>(1 of 4)</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219200"/>
            <a:ext cx="8534400" cy="1311275"/>
          </a:xfrm>
        </p:spPr>
        <p:txBody>
          <a:bodyPr/>
          <a:lstStyle/>
          <a:p>
            <a:r>
              <a:rPr lang="en-US" sz="2400" b="1" dirty="0"/>
              <a:t>Illustration: </a:t>
            </a:r>
            <a:r>
              <a:rPr lang="en-US" altLang="en-US" sz="2400" dirty="0"/>
              <a:t>Assume that Hydro-Slide, Inc. issues 1,000 shares of $1 par value common stock. Prepare Hydro-Slide’s journal entry if (a) 1,000 share are issued for $1 per share, and (b) 1,000 shares are issued for $5 per share.</a:t>
            </a:r>
            <a:endParaRPr lang="en-US" sz="2400" dirty="0"/>
          </a:p>
        </p:txBody>
      </p:sp>
      <p:sp>
        <p:nvSpPr>
          <p:cNvPr id="4" name="Content Placeholder 3">
            <a:extLst>
              <a:ext uri="{FF2B5EF4-FFF2-40B4-BE49-F238E27FC236}">
                <a16:creationId xmlns:a16="http://schemas.microsoft.com/office/drawing/2014/main" id="{49FC3CF8-911A-4FC3-87C9-D5E9CC120DA8}"/>
              </a:ext>
            </a:extLst>
          </p:cNvPr>
          <p:cNvSpPr>
            <a:spLocks noGrp="1"/>
          </p:cNvSpPr>
          <p:nvPr>
            <p:ph sz="quarter" idx="17"/>
          </p:nvPr>
        </p:nvSpPr>
        <p:spPr>
          <a:xfrm>
            <a:off x="304800" y="2678691"/>
            <a:ext cx="609600" cy="365125"/>
          </a:xfrm>
        </p:spPr>
        <p:txBody>
          <a:bodyPr/>
          <a:lstStyle/>
          <a:p>
            <a:r>
              <a:rPr lang="en-US" sz="2400" dirty="0"/>
              <a:t>(a)</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2662816"/>
            <a:ext cx="3337686" cy="365125"/>
          </a:xfrm>
        </p:spPr>
        <p:txBody>
          <a:bodyPr/>
          <a:lstStyle/>
          <a:p>
            <a:r>
              <a:rPr lang="en-US" sz="2400" dirty="0">
                <a:solidFill>
                  <a:srgbClr val="000000"/>
                </a:solidFill>
              </a:rPr>
              <a:t>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558238" y="2662816"/>
            <a:ext cx="909362" cy="365125"/>
          </a:xfrm>
        </p:spPr>
        <p:txBody>
          <a:bodyPr/>
          <a:lstStyle/>
          <a:p>
            <a:r>
              <a:rPr lang="en-US" sz="2400" dirty="0">
                <a:solidFill>
                  <a:srgbClr val="000000"/>
                </a:solidFill>
              </a:rPr>
              <a:t>1,000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66800" y="3042643"/>
            <a:ext cx="5257800" cy="975897"/>
          </a:xfrm>
        </p:spPr>
        <p:txBody>
          <a:bodyPr/>
          <a:lstStyle/>
          <a:p>
            <a:r>
              <a:rPr lang="en-US" sz="2400" dirty="0">
                <a:solidFill>
                  <a:srgbClr val="000000"/>
                </a:solidFill>
              </a:rPr>
              <a:t>Common Stock (1,000 × $1)</a:t>
            </a:r>
          </a:p>
          <a:p>
            <a:pPr marL="361950">
              <a:spcBef>
                <a:spcPts val="0"/>
              </a:spcBef>
            </a:pPr>
            <a:r>
              <a:rPr lang="en-US" sz="2400" dirty="0"/>
              <a:t>(To record issuance of 1,000 shares of $1 par common stock at par)</a:t>
            </a:r>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956621" y="3042644"/>
            <a:ext cx="914402" cy="331932"/>
          </a:xfrm>
        </p:spPr>
        <p:txBody>
          <a:bodyPr/>
          <a:lstStyle/>
          <a:p>
            <a:r>
              <a:rPr lang="en-US" sz="2400" dirty="0">
                <a:solidFill>
                  <a:srgbClr val="000000"/>
                </a:solidFill>
              </a:rPr>
              <a:t>1,000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304800" y="4180952"/>
            <a:ext cx="609600" cy="365125"/>
          </a:xfrm>
        </p:spPr>
        <p:txBody>
          <a:bodyPr/>
          <a:lstStyle/>
          <a:p>
            <a:r>
              <a:rPr lang="en-US" sz="2400" dirty="0">
                <a:solidFill>
                  <a:srgbClr val="000000"/>
                </a:solidFill>
              </a:rPr>
              <a:t>(b)</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4180952"/>
            <a:ext cx="2999824"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6558238" y="4180952"/>
            <a:ext cx="909362" cy="352425"/>
          </a:xfrm>
        </p:spPr>
        <p:txBody>
          <a:bodyPr/>
          <a:lstStyle/>
          <a:p>
            <a:r>
              <a:rPr lang="en-US" sz="2400" dirty="0">
                <a:solidFill>
                  <a:srgbClr val="000000"/>
                </a:solidFill>
              </a:rPr>
              <a:t>5,000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076848" y="4537598"/>
            <a:ext cx="3733800" cy="365125"/>
          </a:xfrm>
        </p:spPr>
        <p:txBody>
          <a:bodyPr/>
          <a:lstStyle/>
          <a:p>
            <a:r>
              <a:rPr lang="en-US" sz="2400" dirty="0">
                <a:solidFill>
                  <a:srgbClr val="000000"/>
                </a:solidFill>
              </a:rPr>
              <a:t>Common Stock (1,000 × $1)</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924800" y="4505848"/>
            <a:ext cx="914402" cy="365125"/>
          </a:xfrm>
        </p:spPr>
        <p:txBody>
          <a:bodyPr/>
          <a:lstStyle/>
          <a:p>
            <a:r>
              <a:rPr lang="en-US" sz="2400" dirty="0">
                <a:solidFill>
                  <a:srgbClr val="000000"/>
                </a:solidFill>
              </a:rPr>
              <a:t>1,000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1325544" y="4921251"/>
            <a:ext cx="5410200" cy="1403349"/>
          </a:xfrm>
        </p:spPr>
        <p:txBody>
          <a:bodyPr/>
          <a:lstStyle/>
          <a:p>
            <a:r>
              <a:rPr lang="en-US" sz="2400" dirty="0">
                <a:solidFill>
                  <a:srgbClr val="000000"/>
                </a:solidFill>
              </a:rPr>
              <a:t>Paid-in Capital in Excess of Par—Common Stock</a:t>
            </a:r>
          </a:p>
          <a:p>
            <a:pPr marL="271463">
              <a:spcBef>
                <a:spcPts val="0"/>
              </a:spcBef>
            </a:pPr>
            <a:r>
              <a:rPr lang="en-US" sz="2400" dirty="0"/>
              <a:t>(To record issuance of 1,000 shares of $1 par common stock)</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924798" y="5181600"/>
            <a:ext cx="914402" cy="365126"/>
          </a:xfrm>
        </p:spPr>
        <p:txBody>
          <a:bodyPr/>
          <a:lstStyle/>
          <a:p>
            <a:r>
              <a:rPr lang="en-US" altLang="en-US" sz="2400" dirty="0">
                <a:solidFill>
                  <a:srgbClr val="000000"/>
                </a:solidFill>
              </a:rPr>
              <a:t>4,000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53534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5" grpId="0" uiExpand="1" build="p"/>
      <p:bldP spid="1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BA80-0EDA-46DB-BA40-23054B77E72C}"/>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Stock Transactions </a:t>
            </a:r>
            <a:r>
              <a:rPr lang="en-US" sz="2400" dirty="0">
                <a:latin typeface="Calibri" panose="020F0502020204030204" pitchFamily="34" charset="0"/>
                <a:ea typeface="Source Sans Pro" charset="0"/>
                <a:cs typeface="Calibri" panose="020F0502020204030204" pitchFamily="34" charset="0"/>
              </a:rPr>
              <a:t>(2 of 4)</a:t>
            </a:r>
            <a:endParaRPr lang="en-US" dirty="0"/>
          </a:p>
        </p:txBody>
      </p:sp>
      <p:pic>
        <p:nvPicPr>
          <p:cNvPr id="12" name="Content Placeholder 11" descr="An illustration of a partial balance sheet. The statement displays a two-line heading consisting of the name of the company, Hydro-slide I n c; and the type of statement, balance sheet. The statement has 2 columns, the first displaying account names and the other displaying the respective amounts. The section under the title is labeled as: stockholders’ equity. It has two subsections. The first subsection, paid-in capital, is indented slightly in the first column. Immediately under this are the following account names that are further indented, and the respective amounts appear in the numeric column: common stock, $2,000; paid-in capital in excess of par value, 4,000. The latter is marked in red. The amounts are totaled as 6,000 which is displayed in the numeric column with the label total paid-in capital. The second subsection, retained earnings, is indented slightly in the first column, and the value in the numeric column is 27,000. Both the subsections are totaled as $33,000 which is displayed in the numeric column with the label total stockholders’ equity.">
            <a:extLst>
              <a:ext uri="{FF2B5EF4-FFF2-40B4-BE49-F238E27FC236}">
                <a16:creationId xmlns:a16="http://schemas.microsoft.com/office/drawing/2014/main" id="{A85FC28B-2CD1-46C2-AD3C-709F29BA8754}"/>
              </a:ext>
            </a:extLst>
          </p:cNvPr>
          <p:cNvPicPr>
            <a:picLocks noGrp="1" noChangeAspect="1"/>
          </p:cNvPicPr>
          <p:nvPr>
            <p:ph sz="quarter" idx="16"/>
          </p:nvPr>
        </p:nvPicPr>
        <p:blipFill>
          <a:blip r:embed="rId2"/>
          <a:stretch>
            <a:fillRect/>
          </a:stretch>
        </p:blipFill>
        <p:spPr>
          <a:xfrm>
            <a:off x="898043" y="1905000"/>
            <a:ext cx="7347913" cy="3850367"/>
          </a:xfrm>
          <a:prstGeom prst="rect">
            <a:avLst/>
          </a:prstGeom>
        </p:spPr>
      </p:pic>
      <p:sp>
        <p:nvSpPr>
          <p:cNvPr id="5" name="Slide Number Placeholder 4">
            <a:extLst>
              <a:ext uri="{FF2B5EF4-FFF2-40B4-BE49-F238E27FC236}">
                <a16:creationId xmlns:a16="http://schemas.microsoft.com/office/drawing/2014/main" id="{2C846EE0-A1CF-49C9-BDCF-ACD21F82EC1A}"/>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6" name="Footer Placeholder 5">
            <a:extLst>
              <a:ext uri="{FF2B5EF4-FFF2-40B4-BE49-F238E27FC236}">
                <a16:creationId xmlns:a16="http://schemas.microsoft.com/office/drawing/2014/main" id="{6C02C315-9038-48C5-AB9B-284B38986F7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672599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685800"/>
            <a:ext cx="8305799" cy="1066801"/>
          </a:xfrm>
        </p:spPr>
        <p:txBody>
          <a:bodyPr>
            <a:normAutofit fontScale="90000"/>
          </a:bodyPr>
          <a:lstStyle/>
          <a:p>
            <a:r>
              <a:rPr lang="en-US" sz="4400" b="1" dirty="0">
                <a:ea typeface="Source Sans Pro" charset="0"/>
              </a:rPr>
              <a:t>Issuing No-Par Common Stock for Cash </a:t>
            </a:r>
            <a:r>
              <a:rPr lang="en-US" sz="2400" dirty="0">
                <a:ea typeface="Source Sans Pro" charset="0"/>
              </a:rPr>
              <a:t>(3 of 4)</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965325"/>
            <a:ext cx="8534400" cy="1311275"/>
          </a:xfrm>
        </p:spPr>
        <p:txBody>
          <a:bodyPr/>
          <a:lstStyle/>
          <a:p>
            <a:r>
              <a:rPr lang="en-US" sz="2400" b="1" dirty="0"/>
              <a:t>Illustration: </a:t>
            </a:r>
            <a:r>
              <a:rPr lang="en-US" altLang="en-US" sz="2400" dirty="0"/>
              <a:t>Assume that instead of $1 par value stock, Hydro-Slide, Inc. has $5 stated value no-par stock and the company issues 5,000 shares at $8 per share for cash.</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3276600"/>
            <a:ext cx="2999824"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6329638" y="3276600"/>
            <a:ext cx="1061762" cy="352425"/>
          </a:xfrm>
        </p:spPr>
        <p:txBody>
          <a:bodyPr/>
          <a:lstStyle/>
          <a:p>
            <a:r>
              <a:rPr lang="en-US" sz="2400" dirty="0">
                <a:solidFill>
                  <a:srgbClr val="000000"/>
                </a:solidFill>
              </a:rPr>
              <a:t>40,000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143000" y="3657600"/>
            <a:ext cx="3733800" cy="365125"/>
          </a:xfrm>
        </p:spPr>
        <p:txBody>
          <a:bodyPr/>
          <a:lstStyle/>
          <a:p>
            <a:r>
              <a:rPr lang="en-US" sz="2400" dirty="0">
                <a:solidFill>
                  <a:srgbClr val="000000"/>
                </a:solidFill>
              </a:rPr>
              <a:t>Common Stock (5,000 × $5)</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696199" y="3625850"/>
            <a:ext cx="1219201" cy="365125"/>
          </a:xfrm>
        </p:spPr>
        <p:txBody>
          <a:bodyPr/>
          <a:lstStyle/>
          <a:p>
            <a:r>
              <a:rPr lang="en-US" sz="2400" dirty="0">
                <a:solidFill>
                  <a:srgbClr val="000000"/>
                </a:solidFill>
              </a:rPr>
              <a:t>25,000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1143000" y="4098926"/>
            <a:ext cx="4667250" cy="1387474"/>
          </a:xfrm>
        </p:spPr>
        <p:txBody>
          <a:bodyPr/>
          <a:lstStyle/>
          <a:p>
            <a:r>
              <a:rPr lang="en-US" sz="2400" dirty="0">
                <a:solidFill>
                  <a:srgbClr val="000000"/>
                </a:solidFill>
              </a:rPr>
              <a:t>Paid-in Capital in Excess of Stated Value—Common Stock</a:t>
            </a:r>
          </a:p>
          <a:p>
            <a:pPr marL="271463">
              <a:spcBef>
                <a:spcPts val="0"/>
              </a:spcBef>
            </a:pPr>
            <a:r>
              <a:rPr lang="en-US" sz="2400" dirty="0"/>
              <a:t>(To record issue of 5,000 shares of $5 stated value no-par stock)</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696199" y="4058696"/>
            <a:ext cx="1143002" cy="365126"/>
          </a:xfrm>
        </p:spPr>
        <p:txBody>
          <a:bodyPr/>
          <a:lstStyle/>
          <a:p>
            <a:r>
              <a:rPr lang="en-US" altLang="en-US" sz="2400" dirty="0">
                <a:solidFill>
                  <a:srgbClr val="000000"/>
                </a:solidFill>
              </a:rPr>
              <a:t>15,000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49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3" grpId="0" build="p"/>
      <p:bldP spid="15" grpId="0" uiExpand="1" build="p"/>
      <p:bldP spid="1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965325"/>
            <a:ext cx="8534400" cy="1311275"/>
          </a:xfrm>
        </p:spPr>
        <p:txBody>
          <a:bodyPr/>
          <a:lstStyle/>
          <a:p>
            <a:r>
              <a:rPr lang="en-US" sz="2400" b="1" dirty="0"/>
              <a:t>Illustration: </a:t>
            </a:r>
            <a:r>
              <a:rPr lang="en-US" altLang="en-US" sz="2400" dirty="0"/>
              <a:t>Assume further that the no-part stock does not have a stated value and the company issues 5,000 shares at $8 per share for cash.</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810176" y="3733800"/>
            <a:ext cx="2999824"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948639" y="3667611"/>
            <a:ext cx="1263118" cy="352425"/>
          </a:xfrm>
        </p:spPr>
        <p:txBody>
          <a:bodyPr/>
          <a:lstStyle/>
          <a:p>
            <a:r>
              <a:rPr lang="en-US" sz="2400" dirty="0">
                <a:solidFill>
                  <a:srgbClr val="000000"/>
                </a:solidFill>
              </a:rPr>
              <a:t>40,000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143000" y="4070350"/>
            <a:ext cx="5181600" cy="1158875"/>
          </a:xfrm>
        </p:spPr>
        <p:txBody>
          <a:bodyPr/>
          <a:lstStyle/>
          <a:p>
            <a:r>
              <a:rPr lang="en-US" sz="2400" dirty="0">
                <a:solidFill>
                  <a:srgbClr val="000000"/>
                </a:solidFill>
              </a:rPr>
              <a:t>Common Stock</a:t>
            </a:r>
          </a:p>
          <a:p>
            <a:pPr marL="361950">
              <a:spcBef>
                <a:spcPts val="0"/>
              </a:spcBef>
            </a:pPr>
            <a:r>
              <a:rPr lang="en-US" sz="2400" dirty="0"/>
              <a:t>(To record issue of 5,000 shares of no-par stock)</a:t>
            </a:r>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391399" y="3972411"/>
            <a:ext cx="1219201" cy="365125"/>
          </a:xfrm>
        </p:spPr>
        <p:txBody>
          <a:bodyPr/>
          <a:lstStyle/>
          <a:p>
            <a:r>
              <a:rPr lang="en-US" sz="2400" dirty="0">
                <a:solidFill>
                  <a:srgbClr val="000000"/>
                </a:solidFill>
              </a:rPr>
              <a:t>40,000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
        <p:nvSpPr>
          <p:cNvPr id="14" name="Title 1">
            <a:extLst>
              <a:ext uri="{FF2B5EF4-FFF2-40B4-BE49-F238E27FC236}">
                <a16:creationId xmlns:a16="http://schemas.microsoft.com/office/drawing/2014/main" id="{E8D10038-FD77-4C7B-8914-D5E3D7016AB9}"/>
              </a:ext>
            </a:extLst>
          </p:cNvPr>
          <p:cNvSpPr>
            <a:spLocks noGrp="1"/>
          </p:cNvSpPr>
          <p:nvPr>
            <p:ph type="title"/>
          </p:nvPr>
        </p:nvSpPr>
        <p:spPr>
          <a:xfrm>
            <a:off x="304800" y="685800"/>
            <a:ext cx="8305799" cy="1066801"/>
          </a:xfrm>
        </p:spPr>
        <p:txBody>
          <a:bodyPr>
            <a:normAutofit fontScale="90000"/>
          </a:bodyPr>
          <a:lstStyle/>
          <a:p>
            <a:r>
              <a:rPr lang="en-US" sz="4400" b="1" dirty="0">
                <a:ea typeface="Source Sans Pro" charset="0"/>
              </a:rPr>
              <a:t>Issuing No-Par Common Stock for Cash </a:t>
            </a:r>
            <a:r>
              <a:rPr lang="en-US" sz="2400" dirty="0">
                <a:ea typeface="Source Sans Pro" charset="0"/>
              </a:rPr>
              <a:t>(4 of 4)</a:t>
            </a:r>
            <a:endParaRPr lang="en-US" sz="2400" dirty="0"/>
          </a:p>
        </p:txBody>
      </p:sp>
    </p:spTree>
    <p:extLst>
      <p:ext uri="{BB962C8B-B14F-4D97-AF65-F5344CB8AC3E}">
        <p14:creationId xmlns:p14="http://schemas.microsoft.com/office/powerpoint/2010/main" val="120178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uiExpand="1" build="p"/>
      <p:bldP spid="1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80E2-9A65-451D-B71E-94C4BDFA3E02}"/>
              </a:ext>
            </a:extLst>
          </p:cNvPr>
          <p:cNvSpPr>
            <a:spLocks noGrp="1"/>
          </p:cNvSpPr>
          <p:nvPr>
            <p:ph type="title"/>
          </p:nvPr>
        </p:nvSpPr>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Issuing Common Stock for Services or Noncash Assets</a:t>
            </a:r>
            <a:endParaRPr lang="en-US" dirty="0"/>
          </a:p>
        </p:txBody>
      </p:sp>
      <p:sp>
        <p:nvSpPr>
          <p:cNvPr id="3" name="Content Placeholder 2">
            <a:extLst>
              <a:ext uri="{FF2B5EF4-FFF2-40B4-BE49-F238E27FC236}">
                <a16:creationId xmlns:a16="http://schemas.microsoft.com/office/drawing/2014/main" id="{16530545-B281-446B-8B5C-5302FDD27EE7}"/>
              </a:ext>
            </a:extLst>
          </p:cNvPr>
          <p:cNvSpPr>
            <a:spLocks noGrp="1"/>
          </p:cNvSpPr>
          <p:nvPr>
            <p:ph sz="quarter" idx="16"/>
          </p:nvPr>
        </p:nvSpPr>
        <p:spPr>
          <a:xfrm>
            <a:off x="304800" y="2025649"/>
            <a:ext cx="8534400" cy="1479551"/>
          </a:xfrm>
        </p:spPr>
        <p:txBody>
          <a:bodyPr/>
          <a:lstStyle/>
          <a:p>
            <a:pPr>
              <a:buClr>
                <a:srgbClr val="990000"/>
              </a:buClr>
            </a:pPr>
            <a:r>
              <a:rPr lang="en-US" altLang="en-US" sz="2600" dirty="0"/>
              <a:t>Corporations also may issue stock for:</a:t>
            </a:r>
          </a:p>
          <a:p>
            <a:pPr marL="292608" indent="-292608">
              <a:buClr>
                <a:srgbClr val="990000"/>
              </a:buClr>
              <a:buFont typeface="Arial" panose="020B0604020202020204" pitchFamily="34" charset="0"/>
              <a:buChar char="•"/>
            </a:pPr>
            <a:r>
              <a:rPr lang="en-US" altLang="en-US" sz="2600" dirty="0"/>
              <a:t>Services (attorneys or consultants)</a:t>
            </a:r>
          </a:p>
          <a:p>
            <a:pPr marL="292608" indent="-292608">
              <a:buClr>
                <a:srgbClr val="990000"/>
              </a:buClr>
              <a:buFont typeface="Arial" panose="020B0604020202020204" pitchFamily="34" charset="0"/>
              <a:buChar char="•"/>
            </a:pPr>
            <a:r>
              <a:rPr lang="en-US" altLang="en-US" sz="2600" dirty="0"/>
              <a:t>Noncash assets (land, buildings, and equipment)</a:t>
            </a:r>
          </a:p>
        </p:txBody>
      </p:sp>
      <p:sp>
        <p:nvSpPr>
          <p:cNvPr id="6" name="Content Placeholder 5"/>
          <p:cNvSpPr>
            <a:spLocks noGrp="1"/>
          </p:cNvSpPr>
          <p:nvPr>
            <p:ph sz="quarter" idx="17"/>
          </p:nvPr>
        </p:nvSpPr>
        <p:spPr>
          <a:xfrm>
            <a:off x="304800" y="3580342"/>
            <a:ext cx="8534400" cy="1220258"/>
          </a:xfrm>
        </p:spPr>
        <p:txBody>
          <a:bodyPr/>
          <a:lstStyle/>
          <a:p>
            <a:pPr>
              <a:buClr>
                <a:srgbClr val="990000"/>
              </a:buClr>
            </a:pPr>
            <a:r>
              <a:rPr lang="en-US" altLang="en-US" sz="2600" dirty="0"/>
              <a:t>Cost is either the fair market value of the consideration given up, or the fair market value of the consideration received, whichever is more clearly determinable.</a:t>
            </a:r>
          </a:p>
        </p:txBody>
      </p:sp>
      <p:sp>
        <p:nvSpPr>
          <p:cNvPr id="4" name="Slide Number Placeholder 3">
            <a:extLst>
              <a:ext uri="{FF2B5EF4-FFF2-40B4-BE49-F238E27FC236}">
                <a16:creationId xmlns:a16="http://schemas.microsoft.com/office/drawing/2014/main" id="{90601883-3D6D-47CF-94D6-9543B7B8FE86}"/>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5" name="Footer Placeholder 4">
            <a:extLst>
              <a:ext uri="{FF2B5EF4-FFF2-40B4-BE49-F238E27FC236}">
                <a16:creationId xmlns:a16="http://schemas.microsoft.com/office/drawing/2014/main" id="{CDA93561-F74A-43FA-B7ED-C37490C84D3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55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669924"/>
          </a:xfrm>
        </p:spPr>
        <p:txBody>
          <a:bodyPr/>
          <a:lstStyle/>
          <a:p>
            <a:r>
              <a:rPr lang="en-US" b="1" dirty="0">
                <a:ea typeface="Source Sans Pro" charset="0"/>
              </a:rPr>
              <a:t>Common Stock for Services </a:t>
            </a:r>
            <a:r>
              <a:rPr lang="en-US" sz="2400" dirty="0">
                <a:ea typeface="Source Sans Pro" charset="0"/>
              </a:rPr>
              <a:t>(1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544096"/>
            <a:ext cx="8534400" cy="1981200"/>
          </a:xfrm>
        </p:spPr>
        <p:txBody>
          <a:bodyPr/>
          <a:lstStyle/>
          <a:p>
            <a:r>
              <a:rPr lang="en-US" sz="2400" b="1" dirty="0"/>
              <a:t>Illustration: </a:t>
            </a:r>
            <a:r>
              <a:rPr lang="en-US" altLang="en-US" sz="2400" dirty="0"/>
              <a:t>Attorneys have helped Jordan Company incorporate. They have billed the company $5,000 for their services. They agree to accept 4,000 shares of $1 par value common stock in payment of their bill. At the time of the exchange, there is no established market price for the stock. Prepare the journal entry for this transaction.</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533400" y="3733800"/>
            <a:ext cx="3457024" cy="365125"/>
          </a:xfrm>
        </p:spPr>
        <p:txBody>
          <a:bodyPr/>
          <a:lstStyle/>
          <a:p>
            <a:r>
              <a:rPr lang="en-US" sz="2400" dirty="0">
                <a:solidFill>
                  <a:srgbClr val="000000"/>
                </a:solidFill>
              </a:rPr>
              <a:t>Organizational Expense</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867400" y="3733800"/>
            <a:ext cx="985562" cy="352425"/>
          </a:xfrm>
        </p:spPr>
        <p:txBody>
          <a:bodyPr/>
          <a:lstStyle/>
          <a:p>
            <a:r>
              <a:rPr lang="en-US" sz="2400" dirty="0">
                <a:solidFill>
                  <a:srgbClr val="000000"/>
                </a:solidFill>
              </a:rPr>
              <a:t>5,000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838200" y="4130675"/>
            <a:ext cx="3733800" cy="365125"/>
          </a:xfrm>
        </p:spPr>
        <p:txBody>
          <a:bodyPr/>
          <a:lstStyle/>
          <a:p>
            <a:r>
              <a:rPr lang="en-US" sz="2400" dirty="0">
                <a:solidFill>
                  <a:srgbClr val="000000"/>
                </a:solidFill>
              </a:rPr>
              <a:t>Common Stock (4,000 × $1)</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310162" y="4098925"/>
            <a:ext cx="914400" cy="365125"/>
          </a:xfrm>
        </p:spPr>
        <p:txBody>
          <a:bodyPr/>
          <a:lstStyle/>
          <a:p>
            <a:r>
              <a:rPr lang="en-US" sz="2400" dirty="0">
                <a:solidFill>
                  <a:srgbClr val="000000"/>
                </a:solidFill>
              </a:rPr>
              <a:t>4,000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838200" y="4556127"/>
            <a:ext cx="4724400" cy="1616073"/>
          </a:xfrm>
        </p:spPr>
        <p:txBody>
          <a:bodyPr/>
          <a:lstStyle/>
          <a:p>
            <a:r>
              <a:rPr lang="en-US" sz="2400" dirty="0">
                <a:solidFill>
                  <a:srgbClr val="000000"/>
                </a:solidFill>
              </a:rPr>
              <a:t>Paid-in Capital in Excess of Par Value—Common Stock</a:t>
            </a:r>
          </a:p>
          <a:p>
            <a:pPr marL="361950">
              <a:spcBef>
                <a:spcPts val="0"/>
              </a:spcBef>
            </a:pPr>
            <a:r>
              <a:rPr lang="en-US" sz="2400" dirty="0"/>
              <a:t>(To record issuance of 4,000 shares of $1 par value stock to attorneys)</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320209" y="4531808"/>
            <a:ext cx="914400" cy="365126"/>
          </a:xfrm>
        </p:spPr>
        <p:txBody>
          <a:bodyPr/>
          <a:lstStyle/>
          <a:p>
            <a:r>
              <a:rPr lang="en-US" altLang="en-US" sz="2400" dirty="0">
                <a:solidFill>
                  <a:srgbClr val="000000"/>
                </a:solidFill>
              </a:rPr>
              <a:t>1,000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07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3" grpId="0" build="p"/>
      <p:bldP spid="15" grpId="0" uiExpand="1" build="p"/>
      <p:bldP spid="1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685799"/>
          </a:xfrm>
        </p:spPr>
        <p:txBody>
          <a:bodyPr/>
          <a:lstStyle/>
          <a:p>
            <a:r>
              <a:rPr lang="en-US" b="1" dirty="0">
                <a:ea typeface="Source Sans Pro" charset="0"/>
              </a:rPr>
              <a:t>Common Stock for Services </a:t>
            </a:r>
            <a:r>
              <a:rPr lang="en-US" sz="2400" dirty="0">
                <a:ea typeface="Source Sans Pro" charset="0"/>
              </a:rPr>
              <a:t>(2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600200"/>
            <a:ext cx="8534400" cy="1797050"/>
          </a:xfrm>
        </p:spPr>
        <p:txBody>
          <a:bodyPr/>
          <a:lstStyle/>
          <a:p>
            <a:r>
              <a:rPr lang="en-US" sz="2400" b="1" dirty="0"/>
              <a:t>Illustration: </a:t>
            </a:r>
            <a:r>
              <a:rPr lang="en-US" altLang="en-US" sz="2400" dirty="0"/>
              <a:t>Athletic Research Inc. is an existing publicly held corporation. Its $5 par value stock is actively traded at $8 per share. The company issues 10,000 shares of stock to acquire land recently advertised for sale at $90,000. Prepare the journal entry for this transaction.</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609600" y="3581400"/>
            <a:ext cx="3457024" cy="365125"/>
          </a:xfrm>
        </p:spPr>
        <p:txBody>
          <a:bodyPr/>
          <a:lstStyle/>
          <a:p>
            <a:r>
              <a:rPr lang="en-US" sz="2400" dirty="0">
                <a:solidFill>
                  <a:srgbClr val="000000"/>
                </a:solidFill>
              </a:rPr>
              <a:t>Land</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763975" y="3581400"/>
            <a:ext cx="1109938" cy="352425"/>
          </a:xfrm>
        </p:spPr>
        <p:txBody>
          <a:bodyPr/>
          <a:lstStyle/>
          <a:p>
            <a:r>
              <a:rPr lang="en-US" sz="2400" dirty="0">
                <a:solidFill>
                  <a:srgbClr val="000000"/>
                </a:solidFill>
              </a:rPr>
              <a:t>80,000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858296" y="3938046"/>
            <a:ext cx="4038600" cy="365125"/>
          </a:xfrm>
        </p:spPr>
        <p:txBody>
          <a:bodyPr/>
          <a:lstStyle/>
          <a:p>
            <a:r>
              <a:rPr lang="en-US" sz="2400" dirty="0">
                <a:solidFill>
                  <a:srgbClr val="000000"/>
                </a:solidFill>
              </a:rPr>
              <a:t>Common Stock (10,000 × $5)</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6970209" y="3906296"/>
            <a:ext cx="1142999" cy="365125"/>
          </a:xfrm>
        </p:spPr>
        <p:txBody>
          <a:bodyPr/>
          <a:lstStyle/>
          <a:p>
            <a:r>
              <a:rPr lang="en-US" sz="2400" dirty="0">
                <a:solidFill>
                  <a:srgbClr val="000000"/>
                </a:solidFill>
              </a:rPr>
              <a:t>50,000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838200" y="4343399"/>
            <a:ext cx="4833662" cy="1752600"/>
          </a:xfrm>
        </p:spPr>
        <p:txBody>
          <a:bodyPr/>
          <a:lstStyle/>
          <a:p>
            <a:r>
              <a:rPr lang="en-US" sz="2400" dirty="0">
                <a:solidFill>
                  <a:srgbClr val="000000"/>
                </a:solidFill>
              </a:rPr>
              <a:t>Paid-in Capital in Excess of Par Value—Common Stock</a:t>
            </a:r>
          </a:p>
          <a:p>
            <a:pPr marL="361950">
              <a:spcBef>
                <a:spcPts val="0"/>
              </a:spcBef>
            </a:pPr>
            <a:r>
              <a:rPr lang="en-US" sz="2400" dirty="0"/>
              <a:t>(To record issuance of 10,000 shares of $5 par value stock for land)</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6990305" y="4343400"/>
            <a:ext cx="1163095" cy="365126"/>
          </a:xfrm>
        </p:spPr>
        <p:txBody>
          <a:bodyPr/>
          <a:lstStyle/>
          <a:p>
            <a:r>
              <a:rPr lang="en-US" altLang="en-US" sz="2400" dirty="0">
                <a:solidFill>
                  <a:srgbClr val="000000"/>
                </a:solidFill>
              </a:rPr>
              <a:t>30,000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03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3" grpId="0" build="p"/>
      <p:bldP spid="15" grpId="0" uiExpand="1" build="p"/>
      <p:bldP spid="1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6C81-B802-4B52-9526-C87BAC29D6C7}"/>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Preferred Stock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FF5837EF-CD6A-4FCE-91C6-9D05B76A1C89}"/>
              </a:ext>
            </a:extLst>
          </p:cNvPr>
          <p:cNvSpPr>
            <a:spLocks noGrp="1"/>
          </p:cNvSpPr>
          <p:nvPr>
            <p:ph sz="quarter" idx="16"/>
          </p:nvPr>
        </p:nvSpPr>
        <p:spPr>
          <a:xfrm>
            <a:off x="304800" y="1828800"/>
            <a:ext cx="8534400" cy="1447800"/>
          </a:xfrm>
        </p:spPr>
        <p:txBody>
          <a:bodyPr/>
          <a:lstStyle/>
          <a:p>
            <a:r>
              <a:rPr lang="en-US" altLang="en-US" sz="2600" dirty="0"/>
              <a:t>Typically, preferred stockholders have a priority as to:</a:t>
            </a:r>
          </a:p>
          <a:p>
            <a:pPr marL="402336" indent="-402336">
              <a:buClr>
                <a:schemeClr val="accent2"/>
              </a:buClr>
              <a:buFont typeface="+mj-lt"/>
              <a:buAutoNum type="arabicPeriod"/>
            </a:pPr>
            <a:r>
              <a:rPr lang="en-US" altLang="en-US" sz="2600" dirty="0"/>
              <a:t>Distributions of earnings (dividends).</a:t>
            </a:r>
          </a:p>
          <a:p>
            <a:pPr marL="402336" indent="-402336">
              <a:buClr>
                <a:schemeClr val="accent2"/>
              </a:buClr>
              <a:buFont typeface="+mj-lt"/>
              <a:buAutoNum type="arabicPeriod"/>
            </a:pPr>
            <a:r>
              <a:rPr lang="en-US" altLang="en-US" sz="2600" dirty="0"/>
              <a:t>Assets in event of liquidation.</a:t>
            </a:r>
          </a:p>
        </p:txBody>
      </p:sp>
      <p:sp>
        <p:nvSpPr>
          <p:cNvPr id="7" name="Content Placeholder 6"/>
          <p:cNvSpPr>
            <a:spLocks noGrp="1"/>
          </p:cNvSpPr>
          <p:nvPr>
            <p:ph sz="quarter" idx="18"/>
          </p:nvPr>
        </p:nvSpPr>
        <p:spPr>
          <a:xfrm>
            <a:off x="313267" y="3276600"/>
            <a:ext cx="8297333" cy="1371600"/>
          </a:xfrm>
        </p:spPr>
        <p:txBody>
          <a:bodyPr/>
          <a:lstStyle/>
          <a:p>
            <a:r>
              <a:rPr lang="en-US" altLang="en-US" sz="2600" dirty="0"/>
              <a:t>Generally do not have voting rights.</a:t>
            </a:r>
          </a:p>
          <a:p>
            <a:r>
              <a:rPr lang="en-US" altLang="en-US" sz="2600" dirty="0"/>
              <a:t>Accounting for preferred stock at issuance is similar to that for common stock.</a:t>
            </a:r>
          </a:p>
        </p:txBody>
      </p:sp>
      <p:sp>
        <p:nvSpPr>
          <p:cNvPr id="4" name="Slide Number Placeholder 3">
            <a:extLst>
              <a:ext uri="{FF2B5EF4-FFF2-40B4-BE49-F238E27FC236}">
                <a16:creationId xmlns:a16="http://schemas.microsoft.com/office/drawing/2014/main" id="{95BC6AFE-8C19-473B-83C7-E330DC9AA5B0}"/>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5" name="Footer Placeholder 4">
            <a:extLst>
              <a:ext uri="{FF2B5EF4-FFF2-40B4-BE49-F238E27FC236}">
                <a16:creationId xmlns:a16="http://schemas.microsoft.com/office/drawing/2014/main" id="{43413C1F-1064-4268-8035-9E603F5879D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953826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42949"/>
          </a:xfrm>
        </p:spPr>
        <p:txBody>
          <a:bodyPr/>
          <a:lstStyle/>
          <a:p>
            <a:r>
              <a:rPr lang="en-US" b="1" dirty="0">
                <a:latin typeface="Calibri" panose="020F0502020204030204" pitchFamily="34" charset="0"/>
                <a:ea typeface="Source Sans Pro" charset="0"/>
                <a:cs typeface="Calibri" panose="020F0502020204030204" pitchFamily="34" charset="0"/>
              </a:rPr>
              <a:t>Accounting for Preferred Stock </a:t>
            </a:r>
            <a:r>
              <a:rPr lang="en-US" sz="2400" dirty="0">
                <a:latin typeface="Calibri" panose="020F0502020204030204" pitchFamily="34" charset="0"/>
                <a:ea typeface="Source Sans Pro" charset="0"/>
                <a:cs typeface="Calibri" panose="020F0502020204030204" pitchFamily="34" charset="0"/>
              </a:rPr>
              <a:t>(2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600200"/>
            <a:ext cx="8534400" cy="1082675"/>
          </a:xfrm>
        </p:spPr>
        <p:txBody>
          <a:bodyPr/>
          <a:lstStyle/>
          <a:p>
            <a:r>
              <a:rPr lang="en-US" sz="2400" b="1" dirty="0"/>
              <a:t>Illustration: </a:t>
            </a:r>
            <a:r>
              <a:rPr lang="en-US" altLang="en-US" sz="2400" dirty="0"/>
              <a:t>Stine Corporation issues 10,000 shares of $10 par value preferred stock for $12 cash per share. The journal entry to record the issuance is:</a:t>
            </a:r>
            <a:endParaRPr lang="en-US" sz="2400" dirty="0"/>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3048000"/>
            <a:ext cx="3337686" cy="365125"/>
          </a:xfrm>
        </p:spPr>
        <p:txBody>
          <a:bodyPr/>
          <a:lstStyle/>
          <a:p>
            <a:r>
              <a:rPr lang="en-US" sz="2400" dirty="0">
                <a:solidFill>
                  <a:srgbClr val="000000"/>
                </a:solidFill>
              </a:rPr>
              <a:t>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643838" y="3048000"/>
            <a:ext cx="1263118" cy="365125"/>
          </a:xfrm>
        </p:spPr>
        <p:txBody>
          <a:bodyPr/>
          <a:lstStyle/>
          <a:p>
            <a:r>
              <a:rPr lang="en-US" sz="2400" dirty="0">
                <a:solidFill>
                  <a:srgbClr val="000000"/>
                </a:solidFill>
              </a:rPr>
              <a:t>120,000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66800" y="3408904"/>
            <a:ext cx="4196038" cy="365125"/>
          </a:xfrm>
        </p:spPr>
        <p:txBody>
          <a:bodyPr/>
          <a:lstStyle/>
          <a:p>
            <a:r>
              <a:rPr lang="en-US" sz="2400" dirty="0">
                <a:solidFill>
                  <a:srgbClr val="000000"/>
                </a:solidFill>
              </a:rPr>
              <a:t>Preferred Stock (10,000 × $10)</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010400" y="3408904"/>
            <a:ext cx="1219200" cy="365125"/>
          </a:xfrm>
        </p:spPr>
        <p:txBody>
          <a:bodyPr/>
          <a:lstStyle/>
          <a:p>
            <a:r>
              <a:rPr lang="en-US" sz="2400" dirty="0">
                <a:solidFill>
                  <a:srgbClr val="000000"/>
                </a:solidFill>
              </a:rPr>
              <a:t>100,000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066800" y="3774028"/>
            <a:ext cx="4196038" cy="1728247"/>
          </a:xfrm>
        </p:spPr>
        <p:txBody>
          <a:bodyPr/>
          <a:lstStyle/>
          <a:p>
            <a:r>
              <a:rPr lang="en-US" sz="2400" dirty="0">
                <a:solidFill>
                  <a:srgbClr val="000000"/>
                </a:solidFill>
              </a:rPr>
              <a:t>Paid-in Capital in Excess of Par Value—Preferred Stock</a:t>
            </a:r>
          </a:p>
          <a:p>
            <a:pPr marL="271463">
              <a:spcBef>
                <a:spcPts val="0"/>
              </a:spcBef>
            </a:pPr>
            <a:r>
              <a:rPr lang="en-US" sz="2400" dirty="0"/>
              <a:t>(To record the issuance of 10,000 shares of $10 par value preferred stock)</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169926" y="3913729"/>
            <a:ext cx="1219201" cy="441325"/>
          </a:xfrm>
        </p:spPr>
        <p:txBody>
          <a:bodyPr/>
          <a:lstStyle/>
          <a:p>
            <a:r>
              <a:rPr lang="en-US" sz="2400" dirty="0">
                <a:solidFill>
                  <a:srgbClr val="000000"/>
                </a:solidFill>
              </a:rPr>
              <a:t>20,000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304800" y="5791200"/>
            <a:ext cx="8534400" cy="365125"/>
          </a:xfrm>
        </p:spPr>
        <p:txBody>
          <a:bodyPr/>
          <a:lstStyle/>
          <a:p>
            <a:r>
              <a:rPr lang="en-US" sz="2400" dirty="0">
                <a:solidFill>
                  <a:srgbClr val="000000"/>
                </a:solidFill>
              </a:rPr>
              <a:t>Preferred stock may have a par value or no-par value.</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6208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P spid="1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Do It! 2a: Issuance of Stock </a:t>
            </a:r>
            <a:r>
              <a:rPr lang="en-US" sz="2400" dirty="0">
                <a:latin typeface="Calibri" panose="020F0502020204030204" pitchFamily="34" charset="0"/>
                <a:ea typeface="Source Sans Pro" charset="0"/>
                <a:cs typeface="Calibri" panose="020F0502020204030204" pitchFamily="34" charset="0"/>
              </a:rPr>
              <a:t>(1 of 3)</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828800"/>
            <a:ext cx="8534400" cy="1311275"/>
          </a:xfrm>
        </p:spPr>
        <p:txBody>
          <a:bodyPr/>
          <a:lstStyle/>
          <a:p>
            <a:r>
              <a:rPr lang="en-US" sz="2400" b="1" dirty="0"/>
              <a:t>Illustration: </a:t>
            </a:r>
            <a:r>
              <a:rPr lang="en-US" sz="2400" dirty="0"/>
              <a:t>Cayman Corporation begins operations on March 1 by issuing 100,000 shares of $1 par value common stock for cash at $12 per share. Journalize the issuance of the common shares on March 1 assuming the shares are not publicly traded.</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533400" y="3352800"/>
            <a:ext cx="3337686" cy="365125"/>
          </a:xfrm>
        </p:spPr>
        <p:txBody>
          <a:bodyPr/>
          <a:lstStyle/>
          <a:p>
            <a:r>
              <a:rPr lang="en-US" sz="2400" dirty="0">
                <a:solidFill>
                  <a:srgbClr val="000000"/>
                </a:solidFill>
              </a:rPr>
              <a:t>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643838" y="3352800"/>
            <a:ext cx="1442762" cy="365125"/>
          </a:xfrm>
        </p:spPr>
        <p:txBody>
          <a:bodyPr/>
          <a:lstStyle/>
          <a:p>
            <a:r>
              <a:rPr lang="en-US" sz="2400" dirty="0">
                <a:solidFill>
                  <a:srgbClr val="000000"/>
                </a:solidFill>
              </a:rPr>
              <a:t>1,200,000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790024" y="3717925"/>
            <a:ext cx="4196038" cy="365125"/>
          </a:xfrm>
        </p:spPr>
        <p:txBody>
          <a:bodyPr/>
          <a:lstStyle/>
          <a:p>
            <a:r>
              <a:rPr lang="en-US" sz="2400" dirty="0">
                <a:solidFill>
                  <a:srgbClr val="000000"/>
                </a:solidFill>
              </a:rPr>
              <a:t>Common Stock (100,000 × $1)</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391400" y="3717925"/>
            <a:ext cx="1219200" cy="365125"/>
          </a:xfrm>
        </p:spPr>
        <p:txBody>
          <a:bodyPr/>
          <a:lstStyle/>
          <a:p>
            <a:r>
              <a:rPr lang="en-US" sz="2400" dirty="0">
                <a:solidFill>
                  <a:srgbClr val="000000"/>
                </a:solidFill>
              </a:rPr>
              <a:t>100,000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790024" y="4144944"/>
            <a:ext cx="4876800" cy="1676400"/>
          </a:xfrm>
        </p:spPr>
        <p:txBody>
          <a:bodyPr/>
          <a:lstStyle/>
          <a:p>
            <a:r>
              <a:rPr lang="en-US" sz="2400" dirty="0">
                <a:solidFill>
                  <a:srgbClr val="000000"/>
                </a:solidFill>
              </a:rPr>
              <a:t>Paid-in Capital in Excess of Par Value—Common Stock</a:t>
            </a:r>
          </a:p>
          <a:p>
            <a:pPr marL="361950">
              <a:spcBef>
                <a:spcPts val="0"/>
              </a:spcBef>
            </a:pPr>
            <a:r>
              <a:rPr lang="en-US" sz="2400" dirty="0"/>
              <a:t>(To record issuance of 100,000 shares at $12 per share)</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162800" y="4144944"/>
            <a:ext cx="1567135" cy="441325"/>
          </a:xfrm>
        </p:spPr>
        <p:txBody>
          <a:bodyPr/>
          <a:lstStyle/>
          <a:p>
            <a:r>
              <a:rPr lang="en-US" sz="2400" dirty="0">
                <a:solidFill>
                  <a:srgbClr val="000000"/>
                </a:solidFill>
              </a:rPr>
              <a:t>1,100,000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81859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812276"/>
          </a:xfrm>
        </p:spPr>
        <p:txBody>
          <a:bodyPr/>
          <a:lstStyle/>
          <a:p>
            <a:r>
              <a:rPr lang="en-US" b="1" dirty="0">
                <a:latin typeface="Calibri" panose="020F0502020204030204" pitchFamily="34" charset="0"/>
                <a:ea typeface="Source Sans Pro" charset="0"/>
                <a:cs typeface="Calibri" panose="020F0502020204030204" pitchFamily="34" charset="0"/>
              </a:rPr>
              <a:t>Do It! 2a: Issuance of Stock </a:t>
            </a:r>
            <a:r>
              <a:rPr lang="en-US" sz="2400" dirty="0">
                <a:latin typeface="Calibri" panose="020F0502020204030204" pitchFamily="34" charset="0"/>
                <a:ea typeface="Source Sans Pro" charset="0"/>
                <a:cs typeface="Calibri" panose="020F0502020204030204" pitchFamily="34" charset="0"/>
              </a:rPr>
              <a:t>(2 of 3)</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828800"/>
            <a:ext cx="8534400" cy="1117077"/>
          </a:xfrm>
        </p:spPr>
        <p:txBody>
          <a:bodyPr/>
          <a:lstStyle/>
          <a:p>
            <a:r>
              <a:rPr lang="en-US" sz="2400" b="1" dirty="0"/>
              <a:t>Illustration: </a:t>
            </a:r>
            <a:r>
              <a:rPr lang="en-US" sz="2400" dirty="0"/>
              <a:t>On March 15, Cayman issues 5,000 shares of common stock to attorneys in settlement of their bill of $50,000 for organization costs. Journalize the issuance of these shares.</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609600" y="3048000"/>
            <a:ext cx="3337686" cy="365125"/>
          </a:xfrm>
        </p:spPr>
        <p:txBody>
          <a:bodyPr/>
          <a:lstStyle/>
          <a:p>
            <a:r>
              <a:rPr lang="en-US" sz="2400" dirty="0">
                <a:solidFill>
                  <a:srgbClr val="000000"/>
                </a:solidFill>
              </a:rPr>
              <a:t>Organization Expense</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771079" y="3048000"/>
            <a:ext cx="1163121" cy="365125"/>
          </a:xfrm>
        </p:spPr>
        <p:txBody>
          <a:bodyPr/>
          <a:lstStyle/>
          <a:p>
            <a:r>
              <a:rPr lang="en-US" sz="2400" dirty="0">
                <a:solidFill>
                  <a:srgbClr val="000000"/>
                </a:solidFill>
              </a:rPr>
              <a:t>50,000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942424" y="3444875"/>
            <a:ext cx="4196038" cy="365125"/>
          </a:xfrm>
        </p:spPr>
        <p:txBody>
          <a:bodyPr/>
          <a:lstStyle/>
          <a:p>
            <a:r>
              <a:rPr lang="en-US" sz="2400" dirty="0">
                <a:solidFill>
                  <a:srgbClr val="000000"/>
                </a:solidFill>
              </a:rPr>
              <a:t>Common Stock (5,000 × $1)</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518641" y="3444875"/>
            <a:ext cx="914400" cy="365125"/>
          </a:xfrm>
        </p:spPr>
        <p:txBody>
          <a:bodyPr/>
          <a:lstStyle/>
          <a:p>
            <a:r>
              <a:rPr lang="en-US" sz="2400" dirty="0">
                <a:solidFill>
                  <a:srgbClr val="000000"/>
                </a:solidFill>
              </a:rPr>
              <a:t>5,000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942424" y="3820048"/>
            <a:ext cx="4196038" cy="1590152"/>
          </a:xfrm>
        </p:spPr>
        <p:txBody>
          <a:bodyPr/>
          <a:lstStyle/>
          <a:p>
            <a:r>
              <a:rPr lang="en-US" sz="2400" dirty="0">
                <a:solidFill>
                  <a:srgbClr val="000000"/>
                </a:solidFill>
              </a:rPr>
              <a:t>Paid-in Capital in Excess of Par Value—Common Stock</a:t>
            </a:r>
          </a:p>
          <a:p>
            <a:pPr marL="361950">
              <a:spcBef>
                <a:spcPts val="0"/>
              </a:spcBef>
            </a:pPr>
            <a:r>
              <a:rPr lang="en-US" sz="2400" dirty="0"/>
              <a:t>(To record issuance of 5,000 shares for attorneys’ fees)</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376289" y="3879364"/>
            <a:ext cx="1186135" cy="441325"/>
          </a:xfrm>
        </p:spPr>
        <p:txBody>
          <a:bodyPr/>
          <a:lstStyle/>
          <a:p>
            <a:r>
              <a:rPr lang="en-US" sz="2400" dirty="0">
                <a:solidFill>
                  <a:srgbClr val="000000"/>
                </a:solidFill>
              </a:rPr>
              <a:t>45,000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98842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14448"/>
          </a:xfrm>
        </p:spPr>
        <p:txBody>
          <a:bodyPr/>
          <a:lstStyle/>
          <a:p>
            <a:r>
              <a:rPr lang="en-US" b="1" dirty="0">
                <a:latin typeface="Calibri" panose="020F0502020204030204" pitchFamily="34" charset="0"/>
                <a:ea typeface="Source Sans Pro" charset="0"/>
                <a:cs typeface="Calibri" panose="020F0502020204030204" pitchFamily="34" charset="0"/>
              </a:rPr>
              <a:t>Do It! 2a: Issuance of Stock </a:t>
            </a:r>
            <a:r>
              <a:rPr lang="en-US" sz="2400" dirty="0">
                <a:latin typeface="Calibri" panose="020F0502020204030204" pitchFamily="34" charset="0"/>
                <a:ea typeface="Source Sans Pro" charset="0"/>
                <a:cs typeface="Calibri" panose="020F0502020204030204" pitchFamily="34" charset="0"/>
              </a:rPr>
              <a:t>(3 of 3)</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828800"/>
            <a:ext cx="8534400" cy="1122867"/>
          </a:xfrm>
        </p:spPr>
        <p:txBody>
          <a:bodyPr/>
          <a:lstStyle/>
          <a:p>
            <a:r>
              <a:rPr lang="en-US" sz="2400" b="1" dirty="0"/>
              <a:t>Illustration: </a:t>
            </a:r>
            <a:r>
              <a:rPr lang="en-US" sz="2400" dirty="0"/>
              <a:t>On March 28, Cayman issues 1,500 shares of $10 par value preferred stock for cash at $30 per share. Journalize the issuance of preferred shares.</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3048000"/>
            <a:ext cx="942424" cy="365125"/>
          </a:xfrm>
        </p:spPr>
        <p:txBody>
          <a:bodyPr/>
          <a:lstStyle/>
          <a:p>
            <a:r>
              <a:rPr lang="en-US" sz="2400" dirty="0">
                <a:solidFill>
                  <a:srgbClr val="000000"/>
                </a:solidFill>
              </a:rPr>
              <a:t>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643838" y="3048000"/>
            <a:ext cx="1442762" cy="365125"/>
          </a:xfrm>
        </p:spPr>
        <p:txBody>
          <a:bodyPr/>
          <a:lstStyle/>
          <a:p>
            <a:r>
              <a:rPr lang="en-US" sz="2400" dirty="0">
                <a:solidFill>
                  <a:srgbClr val="000000"/>
                </a:solidFill>
              </a:rPr>
              <a:t>45,000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056752" y="3429037"/>
            <a:ext cx="4196038" cy="365125"/>
          </a:xfrm>
        </p:spPr>
        <p:txBody>
          <a:bodyPr/>
          <a:lstStyle/>
          <a:p>
            <a:r>
              <a:rPr lang="en-US" sz="2400" dirty="0">
                <a:solidFill>
                  <a:srgbClr val="000000"/>
                </a:solidFill>
              </a:rPr>
              <a:t>Preferred Stock (1,500 × $10)</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152752" y="3429037"/>
            <a:ext cx="1066800" cy="365125"/>
          </a:xfrm>
        </p:spPr>
        <p:txBody>
          <a:bodyPr/>
          <a:lstStyle/>
          <a:p>
            <a:r>
              <a:rPr lang="en-US" sz="2400" dirty="0">
                <a:solidFill>
                  <a:srgbClr val="000000"/>
                </a:solidFill>
              </a:rPr>
              <a:t>15,000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033713" y="3824306"/>
            <a:ext cx="4196038" cy="1519742"/>
          </a:xfrm>
        </p:spPr>
        <p:txBody>
          <a:bodyPr/>
          <a:lstStyle/>
          <a:p>
            <a:r>
              <a:rPr lang="en-US" sz="2400" dirty="0">
                <a:solidFill>
                  <a:srgbClr val="000000"/>
                </a:solidFill>
              </a:rPr>
              <a:t>Paid-in Capital in Excess of Par Value—Preferred Stock</a:t>
            </a:r>
          </a:p>
          <a:p>
            <a:pPr marL="271463">
              <a:spcBef>
                <a:spcPts val="0"/>
              </a:spcBef>
            </a:pPr>
            <a:r>
              <a:rPr lang="en-US" sz="2400" dirty="0"/>
              <a:t>(To record issuance of 1,500 shares at $30 per share)</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169905" y="3873574"/>
            <a:ext cx="1186135" cy="441325"/>
          </a:xfrm>
        </p:spPr>
        <p:txBody>
          <a:bodyPr/>
          <a:lstStyle/>
          <a:p>
            <a:r>
              <a:rPr lang="en-US" sz="2400" dirty="0">
                <a:solidFill>
                  <a:srgbClr val="000000"/>
                </a:solidFill>
              </a:rPr>
              <a:t>30,000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78017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0FD8-7E84-4AF1-9A10-585F1D0020BB}"/>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(1 of 5)</a:t>
            </a:r>
            <a:endParaRPr lang="en-US" sz="2400" dirty="0"/>
          </a:p>
        </p:txBody>
      </p:sp>
      <p:pic>
        <p:nvPicPr>
          <p:cNvPr id="7" name="Content Placeholder 6" descr="An illustration displays corporate capital. The two primary sources of equity are paid-in capital and retained earnings account. Paid-in capital is divided into common stock account, preferred stock, and preferred stock account. The common stock account, and preferred stock account combine to form paid-in capital in excess of par account. The treasury stock account is less. &#10;">
            <a:extLst>
              <a:ext uri="{FF2B5EF4-FFF2-40B4-BE49-F238E27FC236}">
                <a16:creationId xmlns:a16="http://schemas.microsoft.com/office/drawing/2014/main" id="{2CC8EDBF-7D1F-4D0F-9C14-5B0EDAA14582}"/>
              </a:ext>
            </a:extLst>
          </p:cNvPr>
          <p:cNvPicPr>
            <a:picLocks noGrp="1" noChangeAspect="1"/>
          </p:cNvPicPr>
          <p:nvPr>
            <p:ph sz="quarter" idx="16"/>
          </p:nvPr>
        </p:nvPicPr>
        <p:blipFill>
          <a:blip r:embed="rId2"/>
          <a:stretch>
            <a:fillRect/>
          </a:stretch>
        </p:blipFill>
        <p:spPr>
          <a:xfrm>
            <a:off x="990125" y="1905000"/>
            <a:ext cx="7409808" cy="4125668"/>
          </a:xfrm>
          <a:prstGeom prst="rect">
            <a:avLst/>
          </a:prstGeom>
        </p:spPr>
      </p:pic>
      <p:sp>
        <p:nvSpPr>
          <p:cNvPr id="5" name="Slide Number Placeholder 4">
            <a:extLst>
              <a:ext uri="{FF2B5EF4-FFF2-40B4-BE49-F238E27FC236}">
                <a16:creationId xmlns:a16="http://schemas.microsoft.com/office/drawing/2014/main" id="{D623E0CE-6A5F-414B-BF3B-44081CAD1E50}"/>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6" name="Footer Placeholder 5">
            <a:extLst>
              <a:ext uri="{FF2B5EF4-FFF2-40B4-BE49-F238E27FC236}">
                <a16:creationId xmlns:a16="http://schemas.microsoft.com/office/drawing/2014/main" id="{B45DA587-8353-4074-B415-DCAAA3BB16A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07329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CAAF-A3C6-4C3F-AD31-C0514EDC1FEE}"/>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(2 of 5)</a:t>
            </a:r>
            <a:endParaRPr lang="en-US" dirty="0"/>
          </a:p>
        </p:txBody>
      </p:sp>
      <p:sp>
        <p:nvSpPr>
          <p:cNvPr id="3" name="Content Placeholder 2">
            <a:extLst>
              <a:ext uri="{FF2B5EF4-FFF2-40B4-BE49-F238E27FC236}">
                <a16:creationId xmlns:a16="http://schemas.microsoft.com/office/drawing/2014/main" id="{FF05DCC6-6811-4CCB-804F-0EEA31D6A556}"/>
              </a:ext>
            </a:extLst>
          </p:cNvPr>
          <p:cNvSpPr>
            <a:spLocks noGrp="1"/>
          </p:cNvSpPr>
          <p:nvPr>
            <p:ph sz="quarter" idx="16"/>
          </p:nvPr>
        </p:nvSpPr>
        <p:spPr>
          <a:xfrm>
            <a:off x="304800" y="1676400"/>
            <a:ext cx="8534400" cy="4495800"/>
          </a:xfrm>
        </p:spPr>
        <p:txBody>
          <a:bodyPr/>
          <a:lstStyle/>
          <a:p>
            <a:pPr>
              <a:defRPr/>
            </a:pPr>
            <a:r>
              <a:rPr lang="en-US" b="1" dirty="0">
                <a:solidFill>
                  <a:schemeClr val="accent4"/>
                </a:solidFill>
                <a:latin typeface="Calibri" panose="020F0502020204030204" pitchFamily="34" charset="0"/>
              </a:rPr>
              <a:t>Treasury stock</a:t>
            </a:r>
            <a:r>
              <a:rPr lang="en-US" dirty="0">
                <a:solidFill>
                  <a:srgbClr val="0000CC"/>
                </a:solidFill>
                <a:latin typeface="Calibri" panose="020F0502020204030204" pitchFamily="34" charset="0"/>
              </a:rPr>
              <a:t> </a:t>
            </a:r>
            <a:r>
              <a:rPr lang="en-US" dirty="0">
                <a:latin typeface="Calibri" panose="020F0502020204030204" pitchFamily="34" charset="0"/>
              </a:rPr>
              <a:t>is a corporation’s own stock that it has issued and subsequently reacquired from shareholders but not retired.</a:t>
            </a:r>
          </a:p>
          <a:p>
            <a:r>
              <a:rPr lang="en-US" altLang="en-US" dirty="0">
                <a:solidFill>
                  <a:srgbClr val="000000"/>
                </a:solidFill>
                <a:latin typeface="Calibri" panose="020F0502020204030204" pitchFamily="34" charset="0"/>
              </a:rPr>
              <a:t>Corporations acquire treasury stock for various reasons:</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reissue the shares to officers and employees under bonus and stock compensation plans.</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enhance the stock’s market value.</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have additional shares available for use in the acquisition of other companies.</a:t>
            </a:r>
          </a:p>
          <a:p>
            <a:pPr marL="402336" lvl="1" indent="-402336">
              <a:spcBef>
                <a:spcPts val="1000"/>
              </a:spcBef>
              <a:buClr>
                <a:schemeClr val="accent2"/>
              </a:buClr>
              <a:buFontTx/>
              <a:buAutoNum type="arabicPeriod"/>
            </a:pPr>
            <a:r>
              <a:rPr lang="en-US" altLang="en-US" sz="2800" dirty="0">
                <a:solidFill>
                  <a:srgbClr val="000000"/>
                </a:solidFill>
                <a:latin typeface="Calibri" panose="020F0502020204030204" pitchFamily="34" charset="0"/>
              </a:rPr>
              <a:t>To increase earnings per share.</a:t>
            </a:r>
            <a:endParaRPr 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1EDA3A45-DBD8-49DC-8A9B-EF9F4CA5CB6A}"/>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5" name="Footer Placeholder 4">
            <a:extLst>
              <a:ext uri="{FF2B5EF4-FFF2-40B4-BE49-F238E27FC236}">
                <a16:creationId xmlns:a16="http://schemas.microsoft.com/office/drawing/2014/main" id="{87E70320-C121-469C-8994-FD9E54949AE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73555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CAAF-A3C6-4C3F-AD31-C0514EDC1FEE}"/>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(3 of 5)</a:t>
            </a:r>
            <a:endParaRPr lang="en-US" dirty="0"/>
          </a:p>
        </p:txBody>
      </p:sp>
      <p:sp>
        <p:nvSpPr>
          <p:cNvPr id="3" name="Content Placeholder 2">
            <a:extLst>
              <a:ext uri="{FF2B5EF4-FFF2-40B4-BE49-F238E27FC236}">
                <a16:creationId xmlns:a16="http://schemas.microsoft.com/office/drawing/2014/main" id="{FF05DCC6-6811-4CCB-804F-0EEA31D6A556}"/>
              </a:ext>
            </a:extLst>
          </p:cNvPr>
          <p:cNvSpPr>
            <a:spLocks noGrp="1"/>
          </p:cNvSpPr>
          <p:nvPr>
            <p:ph sz="quarter" idx="16"/>
          </p:nvPr>
        </p:nvSpPr>
        <p:spPr>
          <a:xfrm>
            <a:off x="304800" y="1828800"/>
            <a:ext cx="8534400" cy="2590800"/>
          </a:xfrm>
        </p:spPr>
        <p:txBody>
          <a:bodyPr/>
          <a:lstStyle/>
          <a:p>
            <a:pPr marL="292608" indent="-292608">
              <a:buClr>
                <a:srgbClr val="800000"/>
              </a:buClr>
              <a:buSzPct val="100000"/>
              <a:buFont typeface="Arial" panose="020B0604020202020204" pitchFamily="34" charset="0"/>
              <a:buChar char="•"/>
            </a:pPr>
            <a:r>
              <a:rPr lang="en-US" altLang="en-US" dirty="0">
                <a:solidFill>
                  <a:srgbClr val="000000"/>
                </a:solidFill>
              </a:rPr>
              <a:t>Companies generally use </a:t>
            </a:r>
            <a:r>
              <a:rPr lang="en-US" altLang="en-US" b="1" dirty="0">
                <a:solidFill>
                  <a:srgbClr val="000000"/>
                </a:solidFill>
              </a:rPr>
              <a:t>cost method</a:t>
            </a:r>
            <a:endParaRPr lang="en-US" altLang="en-US" dirty="0">
              <a:solidFill>
                <a:srgbClr val="000000"/>
              </a:solidFill>
            </a:endParaRPr>
          </a:p>
          <a:p>
            <a:pPr marL="292608" indent="-292608">
              <a:buClr>
                <a:srgbClr val="800000"/>
              </a:buClr>
              <a:buSzPct val="100000"/>
              <a:buFont typeface="Arial" panose="020B0604020202020204" pitchFamily="34" charset="0"/>
              <a:buChar char="•"/>
            </a:pPr>
            <a:r>
              <a:rPr lang="en-US" altLang="en-US" dirty="0">
                <a:solidFill>
                  <a:srgbClr val="000000"/>
                </a:solidFill>
              </a:rPr>
              <a:t>Debit </a:t>
            </a:r>
            <a:r>
              <a:rPr lang="en-US" altLang="en-US" b="1" dirty="0">
                <a:solidFill>
                  <a:srgbClr val="000000"/>
                </a:solidFill>
              </a:rPr>
              <a:t>Treasury Stock </a:t>
            </a:r>
            <a:r>
              <a:rPr lang="en-US" altLang="en-US" dirty="0">
                <a:solidFill>
                  <a:srgbClr val="000000"/>
                </a:solidFill>
              </a:rPr>
              <a:t>for </a:t>
            </a:r>
            <a:r>
              <a:rPr lang="en-US" altLang="en-US" b="1" dirty="0">
                <a:solidFill>
                  <a:srgbClr val="000000"/>
                </a:solidFill>
              </a:rPr>
              <a:t>price paid to reacquire shares</a:t>
            </a:r>
            <a:endParaRPr lang="en-US" altLang="en-US" dirty="0">
              <a:solidFill>
                <a:srgbClr val="000000"/>
              </a:solidFill>
            </a:endParaRPr>
          </a:p>
          <a:p>
            <a:pPr marL="292608" indent="-292608">
              <a:buClr>
                <a:srgbClr val="800000"/>
              </a:buClr>
              <a:buSzPct val="100000"/>
              <a:buFont typeface="Arial" panose="020B0604020202020204" pitchFamily="34" charset="0"/>
              <a:buChar char="•"/>
            </a:pPr>
            <a:r>
              <a:rPr lang="en-US" altLang="en-US" dirty="0">
                <a:solidFill>
                  <a:srgbClr val="000000"/>
                </a:solidFill>
              </a:rPr>
              <a:t>Treasury stock is a </a:t>
            </a:r>
            <a:r>
              <a:rPr lang="en-US" altLang="en-US" b="1" dirty="0">
                <a:solidFill>
                  <a:srgbClr val="000000"/>
                </a:solidFill>
              </a:rPr>
              <a:t>contra stockholders’ equity account</a:t>
            </a:r>
            <a:endParaRPr lang="en-US" altLang="en-US" dirty="0">
              <a:solidFill>
                <a:srgbClr val="000000"/>
              </a:solidFill>
            </a:endParaRPr>
          </a:p>
          <a:p>
            <a:pPr marL="292608" indent="-292608">
              <a:buClr>
                <a:srgbClr val="800000"/>
              </a:buClr>
              <a:buSzPct val="100000"/>
              <a:buFont typeface="Arial" panose="020B0604020202020204" pitchFamily="34" charset="0"/>
              <a:buChar char="•"/>
            </a:pPr>
            <a:r>
              <a:rPr lang="en-US" altLang="en-US" dirty="0">
                <a:solidFill>
                  <a:srgbClr val="000000"/>
                </a:solidFill>
              </a:rPr>
              <a:t>Reduces stockholders’ equity</a:t>
            </a:r>
            <a:endParaRPr 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1EDA3A45-DBD8-49DC-8A9B-EF9F4CA5CB6A}"/>
              </a:ext>
            </a:extLst>
          </p:cNvPr>
          <p:cNvSpPr>
            <a:spLocks noGrp="1"/>
          </p:cNvSpPr>
          <p:nvPr>
            <p:ph type="sldNum" sz="quarter" idx="10"/>
          </p:nvPr>
        </p:nvSpPr>
        <p:spPr/>
        <p:txBody>
          <a:bodyPr/>
          <a:lstStyle/>
          <a:p>
            <a:fld id="{67B19427-F580-D146-B60E-4CADEE75497F}" type="slidenum">
              <a:rPr lang="en-US" smtClean="0"/>
              <a:pPr/>
              <a:t>36</a:t>
            </a:fld>
            <a:endParaRPr lang="en-US" dirty="0"/>
          </a:p>
        </p:txBody>
      </p:sp>
      <p:sp>
        <p:nvSpPr>
          <p:cNvPr id="5" name="Footer Placeholder 4">
            <a:extLst>
              <a:ext uri="{FF2B5EF4-FFF2-40B4-BE49-F238E27FC236}">
                <a16:creationId xmlns:a16="http://schemas.microsoft.com/office/drawing/2014/main" id="{87E70320-C121-469C-8994-FD9E54949AE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75424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17550"/>
          </a:xfrm>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(4 of 5)</a:t>
            </a:r>
            <a:endParaRPr lang="en-US" sz="2400" dirty="0"/>
          </a:p>
        </p:txBody>
      </p:sp>
      <p:pic>
        <p:nvPicPr>
          <p:cNvPr id="9" name="Content Placeholder 8" descr="An illustration of a partial balance sheet. The statement displays a two-line heading consisting of the name of the company, Mead I n c; and the type of statement, balance sheet. The statement has 2 columns, the first displaying account names and the other displaying the respective amounts. The section under the title is labeled as: stockholders’ equity. It has two subsections. The first subsection, paid-in capital, is indented slightly in the first column. Immediately under this is the following account name that is further indented, and the respective amount appears in the numeric column: common stock, $5 par value, 400,000 shares authorized, 100,000 shares issues and outstanding, $500,000. The second subsection, retained earnings, is indented slightly in the first column, and the value in the numeric column is 200,000. Both the subsections are totaled as $700,000, double underlined is displayed in the numeric column with the label total stockholders’ equity.&#10;">
            <a:extLst>
              <a:ext uri="{FF2B5EF4-FFF2-40B4-BE49-F238E27FC236}">
                <a16:creationId xmlns:a16="http://schemas.microsoft.com/office/drawing/2014/main" id="{CD661E62-7CF4-4085-AAE5-E4D4779DC9C9}"/>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964643" y="1568888"/>
            <a:ext cx="7337196" cy="2635002"/>
          </a:xfrm>
        </p:spPr>
      </p:pic>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4343400"/>
            <a:ext cx="8534400" cy="609600"/>
          </a:xfrm>
        </p:spPr>
        <p:txBody>
          <a:bodyPr/>
          <a:lstStyle/>
          <a:p>
            <a:r>
              <a:rPr lang="en-US" sz="2200" b="1" dirty="0">
                <a:latin typeface="+mn-lt"/>
              </a:rPr>
              <a:t>Illustration: </a:t>
            </a:r>
            <a:r>
              <a:rPr lang="en-US" altLang="en-US" sz="2200" dirty="0">
                <a:latin typeface="+mn-lt"/>
              </a:rPr>
              <a:t>On February 1, 2020, Mead acquires 4,000 shares of its stock at $8 per share. The entry is as follows.</a:t>
            </a:r>
            <a:endParaRPr lang="en-US" sz="2200" dirty="0">
              <a:latin typeface="+mn-lt"/>
            </a:endParaRPr>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685800" y="5076825"/>
            <a:ext cx="4572000" cy="365125"/>
          </a:xfrm>
        </p:spPr>
        <p:txBody>
          <a:bodyPr/>
          <a:lstStyle/>
          <a:p>
            <a:r>
              <a:rPr lang="en-US" sz="2200" dirty="0">
                <a:solidFill>
                  <a:srgbClr val="000000"/>
                </a:solidFill>
              </a:rPr>
              <a:t>Feb. 1   Treasury Stock (4,000 × $8)</a:t>
            </a:r>
            <a:endParaRPr lang="en-US" sz="22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6781800" y="5076825"/>
            <a:ext cx="1066800" cy="365125"/>
          </a:xfrm>
        </p:spPr>
        <p:txBody>
          <a:bodyPr/>
          <a:lstStyle/>
          <a:p>
            <a:r>
              <a:rPr lang="en-US" sz="2200" dirty="0">
                <a:solidFill>
                  <a:srgbClr val="000000"/>
                </a:solidFill>
              </a:rPr>
              <a:t>32,000</a:t>
            </a:r>
            <a:endParaRPr lang="en-US" sz="22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828800" y="5354096"/>
            <a:ext cx="4724400" cy="894304"/>
          </a:xfrm>
        </p:spPr>
        <p:txBody>
          <a:bodyPr/>
          <a:lstStyle/>
          <a:p>
            <a:r>
              <a:rPr lang="en-US" sz="2200" dirty="0">
                <a:solidFill>
                  <a:srgbClr val="000000"/>
                </a:solidFill>
              </a:rPr>
              <a:t>Cash</a:t>
            </a:r>
          </a:p>
          <a:p>
            <a:pPr marL="271463">
              <a:spcBef>
                <a:spcPts val="0"/>
              </a:spcBef>
            </a:pPr>
            <a:r>
              <a:rPr lang="en-US" sz="2200" dirty="0"/>
              <a:t>(To record purchase of 4,000 shares of treasury stock at $8 per share)</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8077200" y="5354096"/>
            <a:ext cx="990600" cy="365125"/>
          </a:xfrm>
        </p:spPr>
        <p:txBody>
          <a:bodyPr/>
          <a:lstStyle/>
          <a:p>
            <a:r>
              <a:rPr lang="en-US" sz="2200" dirty="0">
                <a:solidFill>
                  <a:srgbClr val="000000"/>
                </a:solidFill>
              </a:rPr>
              <a:t>32,000</a:t>
            </a:r>
            <a:endParaRPr lang="en-US" sz="22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37</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747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10" grpId="0" uiExpand="1" build="p"/>
      <p:bldP spid="1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Accounting for Treasury Stock </a:t>
            </a:r>
            <a:r>
              <a:rPr lang="en-US" sz="2400" dirty="0">
                <a:latin typeface="Calibri" panose="020F0502020204030204" pitchFamily="34" charset="0"/>
                <a:ea typeface="Source Sans Pro" charset="0"/>
                <a:cs typeface="Calibri" panose="020F0502020204030204" pitchFamily="34" charset="0"/>
              </a:rPr>
              <a:t>(5 of 5)</a:t>
            </a:r>
            <a:endParaRPr lang="en-US" sz="2400" dirty="0"/>
          </a:p>
        </p:txBody>
      </p:sp>
      <p:pic>
        <p:nvPicPr>
          <p:cNvPr id="12" name="Content Placeholder 11" descr="An illustration of a partial balance sheet. The statement displays a two-line heading consisting of the name of the company, Mead I n c; and the type of statement, balance sheet. The statement has 2 columns, the first displaying account names and the other displaying the respective amounts. The section under the title is labeled as: stockholders’ equity. It has two subsections. The first subsection, paid-in capital, is indented slightly in the first column. Immediately under this is the following account name that is further indented, and the respective amount appears in the numeric column: common stock, $5 par value, 400,000 shares authorized, 100,000 shares issued and 96,000 shares outstanding, $500,000. The second subsection, retained earnings, is indented slightly in the first column, and the value in the numeric column is 200,000. Both the subsections are totaled as $700,000 which is displayed in the numeric column with the label total paid-in capital and retained earnings. Under it is 32,000 displayed in the numeric column with the label, less: treasury stock, 4,000 shares. It is marked in red. The total is $668,000, double underlined is displayed in the numeric column with the label total stockholders’ equity.&#10;">
            <a:extLst>
              <a:ext uri="{FF2B5EF4-FFF2-40B4-BE49-F238E27FC236}">
                <a16:creationId xmlns:a16="http://schemas.microsoft.com/office/drawing/2014/main" id="{6463E3C0-E601-4B0B-AA38-907A120A0E09}"/>
              </a:ext>
            </a:extLst>
          </p:cNvPr>
          <p:cNvPicPr>
            <a:picLocks noGrp="1" noChangeAspect="1"/>
          </p:cNvPicPr>
          <p:nvPr>
            <p:ph sz="quarter" idx="18"/>
          </p:nvPr>
        </p:nvPicPr>
        <p:blipFill>
          <a:blip r:embed="rId2">
            <a:extLst>
              <a:ext uri="{28A0092B-C50C-407E-A947-70E740481C1C}">
                <a14:useLocalDpi xmlns:a14="http://schemas.microsoft.com/office/drawing/2010/main" val="0"/>
              </a:ext>
            </a:extLst>
          </a:blip>
          <a:stretch>
            <a:fillRect/>
          </a:stretch>
        </p:blipFill>
        <p:spPr>
          <a:xfrm>
            <a:off x="890465" y="1752600"/>
            <a:ext cx="7252021" cy="3560782"/>
          </a:xfrm>
        </p:spPr>
      </p:pic>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5454650"/>
            <a:ext cx="8534400" cy="717550"/>
          </a:xfrm>
        </p:spPr>
        <p:txBody>
          <a:bodyPr/>
          <a:lstStyle/>
          <a:p>
            <a:r>
              <a:rPr lang="en-US" altLang="en-US" sz="2400" dirty="0"/>
              <a:t>Both the number of shares issued (100,000) and the number of shares held as treasury (4,000) are disclosed.</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38</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48935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Sale of Treasury Stock Above Cost</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828800"/>
            <a:ext cx="8534400" cy="1080470"/>
          </a:xfrm>
        </p:spPr>
        <p:txBody>
          <a:bodyPr/>
          <a:lstStyle/>
          <a:p>
            <a:r>
              <a:rPr lang="en-US" sz="2400" b="1" dirty="0"/>
              <a:t>Illustration: </a:t>
            </a:r>
            <a:r>
              <a:rPr lang="en-US" sz="2400" dirty="0"/>
              <a:t>On July 1, Mead, Inc. sells for $10 per share 1,000 of the 4,000 shares of its treasury stock previously acquired at $8 per share. The entry is as follows.</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319914" y="3200400"/>
            <a:ext cx="1661286" cy="365125"/>
          </a:xfrm>
        </p:spPr>
        <p:txBody>
          <a:bodyPr/>
          <a:lstStyle/>
          <a:p>
            <a:r>
              <a:rPr lang="en-US" sz="2400" dirty="0">
                <a:solidFill>
                  <a:srgbClr val="000000"/>
                </a:solidFill>
              </a:rPr>
              <a:t>Jul. 1   Cash</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329638" y="3200400"/>
            <a:ext cx="1061762" cy="365125"/>
          </a:xfrm>
        </p:spPr>
        <p:txBody>
          <a:bodyPr/>
          <a:lstStyle/>
          <a:p>
            <a:r>
              <a:rPr lang="en-US" sz="2400" dirty="0">
                <a:solidFill>
                  <a:srgbClr val="000000"/>
                </a:solidFill>
              </a:rPr>
              <a:t>10,000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447800" y="3581400"/>
            <a:ext cx="4196038" cy="365125"/>
          </a:xfrm>
        </p:spPr>
        <p:txBody>
          <a:bodyPr/>
          <a:lstStyle/>
          <a:p>
            <a:r>
              <a:rPr lang="en-US" sz="2400" dirty="0">
                <a:solidFill>
                  <a:srgbClr val="000000"/>
                </a:solidFill>
              </a:rPr>
              <a:t>Treasury Stock (1,000 × $8)</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658876" y="3581400"/>
            <a:ext cx="914400" cy="365125"/>
          </a:xfrm>
        </p:spPr>
        <p:txBody>
          <a:bodyPr/>
          <a:lstStyle/>
          <a:p>
            <a:r>
              <a:rPr lang="en-US" sz="2400" dirty="0">
                <a:solidFill>
                  <a:srgbClr val="000000"/>
                </a:solidFill>
              </a:rPr>
              <a:t>8,000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447800" y="3962400"/>
            <a:ext cx="5181600" cy="1080470"/>
          </a:xfrm>
        </p:spPr>
        <p:txBody>
          <a:bodyPr/>
          <a:lstStyle/>
          <a:p>
            <a:r>
              <a:rPr lang="en-US" sz="2400" dirty="0">
                <a:solidFill>
                  <a:srgbClr val="000000"/>
                </a:solidFill>
              </a:rPr>
              <a:t>Paid-in Capital from Treasury Stock</a:t>
            </a:r>
          </a:p>
          <a:p>
            <a:pPr marL="361950">
              <a:spcBef>
                <a:spcPts val="0"/>
              </a:spcBef>
            </a:pPr>
            <a:r>
              <a:rPr lang="en-US" sz="2400" dirty="0"/>
              <a:t>(To record sale of 1,000 shares of treasury stock above cost)</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658876" y="3991945"/>
            <a:ext cx="1071059" cy="365125"/>
          </a:xfrm>
        </p:spPr>
        <p:txBody>
          <a:bodyPr/>
          <a:lstStyle/>
          <a:p>
            <a:r>
              <a:rPr lang="en-US" sz="2400" dirty="0">
                <a:solidFill>
                  <a:srgbClr val="000000"/>
                </a:solidFill>
              </a:rPr>
              <a:t>2,000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304800" y="5181600"/>
            <a:ext cx="8534400" cy="762000"/>
          </a:xfrm>
        </p:spPr>
        <p:txBody>
          <a:bodyPr/>
          <a:lstStyle/>
          <a:p>
            <a:r>
              <a:rPr lang="en-US" sz="2400" dirty="0">
                <a:solidFill>
                  <a:srgbClr val="000000"/>
                </a:solidFill>
              </a:rPr>
              <a:t>A corporation does not realize a gain or suffer a loss from stock transactions with its own stockholders.</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39</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5554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P spid="1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32455"/>
          </a:xfrm>
        </p:spPr>
        <p:txBody>
          <a:bodyPr/>
          <a:lstStyle/>
          <a:p>
            <a:r>
              <a:rPr lang="en-US" b="1" dirty="0">
                <a:latin typeface="Calibri" panose="020F0502020204030204" pitchFamily="34" charset="0"/>
                <a:ea typeface="Source Sans Pro" charset="0"/>
                <a:cs typeface="Calibri" panose="020F0502020204030204" pitchFamily="34" charset="0"/>
              </a:rPr>
              <a:t>Sale of Treasury Stock Below Cost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600200"/>
            <a:ext cx="8534400" cy="732455"/>
          </a:xfrm>
        </p:spPr>
        <p:txBody>
          <a:bodyPr/>
          <a:lstStyle/>
          <a:p>
            <a:r>
              <a:rPr lang="en-US" sz="2400" dirty="0"/>
              <a:t>If Mead, Inc. sells an additional 800 shares of treasury stock on October 1 at $7 per share, it makes the following entry.</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810176" y="2514600"/>
            <a:ext cx="3337686" cy="365125"/>
          </a:xfrm>
        </p:spPr>
        <p:txBody>
          <a:bodyPr/>
          <a:lstStyle/>
          <a:p>
            <a:r>
              <a:rPr lang="en-US" sz="2400" dirty="0">
                <a:solidFill>
                  <a:srgbClr val="000000"/>
                </a:solidFill>
              </a:rPr>
              <a:t>Cash (800 × $7)</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6329638" y="2514600"/>
            <a:ext cx="909362" cy="365125"/>
          </a:xfrm>
        </p:spPr>
        <p:txBody>
          <a:bodyPr/>
          <a:lstStyle/>
          <a:p>
            <a:r>
              <a:rPr lang="en-US" sz="2400" dirty="0">
                <a:solidFill>
                  <a:srgbClr val="000000"/>
                </a:solidFill>
              </a:rPr>
              <a:t>5,600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810176" y="2885589"/>
            <a:ext cx="4833662" cy="365125"/>
          </a:xfrm>
        </p:spPr>
        <p:txBody>
          <a:bodyPr/>
          <a:lstStyle/>
          <a:p>
            <a:r>
              <a:rPr lang="en-US" sz="2400" dirty="0">
                <a:solidFill>
                  <a:srgbClr val="000000"/>
                </a:solidFill>
              </a:rPr>
              <a:t>Paid-in Capital from Treasury Stock</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6553200" y="2885589"/>
            <a:ext cx="685800" cy="365125"/>
          </a:xfrm>
        </p:spPr>
        <p:txBody>
          <a:bodyPr/>
          <a:lstStyle/>
          <a:p>
            <a:r>
              <a:rPr lang="en-US" sz="2400" dirty="0">
                <a:solidFill>
                  <a:srgbClr val="000000"/>
                </a:solidFill>
              </a:rPr>
              <a:t>800</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066800" y="3272415"/>
            <a:ext cx="4833662" cy="1113387"/>
          </a:xfrm>
        </p:spPr>
        <p:txBody>
          <a:bodyPr/>
          <a:lstStyle/>
          <a:p>
            <a:r>
              <a:rPr lang="en-US" sz="2400" dirty="0">
                <a:solidFill>
                  <a:srgbClr val="000000"/>
                </a:solidFill>
              </a:rPr>
              <a:t>Treasury Stock (800 × $8)</a:t>
            </a:r>
          </a:p>
          <a:p>
            <a:pPr marL="361950">
              <a:spcBef>
                <a:spcPts val="0"/>
              </a:spcBef>
            </a:pPr>
            <a:r>
              <a:rPr lang="en-US" sz="2400" dirty="0"/>
              <a:t>(To record sale of 800 shares of treasury stock below cost)</a:t>
            </a:r>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7658876" y="3301961"/>
            <a:ext cx="1071059" cy="365125"/>
          </a:xfrm>
        </p:spPr>
        <p:txBody>
          <a:bodyPr/>
          <a:lstStyle/>
          <a:p>
            <a:r>
              <a:rPr lang="en-US" sz="2400" dirty="0">
                <a:solidFill>
                  <a:srgbClr val="000000"/>
                </a:solidFill>
              </a:rPr>
              <a:t>6,400</a:t>
            </a:r>
            <a:endParaRPr lang="en-US" sz="2400" dirty="0"/>
          </a:p>
        </p:txBody>
      </p:sp>
      <p:pic>
        <p:nvPicPr>
          <p:cNvPr id="4" name="Content Placeholder 3" descr="An illustration displays 2 T-accounts titled: treasury stock and paid in capital from treasure stock. Treasury stock shows 32,000 on February 1 on the debit side and credit balances of 8,000 on July 1 and 6,400 on October 31. It has an ending balance of 17,600 on the debit side. D. Barnett capital shows a shows closing balance of 8,000 on December 31 on the debit side. Paid in capital from treasure stock shows 800 on October 1 on the debit side and credit balances of 2,000 on July 1. It has an ending balance of 1,200 on the credit side.">
            <a:extLst>
              <a:ext uri="{FF2B5EF4-FFF2-40B4-BE49-F238E27FC236}">
                <a16:creationId xmlns:a16="http://schemas.microsoft.com/office/drawing/2014/main" id="{5169F5DB-C229-48BF-A378-C6B4FCBB7260}"/>
              </a:ext>
            </a:extLst>
          </p:cNvPr>
          <p:cNvPicPr>
            <a:picLocks noGrp="1" noChangeAspect="1"/>
          </p:cNvPicPr>
          <p:nvPr>
            <p:ph sz="quarter" idx="26"/>
          </p:nvPr>
        </p:nvPicPr>
        <p:blipFill>
          <a:blip r:embed="rId2"/>
          <a:stretch>
            <a:fillRect/>
          </a:stretch>
        </p:blipFill>
        <p:spPr>
          <a:xfrm>
            <a:off x="810176" y="4700239"/>
            <a:ext cx="7248647" cy="1349929"/>
          </a:xfrm>
          <a:prstGeom prst="rect">
            <a:avLst/>
          </a:prstGeom>
          <a:ln w="12700">
            <a:solidFill>
              <a:srgbClr val="000010"/>
            </a:solidFill>
          </a:ln>
        </p:spPr>
      </p:pic>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40</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3171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10" grpId="0" uiExpand="1" build="p"/>
      <p:bldP spid="1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762001"/>
            <a:ext cx="8534400" cy="717549"/>
          </a:xfrm>
        </p:spPr>
        <p:txBody>
          <a:bodyPr/>
          <a:lstStyle/>
          <a:p>
            <a:r>
              <a:rPr lang="en-US" b="1" dirty="0">
                <a:latin typeface="Calibri" panose="020F0502020204030204" pitchFamily="34" charset="0"/>
                <a:ea typeface="Source Sans Pro" charset="0"/>
                <a:cs typeface="Calibri" panose="020F0502020204030204" pitchFamily="34" charset="0"/>
              </a:rPr>
              <a:t>Sale of Treasury Stock Below Cost </a:t>
            </a:r>
            <a:r>
              <a:rPr lang="en-US" sz="2400" dirty="0">
                <a:latin typeface="Calibri" panose="020F0502020204030204" pitchFamily="34" charset="0"/>
                <a:ea typeface="Source Sans Pro" charset="0"/>
                <a:cs typeface="Calibri" panose="020F0502020204030204" pitchFamily="34" charset="0"/>
              </a:rPr>
              <a:t>(2 of 2)</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571625"/>
            <a:ext cx="8534400" cy="790575"/>
          </a:xfrm>
        </p:spPr>
        <p:txBody>
          <a:bodyPr/>
          <a:lstStyle/>
          <a:p>
            <a:r>
              <a:rPr lang="en-US" altLang="en-US" sz="2400" dirty="0"/>
              <a:t>On December 1, assume that Mead, Inc. sells its remaining 2,200 shares at $7 per share and makes the following entry.</a:t>
            </a:r>
            <a:endParaRPr lang="en-US" sz="2400" dirty="0"/>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551432" y="2514600"/>
            <a:ext cx="2466424" cy="365125"/>
          </a:xfrm>
        </p:spPr>
        <p:txBody>
          <a:bodyPr/>
          <a:lstStyle/>
          <a:p>
            <a:r>
              <a:rPr lang="en-US" sz="2400" dirty="0">
                <a:solidFill>
                  <a:srgbClr val="000000"/>
                </a:solidFill>
              </a:rPr>
              <a:t>Cash (2,200 × $7)</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385094" y="2514600"/>
            <a:ext cx="1263118" cy="365125"/>
          </a:xfrm>
        </p:spPr>
        <p:txBody>
          <a:bodyPr/>
          <a:lstStyle/>
          <a:p>
            <a:r>
              <a:rPr lang="en-US" sz="2400" dirty="0">
                <a:solidFill>
                  <a:srgbClr val="000000"/>
                </a:solidFill>
              </a:rPr>
              <a:t>15,400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551432" y="2915696"/>
            <a:ext cx="4667250" cy="365125"/>
          </a:xfrm>
        </p:spPr>
        <p:txBody>
          <a:bodyPr/>
          <a:lstStyle/>
          <a:p>
            <a:r>
              <a:rPr lang="en-US" sz="2400" dirty="0">
                <a:solidFill>
                  <a:srgbClr val="000000"/>
                </a:solidFill>
              </a:rPr>
              <a:t>Paid-in Capital from Treasury Stock</a:t>
            </a:r>
            <a:endParaRPr lang="en-US" sz="2400" dirty="0"/>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5532456" y="2895600"/>
            <a:ext cx="914400" cy="365125"/>
          </a:xfrm>
        </p:spPr>
        <p:txBody>
          <a:bodyPr/>
          <a:lstStyle/>
          <a:p>
            <a:r>
              <a:rPr lang="en-US" sz="2400" dirty="0">
                <a:solidFill>
                  <a:srgbClr val="000000"/>
                </a:solidFill>
              </a:rPr>
              <a:t>1,200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6675456" y="2590800"/>
            <a:ext cx="1600200" cy="914400"/>
          </a:xfrm>
        </p:spPr>
        <p:txBody>
          <a:bodyPr/>
          <a:lstStyle/>
          <a:p>
            <a:pPr algn="ctr">
              <a:spcBef>
                <a:spcPct val="50000"/>
              </a:spcBef>
            </a:pPr>
            <a:r>
              <a:rPr lang="en-US" altLang="en-US" sz="2000" b="1" dirty="0">
                <a:solidFill>
                  <a:schemeClr val="accent2"/>
                </a:solidFill>
              </a:rPr>
              <a:t>Limited to balance on hand</a:t>
            </a:r>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533400" y="3276600"/>
            <a:ext cx="2999824" cy="365125"/>
          </a:xfrm>
        </p:spPr>
        <p:txBody>
          <a:bodyPr/>
          <a:lstStyle/>
          <a:p>
            <a:r>
              <a:rPr lang="en-US" sz="2400" dirty="0">
                <a:solidFill>
                  <a:srgbClr val="000000"/>
                </a:solidFill>
              </a:rPr>
              <a:t>Retained Earnings</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5532456" y="3276600"/>
            <a:ext cx="914400" cy="352425"/>
          </a:xfrm>
        </p:spPr>
        <p:txBody>
          <a:bodyPr/>
          <a:lstStyle/>
          <a:p>
            <a:r>
              <a:rPr lang="en-US" sz="2400" dirty="0">
                <a:solidFill>
                  <a:srgbClr val="000000"/>
                </a:solidFill>
              </a:rPr>
              <a:t>1,000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808056" y="3659206"/>
            <a:ext cx="3733800" cy="1728246"/>
          </a:xfrm>
        </p:spPr>
        <p:txBody>
          <a:bodyPr/>
          <a:lstStyle/>
          <a:p>
            <a:r>
              <a:rPr lang="en-US" sz="2400" dirty="0">
                <a:solidFill>
                  <a:srgbClr val="000000"/>
                </a:solidFill>
              </a:rPr>
              <a:t>Treasury Stock (2,200 × $8)</a:t>
            </a:r>
          </a:p>
          <a:p>
            <a:pPr marL="361950">
              <a:spcBef>
                <a:spcPts val="0"/>
              </a:spcBef>
            </a:pPr>
            <a:r>
              <a:rPr lang="en-US" sz="2400" dirty="0"/>
              <a:t>(To record sale of 2,200 shares of treasury stock at $7 per share)</a:t>
            </a:r>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6751654" y="3627456"/>
            <a:ext cx="1219201" cy="365125"/>
          </a:xfrm>
        </p:spPr>
        <p:txBody>
          <a:bodyPr/>
          <a:lstStyle/>
          <a:p>
            <a:r>
              <a:rPr lang="en-US" sz="2400" dirty="0">
                <a:solidFill>
                  <a:srgbClr val="000000"/>
                </a:solidFill>
              </a:rPr>
              <a:t>17,600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41</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6319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P spid="9" grpId="0" build="p"/>
      <p:bldP spid="10" grpId="0" build="p"/>
      <p:bldP spid="11" grpId="0" build="p"/>
      <p:bldP spid="12" grpId="0" uiExpand="1" build="p"/>
      <p:bldP spid="1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B30F-1A78-433A-BAA0-FF2C10A3D437}"/>
              </a:ext>
            </a:extLst>
          </p:cNvPr>
          <p:cNvSpPr>
            <a:spLocks noGrp="1"/>
          </p:cNvSpPr>
          <p:nvPr>
            <p:ph type="title"/>
          </p:nvPr>
        </p:nvSpPr>
        <p:spPr>
          <a:xfrm>
            <a:off x="304800" y="609600"/>
            <a:ext cx="8534400" cy="598021"/>
          </a:xfrm>
        </p:spPr>
        <p:txBody>
          <a:bodyPr>
            <a:normAutofit fontScale="90000"/>
          </a:bodyPr>
          <a:lstStyle/>
          <a:p>
            <a:r>
              <a:rPr lang="en-US" b="1" dirty="0">
                <a:ea typeface="Source Sans Pro" charset="0"/>
              </a:rPr>
              <a:t>Do It! 2b: </a:t>
            </a:r>
            <a:r>
              <a:rPr lang="en-US" b="1" dirty="0">
                <a:solidFill>
                  <a:srgbClr val="196E78"/>
                </a:solidFill>
                <a:ea typeface="Source Sans Pro" charset="0"/>
              </a:rPr>
              <a:t>Treasury Stock</a:t>
            </a:r>
            <a:endParaRPr lang="en-US" sz="2400" dirty="0"/>
          </a:p>
        </p:txBody>
      </p:sp>
      <p:sp>
        <p:nvSpPr>
          <p:cNvPr id="3" name="Content Placeholder 2">
            <a:extLst>
              <a:ext uri="{FF2B5EF4-FFF2-40B4-BE49-F238E27FC236}">
                <a16:creationId xmlns:a16="http://schemas.microsoft.com/office/drawing/2014/main" id="{92F87F86-306D-4BC9-84CC-42CD82DF412A}"/>
              </a:ext>
            </a:extLst>
          </p:cNvPr>
          <p:cNvSpPr>
            <a:spLocks noGrp="1"/>
          </p:cNvSpPr>
          <p:nvPr>
            <p:ph sz="quarter" idx="16"/>
          </p:nvPr>
        </p:nvSpPr>
        <p:spPr>
          <a:xfrm>
            <a:off x="304800" y="1271120"/>
            <a:ext cx="8534400" cy="1689101"/>
          </a:xfrm>
        </p:spPr>
        <p:txBody>
          <a:bodyPr/>
          <a:lstStyle/>
          <a:p>
            <a:r>
              <a:rPr lang="en-US" sz="2400" dirty="0"/>
              <a:t>Santa Anita Inc. purchases 3,000 shares of its $50 par value common stock for $180,000 cash on July 1. It will hold the shares in the treasury until resold. On November 1, the corporation sells 1,000 shares of treasury stock for cash at $70 per share. Journalize the treasury stock transactions.</a:t>
            </a:r>
          </a:p>
        </p:txBody>
      </p:sp>
      <p:sp>
        <p:nvSpPr>
          <p:cNvPr id="4" name="Content Placeholder 3">
            <a:extLst>
              <a:ext uri="{FF2B5EF4-FFF2-40B4-BE49-F238E27FC236}">
                <a16:creationId xmlns:a16="http://schemas.microsoft.com/office/drawing/2014/main" id="{49FC3CF8-911A-4FC3-87C9-D5E9CC120DA8}"/>
              </a:ext>
            </a:extLst>
          </p:cNvPr>
          <p:cNvSpPr>
            <a:spLocks noGrp="1"/>
          </p:cNvSpPr>
          <p:nvPr>
            <p:ph sz="quarter" idx="17"/>
          </p:nvPr>
        </p:nvSpPr>
        <p:spPr>
          <a:xfrm>
            <a:off x="304800" y="3063875"/>
            <a:ext cx="1143000" cy="365125"/>
          </a:xfrm>
        </p:spPr>
        <p:txBody>
          <a:bodyPr/>
          <a:lstStyle/>
          <a:p>
            <a:r>
              <a:rPr lang="en-US" sz="2400" dirty="0"/>
              <a:t>July 1</a:t>
            </a:r>
          </a:p>
        </p:txBody>
      </p:sp>
      <p:sp>
        <p:nvSpPr>
          <p:cNvPr id="5" name="Content Placeholder 4">
            <a:extLst>
              <a:ext uri="{FF2B5EF4-FFF2-40B4-BE49-F238E27FC236}">
                <a16:creationId xmlns:a16="http://schemas.microsoft.com/office/drawing/2014/main" id="{395EA216-5CD6-40C1-AD85-1D6797CE0830}"/>
              </a:ext>
            </a:extLst>
          </p:cNvPr>
          <p:cNvSpPr>
            <a:spLocks noGrp="1"/>
          </p:cNvSpPr>
          <p:nvPr>
            <p:ph sz="quarter" idx="18"/>
          </p:nvPr>
        </p:nvSpPr>
        <p:spPr>
          <a:xfrm>
            <a:off x="1295400" y="3066662"/>
            <a:ext cx="2204763" cy="365125"/>
          </a:xfrm>
        </p:spPr>
        <p:txBody>
          <a:bodyPr/>
          <a:lstStyle/>
          <a:p>
            <a:r>
              <a:rPr lang="en-US" sz="2400" dirty="0">
                <a:solidFill>
                  <a:srgbClr val="000000"/>
                </a:solidFill>
              </a:rPr>
              <a:t>Treasury Stock</a:t>
            </a:r>
            <a:endParaRPr lang="en-US" sz="2400" dirty="0"/>
          </a:p>
        </p:txBody>
      </p:sp>
      <p:sp>
        <p:nvSpPr>
          <p:cNvPr id="6" name="Content Placeholder 5">
            <a:extLst>
              <a:ext uri="{FF2B5EF4-FFF2-40B4-BE49-F238E27FC236}">
                <a16:creationId xmlns:a16="http://schemas.microsoft.com/office/drawing/2014/main" id="{74677936-E1F4-4393-B394-610192906DDA}"/>
              </a:ext>
            </a:extLst>
          </p:cNvPr>
          <p:cNvSpPr>
            <a:spLocks noGrp="1"/>
          </p:cNvSpPr>
          <p:nvPr>
            <p:ph sz="quarter" idx="19"/>
          </p:nvPr>
        </p:nvSpPr>
        <p:spPr>
          <a:xfrm>
            <a:off x="5948638" y="3048000"/>
            <a:ext cx="1263118" cy="365125"/>
          </a:xfrm>
        </p:spPr>
        <p:txBody>
          <a:bodyPr/>
          <a:lstStyle/>
          <a:p>
            <a:r>
              <a:rPr lang="en-US" sz="2400" dirty="0">
                <a:solidFill>
                  <a:srgbClr val="000000"/>
                </a:solidFill>
              </a:rPr>
              <a:t>180,000</a:t>
            </a:r>
            <a:endParaRPr lang="en-US" sz="2400" dirty="0"/>
          </a:p>
        </p:txBody>
      </p:sp>
      <p:sp>
        <p:nvSpPr>
          <p:cNvPr id="7" name="Content Placeholder 6">
            <a:extLst>
              <a:ext uri="{FF2B5EF4-FFF2-40B4-BE49-F238E27FC236}">
                <a16:creationId xmlns:a16="http://schemas.microsoft.com/office/drawing/2014/main" id="{28E41115-8F69-4A15-B994-CF108346BC18}"/>
              </a:ext>
            </a:extLst>
          </p:cNvPr>
          <p:cNvSpPr>
            <a:spLocks noGrp="1"/>
          </p:cNvSpPr>
          <p:nvPr>
            <p:ph sz="quarter" idx="21"/>
          </p:nvPr>
        </p:nvSpPr>
        <p:spPr>
          <a:xfrm>
            <a:off x="1524000" y="3418989"/>
            <a:ext cx="4267200" cy="984736"/>
          </a:xfrm>
        </p:spPr>
        <p:txBody>
          <a:bodyPr/>
          <a:lstStyle/>
          <a:p>
            <a:r>
              <a:rPr lang="en-US" sz="2400" dirty="0">
                <a:solidFill>
                  <a:srgbClr val="000000"/>
                </a:solidFill>
              </a:rPr>
              <a:t>Cash</a:t>
            </a:r>
          </a:p>
          <a:p>
            <a:pPr marL="271463">
              <a:spcBef>
                <a:spcPts val="0"/>
              </a:spcBef>
            </a:pPr>
            <a:r>
              <a:rPr lang="en-US" sz="2400" dirty="0"/>
              <a:t>(To record the purchase of 3,000 shares at $60 per share)</a:t>
            </a:r>
          </a:p>
        </p:txBody>
      </p:sp>
      <p:sp>
        <p:nvSpPr>
          <p:cNvPr id="8" name="Content Placeholder 7">
            <a:extLst>
              <a:ext uri="{FF2B5EF4-FFF2-40B4-BE49-F238E27FC236}">
                <a16:creationId xmlns:a16="http://schemas.microsoft.com/office/drawing/2014/main" id="{4E4CC3F7-162F-4B2A-9872-E35A90C7AD4B}"/>
              </a:ext>
            </a:extLst>
          </p:cNvPr>
          <p:cNvSpPr>
            <a:spLocks noGrp="1"/>
          </p:cNvSpPr>
          <p:nvPr>
            <p:ph sz="quarter" idx="22"/>
          </p:nvPr>
        </p:nvSpPr>
        <p:spPr>
          <a:xfrm>
            <a:off x="7467600" y="3418989"/>
            <a:ext cx="1219200" cy="365125"/>
          </a:xfrm>
        </p:spPr>
        <p:txBody>
          <a:bodyPr/>
          <a:lstStyle/>
          <a:p>
            <a:r>
              <a:rPr lang="en-US" sz="2400" dirty="0">
                <a:solidFill>
                  <a:srgbClr val="000000"/>
                </a:solidFill>
              </a:rPr>
              <a:t>180,000</a:t>
            </a:r>
            <a:endParaRPr lang="en-US" sz="2400" dirty="0"/>
          </a:p>
        </p:txBody>
      </p:sp>
      <p:sp>
        <p:nvSpPr>
          <p:cNvPr id="9" name="Content Placeholder 8">
            <a:extLst>
              <a:ext uri="{FF2B5EF4-FFF2-40B4-BE49-F238E27FC236}">
                <a16:creationId xmlns:a16="http://schemas.microsoft.com/office/drawing/2014/main" id="{92E8B3CF-C62D-4A88-A2F4-310AF6EB76E7}"/>
              </a:ext>
            </a:extLst>
          </p:cNvPr>
          <p:cNvSpPr>
            <a:spLocks noGrp="1"/>
          </p:cNvSpPr>
          <p:nvPr>
            <p:ph sz="quarter" idx="23"/>
          </p:nvPr>
        </p:nvSpPr>
        <p:spPr>
          <a:xfrm>
            <a:off x="304800" y="4572000"/>
            <a:ext cx="990600" cy="365125"/>
          </a:xfrm>
        </p:spPr>
        <p:txBody>
          <a:bodyPr/>
          <a:lstStyle/>
          <a:p>
            <a:r>
              <a:rPr lang="en-US" sz="2400" dirty="0">
                <a:solidFill>
                  <a:srgbClr val="000000"/>
                </a:solidFill>
              </a:rPr>
              <a:t>Nov. 1</a:t>
            </a:r>
            <a:endParaRPr lang="en-US" sz="2400" dirty="0"/>
          </a:p>
        </p:txBody>
      </p:sp>
      <p:sp>
        <p:nvSpPr>
          <p:cNvPr id="10" name="Content Placeholder 9">
            <a:extLst>
              <a:ext uri="{FF2B5EF4-FFF2-40B4-BE49-F238E27FC236}">
                <a16:creationId xmlns:a16="http://schemas.microsoft.com/office/drawing/2014/main" id="{1A052864-6FA3-4917-BB12-016B22E1CDC9}"/>
              </a:ext>
            </a:extLst>
          </p:cNvPr>
          <p:cNvSpPr>
            <a:spLocks noGrp="1"/>
          </p:cNvSpPr>
          <p:nvPr>
            <p:ph sz="quarter" idx="24"/>
          </p:nvPr>
        </p:nvSpPr>
        <p:spPr>
          <a:xfrm>
            <a:off x="1295400" y="4572000"/>
            <a:ext cx="2514600" cy="365125"/>
          </a:xfrm>
        </p:spPr>
        <p:txBody>
          <a:bodyPr/>
          <a:lstStyle/>
          <a:p>
            <a:r>
              <a:rPr lang="en-US" sz="2400" dirty="0">
                <a:solidFill>
                  <a:srgbClr val="000000"/>
                </a:solidFill>
              </a:rPr>
              <a:t>Cash</a:t>
            </a:r>
            <a:endParaRPr lang="en-US" sz="2400" dirty="0"/>
          </a:p>
        </p:txBody>
      </p:sp>
      <p:sp>
        <p:nvSpPr>
          <p:cNvPr id="11" name="Content Placeholder 10">
            <a:extLst>
              <a:ext uri="{FF2B5EF4-FFF2-40B4-BE49-F238E27FC236}">
                <a16:creationId xmlns:a16="http://schemas.microsoft.com/office/drawing/2014/main" id="{EEAC5FE1-9157-4D87-BE3D-B5B07B8C138E}"/>
              </a:ext>
            </a:extLst>
          </p:cNvPr>
          <p:cNvSpPr>
            <a:spLocks noGrp="1"/>
          </p:cNvSpPr>
          <p:nvPr>
            <p:ph sz="quarter" idx="25"/>
          </p:nvPr>
        </p:nvSpPr>
        <p:spPr>
          <a:xfrm>
            <a:off x="6047044" y="4572000"/>
            <a:ext cx="1115756" cy="352425"/>
          </a:xfrm>
        </p:spPr>
        <p:txBody>
          <a:bodyPr/>
          <a:lstStyle/>
          <a:p>
            <a:r>
              <a:rPr lang="en-US" sz="2400" dirty="0">
                <a:solidFill>
                  <a:srgbClr val="000000"/>
                </a:solidFill>
              </a:rPr>
              <a:t>70,000</a:t>
            </a:r>
            <a:endParaRPr lang="en-US" sz="2400" dirty="0"/>
          </a:p>
        </p:txBody>
      </p:sp>
      <p:sp>
        <p:nvSpPr>
          <p:cNvPr id="12" name="Content Placeholder 11">
            <a:extLst>
              <a:ext uri="{FF2B5EF4-FFF2-40B4-BE49-F238E27FC236}">
                <a16:creationId xmlns:a16="http://schemas.microsoft.com/office/drawing/2014/main" id="{72B2DC4E-503F-4A9D-8735-758DFF6117B4}"/>
              </a:ext>
            </a:extLst>
          </p:cNvPr>
          <p:cNvSpPr>
            <a:spLocks noGrp="1"/>
          </p:cNvSpPr>
          <p:nvPr>
            <p:ph sz="quarter" idx="26"/>
          </p:nvPr>
        </p:nvSpPr>
        <p:spPr>
          <a:xfrm>
            <a:off x="1524000" y="4908550"/>
            <a:ext cx="3429000" cy="365125"/>
          </a:xfrm>
        </p:spPr>
        <p:txBody>
          <a:bodyPr/>
          <a:lstStyle/>
          <a:p>
            <a:r>
              <a:rPr lang="en-US" sz="2400" dirty="0">
                <a:solidFill>
                  <a:srgbClr val="000000"/>
                </a:solidFill>
              </a:rPr>
              <a:t>Treasury Stock</a:t>
            </a:r>
            <a:endParaRPr lang="en-US" sz="2400" dirty="0"/>
          </a:p>
        </p:txBody>
      </p:sp>
      <p:sp>
        <p:nvSpPr>
          <p:cNvPr id="13" name="Content Placeholder 12">
            <a:extLst>
              <a:ext uri="{FF2B5EF4-FFF2-40B4-BE49-F238E27FC236}">
                <a16:creationId xmlns:a16="http://schemas.microsoft.com/office/drawing/2014/main" id="{F5EA98BB-E1C7-44FC-8C3D-EC2266A9D34F}"/>
              </a:ext>
            </a:extLst>
          </p:cNvPr>
          <p:cNvSpPr>
            <a:spLocks noGrp="1"/>
          </p:cNvSpPr>
          <p:nvPr>
            <p:ph sz="quarter" idx="27"/>
          </p:nvPr>
        </p:nvSpPr>
        <p:spPr>
          <a:xfrm>
            <a:off x="7543800" y="4876800"/>
            <a:ext cx="1066799" cy="365125"/>
          </a:xfrm>
        </p:spPr>
        <p:txBody>
          <a:bodyPr/>
          <a:lstStyle/>
          <a:p>
            <a:r>
              <a:rPr lang="en-US" sz="2400" dirty="0">
                <a:solidFill>
                  <a:srgbClr val="000000"/>
                </a:solidFill>
              </a:rPr>
              <a:t>60,000</a:t>
            </a:r>
            <a:endParaRPr lang="en-US" sz="2400" dirty="0"/>
          </a:p>
        </p:txBody>
      </p:sp>
      <p:sp>
        <p:nvSpPr>
          <p:cNvPr id="15" name="Content Placeholder 14">
            <a:extLst>
              <a:ext uri="{FF2B5EF4-FFF2-40B4-BE49-F238E27FC236}">
                <a16:creationId xmlns:a16="http://schemas.microsoft.com/office/drawing/2014/main" id="{550394B9-59DA-4E09-8527-63F29CB14003}"/>
              </a:ext>
            </a:extLst>
          </p:cNvPr>
          <p:cNvSpPr>
            <a:spLocks noGrp="1"/>
          </p:cNvSpPr>
          <p:nvPr>
            <p:ph sz="quarter" idx="29"/>
          </p:nvPr>
        </p:nvSpPr>
        <p:spPr>
          <a:xfrm>
            <a:off x="1524000" y="5289550"/>
            <a:ext cx="4591050" cy="958850"/>
          </a:xfrm>
        </p:spPr>
        <p:txBody>
          <a:bodyPr/>
          <a:lstStyle/>
          <a:p>
            <a:r>
              <a:rPr lang="en-US" sz="2400" dirty="0">
                <a:solidFill>
                  <a:srgbClr val="000000"/>
                </a:solidFill>
              </a:rPr>
              <a:t>Paid-in Capital from Treasury Stock</a:t>
            </a:r>
          </a:p>
          <a:p>
            <a:pPr marL="271463">
              <a:spcBef>
                <a:spcPts val="0"/>
              </a:spcBef>
            </a:pPr>
            <a:r>
              <a:rPr lang="en-US" sz="2400" dirty="0"/>
              <a:t>(To record the sale of 1,000 shares at $70 per share)</a:t>
            </a:r>
          </a:p>
        </p:txBody>
      </p:sp>
      <p:sp>
        <p:nvSpPr>
          <p:cNvPr id="18" name="Content Placeholder 17">
            <a:extLst>
              <a:ext uri="{FF2B5EF4-FFF2-40B4-BE49-F238E27FC236}">
                <a16:creationId xmlns:a16="http://schemas.microsoft.com/office/drawing/2014/main" id="{9E274146-EA48-415E-85EF-AA1ED7BBFBF8}"/>
              </a:ext>
            </a:extLst>
          </p:cNvPr>
          <p:cNvSpPr>
            <a:spLocks noGrp="1"/>
          </p:cNvSpPr>
          <p:nvPr>
            <p:ph sz="quarter" idx="30"/>
          </p:nvPr>
        </p:nvSpPr>
        <p:spPr>
          <a:xfrm>
            <a:off x="7543800" y="5305424"/>
            <a:ext cx="1295400" cy="365126"/>
          </a:xfrm>
        </p:spPr>
        <p:txBody>
          <a:bodyPr/>
          <a:lstStyle/>
          <a:p>
            <a:r>
              <a:rPr lang="en-US" altLang="en-US" sz="2400" dirty="0">
                <a:solidFill>
                  <a:srgbClr val="000000"/>
                </a:solidFill>
              </a:rPr>
              <a:t>10,000</a:t>
            </a:r>
            <a:endParaRPr lang="en-US" sz="2400" dirty="0"/>
          </a:p>
        </p:txBody>
      </p:sp>
      <p:sp>
        <p:nvSpPr>
          <p:cNvPr id="23" name="Slide Number Placeholder 22">
            <a:extLst>
              <a:ext uri="{FF2B5EF4-FFF2-40B4-BE49-F238E27FC236}">
                <a16:creationId xmlns:a16="http://schemas.microsoft.com/office/drawing/2014/main" id="{C3ADB033-D6E5-42A2-AA75-5772CD252CDF}"/>
              </a:ext>
            </a:extLst>
          </p:cNvPr>
          <p:cNvSpPr>
            <a:spLocks noGrp="1"/>
          </p:cNvSpPr>
          <p:nvPr>
            <p:ph type="sldNum" sz="quarter" idx="10"/>
          </p:nvPr>
        </p:nvSpPr>
        <p:spPr/>
        <p:txBody>
          <a:bodyPr/>
          <a:lstStyle/>
          <a:p>
            <a:fld id="{67B19427-F580-D146-B60E-4CADEE75497F}" type="slidenum">
              <a:rPr lang="en-US" smtClean="0"/>
              <a:pPr/>
              <a:t>42</a:t>
            </a:fld>
            <a:endParaRPr lang="en-US" dirty="0"/>
          </a:p>
        </p:txBody>
      </p:sp>
      <p:sp>
        <p:nvSpPr>
          <p:cNvPr id="24" name="Footer Placeholder 23">
            <a:extLst>
              <a:ext uri="{FF2B5EF4-FFF2-40B4-BE49-F238E27FC236}">
                <a16:creationId xmlns:a16="http://schemas.microsoft.com/office/drawing/2014/main" id="{F0618A2A-3150-4FE5-BE3A-BE7ACB108CB4}"/>
              </a:ext>
            </a:extLst>
          </p:cNvPr>
          <p:cNvSpPr>
            <a:spLocks noGrp="1"/>
          </p:cNvSpPr>
          <p:nvPr>
            <p:ph type="ftr" sz="quarter" idx="11"/>
          </p:nvPr>
        </p:nvSpPr>
        <p:spPr>
          <a:xfrm>
            <a:off x="3028950" y="6356350"/>
            <a:ext cx="3086100" cy="365125"/>
          </a:xfrm>
        </p:spPr>
        <p:txBody>
          <a:bodyPr/>
          <a:lstStyle/>
          <a:p>
            <a:r>
              <a:rPr lang="en-US" dirty="0"/>
              <a:t>Copyright ©2018 John Wiley &amp; Sons, Inc. </a:t>
            </a:r>
          </a:p>
        </p:txBody>
      </p:sp>
    </p:spTree>
    <p:extLst>
      <p:ext uri="{BB962C8B-B14F-4D97-AF65-F5344CB8AC3E}">
        <p14:creationId xmlns:p14="http://schemas.microsoft.com/office/powerpoint/2010/main" val="16627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P spid="9" grpId="0" build="p"/>
      <p:bldP spid="10" grpId="0" build="p"/>
      <p:bldP spid="11" grpId="0" build="p"/>
      <p:bldP spid="12" grpId="0" build="p"/>
      <p:bldP spid="13" grpId="0" build="p"/>
      <p:bldP spid="15" grpId="0" uiExpand="1" build="p"/>
      <p:bldP spid="18"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ADAB-E515-46B2-AEDA-D9E90DDCD51B}"/>
              </a:ext>
            </a:extLst>
          </p:cNvPr>
          <p:cNvSpPr>
            <a:spLocks noGrp="1"/>
          </p:cNvSpPr>
          <p:nvPr>
            <p:ph type="title"/>
          </p:nvPr>
        </p:nvSpPr>
        <p:spPr>
          <a:xfrm>
            <a:off x="304800" y="2324853"/>
            <a:ext cx="8534400" cy="1323439"/>
          </a:xfrm>
        </p:spPr>
        <p:txBody>
          <a:bodyPr>
            <a:spAutoFit/>
          </a:bodyPr>
          <a:lstStyle/>
          <a:p>
            <a:pPr>
              <a:lnSpc>
                <a:spcPct val="100000"/>
              </a:lnSpc>
              <a:spcBef>
                <a:spcPts val="1200"/>
              </a:spcBef>
            </a:pPr>
            <a:r>
              <a:rPr lang="en-US" b="1" noProof="0" dirty="0">
                <a:solidFill>
                  <a:schemeClr val="accent1"/>
                </a:solidFill>
              </a:rPr>
              <a:t>Explain the Accounting and Reporting Issues Related to Dividends</a:t>
            </a:r>
          </a:p>
        </p:txBody>
      </p:sp>
      <p:sp>
        <p:nvSpPr>
          <p:cNvPr id="4" name="Slide Number Placeholder 3">
            <a:extLst>
              <a:ext uri="{FF2B5EF4-FFF2-40B4-BE49-F238E27FC236}">
                <a16:creationId xmlns:a16="http://schemas.microsoft.com/office/drawing/2014/main" id="{9C1880FF-E55D-4E83-8FDB-DB7293C7F2A0}"/>
              </a:ext>
            </a:extLst>
          </p:cNvPr>
          <p:cNvSpPr>
            <a:spLocks noGrp="1"/>
          </p:cNvSpPr>
          <p:nvPr>
            <p:ph type="sldNum" sz="quarter" idx="12"/>
          </p:nvPr>
        </p:nvSpPr>
        <p:spPr/>
        <p:txBody>
          <a:bodyPr/>
          <a:lstStyle/>
          <a:p>
            <a:fld id="{957104EA-F2AF-1046-9253-EE8D978719B5}" type="slidenum">
              <a:rPr lang="en-US" smtClean="0">
                <a:solidFill>
                  <a:srgbClr val="000000"/>
                </a:solidFill>
              </a:rPr>
              <a:pPr/>
              <a:t>43</a:t>
            </a:fld>
            <a:endParaRPr lang="en-US" dirty="0">
              <a:solidFill>
                <a:srgbClr val="000000"/>
              </a:solidFill>
            </a:endParaRPr>
          </a:p>
        </p:txBody>
      </p:sp>
      <p:sp>
        <p:nvSpPr>
          <p:cNvPr id="5" name="Footer Placeholder 4">
            <a:extLst>
              <a:ext uri="{FF2B5EF4-FFF2-40B4-BE49-F238E27FC236}">
                <a16:creationId xmlns:a16="http://schemas.microsoft.com/office/drawing/2014/main" id="{E3216D2A-DB9F-48E3-BC0B-C3F4A9FBB44B}"/>
              </a:ext>
            </a:extLst>
          </p:cNvPr>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678458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646331"/>
          </a:xfrm>
        </p:spPr>
        <p:txBody>
          <a:bodyPr>
            <a:spAutoFit/>
          </a:bodyPr>
          <a:lstStyle/>
          <a:p>
            <a:r>
              <a:rPr lang="en-US" noProof="0" dirty="0"/>
              <a:t>Dividend Policy</a:t>
            </a:r>
            <a:endParaRPr lang="en-US" sz="32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531625"/>
            <a:ext cx="8534400" cy="4343400"/>
          </a:xfrm>
        </p:spPr>
        <p:txBody>
          <a:bodyPr>
            <a:normAutofit/>
          </a:bodyPr>
          <a:lstStyle/>
          <a:p>
            <a:pPr>
              <a:lnSpc>
                <a:spcPct val="100000"/>
              </a:lnSpc>
              <a:spcBef>
                <a:spcPts val="1200"/>
              </a:spcBef>
            </a:pPr>
            <a:r>
              <a:rPr lang="en-US" b="1" noProof="0" dirty="0"/>
              <a:t>Few companies pay dividends in amounts equal to their legally available retained earnings. Why?</a:t>
            </a:r>
          </a:p>
          <a:p>
            <a:pPr marL="403200" indent="-403200">
              <a:lnSpc>
                <a:spcPct val="100000"/>
              </a:lnSpc>
              <a:buClr>
                <a:schemeClr val="accent2"/>
              </a:buClr>
              <a:buFont typeface="+mj-lt"/>
              <a:buAutoNum type="arabicPeriod"/>
            </a:pPr>
            <a:r>
              <a:rPr lang="en-US" noProof="0" dirty="0"/>
              <a:t>Maintain agreements with creditors.</a:t>
            </a:r>
          </a:p>
          <a:p>
            <a:pPr marL="403200" indent="-403200">
              <a:lnSpc>
                <a:spcPct val="100000"/>
              </a:lnSpc>
              <a:buClr>
                <a:schemeClr val="accent2"/>
              </a:buClr>
              <a:buFont typeface="+mj-lt"/>
              <a:buAutoNum type="arabicPeriod"/>
            </a:pPr>
            <a:r>
              <a:rPr lang="en-US" noProof="0" dirty="0"/>
              <a:t>Meet state incorporation requirements.</a:t>
            </a:r>
          </a:p>
          <a:p>
            <a:pPr marL="403200" indent="-403200">
              <a:lnSpc>
                <a:spcPct val="100000"/>
              </a:lnSpc>
              <a:buClr>
                <a:schemeClr val="accent2"/>
              </a:buClr>
              <a:buFont typeface="+mj-lt"/>
              <a:buAutoNum type="arabicPeriod"/>
            </a:pPr>
            <a:r>
              <a:rPr lang="en-US" noProof="0" dirty="0"/>
              <a:t>To finance growth or expansion.</a:t>
            </a:r>
          </a:p>
          <a:p>
            <a:pPr marL="403200" indent="-403200">
              <a:lnSpc>
                <a:spcPct val="100000"/>
              </a:lnSpc>
              <a:buClr>
                <a:schemeClr val="accent2"/>
              </a:buClr>
              <a:buFont typeface="+mj-lt"/>
              <a:buAutoNum type="arabicPeriod"/>
            </a:pPr>
            <a:r>
              <a:rPr lang="en-US" noProof="0" dirty="0"/>
              <a:t>To smooth out dividend payments.</a:t>
            </a:r>
          </a:p>
          <a:p>
            <a:pPr marL="403200" indent="-403200">
              <a:lnSpc>
                <a:spcPct val="100000"/>
              </a:lnSpc>
              <a:buClr>
                <a:schemeClr val="accent2"/>
              </a:buClr>
              <a:buFont typeface="+mj-lt"/>
              <a:buAutoNum type="arabicPeriod"/>
            </a:pPr>
            <a:r>
              <a:rPr lang="en-US" noProof="0" dirty="0"/>
              <a:t>To build up a cushion against possible losses.</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44</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39462245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89529"/>
          </a:xfrm>
        </p:spPr>
        <p:txBody>
          <a:bodyPr>
            <a:spAutoFit/>
          </a:bodyPr>
          <a:lstStyle/>
          <a:p>
            <a:r>
              <a:rPr lang="en-US" noProof="0" dirty="0"/>
              <a:t>Dividend Policy </a:t>
            </a:r>
            <a:br>
              <a:rPr lang="en-US" noProof="0" dirty="0"/>
            </a:br>
            <a:r>
              <a:rPr lang="en-US" sz="3200" noProof="0" dirty="0">
                <a:solidFill>
                  <a:schemeClr val="accent2"/>
                </a:solidFill>
              </a:rPr>
              <a:t>Financial Condition and Dividend Distributions</a:t>
            </a:r>
            <a:endParaRPr lang="en-US" sz="32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752599"/>
            <a:ext cx="8534400" cy="2966616"/>
          </a:xfrm>
        </p:spPr>
        <p:txBody>
          <a:bodyPr>
            <a:normAutofit fontScale="92500"/>
          </a:bodyPr>
          <a:lstStyle/>
          <a:p>
            <a:pPr>
              <a:lnSpc>
                <a:spcPct val="100000"/>
              </a:lnSpc>
              <a:spcBef>
                <a:spcPts val="1200"/>
              </a:spcBef>
            </a:pPr>
            <a:r>
              <a:rPr lang="en-US" noProof="0" dirty="0"/>
              <a:t>A company should not pay a dividend unless both the present and future financial position warrant the distribution.</a:t>
            </a:r>
          </a:p>
          <a:p>
            <a:pPr>
              <a:lnSpc>
                <a:spcPct val="100000"/>
              </a:lnSpc>
              <a:spcBef>
                <a:spcPts val="1200"/>
              </a:spcBef>
            </a:pPr>
            <a:r>
              <a:rPr lang="en-US" noProof="0" dirty="0"/>
              <a:t>The S</a:t>
            </a:r>
            <a:r>
              <a:rPr lang="en-US" sz="100" noProof="0" dirty="0"/>
              <a:t>  </a:t>
            </a:r>
            <a:r>
              <a:rPr lang="en-US" noProof="0" dirty="0"/>
              <a:t>E</a:t>
            </a:r>
            <a:r>
              <a:rPr lang="en-US" sz="100" noProof="0" dirty="0"/>
              <a:t>  </a:t>
            </a:r>
            <a:r>
              <a:rPr lang="en-US" noProof="0" dirty="0"/>
              <a:t>C encourages companies to disclose their dividend policy in their annual report, especially those that</a:t>
            </a:r>
          </a:p>
          <a:p>
            <a:pPr marL="403200" indent="-402336">
              <a:lnSpc>
                <a:spcPct val="100000"/>
              </a:lnSpc>
              <a:buClr>
                <a:schemeClr val="accent2"/>
              </a:buClr>
              <a:buFont typeface="+mj-lt"/>
              <a:buAutoNum type="arabicPeriod"/>
            </a:pPr>
            <a:r>
              <a:rPr lang="en-US" noProof="0" dirty="0"/>
              <a:t>have earnings but fail to pay dividends, or</a:t>
            </a:r>
          </a:p>
          <a:p>
            <a:pPr marL="403200" indent="-402336">
              <a:lnSpc>
                <a:spcPct val="100000"/>
              </a:lnSpc>
              <a:buClr>
                <a:schemeClr val="accent2"/>
              </a:buClr>
              <a:buFont typeface="+mj-lt"/>
              <a:buAutoNum type="arabicPeriod"/>
            </a:pPr>
            <a:r>
              <a:rPr lang="en-US" noProof="0" dirty="0"/>
              <a:t>do not expect to pay dividends in the foreseeable future.</a:t>
            </a:r>
          </a:p>
        </p:txBody>
      </p:sp>
      <p:sp>
        <p:nvSpPr>
          <p:cNvPr id="10" name="Content Placeholder 9">
            <a:extLst>
              <a:ext uri="{FF2B5EF4-FFF2-40B4-BE49-F238E27FC236}">
                <a16:creationId xmlns:a16="http://schemas.microsoft.com/office/drawing/2014/main" id="{8CB73AB2-4FF4-4B16-9757-161516BD60D2}"/>
              </a:ext>
            </a:extLst>
          </p:cNvPr>
          <p:cNvSpPr>
            <a:spLocks noGrp="1"/>
          </p:cNvSpPr>
          <p:nvPr>
            <p:ph sz="quarter" idx="17"/>
          </p:nvPr>
        </p:nvSpPr>
        <p:spPr>
          <a:xfrm>
            <a:off x="304800" y="4871005"/>
            <a:ext cx="8534400" cy="1224994"/>
          </a:xfrm>
        </p:spPr>
        <p:txBody>
          <a:bodyPr>
            <a:noAutofit/>
          </a:bodyPr>
          <a:lstStyle/>
          <a:p>
            <a:r>
              <a:rPr lang="en-US" noProof="0" dirty="0">
                <a:latin typeface="Calibri" panose="020F0502020204030204" pitchFamily="34" charset="0"/>
                <a:cs typeface="Calibri" panose="020F0502020204030204" pitchFamily="34" charset="0"/>
              </a:rPr>
              <a:t>The S</a:t>
            </a:r>
            <a:r>
              <a:rPr lang="en-US" sz="100" noProof="0" dirty="0">
                <a:latin typeface="Calibri" panose="020F0502020204030204" pitchFamily="34" charset="0"/>
                <a:cs typeface="Calibri" panose="020F0502020204030204" pitchFamily="34" charset="0"/>
              </a:rPr>
              <a:t> </a:t>
            </a:r>
            <a:r>
              <a:rPr lang="en-US" noProof="0" dirty="0">
                <a:latin typeface="Calibri" panose="020F0502020204030204" pitchFamily="34" charset="0"/>
                <a:cs typeface="Calibri" panose="020F0502020204030204" pitchFamily="34" charset="0"/>
              </a:rPr>
              <a:t>E</a:t>
            </a:r>
            <a:r>
              <a:rPr lang="en-US" sz="100" noProof="0" dirty="0">
                <a:latin typeface="Calibri" panose="020F0502020204030204" pitchFamily="34" charset="0"/>
                <a:cs typeface="Calibri" panose="020F0502020204030204" pitchFamily="34" charset="0"/>
              </a:rPr>
              <a:t> </a:t>
            </a:r>
            <a:r>
              <a:rPr lang="en-US" noProof="0" dirty="0">
                <a:latin typeface="Calibri" panose="020F0502020204030204" pitchFamily="34" charset="0"/>
                <a:cs typeface="Calibri" panose="020F0502020204030204" pitchFamily="34" charset="0"/>
              </a:rPr>
              <a:t>C encourages companies that consistently pay dividends to indicate whether they intend to continue this practice in the future.</a:t>
            </a:r>
            <a:endParaRPr lang="en-US" noProof="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45</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21219491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0B25B-B52F-30CF-8EF9-F7F5483F88EE}"/>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Dividend Journal </a:t>
            </a:r>
          </a:p>
        </p:txBody>
      </p:sp>
      <p:graphicFrame>
        <p:nvGraphicFramePr>
          <p:cNvPr id="14" name="Content Placeholder 13">
            <a:extLst>
              <a:ext uri="{FF2B5EF4-FFF2-40B4-BE49-F238E27FC236}">
                <a16:creationId xmlns:a16="http://schemas.microsoft.com/office/drawing/2014/main" id="{C8D75742-4464-F6A2-6A47-D8DF47B34A21}"/>
              </a:ext>
            </a:extLst>
          </p:cNvPr>
          <p:cNvGraphicFramePr>
            <a:graphicFrameLocks noGrp="1"/>
          </p:cNvGraphicFramePr>
          <p:nvPr>
            <p:ph sz="quarter" idx="16"/>
            <p:extLst>
              <p:ext uri="{D42A27DB-BD31-4B8C-83A1-F6EECF244321}">
                <p14:modId xmlns:p14="http://schemas.microsoft.com/office/powerpoint/2010/main" val="2963614606"/>
              </p:ext>
            </p:extLst>
          </p:nvPr>
        </p:nvGraphicFramePr>
        <p:xfrm>
          <a:off x="685800" y="1715260"/>
          <a:ext cx="7238999" cy="3808476"/>
        </p:xfrm>
        <a:graphic>
          <a:graphicData uri="http://schemas.openxmlformats.org/drawingml/2006/table">
            <a:tbl>
              <a:tblPr firstRow="1" firstCol="1" bandRow="1">
                <a:tableStyleId>{5C22544A-7EE6-4342-B048-85BDC9FD1C3A}</a:tableStyleId>
              </a:tblPr>
              <a:tblGrid>
                <a:gridCol w="2669172">
                  <a:extLst>
                    <a:ext uri="{9D8B030D-6E8A-4147-A177-3AD203B41FA5}">
                      <a16:colId xmlns:a16="http://schemas.microsoft.com/office/drawing/2014/main" val="1296889609"/>
                    </a:ext>
                  </a:extLst>
                </a:gridCol>
                <a:gridCol w="4569827">
                  <a:extLst>
                    <a:ext uri="{9D8B030D-6E8A-4147-A177-3AD203B41FA5}">
                      <a16:colId xmlns:a16="http://schemas.microsoft.com/office/drawing/2014/main" val="1221483889"/>
                    </a:ext>
                  </a:extLst>
                </a:gridCol>
              </a:tblGrid>
              <a:tr h="307140">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Dividends Declaration Record Date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Retained Earnings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Dividend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3915752917"/>
                  </a:ext>
                </a:extLst>
              </a:tr>
              <a:tr h="307140">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Dividends Declaration Payment Date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Dividend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1594995431"/>
                  </a:ext>
                </a:extLst>
              </a:tr>
              <a:tr h="621251">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Property Dividends (At date of declaration)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Equity Investments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Unrealized Holding Gain or Loss-income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Retained Earnings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Property Dividend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3274093058"/>
                  </a:ext>
                </a:extLst>
              </a:tr>
              <a:tr h="307140">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Property Dividends (At date of distribution)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Property Dividend Payable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Equity Investments Cr.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2581481073"/>
                  </a:ext>
                </a:extLst>
              </a:tr>
              <a:tr h="464195">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Liquidating Dividends (At date of declaration)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Retained Earnings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Additional PIC Common Stock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Dividend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4239752973"/>
                  </a:ext>
                </a:extLst>
              </a:tr>
              <a:tr h="307140">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Liquidating Dividends (At date of distribution)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Dividend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1150773308"/>
                  </a:ext>
                </a:extLst>
              </a:tr>
              <a:tr h="464195">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Stock Dividend (At date of declaration)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Retained Earnings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Common Stock Dividend Distributable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APIC Common Stock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2287484423"/>
                  </a:ext>
                </a:extLst>
              </a:tr>
              <a:tr h="307140">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Stock Dividend (At date of distribution)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Common Stock Dividend Distributable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Common Stock Cr.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29716" marR="29716" marT="0" marB="0"/>
                </a:tc>
                <a:extLst>
                  <a:ext uri="{0D108BD9-81ED-4DB2-BD59-A6C34878D82A}">
                    <a16:rowId xmlns:a16="http://schemas.microsoft.com/office/drawing/2014/main" val="1854371929"/>
                  </a:ext>
                </a:extLst>
              </a:tr>
            </a:tbl>
          </a:graphicData>
        </a:graphic>
      </p:graphicFrame>
      <p:sp>
        <p:nvSpPr>
          <p:cNvPr id="4" name="Slide Number Placeholder 3">
            <a:extLst>
              <a:ext uri="{FF2B5EF4-FFF2-40B4-BE49-F238E27FC236}">
                <a16:creationId xmlns:a16="http://schemas.microsoft.com/office/drawing/2014/main" id="{F37A2848-1509-F5D9-FD5C-CE25D90C6320}"/>
              </a:ext>
            </a:extLst>
          </p:cNvPr>
          <p:cNvSpPr>
            <a:spLocks noGrp="1"/>
          </p:cNvSpPr>
          <p:nvPr>
            <p:ph type="sldNum" sz="quarter" idx="10"/>
          </p:nvPr>
        </p:nvSpPr>
        <p:spPr/>
        <p:txBody>
          <a:bodyPr/>
          <a:lstStyle/>
          <a:p>
            <a:fld id="{67B19427-F580-D146-B60E-4CADEE75497F}" type="slidenum">
              <a:rPr lang="en-US" smtClean="0"/>
              <a:pPr/>
              <a:t>46</a:t>
            </a:fld>
            <a:endParaRPr lang="en-US" dirty="0"/>
          </a:p>
        </p:txBody>
      </p:sp>
      <p:sp>
        <p:nvSpPr>
          <p:cNvPr id="5" name="Footer Placeholder 4">
            <a:extLst>
              <a:ext uri="{FF2B5EF4-FFF2-40B4-BE49-F238E27FC236}">
                <a16:creationId xmlns:a16="http://schemas.microsoft.com/office/drawing/2014/main" id="{37F6BC25-7B38-F8B7-B9AA-9C5436817BEF}"/>
              </a:ext>
            </a:extLst>
          </p:cNvPr>
          <p:cNvSpPr>
            <a:spLocks noGrp="1"/>
          </p:cNvSpPr>
          <p:nvPr>
            <p:ph type="ftr" sz="quarter" idx="11"/>
          </p:nvPr>
        </p:nvSpPr>
        <p:spPr/>
        <p:txBody>
          <a:bodyPr/>
          <a:lstStyle/>
          <a:p>
            <a:r>
              <a:rPr lang="en-US"/>
              <a:t>Copyright ©2019 John Wiley &amp; Sons, Inc. </a:t>
            </a:r>
            <a:endParaRPr lang="en-US" dirty="0"/>
          </a:p>
        </p:txBody>
      </p:sp>
      <p:sp>
        <p:nvSpPr>
          <p:cNvPr id="8" name="Content Placeholder 7">
            <a:extLst>
              <a:ext uri="{FF2B5EF4-FFF2-40B4-BE49-F238E27FC236}">
                <a16:creationId xmlns:a16="http://schemas.microsoft.com/office/drawing/2014/main" id="{D96D4D48-E46D-D774-0E43-50D0BE6A49B9}"/>
              </a:ext>
            </a:extLst>
          </p:cNvPr>
          <p:cNvSpPr>
            <a:spLocks noGrp="1"/>
          </p:cNvSpPr>
          <p:nvPr>
            <p:ph sz="quarter" idx="15"/>
          </p:nvPr>
        </p:nvSpPr>
        <p:spPr/>
        <p:txBody>
          <a:bodyPr/>
          <a:lstStyle/>
          <a:p>
            <a:endParaRPr lang="en-US"/>
          </a:p>
        </p:txBody>
      </p:sp>
    </p:spTree>
    <p:extLst>
      <p:ext uri="{BB962C8B-B14F-4D97-AF65-F5344CB8AC3E}">
        <p14:creationId xmlns:p14="http://schemas.microsoft.com/office/powerpoint/2010/main" val="20255847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89529"/>
          </a:xfrm>
        </p:spPr>
        <p:txBody>
          <a:bodyPr>
            <a:spAutoFit/>
          </a:bodyPr>
          <a:lstStyle/>
          <a:p>
            <a:r>
              <a:rPr lang="en-US" noProof="0" dirty="0"/>
              <a:t>Dividend Policy </a:t>
            </a:r>
            <a:br>
              <a:rPr lang="en-US" noProof="0" dirty="0"/>
            </a:br>
            <a:r>
              <a:rPr lang="en-US" sz="3200" noProof="0" dirty="0">
                <a:solidFill>
                  <a:schemeClr val="accent2"/>
                </a:solidFill>
              </a:rPr>
              <a:t>Types of Dividends</a:t>
            </a:r>
            <a:endParaRPr lang="en-US" sz="32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2056179"/>
            <a:ext cx="8534400" cy="1600506"/>
          </a:xfrm>
        </p:spPr>
        <p:txBody>
          <a:bodyPr>
            <a:normAutofit/>
          </a:bodyPr>
          <a:lstStyle/>
          <a:p>
            <a:pPr marL="402336" indent="-402336">
              <a:lnSpc>
                <a:spcPct val="100000"/>
              </a:lnSpc>
              <a:buClr>
                <a:schemeClr val="accent2"/>
              </a:buClr>
              <a:buFont typeface="+mj-lt"/>
              <a:buAutoNum type="arabicPeriod"/>
            </a:pPr>
            <a:r>
              <a:rPr lang="en-US" sz="2600" noProof="0" dirty="0"/>
              <a:t>Cash dividends.</a:t>
            </a:r>
          </a:p>
          <a:p>
            <a:pPr marL="402336" indent="-402336">
              <a:lnSpc>
                <a:spcPct val="100000"/>
              </a:lnSpc>
              <a:buClr>
                <a:schemeClr val="accent2"/>
              </a:buClr>
              <a:buFont typeface="+mj-lt"/>
              <a:buAutoNum type="arabicPeriod"/>
            </a:pPr>
            <a:r>
              <a:rPr lang="en-US" sz="2600" noProof="0" dirty="0"/>
              <a:t>Property dividends (dividends in kind).</a:t>
            </a:r>
          </a:p>
          <a:p>
            <a:pPr marL="402336" indent="-402336">
              <a:lnSpc>
                <a:spcPct val="100000"/>
              </a:lnSpc>
              <a:buClr>
                <a:schemeClr val="accent2"/>
              </a:buClr>
              <a:buFont typeface="+mj-lt"/>
              <a:buAutoNum type="arabicPeriod"/>
            </a:pPr>
            <a:r>
              <a:rPr lang="en-US" sz="2600" noProof="0" dirty="0"/>
              <a:t>Liquidating dividends.</a:t>
            </a:r>
          </a:p>
        </p:txBody>
      </p:sp>
      <p:sp>
        <p:nvSpPr>
          <p:cNvPr id="10" name="Content Placeholder 9">
            <a:extLst>
              <a:ext uri="{FF2B5EF4-FFF2-40B4-BE49-F238E27FC236}">
                <a16:creationId xmlns:a16="http://schemas.microsoft.com/office/drawing/2014/main" id="{8CB73AB2-4FF4-4B16-9757-161516BD60D2}"/>
              </a:ext>
            </a:extLst>
          </p:cNvPr>
          <p:cNvSpPr>
            <a:spLocks noGrp="1"/>
          </p:cNvSpPr>
          <p:nvPr>
            <p:ph sz="quarter" idx="17"/>
          </p:nvPr>
        </p:nvSpPr>
        <p:spPr>
          <a:xfrm>
            <a:off x="304800" y="4036160"/>
            <a:ext cx="8534400" cy="1062530"/>
          </a:xfrm>
        </p:spPr>
        <p:txBody>
          <a:bodyPr/>
          <a:lstStyle/>
          <a:p>
            <a:r>
              <a:rPr lang="en-US" noProof="0" dirty="0">
                <a:latin typeface="Calibri" panose="020F0502020204030204" pitchFamily="34" charset="0"/>
                <a:cs typeface="Calibri" panose="020F0502020204030204" pitchFamily="34" charset="0"/>
              </a:rPr>
              <a:t>All dividends, except for stock dividends, </a:t>
            </a:r>
            <a:r>
              <a:rPr lang="en-US" b="1" noProof="0" dirty="0">
                <a:latin typeface="Calibri" panose="020F0502020204030204" pitchFamily="34" charset="0"/>
                <a:cs typeface="Calibri" panose="020F0502020204030204" pitchFamily="34" charset="0"/>
              </a:rPr>
              <a:t>reduce the total stockholders’ equity</a:t>
            </a:r>
            <a:r>
              <a:rPr lang="en-US" noProof="0" dirty="0">
                <a:latin typeface="Calibri" panose="020F0502020204030204" pitchFamily="34" charset="0"/>
                <a:cs typeface="Calibri" panose="020F0502020204030204" pitchFamily="34" charset="0"/>
              </a:rPr>
              <a:t> in the corporation.</a:t>
            </a:r>
            <a:endParaRPr lang="en-US" noProof="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47</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41577902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t>Types of Dividends</a:t>
            </a:r>
            <a:br>
              <a:rPr lang="en-US" noProof="0" dirty="0"/>
            </a:br>
            <a:r>
              <a:rPr lang="en-US" sz="2800" noProof="0" dirty="0">
                <a:solidFill>
                  <a:srgbClr val="000000"/>
                </a:solidFill>
              </a:rPr>
              <a:t>Cash Dividends</a:t>
            </a:r>
            <a:endParaRPr lang="en-US" sz="2800" b="0" noProof="0" dirty="0">
              <a:solidFill>
                <a:srgbClr val="00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869562"/>
            <a:ext cx="8534400" cy="2359456"/>
          </a:xfrm>
        </p:spPr>
        <p:txBody>
          <a:bodyPr>
            <a:noAutofit/>
          </a:bodyPr>
          <a:lstStyle/>
          <a:p>
            <a:pPr marL="291600" indent="-291600">
              <a:lnSpc>
                <a:spcPct val="100000"/>
              </a:lnSpc>
              <a:buFont typeface="Arial" pitchFamily="34" charset="0"/>
              <a:buChar char="•"/>
            </a:pPr>
            <a:r>
              <a:rPr lang="en-US" sz="2600" noProof="0" dirty="0"/>
              <a:t>Board of directors vote on the declaration of </a:t>
            </a:r>
            <a:r>
              <a:rPr lang="en-US" sz="2600" b="1" noProof="0" dirty="0">
                <a:solidFill>
                  <a:schemeClr val="accent2"/>
                </a:solidFill>
              </a:rPr>
              <a:t>cash dividends.</a:t>
            </a:r>
          </a:p>
          <a:p>
            <a:pPr marL="291600" indent="-291600">
              <a:lnSpc>
                <a:spcPct val="100000"/>
              </a:lnSpc>
              <a:buFont typeface="Arial" pitchFamily="34" charset="0"/>
              <a:buChar char="•"/>
            </a:pPr>
            <a:r>
              <a:rPr lang="en-US" sz="2600" noProof="0" dirty="0"/>
              <a:t>A declared cash dividend is a liability.</a:t>
            </a:r>
          </a:p>
          <a:p>
            <a:pPr marL="291600" indent="-291600">
              <a:lnSpc>
                <a:spcPct val="100000"/>
              </a:lnSpc>
              <a:buFont typeface="Arial" pitchFamily="34" charset="0"/>
              <a:buChar char="•"/>
            </a:pPr>
            <a:r>
              <a:rPr lang="en-US" sz="2600" noProof="0" dirty="0"/>
              <a:t>Companies do not declare or pay cash dividends on treasury stock.</a:t>
            </a:r>
          </a:p>
        </p:txBody>
      </p:sp>
      <p:sp>
        <p:nvSpPr>
          <p:cNvPr id="10" name="Content Placeholder 9">
            <a:extLst>
              <a:ext uri="{FF2B5EF4-FFF2-40B4-BE49-F238E27FC236}">
                <a16:creationId xmlns:a16="http://schemas.microsoft.com/office/drawing/2014/main" id="{8CB73AB2-4FF4-4B16-9757-161516BD60D2}"/>
              </a:ext>
            </a:extLst>
          </p:cNvPr>
          <p:cNvSpPr>
            <a:spLocks noGrp="1"/>
          </p:cNvSpPr>
          <p:nvPr>
            <p:ph sz="quarter" idx="17"/>
          </p:nvPr>
        </p:nvSpPr>
        <p:spPr>
          <a:xfrm>
            <a:off x="304800" y="4295702"/>
            <a:ext cx="8534400" cy="1941413"/>
          </a:xfrm>
        </p:spPr>
        <p:txBody>
          <a:bodyPr>
            <a:normAutofit/>
          </a:bodyPr>
          <a:lstStyle/>
          <a:p>
            <a:r>
              <a:rPr lang="en-US" sz="2600" b="1" noProof="0" dirty="0">
                <a:latin typeface="Calibri" panose="020F0502020204030204" pitchFamily="34" charset="0"/>
              </a:rPr>
              <a:t>Three dates:</a:t>
            </a:r>
          </a:p>
          <a:p>
            <a:pPr>
              <a:buClr>
                <a:schemeClr val="accent2"/>
              </a:buClr>
            </a:pPr>
            <a:r>
              <a:rPr lang="en-US" sz="2600" noProof="0" dirty="0">
                <a:solidFill>
                  <a:srgbClr val="990000"/>
                </a:solidFill>
                <a:latin typeface="Calibri" panose="020F0502020204030204" pitchFamily="34" charset="0"/>
              </a:rPr>
              <a:t>a.</a:t>
            </a:r>
            <a:r>
              <a:rPr lang="en-US" sz="2600" noProof="0" dirty="0">
                <a:latin typeface="Calibri" panose="020F0502020204030204" pitchFamily="34" charset="0"/>
              </a:rPr>
              <a:t> Date of declaration</a:t>
            </a:r>
          </a:p>
          <a:p>
            <a:pPr>
              <a:buClr>
                <a:schemeClr val="accent2"/>
              </a:buClr>
            </a:pPr>
            <a:r>
              <a:rPr lang="en-US" sz="2600" noProof="0" dirty="0">
                <a:solidFill>
                  <a:srgbClr val="990000"/>
                </a:solidFill>
                <a:latin typeface="Calibri" panose="020F0502020204030204" pitchFamily="34" charset="0"/>
              </a:rPr>
              <a:t>b.</a:t>
            </a:r>
            <a:r>
              <a:rPr lang="en-US" sz="2600" noProof="0" dirty="0">
                <a:latin typeface="Calibri" panose="020F0502020204030204" pitchFamily="34" charset="0"/>
              </a:rPr>
              <a:t> Date of record</a:t>
            </a:r>
          </a:p>
          <a:p>
            <a:pPr>
              <a:buClr>
                <a:schemeClr val="accent2"/>
              </a:buClr>
            </a:pPr>
            <a:r>
              <a:rPr lang="en-US" sz="2600" noProof="0" dirty="0">
                <a:solidFill>
                  <a:srgbClr val="990000"/>
                </a:solidFill>
                <a:latin typeface="Calibri" panose="020F0502020204030204" pitchFamily="34" charset="0"/>
              </a:rPr>
              <a:t>c.</a:t>
            </a:r>
            <a:r>
              <a:rPr lang="en-US" sz="2600" noProof="0" dirty="0">
                <a:latin typeface="Calibri" panose="020F0502020204030204" pitchFamily="34" charset="0"/>
              </a:rPr>
              <a:t> Date of payment</a:t>
            </a:r>
            <a:endParaRPr lang="en-US" sz="2600" noProof="0" dirty="0"/>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48</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3555932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C77E-0A12-4A0C-2A3B-C34105207159}"/>
              </a:ext>
            </a:extLst>
          </p:cNvPr>
          <p:cNvSpPr>
            <a:spLocks noGrp="1"/>
          </p:cNvSpPr>
          <p:nvPr>
            <p:ph type="title"/>
          </p:nvPr>
        </p:nvSpPr>
        <p:spPr/>
        <p:txBody>
          <a:bodyPr/>
          <a:lstStyle/>
          <a:p>
            <a:pPr algn="ctr"/>
            <a:r>
              <a:rPr lang="en-US" sz="4000" noProof="0" dirty="0">
                <a:solidFill>
                  <a:srgbClr val="000000"/>
                </a:solidFill>
              </a:rPr>
              <a:t>Cash Dividends</a:t>
            </a:r>
            <a:endParaRPr lang="en-US" dirty="0"/>
          </a:p>
        </p:txBody>
      </p:sp>
      <p:sp>
        <p:nvSpPr>
          <p:cNvPr id="4" name="Slide Number Placeholder 3">
            <a:extLst>
              <a:ext uri="{FF2B5EF4-FFF2-40B4-BE49-F238E27FC236}">
                <a16:creationId xmlns:a16="http://schemas.microsoft.com/office/drawing/2014/main" id="{6EF69084-C9E5-B266-DD6F-50048D0D1BD4}"/>
              </a:ext>
            </a:extLst>
          </p:cNvPr>
          <p:cNvSpPr>
            <a:spLocks noGrp="1"/>
          </p:cNvSpPr>
          <p:nvPr>
            <p:ph type="sldNum" sz="quarter" idx="10"/>
          </p:nvPr>
        </p:nvSpPr>
        <p:spPr/>
        <p:txBody>
          <a:bodyPr/>
          <a:lstStyle/>
          <a:p>
            <a:fld id="{67B19427-F580-D146-B60E-4CADEE75497F}" type="slidenum">
              <a:rPr lang="en-US" smtClean="0"/>
              <a:pPr/>
              <a:t>49</a:t>
            </a:fld>
            <a:endParaRPr lang="en-US" dirty="0"/>
          </a:p>
        </p:txBody>
      </p:sp>
      <p:sp>
        <p:nvSpPr>
          <p:cNvPr id="5" name="Footer Placeholder 4">
            <a:extLst>
              <a:ext uri="{FF2B5EF4-FFF2-40B4-BE49-F238E27FC236}">
                <a16:creationId xmlns:a16="http://schemas.microsoft.com/office/drawing/2014/main" id="{F28B1F95-1165-5B45-131A-3F0034DBF21E}"/>
              </a:ext>
            </a:extLst>
          </p:cNvPr>
          <p:cNvSpPr>
            <a:spLocks noGrp="1"/>
          </p:cNvSpPr>
          <p:nvPr>
            <p:ph type="ftr" sz="quarter" idx="11"/>
          </p:nvPr>
        </p:nvSpPr>
        <p:spPr/>
        <p:txBody>
          <a:bodyPr/>
          <a:lstStyle/>
          <a:p>
            <a:r>
              <a:rPr lang="en-US"/>
              <a:t>Copyright ©2019 John Wiley &amp; Sons, Inc. </a:t>
            </a:r>
            <a:endParaRPr lang="en-US" dirty="0"/>
          </a:p>
        </p:txBody>
      </p:sp>
      <p:sp>
        <p:nvSpPr>
          <p:cNvPr id="8" name="Content Placeholder 7">
            <a:extLst>
              <a:ext uri="{FF2B5EF4-FFF2-40B4-BE49-F238E27FC236}">
                <a16:creationId xmlns:a16="http://schemas.microsoft.com/office/drawing/2014/main" id="{A3E583AC-8C6E-DA46-4567-2B039F01407A}"/>
              </a:ext>
            </a:extLst>
          </p:cNvPr>
          <p:cNvSpPr>
            <a:spLocks noGrp="1"/>
          </p:cNvSpPr>
          <p:nvPr>
            <p:ph sz="quarter" idx="15"/>
          </p:nvPr>
        </p:nvSpPr>
        <p:spPr/>
        <p:txBody>
          <a:bodyPr/>
          <a:lstStyle/>
          <a:p>
            <a:endParaRPr lang="en-US"/>
          </a:p>
        </p:txBody>
      </p:sp>
      <p:pic>
        <p:nvPicPr>
          <p:cNvPr id="1026" name="Picture 2">
            <a:extLst>
              <a:ext uri="{FF2B5EF4-FFF2-40B4-BE49-F238E27FC236}">
                <a16:creationId xmlns:a16="http://schemas.microsoft.com/office/drawing/2014/main" id="{D42D0AA7-471D-5523-A584-058DBC2934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52600"/>
            <a:ext cx="7848600"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2688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t>Types of Dividends</a:t>
            </a:r>
            <a:br>
              <a:rPr lang="en-US" noProof="0" dirty="0"/>
            </a:br>
            <a:r>
              <a:rPr lang="en-US" sz="2800" noProof="0" dirty="0">
                <a:solidFill>
                  <a:schemeClr val="tx1"/>
                </a:solidFill>
              </a:rPr>
              <a:t>Property Dividends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2056179"/>
            <a:ext cx="8534400" cy="2207666"/>
          </a:xfrm>
        </p:spPr>
        <p:txBody>
          <a:bodyPr>
            <a:normAutofit/>
          </a:bodyPr>
          <a:lstStyle/>
          <a:p>
            <a:pPr marL="291600" indent="-291600">
              <a:lnSpc>
                <a:spcPct val="100000"/>
              </a:lnSpc>
              <a:buFont typeface="Arial" pitchFamily="34" charset="0"/>
              <a:buChar char="•"/>
            </a:pPr>
            <a:r>
              <a:rPr lang="en-US" noProof="0" dirty="0"/>
              <a:t>Dividends payable in assets other than cash.</a:t>
            </a:r>
          </a:p>
          <a:p>
            <a:pPr marL="291600" indent="-291600">
              <a:lnSpc>
                <a:spcPct val="100000"/>
              </a:lnSpc>
              <a:buFont typeface="Arial" pitchFamily="34" charset="0"/>
              <a:buChar char="•"/>
            </a:pPr>
            <a:r>
              <a:rPr lang="en-US" noProof="0" dirty="0"/>
              <a:t>Restate at fair value the property it will distribute, recognizing any gain or loss.</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50</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71687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7CA445FE-2175-4BD8-B2E8-CF4FB56C1EC5}"/>
              </a:ext>
            </a:extLst>
          </p:cNvPr>
          <p:cNvSpPr>
            <a:spLocks noGrp="1"/>
          </p:cNvSpPr>
          <p:nvPr>
            <p:ph type="title"/>
          </p:nvPr>
        </p:nvSpPr>
        <p:spPr/>
        <p:txBody>
          <a:bodyPr/>
          <a:lstStyle/>
          <a:p>
            <a:r>
              <a:rPr lang="en-US" noProof="0" dirty="0"/>
              <a:t>Property Dividends</a:t>
            </a:r>
          </a:p>
        </p:txBody>
      </p:sp>
      <p:sp>
        <p:nvSpPr>
          <p:cNvPr id="46" name="Content Placeholder 45">
            <a:extLst>
              <a:ext uri="{FF2B5EF4-FFF2-40B4-BE49-F238E27FC236}">
                <a16:creationId xmlns:a16="http://schemas.microsoft.com/office/drawing/2014/main" id="{C8C8AB3C-0C37-41DA-A9F9-4524866C50C1}"/>
              </a:ext>
            </a:extLst>
          </p:cNvPr>
          <p:cNvSpPr>
            <a:spLocks noGrp="1"/>
          </p:cNvSpPr>
          <p:nvPr>
            <p:ph sz="quarter" idx="16"/>
          </p:nvPr>
        </p:nvSpPr>
        <p:spPr>
          <a:xfrm>
            <a:off x="304800" y="1695897"/>
            <a:ext cx="8534400" cy="2033495"/>
          </a:xfrm>
        </p:spPr>
        <p:txBody>
          <a:bodyPr>
            <a:noAutofit/>
          </a:bodyPr>
          <a:lstStyle/>
          <a:p>
            <a:r>
              <a:rPr lang="en-US" sz="2400" b="1" noProof="0" dirty="0"/>
              <a:t>Illustration:</a:t>
            </a:r>
            <a:r>
              <a:rPr lang="en-US" sz="2400" noProof="0" dirty="0"/>
              <a:t> </a:t>
            </a:r>
            <a:r>
              <a:rPr lang="en-US" sz="2400" dirty="0"/>
              <a:t>Trendler, </a:t>
            </a:r>
            <a:r>
              <a:rPr lang="en-US" sz="2400" noProof="0" dirty="0"/>
              <a:t>Inc. transferred to stockholders some of its equity investments costing $1,250,000 by declaring a property dividend on December 28, 2019, to be distributed on January 30, 2020, to stockholders of record on January 15, 2020. At the date of declaration, the securities have a market value of $2,000,000. </a:t>
            </a:r>
            <a:r>
              <a:rPr lang="en-US" sz="2400" dirty="0"/>
              <a:t>Trendler </a:t>
            </a:r>
            <a:r>
              <a:rPr lang="en-US" sz="2400" noProof="0" dirty="0"/>
              <a:t>makes the following entries.</a:t>
            </a:r>
          </a:p>
        </p:txBody>
      </p:sp>
      <p:sp>
        <p:nvSpPr>
          <p:cNvPr id="47" name="Content Placeholder 46">
            <a:extLst>
              <a:ext uri="{FF2B5EF4-FFF2-40B4-BE49-F238E27FC236}">
                <a16:creationId xmlns:a16="http://schemas.microsoft.com/office/drawing/2014/main" id="{348AF003-192B-4B34-B137-6F2FF71564B9}"/>
              </a:ext>
            </a:extLst>
          </p:cNvPr>
          <p:cNvSpPr>
            <a:spLocks noGrp="1"/>
          </p:cNvSpPr>
          <p:nvPr>
            <p:ph sz="quarter" idx="17"/>
          </p:nvPr>
        </p:nvSpPr>
        <p:spPr>
          <a:xfrm>
            <a:off x="304800" y="3796317"/>
            <a:ext cx="5329730" cy="345998"/>
          </a:xfrm>
        </p:spPr>
        <p:txBody>
          <a:bodyPr>
            <a:noAutofit/>
          </a:bodyPr>
          <a:lstStyle/>
          <a:p>
            <a:r>
              <a:rPr lang="en-US" sz="2200" b="1" noProof="0" dirty="0">
                <a:latin typeface="Calibri" panose="020F0502020204030204" pitchFamily="34" charset="0"/>
              </a:rPr>
              <a:t>At date of declaration (December 28, 2019)</a:t>
            </a:r>
            <a:endParaRPr lang="en-US" sz="2200" noProof="0" dirty="0"/>
          </a:p>
        </p:txBody>
      </p:sp>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303093" y="4314822"/>
            <a:ext cx="3505200" cy="393699"/>
          </a:xfrm>
        </p:spPr>
        <p:txBody>
          <a:bodyPr>
            <a:noAutofit/>
          </a:bodyPr>
          <a:lstStyle/>
          <a:p>
            <a:r>
              <a:rPr lang="en-US" sz="2400" noProof="0" dirty="0">
                <a:latin typeface="Calibri" panose="020F0502020204030204" pitchFamily="34" charset="0"/>
              </a:rPr>
              <a:t>Equity Investments</a:t>
            </a:r>
            <a:endParaRPr lang="en-US" sz="2400" noProof="0" dirty="0"/>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5935731" y="4399886"/>
            <a:ext cx="1442920" cy="393699"/>
          </a:xfrm>
        </p:spPr>
        <p:txBody>
          <a:bodyPr>
            <a:normAutofit lnSpcReduction="10000"/>
          </a:bodyPr>
          <a:lstStyle/>
          <a:p>
            <a:pPr algn="r"/>
            <a:r>
              <a:rPr lang="en-US" sz="2400" noProof="0" dirty="0">
                <a:latin typeface="Calibri" panose="020F0502020204030204" pitchFamily="34" charset="0"/>
              </a:rPr>
              <a:t>750,000</a:t>
            </a:r>
            <a:endParaRPr lang="en-US" sz="2400" noProof="0" dirty="0"/>
          </a:p>
        </p:txBody>
      </p:sp>
      <p:sp>
        <p:nvSpPr>
          <p:cNvPr id="52" name="Content Placeholder 51">
            <a:extLst>
              <a:ext uri="{FF2B5EF4-FFF2-40B4-BE49-F238E27FC236}">
                <a16:creationId xmlns:a16="http://schemas.microsoft.com/office/drawing/2014/main" id="{6ADB1848-582C-4D88-B6E6-69871FF2B960}"/>
              </a:ext>
            </a:extLst>
          </p:cNvPr>
          <p:cNvSpPr>
            <a:spLocks noGrp="1"/>
          </p:cNvSpPr>
          <p:nvPr>
            <p:ph sz="quarter" idx="22"/>
          </p:nvPr>
        </p:nvSpPr>
        <p:spPr>
          <a:xfrm>
            <a:off x="760170" y="4795720"/>
            <a:ext cx="5405625" cy="304800"/>
          </a:xfrm>
        </p:spPr>
        <p:txBody>
          <a:bodyPr>
            <a:noAutofit/>
          </a:bodyPr>
          <a:lstStyle/>
          <a:p>
            <a:r>
              <a:rPr lang="en-US" sz="2400" noProof="0" dirty="0">
                <a:latin typeface="Calibri" panose="020F0502020204030204" pitchFamily="34" charset="0"/>
              </a:rPr>
              <a:t>Unrealized Holding Gain or Loss—Income</a:t>
            </a:r>
            <a:endParaRPr lang="en-US" sz="2400" noProof="0" dirty="0"/>
          </a:p>
        </p:txBody>
      </p:sp>
      <p:sp>
        <p:nvSpPr>
          <p:cNvPr id="66" name="Content Placeholder 65">
            <a:extLst>
              <a:ext uri="{FF2B5EF4-FFF2-40B4-BE49-F238E27FC236}">
                <a16:creationId xmlns:a16="http://schemas.microsoft.com/office/drawing/2014/main" id="{8A3CEE6B-7DD6-4CB7-AC77-B73CD90E3399}"/>
              </a:ext>
            </a:extLst>
          </p:cNvPr>
          <p:cNvSpPr>
            <a:spLocks noGrp="1"/>
          </p:cNvSpPr>
          <p:nvPr>
            <p:ph sz="quarter" idx="36"/>
          </p:nvPr>
        </p:nvSpPr>
        <p:spPr>
          <a:xfrm>
            <a:off x="7607800" y="4813326"/>
            <a:ext cx="1291130" cy="381000"/>
          </a:xfrm>
        </p:spPr>
        <p:txBody>
          <a:bodyPr>
            <a:normAutofit fontScale="85000" lnSpcReduction="20000"/>
          </a:bodyPr>
          <a:lstStyle/>
          <a:p>
            <a:pPr algn="r"/>
            <a:r>
              <a:rPr lang="en-US" noProof="0" dirty="0">
                <a:latin typeface="Calibri" panose="020F0502020204030204" pitchFamily="34" charset="0"/>
              </a:rPr>
              <a:t>750,000</a:t>
            </a:r>
            <a:endParaRPr lang="en-US" noProof="0" dirty="0"/>
          </a:p>
        </p:txBody>
      </p:sp>
      <p:sp>
        <p:nvSpPr>
          <p:cNvPr id="53" name="Content Placeholder 52">
            <a:extLst>
              <a:ext uri="{FF2B5EF4-FFF2-40B4-BE49-F238E27FC236}">
                <a16:creationId xmlns:a16="http://schemas.microsoft.com/office/drawing/2014/main" id="{86043B11-5449-4E34-8B19-6F7182A056A1}"/>
              </a:ext>
            </a:extLst>
          </p:cNvPr>
          <p:cNvSpPr>
            <a:spLocks noGrp="1"/>
          </p:cNvSpPr>
          <p:nvPr>
            <p:ph sz="quarter" idx="23"/>
          </p:nvPr>
        </p:nvSpPr>
        <p:spPr>
          <a:xfrm>
            <a:off x="304800" y="5346055"/>
            <a:ext cx="3581400" cy="381000"/>
          </a:xfrm>
        </p:spPr>
        <p:txBody>
          <a:bodyPr>
            <a:noAutofit/>
          </a:bodyPr>
          <a:lstStyle/>
          <a:p>
            <a:r>
              <a:rPr lang="en-US" sz="2400" noProof="0" dirty="0">
                <a:latin typeface="Calibri" panose="020F0502020204030204" pitchFamily="34" charset="0"/>
              </a:rPr>
              <a:t>Retained Earnings</a:t>
            </a:r>
            <a:endParaRPr lang="en-US" sz="2400" noProof="0" dirty="0"/>
          </a:p>
        </p:txBody>
      </p:sp>
      <p:sp>
        <p:nvSpPr>
          <p:cNvPr id="67" name="Content Placeholder 66">
            <a:extLst>
              <a:ext uri="{FF2B5EF4-FFF2-40B4-BE49-F238E27FC236}">
                <a16:creationId xmlns:a16="http://schemas.microsoft.com/office/drawing/2014/main" id="{7EF7B8D6-8518-47A7-A535-940B1E7F7D73}"/>
              </a:ext>
            </a:extLst>
          </p:cNvPr>
          <p:cNvSpPr>
            <a:spLocks noGrp="1"/>
          </p:cNvSpPr>
          <p:nvPr>
            <p:ph sz="quarter" idx="37"/>
          </p:nvPr>
        </p:nvSpPr>
        <p:spPr>
          <a:xfrm>
            <a:off x="5937195" y="5377954"/>
            <a:ext cx="1441456" cy="381000"/>
          </a:xfrm>
        </p:spPr>
        <p:txBody>
          <a:bodyPr>
            <a:normAutofit fontScale="85000" lnSpcReduction="20000"/>
          </a:bodyPr>
          <a:lstStyle/>
          <a:p>
            <a:pPr algn="r"/>
            <a:r>
              <a:rPr lang="en-US" noProof="0" dirty="0">
                <a:latin typeface="Calibri" panose="020F0502020204030204" pitchFamily="34" charset="0"/>
              </a:rPr>
              <a:t>2,000,000</a:t>
            </a:r>
            <a:endParaRPr lang="en-US" noProof="0" dirty="0"/>
          </a:p>
        </p:txBody>
      </p:sp>
      <p:sp>
        <p:nvSpPr>
          <p:cNvPr id="54" name="Content Placeholder 53">
            <a:extLst>
              <a:ext uri="{FF2B5EF4-FFF2-40B4-BE49-F238E27FC236}">
                <a16:creationId xmlns:a16="http://schemas.microsoft.com/office/drawing/2014/main" id="{0C7FEF26-95EB-4096-8C18-AC9359459C7D}"/>
              </a:ext>
            </a:extLst>
          </p:cNvPr>
          <p:cNvSpPr>
            <a:spLocks noGrp="1"/>
          </p:cNvSpPr>
          <p:nvPr>
            <p:ph sz="quarter" idx="24"/>
          </p:nvPr>
        </p:nvSpPr>
        <p:spPr>
          <a:xfrm>
            <a:off x="760170" y="5778695"/>
            <a:ext cx="3963620" cy="381000"/>
          </a:xfrm>
        </p:spPr>
        <p:txBody>
          <a:bodyPr>
            <a:noAutofit/>
          </a:bodyPr>
          <a:lstStyle/>
          <a:p>
            <a:r>
              <a:rPr lang="en-US" sz="2400" noProof="0" dirty="0">
                <a:latin typeface="Calibri" panose="020F0502020204030204" pitchFamily="34" charset="0"/>
              </a:rPr>
              <a:t>Property Dividends Payable</a:t>
            </a:r>
            <a:endParaRPr lang="en-US" sz="2400" noProof="0" dirty="0"/>
          </a:p>
        </p:txBody>
      </p:sp>
      <p:sp>
        <p:nvSpPr>
          <p:cNvPr id="69" name="Content Placeholder 68">
            <a:extLst>
              <a:ext uri="{FF2B5EF4-FFF2-40B4-BE49-F238E27FC236}">
                <a16:creationId xmlns:a16="http://schemas.microsoft.com/office/drawing/2014/main" id="{7DC85FC8-8F67-4B19-AEE0-A881269A8042}"/>
              </a:ext>
            </a:extLst>
          </p:cNvPr>
          <p:cNvSpPr>
            <a:spLocks noGrp="1"/>
          </p:cNvSpPr>
          <p:nvPr>
            <p:ph sz="quarter" idx="39"/>
          </p:nvPr>
        </p:nvSpPr>
        <p:spPr>
          <a:xfrm>
            <a:off x="7609614" y="5856115"/>
            <a:ext cx="1431938" cy="381000"/>
          </a:xfrm>
        </p:spPr>
        <p:txBody>
          <a:bodyPr>
            <a:normAutofit fontScale="85000" lnSpcReduction="20000"/>
          </a:bodyPr>
          <a:lstStyle/>
          <a:p>
            <a:pPr algn="r"/>
            <a:r>
              <a:rPr lang="en-US" noProof="0" dirty="0">
                <a:latin typeface="Calibri" panose="020F0502020204030204" pitchFamily="34" charset="0"/>
              </a:rPr>
              <a:t>2,000,000</a:t>
            </a:r>
            <a:endParaRPr lang="en-US" noProof="0" dirty="0"/>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50810"/>
            <a:ext cx="749300" cy="365125"/>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a:ln>
            <a:noFill/>
          </a:ln>
        </p:spPr>
        <p:txBody>
          <a:bodyPr/>
          <a:lstStyle/>
          <a:p>
            <a:fld id="{67B19427-F580-D146-B60E-4CADEE75497F}" type="slidenum">
              <a:rPr lang="en-US" smtClean="0">
                <a:solidFill>
                  <a:schemeClr val="tx1"/>
                </a:solidFill>
              </a:rPr>
              <a:pPr/>
              <a:t>51</a:t>
            </a:fld>
            <a:endParaRPr lang="en-US" dirty="0">
              <a:solidFill>
                <a:schemeClr val="tx1"/>
              </a:solidFill>
            </a:endParaRPr>
          </a:p>
        </p:txBody>
      </p:sp>
      <p:sp>
        <p:nvSpPr>
          <p:cNvPr id="5" name="Footer Placeholder 4"/>
          <p:cNvSpPr>
            <a:spLocks noGrp="1"/>
          </p:cNvSpPr>
          <p:nvPr>
            <p:ph type="ftr" sz="quarter" idx="11"/>
          </p:nvPr>
        </p:nvSpPr>
        <p:spPr>
          <a:ln>
            <a:noFill/>
          </a:ln>
        </p:spPr>
        <p:txBody>
          <a:bodyPr/>
          <a:lstStyle/>
          <a:p>
            <a:r>
              <a:rPr lang="en-US" dirty="0">
                <a:solidFill>
                  <a:schemeClr val="tx1"/>
                </a:solidFill>
              </a:rPr>
              <a:t>Copyright ©2019 John Wiley &amp; Sons, Inc. </a:t>
            </a:r>
          </a:p>
        </p:txBody>
      </p:sp>
    </p:spTree>
    <p:extLst>
      <p:ext uri="{BB962C8B-B14F-4D97-AF65-F5344CB8AC3E}">
        <p14:creationId xmlns:p14="http://schemas.microsoft.com/office/powerpoint/2010/main" val="291687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P spid="49" grpId="0" build="p"/>
      <p:bldP spid="65" grpId="0" build="p"/>
      <p:bldP spid="52" grpId="0" build="p"/>
      <p:bldP spid="66" grpId="0" build="p"/>
      <p:bldP spid="53" grpId="0" build="p"/>
      <p:bldP spid="67" grpId="0" build="p"/>
      <p:bldP spid="54" grpId="0" build="p"/>
      <p:bldP spid="6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7CA445FE-2175-4BD8-B2E8-CF4FB56C1EC5}"/>
              </a:ext>
            </a:extLst>
          </p:cNvPr>
          <p:cNvSpPr>
            <a:spLocks noGrp="1"/>
          </p:cNvSpPr>
          <p:nvPr>
            <p:ph type="title"/>
          </p:nvPr>
        </p:nvSpPr>
        <p:spPr>
          <a:xfrm>
            <a:off x="304800" y="762001"/>
            <a:ext cx="8534400" cy="951849"/>
          </a:xfrm>
        </p:spPr>
        <p:txBody>
          <a:bodyPr>
            <a:normAutofit fontScale="90000"/>
          </a:bodyPr>
          <a:lstStyle/>
          <a:p>
            <a:r>
              <a:rPr lang="en-US" sz="4400" noProof="0" dirty="0"/>
              <a:t>Property Dividends</a:t>
            </a:r>
            <a:br>
              <a:rPr lang="en-US" noProof="0" dirty="0"/>
            </a:br>
            <a:r>
              <a:rPr lang="en-US" sz="3100" noProof="0" dirty="0">
                <a:solidFill>
                  <a:schemeClr val="tx1"/>
                </a:solidFill>
              </a:rPr>
              <a:t>Date of Distribution</a:t>
            </a:r>
            <a:endParaRPr lang="en-US" sz="3100" noProof="0" dirty="0"/>
          </a:p>
        </p:txBody>
      </p:sp>
      <p:sp>
        <p:nvSpPr>
          <p:cNvPr id="46" name="Content Placeholder 45">
            <a:extLst>
              <a:ext uri="{FF2B5EF4-FFF2-40B4-BE49-F238E27FC236}">
                <a16:creationId xmlns:a16="http://schemas.microsoft.com/office/drawing/2014/main" id="{C8C8AB3C-0C37-41DA-A9F9-4524866C50C1}"/>
              </a:ext>
            </a:extLst>
          </p:cNvPr>
          <p:cNvSpPr>
            <a:spLocks noGrp="1"/>
          </p:cNvSpPr>
          <p:nvPr>
            <p:ph sz="quarter" idx="16"/>
          </p:nvPr>
        </p:nvSpPr>
        <p:spPr>
          <a:xfrm>
            <a:off x="304800" y="2035829"/>
            <a:ext cx="8534400" cy="2033495"/>
          </a:xfrm>
        </p:spPr>
        <p:txBody>
          <a:bodyPr>
            <a:noAutofit/>
          </a:bodyPr>
          <a:lstStyle/>
          <a:p>
            <a:r>
              <a:rPr lang="en-US" sz="2400" b="1" noProof="0" dirty="0"/>
              <a:t>Illustration:</a:t>
            </a:r>
            <a:r>
              <a:rPr lang="en-US" sz="2400" noProof="0" dirty="0"/>
              <a:t> </a:t>
            </a:r>
            <a:r>
              <a:rPr lang="en-US" sz="2400" dirty="0"/>
              <a:t>Trendler, </a:t>
            </a:r>
            <a:r>
              <a:rPr lang="en-US" sz="2400" noProof="0" dirty="0"/>
              <a:t>Inc. transferred to stockholders some of its equity investments costing $1,250,000 by declaring a property dividend on December 28, 2019, to be distributed on January 30, 2020, to stockholders of record on January 15, 2020. At the date of declaration, the securities have a market value of $2,000,000. </a:t>
            </a:r>
            <a:r>
              <a:rPr lang="en-US" sz="2400" dirty="0"/>
              <a:t>Trendler </a:t>
            </a:r>
            <a:r>
              <a:rPr lang="en-US" sz="2400" noProof="0" dirty="0"/>
              <a:t>makes the following entries.</a:t>
            </a:r>
          </a:p>
        </p:txBody>
      </p:sp>
      <p:sp>
        <p:nvSpPr>
          <p:cNvPr id="47" name="Content Placeholder 46">
            <a:extLst>
              <a:ext uri="{FF2B5EF4-FFF2-40B4-BE49-F238E27FC236}">
                <a16:creationId xmlns:a16="http://schemas.microsoft.com/office/drawing/2014/main" id="{348AF003-192B-4B34-B137-6F2FF71564B9}"/>
              </a:ext>
            </a:extLst>
          </p:cNvPr>
          <p:cNvSpPr>
            <a:spLocks noGrp="1"/>
          </p:cNvSpPr>
          <p:nvPr>
            <p:ph sz="quarter" idx="17"/>
          </p:nvPr>
        </p:nvSpPr>
        <p:spPr>
          <a:xfrm>
            <a:off x="304800" y="4231946"/>
            <a:ext cx="5329730" cy="345998"/>
          </a:xfrm>
        </p:spPr>
        <p:txBody>
          <a:bodyPr>
            <a:noAutofit/>
          </a:bodyPr>
          <a:lstStyle/>
          <a:p>
            <a:r>
              <a:rPr lang="en-US" sz="2200" b="1" noProof="0" dirty="0">
                <a:latin typeface="Calibri" panose="020F0502020204030204" pitchFamily="34" charset="0"/>
              </a:rPr>
              <a:t>At date of distribution (January 30, 2020)</a:t>
            </a:r>
            <a:endParaRPr lang="en-US" sz="2200" noProof="0" dirty="0"/>
          </a:p>
        </p:txBody>
      </p:sp>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303092" y="4750451"/>
            <a:ext cx="3661747" cy="393699"/>
          </a:xfrm>
        </p:spPr>
        <p:txBody>
          <a:bodyPr>
            <a:noAutofit/>
          </a:bodyPr>
          <a:lstStyle/>
          <a:p>
            <a:r>
              <a:rPr lang="en-US" sz="2400" noProof="0" dirty="0">
                <a:latin typeface="Calibri" panose="020F0502020204030204" pitchFamily="34" charset="0"/>
              </a:rPr>
              <a:t>Property Dividends Payable</a:t>
            </a:r>
            <a:endParaRPr lang="en-US" sz="2400" noProof="0" dirty="0"/>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4951475" y="4835515"/>
            <a:ext cx="1442920" cy="393699"/>
          </a:xfrm>
        </p:spPr>
        <p:txBody>
          <a:bodyPr>
            <a:normAutofit lnSpcReduction="10000"/>
          </a:bodyPr>
          <a:lstStyle/>
          <a:p>
            <a:pPr algn="r"/>
            <a:r>
              <a:rPr lang="en-US" sz="2400" noProof="0" dirty="0">
                <a:latin typeface="Calibri" panose="020F0502020204030204" pitchFamily="34" charset="0"/>
              </a:rPr>
              <a:t>2,000,000</a:t>
            </a:r>
            <a:endParaRPr lang="en-US" sz="2400" noProof="0" dirty="0"/>
          </a:p>
        </p:txBody>
      </p:sp>
      <p:sp>
        <p:nvSpPr>
          <p:cNvPr id="52" name="Content Placeholder 51">
            <a:extLst>
              <a:ext uri="{FF2B5EF4-FFF2-40B4-BE49-F238E27FC236}">
                <a16:creationId xmlns:a16="http://schemas.microsoft.com/office/drawing/2014/main" id="{6ADB1848-582C-4D88-B6E6-69871FF2B960}"/>
              </a:ext>
            </a:extLst>
          </p:cNvPr>
          <p:cNvSpPr>
            <a:spLocks noGrp="1"/>
          </p:cNvSpPr>
          <p:nvPr>
            <p:ph sz="quarter" idx="22"/>
          </p:nvPr>
        </p:nvSpPr>
        <p:spPr>
          <a:xfrm>
            <a:off x="760171" y="5231349"/>
            <a:ext cx="2749300" cy="304800"/>
          </a:xfrm>
        </p:spPr>
        <p:txBody>
          <a:bodyPr>
            <a:noAutofit/>
          </a:bodyPr>
          <a:lstStyle/>
          <a:p>
            <a:r>
              <a:rPr lang="en-US" sz="2400" noProof="0" dirty="0">
                <a:latin typeface="Calibri" panose="020F0502020204030204" pitchFamily="34" charset="0"/>
              </a:rPr>
              <a:t>Equity Investments</a:t>
            </a:r>
            <a:endParaRPr lang="en-US" sz="2400" noProof="0" dirty="0"/>
          </a:p>
        </p:txBody>
      </p:sp>
      <p:sp>
        <p:nvSpPr>
          <p:cNvPr id="66" name="Content Placeholder 65">
            <a:extLst>
              <a:ext uri="{FF2B5EF4-FFF2-40B4-BE49-F238E27FC236}">
                <a16:creationId xmlns:a16="http://schemas.microsoft.com/office/drawing/2014/main" id="{8A3CEE6B-7DD6-4CB7-AC77-B73CD90E3399}"/>
              </a:ext>
            </a:extLst>
          </p:cNvPr>
          <p:cNvSpPr>
            <a:spLocks noGrp="1"/>
          </p:cNvSpPr>
          <p:nvPr>
            <p:ph sz="quarter" idx="36"/>
          </p:nvPr>
        </p:nvSpPr>
        <p:spPr>
          <a:xfrm>
            <a:off x="6482736" y="5248955"/>
            <a:ext cx="1431938" cy="381000"/>
          </a:xfrm>
        </p:spPr>
        <p:txBody>
          <a:bodyPr>
            <a:normAutofit fontScale="85000" lnSpcReduction="20000"/>
          </a:bodyPr>
          <a:lstStyle/>
          <a:p>
            <a:pPr algn="r"/>
            <a:r>
              <a:rPr lang="en-US" noProof="0" dirty="0">
                <a:latin typeface="Calibri" panose="020F0502020204030204" pitchFamily="34" charset="0"/>
              </a:rPr>
              <a:t>2,000,000</a:t>
            </a:r>
            <a:endParaRPr lang="en-US" noProof="0" dirty="0"/>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50810"/>
            <a:ext cx="749300" cy="365125"/>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a:ln>
            <a:noFill/>
          </a:ln>
        </p:spPr>
        <p:txBody>
          <a:bodyPr/>
          <a:lstStyle/>
          <a:p>
            <a:fld id="{67B19427-F580-D146-B60E-4CADEE75497F}" type="slidenum">
              <a:rPr lang="en-US" smtClean="0">
                <a:solidFill>
                  <a:schemeClr val="tx1"/>
                </a:solidFill>
              </a:rPr>
              <a:pPr/>
              <a:t>52</a:t>
            </a:fld>
            <a:endParaRPr lang="en-US" dirty="0">
              <a:solidFill>
                <a:schemeClr val="tx1"/>
              </a:solidFill>
            </a:endParaRPr>
          </a:p>
        </p:txBody>
      </p:sp>
      <p:sp>
        <p:nvSpPr>
          <p:cNvPr id="5" name="Footer Placeholder 4"/>
          <p:cNvSpPr>
            <a:spLocks noGrp="1"/>
          </p:cNvSpPr>
          <p:nvPr>
            <p:ph type="ftr" sz="quarter" idx="11"/>
          </p:nvPr>
        </p:nvSpPr>
        <p:spPr>
          <a:ln>
            <a:noFill/>
          </a:ln>
        </p:spPr>
        <p:txBody>
          <a:bodyPr/>
          <a:lstStyle/>
          <a:p>
            <a:r>
              <a:rPr lang="en-US" dirty="0">
                <a:solidFill>
                  <a:schemeClr val="tx1"/>
                </a:solidFill>
              </a:rPr>
              <a:t>Copyright ©2019 John Wiley &amp; Sons, Inc. </a:t>
            </a:r>
          </a:p>
        </p:txBody>
      </p:sp>
    </p:spTree>
    <p:extLst>
      <p:ext uri="{BB962C8B-B14F-4D97-AF65-F5344CB8AC3E}">
        <p14:creationId xmlns:p14="http://schemas.microsoft.com/office/powerpoint/2010/main" val="131900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P spid="49" grpId="0" build="p"/>
      <p:bldP spid="65" grpId="0" build="p"/>
      <p:bldP spid="52" grpId="0" build="p"/>
      <p:bldP spid="6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t>Types of Dividends</a:t>
            </a:r>
            <a:br>
              <a:rPr lang="en-US" noProof="0" dirty="0"/>
            </a:br>
            <a:r>
              <a:rPr lang="en-US" sz="2800" noProof="0" dirty="0">
                <a:solidFill>
                  <a:schemeClr val="tx1"/>
                </a:solidFill>
              </a:rPr>
              <a:t>Liquidating Dividends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933360"/>
            <a:ext cx="8534400" cy="2663036"/>
          </a:xfrm>
        </p:spPr>
        <p:txBody>
          <a:bodyPr>
            <a:normAutofit/>
          </a:bodyPr>
          <a:lstStyle/>
          <a:p>
            <a:pPr marL="291600" indent="-291600">
              <a:lnSpc>
                <a:spcPct val="100000"/>
              </a:lnSpc>
              <a:buFont typeface="Arial" pitchFamily="34" charset="0"/>
              <a:buChar char="•"/>
            </a:pPr>
            <a:r>
              <a:rPr lang="en-US" noProof="0" dirty="0"/>
              <a:t>Any dividend not based on earnings reduces corporate paid-in capital.</a:t>
            </a:r>
          </a:p>
          <a:p>
            <a:pPr marL="291600" indent="-291600">
              <a:lnSpc>
                <a:spcPct val="100000"/>
              </a:lnSpc>
              <a:buFont typeface="Arial" pitchFamily="34" charset="0"/>
              <a:buChar char="•"/>
            </a:pPr>
            <a:r>
              <a:rPr lang="en-US" noProof="0" dirty="0"/>
              <a:t>The portion of these dividends in excess of accumulated income represents a return of part of the stockholder’s investment.</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53</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35819635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7CA445FE-2175-4BD8-B2E8-CF4FB56C1EC5}"/>
              </a:ext>
            </a:extLst>
          </p:cNvPr>
          <p:cNvSpPr>
            <a:spLocks noGrp="1"/>
          </p:cNvSpPr>
          <p:nvPr>
            <p:ph type="title"/>
          </p:nvPr>
        </p:nvSpPr>
        <p:spPr>
          <a:xfrm>
            <a:off x="304800" y="762001"/>
            <a:ext cx="8534400" cy="679351"/>
          </a:xfrm>
        </p:spPr>
        <p:txBody>
          <a:bodyPr/>
          <a:lstStyle/>
          <a:p>
            <a:r>
              <a:rPr lang="en-US" noProof="0" dirty="0"/>
              <a:t>Liquidating Dividends</a:t>
            </a:r>
          </a:p>
        </p:txBody>
      </p:sp>
      <p:sp>
        <p:nvSpPr>
          <p:cNvPr id="46" name="Content Placeholder 45">
            <a:extLst>
              <a:ext uri="{FF2B5EF4-FFF2-40B4-BE49-F238E27FC236}">
                <a16:creationId xmlns:a16="http://schemas.microsoft.com/office/drawing/2014/main" id="{C8C8AB3C-0C37-41DA-A9F9-4524866C50C1}"/>
              </a:ext>
            </a:extLst>
          </p:cNvPr>
          <p:cNvSpPr>
            <a:spLocks noGrp="1"/>
          </p:cNvSpPr>
          <p:nvPr>
            <p:ph sz="quarter" idx="16"/>
          </p:nvPr>
        </p:nvSpPr>
        <p:spPr>
          <a:xfrm>
            <a:off x="304800" y="1571221"/>
            <a:ext cx="8534400" cy="1356129"/>
          </a:xfrm>
        </p:spPr>
        <p:txBody>
          <a:bodyPr>
            <a:normAutofit fontScale="92500"/>
          </a:bodyPr>
          <a:lstStyle/>
          <a:p>
            <a:r>
              <a:rPr lang="en-US" sz="2400" b="1" noProof="0" dirty="0"/>
              <a:t>Illustration:</a:t>
            </a:r>
            <a:r>
              <a:rPr lang="en-US" sz="2400" noProof="0" dirty="0"/>
              <a:t> </a:t>
            </a:r>
            <a:r>
              <a:rPr lang="en-US" sz="2400" dirty="0"/>
              <a:t>McChesney Mines, Inc. </a:t>
            </a:r>
            <a:r>
              <a:rPr lang="en-US" sz="2400" noProof="0" dirty="0"/>
              <a:t>issued a “dividend” to its common stockholders of $1,200,000. The announcement noted stockholders should consider $900,000 as income and the remainder a return of capital. </a:t>
            </a:r>
            <a:r>
              <a:rPr lang="en-US" sz="2400" dirty="0"/>
              <a:t>McChesney</a:t>
            </a:r>
            <a:r>
              <a:rPr lang="en-US" sz="2400" noProof="0" dirty="0"/>
              <a:t> Mines records the dividend as follows.</a:t>
            </a:r>
          </a:p>
        </p:txBody>
      </p:sp>
      <p:sp>
        <p:nvSpPr>
          <p:cNvPr id="47" name="Content Placeholder 46">
            <a:extLst>
              <a:ext uri="{FF2B5EF4-FFF2-40B4-BE49-F238E27FC236}">
                <a16:creationId xmlns:a16="http://schemas.microsoft.com/office/drawing/2014/main" id="{348AF003-192B-4B34-B137-6F2FF71564B9}"/>
              </a:ext>
            </a:extLst>
          </p:cNvPr>
          <p:cNvSpPr>
            <a:spLocks noGrp="1"/>
          </p:cNvSpPr>
          <p:nvPr>
            <p:ph sz="quarter" idx="17"/>
          </p:nvPr>
        </p:nvSpPr>
        <p:spPr>
          <a:xfrm>
            <a:off x="304800" y="2962997"/>
            <a:ext cx="2825195" cy="345998"/>
          </a:xfrm>
        </p:spPr>
        <p:txBody>
          <a:bodyPr>
            <a:noAutofit/>
          </a:bodyPr>
          <a:lstStyle/>
          <a:p>
            <a:r>
              <a:rPr lang="en-US" sz="2200" b="1" noProof="0" dirty="0">
                <a:latin typeface="Calibri" panose="020F0502020204030204" pitchFamily="34" charset="0"/>
              </a:rPr>
              <a:t>At date of declaration</a:t>
            </a:r>
            <a:endParaRPr lang="en-US" sz="2200" noProof="0" dirty="0"/>
          </a:p>
        </p:txBody>
      </p:sp>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303093" y="3481502"/>
            <a:ext cx="3505200" cy="393699"/>
          </a:xfrm>
        </p:spPr>
        <p:txBody>
          <a:bodyPr>
            <a:noAutofit/>
          </a:bodyPr>
          <a:lstStyle/>
          <a:p>
            <a:r>
              <a:rPr lang="en-US" sz="2400" noProof="0" dirty="0">
                <a:latin typeface="Calibri" panose="020F0502020204030204" pitchFamily="34" charset="0"/>
              </a:rPr>
              <a:t>Retained Earnings</a:t>
            </a:r>
            <a:endParaRPr lang="en-US" sz="2400" noProof="0" dirty="0"/>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5937195" y="3566566"/>
            <a:ext cx="1291130" cy="393699"/>
          </a:xfrm>
        </p:spPr>
        <p:txBody>
          <a:bodyPr>
            <a:normAutofit lnSpcReduction="10000"/>
          </a:bodyPr>
          <a:lstStyle/>
          <a:p>
            <a:pPr algn="r"/>
            <a:r>
              <a:rPr lang="en-US" sz="2400" noProof="0" dirty="0">
                <a:latin typeface="Calibri" panose="020F0502020204030204" pitchFamily="34" charset="0"/>
              </a:rPr>
              <a:t>900,000</a:t>
            </a:r>
            <a:endParaRPr lang="en-US" sz="2400" noProof="0" dirty="0"/>
          </a:p>
        </p:txBody>
      </p:sp>
      <p:sp>
        <p:nvSpPr>
          <p:cNvPr id="53" name="Content Placeholder 52">
            <a:extLst>
              <a:ext uri="{FF2B5EF4-FFF2-40B4-BE49-F238E27FC236}">
                <a16:creationId xmlns:a16="http://schemas.microsoft.com/office/drawing/2014/main" id="{86043B11-5449-4E34-8B19-6F7182A056A1}"/>
              </a:ext>
            </a:extLst>
          </p:cNvPr>
          <p:cNvSpPr>
            <a:spLocks noGrp="1"/>
          </p:cNvSpPr>
          <p:nvPr>
            <p:ph sz="quarter" idx="23"/>
          </p:nvPr>
        </p:nvSpPr>
        <p:spPr>
          <a:xfrm>
            <a:off x="304800" y="4036160"/>
            <a:ext cx="5329730" cy="381000"/>
          </a:xfrm>
        </p:spPr>
        <p:txBody>
          <a:bodyPr>
            <a:noAutofit/>
          </a:bodyPr>
          <a:lstStyle/>
          <a:p>
            <a:r>
              <a:rPr lang="en-US" sz="2400" noProof="0" dirty="0"/>
              <a:t>Paid-in Capital in Excess of Par—Common</a:t>
            </a:r>
          </a:p>
        </p:txBody>
      </p:sp>
      <p:sp>
        <p:nvSpPr>
          <p:cNvPr id="67" name="Content Placeholder 66">
            <a:extLst>
              <a:ext uri="{FF2B5EF4-FFF2-40B4-BE49-F238E27FC236}">
                <a16:creationId xmlns:a16="http://schemas.microsoft.com/office/drawing/2014/main" id="{7EF7B8D6-8518-47A7-A535-940B1E7F7D73}"/>
              </a:ext>
            </a:extLst>
          </p:cNvPr>
          <p:cNvSpPr>
            <a:spLocks noGrp="1"/>
          </p:cNvSpPr>
          <p:nvPr>
            <p:ph sz="quarter" idx="37"/>
          </p:nvPr>
        </p:nvSpPr>
        <p:spPr>
          <a:xfrm>
            <a:off x="5938659" y="4068059"/>
            <a:ext cx="1291130" cy="381000"/>
          </a:xfrm>
        </p:spPr>
        <p:txBody>
          <a:bodyPr>
            <a:normAutofit fontScale="85000" lnSpcReduction="20000"/>
          </a:bodyPr>
          <a:lstStyle/>
          <a:p>
            <a:pPr algn="r"/>
            <a:r>
              <a:rPr lang="en-US" noProof="0" dirty="0">
                <a:latin typeface="Calibri" panose="020F0502020204030204" pitchFamily="34" charset="0"/>
              </a:rPr>
              <a:t>300,000</a:t>
            </a:r>
            <a:endParaRPr lang="en-US" noProof="0" dirty="0"/>
          </a:p>
        </p:txBody>
      </p:sp>
      <p:sp>
        <p:nvSpPr>
          <p:cNvPr id="52" name="Content Placeholder 51">
            <a:extLst>
              <a:ext uri="{FF2B5EF4-FFF2-40B4-BE49-F238E27FC236}">
                <a16:creationId xmlns:a16="http://schemas.microsoft.com/office/drawing/2014/main" id="{6ADB1848-582C-4D88-B6E6-69871FF2B960}"/>
              </a:ext>
            </a:extLst>
          </p:cNvPr>
          <p:cNvSpPr>
            <a:spLocks noGrp="1"/>
          </p:cNvSpPr>
          <p:nvPr>
            <p:ph sz="quarter" idx="22"/>
          </p:nvPr>
        </p:nvSpPr>
        <p:spPr>
          <a:xfrm>
            <a:off x="929040" y="4516395"/>
            <a:ext cx="2880960" cy="304800"/>
          </a:xfrm>
        </p:spPr>
        <p:txBody>
          <a:bodyPr>
            <a:noAutofit/>
          </a:bodyPr>
          <a:lstStyle/>
          <a:p>
            <a:r>
              <a:rPr lang="en-US" sz="2400" noProof="0" dirty="0">
                <a:latin typeface="Calibri" panose="020F0502020204030204" pitchFamily="34" charset="0"/>
              </a:rPr>
              <a:t>Dividends Payable</a:t>
            </a:r>
            <a:endParaRPr lang="en-US" sz="2400" noProof="0" dirty="0"/>
          </a:p>
        </p:txBody>
      </p:sp>
      <p:sp>
        <p:nvSpPr>
          <p:cNvPr id="66" name="Content Placeholder 65">
            <a:extLst>
              <a:ext uri="{FF2B5EF4-FFF2-40B4-BE49-F238E27FC236}">
                <a16:creationId xmlns:a16="http://schemas.microsoft.com/office/drawing/2014/main" id="{8A3CEE6B-7DD6-4CB7-AC77-B73CD90E3399}"/>
              </a:ext>
            </a:extLst>
          </p:cNvPr>
          <p:cNvSpPr>
            <a:spLocks noGrp="1"/>
          </p:cNvSpPr>
          <p:nvPr>
            <p:ph sz="quarter" idx="36"/>
          </p:nvPr>
        </p:nvSpPr>
        <p:spPr>
          <a:xfrm>
            <a:off x="7381929" y="4534001"/>
            <a:ext cx="1440191" cy="381000"/>
          </a:xfrm>
        </p:spPr>
        <p:txBody>
          <a:bodyPr>
            <a:normAutofit fontScale="85000" lnSpcReduction="20000"/>
          </a:bodyPr>
          <a:lstStyle/>
          <a:p>
            <a:pPr algn="r"/>
            <a:r>
              <a:rPr lang="en-US" noProof="0" dirty="0">
                <a:latin typeface="Calibri" panose="020F0502020204030204" pitchFamily="34" charset="0"/>
              </a:rPr>
              <a:t>1,200,000</a:t>
            </a:r>
            <a:endParaRPr lang="en-US" noProof="0" dirty="0"/>
          </a:p>
        </p:txBody>
      </p:sp>
      <p:sp>
        <p:nvSpPr>
          <p:cNvPr id="54" name="Content Placeholder 53">
            <a:extLst>
              <a:ext uri="{FF2B5EF4-FFF2-40B4-BE49-F238E27FC236}">
                <a16:creationId xmlns:a16="http://schemas.microsoft.com/office/drawing/2014/main" id="{0C7FEF26-95EB-4096-8C18-AC9359459C7D}"/>
              </a:ext>
            </a:extLst>
          </p:cNvPr>
          <p:cNvSpPr>
            <a:spLocks noGrp="1"/>
          </p:cNvSpPr>
          <p:nvPr>
            <p:ph sz="quarter" idx="24"/>
          </p:nvPr>
        </p:nvSpPr>
        <p:spPr>
          <a:xfrm>
            <a:off x="304799" y="4945375"/>
            <a:ext cx="3963620" cy="381000"/>
          </a:xfrm>
        </p:spPr>
        <p:txBody>
          <a:bodyPr>
            <a:noAutofit/>
          </a:bodyPr>
          <a:lstStyle/>
          <a:p>
            <a:r>
              <a:rPr lang="en-US" sz="2400" b="1" noProof="0" dirty="0">
                <a:latin typeface="Calibri" panose="020F0502020204030204" pitchFamily="34" charset="0"/>
              </a:rPr>
              <a:t>At date of payment</a:t>
            </a:r>
            <a:endParaRPr lang="en-US" sz="2400" noProof="0" dirty="0"/>
          </a:p>
        </p:txBody>
      </p:sp>
      <p:sp>
        <p:nvSpPr>
          <p:cNvPr id="55" name="Content Placeholder 54">
            <a:extLst>
              <a:ext uri="{FF2B5EF4-FFF2-40B4-BE49-F238E27FC236}">
                <a16:creationId xmlns:a16="http://schemas.microsoft.com/office/drawing/2014/main" id="{CD798BDB-7AC2-44FC-8A10-B497D8BB2E4F}"/>
              </a:ext>
            </a:extLst>
          </p:cNvPr>
          <p:cNvSpPr>
            <a:spLocks noGrp="1"/>
          </p:cNvSpPr>
          <p:nvPr>
            <p:ph sz="quarter" idx="25"/>
          </p:nvPr>
        </p:nvSpPr>
        <p:spPr>
          <a:xfrm>
            <a:off x="304800" y="5365919"/>
            <a:ext cx="2597510" cy="380999"/>
          </a:xfrm>
        </p:spPr>
        <p:txBody>
          <a:bodyPr>
            <a:noAutofit/>
          </a:bodyPr>
          <a:lstStyle/>
          <a:p>
            <a:r>
              <a:rPr lang="en-US" sz="2400" noProof="0" dirty="0">
                <a:latin typeface="Calibri" panose="020F0502020204030204" pitchFamily="34" charset="0"/>
              </a:rPr>
              <a:t>Dividends Payable</a:t>
            </a:r>
            <a:endParaRPr lang="en-US" sz="2400" noProof="0" dirty="0"/>
          </a:p>
        </p:txBody>
      </p:sp>
      <p:sp>
        <p:nvSpPr>
          <p:cNvPr id="68" name="Content Placeholder 67">
            <a:extLst>
              <a:ext uri="{FF2B5EF4-FFF2-40B4-BE49-F238E27FC236}">
                <a16:creationId xmlns:a16="http://schemas.microsoft.com/office/drawing/2014/main" id="{D3BECD02-EE9D-43D4-A7C7-DE386AB34CCD}"/>
              </a:ext>
            </a:extLst>
          </p:cNvPr>
          <p:cNvSpPr>
            <a:spLocks noGrp="1"/>
          </p:cNvSpPr>
          <p:nvPr>
            <p:ph sz="quarter" idx="38"/>
          </p:nvPr>
        </p:nvSpPr>
        <p:spPr>
          <a:xfrm>
            <a:off x="5786869" y="5442098"/>
            <a:ext cx="1441456" cy="380999"/>
          </a:xfrm>
        </p:spPr>
        <p:txBody>
          <a:bodyPr>
            <a:normAutofit fontScale="85000" lnSpcReduction="20000"/>
          </a:bodyPr>
          <a:lstStyle/>
          <a:p>
            <a:pPr algn="r"/>
            <a:r>
              <a:rPr lang="en-US" noProof="0" dirty="0">
                <a:latin typeface="Calibri" panose="020F0502020204030204" pitchFamily="34" charset="0"/>
              </a:rPr>
              <a:t>1,200,000</a:t>
            </a:r>
            <a:endParaRPr lang="en-US" noProof="0" dirty="0"/>
          </a:p>
        </p:txBody>
      </p:sp>
      <p:sp>
        <p:nvSpPr>
          <p:cNvPr id="56" name="Content Placeholder 55">
            <a:extLst>
              <a:ext uri="{FF2B5EF4-FFF2-40B4-BE49-F238E27FC236}">
                <a16:creationId xmlns:a16="http://schemas.microsoft.com/office/drawing/2014/main" id="{3EBC5983-62F1-42CF-A31C-8CF3BF632420}"/>
              </a:ext>
            </a:extLst>
          </p:cNvPr>
          <p:cNvSpPr>
            <a:spLocks noGrp="1"/>
          </p:cNvSpPr>
          <p:nvPr>
            <p:ph sz="quarter" idx="26"/>
          </p:nvPr>
        </p:nvSpPr>
        <p:spPr>
          <a:xfrm>
            <a:off x="1308515" y="5771632"/>
            <a:ext cx="927820" cy="400567"/>
          </a:xfrm>
        </p:spPr>
        <p:txBody>
          <a:bodyPr>
            <a:noAutofit/>
          </a:bodyPr>
          <a:lstStyle/>
          <a:p>
            <a:r>
              <a:rPr lang="en-US" sz="2400" noProof="0" dirty="0">
                <a:latin typeface="Calibri" panose="020F0502020204030204" pitchFamily="34" charset="0"/>
              </a:rPr>
              <a:t>Cash</a:t>
            </a:r>
            <a:endParaRPr lang="en-US" sz="2400" noProof="0" dirty="0"/>
          </a:p>
        </p:txBody>
      </p:sp>
      <p:sp>
        <p:nvSpPr>
          <p:cNvPr id="69" name="Content Placeholder 68">
            <a:extLst>
              <a:ext uri="{FF2B5EF4-FFF2-40B4-BE49-F238E27FC236}">
                <a16:creationId xmlns:a16="http://schemas.microsoft.com/office/drawing/2014/main" id="{7DC85FC8-8F67-4B19-AEE0-A881269A8042}"/>
              </a:ext>
            </a:extLst>
          </p:cNvPr>
          <p:cNvSpPr>
            <a:spLocks noGrp="1"/>
          </p:cNvSpPr>
          <p:nvPr>
            <p:ph sz="quarter" idx="39"/>
          </p:nvPr>
        </p:nvSpPr>
        <p:spPr>
          <a:xfrm>
            <a:off x="7379200" y="5845482"/>
            <a:ext cx="1423978" cy="381000"/>
          </a:xfrm>
        </p:spPr>
        <p:txBody>
          <a:bodyPr>
            <a:normAutofit fontScale="85000" lnSpcReduction="20000"/>
          </a:bodyPr>
          <a:lstStyle/>
          <a:p>
            <a:pPr algn="r"/>
            <a:r>
              <a:rPr lang="en-US" noProof="0" dirty="0">
                <a:latin typeface="Calibri" panose="020F0502020204030204" pitchFamily="34" charset="0"/>
              </a:rPr>
              <a:t>1,200,000</a:t>
            </a:r>
            <a:endParaRPr lang="en-US" noProof="0" dirty="0"/>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50810"/>
            <a:ext cx="749300" cy="365125"/>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a:ln>
            <a:noFill/>
          </a:ln>
        </p:spPr>
        <p:txBody>
          <a:bodyPr/>
          <a:lstStyle/>
          <a:p>
            <a:fld id="{67B19427-F580-D146-B60E-4CADEE75497F}" type="slidenum">
              <a:rPr lang="en-US" smtClean="0">
                <a:solidFill>
                  <a:schemeClr val="tx1"/>
                </a:solidFill>
              </a:rPr>
              <a:pPr/>
              <a:t>54</a:t>
            </a:fld>
            <a:endParaRPr lang="en-US" dirty="0">
              <a:solidFill>
                <a:schemeClr val="tx1"/>
              </a:solidFill>
            </a:endParaRPr>
          </a:p>
        </p:txBody>
      </p:sp>
      <p:sp>
        <p:nvSpPr>
          <p:cNvPr id="5" name="Footer Placeholder 4"/>
          <p:cNvSpPr>
            <a:spLocks noGrp="1"/>
          </p:cNvSpPr>
          <p:nvPr>
            <p:ph type="ftr" sz="quarter" idx="11"/>
          </p:nvPr>
        </p:nvSpPr>
        <p:spPr>
          <a:ln>
            <a:noFill/>
          </a:ln>
        </p:spPr>
        <p:txBody>
          <a:bodyPr/>
          <a:lstStyle/>
          <a:p>
            <a:r>
              <a:rPr lang="en-US" dirty="0">
                <a:solidFill>
                  <a:schemeClr val="tx1"/>
                </a:solidFill>
              </a:rPr>
              <a:t>Copyright ©2019 John Wiley &amp; Sons, Inc. </a:t>
            </a:r>
          </a:p>
        </p:txBody>
      </p:sp>
    </p:spTree>
    <p:extLst>
      <p:ext uri="{BB962C8B-B14F-4D97-AF65-F5344CB8AC3E}">
        <p14:creationId xmlns:p14="http://schemas.microsoft.com/office/powerpoint/2010/main" val="101183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P spid="49" grpId="0" build="p"/>
      <p:bldP spid="65" grpId="0" build="p"/>
      <p:bldP spid="53" grpId="0" build="p"/>
      <p:bldP spid="67" grpId="0" build="p"/>
      <p:bldP spid="52" grpId="0" build="p"/>
      <p:bldP spid="66" grpId="0" build="p"/>
      <p:bldP spid="54" grpId="0" build="p"/>
      <p:bldP spid="55" grpId="0" build="p"/>
      <p:bldP spid="68" grpId="0" build="p"/>
      <p:bldP spid="56" grpId="0" build="p"/>
      <p:bldP spid="69"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solidFill>
                  <a:srgbClr val="196E78"/>
                </a:solidFill>
              </a:rPr>
              <a:t>Stock Dividends and Stock Splits</a:t>
            </a:r>
            <a:br>
              <a:rPr lang="en-US" noProof="0" dirty="0">
                <a:solidFill>
                  <a:srgbClr val="196E78"/>
                </a:solidFill>
              </a:rPr>
            </a:br>
            <a:r>
              <a:rPr lang="en-US" sz="2800" noProof="0" dirty="0">
                <a:solidFill>
                  <a:schemeClr val="tx1"/>
                </a:solidFill>
              </a:rPr>
              <a:t>Stock Dividends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911100"/>
            <a:ext cx="8534400" cy="4184898"/>
          </a:xfrm>
        </p:spPr>
        <p:txBody>
          <a:bodyPr>
            <a:normAutofit/>
          </a:bodyPr>
          <a:lstStyle/>
          <a:p>
            <a:pPr>
              <a:lnSpc>
                <a:spcPct val="100000"/>
              </a:lnSpc>
              <a:spcBef>
                <a:spcPts val="1200"/>
              </a:spcBef>
            </a:pPr>
            <a:r>
              <a:rPr lang="en-US" noProof="0" dirty="0"/>
              <a:t>Issuance by a company of its own stock to stockholders on a pro rata basis, without receiving any consideration.</a:t>
            </a:r>
          </a:p>
          <a:p>
            <a:pPr marL="291600" indent="-291600">
              <a:lnSpc>
                <a:spcPct val="100000"/>
              </a:lnSpc>
              <a:buFont typeface="Arial" pitchFamily="34" charset="0"/>
              <a:buChar char="•"/>
            </a:pPr>
            <a:r>
              <a:rPr lang="en-US" noProof="0" dirty="0"/>
              <a:t>Used when management wishes to “capitalize” part of earnings.</a:t>
            </a:r>
          </a:p>
          <a:p>
            <a:pPr marL="291600" indent="-291600">
              <a:lnSpc>
                <a:spcPct val="100000"/>
              </a:lnSpc>
              <a:buFont typeface="Arial" pitchFamily="34" charset="0"/>
              <a:buChar char="•"/>
            </a:pPr>
            <a:r>
              <a:rPr lang="en-US" noProof="0" dirty="0"/>
              <a:t>If stock dividend is less than 20 to 25 percent of the common shares outstanding, company transfers fair market value from retained earnings (</a:t>
            </a:r>
            <a:r>
              <a:rPr lang="en-US" b="1" noProof="0" dirty="0">
                <a:solidFill>
                  <a:srgbClr val="00007F"/>
                </a:solidFill>
              </a:rPr>
              <a:t>small stock dividend</a:t>
            </a:r>
            <a:r>
              <a:rPr lang="en-US" noProof="0" dirty="0"/>
              <a:t>).</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55</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1570089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7CA445FE-2175-4BD8-B2E8-CF4FB56C1EC5}"/>
              </a:ext>
            </a:extLst>
          </p:cNvPr>
          <p:cNvSpPr>
            <a:spLocks noGrp="1"/>
          </p:cNvSpPr>
          <p:nvPr>
            <p:ph type="title"/>
          </p:nvPr>
        </p:nvSpPr>
        <p:spPr/>
        <p:txBody>
          <a:bodyPr/>
          <a:lstStyle/>
          <a:p>
            <a:r>
              <a:rPr lang="en-US" noProof="0" dirty="0"/>
              <a:t>Stock Dividends</a:t>
            </a:r>
          </a:p>
        </p:txBody>
      </p:sp>
      <p:sp>
        <p:nvSpPr>
          <p:cNvPr id="46" name="Content Placeholder 45">
            <a:extLst>
              <a:ext uri="{FF2B5EF4-FFF2-40B4-BE49-F238E27FC236}">
                <a16:creationId xmlns:a16="http://schemas.microsoft.com/office/drawing/2014/main" id="{C8C8AB3C-0C37-41DA-A9F9-4524866C50C1}"/>
              </a:ext>
            </a:extLst>
          </p:cNvPr>
          <p:cNvSpPr>
            <a:spLocks noGrp="1"/>
          </p:cNvSpPr>
          <p:nvPr>
            <p:ph sz="quarter" idx="16"/>
          </p:nvPr>
        </p:nvSpPr>
        <p:spPr>
          <a:xfrm>
            <a:off x="304800" y="1592496"/>
            <a:ext cx="8534400" cy="1577298"/>
          </a:xfrm>
        </p:spPr>
        <p:txBody>
          <a:bodyPr>
            <a:normAutofit lnSpcReduction="10000"/>
          </a:bodyPr>
          <a:lstStyle/>
          <a:p>
            <a:r>
              <a:rPr lang="en-US" sz="2400" b="1" noProof="0" dirty="0"/>
              <a:t>Illustration:</a:t>
            </a:r>
            <a:r>
              <a:rPr lang="en-US" sz="2400" noProof="0" dirty="0"/>
              <a:t> Vine Corporation has outstanding 1,000 shares of $100 par value common stock and retained earnings of $50,000. If Vine declares a 10 percent stock dividend, it issues 100 additional shares to current stockholders. If the fair value of the stock at the time of the stock dividend is $130 per share, the entry is:</a:t>
            </a:r>
          </a:p>
        </p:txBody>
      </p:sp>
      <p:sp>
        <p:nvSpPr>
          <p:cNvPr id="47" name="Content Placeholder 46">
            <a:extLst>
              <a:ext uri="{FF2B5EF4-FFF2-40B4-BE49-F238E27FC236}">
                <a16:creationId xmlns:a16="http://schemas.microsoft.com/office/drawing/2014/main" id="{348AF003-192B-4B34-B137-6F2FF71564B9}"/>
              </a:ext>
            </a:extLst>
          </p:cNvPr>
          <p:cNvSpPr>
            <a:spLocks noGrp="1"/>
          </p:cNvSpPr>
          <p:nvPr>
            <p:ph sz="quarter" idx="17"/>
          </p:nvPr>
        </p:nvSpPr>
        <p:spPr>
          <a:xfrm>
            <a:off x="304800" y="3199965"/>
            <a:ext cx="2825195" cy="345998"/>
          </a:xfrm>
        </p:spPr>
        <p:txBody>
          <a:bodyPr>
            <a:noAutofit/>
          </a:bodyPr>
          <a:lstStyle/>
          <a:p>
            <a:r>
              <a:rPr lang="en-US" sz="2200" b="1" noProof="0" dirty="0">
                <a:latin typeface="Calibri" panose="020F0502020204030204" pitchFamily="34" charset="0"/>
              </a:rPr>
              <a:t>At date of declaration</a:t>
            </a:r>
            <a:endParaRPr lang="en-US" sz="2200" noProof="0" dirty="0"/>
          </a:p>
        </p:txBody>
      </p:sp>
      <p:sp>
        <p:nvSpPr>
          <p:cNvPr id="49" name="Content Placeholder 48">
            <a:extLst>
              <a:ext uri="{FF2B5EF4-FFF2-40B4-BE49-F238E27FC236}">
                <a16:creationId xmlns:a16="http://schemas.microsoft.com/office/drawing/2014/main" id="{64C50A47-8BB1-4017-ADCD-295FFD3B1EA8}"/>
              </a:ext>
            </a:extLst>
          </p:cNvPr>
          <p:cNvSpPr>
            <a:spLocks noGrp="1"/>
          </p:cNvSpPr>
          <p:nvPr>
            <p:ph sz="quarter" idx="19"/>
          </p:nvPr>
        </p:nvSpPr>
        <p:spPr>
          <a:xfrm>
            <a:off x="303093" y="3599929"/>
            <a:ext cx="3505200" cy="393699"/>
          </a:xfrm>
        </p:spPr>
        <p:txBody>
          <a:bodyPr>
            <a:noAutofit/>
          </a:bodyPr>
          <a:lstStyle/>
          <a:p>
            <a:r>
              <a:rPr lang="en-US" sz="2400" noProof="0" dirty="0">
                <a:latin typeface="Calibri" panose="020F0502020204030204" pitchFamily="34" charset="0"/>
              </a:rPr>
              <a:t>Retained Earnings</a:t>
            </a:r>
            <a:endParaRPr lang="en-US" sz="2400" noProof="0" dirty="0"/>
          </a:p>
        </p:txBody>
      </p:sp>
      <p:sp>
        <p:nvSpPr>
          <p:cNvPr id="65" name="Content Placeholder 64">
            <a:extLst>
              <a:ext uri="{FF2B5EF4-FFF2-40B4-BE49-F238E27FC236}">
                <a16:creationId xmlns:a16="http://schemas.microsoft.com/office/drawing/2014/main" id="{04D32AA3-4B56-4652-872C-3C8EB174FA5C}"/>
              </a:ext>
            </a:extLst>
          </p:cNvPr>
          <p:cNvSpPr>
            <a:spLocks noGrp="1"/>
          </p:cNvSpPr>
          <p:nvPr>
            <p:ph sz="quarter" idx="35"/>
          </p:nvPr>
        </p:nvSpPr>
        <p:spPr>
          <a:xfrm>
            <a:off x="5937195" y="3684993"/>
            <a:ext cx="1291130" cy="393699"/>
          </a:xfrm>
        </p:spPr>
        <p:txBody>
          <a:bodyPr>
            <a:normAutofit lnSpcReduction="10000"/>
          </a:bodyPr>
          <a:lstStyle/>
          <a:p>
            <a:pPr algn="r"/>
            <a:r>
              <a:rPr lang="en-US" sz="2400" noProof="0" dirty="0">
                <a:latin typeface="Calibri" panose="020F0502020204030204" pitchFamily="34" charset="0"/>
              </a:rPr>
              <a:t>13,000</a:t>
            </a:r>
            <a:endParaRPr lang="en-US" sz="2400" noProof="0" dirty="0"/>
          </a:p>
        </p:txBody>
      </p:sp>
      <p:sp>
        <p:nvSpPr>
          <p:cNvPr id="53" name="Content Placeholder 52">
            <a:extLst>
              <a:ext uri="{FF2B5EF4-FFF2-40B4-BE49-F238E27FC236}">
                <a16:creationId xmlns:a16="http://schemas.microsoft.com/office/drawing/2014/main" id="{86043B11-5449-4E34-8B19-6F7182A056A1}"/>
              </a:ext>
            </a:extLst>
          </p:cNvPr>
          <p:cNvSpPr>
            <a:spLocks noGrp="1"/>
          </p:cNvSpPr>
          <p:nvPr>
            <p:ph sz="quarter" idx="23"/>
          </p:nvPr>
        </p:nvSpPr>
        <p:spPr>
          <a:xfrm>
            <a:off x="886810" y="4154587"/>
            <a:ext cx="5026699" cy="381000"/>
          </a:xfrm>
        </p:spPr>
        <p:txBody>
          <a:bodyPr>
            <a:noAutofit/>
          </a:bodyPr>
          <a:lstStyle/>
          <a:p>
            <a:r>
              <a:rPr lang="en-US" sz="2400" noProof="0" dirty="0"/>
              <a:t>Common Stock Dividend Distributable</a:t>
            </a:r>
          </a:p>
        </p:txBody>
      </p:sp>
      <p:sp>
        <p:nvSpPr>
          <p:cNvPr id="67" name="Content Placeholder 66">
            <a:extLst>
              <a:ext uri="{FF2B5EF4-FFF2-40B4-BE49-F238E27FC236}">
                <a16:creationId xmlns:a16="http://schemas.microsoft.com/office/drawing/2014/main" id="{7EF7B8D6-8518-47A7-A535-940B1E7F7D73}"/>
              </a:ext>
            </a:extLst>
          </p:cNvPr>
          <p:cNvSpPr>
            <a:spLocks noGrp="1"/>
          </p:cNvSpPr>
          <p:nvPr>
            <p:ph sz="quarter" idx="37"/>
          </p:nvPr>
        </p:nvSpPr>
        <p:spPr>
          <a:xfrm>
            <a:off x="7499091" y="4186486"/>
            <a:ext cx="1291130" cy="381000"/>
          </a:xfrm>
        </p:spPr>
        <p:txBody>
          <a:bodyPr>
            <a:normAutofit fontScale="85000" lnSpcReduction="20000"/>
          </a:bodyPr>
          <a:lstStyle/>
          <a:p>
            <a:pPr algn="r"/>
            <a:r>
              <a:rPr lang="en-US" noProof="0" dirty="0">
                <a:latin typeface="Calibri" panose="020F0502020204030204" pitchFamily="34" charset="0"/>
              </a:rPr>
              <a:t>10,000</a:t>
            </a:r>
            <a:endParaRPr lang="en-US" noProof="0" dirty="0"/>
          </a:p>
        </p:txBody>
      </p:sp>
      <p:sp>
        <p:nvSpPr>
          <p:cNvPr id="52" name="Content Placeholder 51">
            <a:extLst>
              <a:ext uri="{FF2B5EF4-FFF2-40B4-BE49-F238E27FC236}">
                <a16:creationId xmlns:a16="http://schemas.microsoft.com/office/drawing/2014/main" id="{6ADB1848-582C-4D88-B6E6-69871FF2B960}"/>
              </a:ext>
            </a:extLst>
          </p:cNvPr>
          <p:cNvSpPr>
            <a:spLocks noGrp="1"/>
          </p:cNvSpPr>
          <p:nvPr>
            <p:ph sz="quarter" idx="22"/>
          </p:nvPr>
        </p:nvSpPr>
        <p:spPr>
          <a:xfrm>
            <a:off x="886809" y="4634822"/>
            <a:ext cx="5354881" cy="304800"/>
          </a:xfrm>
        </p:spPr>
        <p:txBody>
          <a:bodyPr>
            <a:noAutofit/>
          </a:bodyPr>
          <a:lstStyle/>
          <a:p>
            <a:r>
              <a:rPr lang="en-US" sz="2400" noProof="0" dirty="0"/>
              <a:t>Paid-in Capital in Excess of Par—Common</a:t>
            </a:r>
          </a:p>
        </p:txBody>
      </p:sp>
      <p:sp>
        <p:nvSpPr>
          <p:cNvPr id="66" name="Content Placeholder 65">
            <a:extLst>
              <a:ext uri="{FF2B5EF4-FFF2-40B4-BE49-F238E27FC236}">
                <a16:creationId xmlns:a16="http://schemas.microsoft.com/office/drawing/2014/main" id="{8A3CEE6B-7DD6-4CB7-AC77-B73CD90E3399}"/>
              </a:ext>
            </a:extLst>
          </p:cNvPr>
          <p:cNvSpPr>
            <a:spLocks noGrp="1"/>
          </p:cNvSpPr>
          <p:nvPr>
            <p:ph sz="quarter" idx="36"/>
          </p:nvPr>
        </p:nvSpPr>
        <p:spPr>
          <a:xfrm>
            <a:off x="7520357" y="4652428"/>
            <a:ext cx="1291130" cy="381000"/>
          </a:xfrm>
        </p:spPr>
        <p:txBody>
          <a:bodyPr>
            <a:normAutofit fontScale="85000" lnSpcReduction="20000"/>
          </a:bodyPr>
          <a:lstStyle/>
          <a:p>
            <a:pPr algn="r"/>
            <a:r>
              <a:rPr lang="en-US" noProof="0" dirty="0">
                <a:latin typeface="Calibri" panose="020F0502020204030204" pitchFamily="34" charset="0"/>
              </a:rPr>
              <a:t>3,000</a:t>
            </a:r>
            <a:endParaRPr lang="en-US" noProof="0" dirty="0"/>
          </a:p>
        </p:txBody>
      </p:sp>
      <p:sp>
        <p:nvSpPr>
          <p:cNvPr id="54" name="Content Placeholder 53">
            <a:extLst>
              <a:ext uri="{FF2B5EF4-FFF2-40B4-BE49-F238E27FC236}">
                <a16:creationId xmlns:a16="http://schemas.microsoft.com/office/drawing/2014/main" id="{0C7FEF26-95EB-4096-8C18-AC9359459C7D}"/>
              </a:ext>
            </a:extLst>
          </p:cNvPr>
          <p:cNvSpPr>
            <a:spLocks noGrp="1"/>
          </p:cNvSpPr>
          <p:nvPr>
            <p:ph sz="quarter" idx="24"/>
          </p:nvPr>
        </p:nvSpPr>
        <p:spPr>
          <a:xfrm>
            <a:off x="304799" y="5063802"/>
            <a:ext cx="3963620" cy="381000"/>
          </a:xfrm>
        </p:spPr>
        <p:txBody>
          <a:bodyPr>
            <a:noAutofit/>
          </a:bodyPr>
          <a:lstStyle/>
          <a:p>
            <a:r>
              <a:rPr lang="en-US" sz="2200" b="1" noProof="0" dirty="0">
                <a:latin typeface="Calibri" panose="020F0502020204030204" pitchFamily="34" charset="0"/>
              </a:rPr>
              <a:t>At date of distribution</a:t>
            </a:r>
            <a:endParaRPr lang="en-US" sz="2200" noProof="0" dirty="0"/>
          </a:p>
        </p:txBody>
      </p:sp>
      <p:sp>
        <p:nvSpPr>
          <p:cNvPr id="55" name="Content Placeholder 54">
            <a:extLst>
              <a:ext uri="{FF2B5EF4-FFF2-40B4-BE49-F238E27FC236}">
                <a16:creationId xmlns:a16="http://schemas.microsoft.com/office/drawing/2014/main" id="{CD798BDB-7AC2-44FC-8A10-B497D8BB2E4F}"/>
              </a:ext>
            </a:extLst>
          </p:cNvPr>
          <p:cNvSpPr>
            <a:spLocks noGrp="1"/>
          </p:cNvSpPr>
          <p:nvPr>
            <p:ph sz="quarter" idx="25"/>
          </p:nvPr>
        </p:nvSpPr>
        <p:spPr>
          <a:xfrm>
            <a:off x="304799" y="5484346"/>
            <a:ext cx="5102045" cy="380999"/>
          </a:xfrm>
        </p:spPr>
        <p:txBody>
          <a:bodyPr>
            <a:noAutofit/>
          </a:bodyPr>
          <a:lstStyle/>
          <a:p>
            <a:r>
              <a:rPr lang="en-US" sz="2400" noProof="0" dirty="0"/>
              <a:t>Common Stock Dividend Distributable</a:t>
            </a:r>
          </a:p>
        </p:txBody>
      </p:sp>
      <p:sp>
        <p:nvSpPr>
          <p:cNvPr id="68" name="Content Placeholder 67">
            <a:extLst>
              <a:ext uri="{FF2B5EF4-FFF2-40B4-BE49-F238E27FC236}">
                <a16:creationId xmlns:a16="http://schemas.microsoft.com/office/drawing/2014/main" id="{D3BECD02-EE9D-43D4-A7C7-DE386AB34CCD}"/>
              </a:ext>
            </a:extLst>
          </p:cNvPr>
          <p:cNvSpPr>
            <a:spLocks noGrp="1"/>
          </p:cNvSpPr>
          <p:nvPr>
            <p:ph sz="quarter" idx="38"/>
          </p:nvPr>
        </p:nvSpPr>
        <p:spPr>
          <a:xfrm>
            <a:off x="5786869" y="5560525"/>
            <a:ext cx="1441456" cy="380999"/>
          </a:xfrm>
        </p:spPr>
        <p:txBody>
          <a:bodyPr>
            <a:normAutofit fontScale="85000" lnSpcReduction="20000"/>
          </a:bodyPr>
          <a:lstStyle/>
          <a:p>
            <a:pPr algn="r"/>
            <a:r>
              <a:rPr lang="en-US" noProof="0" dirty="0">
                <a:latin typeface="Calibri" panose="020F0502020204030204" pitchFamily="34" charset="0"/>
              </a:rPr>
              <a:t>10,000</a:t>
            </a:r>
            <a:endParaRPr lang="en-US" noProof="0" dirty="0"/>
          </a:p>
        </p:txBody>
      </p:sp>
      <p:sp>
        <p:nvSpPr>
          <p:cNvPr id="56" name="Content Placeholder 55">
            <a:extLst>
              <a:ext uri="{FF2B5EF4-FFF2-40B4-BE49-F238E27FC236}">
                <a16:creationId xmlns:a16="http://schemas.microsoft.com/office/drawing/2014/main" id="{3EBC5983-62F1-42CF-A31C-8CF3BF632420}"/>
              </a:ext>
            </a:extLst>
          </p:cNvPr>
          <p:cNvSpPr>
            <a:spLocks noGrp="1"/>
          </p:cNvSpPr>
          <p:nvPr>
            <p:ph sz="quarter" idx="26"/>
          </p:nvPr>
        </p:nvSpPr>
        <p:spPr>
          <a:xfrm>
            <a:off x="886809" y="5890059"/>
            <a:ext cx="2959904" cy="400567"/>
          </a:xfrm>
        </p:spPr>
        <p:txBody>
          <a:bodyPr>
            <a:noAutofit/>
          </a:bodyPr>
          <a:lstStyle/>
          <a:p>
            <a:r>
              <a:rPr lang="en-US" sz="2400" noProof="0" dirty="0">
                <a:latin typeface="Calibri" panose="020F0502020204030204" pitchFamily="34" charset="0"/>
              </a:rPr>
              <a:t>Common Stock</a:t>
            </a:r>
            <a:endParaRPr lang="en-US" sz="2400" noProof="0" dirty="0"/>
          </a:p>
        </p:txBody>
      </p:sp>
      <p:sp>
        <p:nvSpPr>
          <p:cNvPr id="69" name="Content Placeholder 68">
            <a:extLst>
              <a:ext uri="{FF2B5EF4-FFF2-40B4-BE49-F238E27FC236}">
                <a16:creationId xmlns:a16="http://schemas.microsoft.com/office/drawing/2014/main" id="{7DC85FC8-8F67-4B19-AEE0-A881269A8042}"/>
              </a:ext>
            </a:extLst>
          </p:cNvPr>
          <p:cNvSpPr>
            <a:spLocks noGrp="1"/>
          </p:cNvSpPr>
          <p:nvPr>
            <p:ph sz="quarter" idx="39"/>
          </p:nvPr>
        </p:nvSpPr>
        <p:spPr>
          <a:xfrm>
            <a:off x="7379200" y="5963909"/>
            <a:ext cx="1423978" cy="381000"/>
          </a:xfrm>
        </p:spPr>
        <p:txBody>
          <a:bodyPr>
            <a:normAutofit fontScale="85000" lnSpcReduction="20000"/>
          </a:bodyPr>
          <a:lstStyle/>
          <a:p>
            <a:pPr algn="r"/>
            <a:r>
              <a:rPr lang="en-US" noProof="0" dirty="0">
                <a:latin typeface="Calibri" panose="020F0502020204030204" pitchFamily="34" charset="0"/>
              </a:rPr>
              <a:t>10,000</a:t>
            </a:r>
            <a:endParaRPr lang="en-US" noProof="0" dirty="0"/>
          </a:p>
        </p:txBody>
      </p:sp>
      <p:sp>
        <p:nvSpPr>
          <p:cNvPr id="75" name="COB/LO">
            <a:extLst>
              <a:ext uri="{FF2B5EF4-FFF2-40B4-BE49-F238E27FC236}">
                <a16:creationId xmlns:a16="http://schemas.microsoft.com/office/drawing/2014/main" id="{3C7EE0EC-0E69-4E4C-8F21-A7C5D5ED486E}"/>
              </a:ext>
            </a:extLst>
          </p:cNvPr>
          <p:cNvSpPr txBox="1">
            <a:spLocks noGrp="1"/>
          </p:cNvSpPr>
          <p:nvPr>
            <p:ph sz="quarter" idx="44"/>
          </p:nvPr>
        </p:nvSpPr>
        <p:spPr>
          <a:xfrm>
            <a:off x="331788" y="6350810"/>
            <a:ext cx="749300" cy="365125"/>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a:ln>
            <a:noFill/>
          </a:ln>
        </p:spPr>
        <p:txBody>
          <a:bodyPr/>
          <a:lstStyle/>
          <a:p>
            <a:fld id="{67B19427-F580-D146-B60E-4CADEE75497F}" type="slidenum">
              <a:rPr lang="en-US" smtClean="0">
                <a:solidFill>
                  <a:schemeClr val="tx1"/>
                </a:solidFill>
              </a:rPr>
              <a:pPr/>
              <a:t>56</a:t>
            </a:fld>
            <a:endParaRPr lang="en-US" dirty="0">
              <a:solidFill>
                <a:schemeClr val="tx1"/>
              </a:solidFill>
            </a:endParaRPr>
          </a:p>
        </p:txBody>
      </p:sp>
      <p:sp>
        <p:nvSpPr>
          <p:cNvPr id="5" name="Footer Placeholder 4"/>
          <p:cNvSpPr>
            <a:spLocks noGrp="1"/>
          </p:cNvSpPr>
          <p:nvPr>
            <p:ph type="ftr" sz="quarter" idx="11"/>
          </p:nvPr>
        </p:nvSpPr>
        <p:spPr>
          <a:ln>
            <a:noFill/>
          </a:ln>
        </p:spPr>
        <p:txBody>
          <a:bodyPr/>
          <a:lstStyle/>
          <a:p>
            <a:r>
              <a:rPr lang="en-US" dirty="0">
                <a:solidFill>
                  <a:schemeClr val="tx1"/>
                </a:solidFill>
              </a:rPr>
              <a:t>Copyright ©2019 John Wiley &amp; Sons, Inc. </a:t>
            </a:r>
          </a:p>
        </p:txBody>
      </p:sp>
    </p:spTree>
    <p:extLst>
      <p:ext uri="{BB962C8B-B14F-4D97-AF65-F5344CB8AC3E}">
        <p14:creationId xmlns:p14="http://schemas.microsoft.com/office/powerpoint/2010/main" val="318424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P spid="49" grpId="0" build="p"/>
      <p:bldP spid="65" grpId="0" build="p"/>
      <p:bldP spid="53" grpId="0" build="p"/>
      <p:bldP spid="67" grpId="0" build="p"/>
      <p:bldP spid="52" grpId="0" build="p"/>
      <p:bldP spid="66" grpId="0" build="p"/>
      <p:bldP spid="54" grpId="0" build="p"/>
      <p:bldP spid="55" grpId="0" build="p"/>
      <p:bldP spid="68" grpId="0" build="p"/>
      <p:bldP spid="56" grpId="0" build="p"/>
      <p:bldP spid="69"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534400" cy="1477328"/>
          </a:xfrm>
        </p:spPr>
        <p:txBody>
          <a:bodyPr>
            <a:spAutoFit/>
          </a:bodyPr>
          <a:lstStyle/>
          <a:p>
            <a:r>
              <a:rPr lang="en-US" noProof="0" dirty="0"/>
              <a:t>Dividend Policy</a:t>
            </a:r>
            <a:br>
              <a:rPr lang="en-US" noProof="0" dirty="0"/>
            </a:br>
            <a:r>
              <a:rPr lang="en-US" sz="2800" noProof="0" dirty="0">
                <a:solidFill>
                  <a:schemeClr val="tx1"/>
                </a:solidFill>
              </a:rPr>
              <a:t>Stock Splits: </a:t>
            </a:r>
            <a:r>
              <a:rPr lang="en-US" sz="1600" b="0" i="0" dirty="0">
                <a:solidFill>
                  <a:srgbClr val="1F1F1F"/>
                </a:solidFill>
                <a:effectLst/>
                <a:latin typeface="+mn-lt"/>
              </a:rPr>
              <a:t>In the case of a stock split, each old share is split into a number of new shares with a reduced par value, leaving the total share capital unchanged. In the case of a stock dividend, a number of new shares are received for each share owned.</a:t>
            </a:r>
            <a:endParaRPr lang="en-US" sz="2800" b="0" noProof="0" dirty="0">
              <a:solidFill>
                <a:srgbClr val="990000"/>
              </a:solidFill>
              <a:latin typeface="+mn-lt"/>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2211019"/>
            <a:ext cx="8534400" cy="1979981"/>
          </a:xfrm>
        </p:spPr>
        <p:txBody>
          <a:bodyPr>
            <a:normAutofit/>
          </a:bodyPr>
          <a:lstStyle/>
          <a:p>
            <a:pPr marL="291600" indent="-291600">
              <a:lnSpc>
                <a:spcPct val="100000"/>
              </a:lnSpc>
              <a:buFont typeface="Arial" pitchFamily="34" charset="0"/>
              <a:buChar char="•"/>
            </a:pPr>
            <a:r>
              <a:rPr lang="en-US" noProof="0" dirty="0"/>
              <a:t>To </a:t>
            </a:r>
            <a:r>
              <a:rPr lang="en-US" b="1" noProof="0" dirty="0"/>
              <a:t>reduce the market value</a:t>
            </a:r>
            <a:r>
              <a:rPr lang="en-US" noProof="0" dirty="0"/>
              <a:t> of shares.</a:t>
            </a:r>
          </a:p>
          <a:p>
            <a:pPr marL="291600" indent="-291600">
              <a:lnSpc>
                <a:spcPct val="100000"/>
              </a:lnSpc>
              <a:buFont typeface="Arial" pitchFamily="34" charset="0"/>
              <a:buChar char="•"/>
            </a:pPr>
            <a:r>
              <a:rPr lang="en-US" b="1" noProof="0" dirty="0"/>
              <a:t>No entry</a:t>
            </a:r>
            <a:r>
              <a:rPr lang="en-US" noProof="0" dirty="0"/>
              <a:t> recorded for a stock split.</a:t>
            </a:r>
          </a:p>
          <a:p>
            <a:pPr marL="291600" indent="-291600">
              <a:lnSpc>
                <a:spcPct val="100000"/>
              </a:lnSpc>
              <a:buFont typeface="Arial" pitchFamily="34" charset="0"/>
              <a:buChar char="•"/>
            </a:pPr>
            <a:r>
              <a:rPr lang="en-US" b="1" noProof="0" dirty="0"/>
              <a:t>Decrease</a:t>
            </a:r>
            <a:r>
              <a:rPr lang="en-US" noProof="0" dirty="0"/>
              <a:t> par value and </a:t>
            </a:r>
            <a:r>
              <a:rPr lang="en-US" b="1" noProof="0" dirty="0"/>
              <a:t>increase</a:t>
            </a:r>
            <a:r>
              <a:rPr lang="en-US" noProof="0" dirty="0"/>
              <a:t> number of shares.</a:t>
            </a:r>
          </a:p>
        </p:txBody>
      </p:sp>
      <p:pic>
        <p:nvPicPr>
          <p:cNvPr id="8" name="Content Placeholder 12" descr="Record of stockholders' equity before 2-for-1 split. The statement has two columns: one for account names, and one for amounts. Line 1. Common stock, 1,000 shares at $100 par: $100,000. Line 2. Retained earnings: 50,000, single ruled. Line 3. $150,000, double ruled. Record of stockholders' equity after 2-for-1 split. The statement has two columns: one for account names, and one for amounts. Line 1. Common stock, 2,000 shares at $50 par: $100,000. Line 2. Retained earnings: 50,000, single ruled. Line 3. $150,000, double ruled.">
            <a:extLst>
              <a:ext uri="{FF2B5EF4-FFF2-40B4-BE49-F238E27FC236}">
                <a16:creationId xmlns:a16="http://schemas.microsoft.com/office/drawing/2014/main" id="{7E05A57E-FC51-4E0D-BC26-2087E70C03A8}"/>
              </a:ext>
            </a:extLst>
          </p:cNvPr>
          <p:cNvPicPr>
            <a:picLocks noGrp="1" noChangeAspect="1"/>
          </p:cNvPicPr>
          <p:nvPr>
            <p:ph sz="quarter" idx="17"/>
          </p:nvPr>
        </p:nvPicPr>
        <p:blipFill>
          <a:blip r:embed="rId2"/>
          <a:stretch>
            <a:fillRect/>
          </a:stretch>
        </p:blipFill>
        <p:spPr>
          <a:xfrm>
            <a:off x="268810" y="4285641"/>
            <a:ext cx="8606380" cy="1647894"/>
          </a:xfrm>
          <a:prstGeom prst="rect">
            <a:avLst/>
          </a:prstGeom>
        </p:spPr>
      </p:pic>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57</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39740009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t>Dividend Policy</a:t>
            </a:r>
            <a:br>
              <a:rPr lang="en-US" noProof="0" dirty="0"/>
            </a:br>
            <a:r>
              <a:rPr lang="en-US" sz="2800" dirty="0">
                <a:solidFill>
                  <a:schemeClr val="tx1"/>
                </a:solidFill>
              </a:rPr>
              <a:t>Stock Split and Stock Dividend Differentiated</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901461"/>
            <a:ext cx="8534400" cy="2966616"/>
          </a:xfrm>
        </p:spPr>
        <p:txBody>
          <a:bodyPr>
            <a:normAutofit/>
          </a:bodyPr>
          <a:lstStyle/>
          <a:p>
            <a:pPr marL="291600" indent="-291600">
              <a:lnSpc>
                <a:spcPct val="100000"/>
              </a:lnSpc>
              <a:buFont typeface="Arial" pitchFamily="34" charset="0"/>
              <a:buChar char="•"/>
            </a:pPr>
            <a:r>
              <a:rPr lang="en-US" b="1" noProof="0" dirty="0">
                <a:solidFill>
                  <a:srgbClr val="002060"/>
                </a:solidFill>
              </a:rPr>
              <a:t>Large Stock Dividend</a:t>
            </a:r>
            <a:r>
              <a:rPr lang="en-US" noProof="0" dirty="0">
                <a:solidFill>
                  <a:srgbClr val="002060"/>
                </a:solidFill>
              </a:rPr>
              <a:t> </a:t>
            </a:r>
            <a:r>
              <a:rPr lang="en-US" noProof="0" dirty="0"/>
              <a:t>– more than 20 to 25 percent of the number of shares previously outstanding.</a:t>
            </a:r>
          </a:p>
          <a:p>
            <a:pPr marL="622800" indent="-320400">
              <a:lnSpc>
                <a:spcPct val="100000"/>
              </a:lnSpc>
              <a:buClr>
                <a:schemeClr val="accent2"/>
              </a:buClr>
              <a:buSzPct val="80000"/>
              <a:buFont typeface="Arial" panose="020B0604020202020204" pitchFamily="34" charset="0"/>
              <a:buChar char="•"/>
            </a:pPr>
            <a:r>
              <a:rPr lang="en-US" sz="2600" noProof="0" dirty="0"/>
              <a:t>Same effect on market price as a stock split.</a:t>
            </a:r>
          </a:p>
          <a:p>
            <a:pPr marL="622800" indent="-320400">
              <a:lnSpc>
                <a:spcPct val="100000"/>
              </a:lnSpc>
              <a:buClr>
                <a:schemeClr val="accent2"/>
              </a:buClr>
              <a:buSzPct val="80000"/>
              <a:buFont typeface="Arial" panose="020B0604020202020204" pitchFamily="34" charset="0"/>
              <a:buChar char="•"/>
            </a:pPr>
            <a:r>
              <a:rPr lang="en-US" sz="2600" noProof="0" dirty="0"/>
              <a:t>Par value transferred from retained earnings to capital stock.</a:t>
            </a:r>
          </a:p>
        </p:txBody>
      </p:sp>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58</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9831921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646331"/>
          </a:xfrm>
        </p:spPr>
        <p:txBody>
          <a:bodyPr>
            <a:spAutoFit/>
          </a:bodyPr>
          <a:lstStyle/>
          <a:p>
            <a:r>
              <a:rPr lang="en-US" noProof="0" dirty="0"/>
              <a:t>Stock Dividend Entries</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520992"/>
            <a:ext cx="8534400" cy="1979981"/>
          </a:xfrm>
        </p:spPr>
        <p:txBody>
          <a:bodyPr>
            <a:normAutofit/>
          </a:bodyPr>
          <a:lstStyle/>
          <a:p>
            <a:pPr>
              <a:lnSpc>
                <a:spcPct val="100000"/>
              </a:lnSpc>
            </a:pPr>
            <a:r>
              <a:rPr lang="en-US" sz="2400" b="1" noProof="0" dirty="0"/>
              <a:t>Illustration:</a:t>
            </a:r>
            <a:r>
              <a:rPr lang="en-US" sz="2400" noProof="0" dirty="0"/>
              <a:t> Rockland Steel, Inc. declared a 30 percent share dividend on November 20, payable December 29 to stockholders of record December 12. At the date of declaration, 1,000,000 shares, par value $10, are outstanding and with a fair value of $200 per share. The entries are:</a:t>
            </a:r>
          </a:p>
        </p:txBody>
      </p:sp>
      <p:pic>
        <p:nvPicPr>
          <p:cNvPr id="10" name="Content Placeholder 8" descr="Stock dividend entry at date of declaration, November 20. The journal entry shows a debit of 3,000,000 to retained earnings and a credit of 3,000,000 to common stock dividend distributables. Computation: 1,000,000 shares times 30% = 300,000, double ruled. 300,000 additional shares times $10 par value = $3,000,000, double ruled. The entry at date of distribution, December 29, shows a debit of 3,000,000 to common stock dividend distributable and a credit of 3,000,000 to common stock.">
            <a:extLst>
              <a:ext uri="{FF2B5EF4-FFF2-40B4-BE49-F238E27FC236}">
                <a16:creationId xmlns:a16="http://schemas.microsoft.com/office/drawing/2014/main" id="{309D0BC2-EB2D-40D7-AACF-BE23B0B32D54}"/>
              </a:ext>
            </a:extLst>
          </p:cNvPr>
          <p:cNvPicPr>
            <a:picLocks noGrp="1" noChangeAspect="1"/>
          </p:cNvPicPr>
          <p:nvPr>
            <p:ph sz="quarter" idx="17"/>
          </p:nvPr>
        </p:nvPicPr>
        <p:blipFill>
          <a:blip r:embed="rId2"/>
          <a:stretch>
            <a:fillRect/>
          </a:stretch>
        </p:blipFill>
        <p:spPr>
          <a:xfrm>
            <a:off x="1628079" y="3569960"/>
            <a:ext cx="5664247" cy="2608190"/>
          </a:xfrm>
          <a:prstGeom prst="rect">
            <a:avLst/>
          </a:prstGeom>
        </p:spPr>
      </p:pic>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xfrm>
            <a:off x="331788" y="6400413"/>
            <a:ext cx="749300" cy="276999"/>
          </a:xfrm>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3</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59</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14071992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0C0F-CD6E-447E-80E0-C03D2C85E06A}"/>
              </a:ext>
            </a:extLst>
          </p:cNvPr>
          <p:cNvSpPr>
            <a:spLocks noGrp="1"/>
          </p:cNvSpPr>
          <p:nvPr>
            <p:ph type="title"/>
          </p:nvPr>
        </p:nvSpPr>
        <p:spPr/>
        <p:txBody>
          <a:bodyPr>
            <a:normAutofit fontScale="90000"/>
          </a:bodyPr>
          <a:lstStyle/>
          <a:p>
            <a:r>
              <a:rPr lang="en-US" b="1" dirty="0">
                <a:ea typeface="Source Sans Pro" charset="0"/>
              </a:rPr>
              <a:t>Statement Presentation of Stockholders’ Equity </a:t>
            </a:r>
            <a:r>
              <a:rPr lang="en-US" sz="2700" dirty="0">
                <a:ea typeface="Source Sans Pro" charset="0"/>
              </a:rPr>
              <a:t>(1 of 2)</a:t>
            </a:r>
            <a:endParaRPr lang="en-US" sz="2700" dirty="0"/>
          </a:p>
        </p:txBody>
      </p:sp>
      <p:sp>
        <p:nvSpPr>
          <p:cNvPr id="3" name="Content Placeholder 2">
            <a:extLst>
              <a:ext uri="{FF2B5EF4-FFF2-40B4-BE49-F238E27FC236}">
                <a16:creationId xmlns:a16="http://schemas.microsoft.com/office/drawing/2014/main" id="{0614F26E-92C7-4D19-9CA8-3CCDDEC5438D}"/>
              </a:ext>
            </a:extLst>
          </p:cNvPr>
          <p:cNvSpPr>
            <a:spLocks noGrp="1"/>
          </p:cNvSpPr>
          <p:nvPr>
            <p:ph sz="quarter" idx="16"/>
          </p:nvPr>
        </p:nvSpPr>
        <p:spPr>
          <a:xfrm>
            <a:off x="304800" y="1905000"/>
            <a:ext cx="8534400" cy="3505200"/>
          </a:xfrm>
        </p:spPr>
        <p:txBody>
          <a:bodyPr/>
          <a:lstStyle/>
          <a:p>
            <a:r>
              <a:rPr lang="en-US" sz="2600" dirty="0"/>
              <a:t>Companies report </a:t>
            </a:r>
            <a:r>
              <a:rPr lang="en-US" sz="2600" b="1" dirty="0"/>
              <a:t>paid-in capital </a:t>
            </a:r>
            <a:r>
              <a:rPr lang="en-US" sz="2600" dirty="0"/>
              <a:t>and </a:t>
            </a:r>
            <a:r>
              <a:rPr lang="en-US" sz="2600" b="1" dirty="0"/>
              <a:t>retained earnings </a:t>
            </a:r>
            <a:r>
              <a:rPr lang="en-US" sz="2600" dirty="0"/>
              <a:t>in the stockholders’ equity section of the balance sheet. Paid-in capital includes:</a:t>
            </a:r>
          </a:p>
          <a:p>
            <a:pPr marL="402336" indent="-402336">
              <a:buClr>
                <a:schemeClr val="accent2"/>
              </a:buClr>
              <a:buAutoNum type="arabicPeriod"/>
            </a:pPr>
            <a:r>
              <a:rPr lang="en-US" sz="2600" b="1" dirty="0"/>
              <a:t>Capital stock. </a:t>
            </a:r>
            <a:r>
              <a:rPr lang="en-US" sz="2600" dirty="0"/>
              <a:t>Preferred stock appears before common stock because of its preferential rights. Companies report par value, shares authorized, shares issued, and shares outstanding for each class of stock.</a:t>
            </a:r>
          </a:p>
          <a:p>
            <a:pPr marL="402336" indent="-402336">
              <a:buClr>
                <a:schemeClr val="accent2"/>
              </a:buClr>
              <a:buAutoNum type="arabicPeriod"/>
            </a:pPr>
            <a:r>
              <a:rPr lang="en-US" sz="2600" b="1" dirty="0"/>
              <a:t>Additional paid-in capital. </a:t>
            </a:r>
            <a:r>
              <a:rPr lang="en-US" sz="2600" dirty="0"/>
              <a:t>Excess amounts paid in over par or stated value and paid-in capital from treasury stock.</a:t>
            </a:r>
            <a:endParaRPr lang="en-US" altLang="en-US" sz="2600" dirty="0"/>
          </a:p>
        </p:txBody>
      </p:sp>
      <p:sp>
        <p:nvSpPr>
          <p:cNvPr id="4" name="Slide Number Placeholder 3">
            <a:extLst>
              <a:ext uri="{FF2B5EF4-FFF2-40B4-BE49-F238E27FC236}">
                <a16:creationId xmlns:a16="http://schemas.microsoft.com/office/drawing/2014/main" id="{74908C31-A622-4F77-9645-8F2DCDE27078}"/>
              </a:ext>
            </a:extLst>
          </p:cNvPr>
          <p:cNvSpPr>
            <a:spLocks noGrp="1"/>
          </p:cNvSpPr>
          <p:nvPr>
            <p:ph type="sldNum" sz="quarter" idx="10"/>
          </p:nvPr>
        </p:nvSpPr>
        <p:spPr/>
        <p:txBody>
          <a:bodyPr/>
          <a:lstStyle/>
          <a:p>
            <a:fld id="{67B19427-F580-D146-B60E-4CADEE75497F}" type="slidenum">
              <a:rPr lang="en-US" smtClean="0"/>
              <a:pPr/>
              <a:t>60</a:t>
            </a:fld>
            <a:endParaRPr lang="en-US" dirty="0"/>
          </a:p>
        </p:txBody>
      </p:sp>
      <p:sp>
        <p:nvSpPr>
          <p:cNvPr id="5" name="Footer Placeholder 4">
            <a:extLst>
              <a:ext uri="{FF2B5EF4-FFF2-40B4-BE49-F238E27FC236}">
                <a16:creationId xmlns:a16="http://schemas.microsoft.com/office/drawing/2014/main" id="{FB3C6774-F005-4638-85F0-89AFBA38A38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092991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0C0F-CD6E-447E-80E0-C03D2C85E06A}"/>
              </a:ext>
            </a:extLst>
          </p:cNvPr>
          <p:cNvSpPr>
            <a:spLocks noGrp="1"/>
          </p:cNvSpPr>
          <p:nvPr>
            <p:ph type="title"/>
          </p:nvPr>
        </p:nvSpPr>
        <p:spPr/>
        <p:txBody>
          <a:bodyPr>
            <a:normAutofit fontScale="90000"/>
          </a:bodyPr>
          <a:lstStyle/>
          <a:p>
            <a:r>
              <a:rPr lang="en-US" b="1" dirty="0">
                <a:ea typeface="Source Sans Pro" charset="0"/>
              </a:rPr>
              <a:t>Statement Presentation of Stockholders’ Equity </a:t>
            </a:r>
            <a:r>
              <a:rPr lang="en-US" sz="2700" dirty="0">
                <a:ea typeface="Source Sans Pro" charset="0"/>
              </a:rPr>
              <a:t>(2 of 2)</a:t>
            </a:r>
            <a:endParaRPr lang="en-US" sz="2700" dirty="0"/>
          </a:p>
        </p:txBody>
      </p:sp>
      <p:pic>
        <p:nvPicPr>
          <p:cNvPr id="10" name="Content Placeholder 9" descr="An illustration of a partial balance sheet. The statement displays a two-line heading consisting of the name of the company, Graber I n c; and the type of statement, balance sheet. The statement has 3 columns, the first displaying account names and the other two displaying the respective amounts. The portion under the title is labeled as: stockholders’ equity. It has four sections. The first section, paid-in capital, is indented slightly in the first column. It contains two subsections. The first subsection, capitol stock, is slightly indented in the first column. Immediately under this is the following account name that is further indented, and the respective amount appears in the second numeric column: 9% preferred stock, $100 par value, cumulative, 10,000 shares authorized, 6,000 shares issued and outstanding, $600,000; common stock, no par, $5 stated value, 500,000 shares authorized, 400,000 shares issued, and 390,000 outstanding, 2,000,000. Both the amounts are totaled as $2,600,000 which is displayed in the second numeric column with the label total capital stock. The second subsection, additional paid-in capital, is slightly indented in the first column. Immediately under this is the following account name that is further indented, and the respective amount appears in the first numeric column: paid-in capital in excess of par value, preferred stock, $30,000; paid-in capital in excess of stated value, common stock, 1,050,000. Both the amounts are totaled as $1,080,000 which is displayed in the second numeric column with the label total additional paid-in capital. Both the amounts of the subsection are totaled as 3,680,000 which is displayed in the second numeric column with the label total paid-in capital. The second section, retained earnings, is indented slightly in the first column and the value in the second numeric column is 1,050,000. Retained earnings is restricted for the cost of treasury stock, $80,000. The total of the paid-in capital and retained earnings is 4,730,000 which is displayed in the second numeric column. The third section, accumulated other comprehensive income, is indented slightly in the first column and the value in the second numeric column is 110,000. The fourth section, less: treasury stock, 10,000 common shares, is indented slightly in the first column and the value in the second numeric column is 80,000. The amounts of the sections are totaled as $4,760,000, double underlined is displayed in the second numeric column with the label total stockholders’ equity.&#10;">
            <a:extLst>
              <a:ext uri="{FF2B5EF4-FFF2-40B4-BE49-F238E27FC236}">
                <a16:creationId xmlns:a16="http://schemas.microsoft.com/office/drawing/2014/main" id="{ECCE3BE6-EDB4-4AA4-9728-ED3B1121323F}"/>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237999" y="1933080"/>
            <a:ext cx="6668002" cy="4361155"/>
          </a:xfrm>
        </p:spPr>
      </p:pic>
      <p:sp>
        <p:nvSpPr>
          <p:cNvPr id="4" name="Slide Number Placeholder 3">
            <a:extLst>
              <a:ext uri="{FF2B5EF4-FFF2-40B4-BE49-F238E27FC236}">
                <a16:creationId xmlns:a16="http://schemas.microsoft.com/office/drawing/2014/main" id="{74908C31-A622-4F77-9645-8F2DCDE27078}"/>
              </a:ext>
            </a:extLst>
          </p:cNvPr>
          <p:cNvSpPr>
            <a:spLocks noGrp="1"/>
          </p:cNvSpPr>
          <p:nvPr>
            <p:ph type="sldNum" sz="quarter" idx="10"/>
          </p:nvPr>
        </p:nvSpPr>
        <p:spPr/>
        <p:txBody>
          <a:bodyPr/>
          <a:lstStyle/>
          <a:p>
            <a:fld id="{67B19427-F580-D146-B60E-4CADEE75497F}" type="slidenum">
              <a:rPr lang="en-US" smtClean="0"/>
              <a:pPr/>
              <a:t>61</a:t>
            </a:fld>
            <a:endParaRPr lang="en-US" dirty="0"/>
          </a:p>
        </p:txBody>
      </p:sp>
      <p:sp>
        <p:nvSpPr>
          <p:cNvPr id="5" name="Footer Placeholder 4">
            <a:extLst>
              <a:ext uri="{FF2B5EF4-FFF2-40B4-BE49-F238E27FC236}">
                <a16:creationId xmlns:a16="http://schemas.microsoft.com/office/drawing/2014/main" id="{FB3C6774-F005-4638-85F0-89AFBA38A38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534745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99EC-152F-43E0-B32C-555271344845}"/>
              </a:ext>
            </a:extLst>
          </p:cNvPr>
          <p:cNvSpPr>
            <a:spLocks noGrp="1"/>
          </p:cNvSpPr>
          <p:nvPr>
            <p:ph type="title"/>
          </p:nvPr>
        </p:nvSpPr>
        <p:spPr/>
        <p:txBody>
          <a:bodyPr/>
          <a:lstStyle/>
          <a:p>
            <a:r>
              <a:rPr lang="en-US" b="1" dirty="0">
                <a:ea typeface="Source Sans Pro" charset="0"/>
              </a:rPr>
              <a:t>Do It! 3: </a:t>
            </a:r>
            <a:r>
              <a:rPr lang="en-US" b="1" dirty="0">
                <a:solidFill>
                  <a:srgbClr val="196E78"/>
                </a:solidFill>
                <a:ea typeface="Source Sans Pro" charset="0"/>
              </a:rPr>
              <a:t>Stockholders’ Equity </a:t>
            </a:r>
            <a:r>
              <a:rPr lang="en-US" sz="2400" dirty="0">
                <a:solidFill>
                  <a:srgbClr val="196E78"/>
                </a:solidFill>
                <a:ea typeface="Source Sans Pro" charset="0"/>
              </a:rPr>
              <a:t>(1 of 2)</a:t>
            </a:r>
            <a:endParaRPr lang="en-US" sz="2400" dirty="0"/>
          </a:p>
        </p:txBody>
      </p:sp>
      <p:sp>
        <p:nvSpPr>
          <p:cNvPr id="3" name="Content Placeholder 2">
            <a:extLst>
              <a:ext uri="{FF2B5EF4-FFF2-40B4-BE49-F238E27FC236}">
                <a16:creationId xmlns:a16="http://schemas.microsoft.com/office/drawing/2014/main" id="{C9621FF4-2013-4EBF-AC85-124D1AC02176}"/>
              </a:ext>
            </a:extLst>
          </p:cNvPr>
          <p:cNvSpPr>
            <a:spLocks noGrp="1"/>
          </p:cNvSpPr>
          <p:nvPr>
            <p:ph sz="quarter" idx="16"/>
          </p:nvPr>
        </p:nvSpPr>
        <p:spPr/>
        <p:txBody>
          <a:bodyPr/>
          <a:lstStyle/>
          <a:p>
            <a:r>
              <a:rPr lang="en-US" sz="2400" dirty="0"/>
              <a:t>Jennifer Corporation has issued 300,000 shares of $3 par value common stock. It is authorized to issue 600,000 shares. The paid-in capital in excess of par value on the common stock is $380,000. The corporation has reacquired 15,000 shares at a cost of $50,000 and is currently holding those shares. It also had a cumulative other comprehensive loss of $82,000. The corporation also has 4,000 shares issued and outstanding of 8%, $100 par value preferred stock. It is authorized to issue 10,000 shares. The paid-in capital in excess of par value on the preferred stock is $97,000. Retained earnings is $610,000.</a:t>
            </a:r>
          </a:p>
          <a:p>
            <a:r>
              <a:rPr lang="en-US" sz="2400" dirty="0"/>
              <a:t>Prepare the stockholders’ equity section of the balance sheet.</a:t>
            </a:r>
            <a:endParaRPr lang="en-US" altLang="en-US" sz="2400" dirty="0"/>
          </a:p>
        </p:txBody>
      </p:sp>
      <p:sp>
        <p:nvSpPr>
          <p:cNvPr id="4" name="Slide Number Placeholder 3">
            <a:extLst>
              <a:ext uri="{FF2B5EF4-FFF2-40B4-BE49-F238E27FC236}">
                <a16:creationId xmlns:a16="http://schemas.microsoft.com/office/drawing/2014/main" id="{CFBB6392-117C-4265-9619-8163A53275F7}"/>
              </a:ext>
            </a:extLst>
          </p:cNvPr>
          <p:cNvSpPr>
            <a:spLocks noGrp="1"/>
          </p:cNvSpPr>
          <p:nvPr>
            <p:ph type="sldNum" sz="quarter" idx="10"/>
          </p:nvPr>
        </p:nvSpPr>
        <p:spPr/>
        <p:txBody>
          <a:bodyPr/>
          <a:lstStyle/>
          <a:p>
            <a:fld id="{67B19427-F580-D146-B60E-4CADEE75497F}" type="slidenum">
              <a:rPr lang="en-US" smtClean="0"/>
              <a:pPr/>
              <a:t>62</a:t>
            </a:fld>
            <a:endParaRPr lang="en-US" dirty="0"/>
          </a:p>
        </p:txBody>
      </p:sp>
      <p:sp>
        <p:nvSpPr>
          <p:cNvPr id="5" name="Footer Placeholder 4">
            <a:extLst>
              <a:ext uri="{FF2B5EF4-FFF2-40B4-BE49-F238E27FC236}">
                <a16:creationId xmlns:a16="http://schemas.microsoft.com/office/drawing/2014/main" id="{A79BA53B-F04E-40C9-9C10-BA8E43A6C94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234210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99EC-152F-43E0-B32C-555271344845}"/>
              </a:ext>
            </a:extLst>
          </p:cNvPr>
          <p:cNvSpPr>
            <a:spLocks noGrp="1"/>
          </p:cNvSpPr>
          <p:nvPr>
            <p:ph type="title"/>
          </p:nvPr>
        </p:nvSpPr>
        <p:spPr/>
        <p:txBody>
          <a:bodyPr/>
          <a:lstStyle/>
          <a:p>
            <a:r>
              <a:rPr lang="en-US" b="1" dirty="0">
                <a:ea typeface="Source Sans Pro" charset="0"/>
              </a:rPr>
              <a:t>Do It! 3: </a:t>
            </a:r>
            <a:r>
              <a:rPr lang="en-US" b="1" dirty="0">
                <a:solidFill>
                  <a:srgbClr val="196E78"/>
                </a:solidFill>
                <a:ea typeface="Source Sans Pro" charset="0"/>
              </a:rPr>
              <a:t>Stockholders’ Equity </a:t>
            </a:r>
            <a:r>
              <a:rPr lang="en-US" sz="2400" dirty="0">
                <a:solidFill>
                  <a:srgbClr val="196E78"/>
                </a:solidFill>
                <a:ea typeface="Source Sans Pro" charset="0"/>
              </a:rPr>
              <a:t>(2 of 2)</a:t>
            </a:r>
            <a:endParaRPr lang="en-US" sz="2400" dirty="0"/>
          </a:p>
        </p:txBody>
      </p:sp>
      <p:pic>
        <p:nvPicPr>
          <p:cNvPr id="9" name="Content Placeholder 8" descr="An illustration of a partial balance sheet. The statement displays a two-line heading consisting of the name of the company, Jennifer corporation; and the type of statement, balance sheet. The statement has 3 columns, the first displaying account names and the other two displaying the respective amounts. The portion under the title is labeled as: stockholders’ equity. It has five sections. The first section, paid-in capital, is indented slightly in the first column. It contains one subsection, capitol stock, which is slightly indented in the first column. Immediately under this is the following account name that is further indented, and the respective amount appears in the first numeric column: 8% preferred stock, $100 par value, 10,000 shares authorized, 4,000 shares issued and outstanding, $400,000; common stock, $3 par value, 600,000 shares authorized, 300,000 shares issued, and 285,000 shares outstanding, 900,000. Both the amounts are totaled as $1,300,000 which is displayed in the second numeric column with the label total capital stock. The second section, additional paid-in capital, is slightly indented in the first column. Immediately under this is the following account name that is further indented, and the respective amount appears in the first numeric column: paid-in capital in excess of par value, preferred stock, $97,000; paid-in capital in excess of par value, common stock, 380,000. Both the amounts are totaled as $477,000 which is displayed in the second numeric column with the label total additional paid-in capital. Both the amounts of the section are totaled as 1,777,000 which is displayed in the second numeric column with the label total paid-in capital. The third section, retained earnings, is indented slightly in the first column and the value in the second numeric column is 610,000. The total of the paid-in capital and retained earnings is 2,387,000 which is displayed in the second numeric column. The fourth section, accumulated other comprehensive loss, is indented slightly in the first column and the value in the second numeric column is 82,000. The fifth section, less: treasury stock, 15,000 common shares, at cost, is indented slightly in the first column and the value in the second numeric column is 50,000. The amounts of the sections are totaled as $2,255,000, double underlined is displayed in the second numeric column with the label total stockholders’ equity.&#10;">
            <a:extLst>
              <a:ext uri="{FF2B5EF4-FFF2-40B4-BE49-F238E27FC236}">
                <a16:creationId xmlns:a16="http://schemas.microsoft.com/office/drawing/2014/main" id="{56872E93-CDEA-4A51-8462-8B363B462174}"/>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050409" y="1695459"/>
            <a:ext cx="7043182" cy="4610083"/>
          </a:xfrm>
        </p:spPr>
      </p:pic>
      <p:sp>
        <p:nvSpPr>
          <p:cNvPr id="4" name="Slide Number Placeholder 3">
            <a:extLst>
              <a:ext uri="{FF2B5EF4-FFF2-40B4-BE49-F238E27FC236}">
                <a16:creationId xmlns:a16="http://schemas.microsoft.com/office/drawing/2014/main" id="{CFBB6392-117C-4265-9619-8163A53275F7}"/>
              </a:ext>
            </a:extLst>
          </p:cNvPr>
          <p:cNvSpPr>
            <a:spLocks noGrp="1"/>
          </p:cNvSpPr>
          <p:nvPr>
            <p:ph type="sldNum" sz="quarter" idx="10"/>
          </p:nvPr>
        </p:nvSpPr>
        <p:spPr/>
        <p:txBody>
          <a:bodyPr/>
          <a:lstStyle/>
          <a:p>
            <a:fld id="{67B19427-F580-D146-B60E-4CADEE75497F}" type="slidenum">
              <a:rPr lang="en-US" smtClean="0"/>
              <a:pPr/>
              <a:t>63</a:t>
            </a:fld>
            <a:endParaRPr lang="en-US" dirty="0"/>
          </a:p>
        </p:txBody>
      </p:sp>
      <p:sp>
        <p:nvSpPr>
          <p:cNvPr id="5" name="Footer Placeholder 4">
            <a:extLst>
              <a:ext uri="{FF2B5EF4-FFF2-40B4-BE49-F238E27FC236}">
                <a16:creationId xmlns:a16="http://schemas.microsoft.com/office/drawing/2014/main" id="{A79BA53B-F04E-40C9-9C10-BA8E43A6C94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444901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AFBC4-A6AB-4C7E-A4FF-BB84462AA4F6}"/>
              </a:ext>
            </a:extLst>
          </p:cNvPr>
          <p:cNvSpPr>
            <a:spLocks noGrp="1"/>
          </p:cNvSpPr>
          <p:nvPr>
            <p:ph type="title"/>
          </p:nvPr>
        </p:nvSpPr>
        <p:spPr/>
        <p:txBody>
          <a:bodyPr/>
          <a:lstStyle/>
          <a:p>
            <a:r>
              <a:rPr lang="en-US" dirty="0">
                <a:latin typeface="Calibri" panose="020F0502020204030204" pitchFamily="34" charset="0"/>
                <a:ea typeface="Source Sans Pro" charset="0"/>
                <a:cs typeface="Calibri" panose="020F0502020204030204" pitchFamily="34" charset="0"/>
              </a:rPr>
              <a:t>Analysis of Stockholders’ Equity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sp>
        <p:nvSpPr>
          <p:cNvPr id="3" name="Content Placeholder 2">
            <a:extLst>
              <a:ext uri="{FF2B5EF4-FFF2-40B4-BE49-F238E27FC236}">
                <a16:creationId xmlns:a16="http://schemas.microsoft.com/office/drawing/2014/main" id="{3511877D-0BD6-4EF6-ACA1-144395ECFD33}"/>
              </a:ext>
            </a:extLst>
          </p:cNvPr>
          <p:cNvSpPr>
            <a:spLocks noGrp="1"/>
          </p:cNvSpPr>
          <p:nvPr>
            <p:ph sz="quarter" idx="16"/>
          </p:nvPr>
        </p:nvSpPr>
        <p:spPr>
          <a:xfrm>
            <a:off x="304800" y="1828800"/>
            <a:ext cx="8620836" cy="1218142"/>
          </a:xfrm>
        </p:spPr>
        <p:txBody>
          <a:bodyPr/>
          <a:lstStyle/>
          <a:p>
            <a:pPr marL="4763" lvl="1" indent="0">
              <a:spcBef>
                <a:spcPts val="1000"/>
              </a:spcBef>
              <a:buFont typeface="Wingdings" pitchFamily="2" charset="2"/>
              <a:buNone/>
            </a:pPr>
            <a:r>
              <a:rPr lang="en-US" altLang="en-US" sz="2600" b="1" dirty="0"/>
              <a:t>Payout Ratio</a:t>
            </a:r>
          </a:p>
          <a:p>
            <a:pPr marL="291600" lvl="1" indent="-291600">
              <a:spcBef>
                <a:spcPts val="1000"/>
              </a:spcBef>
              <a:buClr>
                <a:srgbClr val="800000"/>
              </a:buClr>
              <a:buSzPct val="100000"/>
            </a:pPr>
            <a:r>
              <a:rPr lang="en-US" sz="2600" dirty="0"/>
              <a:t>Measures percentage of earnings a company distributes in form of cash dividends to common stockholders</a:t>
            </a:r>
          </a:p>
        </p:txBody>
      </p:sp>
      <p:sp>
        <p:nvSpPr>
          <p:cNvPr id="4" name="Content Placeholder 3"/>
          <p:cNvSpPr>
            <a:spLocks noGrp="1"/>
          </p:cNvSpPr>
          <p:nvPr>
            <p:ph sz="quarter" idx="17"/>
          </p:nvPr>
        </p:nvSpPr>
        <p:spPr>
          <a:xfrm>
            <a:off x="304800" y="3151717"/>
            <a:ext cx="8534400" cy="810683"/>
          </a:xfrm>
        </p:spPr>
        <p:txBody>
          <a:bodyPr/>
          <a:lstStyle/>
          <a:p>
            <a:r>
              <a:rPr lang="en-US" sz="2600" dirty="0"/>
              <a:t>To illustrate, Nike’s dividends were recently $821 million and net income was $2,693 million.</a:t>
            </a:r>
            <a:endParaRPr lang="en-IN" sz="2600" dirty="0"/>
          </a:p>
        </p:txBody>
      </p:sp>
      <p:graphicFrame>
        <p:nvGraphicFramePr>
          <p:cNvPr id="12" name="Content Placeholder 11" descr="Cash Dividends Declared on Common Stock divided by Net Income = Payout Ratio"/>
          <p:cNvGraphicFramePr>
            <a:graphicFrameLocks noGrp="1" noChangeAspect="1"/>
          </p:cNvGraphicFramePr>
          <p:nvPr>
            <p:ph sz="quarter" idx="18"/>
          </p:nvPr>
        </p:nvGraphicFramePr>
        <p:xfrm>
          <a:off x="914400" y="4346575"/>
          <a:ext cx="6169025" cy="842963"/>
        </p:xfrm>
        <a:graphic>
          <a:graphicData uri="http://schemas.openxmlformats.org/presentationml/2006/ole">
            <mc:AlternateContent xmlns:mc="http://schemas.openxmlformats.org/markup-compatibility/2006">
              <mc:Choice xmlns:v="urn:schemas-microsoft-com:vml" Requires="v">
                <p:oleObj name="Equation" r:id="rId2" imgW="3162240" imgH="431640" progId="Equation.DSMT4">
                  <p:embed/>
                </p:oleObj>
              </mc:Choice>
              <mc:Fallback>
                <p:oleObj name="Equation" r:id="rId2" imgW="3162240" imgH="431640" progId="Equation.DSMT4">
                  <p:embed/>
                  <p:pic>
                    <p:nvPicPr>
                      <p:cNvPr id="12" name="Content Placeholder 11" descr="Cash Dividends Declared on Common Stock divided by Net Income = Payout Ratio"/>
                      <p:cNvPicPr/>
                      <p:nvPr/>
                    </p:nvPicPr>
                    <p:blipFill>
                      <a:blip r:embed="rId3"/>
                      <a:stretch>
                        <a:fillRect/>
                      </a:stretch>
                    </p:blipFill>
                    <p:spPr>
                      <a:xfrm>
                        <a:off x="914400" y="4346575"/>
                        <a:ext cx="6169025" cy="842963"/>
                      </a:xfrm>
                      <a:prstGeom prst="rect">
                        <a:avLst/>
                      </a:prstGeom>
                      <a:ln>
                        <a:solidFill>
                          <a:schemeClr val="tx1"/>
                        </a:solidFill>
                      </a:ln>
                    </p:spPr>
                  </p:pic>
                </p:oleObj>
              </mc:Fallback>
            </mc:AlternateContent>
          </a:graphicData>
        </a:graphic>
      </p:graphicFrame>
      <p:sp>
        <p:nvSpPr>
          <p:cNvPr id="14" name="Content Placeholder 13"/>
          <p:cNvSpPr>
            <a:spLocks noGrp="1"/>
          </p:cNvSpPr>
          <p:nvPr>
            <p:ph sz="quarter" idx="19"/>
          </p:nvPr>
        </p:nvSpPr>
        <p:spPr>
          <a:xfrm>
            <a:off x="2438400" y="5486400"/>
            <a:ext cx="3886200" cy="457200"/>
          </a:xfrm>
          <a:ln>
            <a:solidFill>
              <a:schemeClr val="tx1"/>
            </a:solidFill>
          </a:ln>
        </p:spPr>
        <p:txBody>
          <a:bodyPr/>
          <a:lstStyle/>
          <a:p>
            <a:pPr algn="ctr"/>
            <a:r>
              <a:rPr lang="en-IN" dirty="0"/>
              <a:t>$821  ÷  $2,693 = </a:t>
            </a:r>
            <a:r>
              <a:rPr lang="en-IN" b="1" dirty="0">
                <a:solidFill>
                  <a:schemeClr val="accent2"/>
                </a:solidFill>
              </a:rPr>
              <a:t>30.5%</a:t>
            </a:r>
          </a:p>
        </p:txBody>
      </p:sp>
      <p:sp>
        <p:nvSpPr>
          <p:cNvPr id="5" name="Slide Number Placeholder 4">
            <a:extLst>
              <a:ext uri="{FF2B5EF4-FFF2-40B4-BE49-F238E27FC236}">
                <a16:creationId xmlns:a16="http://schemas.microsoft.com/office/drawing/2014/main" id="{943F50A9-9BB6-4060-82CA-3AFC9A4DDA6F}"/>
              </a:ext>
            </a:extLst>
          </p:cNvPr>
          <p:cNvSpPr>
            <a:spLocks noGrp="1"/>
          </p:cNvSpPr>
          <p:nvPr>
            <p:ph type="sldNum" sz="quarter" idx="10"/>
          </p:nvPr>
        </p:nvSpPr>
        <p:spPr/>
        <p:txBody>
          <a:bodyPr/>
          <a:lstStyle/>
          <a:p>
            <a:fld id="{67B19427-F580-D146-B60E-4CADEE75497F}" type="slidenum">
              <a:rPr lang="en-US" smtClean="0"/>
              <a:pPr/>
              <a:t>64</a:t>
            </a:fld>
            <a:endParaRPr lang="en-US" dirty="0"/>
          </a:p>
        </p:txBody>
      </p:sp>
      <p:sp>
        <p:nvSpPr>
          <p:cNvPr id="6" name="Footer Placeholder 5">
            <a:extLst>
              <a:ext uri="{FF2B5EF4-FFF2-40B4-BE49-F238E27FC236}">
                <a16:creationId xmlns:a16="http://schemas.microsoft.com/office/drawing/2014/main" id="{644BCFFD-E4CF-4492-B746-590AD426617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24062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t>Analysis</a:t>
            </a:r>
            <a:br>
              <a:rPr lang="en-US" noProof="0" dirty="0"/>
            </a:br>
            <a:r>
              <a:rPr lang="en-US" sz="2800" noProof="0" dirty="0">
                <a:solidFill>
                  <a:schemeClr val="tx1"/>
                </a:solidFill>
              </a:rPr>
              <a:t>Payout Ratio</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904391"/>
            <a:ext cx="8534400" cy="841554"/>
          </a:xfrm>
        </p:spPr>
        <p:txBody>
          <a:bodyPr>
            <a:noAutofit/>
          </a:bodyPr>
          <a:lstStyle/>
          <a:p>
            <a:pPr>
              <a:lnSpc>
                <a:spcPct val="100000"/>
              </a:lnSpc>
            </a:pPr>
            <a:r>
              <a:rPr lang="en-US" sz="2400" b="1" noProof="0" dirty="0"/>
              <a:t>Illustration: </a:t>
            </a:r>
            <a:r>
              <a:rPr lang="en-US" sz="2400" dirty="0"/>
              <a:t>Troy Co. </a:t>
            </a:r>
            <a:r>
              <a:rPr lang="en-US" sz="2400" noProof="0" dirty="0"/>
              <a:t>has cash dividends of $100,000 and net income of $500,000, and no preferred stock outstanding.</a:t>
            </a:r>
          </a:p>
        </p:txBody>
      </p:sp>
      <p:graphicFrame>
        <p:nvGraphicFramePr>
          <p:cNvPr id="12" name="Content Placeholder 11" descr="Payout ratio = cash dividends over, net income">
            <a:extLst>
              <a:ext uri="{FF2B5EF4-FFF2-40B4-BE49-F238E27FC236}">
                <a16:creationId xmlns:a16="http://schemas.microsoft.com/office/drawing/2014/main" id="{FD4DFB6F-B33C-4C62-96F5-0A1B2740DB0A}"/>
              </a:ext>
            </a:extLst>
          </p:cNvPr>
          <p:cNvGraphicFramePr>
            <a:graphicFrameLocks noGrp="1" noChangeAspect="1"/>
          </p:cNvGraphicFramePr>
          <p:nvPr>
            <p:ph sz="quarter" idx="17"/>
          </p:nvPr>
        </p:nvGraphicFramePr>
        <p:xfrm>
          <a:off x="2067465" y="3020822"/>
          <a:ext cx="4693227" cy="943841"/>
        </p:xfrm>
        <a:graphic>
          <a:graphicData uri="http://schemas.openxmlformats.org/presentationml/2006/ole">
            <mc:AlternateContent xmlns:mc="http://schemas.openxmlformats.org/markup-compatibility/2006">
              <mc:Choice xmlns:v="urn:schemas-microsoft-com:vml" Requires="v">
                <p:oleObj name="Equation" r:id="rId2" imgW="2273040" imgH="457200" progId="Equation.DSMT4">
                  <p:embed/>
                </p:oleObj>
              </mc:Choice>
              <mc:Fallback>
                <p:oleObj name="Equation" r:id="rId2" imgW="2273040" imgH="457200" progId="Equation.DSMT4">
                  <p:embed/>
                  <p:pic>
                    <p:nvPicPr>
                      <p:cNvPr id="12" name="Content Placeholder 11" descr="Payout ratio = cash dividends over, net income">
                        <a:extLst>
                          <a:ext uri="{FF2B5EF4-FFF2-40B4-BE49-F238E27FC236}">
                            <a16:creationId xmlns:a16="http://schemas.microsoft.com/office/drawing/2014/main" id="{FD4DFB6F-B33C-4C62-96F5-0A1B2740DB0A}"/>
                          </a:ext>
                        </a:extLst>
                      </p:cNvPr>
                      <p:cNvPicPr/>
                      <p:nvPr/>
                    </p:nvPicPr>
                    <p:blipFill>
                      <a:blip r:embed="rId3"/>
                      <a:stretch>
                        <a:fillRect/>
                      </a:stretch>
                    </p:blipFill>
                    <p:spPr>
                      <a:xfrm>
                        <a:off x="2067465" y="3020822"/>
                        <a:ext cx="4693227" cy="943841"/>
                      </a:xfrm>
                      <a:prstGeom prst="rect">
                        <a:avLst/>
                      </a:prstGeom>
                    </p:spPr>
                  </p:pic>
                </p:oleObj>
              </mc:Fallback>
            </mc:AlternateContent>
          </a:graphicData>
        </a:graphic>
      </p:graphicFrame>
      <p:graphicFrame>
        <p:nvGraphicFramePr>
          <p:cNvPr id="14" name="Content Placeholder 13" descr="= $100,000 over $500,000">
            <a:extLst>
              <a:ext uri="{FF2B5EF4-FFF2-40B4-BE49-F238E27FC236}">
                <a16:creationId xmlns:a16="http://schemas.microsoft.com/office/drawing/2014/main" id="{374D5320-987B-4051-AA18-D4C9EE5CEBA4}"/>
              </a:ext>
            </a:extLst>
          </p:cNvPr>
          <p:cNvGraphicFramePr>
            <a:graphicFrameLocks noGrp="1" noChangeAspect="1"/>
          </p:cNvGraphicFramePr>
          <p:nvPr>
            <p:ph sz="quarter" idx="19"/>
          </p:nvPr>
        </p:nvGraphicFramePr>
        <p:xfrm>
          <a:off x="4114234" y="4137152"/>
          <a:ext cx="1776810" cy="939308"/>
        </p:xfrm>
        <a:graphic>
          <a:graphicData uri="http://schemas.openxmlformats.org/presentationml/2006/ole">
            <mc:AlternateContent xmlns:mc="http://schemas.openxmlformats.org/markup-compatibility/2006">
              <mc:Choice xmlns:v="urn:schemas-microsoft-com:vml" Requires="v">
                <p:oleObj name="Equation" r:id="rId4" imgW="888840" imgH="469800" progId="Equation.DSMT4">
                  <p:embed/>
                </p:oleObj>
              </mc:Choice>
              <mc:Fallback>
                <p:oleObj name="Equation" r:id="rId4" imgW="888840" imgH="469800" progId="Equation.DSMT4">
                  <p:embed/>
                  <p:pic>
                    <p:nvPicPr>
                      <p:cNvPr id="14" name="Content Placeholder 13" descr="= $100,000 over $500,000">
                        <a:extLst>
                          <a:ext uri="{FF2B5EF4-FFF2-40B4-BE49-F238E27FC236}">
                            <a16:creationId xmlns:a16="http://schemas.microsoft.com/office/drawing/2014/main" id="{374D5320-987B-4051-AA18-D4C9EE5CEBA4}"/>
                          </a:ext>
                        </a:extLst>
                      </p:cNvPr>
                      <p:cNvPicPr/>
                      <p:nvPr/>
                    </p:nvPicPr>
                    <p:blipFill>
                      <a:blip r:embed="rId5"/>
                      <a:stretch>
                        <a:fillRect/>
                      </a:stretch>
                    </p:blipFill>
                    <p:spPr>
                      <a:xfrm>
                        <a:off x="4114234" y="4137152"/>
                        <a:ext cx="1776810" cy="939308"/>
                      </a:xfrm>
                      <a:prstGeom prst="rect">
                        <a:avLst/>
                      </a:prstGeom>
                    </p:spPr>
                  </p:pic>
                </p:oleObj>
              </mc:Fallback>
            </mc:AlternateContent>
          </a:graphicData>
        </a:graphic>
      </p:graphicFrame>
      <p:graphicFrame>
        <p:nvGraphicFramePr>
          <p:cNvPr id="15" name="Content Placeholder 14" descr="= 20%.">
            <a:extLst>
              <a:ext uri="{FF2B5EF4-FFF2-40B4-BE49-F238E27FC236}">
                <a16:creationId xmlns:a16="http://schemas.microsoft.com/office/drawing/2014/main" id="{6C40B074-8D78-4658-962E-72E927C60EDB}"/>
              </a:ext>
            </a:extLst>
          </p:cNvPr>
          <p:cNvGraphicFramePr>
            <a:graphicFrameLocks noGrp="1" noChangeAspect="1"/>
          </p:cNvGraphicFramePr>
          <p:nvPr>
            <p:ph sz="quarter" idx="18"/>
          </p:nvPr>
        </p:nvGraphicFramePr>
        <p:xfrm>
          <a:off x="4186996" y="5433683"/>
          <a:ext cx="938310" cy="380312"/>
        </p:xfrm>
        <a:graphic>
          <a:graphicData uri="http://schemas.openxmlformats.org/presentationml/2006/ole">
            <mc:AlternateContent xmlns:mc="http://schemas.openxmlformats.org/markup-compatibility/2006">
              <mc:Choice xmlns:v="urn:schemas-microsoft-com:vml" Requires="v">
                <p:oleObj name="Equation" r:id="rId6" imgW="469800" imgH="190440" progId="Equation.DSMT4">
                  <p:embed/>
                </p:oleObj>
              </mc:Choice>
              <mc:Fallback>
                <p:oleObj name="Equation" r:id="rId6" imgW="469800" imgH="190440" progId="Equation.DSMT4">
                  <p:embed/>
                  <p:pic>
                    <p:nvPicPr>
                      <p:cNvPr id="15" name="Content Placeholder 14" descr="= 20%.">
                        <a:extLst>
                          <a:ext uri="{FF2B5EF4-FFF2-40B4-BE49-F238E27FC236}">
                            <a16:creationId xmlns:a16="http://schemas.microsoft.com/office/drawing/2014/main" id="{6C40B074-8D78-4658-962E-72E927C60EDB}"/>
                          </a:ext>
                        </a:extLst>
                      </p:cNvPr>
                      <p:cNvPicPr/>
                      <p:nvPr/>
                    </p:nvPicPr>
                    <p:blipFill>
                      <a:blip r:embed="rId7"/>
                      <a:stretch>
                        <a:fillRect/>
                      </a:stretch>
                    </p:blipFill>
                    <p:spPr>
                      <a:xfrm>
                        <a:off x="4186996" y="5433683"/>
                        <a:ext cx="938310" cy="380312"/>
                      </a:xfrm>
                      <a:prstGeom prst="rect">
                        <a:avLst/>
                      </a:prstGeom>
                    </p:spPr>
                  </p:pic>
                </p:oleObj>
              </mc:Fallback>
            </mc:AlternateContent>
          </a:graphicData>
        </a:graphic>
      </p:graphicFrame>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4</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65</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2407996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AFBC4-A6AB-4C7E-A4FF-BB84462AA4F6}"/>
              </a:ext>
            </a:extLst>
          </p:cNvPr>
          <p:cNvSpPr>
            <a:spLocks noGrp="1"/>
          </p:cNvSpPr>
          <p:nvPr>
            <p:ph type="title"/>
          </p:nvPr>
        </p:nvSpPr>
        <p:spPr/>
        <p:txBody>
          <a:bodyPr/>
          <a:lstStyle/>
          <a:p>
            <a:r>
              <a:rPr lang="en-US" dirty="0">
                <a:latin typeface="Calibri" panose="020F0502020204030204" pitchFamily="34" charset="0"/>
                <a:ea typeface="Source Sans Pro" charset="0"/>
                <a:cs typeface="Calibri" panose="020F0502020204030204" pitchFamily="34" charset="0"/>
              </a:rPr>
              <a:t>Analysis of Stockholders’ Equity </a:t>
            </a:r>
            <a:r>
              <a:rPr lang="en-US" sz="2400" b="0" dirty="0">
                <a:latin typeface="Calibri" panose="020F0502020204030204" pitchFamily="34" charset="0"/>
                <a:ea typeface="Source Sans Pro" charset="0"/>
                <a:cs typeface="Calibri" panose="020F0502020204030204" pitchFamily="34" charset="0"/>
              </a:rPr>
              <a:t>(2 of 2)</a:t>
            </a:r>
            <a:endParaRPr lang="en-US" dirty="0"/>
          </a:p>
        </p:txBody>
      </p:sp>
      <p:sp>
        <p:nvSpPr>
          <p:cNvPr id="3" name="Content Placeholder 2">
            <a:extLst>
              <a:ext uri="{FF2B5EF4-FFF2-40B4-BE49-F238E27FC236}">
                <a16:creationId xmlns:a16="http://schemas.microsoft.com/office/drawing/2014/main" id="{3511877D-0BD6-4EF6-ACA1-144395ECFD33}"/>
              </a:ext>
            </a:extLst>
          </p:cNvPr>
          <p:cNvSpPr>
            <a:spLocks noGrp="1"/>
          </p:cNvSpPr>
          <p:nvPr>
            <p:ph sz="quarter" idx="16"/>
          </p:nvPr>
        </p:nvSpPr>
        <p:spPr>
          <a:xfrm>
            <a:off x="304800" y="1828799"/>
            <a:ext cx="8534400" cy="1249363"/>
          </a:xfrm>
        </p:spPr>
        <p:txBody>
          <a:bodyPr/>
          <a:lstStyle/>
          <a:p>
            <a:pPr marL="4763" lvl="1" indent="0">
              <a:spcBef>
                <a:spcPts val="1000"/>
              </a:spcBef>
              <a:buFont typeface="Wingdings" pitchFamily="2" charset="2"/>
              <a:buNone/>
            </a:pPr>
            <a:r>
              <a:rPr lang="en-US" altLang="en-US" sz="2200" b="1" dirty="0">
                <a:latin typeface="Calibri" panose="020F0502020204030204" pitchFamily="34" charset="0"/>
              </a:rPr>
              <a:t>Return on Common Stockholders’ Equity</a:t>
            </a:r>
          </a:p>
          <a:p>
            <a:pPr marL="292608" lvl="1" indent="-292608">
              <a:spcBef>
                <a:spcPts val="1000"/>
              </a:spcBef>
              <a:buClr>
                <a:srgbClr val="800000"/>
              </a:buClr>
              <a:buSzPct val="100000"/>
            </a:pPr>
            <a:r>
              <a:rPr lang="en-US" sz="2200" dirty="0">
                <a:latin typeface="Calibri" panose="020F0502020204030204" pitchFamily="34" charset="0"/>
              </a:rPr>
              <a:t>Indicates how many dollars of net income company earned for each dollar invested by common stockholders</a:t>
            </a:r>
          </a:p>
        </p:txBody>
      </p:sp>
      <p:sp>
        <p:nvSpPr>
          <p:cNvPr id="12" name="Content Placeholder 11"/>
          <p:cNvSpPr>
            <a:spLocks noGrp="1"/>
          </p:cNvSpPr>
          <p:nvPr>
            <p:ph sz="quarter" idx="19"/>
          </p:nvPr>
        </p:nvSpPr>
        <p:spPr>
          <a:xfrm>
            <a:off x="304800" y="2990850"/>
            <a:ext cx="8382000" cy="990600"/>
          </a:xfrm>
        </p:spPr>
        <p:txBody>
          <a:bodyPr/>
          <a:lstStyle/>
          <a:p>
            <a:pPr marL="0" lvl="1" indent="0">
              <a:spcBef>
                <a:spcPts val="1000"/>
              </a:spcBef>
              <a:buNone/>
            </a:pPr>
            <a:r>
              <a:rPr lang="en-US" sz="2200" b="1" dirty="0">
                <a:solidFill>
                  <a:srgbClr val="990000"/>
                </a:solidFill>
                <a:latin typeface="Calibri" panose="020F0502020204030204" pitchFamily="34" charset="0"/>
              </a:rPr>
              <a:t>Walt Disney Company</a:t>
            </a:r>
            <a:r>
              <a:rPr lang="en-US" sz="2200" dirty="0">
                <a:latin typeface="Calibri" panose="020F0502020204030204" pitchFamily="34" charset="0"/>
              </a:rPr>
              <a:t>’s beginning and ending common stockholders’ equity were $31,820 and $30,753 million, respectively. Net income was $4,687 million, no preferred stock.</a:t>
            </a:r>
            <a:endParaRPr lang="en-IN" sz="2200" dirty="0"/>
          </a:p>
        </p:txBody>
      </p:sp>
      <p:graphicFrame>
        <p:nvGraphicFramePr>
          <p:cNvPr id="8" name="Content Placeholder 7" descr="Net Income minus Preferred Dividends, divided by Average Common Stockholders' Equity = Return on Common Stockholders' Equity, displayed in red font.&#10;"/>
          <p:cNvGraphicFramePr>
            <a:graphicFrameLocks noGrp="1" noChangeAspect="1"/>
          </p:cNvGraphicFramePr>
          <p:nvPr>
            <p:ph sz="quarter" idx="17"/>
          </p:nvPr>
        </p:nvGraphicFramePr>
        <p:xfrm>
          <a:off x="1257156" y="4344188"/>
          <a:ext cx="6172488" cy="630223"/>
        </p:xfrm>
        <a:graphic>
          <a:graphicData uri="http://schemas.openxmlformats.org/presentationml/2006/ole">
            <mc:AlternateContent xmlns:mc="http://schemas.openxmlformats.org/markup-compatibility/2006">
              <mc:Choice xmlns:v="urn:schemas-microsoft-com:vml" Requires="v">
                <p:oleObj name="Equation" r:id="rId2" imgW="4228920" imgH="431640" progId="Equation.DSMT4">
                  <p:embed/>
                </p:oleObj>
              </mc:Choice>
              <mc:Fallback>
                <p:oleObj name="Equation" r:id="rId2" imgW="4228920" imgH="431640" progId="Equation.DSMT4">
                  <p:embed/>
                  <p:pic>
                    <p:nvPicPr>
                      <p:cNvPr id="8" name="Content Placeholder 7" descr="Net Income minus Preferred Dividends, divided by Average Common Stockholders' Equity = Return on Common Stockholders' Equity, displayed in red font.&#10;"/>
                      <p:cNvPicPr/>
                      <p:nvPr/>
                    </p:nvPicPr>
                    <p:blipFill>
                      <a:blip r:embed="rId3"/>
                      <a:stretch>
                        <a:fillRect/>
                      </a:stretch>
                    </p:blipFill>
                    <p:spPr>
                      <a:xfrm>
                        <a:off x="1257156" y="4344188"/>
                        <a:ext cx="6172488" cy="630223"/>
                      </a:xfrm>
                      <a:prstGeom prst="rect">
                        <a:avLst/>
                      </a:prstGeom>
                      <a:ln>
                        <a:solidFill>
                          <a:schemeClr val="tx1"/>
                        </a:solidFill>
                      </a:ln>
                    </p:spPr>
                  </p:pic>
                </p:oleObj>
              </mc:Fallback>
            </mc:AlternateContent>
          </a:graphicData>
        </a:graphic>
      </p:graphicFrame>
      <p:graphicFrame>
        <p:nvGraphicFramePr>
          <p:cNvPr id="11" name="Content Placeholder 10" descr="Net Income, $4,687, minus Preferred Dividends, $0, divided by Average Common Stockholders' Equity, ($31,820 + $30,753) divided by 2, = Return on Common Stockholders' Equity, 15.0%, displayed in red font."/>
          <p:cNvGraphicFramePr>
            <a:graphicFrameLocks noGrp="1" noChangeAspect="1"/>
          </p:cNvGraphicFramePr>
          <p:nvPr>
            <p:ph sz="quarter" idx="18"/>
          </p:nvPr>
        </p:nvGraphicFramePr>
        <p:xfrm>
          <a:off x="1889447" y="5370557"/>
          <a:ext cx="4369744" cy="652374"/>
        </p:xfrm>
        <a:graphic>
          <a:graphicData uri="http://schemas.openxmlformats.org/presentationml/2006/ole">
            <mc:AlternateContent xmlns:mc="http://schemas.openxmlformats.org/markup-compatibility/2006">
              <mc:Choice xmlns:v="urn:schemas-microsoft-com:vml" Requires="v">
                <p:oleObj name="Equation" r:id="rId4" imgW="2806560" imgH="419040" progId="Equation.DSMT4">
                  <p:embed/>
                </p:oleObj>
              </mc:Choice>
              <mc:Fallback>
                <p:oleObj name="Equation" r:id="rId4" imgW="2806560" imgH="419040" progId="Equation.DSMT4">
                  <p:embed/>
                  <p:pic>
                    <p:nvPicPr>
                      <p:cNvPr id="11" name="Content Placeholder 10" descr="Net Income, $4,687, minus Preferred Dividends, $0, divided by Average Common Stockholders' Equity, ($31,820 + $30,753) divided by 2, = Return on Common Stockholders' Equity, 15.0%, displayed in red font."/>
                      <p:cNvPicPr/>
                      <p:nvPr/>
                    </p:nvPicPr>
                    <p:blipFill>
                      <a:blip r:embed="rId5"/>
                      <a:stretch>
                        <a:fillRect/>
                      </a:stretch>
                    </p:blipFill>
                    <p:spPr>
                      <a:xfrm>
                        <a:off x="1889447" y="5370557"/>
                        <a:ext cx="4369744" cy="652374"/>
                      </a:xfrm>
                      <a:prstGeom prst="rect">
                        <a:avLst/>
                      </a:prstGeom>
                      <a:ln>
                        <a:solidFill>
                          <a:schemeClr val="tx1"/>
                        </a:solidFill>
                      </a:ln>
                    </p:spPr>
                  </p:pic>
                </p:oleObj>
              </mc:Fallback>
            </mc:AlternateContent>
          </a:graphicData>
        </a:graphic>
      </p:graphicFrame>
      <p:sp>
        <p:nvSpPr>
          <p:cNvPr id="5" name="Slide Number Placeholder 4">
            <a:extLst>
              <a:ext uri="{FF2B5EF4-FFF2-40B4-BE49-F238E27FC236}">
                <a16:creationId xmlns:a16="http://schemas.microsoft.com/office/drawing/2014/main" id="{943F50A9-9BB6-4060-82CA-3AFC9A4DDA6F}"/>
              </a:ext>
            </a:extLst>
          </p:cNvPr>
          <p:cNvSpPr>
            <a:spLocks noGrp="1"/>
          </p:cNvSpPr>
          <p:nvPr>
            <p:ph type="sldNum" sz="quarter" idx="10"/>
          </p:nvPr>
        </p:nvSpPr>
        <p:spPr/>
        <p:txBody>
          <a:bodyPr/>
          <a:lstStyle/>
          <a:p>
            <a:fld id="{67B19427-F580-D146-B60E-4CADEE75497F}" type="slidenum">
              <a:rPr lang="en-US" smtClean="0"/>
              <a:pPr/>
              <a:t>66</a:t>
            </a:fld>
            <a:endParaRPr lang="en-US" dirty="0"/>
          </a:p>
        </p:txBody>
      </p:sp>
      <p:sp>
        <p:nvSpPr>
          <p:cNvPr id="6" name="Footer Placeholder 5">
            <a:extLst>
              <a:ext uri="{FF2B5EF4-FFF2-40B4-BE49-F238E27FC236}">
                <a16:creationId xmlns:a16="http://schemas.microsoft.com/office/drawing/2014/main" id="{644BCFFD-E4CF-4492-B746-590AD426617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256025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1034129"/>
          </a:xfrm>
        </p:spPr>
        <p:txBody>
          <a:bodyPr>
            <a:spAutoFit/>
          </a:bodyPr>
          <a:lstStyle/>
          <a:p>
            <a:r>
              <a:rPr lang="en-US" noProof="0" dirty="0"/>
              <a:t>Analysis</a:t>
            </a:r>
            <a:br>
              <a:rPr lang="en-US" noProof="0" dirty="0"/>
            </a:br>
            <a:r>
              <a:rPr lang="en-US" sz="2800" noProof="0" dirty="0">
                <a:solidFill>
                  <a:schemeClr val="tx1"/>
                </a:solidFill>
              </a:rPr>
              <a:t>Rate of Return on Common Stockholders’ Equity</a:t>
            </a:r>
            <a:endParaRPr lang="en-US" sz="2800" b="0" noProof="0" dirty="0">
              <a:solidFill>
                <a:srgbClr val="990000"/>
              </a:solidFill>
            </a:endParaRPr>
          </a:p>
        </p:txBody>
      </p:sp>
      <p:sp>
        <p:nvSpPr>
          <p:cNvPr id="9" name="Content Placeholder 8">
            <a:extLst>
              <a:ext uri="{FF2B5EF4-FFF2-40B4-BE49-F238E27FC236}">
                <a16:creationId xmlns:a16="http://schemas.microsoft.com/office/drawing/2014/main" id="{DDAC5CB2-627A-459E-8BB3-E4ECBB46DB64}"/>
              </a:ext>
            </a:extLst>
          </p:cNvPr>
          <p:cNvSpPr>
            <a:spLocks noGrp="1"/>
          </p:cNvSpPr>
          <p:nvPr>
            <p:ph sz="quarter" idx="16"/>
          </p:nvPr>
        </p:nvSpPr>
        <p:spPr>
          <a:xfrm>
            <a:off x="304800" y="1845935"/>
            <a:ext cx="8534400" cy="1203590"/>
          </a:xfrm>
        </p:spPr>
        <p:txBody>
          <a:bodyPr>
            <a:noAutofit/>
          </a:bodyPr>
          <a:lstStyle/>
          <a:p>
            <a:pPr>
              <a:lnSpc>
                <a:spcPct val="100000"/>
              </a:lnSpc>
            </a:pPr>
            <a:r>
              <a:rPr lang="en-US" sz="2400" b="1" noProof="0" dirty="0"/>
              <a:t>Illustration:</a:t>
            </a:r>
            <a:r>
              <a:rPr lang="en-US" sz="2400" noProof="0" dirty="0"/>
              <a:t> </a:t>
            </a:r>
            <a:r>
              <a:rPr lang="en-US" sz="2400" dirty="0"/>
              <a:t>Gerbers </a:t>
            </a:r>
            <a:r>
              <a:rPr lang="en-US" sz="2400" noProof="0" dirty="0"/>
              <a:t>Inc. had net income of $360,000, declared and paid preferred dividends of $54,000, and average common stockholders’ equity of $2,550,000.</a:t>
            </a:r>
          </a:p>
        </p:txBody>
      </p:sp>
      <p:graphicFrame>
        <p:nvGraphicFramePr>
          <p:cNvPr id="12" name="Content Placeholder 11" descr="Rate of return on common stock equity = net income minus preferred dividends, over average common stockholders' equity end fraction">
            <a:extLst>
              <a:ext uri="{FF2B5EF4-FFF2-40B4-BE49-F238E27FC236}">
                <a16:creationId xmlns:a16="http://schemas.microsoft.com/office/drawing/2014/main" id="{FD4DFB6F-B33C-4C62-96F5-0A1B2740DB0A}"/>
              </a:ext>
            </a:extLst>
          </p:cNvPr>
          <p:cNvGraphicFramePr>
            <a:graphicFrameLocks noGrp="1" noChangeAspect="1"/>
          </p:cNvGraphicFramePr>
          <p:nvPr>
            <p:ph sz="quarter" idx="17"/>
          </p:nvPr>
        </p:nvGraphicFramePr>
        <p:xfrm>
          <a:off x="1990557" y="3257341"/>
          <a:ext cx="5162887" cy="1236618"/>
        </p:xfrm>
        <a:graphic>
          <a:graphicData uri="http://schemas.openxmlformats.org/presentationml/2006/ole">
            <mc:AlternateContent xmlns:mc="http://schemas.openxmlformats.org/markup-compatibility/2006">
              <mc:Choice xmlns:v="urn:schemas-microsoft-com:vml" Requires="v">
                <p:oleObj name="Equation" r:id="rId2" imgW="3022560" imgH="723600" progId="Equation.DSMT4">
                  <p:embed/>
                </p:oleObj>
              </mc:Choice>
              <mc:Fallback>
                <p:oleObj name="Equation" r:id="rId2" imgW="3022560" imgH="723600" progId="Equation.DSMT4">
                  <p:embed/>
                  <p:pic>
                    <p:nvPicPr>
                      <p:cNvPr id="12" name="Content Placeholder 11" descr="Rate of return on common stock equity = net income minus preferred dividends, over average common stockholders' equity end fraction">
                        <a:extLst>
                          <a:ext uri="{FF2B5EF4-FFF2-40B4-BE49-F238E27FC236}">
                            <a16:creationId xmlns:a16="http://schemas.microsoft.com/office/drawing/2014/main" id="{FD4DFB6F-B33C-4C62-96F5-0A1B2740DB0A}"/>
                          </a:ext>
                        </a:extLst>
                      </p:cNvPr>
                      <p:cNvPicPr/>
                      <p:nvPr/>
                    </p:nvPicPr>
                    <p:blipFill>
                      <a:blip r:embed="rId3"/>
                      <a:stretch>
                        <a:fillRect/>
                      </a:stretch>
                    </p:blipFill>
                    <p:spPr>
                      <a:xfrm>
                        <a:off x="1990557" y="3257341"/>
                        <a:ext cx="5162887" cy="1236618"/>
                      </a:xfrm>
                      <a:prstGeom prst="rect">
                        <a:avLst/>
                      </a:prstGeom>
                    </p:spPr>
                  </p:pic>
                </p:oleObj>
              </mc:Fallback>
            </mc:AlternateContent>
          </a:graphicData>
        </a:graphic>
      </p:graphicFrame>
      <p:graphicFrame>
        <p:nvGraphicFramePr>
          <p:cNvPr id="14" name="Content Placeholder 13" descr="= $360,000 minus $54,000, over $2,550,000">
            <a:extLst>
              <a:ext uri="{FF2B5EF4-FFF2-40B4-BE49-F238E27FC236}">
                <a16:creationId xmlns:a16="http://schemas.microsoft.com/office/drawing/2014/main" id="{374D5320-987B-4051-AA18-D4C9EE5CEBA4}"/>
              </a:ext>
            </a:extLst>
          </p:cNvPr>
          <p:cNvGraphicFramePr>
            <a:graphicFrameLocks noGrp="1" noChangeAspect="1"/>
          </p:cNvGraphicFramePr>
          <p:nvPr>
            <p:ph sz="quarter" idx="19"/>
          </p:nvPr>
        </p:nvGraphicFramePr>
        <p:xfrm>
          <a:off x="1990557" y="4805678"/>
          <a:ext cx="2707680" cy="776750"/>
        </p:xfrm>
        <a:graphic>
          <a:graphicData uri="http://schemas.openxmlformats.org/presentationml/2006/ole">
            <mc:AlternateContent xmlns:mc="http://schemas.openxmlformats.org/markup-compatibility/2006">
              <mc:Choice xmlns:v="urn:schemas-microsoft-com:vml" Requires="v">
                <p:oleObj name="Equation" r:id="rId4" imgW="1638000" imgH="469800" progId="Equation.DSMT4">
                  <p:embed/>
                </p:oleObj>
              </mc:Choice>
              <mc:Fallback>
                <p:oleObj name="Equation" r:id="rId4" imgW="1638000" imgH="469800" progId="Equation.DSMT4">
                  <p:embed/>
                  <p:pic>
                    <p:nvPicPr>
                      <p:cNvPr id="14" name="Content Placeholder 13" descr="= $360,000 minus $54,000, over $2,550,000">
                        <a:extLst>
                          <a:ext uri="{FF2B5EF4-FFF2-40B4-BE49-F238E27FC236}">
                            <a16:creationId xmlns:a16="http://schemas.microsoft.com/office/drawing/2014/main" id="{374D5320-987B-4051-AA18-D4C9EE5CEBA4}"/>
                          </a:ext>
                        </a:extLst>
                      </p:cNvPr>
                      <p:cNvPicPr/>
                      <p:nvPr/>
                    </p:nvPicPr>
                    <p:blipFill>
                      <a:blip r:embed="rId5"/>
                      <a:stretch>
                        <a:fillRect/>
                      </a:stretch>
                    </p:blipFill>
                    <p:spPr>
                      <a:xfrm>
                        <a:off x="1990557" y="4805678"/>
                        <a:ext cx="2707680" cy="776750"/>
                      </a:xfrm>
                      <a:prstGeom prst="rect">
                        <a:avLst/>
                      </a:prstGeom>
                    </p:spPr>
                  </p:pic>
                </p:oleObj>
              </mc:Fallback>
            </mc:AlternateContent>
          </a:graphicData>
        </a:graphic>
      </p:graphicFrame>
      <p:graphicFrame>
        <p:nvGraphicFramePr>
          <p:cNvPr id="15" name="Content Placeholder 14" descr="= 12%.">
            <a:extLst>
              <a:ext uri="{FF2B5EF4-FFF2-40B4-BE49-F238E27FC236}">
                <a16:creationId xmlns:a16="http://schemas.microsoft.com/office/drawing/2014/main" id="{6C40B074-8D78-4658-962E-72E927C60EDB}"/>
              </a:ext>
            </a:extLst>
          </p:cNvPr>
          <p:cNvGraphicFramePr>
            <a:graphicFrameLocks noGrp="1" noChangeAspect="1"/>
          </p:cNvGraphicFramePr>
          <p:nvPr>
            <p:ph sz="quarter" idx="18"/>
          </p:nvPr>
        </p:nvGraphicFramePr>
        <p:xfrm>
          <a:off x="1990557" y="5771018"/>
          <a:ext cx="775463" cy="314307"/>
        </p:xfrm>
        <a:graphic>
          <a:graphicData uri="http://schemas.openxmlformats.org/presentationml/2006/ole">
            <mc:AlternateContent xmlns:mc="http://schemas.openxmlformats.org/markup-compatibility/2006">
              <mc:Choice xmlns:v="urn:schemas-microsoft-com:vml" Requires="v">
                <p:oleObj name="Equation" r:id="rId6" imgW="469800" imgH="190440" progId="Equation.DSMT4">
                  <p:embed/>
                </p:oleObj>
              </mc:Choice>
              <mc:Fallback>
                <p:oleObj name="Equation" r:id="rId6" imgW="469800" imgH="190440" progId="Equation.DSMT4">
                  <p:embed/>
                  <p:pic>
                    <p:nvPicPr>
                      <p:cNvPr id="15" name="Content Placeholder 14" descr="= 12%.">
                        <a:extLst>
                          <a:ext uri="{FF2B5EF4-FFF2-40B4-BE49-F238E27FC236}">
                            <a16:creationId xmlns:a16="http://schemas.microsoft.com/office/drawing/2014/main" id="{6C40B074-8D78-4658-962E-72E927C60EDB}"/>
                          </a:ext>
                        </a:extLst>
                      </p:cNvPr>
                      <p:cNvPicPr/>
                      <p:nvPr/>
                    </p:nvPicPr>
                    <p:blipFill>
                      <a:blip r:embed="rId7"/>
                      <a:stretch>
                        <a:fillRect/>
                      </a:stretch>
                    </p:blipFill>
                    <p:spPr>
                      <a:xfrm>
                        <a:off x="1990557" y="5771018"/>
                        <a:ext cx="775463" cy="314307"/>
                      </a:xfrm>
                      <a:prstGeom prst="rect">
                        <a:avLst/>
                      </a:prstGeom>
                    </p:spPr>
                  </p:pic>
                </p:oleObj>
              </mc:Fallback>
            </mc:AlternateContent>
          </a:graphicData>
        </a:graphic>
      </p:graphicFrame>
      <p:sp>
        <p:nvSpPr>
          <p:cNvPr id="13" name="COB/LO">
            <a:extLst>
              <a:ext uri="{FF2B5EF4-FFF2-40B4-BE49-F238E27FC236}">
                <a16:creationId xmlns:a16="http://schemas.microsoft.com/office/drawing/2014/main" id="{86FD848B-592E-44B8-9630-BDF7B05BAF9E}"/>
              </a:ext>
            </a:extLst>
          </p:cNvPr>
          <p:cNvSpPr txBox="1">
            <a:spLocks noGrp="1"/>
          </p:cNvSpPr>
          <p:nvPr>
            <p:ph sz="quarter" idx="15"/>
          </p:nvPr>
        </p:nvSpPr>
        <p:spPr>
          <a:prstGeom prst="rect">
            <a:avLst/>
          </a:prstGeom>
          <a:noFill/>
        </p:spPr>
        <p:txBody>
          <a:bodyPr lIns="0" rIns="0">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60325" lvl="1" indent="0">
              <a:lnSpc>
                <a:spcPct val="100000"/>
              </a:lnSpc>
              <a:spcBef>
                <a:spcPts val="1200"/>
              </a:spcBef>
              <a:buFont typeface="Arial"/>
              <a:buNone/>
            </a:pPr>
            <a:r>
              <a:rPr lang="en-US" sz="1200" noProof="0" dirty="0">
                <a:solidFill>
                  <a:srgbClr val="000000"/>
                </a:solidFill>
              </a:rPr>
              <a:t>LO 4</a:t>
            </a:r>
          </a:p>
        </p:txBody>
      </p:sp>
      <p:sp>
        <p:nvSpPr>
          <p:cNvPr id="4" name="Slide Number Placeholder 3"/>
          <p:cNvSpPr>
            <a:spLocks noGrp="1"/>
          </p:cNvSpPr>
          <p:nvPr>
            <p:ph type="sldNum" sz="quarter" idx="10"/>
          </p:nvPr>
        </p:nvSpPr>
        <p:spPr/>
        <p:txBody>
          <a:bodyPr/>
          <a:lstStyle/>
          <a:p>
            <a:fld id="{67B19427-F580-D146-B60E-4CADEE75497F}" type="slidenum">
              <a:rPr lang="en-US" smtClean="0">
                <a:solidFill>
                  <a:srgbClr val="000000"/>
                </a:solidFill>
              </a:rPr>
              <a:pPr/>
              <a:t>67</a:t>
            </a:fld>
            <a:endParaRPr lang="en-US" dirty="0">
              <a:solidFill>
                <a:srgbClr val="000000"/>
              </a:solidFill>
            </a:endParaRPr>
          </a:p>
        </p:txBody>
      </p:sp>
      <p:sp>
        <p:nvSpPr>
          <p:cNvPr id="5" name="Footer Placeholder 4"/>
          <p:cNvSpPr>
            <a:spLocks noGrp="1"/>
          </p:cNvSpPr>
          <p:nvPr>
            <p:ph type="ftr" sz="quarter" idx="11"/>
          </p:nvPr>
        </p:nvSpPr>
        <p:spPr/>
        <p:txBody>
          <a:bodyPr/>
          <a:lstStyle/>
          <a:p>
            <a:r>
              <a:rPr lang="en-US" dirty="0">
                <a:solidFill>
                  <a:srgbClr val="000000"/>
                </a:solidFill>
              </a:rPr>
              <a:t>Copyright ©2019 John Wiley &amp; Sons, Inc. </a:t>
            </a:r>
          </a:p>
        </p:txBody>
      </p:sp>
    </p:spTree>
    <p:extLst>
      <p:ext uri="{BB962C8B-B14F-4D97-AF65-F5344CB8AC3E}">
        <p14:creationId xmlns:p14="http://schemas.microsoft.com/office/powerpoint/2010/main" val="2083189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762001"/>
            <a:ext cx="8686800" cy="691769"/>
          </a:xfrm>
        </p:spPr>
        <p:txBody>
          <a:bodyPr>
            <a:normAutofit fontScale="90000"/>
          </a:bodyPr>
          <a:lstStyle/>
          <a:p>
            <a:r>
              <a:rPr lang="en-US" dirty="0">
                <a:ea typeface="Source Sans Pro" charset="0"/>
              </a:rPr>
              <a:t>Do It! 2: </a:t>
            </a:r>
            <a:r>
              <a:rPr lang="en-US" dirty="0">
                <a:solidFill>
                  <a:srgbClr val="196E78"/>
                </a:solidFill>
                <a:ea typeface="Source Sans Pro" charset="0"/>
              </a:rPr>
              <a:t>Analyzing Stockholders’ Equity </a:t>
            </a:r>
            <a:r>
              <a:rPr lang="en-US" sz="2700" b="0" dirty="0">
                <a:solidFill>
                  <a:srgbClr val="196E78"/>
                </a:solidFill>
                <a:ea typeface="Source Sans Pro" charset="0"/>
              </a:rPr>
              <a:t>(1 of 3)</a:t>
            </a:r>
            <a:endParaRPr lang="en-US" sz="27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00200"/>
            <a:ext cx="8534400" cy="990600"/>
          </a:xfrm>
        </p:spPr>
        <p:txBody>
          <a:bodyPr/>
          <a:lstStyle/>
          <a:p>
            <a:r>
              <a:rPr lang="en-US" sz="2400" dirty="0"/>
              <a:t>On January 1, 2020, Siena Corporation purchased 2,000 shares of treasury stock. Other information regarding Siena Corporation is provided below</a:t>
            </a:r>
            <a:r>
              <a:rPr lang="en-US" altLang="en-US" sz="2400" dirty="0"/>
              <a:t>.</a:t>
            </a:r>
            <a:endParaRPr lang="en-US" sz="2400" dirty="0"/>
          </a:p>
        </p:txBody>
      </p:sp>
      <p:graphicFrame>
        <p:nvGraphicFramePr>
          <p:cNvPr id="12" name="Content Placeholder 11" descr="Table is accessible to screenreaders">
            <a:extLst>
              <a:ext uri="{FF2B5EF4-FFF2-40B4-BE49-F238E27FC236}">
                <a16:creationId xmlns:a16="http://schemas.microsoft.com/office/drawing/2014/main" id="{F640397F-0C7F-4B4F-AD64-606382E15ED4}"/>
              </a:ext>
            </a:extLst>
          </p:cNvPr>
          <p:cNvGraphicFramePr>
            <a:graphicFrameLocks noGrp="1"/>
          </p:cNvGraphicFramePr>
          <p:nvPr>
            <p:ph sz="quarter" idx="17"/>
          </p:nvPr>
        </p:nvGraphicFramePr>
        <p:xfrm>
          <a:off x="304799" y="2743200"/>
          <a:ext cx="8525934" cy="2225040"/>
        </p:xfrm>
        <a:graphic>
          <a:graphicData uri="http://schemas.openxmlformats.org/drawingml/2006/table">
            <a:tbl>
              <a:tblPr firstRow="1" bandRow="1">
                <a:tableStyleId>{5C22544A-7EE6-4342-B048-85BDC9FD1C3A}</a:tableStyleId>
              </a:tblPr>
              <a:tblGrid>
                <a:gridCol w="6019801">
                  <a:extLst>
                    <a:ext uri="{9D8B030D-6E8A-4147-A177-3AD203B41FA5}">
                      <a16:colId xmlns:a16="http://schemas.microsoft.com/office/drawing/2014/main" val="4288204268"/>
                    </a:ext>
                  </a:extLst>
                </a:gridCol>
                <a:gridCol w="1219200">
                  <a:extLst>
                    <a:ext uri="{9D8B030D-6E8A-4147-A177-3AD203B41FA5}">
                      <a16:colId xmlns:a16="http://schemas.microsoft.com/office/drawing/2014/main" val="3522940043"/>
                    </a:ext>
                  </a:extLst>
                </a:gridCol>
                <a:gridCol w="1286933">
                  <a:extLst>
                    <a:ext uri="{9D8B030D-6E8A-4147-A177-3AD203B41FA5}">
                      <a16:colId xmlns:a16="http://schemas.microsoft.com/office/drawing/2014/main" val="4087829021"/>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200" b="1" i="0" u="sng" strike="noStrike" baseline="0" dirty="0">
                        <a:solidFill>
                          <a:srgbClr val="000000"/>
                        </a:solidFill>
                        <a:effectLst/>
                        <a:latin typeface="Calibri" panose="020F0502020204030204" pitchFamily="34" charset="0"/>
                      </a:endParaRPr>
                    </a:p>
                  </a:txBody>
                  <a:tcPr marR="182880" marT="4233" marB="0" anchor="ctr">
                    <a:solidFill>
                      <a:schemeClr val="bg1"/>
                    </a:solidFill>
                  </a:tcPr>
                </a:tc>
                <a:tc>
                  <a:txBody>
                    <a:bodyPr/>
                    <a:lstStyle/>
                    <a:p>
                      <a:pPr algn="ctr" fontAlgn="b">
                        <a:lnSpc>
                          <a:spcPct val="90000"/>
                        </a:lnSpc>
                      </a:pPr>
                      <a:r>
                        <a:rPr lang="en-US" sz="2200" b="1" i="0" u="none" strike="noStrike" baseline="0" dirty="0">
                          <a:solidFill>
                            <a:srgbClr val="000000"/>
                          </a:solidFill>
                          <a:effectLst/>
                          <a:latin typeface="Calibri" panose="020F0502020204030204" pitchFamily="34" charset="0"/>
                        </a:rPr>
                        <a:t>2019</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2200" b="1" i="0" u="none" strike="noStrike" baseline="0" dirty="0">
                          <a:solidFill>
                            <a:srgbClr val="000000"/>
                          </a:solidFill>
                          <a:effectLst/>
                          <a:latin typeface="Calibri" panose="020F0502020204030204" pitchFamily="34" charset="0"/>
                        </a:rPr>
                        <a:t>2020</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3258494"/>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Net income</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$110,000</a:t>
                      </a:r>
                    </a:p>
                  </a:txBody>
                  <a:tcPr marL="4233" marR="27432"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$110,000</a:t>
                      </a:r>
                    </a:p>
                  </a:txBody>
                  <a:tcPr marL="4233" marR="146304" marT="4233"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595818142"/>
                  </a:ext>
                </a:extLst>
              </a:tr>
              <a:tr h="370840">
                <a:tc>
                  <a:txBody>
                    <a:bodyPr/>
                    <a:lstStyle/>
                    <a:p>
                      <a:pPr marL="0" algn="l" defTabSz="914400" rtl="0" eaLnBrk="1" fontAlgn="b" latinLnBrk="0" hangingPunct="1"/>
                      <a:r>
                        <a:rPr lang="en-US" sz="2200" b="0" i="0" u="none" strike="noStrike" kern="1200" baseline="0" dirty="0">
                          <a:solidFill>
                            <a:schemeClr val="dk1"/>
                          </a:solidFill>
                          <a:effectLst/>
                          <a:latin typeface="Calibri" panose="020F0502020204030204" pitchFamily="34" charset="0"/>
                          <a:ea typeface="+mn-ea"/>
                          <a:cs typeface="+mn-cs"/>
                        </a:rPr>
                        <a:t>Dividends on preferred stock</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10,000</a:t>
                      </a:r>
                    </a:p>
                  </a:txBody>
                  <a:tcPr marL="4233" marR="146304" marT="4233" marB="0" anchor="b">
                    <a:solidFill>
                      <a:schemeClr val="bg1"/>
                    </a:solidFill>
                  </a:tcPr>
                </a:tc>
                <a:extLst>
                  <a:ext uri="{0D108BD9-81ED-4DB2-BD59-A6C34878D82A}">
                    <a16:rowId xmlns:a16="http://schemas.microsoft.com/office/drawing/2014/main" val="1650250917"/>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Dividends on common stock</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2,000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1,600</a:t>
                      </a:r>
                    </a:p>
                  </a:txBody>
                  <a:tcPr marL="4233" marR="146304" marT="4233" marB="0" anchor="b">
                    <a:solidFill>
                      <a:schemeClr val="bg1"/>
                    </a:solidFill>
                  </a:tcPr>
                </a:tc>
                <a:extLst>
                  <a:ext uri="{0D108BD9-81ED-4DB2-BD59-A6C34878D82A}">
                    <a16:rowId xmlns:a16="http://schemas.microsoft.com/office/drawing/2014/main" val="3733892051"/>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400,000</a:t>
                      </a:r>
                      <a:r>
                        <a:rPr lang="en-US" sz="22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2831335322"/>
                  </a:ext>
                </a:extLst>
              </a:tr>
              <a:tr h="370840">
                <a:tc>
                  <a:txBody>
                    <a:bodyPr/>
                    <a:lstStyle/>
                    <a:p>
                      <a:pPr algn="l" fontAlgn="b"/>
                      <a:r>
                        <a:rPr lang="en-US" sz="22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200" b="0" i="0" u="none" strike="noStrike" kern="1200" baseline="0" dirty="0">
                          <a:solidFill>
                            <a:schemeClr val="dk1"/>
                          </a:solidFill>
                          <a:effectLst/>
                          <a:latin typeface="Calibri" panose="020F0502020204030204" pitchFamily="34" charset="0"/>
                          <a:ea typeface="+mn-ea"/>
                          <a:cs typeface="+mn-cs"/>
                        </a:rPr>
                        <a:t>400,000</a:t>
                      </a:r>
                    </a:p>
                  </a:txBody>
                  <a:tcPr marL="4233" marR="146304" marT="4233" marB="0" anchor="b">
                    <a:solidFill>
                      <a:schemeClr val="bg1"/>
                    </a:solidFill>
                  </a:tcPr>
                </a:tc>
                <a:extLst>
                  <a:ext uri="{0D108BD9-81ED-4DB2-BD59-A6C34878D82A}">
                    <a16:rowId xmlns:a16="http://schemas.microsoft.com/office/drawing/2014/main" val="276525602"/>
                  </a:ext>
                </a:extLst>
              </a:tr>
            </a:tbl>
          </a:graphicData>
        </a:graphic>
      </p:graphicFrame>
      <p:sp>
        <p:nvSpPr>
          <p:cNvPr id="9" name="Content Placeholder 8">
            <a:extLst>
              <a:ext uri="{FF2B5EF4-FFF2-40B4-BE49-F238E27FC236}">
                <a16:creationId xmlns:a16="http://schemas.microsoft.com/office/drawing/2014/main" id="{0D26C2DF-F0DF-409A-9EC7-DDCE7DE40240}"/>
              </a:ext>
            </a:extLst>
          </p:cNvPr>
          <p:cNvSpPr>
            <a:spLocks noGrp="1"/>
          </p:cNvSpPr>
          <p:nvPr>
            <p:ph sz="quarter" idx="18"/>
          </p:nvPr>
        </p:nvSpPr>
        <p:spPr>
          <a:xfrm>
            <a:off x="304801" y="5148024"/>
            <a:ext cx="3810000" cy="292100"/>
          </a:xfrm>
        </p:spPr>
        <p:txBody>
          <a:bodyPr/>
          <a:lstStyle/>
          <a:p>
            <a:r>
              <a:rPr lang="en-US" sz="1600" dirty="0">
                <a:solidFill>
                  <a:schemeClr val="dk1"/>
                </a:solidFill>
              </a:rPr>
              <a:t>*Adjusted for purchase of treasury stock.</a:t>
            </a:r>
            <a:endParaRPr lang="en-US" sz="1600" dirty="0"/>
          </a:p>
        </p:txBody>
      </p:sp>
      <p:sp>
        <p:nvSpPr>
          <p:cNvPr id="10" name="Content Placeholder 9">
            <a:extLst>
              <a:ext uri="{FF2B5EF4-FFF2-40B4-BE49-F238E27FC236}">
                <a16:creationId xmlns:a16="http://schemas.microsoft.com/office/drawing/2014/main" id="{3A27328F-77B3-44BB-B6D3-0A325AB030F1}"/>
              </a:ext>
            </a:extLst>
          </p:cNvPr>
          <p:cNvSpPr>
            <a:spLocks noGrp="1"/>
          </p:cNvSpPr>
          <p:nvPr>
            <p:ph sz="quarter" idx="19"/>
          </p:nvPr>
        </p:nvSpPr>
        <p:spPr>
          <a:xfrm>
            <a:off x="304800" y="5571869"/>
            <a:ext cx="8534400" cy="691769"/>
          </a:xfrm>
        </p:spPr>
        <p:txBody>
          <a:bodyPr/>
          <a:lstStyle/>
          <a:p>
            <a:r>
              <a:rPr lang="en-US" sz="2400" dirty="0"/>
              <a:t>(a) Compute return on common stockholders’ equity for each year, and (b) discuss its change from 2019 to 2020.</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68</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199128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944C-073A-4426-9EC9-626B975C6549}"/>
              </a:ext>
            </a:extLst>
          </p:cNvPr>
          <p:cNvSpPr>
            <a:spLocks noGrp="1"/>
          </p:cNvSpPr>
          <p:nvPr>
            <p:ph type="title"/>
          </p:nvPr>
        </p:nvSpPr>
        <p:spPr>
          <a:xfrm>
            <a:off x="304800" y="762001"/>
            <a:ext cx="8686800" cy="685799"/>
          </a:xfrm>
        </p:spPr>
        <p:txBody>
          <a:bodyPr>
            <a:normAutofit fontScale="90000"/>
          </a:bodyPr>
          <a:lstStyle/>
          <a:p>
            <a:r>
              <a:rPr lang="en-US" dirty="0">
                <a:ea typeface="Source Sans Pro" charset="0"/>
              </a:rPr>
              <a:t>Do It! 2: </a:t>
            </a:r>
            <a:r>
              <a:rPr lang="en-US" dirty="0">
                <a:solidFill>
                  <a:srgbClr val="196E78"/>
                </a:solidFill>
                <a:ea typeface="Source Sans Pro" charset="0"/>
              </a:rPr>
              <a:t>Analyzing Stockholders’ Equity </a:t>
            </a:r>
            <a:r>
              <a:rPr lang="en-US" sz="2700" b="0" dirty="0">
                <a:solidFill>
                  <a:srgbClr val="196E78"/>
                </a:solidFill>
                <a:ea typeface="Source Sans Pro" charset="0"/>
              </a:rPr>
              <a:t>(2 of 3)</a:t>
            </a:r>
            <a:endParaRPr lang="en-US" dirty="0"/>
          </a:p>
        </p:txBody>
      </p:sp>
      <p:graphicFrame>
        <p:nvGraphicFramePr>
          <p:cNvPr id="14" name="Content Placeholder 13" descr="Table is accessible to screenreaders">
            <a:extLst>
              <a:ext uri="{FF2B5EF4-FFF2-40B4-BE49-F238E27FC236}">
                <a16:creationId xmlns:a16="http://schemas.microsoft.com/office/drawing/2014/main" id="{4CCFD5B5-01F2-4FEB-9069-FB7671D761A1}"/>
              </a:ext>
            </a:extLst>
          </p:cNvPr>
          <p:cNvGraphicFramePr>
            <a:graphicFrameLocks noGrp="1"/>
          </p:cNvGraphicFramePr>
          <p:nvPr>
            <p:ph sz="quarter" idx="16"/>
          </p:nvPr>
        </p:nvGraphicFramePr>
        <p:xfrm>
          <a:off x="304800" y="1828800"/>
          <a:ext cx="8534400" cy="222504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1623574992"/>
                    </a:ext>
                  </a:extLst>
                </a:gridCol>
                <a:gridCol w="1219200">
                  <a:extLst>
                    <a:ext uri="{9D8B030D-6E8A-4147-A177-3AD203B41FA5}">
                      <a16:colId xmlns:a16="http://schemas.microsoft.com/office/drawing/2014/main" val="2333278367"/>
                    </a:ext>
                  </a:extLst>
                </a:gridCol>
                <a:gridCol w="1295400">
                  <a:extLst>
                    <a:ext uri="{9D8B030D-6E8A-4147-A177-3AD203B41FA5}">
                      <a16:colId xmlns:a16="http://schemas.microsoft.com/office/drawing/2014/main" val="1372529634"/>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000" b="1" i="0" u="sng" strike="noStrike" baseline="0" dirty="0">
                        <a:solidFill>
                          <a:srgbClr val="000000"/>
                        </a:solidFill>
                        <a:effectLst/>
                        <a:latin typeface="Calibri" panose="020F0502020204030204" pitchFamily="34" charset="0"/>
                      </a:endParaRPr>
                    </a:p>
                  </a:txBody>
                  <a:tcPr marR="182880" marT="4233" marB="0" anchor="ctr">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2019</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2020</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7595749"/>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Net income</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marL="4233" marR="27432"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marL="4233" marR="109728" marT="4233"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494319007"/>
                  </a:ext>
                </a:extLst>
              </a:tr>
              <a:tr h="370840">
                <a:tc>
                  <a:txBody>
                    <a:bodyPr/>
                    <a:lstStyle/>
                    <a:p>
                      <a:pPr marL="0" algn="l" defTabSz="914400" rtl="0" eaLnBrk="1" fontAlgn="b" latinLnBrk="0" hangingPunct="1"/>
                      <a:r>
                        <a:rPr lang="en-US" sz="2000" b="0" i="0" u="none" strike="noStrike" kern="1200" baseline="0" dirty="0">
                          <a:solidFill>
                            <a:schemeClr val="dk1"/>
                          </a:solidFill>
                          <a:effectLst/>
                          <a:latin typeface="Calibri" panose="020F0502020204030204" pitchFamily="34" charset="0"/>
                          <a:ea typeface="+mn-ea"/>
                          <a:cs typeface="+mn-cs"/>
                        </a:rPr>
                        <a:t>Dividends on preferred stock</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marL="4233" marR="109728" marT="4233" marB="0" anchor="b">
                    <a:solidFill>
                      <a:schemeClr val="bg1"/>
                    </a:solidFill>
                  </a:tcPr>
                </a:tc>
                <a:extLst>
                  <a:ext uri="{0D108BD9-81ED-4DB2-BD59-A6C34878D82A}">
                    <a16:rowId xmlns:a16="http://schemas.microsoft.com/office/drawing/2014/main" val="3243932278"/>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Dividends on common stock</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2,000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1,600</a:t>
                      </a:r>
                    </a:p>
                  </a:txBody>
                  <a:tcPr marL="4233" marR="109728" marT="4233" marB="0" anchor="b">
                    <a:solidFill>
                      <a:schemeClr val="bg1"/>
                    </a:solidFill>
                  </a:tcPr>
                </a:tc>
                <a:extLst>
                  <a:ext uri="{0D108BD9-81ED-4DB2-BD59-A6C34878D82A}">
                    <a16:rowId xmlns:a16="http://schemas.microsoft.com/office/drawing/2014/main" val="647347407"/>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r>
                        <a:rPr lang="en-US" sz="20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3174579258"/>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p>
                  </a:txBody>
                  <a:tcPr marL="4233" marR="109728" marT="4233" marB="0" anchor="b">
                    <a:solidFill>
                      <a:schemeClr val="bg1"/>
                    </a:solidFill>
                  </a:tcPr>
                </a:tc>
                <a:extLst>
                  <a:ext uri="{0D108BD9-81ED-4DB2-BD59-A6C34878D82A}">
                    <a16:rowId xmlns:a16="http://schemas.microsoft.com/office/drawing/2014/main" val="4205205704"/>
                  </a:ext>
                </a:extLst>
              </a:tr>
            </a:tbl>
          </a:graphicData>
        </a:graphic>
      </p:graphicFrame>
      <p:sp>
        <p:nvSpPr>
          <p:cNvPr id="4" name="Content Placeholder 3">
            <a:extLst>
              <a:ext uri="{FF2B5EF4-FFF2-40B4-BE49-F238E27FC236}">
                <a16:creationId xmlns:a16="http://schemas.microsoft.com/office/drawing/2014/main" id="{9DE75692-1A42-4255-A0FD-AE9E83C2D9F3}"/>
              </a:ext>
            </a:extLst>
          </p:cNvPr>
          <p:cNvSpPr>
            <a:spLocks noGrp="1"/>
          </p:cNvSpPr>
          <p:nvPr>
            <p:ph sz="quarter" idx="17"/>
          </p:nvPr>
        </p:nvSpPr>
        <p:spPr>
          <a:xfrm>
            <a:off x="304800" y="4133850"/>
            <a:ext cx="8534400" cy="343501"/>
          </a:xfrm>
        </p:spPr>
        <p:txBody>
          <a:bodyPr/>
          <a:lstStyle/>
          <a:p>
            <a:r>
              <a:rPr lang="en-US" sz="2000" dirty="0">
                <a:solidFill>
                  <a:schemeClr val="dk1"/>
                </a:solidFill>
                <a:latin typeface="Calibri" panose="020F0502020204030204" pitchFamily="34" charset="0"/>
              </a:rPr>
              <a:t>*Adjusted for purchase of treasury stock.</a:t>
            </a:r>
            <a:endParaRPr lang="en-US" sz="2000" dirty="0">
              <a:latin typeface="Calibri" panose="020F0502020204030204" pitchFamily="34" charset="0"/>
            </a:endParaRPr>
          </a:p>
        </p:txBody>
      </p:sp>
      <p:sp>
        <p:nvSpPr>
          <p:cNvPr id="5" name="Content Placeholder 4">
            <a:extLst>
              <a:ext uri="{FF2B5EF4-FFF2-40B4-BE49-F238E27FC236}">
                <a16:creationId xmlns:a16="http://schemas.microsoft.com/office/drawing/2014/main" id="{26CA7ABD-719C-431B-A20C-D84108BE83BF}"/>
              </a:ext>
            </a:extLst>
          </p:cNvPr>
          <p:cNvSpPr>
            <a:spLocks noGrp="1"/>
          </p:cNvSpPr>
          <p:nvPr>
            <p:ph sz="quarter" idx="18"/>
          </p:nvPr>
        </p:nvSpPr>
        <p:spPr>
          <a:xfrm>
            <a:off x="304800" y="4552950"/>
            <a:ext cx="8534400" cy="377851"/>
          </a:xfrm>
        </p:spPr>
        <p:txBody>
          <a:bodyPr/>
          <a:lstStyle/>
          <a:p>
            <a:r>
              <a:rPr lang="en-US" sz="2200" dirty="0">
                <a:latin typeface="Calibri" panose="020F0502020204030204" pitchFamily="34" charset="0"/>
              </a:rPr>
              <a:t>(a) Compute return on common stockholders’ equity for each year.</a:t>
            </a:r>
          </a:p>
        </p:txBody>
      </p:sp>
      <p:sp>
        <p:nvSpPr>
          <p:cNvPr id="6" name="Content Placeholder 5">
            <a:extLst>
              <a:ext uri="{FF2B5EF4-FFF2-40B4-BE49-F238E27FC236}">
                <a16:creationId xmlns:a16="http://schemas.microsoft.com/office/drawing/2014/main" id="{E8AF6C9A-ED7E-4035-B531-63AA8F758257}"/>
              </a:ext>
            </a:extLst>
          </p:cNvPr>
          <p:cNvSpPr>
            <a:spLocks noGrp="1"/>
          </p:cNvSpPr>
          <p:nvPr>
            <p:ph sz="quarter" idx="19"/>
          </p:nvPr>
        </p:nvSpPr>
        <p:spPr>
          <a:xfrm>
            <a:off x="1447800" y="4942116"/>
            <a:ext cx="953106" cy="312274"/>
          </a:xfrm>
        </p:spPr>
        <p:txBody>
          <a:bodyPr/>
          <a:lstStyle/>
          <a:p>
            <a:r>
              <a:rPr lang="en-US" sz="2200" b="1" u="sng" dirty="0">
                <a:latin typeface="Calibri" panose="020F0502020204030204" pitchFamily="34" charset="0"/>
              </a:rPr>
              <a:t>2019</a:t>
            </a:r>
          </a:p>
        </p:txBody>
      </p:sp>
      <p:sp>
        <p:nvSpPr>
          <p:cNvPr id="8" name="Content Placeholder 7">
            <a:extLst>
              <a:ext uri="{FF2B5EF4-FFF2-40B4-BE49-F238E27FC236}">
                <a16:creationId xmlns:a16="http://schemas.microsoft.com/office/drawing/2014/main" id="{C2276E9A-5DB6-4E70-9C04-A2F3A42179CE}"/>
              </a:ext>
            </a:extLst>
          </p:cNvPr>
          <p:cNvSpPr>
            <a:spLocks noGrp="1"/>
          </p:cNvSpPr>
          <p:nvPr>
            <p:ph sz="quarter" idx="21"/>
          </p:nvPr>
        </p:nvSpPr>
        <p:spPr>
          <a:xfrm>
            <a:off x="6553200" y="4954816"/>
            <a:ext cx="787691" cy="336550"/>
          </a:xfrm>
        </p:spPr>
        <p:txBody>
          <a:bodyPr/>
          <a:lstStyle/>
          <a:p>
            <a:r>
              <a:rPr lang="en-US" sz="2200" b="1" u="sng" dirty="0">
                <a:latin typeface="Calibri" panose="020F0502020204030204" pitchFamily="34" charset="0"/>
              </a:rPr>
              <a:t>2020</a:t>
            </a:r>
          </a:p>
        </p:txBody>
      </p:sp>
      <p:graphicFrame>
        <p:nvGraphicFramePr>
          <p:cNvPr id="16" name="Content Placeholder 15" descr="An illustration displays computation of return on common stockholders' equity for each year. 2019 displays, $110,000 minus $10,000 over $500,000 + $500,000 over 2 = 20 percent.">
            <a:extLst>
              <a:ext uri="{FF2B5EF4-FFF2-40B4-BE49-F238E27FC236}">
                <a16:creationId xmlns:a16="http://schemas.microsoft.com/office/drawing/2014/main" id="{87202E6D-B7C5-4579-AD3D-B6A65D51D7B7}"/>
              </a:ext>
            </a:extLst>
          </p:cNvPr>
          <p:cNvGraphicFramePr>
            <a:graphicFrameLocks noGrp="1" noChangeAspect="1"/>
          </p:cNvGraphicFramePr>
          <p:nvPr>
            <p:ph sz="quarter" idx="20"/>
          </p:nvPr>
        </p:nvGraphicFramePr>
        <p:xfrm>
          <a:off x="762000" y="5421812"/>
          <a:ext cx="2640557" cy="854298"/>
        </p:xfrm>
        <a:graphic>
          <a:graphicData uri="http://schemas.openxmlformats.org/presentationml/2006/ole">
            <mc:AlternateContent xmlns:mc="http://schemas.openxmlformats.org/markup-compatibility/2006">
              <mc:Choice xmlns:v="urn:schemas-microsoft-com:vml" Requires="v">
                <p:oleObj name="Equation" r:id="rId2" imgW="3454200" imgH="1117440" progId="Equation.DSMT4">
                  <p:embed/>
                </p:oleObj>
              </mc:Choice>
              <mc:Fallback>
                <p:oleObj name="Equation" r:id="rId2" imgW="3454200" imgH="1117440" progId="Equation.DSMT4">
                  <p:embed/>
                  <p:pic>
                    <p:nvPicPr>
                      <p:cNvPr id="16" name="Content Placeholder 15" descr="An illustration displays computation of return on common stockholders' equity for each year. 2019 displays, $110,000 minus $10,000 over $500,000 + $500,000 over 2 = 20 percent.">
                        <a:extLst>
                          <a:ext uri="{FF2B5EF4-FFF2-40B4-BE49-F238E27FC236}">
                            <a16:creationId xmlns:a16="http://schemas.microsoft.com/office/drawing/2014/main" id="{87202E6D-B7C5-4579-AD3D-B6A65D51D7B7}"/>
                          </a:ext>
                        </a:extLst>
                      </p:cNvPr>
                      <p:cNvPicPr/>
                      <p:nvPr/>
                    </p:nvPicPr>
                    <p:blipFill>
                      <a:blip r:embed="rId3"/>
                      <a:stretch>
                        <a:fillRect/>
                      </a:stretch>
                    </p:blipFill>
                    <p:spPr>
                      <a:xfrm>
                        <a:off x="762000" y="5421812"/>
                        <a:ext cx="2640557" cy="854298"/>
                      </a:xfrm>
                      <a:prstGeom prst="rect">
                        <a:avLst/>
                      </a:prstGeom>
                    </p:spPr>
                  </p:pic>
                </p:oleObj>
              </mc:Fallback>
            </mc:AlternateContent>
          </a:graphicData>
        </a:graphic>
      </p:graphicFrame>
      <p:graphicFrame>
        <p:nvGraphicFramePr>
          <p:cNvPr id="18" name="Content Placeholder 17" descr="An illustration displays computation of return on common stockholders' equity for each year.2020 displays, $110,000 minus $10,000 over $400,000 + $400,000 over 2 = 25 percent.">
            <a:extLst>
              <a:ext uri="{FF2B5EF4-FFF2-40B4-BE49-F238E27FC236}">
                <a16:creationId xmlns:a16="http://schemas.microsoft.com/office/drawing/2014/main" id="{EC593559-27E6-49A3-8AB7-15235CC2B5AA}"/>
              </a:ext>
            </a:extLst>
          </p:cNvPr>
          <p:cNvGraphicFramePr>
            <a:graphicFrameLocks noGrp="1" noChangeAspect="1"/>
          </p:cNvGraphicFramePr>
          <p:nvPr>
            <p:ph sz="quarter" idx="22"/>
          </p:nvPr>
        </p:nvGraphicFramePr>
        <p:xfrm>
          <a:off x="5639322" y="5421812"/>
          <a:ext cx="2640557" cy="854298"/>
        </p:xfrm>
        <a:graphic>
          <a:graphicData uri="http://schemas.openxmlformats.org/presentationml/2006/ole">
            <mc:AlternateContent xmlns:mc="http://schemas.openxmlformats.org/markup-compatibility/2006">
              <mc:Choice xmlns:v="urn:schemas-microsoft-com:vml" Requires="v">
                <p:oleObj name="Equation" r:id="rId4" imgW="3454200" imgH="1117440" progId="Equation.DSMT4">
                  <p:embed/>
                </p:oleObj>
              </mc:Choice>
              <mc:Fallback>
                <p:oleObj name="Equation" r:id="rId4" imgW="3454200" imgH="1117440" progId="Equation.DSMT4">
                  <p:embed/>
                  <p:pic>
                    <p:nvPicPr>
                      <p:cNvPr id="18" name="Content Placeholder 17" descr="An illustration displays computation of return on common stockholders' equity for each year.2020 displays, $110,000 minus $10,000 over $400,000 + $400,000 over 2 = 25 percent.">
                        <a:extLst>
                          <a:ext uri="{FF2B5EF4-FFF2-40B4-BE49-F238E27FC236}">
                            <a16:creationId xmlns:a16="http://schemas.microsoft.com/office/drawing/2014/main" id="{EC593559-27E6-49A3-8AB7-15235CC2B5AA}"/>
                          </a:ext>
                        </a:extLst>
                      </p:cNvPr>
                      <p:cNvPicPr/>
                      <p:nvPr/>
                    </p:nvPicPr>
                    <p:blipFill>
                      <a:blip r:embed="rId5"/>
                      <a:stretch>
                        <a:fillRect/>
                      </a:stretch>
                    </p:blipFill>
                    <p:spPr>
                      <a:xfrm>
                        <a:off x="5639322" y="5421812"/>
                        <a:ext cx="2640557" cy="854298"/>
                      </a:xfrm>
                      <a:prstGeom prst="rect">
                        <a:avLst/>
                      </a:prstGeom>
                    </p:spPr>
                  </p:pic>
                </p:oleObj>
              </mc:Fallback>
            </mc:AlternateContent>
          </a:graphicData>
        </a:graphic>
      </p:graphicFrame>
      <p:sp>
        <p:nvSpPr>
          <p:cNvPr id="12" name="Slide Number Placeholder 11">
            <a:extLst>
              <a:ext uri="{FF2B5EF4-FFF2-40B4-BE49-F238E27FC236}">
                <a16:creationId xmlns:a16="http://schemas.microsoft.com/office/drawing/2014/main" id="{32810344-7882-4413-8B90-F6A6F189D50C}"/>
              </a:ext>
            </a:extLst>
          </p:cNvPr>
          <p:cNvSpPr>
            <a:spLocks noGrp="1"/>
          </p:cNvSpPr>
          <p:nvPr>
            <p:ph type="sldNum" sz="quarter" idx="10"/>
          </p:nvPr>
        </p:nvSpPr>
        <p:spPr/>
        <p:txBody>
          <a:bodyPr/>
          <a:lstStyle/>
          <a:p>
            <a:fld id="{67B19427-F580-D146-B60E-4CADEE75497F}" type="slidenum">
              <a:rPr lang="en-US" smtClean="0"/>
              <a:pPr/>
              <a:t>69</a:t>
            </a:fld>
            <a:endParaRPr lang="en-US" dirty="0"/>
          </a:p>
        </p:txBody>
      </p:sp>
      <p:sp>
        <p:nvSpPr>
          <p:cNvPr id="13" name="Footer Placeholder 12">
            <a:extLst>
              <a:ext uri="{FF2B5EF4-FFF2-40B4-BE49-F238E27FC236}">
                <a16:creationId xmlns:a16="http://schemas.microsoft.com/office/drawing/2014/main" id="{C1659715-1942-4F26-B347-E7E923961A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9519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762001"/>
            <a:ext cx="8686800" cy="691769"/>
          </a:xfrm>
        </p:spPr>
        <p:txBody>
          <a:bodyPr>
            <a:normAutofit fontScale="90000"/>
          </a:bodyPr>
          <a:lstStyle/>
          <a:p>
            <a:r>
              <a:rPr lang="en-US" dirty="0">
                <a:ea typeface="Source Sans Pro" charset="0"/>
              </a:rPr>
              <a:t>Do It! 2: </a:t>
            </a:r>
            <a:r>
              <a:rPr lang="en-US" dirty="0">
                <a:solidFill>
                  <a:srgbClr val="196E78"/>
                </a:solidFill>
                <a:ea typeface="Source Sans Pro" charset="0"/>
              </a:rPr>
              <a:t>Analyzing Stockholders’ Equity </a:t>
            </a:r>
            <a:r>
              <a:rPr lang="en-US" sz="2700" b="0" dirty="0">
                <a:solidFill>
                  <a:srgbClr val="196E78"/>
                </a:solidFill>
                <a:ea typeface="Source Sans Pro" charset="0"/>
              </a:rPr>
              <a:t>(3 of 3)</a:t>
            </a:r>
            <a:endParaRPr lang="en-US" sz="27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00200"/>
            <a:ext cx="8534400" cy="457200"/>
          </a:xfrm>
        </p:spPr>
        <p:txBody>
          <a:bodyPr/>
          <a:lstStyle/>
          <a:p>
            <a:r>
              <a:rPr lang="en-US" sz="2400" dirty="0"/>
              <a:t>(b) Discuss its change from 2019 to 2020.</a:t>
            </a:r>
          </a:p>
        </p:txBody>
      </p:sp>
      <p:sp>
        <p:nvSpPr>
          <p:cNvPr id="5" name="Content Placeholder 4">
            <a:extLst>
              <a:ext uri="{FF2B5EF4-FFF2-40B4-BE49-F238E27FC236}">
                <a16:creationId xmlns:a16="http://schemas.microsoft.com/office/drawing/2014/main" id="{AD56E48B-88EC-43D9-A16C-EEDE77C8CA54}"/>
              </a:ext>
            </a:extLst>
          </p:cNvPr>
          <p:cNvSpPr>
            <a:spLocks noGrp="1"/>
          </p:cNvSpPr>
          <p:nvPr>
            <p:ph sz="quarter" idx="17"/>
          </p:nvPr>
        </p:nvSpPr>
        <p:spPr>
          <a:xfrm>
            <a:off x="304800" y="2133600"/>
            <a:ext cx="8534400" cy="2819400"/>
          </a:xfrm>
        </p:spPr>
        <p:txBody>
          <a:bodyPr/>
          <a:lstStyle/>
          <a:p>
            <a:r>
              <a:rPr lang="en-US" sz="2400" dirty="0"/>
              <a:t>Between 2019 and 2020, return on common stockholders’ equity improved from 20% to 25%. While this would appear to be good news for the company’s common stockholders, this increase should be carefully evaluated. It is important to note that net income did not change during this period. The increase in the ratio was due to the purchase of treasury shares, which reduced the denominator of the ratio. As the company repurchases its own shares, it becomes more reliant on debt and thus increases its risk.</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70</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883712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EF46B-A748-4A81-8A67-0A4BC1AFA3B1}"/>
              </a:ext>
            </a:extLst>
          </p:cNvPr>
          <p:cNvSpPr>
            <a:spLocks noGrp="1"/>
          </p:cNvSpPr>
          <p:nvPr>
            <p:ph type="title"/>
          </p:nvPr>
        </p:nvSpPr>
        <p:spPr/>
        <p:txBody>
          <a:bodyPr/>
          <a:lstStyle/>
          <a:p>
            <a:r>
              <a:rPr lang="en-US" dirty="0">
                <a:latin typeface="Calibri" panose="020F0502020204030204" pitchFamily="34" charset="0"/>
                <a:ea typeface="Source Sans Pro" charset="0"/>
                <a:cs typeface="Calibri" panose="020F0502020204030204" pitchFamily="34" charset="0"/>
              </a:rPr>
              <a:t>Income Statement Presentation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pic>
        <p:nvPicPr>
          <p:cNvPr id="9" name="Content Placeholder 8" descr="An illustration displays an income statement with income taxes. The statement has a three-line heading that contains the name of the company, Leads Incorporated; type of statement, income statement; and the time period, for the year ended December 31, 2020. The statement has two columns, the first one carries the parameters, and the second one is numeric. Sales revenue is $800,000. Cost of goods sold is 600,000. Gross profit is 200,000. The operating expenses come to 50,000. The income from operations is 150,000. The other revenues and gains are 10,000. The other expenses and losses are negative 4,000. Income before income taxes displayed in red font is 156,000. The income tax expense displayed in red font is 46,800. The net income is $109,200, double underlined.">
            <a:extLst>
              <a:ext uri="{FF2B5EF4-FFF2-40B4-BE49-F238E27FC236}">
                <a16:creationId xmlns:a16="http://schemas.microsoft.com/office/drawing/2014/main" id="{BE88582D-1CA0-40CE-9A44-C6013EFBA600}"/>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2289107" y="1600200"/>
            <a:ext cx="4565785" cy="4355701"/>
          </a:xfrm>
        </p:spPr>
      </p:pic>
      <p:sp>
        <p:nvSpPr>
          <p:cNvPr id="5" name="Slide Number Placeholder 4">
            <a:extLst>
              <a:ext uri="{FF2B5EF4-FFF2-40B4-BE49-F238E27FC236}">
                <a16:creationId xmlns:a16="http://schemas.microsoft.com/office/drawing/2014/main" id="{6346442E-6EF1-4860-AD84-8626EDD33737}"/>
              </a:ext>
            </a:extLst>
          </p:cNvPr>
          <p:cNvSpPr>
            <a:spLocks noGrp="1"/>
          </p:cNvSpPr>
          <p:nvPr>
            <p:ph type="sldNum" sz="quarter" idx="10"/>
          </p:nvPr>
        </p:nvSpPr>
        <p:spPr/>
        <p:txBody>
          <a:bodyPr/>
          <a:lstStyle/>
          <a:p>
            <a:fld id="{67B19427-F580-D146-B60E-4CADEE75497F}" type="slidenum">
              <a:rPr lang="en-US" smtClean="0"/>
              <a:pPr/>
              <a:t>71</a:t>
            </a:fld>
            <a:endParaRPr lang="en-US" dirty="0"/>
          </a:p>
        </p:txBody>
      </p:sp>
      <p:sp>
        <p:nvSpPr>
          <p:cNvPr id="6" name="Footer Placeholder 5">
            <a:extLst>
              <a:ext uri="{FF2B5EF4-FFF2-40B4-BE49-F238E27FC236}">
                <a16:creationId xmlns:a16="http://schemas.microsoft.com/office/drawing/2014/main" id="{EBE84054-3FF0-48D1-9329-913163DDB22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6971853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753055"/>
          </a:xfrm>
        </p:spPr>
        <p:txBody>
          <a:bodyPr/>
          <a:lstStyle/>
          <a:p>
            <a:r>
              <a:rPr lang="en-US" dirty="0">
                <a:latin typeface="Calibri" panose="020F0502020204030204" pitchFamily="34" charset="0"/>
                <a:ea typeface="Source Sans Pro" charset="0"/>
                <a:cs typeface="Calibri" panose="020F0502020204030204" pitchFamily="34" charset="0"/>
              </a:rPr>
              <a:t>Income Statement Presentation </a:t>
            </a:r>
            <a:r>
              <a:rPr lang="en-US" sz="2400" b="0" dirty="0">
                <a:latin typeface="Calibri" panose="020F0502020204030204" pitchFamily="34" charset="0"/>
                <a:ea typeface="Source Sans Pro" charset="0"/>
                <a:cs typeface="Calibri" panose="020F0502020204030204" pitchFamily="34" charset="0"/>
              </a:rPr>
              <a:t>(2 of 2)</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1515054"/>
          </a:xfrm>
        </p:spPr>
        <p:txBody>
          <a:bodyPr/>
          <a:lstStyle/>
          <a:p>
            <a:r>
              <a:rPr lang="en-US" sz="2400" dirty="0"/>
              <a:t>Companies record income tax expense and the related liability for income taxes payable as part of the adjusting process. </a:t>
            </a:r>
          </a:p>
          <a:p>
            <a:r>
              <a:rPr lang="en-US" sz="2400" dirty="0"/>
              <a:t>Using the data for Leads Inc., in Illustration 14.18, the adjusting entry for income tax expense at December 31, 2020, is as follows.:</a:t>
            </a:r>
            <a:endParaRPr lang="en-US" sz="24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685800" y="3590925"/>
            <a:ext cx="2971800" cy="365125"/>
          </a:xfrm>
        </p:spPr>
        <p:txBody>
          <a:bodyPr/>
          <a:lstStyle/>
          <a:p>
            <a:r>
              <a:rPr lang="en-US" sz="2400" dirty="0">
                <a:latin typeface="Calibri" panose="020F0502020204030204" pitchFamily="34" charset="0"/>
              </a:rPr>
              <a:t>Income Tax Expense</a:t>
            </a: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6159500" y="3581400"/>
            <a:ext cx="1054835" cy="365125"/>
          </a:xfrm>
        </p:spPr>
        <p:txBody>
          <a:bodyPr/>
          <a:lstStyle/>
          <a:p>
            <a:r>
              <a:rPr lang="en-US" sz="2400" dirty="0">
                <a:latin typeface="Calibri" panose="020F0502020204030204" pitchFamily="34" charset="0"/>
              </a:rPr>
              <a:t>46,800</a:t>
            </a: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914400" y="3971925"/>
            <a:ext cx="4771161" cy="726496"/>
          </a:xfrm>
        </p:spPr>
        <p:txBody>
          <a:bodyPr/>
          <a:lstStyle/>
          <a:p>
            <a:r>
              <a:rPr lang="en-US" sz="2400" dirty="0">
                <a:latin typeface="Calibri" panose="020F0502020204030204" pitchFamily="34" charset="0"/>
              </a:rPr>
              <a:t>Income Taxes Payable</a:t>
            </a:r>
          </a:p>
          <a:p>
            <a:pPr marL="269875">
              <a:spcBef>
                <a:spcPts val="0"/>
              </a:spcBef>
            </a:pPr>
            <a:r>
              <a:rPr lang="en-US" sz="2400" dirty="0">
                <a:latin typeface="Calibri" panose="020F0502020204030204" pitchFamily="34" charset="0"/>
              </a:rPr>
              <a:t>(To record income taxes for 2020)</a:t>
            </a: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7622553" y="3971925"/>
            <a:ext cx="1064247" cy="365125"/>
          </a:xfrm>
        </p:spPr>
        <p:txBody>
          <a:bodyPr/>
          <a:lstStyle/>
          <a:p>
            <a:r>
              <a:rPr lang="en-US" sz="2400" dirty="0">
                <a:latin typeface="Calibri" panose="020F0502020204030204" pitchFamily="34" charset="0"/>
              </a:rPr>
              <a:t>46,800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72</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2253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uiExpand="1" build="p"/>
      <p:bldP spid="18"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E4346-B2BD-4600-82F7-AE21A4045A43}"/>
              </a:ext>
            </a:extLst>
          </p:cNvPr>
          <p:cNvSpPr>
            <a:spLocks noGrp="1"/>
          </p:cNvSpPr>
          <p:nvPr>
            <p:ph type="title"/>
          </p:nvPr>
        </p:nvSpPr>
        <p:spPr/>
        <p:txBody>
          <a:bodyPr/>
          <a:lstStyle/>
          <a:p>
            <a:r>
              <a:rPr lang="en-US" dirty="0">
                <a:latin typeface="Calibri" panose="020F0502020204030204" pitchFamily="34" charset="0"/>
                <a:ea typeface="Source Sans Pro" charset="0"/>
                <a:cs typeface="Calibri" panose="020F0502020204030204" pitchFamily="34" charset="0"/>
              </a:rPr>
              <a:t>Income Statement Analysis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sp>
        <p:nvSpPr>
          <p:cNvPr id="3" name="Content Placeholder 2">
            <a:extLst>
              <a:ext uri="{FF2B5EF4-FFF2-40B4-BE49-F238E27FC236}">
                <a16:creationId xmlns:a16="http://schemas.microsoft.com/office/drawing/2014/main" id="{2E94A2A5-7F1E-46DB-80A6-AD13A218466E}"/>
              </a:ext>
            </a:extLst>
          </p:cNvPr>
          <p:cNvSpPr>
            <a:spLocks noGrp="1"/>
          </p:cNvSpPr>
          <p:nvPr>
            <p:ph sz="quarter" idx="16"/>
          </p:nvPr>
        </p:nvSpPr>
        <p:spPr>
          <a:xfrm>
            <a:off x="304800" y="1828800"/>
            <a:ext cx="8534400" cy="1219200"/>
          </a:xfrm>
        </p:spPr>
        <p:txBody>
          <a:bodyPr/>
          <a:lstStyle/>
          <a:p>
            <a:pPr marL="4763" lvl="1" indent="0">
              <a:spcBef>
                <a:spcPts val="1000"/>
              </a:spcBef>
              <a:buFont typeface="Wingdings" pitchFamily="2" charset="2"/>
              <a:buNone/>
            </a:pPr>
            <a:r>
              <a:rPr lang="en-US" altLang="en-US" sz="2600" b="1" dirty="0">
                <a:latin typeface="Calibri" panose="020F0502020204030204" pitchFamily="34" charset="0"/>
              </a:rPr>
              <a:t>E</a:t>
            </a:r>
            <a:r>
              <a:rPr lang="en-US" altLang="en-US" sz="100" b="1" dirty="0">
                <a:latin typeface="Calibri" panose="020F0502020204030204" pitchFamily="34" charset="0"/>
              </a:rPr>
              <a:t> </a:t>
            </a:r>
            <a:r>
              <a:rPr lang="en-US" altLang="en-US" sz="2600" b="1" dirty="0">
                <a:latin typeface="Calibri" panose="020F0502020204030204" pitchFamily="34" charset="0"/>
              </a:rPr>
              <a:t>P</a:t>
            </a:r>
            <a:r>
              <a:rPr lang="en-US" altLang="en-US" sz="100" b="1" dirty="0">
                <a:latin typeface="Calibri" panose="020F0502020204030204" pitchFamily="34" charset="0"/>
              </a:rPr>
              <a:t> </a:t>
            </a:r>
            <a:r>
              <a:rPr lang="en-US" altLang="en-US" sz="2600" b="1" dirty="0">
                <a:latin typeface="Calibri" panose="020F0502020204030204" pitchFamily="34" charset="0"/>
              </a:rPr>
              <a:t>S and Preferred Dividends</a:t>
            </a:r>
          </a:p>
          <a:p>
            <a:pPr marL="292608" lvl="1" indent="-292608">
              <a:spcBef>
                <a:spcPts val="1000"/>
              </a:spcBef>
              <a:buClr>
                <a:srgbClr val="800000"/>
              </a:buClr>
              <a:buSzPct val="100000"/>
            </a:pPr>
            <a:r>
              <a:rPr lang="en-US" sz="2600" dirty="0">
                <a:latin typeface="Calibri" panose="020F0502020204030204" pitchFamily="34" charset="0"/>
              </a:rPr>
              <a:t>Indicates </a:t>
            </a:r>
            <a:r>
              <a:rPr lang="en-US" altLang="en-US" sz="2600" dirty="0">
                <a:latin typeface="Calibri" panose="020F0502020204030204" pitchFamily="34" charset="0"/>
              </a:rPr>
              <a:t>the net income earned by each share of outstanding common stock</a:t>
            </a:r>
            <a:endParaRPr lang="en-US" sz="2600" dirty="0">
              <a:latin typeface="Calibri" panose="020F0502020204030204" pitchFamily="34" charset="0"/>
            </a:endParaRPr>
          </a:p>
        </p:txBody>
      </p:sp>
      <p:sp>
        <p:nvSpPr>
          <p:cNvPr id="7" name="Content Placeholder 6"/>
          <p:cNvSpPr>
            <a:spLocks noGrp="1"/>
          </p:cNvSpPr>
          <p:nvPr>
            <p:ph sz="quarter" idx="18"/>
          </p:nvPr>
        </p:nvSpPr>
        <p:spPr>
          <a:xfrm>
            <a:off x="313267" y="3200400"/>
            <a:ext cx="8534400" cy="2209800"/>
          </a:xfrm>
        </p:spPr>
        <p:txBody>
          <a:bodyPr/>
          <a:lstStyle/>
          <a:p>
            <a:pPr marL="0" lvl="1" indent="0">
              <a:spcBef>
                <a:spcPts val="1000"/>
              </a:spcBef>
              <a:buNone/>
            </a:pPr>
            <a:r>
              <a:rPr lang="en-US" sz="2600" dirty="0">
                <a:latin typeface="Calibri" panose="020F0502020204030204" pitchFamily="34" charset="0"/>
              </a:rPr>
              <a:t>To illustrate, assume that Rally Inc. reports net income of $211,000 on its 102,500 weighted-average common shares. During the year, it also declares a $6,000 dividend on its preferred stock. Therefore, the amount Rally has available for common stock dividends is $205,000 ($211,000 − $6,000). Earnings per share is calculated as follows.</a:t>
            </a:r>
            <a:endParaRPr lang="en-IN" dirty="0"/>
          </a:p>
        </p:txBody>
      </p:sp>
      <p:sp>
        <p:nvSpPr>
          <p:cNvPr id="4" name="Slide Number Placeholder 3">
            <a:extLst>
              <a:ext uri="{FF2B5EF4-FFF2-40B4-BE49-F238E27FC236}">
                <a16:creationId xmlns:a16="http://schemas.microsoft.com/office/drawing/2014/main" id="{D2DAB81C-15C1-4181-B861-C9ABCF6897F7}"/>
              </a:ext>
            </a:extLst>
          </p:cNvPr>
          <p:cNvSpPr>
            <a:spLocks noGrp="1"/>
          </p:cNvSpPr>
          <p:nvPr>
            <p:ph type="sldNum" sz="quarter" idx="10"/>
          </p:nvPr>
        </p:nvSpPr>
        <p:spPr/>
        <p:txBody>
          <a:bodyPr/>
          <a:lstStyle/>
          <a:p>
            <a:fld id="{67B19427-F580-D146-B60E-4CADEE75497F}" type="slidenum">
              <a:rPr lang="en-US" smtClean="0"/>
              <a:pPr/>
              <a:t>73</a:t>
            </a:fld>
            <a:endParaRPr lang="en-US" dirty="0"/>
          </a:p>
        </p:txBody>
      </p:sp>
      <p:sp>
        <p:nvSpPr>
          <p:cNvPr id="5" name="Footer Placeholder 4">
            <a:extLst>
              <a:ext uri="{FF2B5EF4-FFF2-40B4-BE49-F238E27FC236}">
                <a16:creationId xmlns:a16="http://schemas.microsoft.com/office/drawing/2014/main" id="{2B74D53C-B3C2-4812-8173-06A9609B3B3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15652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AFBC4-A6AB-4C7E-A4FF-BB84462AA4F6}"/>
              </a:ext>
            </a:extLst>
          </p:cNvPr>
          <p:cNvSpPr>
            <a:spLocks noGrp="1"/>
          </p:cNvSpPr>
          <p:nvPr>
            <p:ph type="title"/>
          </p:nvPr>
        </p:nvSpPr>
        <p:spPr/>
        <p:txBody>
          <a:bodyPr/>
          <a:lstStyle/>
          <a:p>
            <a:r>
              <a:rPr lang="en-US" dirty="0">
                <a:latin typeface="Calibri" panose="020F0502020204030204" pitchFamily="34" charset="0"/>
                <a:ea typeface="Source Sans Pro" charset="0"/>
                <a:cs typeface="Calibri" panose="020F0502020204030204" pitchFamily="34" charset="0"/>
              </a:rPr>
              <a:t>Income Statement Analysis </a:t>
            </a:r>
            <a:r>
              <a:rPr lang="en-US" sz="2400" b="0" dirty="0">
                <a:latin typeface="Calibri" panose="020F0502020204030204" pitchFamily="34" charset="0"/>
                <a:ea typeface="Source Sans Pro" charset="0"/>
                <a:cs typeface="Calibri" panose="020F0502020204030204" pitchFamily="34" charset="0"/>
              </a:rPr>
              <a:t>(2 of 2)</a:t>
            </a:r>
            <a:endParaRPr lang="en-US" dirty="0"/>
          </a:p>
        </p:txBody>
      </p:sp>
      <p:sp>
        <p:nvSpPr>
          <p:cNvPr id="3" name="Content Placeholder 2">
            <a:extLst>
              <a:ext uri="{FF2B5EF4-FFF2-40B4-BE49-F238E27FC236}">
                <a16:creationId xmlns:a16="http://schemas.microsoft.com/office/drawing/2014/main" id="{3511877D-0BD6-4EF6-ACA1-144395ECFD33}"/>
              </a:ext>
            </a:extLst>
          </p:cNvPr>
          <p:cNvSpPr>
            <a:spLocks noGrp="1"/>
          </p:cNvSpPr>
          <p:nvPr>
            <p:ph sz="quarter" idx="16"/>
          </p:nvPr>
        </p:nvSpPr>
        <p:spPr>
          <a:xfrm>
            <a:off x="304800" y="1828799"/>
            <a:ext cx="8534400" cy="1966448"/>
          </a:xfrm>
        </p:spPr>
        <p:txBody>
          <a:bodyPr/>
          <a:lstStyle/>
          <a:p>
            <a:r>
              <a:rPr lang="en-US" sz="2400" dirty="0"/>
              <a:t>To illustrate, assume that Rally Inc. reports net income of $211,000 on its 102,500 weighted-average common shares. During the year, it also declares a $6,000 dividend on its preferred stock. Therefore, the amount Rally has available for common stock dividends is $205,000 ($211,000 − $6,000). Earnings per share is calculated as follows.</a:t>
            </a:r>
          </a:p>
        </p:txBody>
      </p:sp>
      <p:graphicFrame>
        <p:nvGraphicFramePr>
          <p:cNvPr id="8" name="Content Placeholder 7" descr="Net Income minus Preferred Dividends, divided by, Weight-Average Common Shares Outstanding = Earings per Share, displayed in red font.&#10;"/>
          <p:cNvGraphicFramePr>
            <a:graphicFrameLocks noGrp="1" noChangeAspect="1"/>
          </p:cNvGraphicFramePr>
          <p:nvPr>
            <p:ph sz="quarter" idx="17"/>
          </p:nvPr>
        </p:nvGraphicFramePr>
        <p:xfrm>
          <a:off x="1202634" y="4056364"/>
          <a:ext cx="6279945" cy="1205897"/>
        </p:xfrm>
        <a:graphic>
          <a:graphicData uri="http://schemas.openxmlformats.org/presentationml/2006/ole">
            <mc:AlternateContent xmlns:mc="http://schemas.openxmlformats.org/markup-compatibility/2006">
              <mc:Choice xmlns:v="urn:schemas-microsoft-com:vml" Requires="v">
                <p:oleObj name="Equation" r:id="rId2" imgW="3504960" imgH="672840" progId="Equation.DSMT4">
                  <p:embed/>
                </p:oleObj>
              </mc:Choice>
              <mc:Fallback>
                <p:oleObj name="Equation" r:id="rId2" imgW="3504960" imgH="672840" progId="Equation.DSMT4">
                  <p:embed/>
                  <p:pic>
                    <p:nvPicPr>
                      <p:cNvPr id="8" name="Content Placeholder 7" descr="Net Income minus Preferred Dividends, divided by, Weight-Average Common Shares Outstanding = Earings per Share, displayed in red font.&#10;"/>
                      <p:cNvPicPr/>
                      <p:nvPr/>
                    </p:nvPicPr>
                    <p:blipFill>
                      <a:blip r:embed="rId3"/>
                      <a:stretch>
                        <a:fillRect/>
                      </a:stretch>
                    </p:blipFill>
                    <p:spPr>
                      <a:xfrm>
                        <a:off x="1202634" y="4056364"/>
                        <a:ext cx="6279945" cy="1205897"/>
                      </a:xfrm>
                      <a:prstGeom prst="rect">
                        <a:avLst/>
                      </a:prstGeom>
                      <a:ln>
                        <a:solidFill>
                          <a:schemeClr val="tx1"/>
                        </a:solidFill>
                      </a:ln>
                    </p:spPr>
                  </p:pic>
                </p:oleObj>
              </mc:Fallback>
            </mc:AlternateContent>
          </a:graphicData>
        </a:graphic>
      </p:graphicFrame>
      <p:graphicFrame>
        <p:nvGraphicFramePr>
          <p:cNvPr id="11" name="Content Placeholder 10" descr="Net Income, $211,000, minus Preferred Dividends, $6,000, divided by, Weight-Average Common Shares Outstanding, $102,500 = Earings per Share, $2.00, displayed in red font."/>
          <p:cNvGraphicFramePr>
            <a:graphicFrameLocks noGrp="1" noChangeAspect="1"/>
          </p:cNvGraphicFramePr>
          <p:nvPr>
            <p:ph sz="quarter" idx="18"/>
          </p:nvPr>
        </p:nvGraphicFramePr>
        <p:xfrm>
          <a:off x="1465298" y="5523378"/>
          <a:ext cx="5773702" cy="348318"/>
        </p:xfrm>
        <a:graphic>
          <a:graphicData uri="http://schemas.openxmlformats.org/presentationml/2006/ole">
            <mc:AlternateContent xmlns:mc="http://schemas.openxmlformats.org/markup-compatibility/2006">
              <mc:Choice xmlns:v="urn:schemas-microsoft-com:vml" Requires="v">
                <p:oleObj name="Equation" r:id="rId4" imgW="3162240" imgH="190440" progId="Equation.DSMT4">
                  <p:embed/>
                </p:oleObj>
              </mc:Choice>
              <mc:Fallback>
                <p:oleObj name="Equation" r:id="rId4" imgW="3162240" imgH="190440" progId="Equation.DSMT4">
                  <p:embed/>
                  <p:pic>
                    <p:nvPicPr>
                      <p:cNvPr id="11" name="Content Placeholder 10" descr="Net Income, $211,000, minus Preferred Dividends, $6,000, divided by, Weight-Average Common Shares Outstanding, $102,500 = Earings per Share, $2.00, displayed in red font."/>
                      <p:cNvPicPr/>
                      <p:nvPr/>
                    </p:nvPicPr>
                    <p:blipFill>
                      <a:blip r:embed="rId5"/>
                      <a:stretch>
                        <a:fillRect/>
                      </a:stretch>
                    </p:blipFill>
                    <p:spPr>
                      <a:xfrm>
                        <a:off x="1465298" y="5523378"/>
                        <a:ext cx="5773702" cy="348318"/>
                      </a:xfrm>
                      <a:prstGeom prst="rect">
                        <a:avLst/>
                      </a:prstGeom>
                      <a:ln>
                        <a:solidFill>
                          <a:schemeClr val="tx1"/>
                        </a:solidFill>
                      </a:ln>
                    </p:spPr>
                  </p:pic>
                </p:oleObj>
              </mc:Fallback>
            </mc:AlternateContent>
          </a:graphicData>
        </a:graphic>
      </p:graphicFrame>
      <p:sp>
        <p:nvSpPr>
          <p:cNvPr id="5" name="Slide Number Placeholder 4">
            <a:extLst>
              <a:ext uri="{FF2B5EF4-FFF2-40B4-BE49-F238E27FC236}">
                <a16:creationId xmlns:a16="http://schemas.microsoft.com/office/drawing/2014/main" id="{943F50A9-9BB6-4060-82CA-3AFC9A4DDA6F}"/>
              </a:ext>
            </a:extLst>
          </p:cNvPr>
          <p:cNvSpPr>
            <a:spLocks noGrp="1"/>
          </p:cNvSpPr>
          <p:nvPr>
            <p:ph type="sldNum" sz="quarter" idx="10"/>
          </p:nvPr>
        </p:nvSpPr>
        <p:spPr/>
        <p:txBody>
          <a:bodyPr/>
          <a:lstStyle/>
          <a:p>
            <a:fld id="{67B19427-F580-D146-B60E-4CADEE75497F}" type="slidenum">
              <a:rPr lang="en-US" smtClean="0"/>
              <a:pPr/>
              <a:t>74</a:t>
            </a:fld>
            <a:endParaRPr lang="en-US" dirty="0"/>
          </a:p>
        </p:txBody>
      </p:sp>
      <p:sp>
        <p:nvSpPr>
          <p:cNvPr id="6" name="Footer Placeholder 5">
            <a:extLst>
              <a:ext uri="{FF2B5EF4-FFF2-40B4-BE49-F238E27FC236}">
                <a16:creationId xmlns:a16="http://schemas.microsoft.com/office/drawing/2014/main" id="{644BCFFD-E4CF-4492-B746-590AD426617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717701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762001"/>
            <a:ext cx="8534400" cy="697944"/>
          </a:xfrm>
        </p:spPr>
        <p:txBody>
          <a:bodyPr>
            <a:normAutofit/>
          </a:bodyPr>
          <a:lstStyle/>
          <a:p>
            <a:r>
              <a:rPr lang="en-US" dirty="0">
                <a:ea typeface="Source Sans Pro" charset="0"/>
              </a:rPr>
              <a:t>Do It! 3: </a:t>
            </a:r>
            <a:r>
              <a:rPr lang="en-US" dirty="0">
                <a:solidFill>
                  <a:srgbClr val="196E78"/>
                </a:solidFill>
                <a:ea typeface="Source Sans Pro" charset="0"/>
              </a:rPr>
              <a:t>E</a:t>
            </a:r>
            <a:r>
              <a:rPr lang="en-US" sz="100" dirty="0">
                <a:solidFill>
                  <a:srgbClr val="196E78"/>
                </a:solidFill>
                <a:ea typeface="Source Sans Pro" charset="0"/>
              </a:rPr>
              <a:t> </a:t>
            </a:r>
            <a:r>
              <a:rPr lang="en-US" dirty="0">
                <a:solidFill>
                  <a:srgbClr val="196E78"/>
                </a:solidFill>
                <a:ea typeface="Source Sans Pro" charset="0"/>
              </a:rPr>
              <a:t>P</a:t>
            </a:r>
            <a:r>
              <a:rPr lang="en-US" sz="100" dirty="0">
                <a:solidFill>
                  <a:srgbClr val="196E78"/>
                </a:solidFill>
                <a:ea typeface="Source Sans Pro" charset="0"/>
              </a:rPr>
              <a:t> </a:t>
            </a:r>
            <a:r>
              <a:rPr lang="en-US" dirty="0">
                <a:solidFill>
                  <a:srgbClr val="196E78"/>
                </a:solidFill>
                <a:ea typeface="Source Sans Pro" charset="0"/>
              </a:rPr>
              <a:t>S </a:t>
            </a:r>
            <a:r>
              <a:rPr lang="en-US" sz="2400" b="0" dirty="0">
                <a:solidFill>
                  <a:srgbClr val="196E78"/>
                </a:solidFill>
                <a:ea typeface="Source Sans Pro" charset="0"/>
              </a:rPr>
              <a:t>(1 of 3)</a:t>
            </a:r>
            <a:endParaRPr lang="en-US" sz="24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00200"/>
            <a:ext cx="8610600" cy="697944"/>
          </a:xfrm>
        </p:spPr>
        <p:txBody>
          <a:bodyPr/>
          <a:lstStyle/>
          <a:p>
            <a:r>
              <a:rPr lang="en-US" sz="2200" dirty="0"/>
              <a:t>On January 1, 2020, Siena Corporation purchased 2,000 shares of treasury stock. Other information regarding Siena Corporation is provided below</a:t>
            </a:r>
            <a:r>
              <a:rPr lang="en-US" altLang="en-US" sz="2200" dirty="0"/>
              <a:t>.</a:t>
            </a:r>
            <a:endParaRPr lang="en-US" sz="2200" dirty="0"/>
          </a:p>
        </p:txBody>
      </p:sp>
      <p:graphicFrame>
        <p:nvGraphicFramePr>
          <p:cNvPr id="12" name="Content Placeholder 11" descr="Table is accessible to screenreaders">
            <a:extLst>
              <a:ext uri="{FF2B5EF4-FFF2-40B4-BE49-F238E27FC236}">
                <a16:creationId xmlns:a16="http://schemas.microsoft.com/office/drawing/2014/main" id="{F640397F-0C7F-4B4F-AD64-606382E15ED4}"/>
              </a:ext>
            </a:extLst>
          </p:cNvPr>
          <p:cNvGraphicFramePr>
            <a:graphicFrameLocks noGrp="1"/>
          </p:cNvGraphicFramePr>
          <p:nvPr>
            <p:ph sz="quarter" idx="17"/>
          </p:nvPr>
        </p:nvGraphicFramePr>
        <p:xfrm>
          <a:off x="304799" y="2362200"/>
          <a:ext cx="8525934" cy="2773680"/>
        </p:xfrm>
        <a:graphic>
          <a:graphicData uri="http://schemas.openxmlformats.org/drawingml/2006/table">
            <a:tbl>
              <a:tblPr firstRow="1" bandRow="1">
                <a:tableStyleId>{5C22544A-7EE6-4342-B048-85BDC9FD1C3A}</a:tableStyleId>
              </a:tblPr>
              <a:tblGrid>
                <a:gridCol w="6019801">
                  <a:extLst>
                    <a:ext uri="{9D8B030D-6E8A-4147-A177-3AD203B41FA5}">
                      <a16:colId xmlns:a16="http://schemas.microsoft.com/office/drawing/2014/main" val="4288204268"/>
                    </a:ext>
                  </a:extLst>
                </a:gridCol>
                <a:gridCol w="1219200">
                  <a:extLst>
                    <a:ext uri="{9D8B030D-6E8A-4147-A177-3AD203B41FA5}">
                      <a16:colId xmlns:a16="http://schemas.microsoft.com/office/drawing/2014/main" val="3522940043"/>
                    </a:ext>
                  </a:extLst>
                </a:gridCol>
                <a:gridCol w="1286933">
                  <a:extLst>
                    <a:ext uri="{9D8B030D-6E8A-4147-A177-3AD203B41FA5}">
                      <a16:colId xmlns:a16="http://schemas.microsoft.com/office/drawing/2014/main" val="4087829021"/>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000" b="1" i="0" u="sng" strike="noStrike" baseline="0" dirty="0">
                        <a:solidFill>
                          <a:srgbClr val="000000"/>
                        </a:solidFill>
                        <a:effectLst/>
                        <a:latin typeface="Calibri" panose="020F0502020204030204" pitchFamily="34" charset="0"/>
                      </a:endParaRPr>
                    </a:p>
                  </a:txBody>
                  <a:tcPr anchor="ctr">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2019</a:t>
                      </a:r>
                    </a:p>
                  </a:txBody>
                  <a:tcPr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2000" b="1" i="0" u="none" strike="noStrike" baseline="0" dirty="0">
                          <a:solidFill>
                            <a:srgbClr val="000000"/>
                          </a:solidFill>
                          <a:effectLst/>
                          <a:latin typeface="Calibri" panose="020F0502020204030204" pitchFamily="34" charset="0"/>
                        </a:rPr>
                        <a:t>2020</a:t>
                      </a:r>
                    </a:p>
                  </a:txBody>
                  <a:tcPr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3258494"/>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Net income</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$110,000</a:t>
                      </a:r>
                    </a:p>
                  </a:txBody>
                  <a:tcPr marR="164592"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3595818142"/>
                  </a:ext>
                </a:extLst>
              </a:tr>
              <a:tr h="370840">
                <a:tc>
                  <a:txBody>
                    <a:bodyPr/>
                    <a:lstStyle/>
                    <a:p>
                      <a:pPr marL="0" algn="l" defTabSz="914400" rtl="0" eaLnBrk="1" fontAlgn="b" latinLnBrk="0" hangingPunct="1"/>
                      <a:r>
                        <a:rPr lang="en-US" sz="2000" b="0" i="0" u="none" strike="noStrike" kern="1200" baseline="0" dirty="0">
                          <a:solidFill>
                            <a:schemeClr val="dk1"/>
                          </a:solidFill>
                          <a:effectLst/>
                          <a:latin typeface="Calibri" panose="020F0502020204030204" pitchFamily="34" charset="0"/>
                          <a:ea typeface="+mn-ea"/>
                          <a:cs typeface="+mn-cs"/>
                        </a:rPr>
                        <a:t>Dividends on preferred stock</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marR="164592" anchor="b">
                    <a:solidFill>
                      <a:schemeClr val="bg1"/>
                    </a:solidFill>
                  </a:tcPr>
                </a:tc>
                <a:extLst>
                  <a:ext uri="{0D108BD9-81ED-4DB2-BD59-A6C34878D82A}">
                    <a16:rowId xmlns:a16="http://schemas.microsoft.com/office/drawing/2014/main" val="1650250917"/>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Dividends on common stock</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2,000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1,600</a:t>
                      </a:r>
                    </a:p>
                  </a:txBody>
                  <a:tcPr marR="164592" anchor="b">
                    <a:solidFill>
                      <a:schemeClr val="bg1"/>
                    </a:solidFill>
                  </a:tcPr>
                </a:tc>
                <a:extLst>
                  <a:ext uri="{0D108BD9-81ED-4DB2-BD59-A6C34878D82A}">
                    <a16:rowId xmlns:a16="http://schemas.microsoft.com/office/drawing/2014/main" val="3733892051"/>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Weighted-average number of shares outstanding</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10,000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8,000</a:t>
                      </a:r>
                      <a:r>
                        <a:rPr lang="en-US" sz="2000" b="0" i="0" u="none" strike="noStrike" kern="1200" baseline="30000" dirty="0">
                          <a:solidFill>
                            <a:schemeClr val="dk1"/>
                          </a:solidFill>
                          <a:effectLst/>
                          <a:latin typeface="Calibri" panose="020F0502020204030204" pitchFamily="34" charset="0"/>
                          <a:ea typeface="+mn-ea"/>
                          <a:cs typeface="+mn-cs"/>
                        </a:rPr>
                        <a:t>*</a:t>
                      </a:r>
                    </a:p>
                  </a:txBody>
                  <a:tcPr anchor="b">
                    <a:solidFill>
                      <a:schemeClr val="bg1"/>
                    </a:solidFill>
                  </a:tcPr>
                </a:tc>
                <a:extLst>
                  <a:ext uri="{0D108BD9-81ED-4DB2-BD59-A6C34878D82A}">
                    <a16:rowId xmlns:a16="http://schemas.microsoft.com/office/drawing/2014/main" val="2831335322"/>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r>
                        <a:rPr lang="en-US" sz="2000" b="0" i="0" u="none" strike="noStrike" kern="1200" baseline="30000" dirty="0">
                          <a:solidFill>
                            <a:schemeClr val="dk1"/>
                          </a:solidFill>
                          <a:effectLst/>
                          <a:latin typeface="Calibri" panose="020F0502020204030204" pitchFamily="34" charset="0"/>
                          <a:ea typeface="+mn-ea"/>
                          <a:cs typeface="+mn-cs"/>
                        </a:rPr>
                        <a:t>*</a:t>
                      </a:r>
                    </a:p>
                  </a:txBody>
                  <a:tcPr anchor="b">
                    <a:solidFill>
                      <a:schemeClr val="bg1"/>
                    </a:solidFill>
                  </a:tcPr>
                </a:tc>
                <a:extLst>
                  <a:ext uri="{0D108BD9-81ED-4DB2-BD59-A6C34878D82A}">
                    <a16:rowId xmlns:a16="http://schemas.microsoft.com/office/drawing/2014/main" val="276525602"/>
                  </a:ext>
                </a:extLst>
              </a:tr>
              <a:tr h="370840">
                <a:tc>
                  <a:txBody>
                    <a:bodyPr/>
                    <a:lstStyle/>
                    <a:p>
                      <a:pPr algn="l" fontAlgn="b"/>
                      <a:r>
                        <a:rPr lang="en-US" sz="20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500,000</a:t>
                      </a:r>
                    </a:p>
                  </a:txBody>
                  <a:tcPr anchor="b">
                    <a:solidFill>
                      <a:schemeClr val="bg1"/>
                    </a:solidFill>
                  </a:tcPr>
                </a:tc>
                <a:tc>
                  <a:txBody>
                    <a:bodyPr/>
                    <a:lstStyle/>
                    <a:p>
                      <a:pPr algn="r" fontAlgn="b"/>
                      <a:r>
                        <a:rPr lang="en-US" sz="2000" b="0" i="0" u="none" strike="noStrike" kern="1200" baseline="0" dirty="0">
                          <a:solidFill>
                            <a:schemeClr val="dk1"/>
                          </a:solidFill>
                          <a:effectLst/>
                          <a:latin typeface="Calibri" panose="020F0502020204030204" pitchFamily="34" charset="0"/>
                          <a:ea typeface="+mn-ea"/>
                          <a:cs typeface="+mn-cs"/>
                        </a:rPr>
                        <a:t>400,000</a:t>
                      </a:r>
                    </a:p>
                  </a:txBody>
                  <a:tcPr marR="164592" anchor="b">
                    <a:solidFill>
                      <a:schemeClr val="bg1"/>
                    </a:solidFill>
                  </a:tcPr>
                </a:tc>
                <a:extLst>
                  <a:ext uri="{0D108BD9-81ED-4DB2-BD59-A6C34878D82A}">
                    <a16:rowId xmlns:a16="http://schemas.microsoft.com/office/drawing/2014/main" val="507046472"/>
                  </a:ext>
                </a:extLst>
              </a:tr>
            </a:tbl>
          </a:graphicData>
        </a:graphic>
      </p:graphicFrame>
      <p:sp>
        <p:nvSpPr>
          <p:cNvPr id="9" name="Content Placeholder 8">
            <a:extLst>
              <a:ext uri="{FF2B5EF4-FFF2-40B4-BE49-F238E27FC236}">
                <a16:creationId xmlns:a16="http://schemas.microsoft.com/office/drawing/2014/main" id="{0D26C2DF-F0DF-409A-9EC7-DDCE7DE40240}"/>
              </a:ext>
            </a:extLst>
          </p:cNvPr>
          <p:cNvSpPr>
            <a:spLocks noGrp="1"/>
          </p:cNvSpPr>
          <p:nvPr>
            <p:ph sz="quarter" idx="18"/>
          </p:nvPr>
        </p:nvSpPr>
        <p:spPr>
          <a:xfrm>
            <a:off x="304801" y="5257800"/>
            <a:ext cx="3810000" cy="310435"/>
          </a:xfrm>
        </p:spPr>
        <p:txBody>
          <a:bodyPr/>
          <a:lstStyle/>
          <a:p>
            <a:r>
              <a:rPr lang="en-US" sz="1600" dirty="0">
                <a:solidFill>
                  <a:schemeClr val="dk1"/>
                </a:solidFill>
              </a:rPr>
              <a:t>*Adjusted for purchase of treasury stock.</a:t>
            </a:r>
            <a:endParaRPr lang="en-US" sz="1600" dirty="0"/>
          </a:p>
        </p:txBody>
      </p:sp>
      <p:sp>
        <p:nvSpPr>
          <p:cNvPr id="10" name="Content Placeholder 9">
            <a:extLst>
              <a:ext uri="{FF2B5EF4-FFF2-40B4-BE49-F238E27FC236}">
                <a16:creationId xmlns:a16="http://schemas.microsoft.com/office/drawing/2014/main" id="{3A27328F-77B3-44BB-B6D3-0A325AB030F1}"/>
              </a:ext>
            </a:extLst>
          </p:cNvPr>
          <p:cNvSpPr>
            <a:spLocks noGrp="1"/>
          </p:cNvSpPr>
          <p:nvPr>
            <p:ph sz="quarter" idx="19"/>
          </p:nvPr>
        </p:nvSpPr>
        <p:spPr>
          <a:xfrm>
            <a:off x="304800" y="5657134"/>
            <a:ext cx="8458200" cy="591265"/>
          </a:xfrm>
        </p:spPr>
        <p:txBody>
          <a:bodyPr/>
          <a:lstStyle/>
          <a:p>
            <a:r>
              <a:rPr lang="en-US" sz="2200" dirty="0"/>
              <a:t>(a) Compute earnings per share for each year, and (b) discuss the change from 2019 to 2020.</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75</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820911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944C-073A-4426-9EC9-626B975C6549}"/>
              </a:ext>
            </a:extLst>
          </p:cNvPr>
          <p:cNvSpPr>
            <a:spLocks noGrp="1"/>
          </p:cNvSpPr>
          <p:nvPr>
            <p:ph type="title"/>
          </p:nvPr>
        </p:nvSpPr>
        <p:spPr>
          <a:xfrm>
            <a:off x="304800" y="762000"/>
            <a:ext cx="8534400" cy="754526"/>
          </a:xfrm>
        </p:spPr>
        <p:txBody>
          <a:bodyPr>
            <a:normAutofit/>
          </a:bodyPr>
          <a:lstStyle/>
          <a:p>
            <a:r>
              <a:rPr lang="en-US" dirty="0">
                <a:ea typeface="Source Sans Pro" charset="0"/>
              </a:rPr>
              <a:t>Do It! 3: </a:t>
            </a:r>
            <a:r>
              <a:rPr lang="en-US" dirty="0">
                <a:solidFill>
                  <a:srgbClr val="196E78"/>
                </a:solidFill>
                <a:ea typeface="Source Sans Pro" charset="0"/>
              </a:rPr>
              <a:t>E</a:t>
            </a:r>
            <a:r>
              <a:rPr lang="en-US" sz="100" dirty="0">
                <a:solidFill>
                  <a:srgbClr val="196E78"/>
                </a:solidFill>
                <a:ea typeface="Source Sans Pro" charset="0"/>
              </a:rPr>
              <a:t> </a:t>
            </a:r>
            <a:r>
              <a:rPr lang="en-US" dirty="0">
                <a:solidFill>
                  <a:srgbClr val="196E78"/>
                </a:solidFill>
                <a:ea typeface="Source Sans Pro" charset="0"/>
              </a:rPr>
              <a:t>P</a:t>
            </a:r>
            <a:r>
              <a:rPr lang="en-US" sz="100" dirty="0">
                <a:solidFill>
                  <a:srgbClr val="196E78"/>
                </a:solidFill>
                <a:ea typeface="Source Sans Pro" charset="0"/>
              </a:rPr>
              <a:t> </a:t>
            </a:r>
            <a:r>
              <a:rPr lang="en-US" dirty="0">
                <a:solidFill>
                  <a:srgbClr val="196E78"/>
                </a:solidFill>
                <a:ea typeface="Source Sans Pro" charset="0"/>
              </a:rPr>
              <a:t>S </a:t>
            </a:r>
            <a:r>
              <a:rPr lang="en-US" sz="2400" b="0" dirty="0">
                <a:solidFill>
                  <a:srgbClr val="196E78"/>
                </a:solidFill>
                <a:ea typeface="Source Sans Pro" charset="0"/>
              </a:rPr>
              <a:t>(2 of 3)</a:t>
            </a:r>
            <a:endParaRPr lang="en-US" dirty="0"/>
          </a:p>
        </p:txBody>
      </p:sp>
      <p:graphicFrame>
        <p:nvGraphicFramePr>
          <p:cNvPr id="14" name="Content Placeholder 13" descr="Table is accessible to screenreaders">
            <a:extLst>
              <a:ext uri="{FF2B5EF4-FFF2-40B4-BE49-F238E27FC236}">
                <a16:creationId xmlns:a16="http://schemas.microsoft.com/office/drawing/2014/main" id="{4CCFD5B5-01F2-4FEB-9069-FB7671D761A1}"/>
              </a:ext>
            </a:extLst>
          </p:cNvPr>
          <p:cNvGraphicFramePr>
            <a:graphicFrameLocks noGrp="1"/>
          </p:cNvGraphicFramePr>
          <p:nvPr>
            <p:ph sz="quarter" idx="16"/>
          </p:nvPr>
        </p:nvGraphicFramePr>
        <p:xfrm>
          <a:off x="304800" y="1595120"/>
          <a:ext cx="8534400" cy="25958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1623574992"/>
                    </a:ext>
                  </a:extLst>
                </a:gridCol>
                <a:gridCol w="1219200">
                  <a:extLst>
                    <a:ext uri="{9D8B030D-6E8A-4147-A177-3AD203B41FA5}">
                      <a16:colId xmlns:a16="http://schemas.microsoft.com/office/drawing/2014/main" val="2333278367"/>
                    </a:ext>
                  </a:extLst>
                </a:gridCol>
                <a:gridCol w="1295400">
                  <a:extLst>
                    <a:ext uri="{9D8B030D-6E8A-4147-A177-3AD203B41FA5}">
                      <a16:colId xmlns:a16="http://schemas.microsoft.com/office/drawing/2014/main" val="1372529634"/>
                    </a:ext>
                  </a:extLst>
                </a:gridCol>
              </a:tblGrid>
              <a:tr h="37084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800" b="1" i="0" u="sng" strike="noStrike" baseline="0" dirty="0">
                        <a:solidFill>
                          <a:srgbClr val="000000"/>
                        </a:solidFill>
                        <a:effectLst/>
                        <a:latin typeface="Calibri" panose="020F0502020204030204" pitchFamily="34" charset="0"/>
                      </a:endParaRPr>
                    </a:p>
                  </a:txBody>
                  <a:tcPr marR="182880" marT="4233" marB="0" anchor="ctr">
                    <a:solidFill>
                      <a:schemeClr val="bg1"/>
                    </a:solidFill>
                  </a:tcPr>
                </a:tc>
                <a:tc>
                  <a:txBody>
                    <a:bodyPr/>
                    <a:lstStyle/>
                    <a:p>
                      <a:pPr algn="ctr" fontAlgn="b">
                        <a:lnSpc>
                          <a:spcPct val="90000"/>
                        </a:lnSpc>
                      </a:pPr>
                      <a:r>
                        <a:rPr lang="en-US" sz="1800" b="1" i="0" u="none" strike="noStrike" baseline="0" dirty="0">
                          <a:solidFill>
                            <a:srgbClr val="000000"/>
                          </a:solidFill>
                          <a:effectLst/>
                          <a:latin typeface="Calibri" panose="020F0502020204030204" pitchFamily="34" charset="0"/>
                        </a:rPr>
                        <a:t>2019</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lnSpc>
                          <a:spcPct val="90000"/>
                        </a:lnSpc>
                      </a:pPr>
                      <a:r>
                        <a:rPr lang="en-US" sz="1800" b="1" i="0" u="none" strike="noStrike" baseline="0" dirty="0">
                          <a:solidFill>
                            <a:srgbClr val="000000"/>
                          </a:solidFill>
                          <a:effectLst/>
                          <a:latin typeface="Calibri" panose="020F0502020204030204" pitchFamily="34" charset="0"/>
                        </a:rPr>
                        <a:t>2020</a:t>
                      </a:r>
                    </a:p>
                  </a:txBody>
                  <a:tcPr marL="4233" marR="27432" marT="4233" marB="0" anchor="b">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7595749"/>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Net income</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$110,000</a:t>
                      </a:r>
                    </a:p>
                  </a:txBody>
                  <a:tcPr marL="4233" marR="27432" marT="4233" marB="0" anchor="b">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$110,000</a:t>
                      </a:r>
                    </a:p>
                  </a:txBody>
                  <a:tcPr marL="4233" marR="109728" marT="4233" marB="0" anchor="b">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494319007"/>
                  </a:ext>
                </a:extLst>
              </a:tr>
              <a:tr h="370840">
                <a:tc>
                  <a:txBody>
                    <a:bodyPr/>
                    <a:lstStyle/>
                    <a:p>
                      <a:pPr marL="0" algn="l" defTabSz="914400" rtl="0" eaLnBrk="1" fontAlgn="b" latinLnBrk="0" hangingPunct="1"/>
                      <a:r>
                        <a:rPr lang="en-US" sz="1800" b="0" i="0" u="none" strike="noStrike" kern="1200" baseline="0" dirty="0">
                          <a:solidFill>
                            <a:schemeClr val="dk1"/>
                          </a:solidFill>
                          <a:effectLst/>
                          <a:latin typeface="Calibri" panose="020F0502020204030204" pitchFamily="34" charset="0"/>
                          <a:ea typeface="+mn-ea"/>
                          <a:cs typeface="+mn-cs"/>
                        </a:rPr>
                        <a:t>Dividends on preferred stock</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10,000</a:t>
                      </a:r>
                    </a:p>
                  </a:txBody>
                  <a:tcPr marL="4233" marR="109728" marT="4233" marB="0" anchor="b">
                    <a:solidFill>
                      <a:schemeClr val="bg1"/>
                    </a:solidFill>
                  </a:tcPr>
                </a:tc>
                <a:extLst>
                  <a:ext uri="{0D108BD9-81ED-4DB2-BD59-A6C34878D82A}">
                    <a16:rowId xmlns:a16="http://schemas.microsoft.com/office/drawing/2014/main" val="3243932278"/>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Dividends on common stock</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2,000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1,600</a:t>
                      </a:r>
                    </a:p>
                  </a:txBody>
                  <a:tcPr marL="4233" marR="109728" marT="4233" marB="0" anchor="b">
                    <a:solidFill>
                      <a:schemeClr val="bg1"/>
                    </a:solidFill>
                  </a:tcPr>
                </a:tc>
                <a:extLst>
                  <a:ext uri="{0D108BD9-81ED-4DB2-BD59-A6C34878D82A}">
                    <a16:rowId xmlns:a16="http://schemas.microsoft.com/office/drawing/2014/main" val="647347407"/>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Weighted-average number of shares outstanding</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10,000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8,000</a:t>
                      </a:r>
                      <a:r>
                        <a:rPr lang="en-US" sz="18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3174579258"/>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Common stockholders’ equity, beginning of year</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400,000</a:t>
                      </a:r>
                      <a:r>
                        <a:rPr lang="en-US" sz="1800" b="0" i="0" u="none" strike="noStrike" kern="1200" baseline="30000" dirty="0">
                          <a:solidFill>
                            <a:schemeClr val="dk1"/>
                          </a:solidFill>
                          <a:effectLst/>
                          <a:latin typeface="Calibri" panose="020F0502020204030204" pitchFamily="34" charset="0"/>
                          <a:ea typeface="+mn-ea"/>
                          <a:cs typeface="+mn-cs"/>
                        </a:rPr>
                        <a:t>*</a:t>
                      </a:r>
                    </a:p>
                  </a:txBody>
                  <a:tcPr marL="4233" marR="27432" marT="4233" marB="0" anchor="b">
                    <a:solidFill>
                      <a:schemeClr val="bg1"/>
                    </a:solidFill>
                  </a:tcPr>
                </a:tc>
                <a:extLst>
                  <a:ext uri="{0D108BD9-81ED-4DB2-BD59-A6C34878D82A}">
                    <a16:rowId xmlns:a16="http://schemas.microsoft.com/office/drawing/2014/main" val="4205205704"/>
                  </a:ext>
                </a:extLst>
              </a:tr>
              <a:tr h="370840">
                <a:tc>
                  <a:txBody>
                    <a:bodyPr/>
                    <a:lstStyle/>
                    <a:p>
                      <a:pPr algn="l" fontAlgn="b"/>
                      <a:r>
                        <a:rPr lang="en-US" sz="1800" b="0" i="0" u="none" strike="noStrike" kern="1200" baseline="0" dirty="0">
                          <a:solidFill>
                            <a:schemeClr val="dk1"/>
                          </a:solidFill>
                          <a:effectLst/>
                          <a:latin typeface="Calibri" panose="020F0502020204030204" pitchFamily="34" charset="0"/>
                          <a:ea typeface="+mn-ea"/>
                          <a:cs typeface="+mn-cs"/>
                        </a:rPr>
                        <a:t>Common stockholders’ equity, ending of year</a:t>
                      </a:r>
                    </a:p>
                  </a:txBody>
                  <a:tcPr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500,000</a:t>
                      </a:r>
                    </a:p>
                  </a:txBody>
                  <a:tcPr marL="4233" marR="27432" marT="4233" marB="0" anchor="b">
                    <a:solidFill>
                      <a:schemeClr val="bg1"/>
                    </a:solidFill>
                  </a:tcPr>
                </a:tc>
                <a:tc>
                  <a:txBody>
                    <a:bodyPr/>
                    <a:lstStyle/>
                    <a:p>
                      <a:pPr algn="r" fontAlgn="b"/>
                      <a:r>
                        <a:rPr lang="en-US" sz="1800" b="0" i="0" u="none" strike="noStrike" kern="1200" baseline="0" dirty="0">
                          <a:solidFill>
                            <a:schemeClr val="dk1"/>
                          </a:solidFill>
                          <a:effectLst/>
                          <a:latin typeface="Calibri" panose="020F0502020204030204" pitchFamily="34" charset="0"/>
                          <a:ea typeface="+mn-ea"/>
                          <a:cs typeface="+mn-cs"/>
                        </a:rPr>
                        <a:t>400,000</a:t>
                      </a:r>
                    </a:p>
                  </a:txBody>
                  <a:tcPr marL="4233" marR="109728" marT="4233" marB="0" anchor="b">
                    <a:solidFill>
                      <a:schemeClr val="bg1"/>
                    </a:solidFill>
                  </a:tcPr>
                </a:tc>
                <a:extLst>
                  <a:ext uri="{0D108BD9-81ED-4DB2-BD59-A6C34878D82A}">
                    <a16:rowId xmlns:a16="http://schemas.microsoft.com/office/drawing/2014/main" val="468924353"/>
                  </a:ext>
                </a:extLst>
              </a:tr>
            </a:tbl>
          </a:graphicData>
        </a:graphic>
      </p:graphicFrame>
      <p:sp>
        <p:nvSpPr>
          <p:cNvPr id="4" name="Content Placeholder 3">
            <a:extLst>
              <a:ext uri="{FF2B5EF4-FFF2-40B4-BE49-F238E27FC236}">
                <a16:creationId xmlns:a16="http://schemas.microsoft.com/office/drawing/2014/main" id="{9DE75692-1A42-4255-A0FD-AE9E83C2D9F3}"/>
              </a:ext>
            </a:extLst>
          </p:cNvPr>
          <p:cNvSpPr>
            <a:spLocks noGrp="1"/>
          </p:cNvSpPr>
          <p:nvPr>
            <p:ph sz="quarter" idx="17"/>
          </p:nvPr>
        </p:nvSpPr>
        <p:spPr>
          <a:xfrm>
            <a:off x="304800" y="4343400"/>
            <a:ext cx="3962400" cy="283885"/>
          </a:xfrm>
        </p:spPr>
        <p:txBody>
          <a:bodyPr/>
          <a:lstStyle/>
          <a:p>
            <a:r>
              <a:rPr lang="en-US" sz="1600" dirty="0">
                <a:solidFill>
                  <a:schemeClr val="dk1"/>
                </a:solidFill>
                <a:latin typeface="Calibri" panose="020F0502020204030204" pitchFamily="34" charset="0"/>
              </a:rPr>
              <a:t>*Adjusted for purchase of treasury stock.</a:t>
            </a:r>
            <a:endParaRPr lang="en-US" sz="1600" dirty="0">
              <a:latin typeface="Calibri" panose="020F0502020204030204" pitchFamily="34" charset="0"/>
            </a:endParaRPr>
          </a:p>
        </p:txBody>
      </p:sp>
      <p:sp>
        <p:nvSpPr>
          <p:cNvPr id="5" name="Content Placeholder 4">
            <a:extLst>
              <a:ext uri="{FF2B5EF4-FFF2-40B4-BE49-F238E27FC236}">
                <a16:creationId xmlns:a16="http://schemas.microsoft.com/office/drawing/2014/main" id="{26CA7ABD-719C-431B-A20C-D84108BE83BF}"/>
              </a:ext>
            </a:extLst>
          </p:cNvPr>
          <p:cNvSpPr>
            <a:spLocks noGrp="1"/>
          </p:cNvSpPr>
          <p:nvPr>
            <p:ph sz="quarter" idx="18"/>
          </p:nvPr>
        </p:nvSpPr>
        <p:spPr>
          <a:xfrm>
            <a:off x="304800" y="4716926"/>
            <a:ext cx="4876800" cy="312274"/>
          </a:xfrm>
        </p:spPr>
        <p:txBody>
          <a:bodyPr/>
          <a:lstStyle/>
          <a:p>
            <a:r>
              <a:rPr lang="en-US" sz="2000" dirty="0">
                <a:latin typeface="Calibri" panose="020F0502020204030204" pitchFamily="34" charset="0"/>
              </a:rPr>
              <a:t>(a) Compute earnings per share for each year.</a:t>
            </a:r>
          </a:p>
        </p:txBody>
      </p:sp>
      <p:sp>
        <p:nvSpPr>
          <p:cNvPr id="6" name="Content Placeholder 5">
            <a:extLst>
              <a:ext uri="{FF2B5EF4-FFF2-40B4-BE49-F238E27FC236}">
                <a16:creationId xmlns:a16="http://schemas.microsoft.com/office/drawing/2014/main" id="{E8AF6C9A-ED7E-4035-B531-63AA8F758257}"/>
              </a:ext>
            </a:extLst>
          </p:cNvPr>
          <p:cNvSpPr>
            <a:spLocks noGrp="1"/>
          </p:cNvSpPr>
          <p:nvPr>
            <p:ph sz="quarter" idx="19"/>
          </p:nvPr>
        </p:nvSpPr>
        <p:spPr>
          <a:xfrm>
            <a:off x="1447800" y="5029200"/>
            <a:ext cx="953106" cy="312274"/>
          </a:xfrm>
        </p:spPr>
        <p:txBody>
          <a:bodyPr/>
          <a:lstStyle/>
          <a:p>
            <a:r>
              <a:rPr lang="en-US" sz="2000" b="1" u="sng" dirty="0">
                <a:latin typeface="Calibri" panose="020F0502020204030204" pitchFamily="34" charset="0"/>
              </a:rPr>
              <a:t>2019</a:t>
            </a:r>
          </a:p>
        </p:txBody>
      </p:sp>
      <p:graphicFrame>
        <p:nvGraphicFramePr>
          <p:cNvPr id="16" name="Content Placeholder 15" descr="An illustration displays the computation of earnings per share for each year. In 2019, $110,000 minus $10,000 over $10,000 = $10.">
            <a:extLst>
              <a:ext uri="{FF2B5EF4-FFF2-40B4-BE49-F238E27FC236}">
                <a16:creationId xmlns:a16="http://schemas.microsoft.com/office/drawing/2014/main" id="{87202E6D-B7C5-4579-AD3D-B6A65D51D7B7}"/>
              </a:ext>
            </a:extLst>
          </p:cNvPr>
          <p:cNvGraphicFramePr>
            <a:graphicFrameLocks noGrp="1" noChangeAspect="1"/>
          </p:cNvGraphicFramePr>
          <p:nvPr>
            <p:ph sz="quarter" idx="20"/>
          </p:nvPr>
        </p:nvGraphicFramePr>
        <p:xfrm>
          <a:off x="487179" y="5449253"/>
          <a:ext cx="3062655" cy="742633"/>
        </p:xfrm>
        <a:graphic>
          <a:graphicData uri="http://schemas.openxmlformats.org/presentationml/2006/ole">
            <mc:AlternateContent xmlns:mc="http://schemas.openxmlformats.org/markup-compatibility/2006">
              <mc:Choice xmlns:v="urn:schemas-microsoft-com:vml" Requires="v">
                <p:oleObj name="Equation" r:id="rId2" imgW="2933640" imgH="711000" progId="Equation.DSMT4">
                  <p:embed/>
                </p:oleObj>
              </mc:Choice>
              <mc:Fallback>
                <p:oleObj name="Equation" r:id="rId2" imgW="2933640" imgH="711000" progId="Equation.DSMT4">
                  <p:embed/>
                  <p:pic>
                    <p:nvPicPr>
                      <p:cNvPr id="16" name="Content Placeholder 15" descr="An illustration displays the computation of earnings per share for each year. In 2019, $110,000 minus $10,000 over $10,000 = $10.">
                        <a:extLst>
                          <a:ext uri="{FF2B5EF4-FFF2-40B4-BE49-F238E27FC236}">
                            <a16:creationId xmlns:a16="http://schemas.microsoft.com/office/drawing/2014/main" id="{87202E6D-B7C5-4579-AD3D-B6A65D51D7B7}"/>
                          </a:ext>
                        </a:extLst>
                      </p:cNvPr>
                      <p:cNvPicPr/>
                      <p:nvPr/>
                    </p:nvPicPr>
                    <p:blipFill>
                      <a:blip r:embed="rId3"/>
                      <a:stretch>
                        <a:fillRect/>
                      </a:stretch>
                    </p:blipFill>
                    <p:spPr>
                      <a:xfrm>
                        <a:off x="487179" y="5449253"/>
                        <a:ext cx="3062655" cy="74263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C2276E9A-5DB6-4E70-9C04-A2F3A42179CE}"/>
              </a:ext>
            </a:extLst>
          </p:cNvPr>
          <p:cNvSpPr>
            <a:spLocks noGrp="1"/>
          </p:cNvSpPr>
          <p:nvPr>
            <p:ph sz="quarter" idx="21"/>
          </p:nvPr>
        </p:nvSpPr>
        <p:spPr>
          <a:xfrm>
            <a:off x="6553200" y="5041900"/>
            <a:ext cx="787691" cy="336550"/>
          </a:xfrm>
        </p:spPr>
        <p:txBody>
          <a:bodyPr/>
          <a:lstStyle/>
          <a:p>
            <a:r>
              <a:rPr lang="en-US" sz="2000" b="1" u="sng" dirty="0">
                <a:latin typeface="Calibri" panose="020F0502020204030204" pitchFamily="34" charset="0"/>
              </a:rPr>
              <a:t>2020</a:t>
            </a:r>
          </a:p>
        </p:txBody>
      </p:sp>
      <p:graphicFrame>
        <p:nvGraphicFramePr>
          <p:cNvPr id="18" name="Content Placeholder 17" descr="An illustration displays the computation of earnings per share for each year.In 2020, $110,000 minus $10,000 over $8,000 = $12.50.">
            <a:extLst>
              <a:ext uri="{FF2B5EF4-FFF2-40B4-BE49-F238E27FC236}">
                <a16:creationId xmlns:a16="http://schemas.microsoft.com/office/drawing/2014/main" id="{EC593559-27E6-49A3-8AB7-15235CC2B5AA}"/>
              </a:ext>
            </a:extLst>
          </p:cNvPr>
          <p:cNvGraphicFramePr>
            <a:graphicFrameLocks noGrp="1" noChangeAspect="1"/>
          </p:cNvGraphicFramePr>
          <p:nvPr>
            <p:ph sz="quarter" idx="22"/>
          </p:nvPr>
        </p:nvGraphicFramePr>
        <p:xfrm>
          <a:off x="5395370" y="5511963"/>
          <a:ext cx="3128460" cy="671186"/>
        </p:xfrm>
        <a:graphic>
          <a:graphicData uri="http://schemas.openxmlformats.org/presentationml/2006/ole">
            <mc:AlternateContent xmlns:mc="http://schemas.openxmlformats.org/markup-compatibility/2006">
              <mc:Choice xmlns:v="urn:schemas-microsoft-com:vml" Requires="v">
                <p:oleObj name="Equation" r:id="rId4" imgW="3555720" imgH="761760" progId="Equation.DSMT4">
                  <p:embed/>
                </p:oleObj>
              </mc:Choice>
              <mc:Fallback>
                <p:oleObj name="Equation" r:id="rId4" imgW="3555720" imgH="761760" progId="Equation.DSMT4">
                  <p:embed/>
                  <p:pic>
                    <p:nvPicPr>
                      <p:cNvPr id="18" name="Content Placeholder 17" descr="An illustration displays the computation of earnings per share for each year.In 2020, $110,000 minus $10,000 over $8,000 = $12.50.">
                        <a:extLst>
                          <a:ext uri="{FF2B5EF4-FFF2-40B4-BE49-F238E27FC236}">
                            <a16:creationId xmlns:a16="http://schemas.microsoft.com/office/drawing/2014/main" id="{EC593559-27E6-49A3-8AB7-15235CC2B5AA}"/>
                          </a:ext>
                        </a:extLst>
                      </p:cNvPr>
                      <p:cNvPicPr/>
                      <p:nvPr/>
                    </p:nvPicPr>
                    <p:blipFill>
                      <a:blip r:embed="rId5"/>
                      <a:stretch>
                        <a:fillRect/>
                      </a:stretch>
                    </p:blipFill>
                    <p:spPr>
                      <a:xfrm>
                        <a:off x="5395370" y="5511963"/>
                        <a:ext cx="3128460" cy="671186"/>
                      </a:xfrm>
                      <a:prstGeom prst="rect">
                        <a:avLst/>
                      </a:prstGeom>
                    </p:spPr>
                  </p:pic>
                </p:oleObj>
              </mc:Fallback>
            </mc:AlternateContent>
          </a:graphicData>
        </a:graphic>
      </p:graphicFrame>
      <p:sp>
        <p:nvSpPr>
          <p:cNvPr id="12" name="Slide Number Placeholder 11">
            <a:extLst>
              <a:ext uri="{FF2B5EF4-FFF2-40B4-BE49-F238E27FC236}">
                <a16:creationId xmlns:a16="http://schemas.microsoft.com/office/drawing/2014/main" id="{32810344-7882-4413-8B90-F6A6F189D50C}"/>
              </a:ext>
            </a:extLst>
          </p:cNvPr>
          <p:cNvSpPr>
            <a:spLocks noGrp="1"/>
          </p:cNvSpPr>
          <p:nvPr>
            <p:ph type="sldNum" sz="quarter" idx="10"/>
          </p:nvPr>
        </p:nvSpPr>
        <p:spPr/>
        <p:txBody>
          <a:bodyPr/>
          <a:lstStyle/>
          <a:p>
            <a:fld id="{67B19427-F580-D146-B60E-4CADEE75497F}" type="slidenum">
              <a:rPr lang="en-US" smtClean="0"/>
              <a:pPr/>
              <a:t>76</a:t>
            </a:fld>
            <a:endParaRPr lang="en-US" dirty="0"/>
          </a:p>
        </p:txBody>
      </p:sp>
      <p:sp>
        <p:nvSpPr>
          <p:cNvPr id="13" name="Footer Placeholder 12">
            <a:extLst>
              <a:ext uri="{FF2B5EF4-FFF2-40B4-BE49-F238E27FC236}">
                <a16:creationId xmlns:a16="http://schemas.microsoft.com/office/drawing/2014/main" id="{C1659715-1942-4F26-B347-E7E923961A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38056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125F2-05A1-418A-9593-636BE4F30A26}"/>
              </a:ext>
            </a:extLst>
          </p:cNvPr>
          <p:cNvSpPr>
            <a:spLocks noGrp="1"/>
          </p:cNvSpPr>
          <p:nvPr>
            <p:ph type="title"/>
          </p:nvPr>
        </p:nvSpPr>
        <p:spPr>
          <a:xfrm>
            <a:off x="304800" y="762001"/>
            <a:ext cx="8534400" cy="697944"/>
          </a:xfrm>
        </p:spPr>
        <p:txBody>
          <a:bodyPr>
            <a:normAutofit/>
          </a:bodyPr>
          <a:lstStyle/>
          <a:p>
            <a:r>
              <a:rPr lang="en-US" dirty="0">
                <a:ea typeface="Source Sans Pro" charset="0"/>
              </a:rPr>
              <a:t>Do It! 3: </a:t>
            </a:r>
            <a:r>
              <a:rPr lang="en-US" dirty="0">
                <a:solidFill>
                  <a:srgbClr val="196E78"/>
                </a:solidFill>
                <a:ea typeface="Source Sans Pro" charset="0"/>
              </a:rPr>
              <a:t>E</a:t>
            </a:r>
            <a:r>
              <a:rPr lang="en-US" sz="100" dirty="0">
                <a:solidFill>
                  <a:srgbClr val="196E78"/>
                </a:solidFill>
                <a:ea typeface="Source Sans Pro" charset="0"/>
              </a:rPr>
              <a:t> </a:t>
            </a:r>
            <a:r>
              <a:rPr lang="en-US" dirty="0">
                <a:solidFill>
                  <a:srgbClr val="196E78"/>
                </a:solidFill>
                <a:ea typeface="Source Sans Pro" charset="0"/>
              </a:rPr>
              <a:t>P</a:t>
            </a:r>
            <a:r>
              <a:rPr lang="en-US" sz="100" dirty="0">
                <a:solidFill>
                  <a:srgbClr val="196E78"/>
                </a:solidFill>
                <a:ea typeface="Source Sans Pro" charset="0"/>
              </a:rPr>
              <a:t> </a:t>
            </a:r>
            <a:r>
              <a:rPr lang="en-US" dirty="0">
                <a:solidFill>
                  <a:srgbClr val="196E78"/>
                </a:solidFill>
                <a:ea typeface="Source Sans Pro" charset="0"/>
              </a:rPr>
              <a:t>S </a:t>
            </a:r>
            <a:r>
              <a:rPr lang="en-US" sz="2400" b="0" dirty="0">
                <a:solidFill>
                  <a:srgbClr val="196E78"/>
                </a:solidFill>
                <a:ea typeface="Source Sans Pro" charset="0"/>
              </a:rPr>
              <a:t>(3 of 3)</a:t>
            </a:r>
            <a:endParaRPr lang="en-US" sz="2400" b="0" dirty="0"/>
          </a:p>
        </p:txBody>
      </p:sp>
      <p:sp>
        <p:nvSpPr>
          <p:cNvPr id="3" name="Content Placeholder 2">
            <a:extLst>
              <a:ext uri="{FF2B5EF4-FFF2-40B4-BE49-F238E27FC236}">
                <a16:creationId xmlns:a16="http://schemas.microsoft.com/office/drawing/2014/main" id="{CD0D9BA0-43CF-4278-A425-3A45A890BBAA}"/>
              </a:ext>
            </a:extLst>
          </p:cNvPr>
          <p:cNvSpPr>
            <a:spLocks noGrp="1"/>
          </p:cNvSpPr>
          <p:nvPr>
            <p:ph sz="quarter" idx="16"/>
          </p:nvPr>
        </p:nvSpPr>
        <p:spPr>
          <a:xfrm>
            <a:off x="304800" y="1676400"/>
            <a:ext cx="8610600" cy="457200"/>
          </a:xfrm>
        </p:spPr>
        <p:txBody>
          <a:bodyPr/>
          <a:lstStyle/>
          <a:p>
            <a:r>
              <a:rPr lang="en-US" sz="2200" dirty="0"/>
              <a:t>(b) Discuss the change from 2019 to 2020.</a:t>
            </a:r>
          </a:p>
        </p:txBody>
      </p:sp>
      <p:sp>
        <p:nvSpPr>
          <p:cNvPr id="10" name="Content Placeholder 9">
            <a:extLst>
              <a:ext uri="{FF2B5EF4-FFF2-40B4-BE49-F238E27FC236}">
                <a16:creationId xmlns:a16="http://schemas.microsoft.com/office/drawing/2014/main" id="{3A27328F-77B3-44BB-B6D3-0A325AB030F1}"/>
              </a:ext>
            </a:extLst>
          </p:cNvPr>
          <p:cNvSpPr>
            <a:spLocks noGrp="1"/>
          </p:cNvSpPr>
          <p:nvPr>
            <p:ph sz="quarter" idx="19"/>
          </p:nvPr>
        </p:nvSpPr>
        <p:spPr>
          <a:xfrm>
            <a:off x="304800" y="2209800"/>
            <a:ext cx="8458200" cy="2438400"/>
          </a:xfrm>
        </p:spPr>
        <p:txBody>
          <a:bodyPr/>
          <a:lstStyle/>
          <a:p>
            <a:r>
              <a:rPr lang="en-US" sz="2200" dirty="0"/>
              <a:t>Between 2019 and 2020, earnings per share increased from $10 to $12.50. While this would appear to be good news for the company’s common stockholders, this increase should be carefully evaluated. It is important to note that net income did not change during this period. The increase was due to the purchase of treasury shares, which reduced the denominator of the ratio. As the company repurchases its own shares, it becomes more reliant on debt and thus increases its risk.</a:t>
            </a:r>
          </a:p>
        </p:txBody>
      </p:sp>
      <p:sp>
        <p:nvSpPr>
          <p:cNvPr id="6" name="Slide Number Placeholder 5">
            <a:extLst>
              <a:ext uri="{FF2B5EF4-FFF2-40B4-BE49-F238E27FC236}">
                <a16:creationId xmlns:a16="http://schemas.microsoft.com/office/drawing/2014/main" id="{D613E082-25AA-418E-B974-59290C6F3DA4}"/>
              </a:ext>
            </a:extLst>
          </p:cNvPr>
          <p:cNvSpPr>
            <a:spLocks noGrp="1"/>
          </p:cNvSpPr>
          <p:nvPr>
            <p:ph type="sldNum" sz="quarter" idx="10"/>
          </p:nvPr>
        </p:nvSpPr>
        <p:spPr/>
        <p:txBody>
          <a:bodyPr/>
          <a:lstStyle/>
          <a:p>
            <a:fld id="{67B19427-F580-D146-B60E-4CADEE75497F}" type="slidenum">
              <a:rPr lang="en-US" smtClean="0"/>
              <a:pPr/>
              <a:t>77</a:t>
            </a:fld>
            <a:endParaRPr lang="en-US" dirty="0"/>
          </a:p>
        </p:txBody>
      </p:sp>
      <p:sp>
        <p:nvSpPr>
          <p:cNvPr id="7" name="Footer Placeholder 6">
            <a:extLst>
              <a:ext uri="{FF2B5EF4-FFF2-40B4-BE49-F238E27FC236}">
                <a16:creationId xmlns:a16="http://schemas.microsoft.com/office/drawing/2014/main" id="{940E6B6E-A0EB-43F1-A559-FEE7F345077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637890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EBE0-0698-46E1-8BD4-CA99A0E876FD}"/>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 Look at I</a:t>
            </a:r>
            <a:r>
              <a:rPr lang="en-US" sz="100" b="1" dirty="0">
                <a:latin typeface="Calibri" panose="020F0502020204030204" pitchFamily="34" charset="0"/>
                <a:ea typeface="Source Sans Pro" charset="0"/>
                <a:cs typeface="Calibri" panose="020F0502020204030204" pitchFamily="34" charset="0"/>
              </a:rPr>
              <a:t> </a:t>
            </a:r>
            <a:r>
              <a:rPr lang="en-US" b="1" dirty="0">
                <a:latin typeface="Calibri" panose="020F0502020204030204" pitchFamily="34" charset="0"/>
                <a:ea typeface="Source Sans Pro" charset="0"/>
                <a:cs typeface="Calibri" panose="020F0502020204030204" pitchFamily="34" charset="0"/>
              </a:rPr>
              <a:t>F</a:t>
            </a:r>
            <a:r>
              <a:rPr lang="en-US" sz="100" b="1" dirty="0">
                <a:latin typeface="Calibri" panose="020F0502020204030204" pitchFamily="34" charset="0"/>
                <a:ea typeface="Source Sans Pro" charset="0"/>
                <a:cs typeface="Calibri" panose="020F0502020204030204" pitchFamily="34" charset="0"/>
              </a:rPr>
              <a:t> </a:t>
            </a:r>
            <a:r>
              <a:rPr lang="en-US" b="1" dirty="0">
                <a:latin typeface="Calibri" panose="020F0502020204030204" pitchFamily="34" charset="0"/>
                <a:ea typeface="Source Sans Pro" charset="0"/>
                <a:cs typeface="Calibri" panose="020F0502020204030204" pitchFamily="34" charset="0"/>
              </a:rPr>
              <a:t>R</a:t>
            </a:r>
            <a:r>
              <a:rPr lang="en-US" sz="100" b="1" dirty="0">
                <a:latin typeface="Calibri" panose="020F0502020204030204" pitchFamily="34" charset="0"/>
                <a:ea typeface="Source Sans Pro" charset="0"/>
                <a:cs typeface="Calibri" panose="020F0502020204030204" pitchFamily="34" charset="0"/>
              </a:rPr>
              <a:t> </a:t>
            </a:r>
            <a:r>
              <a:rPr lang="en-US" b="1" dirty="0">
                <a:latin typeface="Calibri" panose="020F0502020204030204" pitchFamily="34" charset="0"/>
                <a:ea typeface="Source Sans Pro" charset="0"/>
                <a:cs typeface="Calibri" panose="020F0502020204030204" pitchFamily="34" charset="0"/>
              </a:rPr>
              <a:t>S </a:t>
            </a:r>
            <a:r>
              <a:rPr lang="en-US" sz="2400" dirty="0">
                <a:latin typeface="Calibri" panose="020F0502020204030204" pitchFamily="34" charset="0"/>
                <a:ea typeface="Source Sans Pro" charset="0"/>
                <a:cs typeface="Calibri" panose="020F0502020204030204" pitchFamily="34" charset="0"/>
              </a:rPr>
              <a:t>(3 of 5)</a:t>
            </a:r>
            <a:endParaRPr lang="en-US" sz="2400" dirty="0"/>
          </a:p>
        </p:txBody>
      </p:sp>
      <p:sp>
        <p:nvSpPr>
          <p:cNvPr id="3" name="Content Placeholder 2">
            <a:extLst>
              <a:ext uri="{FF2B5EF4-FFF2-40B4-BE49-F238E27FC236}">
                <a16:creationId xmlns:a16="http://schemas.microsoft.com/office/drawing/2014/main" id="{5611AA33-B3FA-4A8E-8BBB-D6EABB01728F}"/>
              </a:ext>
            </a:extLst>
          </p:cNvPr>
          <p:cNvSpPr>
            <a:spLocks noGrp="1"/>
          </p:cNvSpPr>
          <p:nvPr>
            <p:ph sz="quarter" idx="16"/>
          </p:nvPr>
        </p:nvSpPr>
        <p:spPr>
          <a:xfrm>
            <a:off x="304800" y="1828800"/>
            <a:ext cx="8534400" cy="1295400"/>
          </a:xfrm>
        </p:spPr>
        <p:txBody>
          <a:bodyPr/>
          <a:lstStyle/>
          <a:p>
            <a:r>
              <a:rPr lang="en-US" sz="2400" b="1" dirty="0">
                <a:solidFill>
                  <a:srgbClr val="196E78"/>
                </a:solidFill>
                <a:latin typeface="Calibri" panose="020F0502020204030204" pitchFamily="34" charset="0"/>
                <a:ea typeface="Source Sans Pro" charset="0"/>
                <a:cs typeface="Calibri" panose="020F0502020204030204" pitchFamily="34" charset="0"/>
              </a:rPr>
              <a:t>Key Points</a:t>
            </a:r>
          </a:p>
          <a:p>
            <a:r>
              <a:rPr lang="en-US" sz="2400" b="1" dirty="0">
                <a:solidFill>
                  <a:srgbClr val="990000"/>
                </a:solidFill>
                <a:latin typeface="Calibri" panose="020F0502020204030204" pitchFamily="34" charset="0"/>
                <a:cs typeface="Calibri" panose="020F0502020204030204" pitchFamily="34" charset="0"/>
              </a:rPr>
              <a:t>Differences</a:t>
            </a:r>
            <a:endParaRPr lang="en-US" sz="2400" dirty="0">
              <a:solidFill>
                <a:srgbClr val="990000"/>
              </a:solidFill>
              <a:latin typeface="Calibri" panose="020F0502020204030204" pitchFamily="34" charset="0"/>
            </a:endParaRPr>
          </a:p>
          <a:p>
            <a:pPr marL="292608" indent="-292608">
              <a:buClr>
                <a:schemeClr val="accent2"/>
              </a:buClr>
              <a:buFont typeface="Arial" panose="020B0604020202020204" pitchFamily="34" charset="0"/>
              <a:buChar char="•"/>
            </a:pPr>
            <a:r>
              <a:rPr lang="en-US" sz="2400" dirty="0">
                <a:latin typeface="Calibri" panose="020F0502020204030204" pitchFamily="34" charset="0"/>
              </a:rPr>
              <a:t>There are often terminology differences for equity accounts.</a:t>
            </a:r>
          </a:p>
        </p:txBody>
      </p:sp>
      <p:graphicFrame>
        <p:nvGraphicFramePr>
          <p:cNvPr id="8" name="Content Placeholder 7" descr="Table is accessible to screenreaders">
            <a:extLst>
              <a:ext uri="{FF2B5EF4-FFF2-40B4-BE49-F238E27FC236}">
                <a16:creationId xmlns:a16="http://schemas.microsoft.com/office/drawing/2014/main" id="{488D42C9-599F-44E9-B78D-8A8C5951B6CD}"/>
              </a:ext>
            </a:extLst>
          </p:cNvPr>
          <p:cNvGraphicFramePr>
            <a:graphicFrameLocks noGrp="1"/>
          </p:cNvGraphicFramePr>
          <p:nvPr>
            <p:ph sz="quarter" idx="17"/>
            <p:extLst>
              <p:ext uri="{D42A27DB-BD31-4B8C-83A1-F6EECF244321}">
                <p14:modId xmlns:p14="http://schemas.microsoft.com/office/powerpoint/2010/main" val="2848619234"/>
              </p:ext>
            </p:extLst>
          </p:nvPr>
        </p:nvGraphicFramePr>
        <p:xfrm>
          <a:off x="304800" y="3200400"/>
          <a:ext cx="8534400" cy="2999232"/>
        </p:xfrm>
        <a:graphic>
          <a:graphicData uri="http://schemas.openxmlformats.org/drawingml/2006/table">
            <a:tbl>
              <a:tblPr firstRow="1" bandRow="1">
                <a:tableStyleId>{2D5ABB26-0587-4C30-8999-92F81FD0307C}</a:tableStyleId>
              </a:tblPr>
              <a:tblGrid>
                <a:gridCol w="4267200">
                  <a:extLst>
                    <a:ext uri="{9D8B030D-6E8A-4147-A177-3AD203B41FA5}">
                      <a16:colId xmlns:a16="http://schemas.microsoft.com/office/drawing/2014/main" val="1562395635"/>
                    </a:ext>
                  </a:extLst>
                </a:gridCol>
                <a:gridCol w="4267200">
                  <a:extLst>
                    <a:ext uri="{9D8B030D-6E8A-4147-A177-3AD203B41FA5}">
                      <a16:colId xmlns:a16="http://schemas.microsoft.com/office/drawing/2014/main" val="112989006"/>
                    </a:ext>
                  </a:extLst>
                </a:gridCol>
              </a:tblGrid>
              <a:tr h="247848">
                <a:tc>
                  <a:txBody>
                    <a:bodyPr/>
                    <a:lstStyle/>
                    <a:p>
                      <a:pPr algn="ctr"/>
                      <a:r>
                        <a:rPr lang="en-US" sz="1400" b="1" baseline="0" dirty="0"/>
                        <a:t>G</a:t>
                      </a:r>
                      <a:r>
                        <a:rPr lang="en-US" sz="100" b="1" baseline="0" dirty="0"/>
                        <a:t> </a:t>
                      </a:r>
                      <a:r>
                        <a:rPr lang="en-US" sz="1400" b="1" baseline="0" dirty="0"/>
                        <a:t>A</a:t>
                      </a:r>
                      <a:r>
                        <a:rPr lang="en-US" sz="100" b="1" baseline="0" dirty="0"/>
                        <a:t> </a:t>
                      </a:r>
                      <a:r>
                        <a:rPr lang="en-US" sz="1400" b="1" baseline="0" dirty="0" err="1"/>
                        <a:t>A</a:t>
                      </a:r>
                      <a:r>
                        <a:rPr lang="en-US" sz="100" b="1" baseline="0" dirty="0"/>
                        <a:t> </a:t>
                      </a:r>
                      <a:r>
                        <a:rPr lang="en-US" sz="1400" b="1" baseline="0" dirty="0"/>
                        <a:t>P</a:t>
                      </a:r>
                      <a:endParaRPr lang="en-US" sz="1400" b="1" baseline="0" dirty="0">
                        <a:latin typeface="Calibri" panose="020F0502020204030204" pitchFamily="34" charset="0"/>
                      </a:endParaRPr>
                    </a:p>
                  </a:txBody>
                  <a:tcPr marT="18288" marB="18288">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baseline="0" dirty="0"/>
                        <a:t>I</a:t>
                      </a:r>
                      <a:r>
                        <a:rPr lang="en-US" sz="100" b="1" baseline="0" dirty="0"/>
                        <a:t> </a:t>
                      </a:r>
                      <a:r>
                        <a:rPr lang="en-US" sz="1400" b="1" baseline="0" dirty="0"/>
                        <a:t>F</a:t>
                      </a:r>
                      <a:r>
                        <a:rPr lang="en-US" sz="100" b="1" baseline="0" dirty="0"/>
                        <a:t> </a:t>
                      </a:r>
                      <a:r>
                        <a:rPr lang="en-US" sz="1400" b="1" baseline="0" dirty="0"/>
                        <a:t>R</a:t>
                      </a:r>
                      <a:r>
                        <a:rPr lang="en-US" sz="100" b="1" baseline="0" dirty="0"/>
                        <a:t> </a:t>
                      </a:r>
                      <a:r>
                        <a:rPr lang="en-US" sz="1400" b="1" baseline="0" dirty="0"/>
                        <a:t>S</a:t>
                      </a:r>
                      <a:endParaRPr lang="en-US" sz="1400" b="1" baseline="0" dirty="0">
                        <a:latin typeface="Calibri" panose="020F0502020204030204" pitchFamily="34" charset="0"/>
                      </a:endParaRPr>
                    </a:p>
                  </a:txBody>
                  <a:tcPr marT="18288" marB="18288">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3528729"/>
                  </a:ext>
                </a:extLst>
              </a:tr>
              <a:tr h="247848">
                <a:tc>
                  <a:txBody>
                    <a:bodyPr/>
                    <a:lstStyle/>
                    <a:p>
                      <a:r>
                        <a:rPr lang="en-US" sz="1400" baseline="0" dirty="0"/>
                        <a:t>Common stock </a:t>
                      </a:r>
                      <a:endParaRPr lang="en-US" sz="1400" baseline="0" dirty="0">
                        <a:latin typeface="Calibri" panose="020F0502020204030204" pitchFamily="34" charset="0"/>
                      </a:endParaRPr>
                    </a:p>
                  </a:txBody>
                  <a:tcPr marT="18288" marB="18288">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en-US" sz="1400" baseline="0" dirty="0"/>
                        <a:t>Share capital—ordinary</a:t>
                      </a:r>
                      <a:endParaRPr lang="en-US" sz="1400" baseline="0" dirty="0">
                        <a:latin typeface="Calibri" panose="020F0502020204030204" pitchFamily="34" charset="0"/>
                      </a:endParaRPr>
                    </a:p>
                  </a:txBody>
                  <a:tcPr marT="18288" marB="18288">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4271793722"/>
                  </a:ext>
                </a:extLst>
              </a:tr>
              <a:tr h="247848">
                <a:tc>
                  <a:txBody>
                    <a:bodyPr/>
                    <a:lstStyle/>
                    <a:p>
                      <a:r>
                        <a:rPr lang="en-US" sz="1400" baseline="0" dirty="0"/>
                        <a:t>Stockholders </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Shareholders</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67627273"/>
                  </a:ext>
                </a:extLst>
              </a:tr>
              <a:tr h="247848">
                <a:tc>
                  <a:txBody>
                    <a:bodyPr/>
                    <a:lstStyle/>
                    <a:p>
                      <a:r>
                        <a:rPr lang="en-US" sz="1400" baseline="0" dirty="0"/>
                        <a:t>Par value</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Nominal or face value</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686165119"/>
                  </a:ext>
                </a:extLst>
              </a:tr>
              <a:tr h="247848">
                <a:tc>
                  <a:txBody>
                    <a:bodyPr/>
                    <a:lstStyle/>
                    <a:p>
                      <a:r>
                        <a:rPr lang="en-US" sz="1400" baseline="0" dirty="0"/>
                        <a:t>Authorized stock</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Authorized share capital</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54450712"/>
                  </a:ext>
                </a:extLst>
              </a:tr>
              <a:tr h="247848">
                <a:tc>
                  <a:txBody>
                    <a:bodyPr/>
                    <a:lstStyle/>
                    <a:p>
                      <a:r>
                        <a:rPr lang="en-US" sz="1400" baseline="0" dirty="0"/>
                        <a:t>Preferred stock</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Share capital—preference</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32794672"/>
                  </a:ext>
                </a:extLst>
              </a:tr>
              <a:tr h="247848">
                <a:tc>
                  <a:txBody>
                    <a:bodyPr/>
                    <a:lstStyle/>
                    <a:p>
                      <a:r>
                        <a:rPr lang="en-US" sz="1400" baseline="0" dirty="0"/>
                        <a:t>Paid-in capital</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Issued/allocated share capital</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24309977"/>
                  </a:ext>
                </a:extLst>
              </a:tr>
              <a:tr h="247848">
                <a:tc>
                  <a:txBody>
                    <a:bodyPr/>
                    <a:lstStyle/>
                    <a:p>
                      <a:r>
                        <a:rPr lang="en-US" sz="1400" baseline="0" dirty="0"/>
                        <a:t>Paid-in capital in excess of par—common stock</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Share premium—ordinary</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901974"/>
                  </a:ext>
                </a:extLst>
              </a:tr>
              <a:tr h="247848">
                <a:tc>
                  <a:txBody>
                    <a:bodyPr/>
                    <a:lstStyle/>
                    <a:p>
                      <a:r>
                        <a:rPr lang="en-US" sz="1400" baseline="0" dirty="0"/>
                        <a:t>Paid-in capital in excess of par—preferred stock</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Share premium—preference</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557291532"/>
                  </a:ext>
                </a:extLst>
              </a:tr>
              <a:tr h="247848">
                <a:tc>
                  <a:txBody>
                    <a:bodyPr/>
                    <a:lstStyle/>
                    <a:p>
                      <a:r>
                        <a:rPr lang="en-US" sz="1400" baseline="0" dirty="0"/>
                        <a:t>Retained earnings</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Retained earnings or Retained profits</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665700075"/>
                  </a:ext>
                </a:extLst>
              </a:tr>
              <a:tr h="247848">
                <a:tc>
                  <a:txBody>
                    <a:bodyPr/>
                    <a:lstStyle/>
                    <a:p>
                      <a:r>
                        <a:rPr lang="en-US" sz="1400" baseline="0" dirty="0"/>
                        <a:t>Retained earnings deficit</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Accumulated losses</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819835935"/>
                  </a:ext>
                </a:extLst>
              </a:tr>
              <a:tr h="247848">
                <a:tc>
                  <a:txBody>
                    <a:bodyPr/>
                    <a:lstStyle/>
                    <a:p>
                      <a:r>
                        <a:rPr lang="en-US" sz="1400" baseline="0" dirty="0"/>
                        <a:t>Accumulated other comprehensive income</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tc>
                  <a:txBody>
                    <a:bodyPr/>
                    <a:lstStyle/>
                    <a:p>
                      <a:r>
                        <a:rPr lang="en-US" sz="1400" baseline="0" dirty="0"/>
                        <a:t>General reserve and other reserve accounts</a:t>
                      </a:r>
                      <a:endParaRPr lang="en-US" sz="1400" baseline="0" dirty="0">
                        <a:latin typeface="Calibri" panose="020F0502020204030204" pitchFamily="34" charset="0"/>
                      </a:endParaRPr>
                    </a:p>
                  </a:txBody>
                  <a:tcPr marT="18288" marB="18288">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945135875"/>
                  </a:ext>
                </a:extLst>
              </a:tr>
            </a:tbl>
          </a:graphicData>
        </a:graphic>
      </p:graphicFrame>
      <p:sp>
        <p:nvSpPr>
          <p:cNvPr id="4" name="Slide Number Placeholder 3">
            <a:extLst>
              <a:ext uri="{FF2B5EF4-FFF2-40B4-BE49-F238E27FC236}">
                <a16:creationId xmlns:a16="http://schemas.microsoft.com/office/drawing/2014/main" id="{544235E3-59F6-4419-A219-22CB529089E5}"/>
              </a:ext>
            </a:extLst>
          </p:cNvPr>
          <p:cNvSpPr>
            <a:spLocks noGrp="1"/>
          </p:cNvSpPr>
          <p:nvPr>
            <p:ph type="sldNum" sz="quarter" idx="10"/>
          </p:nvPr>
        </p:nvSpPr>
        <p:spPr/>
        <p:txBody>
          <a:bodyPr/>
          <a:lstStyle/>
          <a:p>
            <a:fld id="{67B19427-F580-D146-B60E-4CADEE75497F}" type="slidenum">
              <a:rPr lang="en-US" smtClean="0"/>
              <a:pPr/>
              <a:t>78</a:t>
            </a:fld>
            <a:endParaRPr lang="en-US" dirty="0"/>
          </a:p>
        </p:txBody>
      </p:sp>
      <p:sp>
        <p:nvSpPr>
          <p:cNvPr id="5" name="Footer Placeholder 4">
            <a:extLst>
              <a:ext uri="{FF2B5EF4-FFF2-40B4-BE49-F238E27FC236}">
                <a16:creationId xmlns:a16="http://schemas.microsoft.com/office/drawing/2014/main" id="{7B1ADFEC-CC29-4292-AEF0-C05CCF2A7AE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841828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1"/>
            <a:ext cx="8534400" cy="761999"/>
          </a:xfrm>
        </p:spPr>
        <p:txBody>
          <a:bodyPr/>
          <a:lstStyle/>
          <a:p>
            <a:r>
              <a:rPr lang="en-US" b="1" dirty="0"/>
              <a:t>Copyright</a:t>
            </a:r>
          </a:p>
        </p:txBody>
      </p:sp>
      <p:sp>
        <p:nvSpPr>
          <p:cNvPr id="3" name="Content Placeholder 2"/>
          <p:cNvSpPr>
            <a:spLocks noGrp="1"/>
          </p:cNvSpPr>
          <p:nvPr>
            <p:ph sz="quarter" idx="16"/>
          </p:nvPr>
        </p:nvSpPr>
        <p:spPr>
          <a:xfrm>
            <a:off x="304800" y="1752600"/>
            <a:ext cx="8534400" cy="3657600"/>
          </a:xfrm>
        </p:spPr>
        <p:txBody>
          <a:bodyPr/>
          <a:lstStyle/>
          <a:p>
            <a:r>
              <a:rPr lang="en-US" sz="2400" b="1" dirty="0"/>
              <a:t>Copyright © 2018 John Wiley &amp; Sons, Inc.</a:t>
            </a:r>
          </a:p>
          <a:p>
            <a:pPr>
              <a:lnSpc>
                <a:spcPct val="150000"/>
              </a:lnSpc>
            </a:pPr>
            <a:r>
              <a:rPr lang="en-US" sz="1800" dirty="0"/>
              <a:t>All rights reserved. Reproduction or translation of this work beyond that permitted in Section 117 of the 1976 United States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
        <p:nvSpPr>
          <p:cNvPr id="4" name="Slide Number Placeholder 3"/>
          <p:cNvSpPr>
            <a:spLocks noGrp="1"/>
          </p:cNvSpPr>
          <p:nvPr>
            <p:ph type="sldNum" sz="quarter" idx="10"/>
          </p:nvPr>
        </p:nvSpPr>
        <p:spPr/>
        <p:txBody>
          <a:bodyPr/>
          <a:lstStyle/>
          <a:p>
            <a:fld id="{67B19427-F580-D146-B60E-4CADEE75497F}" type="slidenum">
              <a:rPr lang="en-US" smtClean="0"/>
              <a:pPr/>
              <a:t>79</a:t>
            </a:fld>
            <a:endParaRPr lang="en-US" dirty="0"/>
          </a:p>
        </p:txBody>
      </p:sp>
      <p:sp>
        <p:nvSpPr>
          <p:cNvPr id="5" name="Footer Placeholder 4"/>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33643281"/>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1C71EB-81EB-430C-AADD-7391148CA650}">
  <ds:schemaRefs>
    <ds:schemaRef ds:uri="http://schemas.microsoft.com/office/infopath/2007/PartnerControls"/>
    <ds:schemaRef ds:uri="http://purl.org/dc/dcmitype/"/>
    <ds:schemaRef ds:uri="http://purl.org/dc/terms/"/>
    <ds:schemaRef ds:uri="991c6ba3-1c6f-40a9-b60d-1b3170aa9e50"/>
    <ds:schemaRef ds:uri="http://www.w3.org/XML/1998/namespace"/>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7a71b9a5-dc42-4723-8d0f-e8d6ba5fbeb6"/>
  </ds:schemaRefs>
</ds:datastoreItem>
</file>

<file path=customXml/itemProps2.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3.xml><?xml version="1.0" encoding="utf-8"?>
<ds:datastoreItem xmlns:ds="http://schemas.openxmlformats.org/officeDocument/2006/customXml" ds:itemID="{CF7DACF8-84DE-4F92-B6C6-E078A935F2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16912</TotalTime>
  <Words>6242</Words>
  <Application>Microsoft Office PowerPoint</Application>
  <PresentationFormat>On-screen Show (4:3)</PresentationFormat>
  <Paragraphs>778</Paragraphs>
  <Slides>79</Slides>
  <Notes>1</Notes>
  <HiddenSlides>0</HiddenSlides>
  <MMClips>0</MMClips>
  <ScaleCrop>false</ScaleCrop>
  <HeadingPairs>
    <vt:vector size="8" baseType="variant">
      <vt:variant>
        <vt:lpstr>Fonts Used</vt:lpstr>
      </vt:variant>
      <vt:variant>
        <vt:i4>7</vt:i4>
      </vt:variant>
      <vt:variant>
        <vt:lpstr>Theme</vt:lpstr>
      </vt:variant>
      <vt:variant>
        <vt:i4>7</vt:i4>
      </vt:variant>
      <vt:variant>
        <vt:lpstr>Embedded OLE Servers</vt:lpstr>
      </vt:variant>
      <vt:variant>
        <vt:i4>1</vt:i4>
      </vt:variant>
      <vt:variant>
        <vt:lpstr>Slide Titles</vt:lpstr>
      </vt:variant>
      <vt:variant>
        <vt:i4>79</vt:i4>
      </vt:variant>
    </vt:vector>
  </HeadingPairs>
  <TitlesOfParts>
    <vt:vector size="94" baseType="lpstr">
      <vt:lpstr>Arial</vt:lpstr>
      <vt:lpstr>Calibri</vt:lpstr>
      <vt:lpstr>Calibri Light</vt:lpstr>
      <vt:lpstr>Courier New</vt:lpstr>
      <vt:lpstr>Source Sans Pro</vt:lpstr>
      <vt:lpstr>Times New Roman</vt:lpstr>
      <vt:lpstr>Wingdings</vt:lpstr>
      <vt:lpstr>Opener</vt:lpstr>
      <vt:lpstr>Chapter Outline</vt:lpstr>
      <vt:lpstr>Learning Objectives</vt:lpstr>
      <vt:lpstr>Concept Check Question</vt:lpstr>
      <vt:lpstr>Key Term</vt:lpstr>
      <vt:lpstr>Section</vt:lpstr>
      <vt:lpstr>Image Slide Master</vt:lpstr>
      <vt:lpstr>Equation</vt:lpstr>
      <vt:lpstr>Accounting Principles</vt:lpstr>
      <vt:lpstr>Chapter Outline</vt:lpstr>
      <vt:lpstr>Corporate Form of Organization</vt:lpstr>
      <vt:lpstr>Characteristics of Corporation (1 of 4)</vt:lpstr>
      <vt:lpstr>Characteristics of Corporation (2 of 4)</vt:lpstr>
      <vt:lpstr>Characteristics of Corporation (3 of 4)</vt:lpstr>
      <vt:lpstr>Characteristics of Corporation (4 of 4)</vt:lpstr>
      <vt:lpstr>Forming a Corporation</vt:lpstr>
      <vt:lpstr>Stockholder Rights</vt:lpstr>
      <vt:lpstr>Stock Issue Considerations (1 of 6)</vt:lpstr>
      <vt:lpstr>Stock Issue Considerations (2 of 6)</vt:lpstr>
      <vt:lpstr>Stock Issue Considerations (3 of 6)</vt:lpstr>
      <vt:lpstr>Do It! 1a: Corporate Organization (3 of 3)</vt:lpstr>
      <vt:lpstr>Corporate Capital (1 of 3)</vt:lpstr>
      <vt:lpstr>Corporate Capital (2 of 3)</vt:lpstr>
      <vt:lpstr>Retained Earnings</vt:lpstr>
      <vt:lpstr>Corporate Capital (3 of 3)</vt:lpstr>
      <vt:lpstr>Do It! 1b: Corporate Capital</vt:lpstr>
      <vt:lpstr>Accounting for Stock Transactions (1 of 2)</vt:lpstr>
      <vt:lpstr>Share Issue Journals </vt:lpstr>
      <vt:lpstr>PowerPoint Presentation</vt:lpstr>
      <vt:lpstr>Issuing Common Stock for Cash (1 of 4)</vt:lpstr>
      <vt:lpstr>Accounting for Stock Transactions (2 of 4)</vt:lpstr>
      <vt:lpstr>Issuing No-Par Common Stock for Cash (3 of 4)</vt:lpstr>
      <vt:lpstr>Issuing No-Par Common Stock for Cash (4 of 4)</vt:lpstr>
      <vt:lpstr>Issuing Common Stock for Services or Noncash Assets</vt:lpstr>
      <vt:lpstr>Common Stock for Services (1 of 2)</vt:lpstr>
      <vt:lpstr>Common Stock for Services (2 of 2)</vt:lpstr>
      <vt:lpstr>Accounting for Preferred Stock (1 of 2)</vt:lpstr>
      <vt:lpstr>Accounting for Preferred Stock (2 of 2)</vt:lpstr>
      <vt:lpstr>Do It! 2a: Issuance of Stock (1 of 3)</vt:lpstr>
      <vt:lpstr>Do It! 2a: Issuance of Stock (2 of 3)</vt:lpstr>
      <vt:lpstr>Do It! 2a: Issuance of Stock (3 of 3)</vt:lpstr>
      <vt:lpstr>Accounting for Treasury Stock (1 of 5)</vt:lpstr>
      <vt:lpstr>Accounting for Treasury Stock (2 of 5)</vt:lpstr>
      <vt:lpstr>Accounting for Treasury Stock (3 of 5)</vt:lpstr>
      <vt:lpstr>Accounting for Treasury Stock (4 of 5)</vt:lpstr>
      <vt:lpstr>Accounting for Treasury Stock (5 of 5)</vt:lpstr>
      <vt:lpstr>Sale of Treasury Stock Above Cost</vt:lpstr>
      <vt:lpstr>Sale of Treasury Stock Below Cost (1 of 2)</vt:lpstr>
      <vt:lpstr>Sale of Treasury Stock Below Cost (2 of 2)</vt:lpstr>
      <vt:lpstr>Do It! 2b: Treasury Stock</vt:lpstr>
      <vt:lpstr>Explain the Accounting and Reporting Issues Related to Dividends</vt:lpstr>
      <vt:lpstr>Dividend Policy</vt:lpstr>
      <vt:lpstr>Dividend Policy  Financial Condition and Dividend Distributions</vt:lpstr>
      <vt:lpstr>Dividend Journal </vt:lpstr>
      <vt:lpstr>Dividend Policy  Types of Dividends</vt:lpstr>
      <vt:lpstr>Types of Dividends Cash Dividends</vt:lpstr>
      <vt:lpstr>Cash Dividends</vt:lpstr>
      <vt:lpstr>Types of Dividends Property Dividends</vt:lpstr>
      <vt:lpstr>Property Dividends</vt:lpstr>
      <vt:lpstr>Property Dividends Date of Distribution</vt:lpstr>
      <vt:lpstr>Types of Dividends Liquidating Dividends</vt:lpstr>
      <vt:lpstr>Liquidating Dividends</vt:lpstr>
      <vt:lpstr>Stock Dividends and Stock Splits Stock Dividends</vt:lpstr>
      <vt:lpstr>Stock Dividends</vt:lpstr>
      <vt:lpstr>Dividend Policy Stock Splits: In the case of a stock split, each old share is split into a number of new shares with a reduced par value, leaving the total share capital unchanged. In the case of a stock dividend, a number of new shares are received for each share owned.</vt:lpstr>
      <vt:lpstr>Dividend Policy Stock Split and Stock Dividend Differentiated</vt:lpstr>
      <vt:lpstr>Stock Dividend Entries</vt:lpstr>
      <vt:lpstr>Statement Presentation of Stockholders’ Equity (1 of 2)</vt:lpstr>
      <vt:lpstr>Statement Presentation of Stockholders’ Equity (2 of 2)</vt:lpstr>
      <vt:lpstr>Do It! 3: Stockholders’ Equity (1 of 2)</vt:lpstr>
      <vt:lpstr>Do It! 3: Stockholders’ Equity (2 of 2)</vt:lpstr>
      <vt:lpstr>Analysis of Stockholders’ Equity (1 of 2)</vt:lpstr>
      <vt:lpstr>Analysis Payout Ratio</vt:lpstr>
      <vt:lpstr>Analysis of Stockholders’ Equity (2 of 2)</vt:lpstr>
      <vt:lpstr>Analysis Rate of Return on Common Stockholders’ Equity</vt:lpstr>
      <vt:lpstr>Do It! 2: Analyzing Stockholders’ Equity (1 of 3)</vt:lpstr>
      <vt:lpstr>Do It! 2: Analyzing Stockholders’ Equity (2 of 3)</vt:lpstr>
      <vt:lpstr>Do It! 2: Analyzing Stockholders’ Equity (3 of 3)</vt:lpstr>
      <vt:lpstr>Income Statement Presentation (1 of 2)</vt:lpstr>
      <vt:lpstr>Income Statement Presentation (2 of 2)</vt:lpstr>
      <vt:lpstr>Income Statement Analysis (1 of 2)</vt:lpstr>
      <vt:lpstr>Income Statement Analysis (2 of 2)</vt:lpstr>
      <vt:lpstr>Do It! 3: E P S (1 of 3)</vt:lpstr>
      <vt:lpstr>Do It! 3: E P S (2 of 3)</vt:lpstr>
      <vt:lpstr>Do It! 3: E P S (3 of 3)</vt:lpstr>
      <vt:lpstr>A Look at I F R S (3 of 5)</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Md. Kausar Alam</cp:lastModifiedBy>
  <cp:revision>1855</cp:revision>
  <cp:lastPrinted>2017-04-26T13:25:47Z</cp:lastPrinted>
  <dcterms:created xsi:type="dcterms:W3CDTF">2017-04-21T14:49:46Z</dcterms:created>
  <dcterms:modified xsi:type="dcterms:W3CDTF">2025-08-23T09:03:39Z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