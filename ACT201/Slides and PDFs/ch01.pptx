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4.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5.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6.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9" r:id="rId4"/>
    <p:sldMasterId id="2147483936" r:id="rId5"/>
    <p:sldMasterId id="2147483943" r:id="rId6"/>
    <p:sldMasterId id="2147483965" r:id="rId7"/>
    <p:sldMasterId id="2147483968" r:id="rId8"/>
    <p:sldMasterId id="2147483971" r:id="rId9"/>
    <p:sldMasterId id="2147483976" r:id="rId10"/>
  </p:sldMasterIdLst>
  <p:notesMasterIdLst>
    <p:notesMasterId r:id="rId49"/>
  </p:notesMasterIdLst>
  <p:sldIdLst>
    <p:sldId id="393" r:id="rId11"/>
    <p:sldId id="461" r:id="rId12"/>
    <p:sldId id="395" r:id="rId13"/>
    <p:sldId id="482" r:id="rId14"/>
    <p:sldId id="396" r:id="rId15"/>
    <p:sldId id="397" r:id="rId16"/>
    <p:sldId id="463" r:id="rId17"/>
    <p:sldId id="481" r:id="rId18"/>
    <p:sldId id="406" r:id="rId19"/>
    <p:sldId id="407" r:id="rId20"/>
    <p:sldId id="416" r:id="rId21"/>
    <p:sldId id="417" r:id="rId22"/>
    <p:sldId id="418" r:id="rId23"/>
    <p:sldId id="419" r:id="rId24"/>
    <p:sldId id="420" r:id="rId25"/>
    <p:sldId id="421" r:id="rId26"/>
    <p:sldId id="423" r:id="rId27"/>
    <p:sldId id="424" r:id="rId28"/>
    <p:sldId id="425" r:id="rId29"/>
    <p:sldId id="426" r:id="rId30"/>
    <p:sldId id="427" r:id="rId31"/>
    <p:sldId id="428" r:id="rId32"/>
    <p:sldId id="429" r:id="rId33"/>
    <p:sldId id="430" r:id="rId34"/>
    <p:sldId id="431" r:id="rId35"/>
    <p:sldId id="432" r:id="rId36"/>
    <p:sldId id="433" r:id="rId37"/>
    <p:sldId id="434" r:id="rId38"/>
    <p:sldId id="442" r:id="rId39"/>
    <p:sldId id="445" r:id="rId40"/>
    <p:sldId id="446" r:id="rId41"/>
    <p:sldId id="447" r:id="rId42"/>
    <p:sldId id="448" r:id="rId43"/>
    <p:sldId id="449" r:id="rId44"/>
    <p:sldId id="450" r:id="rId45"/>
    <p:sldId id="451" r:id="rId46"/>
    <p:sldId id="465" r:id="rId47"/>
    <p:sldId id="462" r:id="rId48"/>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arvin, Megan - Hoboken" initials="MG" lastIdx="38" clrIdx="0"/>
  <p:cmAuthor id="1" name="Michael, Leah - Indianapolis" initials="LM" lastIdx="9" clrIdx="1"/>
  <p:cmAuthor id="2" name="Heaney, Barbara - Hoboken" initials="BH" lastIdx="3" clrIdx="2"/>
  <p:cmAuthor id="3" name="Perry, Nancy - Hoboken" initials="NP" lastIdx="2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EAE9"/>
    <a:srgbClr val="E4E5E3"/>
    <a:srgbClr val="F2F2F1"/>
    <a:srgbClr val="EB97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860" autoAdjust="0"/>
    <p:restoredTop sz="93163" autoAdjust="0"/>
  </p:normalViewPr>
  <p:slideViewPr>
    <p:cSldViewPr>
      <p:cViewPr varScale="1">
        <p:scale>
          <a:sx n="62" d="100"/>
          <a:sy n="62" d="100"/>
        </p:scale>
        <p:origin x="1544" y="44"/>
      </p:cViewPr>
      <p:guideLst>
        <p:guide orient="horz" pos="2160"/>
        <p:guide pos="2880"/>
      </p:guideLst>
    </p:cSldViewPr>
  </p:slideViewPr>
  <p:outlineViewPr>
    <p:cViewPr>
      <p:scale>
        <a:sx n="33" d="100"/>
        <a:sy n="33" d="100"/>
      </p:scale>
      <p:origin x="0" y="0"/>
    </p:cViewPr>
  </p:outlineViewPr>
  <p:notesTextViewPr>
    <p:cViewPr>
      <p:scale>
        <a:sx n="66" d="100"/>
        <a:sy n="66" d="100"/>
      </p:scale>
      <p:origin x="0" y="0"/>
    </p:cViewPr>
  </p:notesTextViewPr>
  <p:sorterViewPr>
    <p:cViewPr>
      <p:scale>
        <a:sx n="70" d="100"/>
        <a:sy n="70" d="100"/>
      </p:scale>
      <p:origin x="0" y="6254"/>
    </p:cViewPr>
  </p:sorterViewPr>
  <p:notesViewPr>
    <p:cSldViewPr>
      <p:cViewPr varScale="1">
        <p:scale>
          <a:sx n="134" d="100"/>
          <a:sy n="134" d="100"/>
        </p:scale>
        <p:origin x="3184" y="20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slide" Target="slides/slide29.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slide" Target="slides/slide32.xml"/><Relationship Id="rId47" Type="http://schemas.openxmlformats.org/officeDocument/2006/relationships/slide" Target="slides/slide37.xml"/><Relationship Id="rId50" Type="http://schemas.openxmlformats.org/officeDocument/2006/relationships/commentAuthors" Target="commen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6.xml"/><Relationship Id="rId29" Type="http://schemas.openxmlformats.org/officeDocument/2006/relationships/slide" Target="slides/slide19.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3" Type="http://schemas.openxmlformats.org/officeDocument/2006/relationships/theme" Target="theme/theme1.xml"/><Relationship Id="rId5" Type="http://schemas.openxmlformats.org/officeDocument/2006/relationships/slideMaster" Target="slideMasters/slideMaster2.xml"/><Relationship Id="rId10" Type="http://schemas.openxmlformats.org/officeDocument/2006/relationships/slideMaster" Target="slideMasters/slideMaster7.xml"/><Relationship Id="rId19" Type="http://schemas.openxmlformats.org/officeDocument/2006/relationships/slide" Target="slides/slide9.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slide" Target="slides/slide38.xml"/><Relationship Id="rId8" Type="http://schemas.openxmlformats.org/officeDocument/2006/relationships/slideMaster" Target="slideMasters/slideMaster5.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E194C1A8-DC4B-4329-AF88-FD913597DE85}" type="datetimeFigureOut">
              <a:rPr lang="en-US" smtClean="0"/>
              <a:t>2/10/2025</a:t>
            </a:fld>
            <a:endParaRPr lang="en-US" dirty="0"/>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A8073E54-D085-4E2E-B9A5-A53D7E51940E}" type="slidenum">
              <a:rPr lang="en-US" smtClean="0"/>
              <a:t>‹#›</a:t>
            </a:fld>
            <a:endParaRPr lang="en-US" dirty="0"/>
          </a:p>
        </p:txBody>
      </p:sp>
    </p:spTree>
    <p:extLst>
      <p:ext uri="{BB962C8B-B14F-4D97-AF65-F5344CB8AC3E}">
        <p14:creationId xmlns:p14="http://schemas.microsoft.com/office/powerpoint/2010/main" val="263075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7000"/>
              </a:lnSpc>
              <a:spcAft>
                <a:spcPts val="800"/>
              </a:spcAft>
              <a:buFont typeface="Arial" panose="020B0604020202020204" pitchFamily="34" charset="0"/>
              <a:buNone/>
            </a:pP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A8073E54-D085-4E2E-B9A5-A53D7E51940E}" type="slidenum">
              <a:rPr lang="en-US" smtClean="0"/>
              <a:t>7</a:t>
            </a:fld>
            <a:endParaRPr lang="en-US" dirty="0"/>
          </a:p>
        </p:txBody>
      </p:sp>
    </p:spTree>
    <p:extLst>
      <p:ext uri="{BB962C8B-B14F-4D97-AF65-F5344CB8AC3E}">
        <p14:creationId xmlns:p14="http://schemas.microsoft.com/office/powerpoint/2010/main" val="26554307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7000"/>
              </a:lnSpc>
              <a:spcAft>
                <a:spcPts val="800"/>
              </a:spcAft>
              <a:buFont typeface="Arial" panose="020B0604020202020204" pitchFamily="34" charset="0"/>
              <a:buNone/>
            </a:pP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A8073E54-D085-4E2E-B9A5-A53D7E51940E}" type="slidenum">
              <a:rPr lang="en-US" smtClean="0"/>
              <a:t>8</a:t>
            </a:fld>
            <a:endParaRPr lang="en-US" dirty="0"/>
          </a:p>
        </p:txBody>
      </p:sp>
    </p:spTree>
    <p:extLst>
      <p:ext uri="{BB962C8B-B14F-4D97-AF65-F5344CB8AC3E}">
        <p14:creationId xmlns:p14="http://schemas.microsoft.com/office/powerpoint/2010/main" val="7542441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pener: Version A">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152400" y="365125"/>
            <a:ext cx="8839200" cy="1387475"/>
          </a:xfrm>
          <a:prstGeom prst="rect">
            <a:avLst/>
          </a:prstGeom>
        </p:spPr>
        <p:txBody>
          <a:bodyPr anchor="b"/>
          <a:lstStyle>
            <a:lvl1pPr>
              <a:defRPr sz="6200" b="0" i="0" baseline="0">
                <a:latin typeface="Calibri Light" charset="0"/>
                <a:ea typeface="Calibri Light" charset="0"/>
                <a:cs typeface="Calibri Light" charset="0"/>
              </a:defRPr>
            </a:lvl1pPr>
          </a:lstStyle>
          <a:p>
            <a:r>
              <a:rPr lang="en-US" dirty="0"/>
              <a:t>Click to Edit Book Title</a:t>
            </a:r>
          </a:p>
        </p:txBody>
      </p:sp>
      <p:sp>
        <p:nvSpPr>
          <p:cNvPr id="25" name="Edition"/>
          <p:cNvSpPr>
            <a:spLocks noGrp="1"/>
          </p:cNvSpPr>
          <p:nvPr>
            <p:ph sz="quarter" idx="17" hasCustomPrompt="1"/>
          </p:nvPr>
        </p:nvSpPr>
        <p:spPr>
          <a:xfrm>
            <a:off x="152400" y="1752600"/>
            <a:ext cx="8839200" cy="609600"/>
          </a:xfrm>
          <a:prstGeom prst="rect">
            <a:avLst/>
          </a:prstGeom>
        </p:spPr>
        <p:txBody>
          <a:bodyPr/>
          <a:lstStyle>
            <a:lvl1pPr marL="0" indent="0" algn="ctr">
              <a:buNone/>
              <a:defRPr sz="2900" b="1" i="0" baseline="0">
                <a:latin typeface="Calibri" charset="0"/>
                <a:ea typeface="Calibri" charset="0"/>
                <a:cs typeface="Calibri" charset="0"/>
              </a:defRPr>
            </a:lvl1pPr>
          </a:lstStyle>
          <a:p>
            <a:pPr lvl="0"/>
            <a:r>
              <a:rPr lang="en-US" sz="2900" b="1" i="0" dirty="0">
                <a:latin typeface="Source Sans Pro" charset="0"/>
                <a:ea typeface="Source Sans Pro" charset="0"/>
                <a:cs typeface="Source Sans Pro" charset="0"/>
              </a:rPr>
              <a:t>Third Edition</a:t>
            </a:r>
            <a:endParaRPr lang="en-US" dirty="0"/>
          </a:p>
        </p:txBody>
      </p:sp>
      <p:sp>
        <p:nvSpPr>
          <p:cNvPr id="27" name="Author"/>
          <p:cNvSpPr>
            <a:spLocks noGrp="1"/>
          </p:cNvSpPr>
          <p:nvPr>
            <p:ph sz="quarter" idx="18" hasCustomPrompt="1"/>
          </p:nvPr>
        </p:nvSpPr>
        <p:spPr>
          <a:xfrm>
            <a:off x="152400" y="2362200"/>
            <a:ext cx="8839200" cy="685800"/>
          </a:xfrm>
          <a:prstGeom prst="rect">
            <a:avLst/>
          </a:prstGeom>
        </p:spPr>
        <p:txBody>
          <a:bodyPr/>
          <a:lstStyle>
            <a:lvl1pPr marL="0" indent="0" algn="ctr">
              <a:buNone/>
              <a:defRPr b="0" i="0" baseline="0">
                <a:solidFill>
                  <a:schemeClr val="accent2"/>
                </a:solidFill>
                <a:latin typeface="Calibri" charset="0"/>
                <a:ea typeface="Calibri" charset="0"/>
                <a:cs typeface="Calibri" charset="0"/>
              </a:defRPr>
            </a:lvl1pPr>
          </a:lstStyle>
          <a:p>
            <a:pPr lvl="0"/>
            <a:r>
              <a:rPr lang="en-US" b="0" i="0" dirty="0">
                <a:latin typeface="Source Sans Pro" charset="0"/>
                <a:ea typeface="Source Sans Pro" charset="0"/>
                <a:cs typeface="Source Sans Pro" charset="0"/>
              </a:rPr>
              <a:t>David Klein</a:t>
            </a:r>
            <a:endParaRPr lang="en-US" dirty="0"/>
          </a:p>
        </p:txBody>
      </p:sp>
      <p:sp>
        <p:nvSpPr>
          <p:cNvPr id="29" name="CN"/>
          <p:cNvSpPr>
            <a:spLocks noGrp="1"/>
          </p:cNvSpPr>
          <p:nvPr>
            <p:ph sz="quarter" idx="19" hasCustomPrompt="1"/>
          </p:nvPr>
        </p:nvSpPr>
        <p:spPr>
          <a:xfrm>
            <a:off x="152400" y="3733800"/>
            <a:ext cx="8839200" cy="533400"/>
          </a:xfrm>
          <a:prstGeom prst="rect">
            <a:avLst/>
          </a:prstGeom>
        </p:spPr>
        <p:txBody>
          <a:bodyPr/>
          <a:lstStyle>
            <a:lvl1pPr marL="0" indent="0" algn="ctr">
              <a:buNone/>
              <a:defRPr sz="4000" b="1" i="0" baseline="0">
                <a:solidFill>
                  <a:schemeClr val="accent1"/>
                </a:solidFill>
                <a:latin typeface="Calibri" charset="0"/>
                <a:ea typeface="Calibri" charset="0"/>
                <a:cs typeface="Calibri" charset="0"/>
              </a:defRPr>
            </a:lvl1pPr>
          </a:lstStyle>
          <a:p>
            <a:pPr lvl="0"/>
            <a:r>
              <a:rPr lang="en-US" dirty="0"/>
              <a:t>Chapter 1</a:t>
            </a:r>
          </a:p>
        </p:txBody>
      </p:sp>
      <p:sp>
        <p:nvSpPr>
          <p:cNvPr id="31" name="CT"/>
          <p:cNvSpPr>
            <a:spLocks noGrp="1"/>
          </p:cNvSpPr>
          <p:nvPr>
            <p:ph sz="quarter" idx="20" hasCustomPrompt="1"/>
          </p:nvPr>
        </p:nvSpPr>
        <p:spPr>
          <a:xfrm>
            <a:off x="152400" y="5133241"/>
            <a:ext cx="8839200" cy="706318"/>
          </a:xfrm>
          <a:prstGeom prst="rect">
            <a:avLst/>
          </a:prstGeom>
        </p:spPr>
        <p:txBody>
          <a:bodyPr anchor="ctr"/>
          <a:lstStyle>
            <a:lvl1pPr marL="0" indent="0" algn="ctr">
              <a:buNone/>
              <a:defRPr sz="3800" b="0" i="0">
                <a:latin typeface="Calibri" charset="0"/>
                <a:ea typeface="Calibri" charset="0"/>
                <a:cs typeface="Calibri"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
        <p:nvSpPr>
          <p:cNvPr id="3" name="Content Placeholder 2"/>
          <p:cNvSpPr>
            <a:spLocks noGrp="1"/>
          </p:cNvSpPr>
          <p:nvPr>
            <p:ph sz="quarter" idx="21" hasCustomPrompt="1"/>
          </p:nvPr>
        </p:nvSpPr>
        <p:spPr>
          <a:xfrm>
            <a:off x="381000" y="6096000"/>
            <a:ext cx="8458200" cy="533400"/>
          </a:xfrm>
          <a:prstGeom prst="rect">
            <a:avLst/>
          </a:prstGeom>
        </p:spPr>
        <p:txBody>
          <a:bodyPr/>
          <a:lstStyle>
            <a:lvl1pPr marL="0" indent="0">
              <a:buNone/>
              <a:defRPr/>
            </a:lvl1pPr>
          </a:lstStyle>
          <a:p>
            <a:pPr lvl="0"/>
            <a:r>
              <a:rPr lang="en-IN" dirty="0"/>
              <a:t>Text</a:t>
            </a:r>
          </a:p>
        </p:txBody>
      </p:sp>
    </p:spTree>
    <p:extLst>
      <p:ext uri="{BB962C8B-B14F-4D97-AF65-F5344CB8AC3E}">
        <p14:creationId xmlns:p14="http://schemas.microsoft.com/office/powerpoint/2010/main" val="826372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pener: Version B">
    <p:spTree>
      <p:nvGrpSpPr>
        <p:cNvPr id="1" name=""/>
        <p:cNvGrpSpPr/>
        <p:nvPr/>
      </p:nvGrpSpPr>
      <p:grpSpPr>
        <a:xfrm>
          <a:off x="0" y="0"/>
          <a:ext cx="0" cy="0"/>
          <a:chOff x="0" y="0"/>
          <a:chExt cx="0" cy="0"/>
        </a:xfrm>
      </p:grpSpPr>
      <p:sp>
        <p:nvSpPr>
          <p:cNvPr id="13" name="CN"/>
          <p:cNvSpPr>
            <a:spLocks noGrp="1"/>
          </p:cNvSpPr>
          <p:nvPr>
            <p:ph sz="quarter" idx="19" hasCustomPrompt="1"/>
          </p:nvPr>
        </p:nvSpPr>
        <p:spPr>
          <a:xfrm>
            <a:off x="152400" y="228600"/>
            <a:ext cx="8839200" cy="533400"/>
          </a:xfrm>
          <a:prstGeom prst="rect">
            <a:avLst/>
          </a:prstGeom>
        </p:spPr>
        <p:txBody>
          <a:bodyPr/>
          <a:lstStyle>
            <a:lvl1pPr marL="0" indent="0" algn="ctr">
              <a:buNone/>
              <a:defRPr sz="4000" b="1" i="0" baseline="0">
                <a:solidFill>
                  <a:schemeClr val="accent1"/>
                </a:solidFill>
                <a:latin typeface="Calibri" charset="0"/>
                <a:ea typeface="Calibri" charset="0"/>
                <a:cs typeface="Calibri" charset="0"/>
              </a:defRPr>
            </a:lvl1pPr>
          </a:lstStyle>
          <a:p>
            <a:pPr lvl="0"/>
            <a:r>
              <a:rPr lang="en-US" dirty="0"/>
              <a:t>Chapter 1</a:t>
            </a:r>
          </a:p>
        </p:txBody>
      </p:sp>
      <p:sp>
        <p:nvSpPr>
          <p:cNvPr id="14" name="CT"/>
          <p:cNvSpPr>
            <a:spLocks noGrp="1"/>
          </p:cNvSpPr>
          <p:nvPr>
            <p:ph sz="quarter" idx="20" hasCustomPrompt="1"/>
          </p:nvPr>
        </p:nvSpPr>
        <p:spPr>
          <a:xfrm>
            <a:off x="152400" y="762000"/>
            <a:ext cx="8839200" cy="2286000"/>
          </a:xfrm>
          <a:prstGeom prst="rect">
            <a:avLst/>
          </a:prstGeom>
        </p:spPr>
        <p:txBody>
          <a:bodyPr anchor="ctr"/>
          <a:lstStyle>
            <a:lvl1pPr marL="0" indent="0" algn="ctr">
              <a:buNone/>
              <a:defRPr sz="3800" b="0" i="0">
                <a:latin typeface="Calibri" charset="0"/>
                <a:ea typeface="Calibri" charset="0"/>
                <a:cs typeface="Calibri"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
        <p:nvSpPr>
          <p:cNvPr id="8" name="Title "/>
          <p:cNvSpPr>
            <a:spLocks noGrp="1"/>
          </p:cNvSpPr>
          <p:nvPr>
            <p:ph type="title" hasCustomPrompt="1"/>
          </p:nvPr>
        </p:nvSpPr>
        <p:spPr>
          <a:xfrm>
            <a:off x="152400" y="3505200"/>
            <a:ext cx="8839200" cy="1524000"/>
          </a:xfrm>
          <a:prstGeom prst="rect">
            <a:avLst/>
          </a:prstGeom>
        </p:spPr>
        <p:txBody>
          <a:bodyPr anchor="b"/>
          <a:lstStyle>
            <a:lvl1pPr>
              <a:defRPr sz="6200" b="0" i="0" baseline="0">
                <a:latin typeface="Calibri Light" charset="0"/>
                <a:ea typeface="Calibri Light" charset="0"/>
                <a:cs typeface="Calibri Light" charset="0"/>
              </a:defRPr>
            </a:lvl1pPr>
          </a:lstStyle>
          <a:p>
            <a:r>
              <a:rPr lang="en-US" dirty="0"/>
              <a:t>Click to Edit Book Title</a:t>
            </a:r>
          </a:p>
        </p:txBody>
      </p:sp>
      <p:sp>
        <p:nvSpPr>
          <p:cNvPr id="15" name="Edition"/>
          <p:cNvSpPr>
            <a:spLocks noGrp="1"/>
          </p:cNvSpPr>
          <p:nvPr>
            <p:ph sz="quarter" idx="17" hasCustomPrompt="1"/>
          </p:nvPr>
        </p:nvSpPr>
        <p:spPr>
          <a:xfrm>
            <a:off x="152400" y="5029200"/>
            <a:ext cx="8839200" cy="762000"/>
          </a:xfrm>
          <a:prstGeom prst="rect">
            <a:avLst/>
          </a:prstGeom>
        </p:spPr>
        <p:txBody>
          <a:bodyPr/>
          <a:lstStyle>
            <a:lvl1pPr marL="0" indent="0" algn="ctr">
              <a:buNone/>
              <a:defRPr sz="2900" b="1" i="0" baseline="0">
                <a:latin typeface="Calibri" charset="0"/>
                <a:ea typeface="Calibri" charset="0"/>
                <a:cs typeface="Calibri" charset="0"/>
              </a:defRPr>
            </a:lvl1pPr>
          </a:lstStyle>
          <a:p>
            <a:pPr lvl="0"/>
            <a:r>
              <a:rPr lang="en-US" sz="2900" b="1" i="0" dirty="0">
                <a:latin typeface="Source Sans Pro" charset="0"/>
                <a:ea typeface="Source Sans Pro" charset="0"/>
                <a:cs typeface="Source Sans Pro" charset="0"/>
              </a:rPr>
              <a:t>Third Edition</a:t>
            </a:r>
            <a:endParaRPr lang="en-US" dirty="0"/>
          </a:p>
        </p:txBody>
      </p:sp>
      <p:sp>
        <p:nvSpPr>
          <p:cNvPr id="16" name="Author"/>
          <p:cNvSpPr>
            <a:spLocks noGrp="1"/>
          </p:cNvSpPr>
          <p:nvPr>
            <p:ph sz="quarter" idx="18" hasCustomPrompt="1"/>
          </p:nvPr>
        </p:nvSpPr>
        <p:spPr>
          <a:xfrm>
            <a:off x="152400" y="6096000"/>
            <a:ext cx="8839200" cy="533400"/>
          </a:xfrm>
          <a:prstGeom prst="rect">
            <a:avLst/>
          </a:prstGeom>
        </p:spPr>
        <p:txBody>
          <a:bodyPr/>
          <a:lstStyle>
            <a:lvl1pPr marL="0" indent="0" algn="ctr">
              <a:buNone/>
              <a:defRPr b="0" i="0" baseline="0">
                <a:solidFill>
                  <a:schemeClr val="accent2"/>
                </a:solidFill>
                <a:latin typeface="Calibri" charset="0"/>
                <a:ea typeface="Calibri" charset="0"/>
                <a:cs typeface="Calibri" charset="0"/>
              </a:defRPr>
            </a:lvl1pPr>
          </a:lstStyle>
          <a:p>
            <a:pPr lvl="0"/>
            <a:r>
              <a:rPr lang="en-US" b="0" i="0" dirty="0">
                <a:latin typeface="Source Sans Pro" charset="0"/>
                <a:ea typeface="Source Sans Pro" charset="0"/>
                <a:cs typeface="Source Sans Pro" charset="0"/>
              </a:rPr>
              <a:t>David Klein</a:t>
            </a:r>
            <a:endParaRPr lang="en-US" dirty="0"/>
          </a:p>
        </p:txBody>
      </p:sp>
    </p:spTree>
    <p:extLst>
      <p:ext uri="{BB962C8B-B14F-4D97-AF65-F5344CB8AC3E}">
        <p14:creationId xmlns:p14="http://schemas.microsoft.com/office/powerpoint/2010/main" val="1064232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Outline: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95274" y="777241"/>
            <a:ext cx="8543926"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13" name="COBBL"/>
          <p:cNvSpPr>
            <a:spLocks noGrp="1"/>
          </p:cNvSpPr>
          <p:nvPr>
            <p:ph sz="quarter" idx="10" hasCustomPrompt="1"/>
          </p:nvPr>
        </p:nvSpPr>
        <p:spPr>
          <a:xfrm>
            <a:off x="304800" y="1752600"/>
            <a:ext cx="8534400" cy="4495800"/>
          </a:xfrm>
          <a:prstGeom prst="rect">
            <a:avLst/>
          </a:prstGeom>
        </p:spPr>
        <p:txBody>
          <a:bodyPr/>
          <a:lstStyle>
            <a:lvl1pPr marL="295275" indent="-295275">
              <a:buClr>
                <a:schemeClr val="accent2"/>
              </a:buClr>
              <a:tabLst/>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One-Column</a:t>
            </a:r>
          </a:p>
          <a:p>
            <a:pPr lvl="0"/>
            <a:r>
              <a:rPr lang="en-US" dirty="0"/>
              <a:t>It Is One-Column Only</a:t>
            </a:r>
          </a:p>
          <a:p>
            <a:pPr lvl="0"/>
            <a:r>
              <a:rPr lang="en-US" dirty="0"/>
              <a:t>This Outline Has H1 Headings Only</a:t>
            </a:r>
          </a:p>
          <a:p>
            <a:pPr lvl="0"/>
            <a:r>
              <a:rPr lang="en-US" dirty="0"/>
              <a:t>The Headings Are in Title Case, Matching the </a:t>
            </a:r>
            <a:r>
              <a:rPr lang="en-US" dirty="0" err="1"/>
              <a:t>eText</a:t>
            </a:r>
            <a:r>
              <a:rPr lang="en-US" dirty="0"/>
              <a:t>; This Can Vary by Title</a:t>
            </a:r>
          </a:p>
          <a:p>
            <a:pPr lvl="0"/>
            <a:r>
              <a:rPr lang="en-US" dirty="0"/>
              <a:t>This List Is Bulleted</a:t>
            </a:r>
          </a:p>
          <a:p>
            <a:pPr lvl="0"/>
            <a:r>
              <a:rPr lang="en-US" dirty="0"/>
              <a:t>The Outline Slide Has a Footer</a:t>
            </a:r>
          </a:p>
          <a:p>
            <a:pPr lvl="0"/>
            <a:r>
              <a:rPr lang="en-US" dirty="0"/>
              <a:t>Outline Items Usually Have No Ending Punctuation</a:t>
            </a:r>
          </a:p>
        </p:txBody>
      </p:sp>
      <p:sp>
        <p:nvSpPr>
          <p:cNvPr id="4" name="Slide Number Placeholder 3"/>
          <p:cNvSpPr>
            <a:spLocks noGrp="1"/>
          </p:cNvSpPr>
          <p:nvPr>
            <p:ph type="sldNum" sz="quarter" idx="12"/>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866936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pter Outline: Version B">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BL 2-col"/>
          <p:cNvSpPr>
            <a:spLocks noGrp="1"/>
          </p:cNvSpPr>
          <p:nvPr>
            <p:ph sz="quarter" idx="12" hasCustomPrompt="1"/>
          </p:nvPr>
        </p:nvSpPr>
        <p:spPr>
          <a:xfrm>
            <a:off x="304800" y="1752600"/>
            <a:ext cx="8534400" cy="4603750"/>
          </a:xfrm>
          <a:prstGeom prst="rect">
            <a:avLst/>
          </a:prstGeom>
        </p:spPr>
        <p:txBody>
          <a:bodyPr numCol="2" spcCol="548640"/>
          <a:lstStyle>
            <a:lvl1pPr marL="292608" marR="0" indent="-292608" algn="l" defTabSz="914400" rtl="0" eaLnBrk="1" fontAlgn="auto" latinLnBrk="0" hangingPunct="1">
              <a:lnSpc>
                <a:spcPct val="90000"/>
              </a:lnSpc>
              <a:spcBef>
                <a:spcPts val="1000"/>
              </a:spcBef>
              <a:spcAft>
                <a:spcPts val="0"/>
              </a:spcAft>
              <a:buClr>
                <a:schemeClr val="accent2"/>
              </a:buClr>
              <a:buSzTx/>
              <a:buFont typeface="Arial"/>
              <a:buChar char="•"/>
              <a:tabLst/>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Two-Column</a:t>
            </a:r>
          </a:p>
          <a:p>
            <a:pPr lvl="0"/>
            <a:r>
              <a:rPr lang="en-US" dirty="0"/>
              <a:t>This Outline Has No Sub-lists</a:t>
            </a:r>
          </a:p>
          <a:p>
            <a:pPr lvl="0"/>
            <a:r>
              <a:rPr lang="en-US" dirty="0"/>
              <a:t>This List Is Bulleted</a:t>
            </a:r>
          </a:p>
          <a:p>
            <a:pPr lvl="0"/>
            <a:r>
              <a:rPr lang="en-US" dirty="0"/>
              <a:t>The Outline Slide Has A Footer</a:t>
            </a:r>
          </a:p>
          <a:p>
            <a:pPr lvl="0"/>
            <a:r>
              <a:rPr lang="en-US" dirty="0"/>
              <a:t>Outline Items Usually Have No Ending Punctuation</a:t>
            </a:r>
          </a:p>
          <a:p>
            <a:pPr lvl="0"/>
            <a:r>
              <a:rPr lang="en-US" dirty="0"/>
              <a:t>This is Another Heading</a:t>
            </a:r>
          </a:p>
          <a:p>
            <a:pPr lvl="0"/>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lvl="0"/>
            <a:endParaRPr lang="en-US" dirty="0"/>
          </a:p>
        </p:txBody>
      </p:sp>
      <p:sp>
        <p:nvSpPr>
          <p:cNvPr id="7" name="Slide Number Placeholder 6"/>
          <p:cNvSpPr>
            <a:spLocks noGrp="1"/>
          </p:cNvSpPr>
          <p:nvPr>
            <p:ph type="sldNum" sz="quarter" idx="14"/>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3"/>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993600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pter Outline: Version C1 (single#)">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2" hasCustomPrompt="1"/>
          </p:nvPr>
        </p:nvSpPr>
        <p:spPr>
          <a:xfrm>
            <a:off x="304800" y="1752600"/>
            <a:ext cx="8534400" cy="4495800"/>
          </a:xfrm>
          <a:prstGeom prst="rect">
            <a:avLst/>
          </a:prstGeom>
        </p:spPr>
        <p:txBody>
          <a:bodyPr/>
          <a:lstStyle>
            <a:lvl1pPr marL="514350" indent="-514350">
              <a:buClr>
                <a:schemeClr val="accent2"/>
              </a:buClr>
              <a:buFont typeface="+mj-lt"/>
              <a:buAutoNum type="arabicPeriod"/>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One-Column</a:t>
            </a:r>
          </a:p>
          <a:p>
            <a:pPr lvl="0"/>
            <a:r>
              <a:rPr lang="en-US" dirty="0"/>
              <a:t>It Is One-Column Only</a:t>
            </a:r>
          </a:p>
          <a:p>
            <a:pPr lvl="0"/>
            <a:r>
              <a:rPr lang="en-US" dirty="0"/>
              <a:t>This Outline Has H1 Headings Only</a:t>
            </a:r>
          </a:p>
          <a:p>
            <a:pPr lvl="0"/>
            <a:r>
              <a:rPr lang="en-US" dirty="0"/>
              <a:t>The Headings Are in Title Case, Matching the </a:t>
            </a:r>
            <a:r>
              <a:rPr lang="en-US" dirty="0" err="1"/>
              <a:t>eText</a:t>
            </a:r>
            <a:r>
              <a:rPr lang="en-US" dirty="0"/>
              <a:t>; This Can Vary by Title</a:t>
            </a:r>
          </a:p>
          <a:p>
            <a:pPr lvl="0"/>
            <a:r>
              <a:rPr lang="en-US" dirty="0"/>
              <a:t>This List Is Numbered</a:t>
            </a:r>
          </a:p>
          <a:p>
            <a:pPr lvl="0"/>
            <a:r>
              <a:rPr lang="en-US" dirty="0"/>
              <a:t>The Outline Slide Has a Footer</a:t>
            </a:r>
          </a:p>
          <a:p>
            <a:pPr lvl="0"/>
            <a:r>
              <a:rPr lang="en-US" dirty="0"/>
              <a:t>Outline Items Usually Have No Ending Punctuation</a:t>
            </a:r>
          </a:p>
        </p:txBody>
      </p:sp>
      <p:sp>
        <p:nvSpPr>
          <p:cNvPr id="7" name="Slide Number Placeholder 6"/>
          <p:cNvSpPr>
            <a:spLocks noGrp="1"/>
          </p:cNvSpPr>
          <p:nvPr>
            <p:ph type="sldNum" sz="quarter" idx="14"/>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3"/>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786427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pter Outline: Version C2 (double#)">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10" name="COBNL"/>
          <p:cNvSpPr>
            <a:spLocks noGrp="1"/>
          </p:cNvSpPr>
          <p:nvPr>
            <p:ph sz="quarter" idx="14" hasCustomPrompt="1"/>
          </p:nvPr>
        </p:nvSpPr>
        <p:spPr>
          <a:xfrm>
            <a:off x="304800" y="1752600"/>
            <a:ext cx="8534400" cy="4114800"/>
          </a:xfrm>
          <a:prstGeom prst="rect">
            <a:avLst/>
          </a:prstGeom>
        </p:spPr>
        <p:txBody>
          <a:bodyPr/>
          <a:lstStyle>
            <a:lvl1pPr marL="803275" indent="-803275">
              <a:buNone/>
              <a:tabLst/>
              <a:defRPr sz="2800" b="0" i="0" baseline="0">
                <a:latin typeface="Calibri" charset="0"/>
                <a:ea typeface="Calibri" charset="0"/>
                <a:cs typeface="Calibri" charset="0"/>
              </a:defRPr>
            </a:lvl1pPr>
          </a:lstStyle>
          <a:p>
            <a:pPr lvl="0"/>
            <a:r>
              <a:rPr lang="en-US" dirty="0"/>
              <a:t>1.1	This Is a Sample Outline for One-Column and Double-numbered</a:t>
            </a:r>
          </a:p>
          <a:p>
            <a:pPr lvl="0"/>
            <a:r>
              <a:rPr lang="en-US" dirty="0"/>
              <a:t>1.2	It is One-column Only</a:t>
            </a:r>
          </a:p>
          <a:p>
            <a:pPr lvl="0"/>
            <a:r>
              <a:rPr lang="en-US" dirty="0"/>
              <a:t>1.3	This Outline Has No Sub-lists</a:t>
            </a:r>
          </a:p>
          <a:p>
            <a:pPr lvl="0"/>
            <a:r>
              <a:rPr lang="en-US" dirty="0"/>
              <a:t>1.4	This List Is Double-numbered</a:t>
            </a:r>
          </a:p>
          <a:p>
            <a:pPr lvl="0"/>
            <a:r>
              <a:rPr lang="en-US" dirty="0"/>
              <a:t>1.5	The Outline Slide Has a Footer</a:t>
            </a:r>
          </a:p>
          <a:p>
            <a:pPr lvl="0"/>
            <a:r>
              <a:rPr lang="en-US" dirty="0"/>
              <a:t>10.6	Outline Items Usually Have No Ending Punctuation</a:t>
            </a:r>
          </a:p>
        </p:txBody>
      </p:sp>
      <p:sp>
        <p:nvSpPr>
          <p:cNvPr id="8" name="Slide Number Placeholder 7"/>
          <p:cNvSpPr>
            <a:spLocks noGrp="1"/>
          </p:cNvSpPr>
          <p:nvPr>
            <p:ph type="sldNum" sz="quarter" idx="16"/>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5"/>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123572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pter Outline: Version D">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8" name="COBBL"/>
          <p:cNvSpPr>
            <a:spLocks noGrp="1"/>
          </p:cNvSpPr>
          <p:nvPr>
            <p:ph sz="quarter" idx="12" hasCustomPrompt="1"/>
          </p:nvPr>
        </p:nvSpPr>
        <p:spPr>
          <a:xfrm>
            <a:off x="304800" y="1752600"/>
            <a:ext cx="8534400" cy="4495800"/>
          </a:xfrm>
          <a:prstGeom prst="rect">
            <a:avLst/>
          </a:prstGeom>
        </p:spPr>
        <p:txBody>
          <a:bodyPr/>
          <a:lstStyle>
            <a:lvl1pPr marL="292608" marR="0" indent="-292608" algn="l" defTabSz="914400" rtl="0" eaLnBrk="1" fontAlgn="auto" latinLnBrk="0" hangingPunct="1">
              <a:lnSpc>
                <a:spcPct val="90000"/>
              </a:lnSpc>
              <a:spcBef>
                <a:spcPts val="1000"/>
              </a:spcBef>
              <a:spcAft>
                <a:spcPts val="0"/>
              </a:spcAft>
              <a:buClr>
                <a:schemeClr val="accent2"/>
              </a:buClr>
              <a:buSzTx/>
              <a:buFont typeface="Arial"/>
              <a:buChar char="•"/>
              <a:tabLst/>
              <a:defRPr sz="2800" b="0" i="0" baseline="0">
                <a:latin typeface="Calibri" charset="0"/>
                <a:ea typeface="Calibri" charset="0"/>
                <a:cs typeface="Calibri" charset="0"/>
              </a:defRPr>
            </a:lvl1pPr>
            <a:lvl2pPr marL="621792" marR="0" indent="-320040" algn="l" defTabSz="914400" rtl="0" eaLnBrk="1" fontAlgn="auto" latinLnBrk="0" hangingPunct="1">
              <a:lnSpc>
                <a:spcPct val="90000"/>
              </a:lnSpc>
              <a:spcBef>
                <a:spcPts val="500"/>
              </a:spcBef>
              <a:spcAft>
                <a:spcPts val="0"/>
              </a:spcAft>
              <a:buClr>
                <a:schemeClr val="accent2"/>
              </a:buClr>
              <a:buSzPct val="80000"/>
              <a:buFont typeface="Courier New" charset="0"/>
              <a:buChar char="o"/>
              <a:tabLst/>
              <a:defRPr sz="2400" b="0" i="0" baseline="0">
                <a:latin typeface="Calibri" charset="0"/>
                <a:ea typeface="Calibri" charset="0"/>
                <a:cs typeface="Calibri"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1-Column </a:t>
            </a:r>
          </a:p>
          <a:p>
            <a:pPr lvl="1"/>
            <a:r>
              <a:rPr lang="en-US" dirty="0"/>
              <a:t>It Has H2s</a:t>
            </a:r>
          </a:p>
          <a:p>
            <a:pPr lvl="0"/>
            <a:r>
              <a:rPr lang="en-US" dirty="0"/>
              <a:t>It Is One-column Only</a:t>
            </a:r>
          </a:p>
          <a:p>
            <a:pPr lvl="1"/>
            <a:r>
              <a:rPr lang="en-US" dirty="0"/>
              <a:t>It Will Probably Not Have Art</a:t>
            </a:r>
          </a:p>
          <a:p>
            <a:pPr lvl="0"/>
            <a:r>
              <a:rPr lang="en-US" dirty="0"/>
              <a:t>This Is a Bulleted List</a:t>
            </a:r>
          </a:p>
          <a:p>
            <a:pPr lvl="1"/>
            <a:r>
              <a:rPr lang="en-US" dirty="0"/>
              <a:t>Make Sure That Any Links Included Here, for Any Reason, Have Descriptive Hyperlinks</a:t>
            </a:r>
          </a:p>
          <a:p>
            <a:pPr lvl="0"/>
            <a:r>
              <a:rPr lang="en-US" dirty="0"/>
              <a:t>Outline Items Usually Have No Ending Punctuation</a:t>
            </a:r>
          </a:p>
          <a:p>
            <a:pPr lvl="1"/>
            <a:r>
              <a:rPr lang="en-US" dirty="0"/>
              <a:t>There is a Footer</a:t>
            </a:r>
          </a:p>
        </p:txBody>
      </p:sp>
      <p:sp>
        <p:nvSpPr>
          <p:cNvPr id="4" name="Slide Number Placeholder 3"/>
          <p:cNvSpPr>
            <a:spLocks noGrp="1"/>
          </p:cNvSpPr>
          <p:nvPr>
            <p:ph type="sldNum" sz="quarter" idx="11"/>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0"/>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837909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Outline: Version E1 (singl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304800" y="1752600"/>
            <a:ext cx="8534400" cy="4419600"/>
          </a:xfrm>
          <a:prstGeom prst="rect">
            <a:avLst/>
          </a:prstGeom>
        </p:spPr>
        <p:txBody>
          <a:bodyPr/>
          <a:lstStyle>
            <a:lvl1pPr marL="465138" indent="-465138">
              <a:buClr>
                <a:schemeClr val="accent2"/>
              </a:buClr>
              <a:buFont typeface="+mj-lt"/>
              <a:buAutoNum type="arabicPeriod"/>
              <a:tabLst/>
              <a:defRPr sz="2800" b="0" i="0" baseline="0">
                <a:latin typeface="Calibri" charset="0"/>
                <a:ea typeface="Calibri" charset="0"/>
                <a:cs typeface="Calibri" charset="0"/>
              </a:defRPr>
            </a:lvl1pPr>
            <a:lvl2pPr marL="803275" indent="-282575">
              <a:buClr>
                <a:schemeClr val="accent2"/>
              </a:buClr>
              <a:tabLst/>
              <a:defRPr sz="2400" b="0" i="0" baseline="0">
                <a:latin typeface="Calibri" charset="0"/>
                <a:ea typeface="Calibri" charset="0"/>
                <a:cs typeface="Calibri" charset="0"/>
              </a:defRPr>
            </a:lvl2pPr>
            <a:lvl3pPr marL="803275" marR="0" indent="-282575"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This Is a Sample Outline for One-Column and single number</a:t>
            </a:r>
          </a:p>
          <a:p>
            <a:pPr lvl="1"/>
            <a:r>
              <a:rPr lang="en-US" dirty="0"/>
              <a:t>The H2 Level Does Not Have a Number</a:t>
            </a:r>
          </a:p>
          <a:p>
            <a:pPr lvl="2"/>
            <a:r>
              <a:rPr lang="en-US" dirty="0"/>
              <a:t>One of the Subheadings May Be a Special Feature  </a:t>
            </a:r>
          </a:p>
          <a:p>
            <a:pPr lvl="0"/>
            <a:r>
              <a:rPr lang="en-US" dirty="0"/>
              <a:t>This Outline Has Two Levels</a:t>
            </a:r>
          </a:p>
          <a:p>
            <a:pPr lvl="1"/>
            <a:r>
              <a:rPr lang="en-US" dirty="0"/>
              <a:t>Outline Items Usually Have No Ending Punctuation</a:t>
            </a:r>
          </a:p>
          <a:p>
            <a:pPr marL="803275" marR="0" lvl="2" indent="-282575" algn="l" defTabSz="914400" rtl="0" eaLnBrk="1" fontAlgn="auto" latinLnBrk="0" hangingPunct="1">
              <a:lnSpc>
                <a:spcPct val="90000"/>
              </a:lnSpc>
              <a:spcBef>
                <a:spcPts val="500"/>
              </a:spcBef>
              <a:spcAft>
                <a:spcPts val="0"/>
              </a:spcAft>
              <a:buClrTx/>
              <a:buSzTx/>
              <a:buFont typeface="Arial"/>
              <a:buChar char="•"/>
              <a:tabLst/>
              <a:defRPr/>
            </a:pPr>
            <a:r>
              <a:rPr lang="en-US" dirty="0"/>
              <a:t>Special Feature</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263432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Outline: Version E2 (doubl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304800" y="1752600"/>
            <a:ext cx="8534400" cy="4343400"/>
          </a:xfrm>
          <a:prstGeom prst="rect">
            <a:avLst/>
          </a:prstGeom>
        </p:spPr>
        <p:txBody>
          <a:bodyPr/>
          <a:lstStyle>
            <a:lvl1pPr marL="803275" indent="-803275">
              <a:buNone/>
              <a:tabLst/>
              <a:defRPr sz="2800" b="0" i="0" baseline="0">
                <a:latin typeface="Calibri" charset="0"/>
                <a:ea typeface="Calibri" charset="0"/>
                <a:cs typeface="Calibri" charset="0"/>
              </a:defRPr>
            </a:lvl1pPr>
            <a:lvl2pPr marL="1143000" indent="-292608">
              <a:buClr>
                <a:schemeClr val="accent2"/>
              </a:buClr>
              <a:defRPr sz="2400" b="0" i="0" baseline="0">
                <a:latin typeface="Calibri" charset="0"/>
                <a:ea typeface="Calibri" charset="0"/>
                <a:cs typeface="Calibri" charset="0"/>
              </a:defRPr>
            </a:lvl2pPr>
            <a:lvl3pPr marL="1143000" marR="0" indent="-292608"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1.1	This Is a Sample Outline for One-Column and Double-numbered</a:t>
            </a:r>
          </a:p>
          <a:p>
            <a:pPr lvl="1"/>
            <a:r>
              <a:rPr lang="en-US" dirty="0"/>
              <a:t>The H2 Level Does Not Have a Number</a:t>
            </a:r>
          </a:p>
          <a:p>
            <a:pPr lvl="2"/>
            <a:r>
              <a:rPr lang="en-US" dirty="0"/>
              <a:t>One of the Subheadings May Be a Special Feature </a:t>
            </a:r>
          </a:p>
          <a:p>
            <a:pPr lvl="0"/>
            <a:r>
              <a:rPr lang="en-US" dirty="0"/>
              <a:t>10.2	This Outline Has Two Levels</a:t>
            </a:r>
          </a:p>
          <a:p>
            <a:pPr lvl="1"/>
            <a:r>
              <a:rPr lang="en-US" dirty="0"/>
              <a:t>Outline Items Usually Have No Ending Punctuation</a:t>
            </a:r>
          </a:p>
          <a:p>
            <a:pPr lvl="2"/>
            <a:r>
              <a:rPr lang="en-US" dirty="0"/>
              <a:t>Special Feature </a:t>
            </a:r>
          </a:p>
        </p:txBody>
      </p:sp>
      <p:sp>
        <p:nvSpPr>
          <p:cNvPr id="4" name="Slide Number Placeholder 3"/>
          <p:cNvSpPr>
            <a:spLocks noGrp="1"/>
          </p:cNvSpPr>
          <p:nvPr>
            <p:ph type="sldNum" sz="quarter" idx="11"/>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0"/>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04265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Outline: Version E1">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
          <p:cNvSpPr>
            <a:spLocks noGrp="1"/>
          </p:cNvSpPr>
          <p:nvPr>
            <p:ph sz="quarter" idx="14" hasCustomPrompt="1"/>
          </p:nvPr>
        </p:nvSpPr>
        <p:spPr>
          <a:xfrm>
            <a:off x="304800" y="1752600"/>
            <a:ext cx="8534400" cy="4495800"/>
          </a:xfrm>
          <a:prstGeom prst="rect">
            <a:avLst/>
          </a:prstGeom>
        </p:spPr>
        <p:txBody>
          <a:bodyPr/>
          <a:lstStyle>
            <a:lvl1pPr marL="0" indent="0">
              <a:buFont typeface="+mj-lt"/>
              <a:buNone/>
              <a:tabLst/>
              <a:defRPr sz="2800" b="0" i="0" baseline="0">
                <a:latin typeface="Calibri" charset="0"/>
                <a:ea typeface="Calibri" charset="0"/>
                <a:cs typeface="Calibri" charset="0"/>
              </a:defRPr>
            </a:lvl1pPr>
            <a:lvl2pPr marL="803275" indent="-282575">
              <a:tabLst/>
              <a:defRPr sz="2400" b="0" i="0" baseline="0">
                <a:latin typeface="Calibri" charset="0"/>
                <a:ea typeface="Calibri" charset="0"/>
                <a:cs typeface="Calibri" charset="0"/>
              </a:defRPr>
            </a:lvl2pPr>
            <a:lvl3pPr marL="803275" marR="0" indent="-282575"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This Is a Sample Outline with No Numbers and One-column</a:t>
            </a:r>
          </a:p>
          <a:p>
            <a:pPr lvl="1"/>
            <a:r>
              <a:rPr lang="en-US" dirty="0"/>
              <a:t>The H2 Level Does Not Have a Number</a:t>
            </a:r>
          </a:p>
          <a:p>
            <a:pPr lvl="2"/>
            <a:r>
              <a:rPr lang="en-US" dirty="0"/>
              <a:t>One of the Subheadings May Be a Special Feature  </a:t>
            </a:r>
          </a:p>
          <a:p>
            <a:pPr lvl="0"/>
            <a:r>
              <a:rPr lang="en-US" dirty="0"/>
              <a:t>This Outline Has Two Levels</a:t>
            </a:r>
          </a:p>
          <a:p>
            <a:pPr lvl="1"/>
            <a:r>
              <a:rPr lang="en-US" dirty="0"/>
              <a:t>Outline Items Usually Have No Ending Punctuation</a:t>
            </a:r>
          </a:p>
          <a:p>
            <a:pPr marL="803275" marR="0" lvl="2" indent="-282575" algn="l" defTabSz="914400" rtl="0" eaLnBrk="1" fontAlgn="auto" latinLnBrk="0" hangingPunct="1">
              <a:lnSpc>
                <a:spcPct val="90000"/>
              </a:lnSpc>
              <a:spcBef>
                <a:spcPts val="500"/>
              </a:spcBef>
              <a:spcAft>
                <a:spcPts val="0"/>
              </a:spcAft>
              <a:buClrTx/>
              <a:buSzTx/>
              <a:buFont typeface="Arial"/>
              <a:buChar char="•"/>
              <a:tabLst/>
              <a:defRPr/>
            </a:pPr>
            <a:r>
              <a:rPr lang="en-US" dirty="0"/>
              <a:t>Special Feature</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3403783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apter Outline: Version F1">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304800" y="1752600"/>
            <a:ext cx="8534400" cy="4419600"/>
          </a:xfrm>
          <a:prstGeom prst="rect">
            <a:avLst/>
          </a:prstGeom>
        </p:spPr>
        <p:txBody>
          <a:bodyPr numCol="2"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Calibri" charset="0"/>
                <a:ea typeface="Calibri" charset="0"/>
                <a:cs typeface="Calibri" charset="0"/>
              </a:defRPr>
            </a:lvl1pPr>
          </a:lstStyle>
          <a:p>
            <a:pPr lvl="0"/>
            <a:r>
              <a:rPr lang="en-US" dirty="0"/>
              <a:t>1.1	This Is a Sample Outline for Two-Column and Double-numbered</a:t>
            </a:r>
          </a:p>
          <a:p>
            <a:pPr lvl="0"/>
            <a:r>
              <a:rPr lang="en-US" dirty="0"/>
              <a:t>1.2	It is Two-column </a:t>
            </a:r>
          </a:p>
          <a:p>
            <a:pPr lvl="0"/>
            <a:r>
              <a:rPr lang="en-US" dirty="0"/>
              <a:t>1.3	This Outline Has No Sub-lists</a:t>
            </a:r>
          </a:p>
          <a:p>
            <a:pPr lvl="0"/>
            <a:r>
              <a:rPr lang="en-US" dirty="0"/>
              <a:t>1.4	This List Is Double-numbered</a:t>
            </a:r>
          </a:p>
          <a:p>
            <a:pPr lvl="0"/>
            <a:r>
              <a:rPr lang="en-US" dirty="0"/>
              <a:t>1.5	The Outline Slide Has a Footer</a:t>
            </a:r>
          </a:p>
          <a:p>
            <a:pPr lvl="0"/>
            <a:r>
              <a:rPr lang="en-US" dirty="0"/>
              <a:t>1.6	Outline Items Usually Have No Ending Punctuation</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1.7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1.8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1.10	Another Heading</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20518789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ter Outline: Version F2 (2 text boxes)">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1"/>
          <p:cNvSpPr>
            <a:spLocks noGrp="1"/>
          </p:cNvSpPr>
          <p:nvPr>
            <p:ph sz="quarter" idx="14" hasCustomPrompt="1"/>
          </p:nvPr>
        </p:nvSpPr>
        <p:spPr>
          <a:xfrm>
            <a:off x="304800" y="1752600"/>
            <a:ext cx="4038600" cy="4419600"/>
          </a:xfrm>
          <a:prstGeom prst="rect">
            <a:avLst/>
          </a:prstGeom>
        </p:spPr>
        <p:txBody>
          <a:bodyPr numCol="1"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Calibri" charset="0"/>
                <a:ea typeface="Calibri" charset="0"/>
                <a:cs typeface="Calibri" charset="0"/>
              </a:defRPr>
            </a:lvl1pPr>
          </a:lstStyle>
          <a:p>
            <a:pPr lvl="0"/>
            <a:r>
              <a:rPr lang="en-US" dirty="0"/>
              <a:t>1.1	This Is a Sample Outline for Two-Column (2 Boxes) and Double-numbered</a:t>
            </a:r>
          </a:p>
          <a:p>
            <a:pPr lvl="0"/>
            <a:r>
              <a:rPr lang="en-US" dirty="0"/>
              <a:t>1.2	It is Two-column </a:t>
            </a:r>
          </a:p>
          <a:p>
            <a:pPr lvl="0"/>
            <a:r>
              <a:rPr lang="en-US" dirty="0"/>
              <a:t>1.3	This Outline Has No Sub-lists</a:t>
            </a:r>
          </a:p>
          <a:p>
            <a:pPr lvl="0"/>
            <a:r>
              <a:rPr lang="en-US" dirty="0"/>
              <a:t>1.4	This List Is Double-numbered</a:t>
            </a:r>
          </a:p>
        </p:txBody>
      </p:sp>
      <p:sp>
        <p:nvSpPr>
          <p:cNvPr id="7" name="COBNL2"/>
          <p:cNvSpPr>
            <a:spLocks noGrp="1"/>
          </p:cNvSpPr>
          <p:nvPr>
            <p:ph sz="quarter" idx="15" hasCustomPrompt="1"/>
          </p:nvPr>
        </p:nvSpPr>
        <p:spPr>
          <a:xfrm>
            <a:off x="4767262" y="1752600"/>
            <a:ext cx="4038600" cy="4419600"/>
          </a:xfrm>
          <a:prstGeom prst="rect">
            <a:avLst/>
          </a:prstGeom>
        </p:spPr>
        <p:txBody>
          <a:bodyPr numCol="1"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Calibri" charset="0"/>
                <a:ea typeface="Calibri" charset="0"/>
                <a:cs typeface="Calibri" charset="0"/>
              </a:defRPr>
            </a:lvl1pPr>
          </a:lstStyle>
          <a:p>
            <a:pPr lvl="0"/>
            <a:r>
              <a:rPr lang="en-US" dirty="0"/>
              <a:t>1.5	The Outline Slide Has a Footer</a:t>
            </a:r>
          </a:p>
          <a:p>
            <a:pPr lvl="0"/>
            <a:r>
              <a:rPr lang="en-US" dirty="0"/>
              <a:t>1.6	Outline Items Usually Have No Ending Punctuation</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1.7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1.8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1.9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1.10	Another Heading</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4100604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utline: Version G">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5" name="Content Placeholder 4"/>
          <p:cNvSpPr>
            <a:spLocks noGrp="1"/>
          </p:cNvSpPr>
          <p:nvPr>
            <p:ph sz="quarter" idx="15" hasCustomPrompt="1"/>
          </p:nvPr>
        </p:nvSpPr>
        <p:spPr>
          <a:xfrm>
            <a:off x="304800" y="1752600"/>
            <a:ext cx="8534400" cy="4419600"/>
          </a:xfrm>
          <a:prstGeom prst="rect">
            <a:avLst/>
          </a:prstGeom>
        </p:spPr>
        <p:txBody>
          <a:bodyPr/>
          <a:lstStyle>
            <a:lvl1pPr marL="0" indent="0">
              <a:buNone/>
              <a:defRPr sz="2800" baseline="0"/>
            </a:lvl1pPr>
            <a:lvl2pPr marL="457200" indent="-446088">
              <a:spcBef>
                <a:spcPts val="2000"/>
              </a:spcBef>
              <a:buFont typeface="+mj-lt"/>
              <a:buNone/>
              <a:tabLst/>
              <a:defRPr sz="2800">
                <a:solidFill>
                  <a:schemeClr val="accent2"/>
                </a:solidFill>
              </a:defRPr>
            </a:lvl2pPr>
            <a:lvl3pPr marL="688975" indent="-400050">
              <a:spcBef>
                <a:spcPts val="1000"/>
              </a:spcBef>
              <a:buClr>
                <a:schemeClr val="accent2"/>
              </a:buClr>
              <a:buFont typeface="+mj-lt"/>
              <a:buAutoNum type="arabicPeriod"/>
              <a:tabLst/>
              <a:defRPr sz="2800"/>
            </a:lvl3pPr>
            <a:lvl4pPr marL="1371600" indent="0">
              <a:buNone/>
              <a:defRPr sz="2800"/>
            </a:lvl4pPr>
            <a:lvl5pPr marL="1828800" indent="0">
              <a:buNone/>
              <a:defRPr sz="2800"/>
            </a:lvl5pPr>
          </a:lstStyle>
          <a:p>
            <a:pPr lvl="0"/>
            <a:r>
              <a:rPr lang="en-US" dirty="0"/>
              <a:t>This Is a Sample Outline with No Numbers</a:t>
            </a:r>
          </a:p>
          <a:p>
            <a:pPr lvl="1"/>
            <a:r>
              <a:rPr lang="en-US" dirty="0"/>
              <a:t>Learning Objective</a:t>
            </a:r>
          </a:p>
          <a:p>
            <a:pPr lvl="2"/>
            <a:r>
              <a:rPr lang="en-US" dirty="0"/>
              <a:t>Describe what racial &amp; ethnic group make up Latin America.</a:t>
            </a:r>
          </a:p>
          <a:p>
            <a:pPr lvl="2"/>
            <a:r>
              <a:rPr lang="en-US" dirty="0"/>
              <a:t>Explain Latin American agricultural systems.</a:t>
            </a:r>
          </a:p>
          <a:p>
            <a:pPr lvl="2"/>
            <a:r>
              <a:rPr lang="en-US" dirty="0"/>
              <a:t>Critically evaluate models of biodiversity conservation in the Latin American context.</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 Inc. </a:t>
            </a:r>
          </a:p>
        </p:txBody>
      </p:sp>
    </p:spTree>
    <p:extLst>
      <p:ext uri="{BB962C8B-B14F-4D97-AF65-F5344CB8AC3E}">
        <p14:creationId xmlns:p14="http://schemas.microsoft.com/office/powerpoint/2010/main" val="1956338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earning Objectives: Version A">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304800" y="743712"/>
            <a:ext cx="8534400" cy="990600"/>
          </a:xfrm>
          <a:prstGeom prst="rect">
            <a:avLst/>
          </a:prstGeom>
        </p:spPr>
        <p:txBody>
          <a:bodyPr/>
          <a:lstStyle>
            <a:lvl1pPr>
              <a:defRPr sz="4000" b="0" i="0">
                <a:solidFill>
                  <a:schemeClr val="accent2"/>
                </a:solidFill>
                <a:latin typeface="Calibri" charset="0"/>
                <a:ea typeface="Calibri" charset="0"/>
                <a:cs typeface="Calibri" charset="0"/>
              </a:defRPr>
            </a:lvl1pPr>
          </a:lstStyle>
          <a:p>
            <a:r>
              <a:rPr lang="en-US" dirty="0"/>
              <a:t>Learning Objectives</a:t>
            </a:r>
          </a:p>
        </p:txBody>
      </p:sp>
      <p:sp>
        <p:nvSpPr>
          <p:cNvPr id="9" name="LONL"/>
          <p:cNvSpPr>
            <a:spLocks noGrp="1"/>
          </p:cNvSpPr>
          <p:nvPr>
            <p:ph sz="quarter" idx="16" hasCustomPrompt="1"/>
          </p:nvPr>
        </p:nvSpPr>
        <p:spPr>
          <a:xfrm>
            <a:off x="304800" y="1752600"/>
            <a:ext cx="8534400" cy="4495800"/>
          </a:xfrm>
          <a:prstGeom prst="rect">
            <a:avLst/>
          </a:prstGeom>
        </p:spPr>
        <p:txBody>
          <a:bodyPr/>
          <a:lstStyle>
            <a:lvl1pPr marL="514350" indent="-514350">
              <a:buClr>
                <a:schemeClr val="accent2"/>
              </a:buClr>
              <a:buFont typeface="+mj-lt"/>
              <a:buAutoNum type="arabicPeriod"/>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Explain the time value of money and why it is so important in the field of finance.</a:t>
            </a:r>
          </a:p>
          <a:p>
            <a:pPr lvl="0"/>
            <a:r>
              <a:rPr lang="en-US" dirty="0"/>
              <a:t>Explain the concept of future value, including the meaning of the terms principal, simple interest, and compound interest.</a:t>
            </a:r>
          </a:p>
          <a:p>
            <a:pPr lvl="0"/>
            <a:r>
              <a:rPr lang="en-US" dirty="0"/>
              <a:t>Explain the concept of present value, how it relates to future value, and is used to make business decisions.</a:t>
            </a:r>
          </a:p>
        </p:txBody>
      </p:sp>
      <p:sp>
        <p:nvSpPr>
          <p:cNvPr id="6" name="Slide Number Placeholder 5"/>
          <p:cNvSpPr>
            <a:spLocks noGrp="1"/>
          </p:cNvSpPr>
          <p:nvPr>
            <p:ph type="sldNum" sz="quarter" idx="12"/>
          </p:nvPr>
        </p:nvSpPr>
        <p:spPr>
          <a:xfrm>
            <a:off x="6457950" y="6356350"/>
            <a:ext cx="2381250" cy="365125"/>
          </a:xfrm>
          <a:prstGeom prst="rect">
            <a:avLst/>
          </a:prstGeom>
        </p:spPr>
        <p:txBody>
          <a:bodyPr/>
          <a:lstStyle>
            <a:lvl1pPr>
              <a:defRPr b="0" i="0">
                <a:latin typeface="Calibri" charset="0"/>
                <a:ea typeface="Calibri" charset="0"/>
                <a:cs typeface="Calibri" charset="0"/>
              </a:defRPr>
            </a:lvl1pPr>
          </a:lstStyle>
          <a:p>
            <a:fld id="{957104EA-F2AF-1046-9253-EE8D978719B5}" type="slidenum">
              <a:rPr lang="en-US" smtClean="0"/>
              <a:pPr/>
              <a:t>‹#›</a:t>
            </a:fld>
            <a:endParaRPr lang="en-US" dirty="0"/>
          </a:p>
        </p:txBody>
      </p:sp>
      <p:sp>
        <p:nvSpPr>
          <p:cNvPr id="5" name="Footer Placeholder 4"/>
          <p:cNvSpPr>
            <a:spLocks noGrp="1"/>
          </p:cNvSpPr>
          <p:nvPr>
            <p:ph type="ftr" sz="quarter" idx="11"/>
          </p:nvPr>
        </p:nvSpPr>
        <p:spPr>
          <a:xfrm>
            <a:off x="3028950" y="6356350"/>
            <a:ext cx="3086100" cy="365125"/>
          </a:xfrm>
          <a:prstGeom prst="rect">
            <a:avLst/>
          </a:prstGeom>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8823214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earning Objectives: Version B">
    <p:spTree>
      <p:nvGrpSpPr>
        <p:cNvPr id="1" name=""/>
        <p:cNvGrpSpPr/>
        <p:nvPr/>
      </p:nvGrpSpPr>
      <p:grpSpPr>
        <a:xfrm>
          <a:off x="0" y="0"/>
          <a:ext cx="0" cy="0"/>
          <a:chOff x="0" y="0"/>
          <a:chExt cx="0" cy="0"/>
        </a:xfrm>
      </p:grpSpPr>
      <p:sp>
        <p:nvSpPr>
          <p:cNvPr id="6" name="Title"/>
          <p:cNvSpPr>
            <a:spLocks noGrp="1"/>
          </p:cNvSpPr>
          <p:nvPr>
            <p:ph type="title" hasCustomPrompt="1"/>
          </p:nvPr>
        </p:nvSpPr>
        <p:spPr>
          <a:xfrm>
            <a:off x="304800" y="743712"/>
            <a:ext cx="8534400" cy="990600"/>
          </a:xfrm>
          <a:prstGeom prst="rect">
            <a:avLst/>
          </a:prstGeom>
        </p:spPr>
        <p:txBody>
          <a:bodyPr/>
          <a:lstStyle>
            <a:lvl1pPr>
              <a:defRPr sz="4000" b="0" i="0">
                <a:solidFill>
                  <a:schemeClr val="accent2"/>
                </a:solidFill>
                <a:latin typeface="Calibri" charset="0"/>
                <a:ea typeface="Calibri" charset="0"/>
                <a:cs typeface="Calibri" charset="0"/>
              </a:defRPr>
            </a:lvl1pPr>
          </a:lstStyle>
          <a:p>
            <a:r>
              <a:rPr lang="en-US" dirty="0"/>
              <a:t>Learning Objectives</a:t>
            </a:r>
          </a:p>
        </p:txBody>
      </p:sp>
      <p:sp>
        <p:nvSpPr>
          <p:cNvPr id="7" name="LOBL"/>
          <p:cNvSpPr>
            <a:spLocks noGrp="1"/>
          </p:cNvSpPr>
          <p:nvPr>
            <p:ph sz="quarter" idx="16" hasCustomPrompt="1"/>
          </p:nvPr>
        </p:nvSpPr>
        <p:spPr>
          <a:xfrm>
            <a:off x="304800" y="1752600"/>
            <a:ext cx="8534400" cy="4495800"/>
          </a:xfrm>
          <a:prstGeom prst="rect">
            <a:avLst/>
          </a:prstGeom>
        </p:spPr>
        <p:txBody>
          <a:bodyPr/>
          <a:lstStyle>
            <a:lvl1pPr marL="292608" indent="-292608">
              <a:buClr>
                <a:schemeClr val="accent2"/>
              </a:buClr>
              <a:buFont typeface="Arial" charset="0"/>
              <a:buChar char="•"/>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Explain the time value of money and why it is so important in the field of finance.</a:t>
            </a:r>
          </a:p>
          <a:p>
            <a:pPr lvl="0"/>
            <a:r>
              <a:rPr lang="en-US" dirty="0"/>
              <a:t>Explain the concept of future value, including the meaning of the terms principal, simple interest, and compound interest.</a:t>
            </a:r>
          </a:p>
          <a:p>
            <a:pPr lvl="0"/>
            <a:r>
              <a:rPr lang="en-US" dirty="0"/>
              <a:t>Explain the concept of present value, how it relates to future value, and is used to make business decisions.</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8177182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cept Check Question (1of 2)">
    <p:spTree>
      <p:nvGrpSpPr>
        <p:cNvPr id="1" name=""/>
        <p:cNvGrpSpPr/>
        <p:nvPr/>
      </p:nvGrpSpPr>
      <p:grpSpPr>
        <a:xfrm>
          <a:off x="0" y="0"/>
          <a:ext cx="0" cy="0"/>
          <a:chOff x="0" y="0"/>
          <a:chExt cx="0" cy="0"/>
        </a:xfrm>
      </p:grpSpPr>
      <p:sp>
        <p:nvSpPr>
          <p:cNvPr id="14" name="Title 13"/>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pPr lvl="0"/>
            <a:r>
              <a:rPr lang="en-US" dirty="0"/>
              <a:t>1.1 Periodicity Assumption</a:t>
            </a:r>
          </a:p>
        </p:txBody>
      </p:sp>
      <p:sp>
        <p:nvSpPr>
          <p:cNvPr id="5" name="Content Placeholder 4"/>
          <p:cNvSpPr>
            <a:spLocks noGrp="1"/>
          </p:cNvSpPr>
          <p:nvPr>
            <p:ph sz="quarter" idx="16" hasCustomPrompt="1"/>
          </p:nvPr>
        </p:nvSpPr>
        <p:spPr>
          <a:xfrm>
            <a:off x="304800" y="1752600"/>
            <a:ext cx="8534400" cy="4419600"/>
          </a:xfrm>
          <a:prstGeom prst="rect">
            <a:avLst/>
          </a:prstGeom>
        </p:spPr>
        <p:txBody>
          <a:bodyPr/>
          <a:lstStyle>
            <a:lvl1pPr marL="0" indent="0">
              <a:spcBef>
                <a:spcPts val="1000"/>
              </a:spcBef>
              <a:buNone/>
              <a:defRPr sz="2800" baseline="0"/>
            </a:lvl1pPr>
            <a:lvl2pPr marL="809625" indent="-460375">
              <a:spcBef>
                <a:spcPts val="1000"/>
              </a:spcBef>
              <a:buClr>
                <a:schemeClr val="accent2"/>
              </a:buClr>
              <a:buFont typeface="+mj-lt"/>
              <a:buAutoNum type="alphaLcPeriod"/>
              <a:tabLst/>
              <a:defRPr sz="2800"/>
            </a:lvl2pPr>
            <a:lvl3pPr marL="914400" indent="0">
              <a:buNone/>
              <a:defRPr sz="2800"/>
            </a:lvl3pPr>
            <a:lvl4pPr marL="1371600" indent="0">
              <a:buNone/>
              <a:defRPr sz="2800"/>
            </a:lvl4pPr>
            <a:lvl5pPr marL="1828800" indent="0">
              <a:buNone/>
              <a:defRPr sz="2800"/>
            </a:lvl5pPr>
          </a:lstStyle>
          <a:p>
            <a:pPr lvl="0"/>
            <a:r>
              <a:rPr lang="en-US" dirty="0"/>
              <a:t>Which one of these statements about the accrual basis of accounting is false?</a:t>
            </a:r>
          </a:p>
          <a:p>
            <a:pPr lvl="1"/>
            <a:r>
              <a:rPr lang="en-US" dirty="0"/>
              <a:t>Companies record events that change their financial statements in the period in which events occur, even if cash was not exchanged.</a:t>
            </a:r>
          </a:p>
          <a:p>
            <a:pPr lvl="1"/>
            <a:r>
              <a:rPr lang="en-US" dirty="0"/>
              <a:t>Companies recognize revenue in the period in which the performance obligation is satisfied.</a:t>
            </a:r>
          </a:p>
          <a:p>
            <a:pPr lvl="1"/>
            <a:r>
              <a:rPr lang="en-US" dirty="0"/>
              <a:t>This basis is accord with generally accepted accounting principles.</a:t>
            </a:r>
          </a:p>
          <a:p>
            <a:pPr lvl="1"/>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8124381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cept Check Question (2of 2)">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1.1 Periodicity Assumption</a:t>
            </a:r>
          </a:p>
        </p:txBody>
      </p:sp>
      <p:sp>
        <p:nvSpPr>
          <p:cNvPr id="12" name="Question"/>
          <p:cNvSpPr>
            <a:spLocks noGrp="1"/>
          </p:cNvSpPr>
          <p:nvPr>
            <p:ph sz="quarter" idx="15" hasCustomPrompt="1"/>
          </p:nvPr>
        </p:nvSpPr>
        <p:spPr>
          <a:xfrm>
            <a:off x="304800" y="1752600"/>
            <a:ext cx="8534400" cy="4419600"/>
          </a:xfrm>
          <a:prstGeom prst="rect">
            <a:avLst/>
          </a:prstGeom>
        </p:spPr>
        <p:txBody>
          <a:bodyPr/>
          <a:lstStyle>
            <a:lvl1pPr marL="12700" indent="0">
              <a:spcBef>
                <a:spcPts val="1000"/>
              </a:spcBef>
              <a:buNone/>
              <a:tabLst/>
              <a:defRPr sz="2800" b="0" i="0" baseline="0">
                <a:solidFill>
                  <a:schemeClr val="tx1"/>
                </a:solidFill>
                <a:latin typeface="Calibri" charset="0"/>
                <a:ea typeface="Calibri" charset="0"/>
                <a:cs typeface="Calibri" charset="0"/>
              </a:defRPr>
            </a:lvl1pPr>
            <a:lvl2pPr marL="803275" indent="-450850">
              <a:spcBef>
                <a:spcPts val="1000"/>
              </a:spcBef>
              <a:buFont typeface="+mj-lt"/>
              <a:buNone/>
              <a:tabLst/>
              <a:defRPr sz="2800" b="0" i="0" baseline="0">
                <a:solidFill>
                  <a:schemeClr val="tx1"/>
                </a:solidFill>
                <a:latin typeface="Calibri" charset="0"/>
                <a:ea typeface="Calibri" charset="0"/>
                <a:cs typeface="Calibri" charset="0"/>
              </a:defRPr>
            </a:lvl2pPr>
            <a:lvl3pPr marL="803275" indent="-790575">
              <a:buNone/>
              <a:tabLst/>
              <a:defRPr sz="2800" b="0" i="0">
                <a:latin typeface="Calibri" charset="0"/>
                <a:ea typeface="Calibri" charset="0"/>
                <a:cs typeface="Calibri" charset="0"/>
              </a:defRPr>
            </a:lvl3pPr>
          </a:lstStyle>
          <a:p>
            <a:pPr lvl="0"/>
            <a:r>
              <a:rPr lang="en-US" dirty="0"/>
              <a:t>Which one of these statements about the accrual basis of accounting is false?</a:t>
            </a:r>
          </a:p>
          <a:p>
            <a:pPr lvl="1"/>
            <a:r>
              <a:rPr lang="en-US" dirty="0"/>
              <a:t>a.	Companies record events that change their financial statements in the period in which events occur, even if cash was not exchanged.</a:t>
            </a:r>
          </a:p>
          <a:p>
            <a:pPr lvl="2"/>
            <a:r>
              <a:rPr lang="en-US" dirty="0"/>
              <a:t>✔️b.	Companies recognize revenue in the period in which the performance obligation is satisfied.</a:t>
            </a:r>
          </a:p>
          <a:p>
            <a:pPr lvl="1"/>
            <a:r>
              <a:rPr lang="en-US" dirty="0"/>
              <a:t>c.	This basis is accord with generally accepted accounting principles.</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8523935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Key Term: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768350"/>
            <a:ext cx="8534400" cy="990599"/>
          </a:xfrm>
        </p:spPr>
        <p:txBody>
          <a:bodyPr/>
          <a:lstStyle/>
          <a:p>
            <a:r>
              <a:rPr lang="en-US"/>
              <a:t>Language</a:t>
            </a:r>
            <a:endParaRPr lang="en-US" dirty="0"/>
          </a:p>
        </p:txBody>
      </p:sp>
      <p:sp>
        <p:nvSpPr>
          <p:cNvPr id="7" name="Definition of Key Term"/>
          <p:cNvSpPr>
            <a:spLocks noGrp="1"/>
          </p:cNvSpPr>
          <p:nvPr>
            <p:ph sz="quarter" idx="15" hasCustomPrompt="1"/>
          </p:nvPr>
        </p:nvSpPr>
        <p:spPr>
          <a:xfrm>
            <a:off x="304800" y="1752600"/>
            <a:ext cx="8534400" cy="4114800"/>
          </a:xfrm>
          <a:prstGeom prst="rect">
            <a:avLst/>
          </a:prstGeom>
        </p:spPr>
        <p:txBody>
          <a:bodyPr/>
          <a:lstStyle>
            <a:lvl1pPr marL="292608" indent="-292608">
              <a:spcBef>
                <a:spcPts val="1000"/>
              </a:spcBef>
              <a:buFont typeface="Arial" charset="0"/>
              <a:buChar char="•"/>
              <a:defRPr sz="3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dirty="0"/>
              <a:t>Form of communication using sounds and symbols combined according to specified rules</a:t>
            </a:r>
          </a:p>
        </p:txBody>
      </p:sp>
      <p:sp>
        <p:nvSpPr>
          <p:cNvPr id="9" name="Media LInk"/>
          <p:cNvSpPr>
            <a:spLocks noGrp="1"/>
          </p:cNvSpPr>
          <p:nvPr>
            <p:ph sz="quarter" idx="16" hasCustomPrompt="1"/>
          </p:nvPr>
        </p:nvSpPr>
        <p:spPr>
          <a:xfrm>
            <a:off x="304800" y="5867400"/>
            <a:ext cx="8534400" cy="609600"/>
          </a:xfrm>
          <a:prstGeom prst="rect">
            <a:avLst/>
          </a:prstGeom>
        </p:spPr>
        <p:txBody>
          <a:bodyPr/>
          <a:lstStyle>
            <a:lvl1pPr marL="0" indent="0" algn="r">
              <a:buNone/>
              <a:defRPr sz="2200" b="0" i="0" baseline="0">
                <a:latin typeface="Calibri" charset="0"/>
                <a:ea typeface="Calibri" charset="0"/>
                <a:cs typeface="Calibri" charset="0"/>
              </a:defRPr>
            </a:lvl1pPr>
            <a:lvl2pPr algn="r">
              <a:defRPr/>
            </a:lvl2pPr>
            <a:lvl3pPr algn="r">
              <a:defRPr/>
            </a:lvl3pPr>
            <a:lvl4pPr algn="r">
              <a:defRPr/>
            </a:lvl4pPr>
            <a:lvl5pPr algn="r">
              <a:defRPr/>
            </a:lvl5pPr>
          </a:lstStyle>
          <a:p>
            <a:pPr lvl="0"/>
            <a:r>
              <a:rPr lang="en-US" dirty="0"/>
              <a:t>Media link placeholder</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7006093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Key Term: Version 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914401"/>
            <a:ext cx="8534400" cy="990599"/>
          </a:xfrm>
        </p:spPr>
        <p:txBody>
          <a:bodyPr/>
          <a:lstStyle>
            <a:lvl1pPr>
              <a:defRPr baseline="0"/>
            </a:lvl1pPr>
          </a:lstStyle>
          <a:p>
            <a:r>
              <a:rPr lang="en-US" dirty="0"/>
              <a:t>Anatomy and Physiology Defined</a:t>
            </a:r>
          </a:p>
        </p:txBody>
      </p:sp>
      <p:sp>
        <p:nvSpPr>
          <p:cNvPr id="7" name="Definition of Key Term"/>
          <p:cNvSpPr>
            <a:spLocks noGrp="1"/>
          </p:cNvSpPr>
          <p:nvPr>
            <p:ph sz="quarter" idx="15" hasCustomPrompt="1"/>
          </p:nvPr>
        </p:nvSpPr>
        <p:spPr>
          <a:xfrm>
            <a:off x="304800" y="1905000"/>
            <a:ext cx="8534400" cy="3962400"/>
          </a:xfrm>
          <a:prstGeom prst="rect">
            <a:avLst/>
          </a:prstGeom>
        </p:spPr>
        <p:txBody>
          <a:bodyPr/>
          <a:lstStyle>
            <a:lvl1pPr marL="292608" indent="-292608">
              <a:spcBef>
                <a:spcPts val="1000"/>
              </a:spcBef>
              <a:buClr>
                <a:schemeClr val="accent2"/>
              </a:buClr>
              <a:buFont typeface="Arial" charset="0"/>
              <a:buChar char="•"/>
              <a:defRPr sz="3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dirty="0"/>
              <a:t>Anatomy is the science of structure and the relationships among structures.</a:t>
            </a:r>
          </a:p>
          <a:p>
            <a:pPr lvl="0"/>
            <a:r>
              <a:rPr lang="en-US" dirty="0"/>
              <a:t>Physiology is the science of body functions, that is, how the body parts work.</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6622711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for Figure">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11" name="Content Placeholder 10"/>
          <p:cNvSpPr>
            <a:spLocks noGrp="1"/>
          </p:cNvSpPr>
          <p:nvPr>
            <p:ph sz="quarter" idx="16"/>
          </p:nvPr>
        </p:nvSpPr>
        <p:spPr>
          <a:xfrm>
            <a:off x="304800" y="1752600"/>
            <a:ext cx="8534400" cy="3276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Figure caption"/>
          <p:cNvSpPr>
            <a:spLocks noGrp="1"/>
          </p:cNvSpPr>
          <p:nvPr>
            <p:ph sz="quarter" idx="15" hasCustomPrompt="1"/>
          </p:nvPr>
        </p:nvSpPr>
        <p:spPr>
          <a:xfrm>
            <a:off x="304800" y="5029200"/>
            <a:ext cx="8534400" cy="1143000"/>
          </a:xfrm>
          <a:prstGeom prst="rect">
            <a:avLst/>
          </a:prstGeom>
        </p:spPr>
        <p:txBody>
          <a:bodyPr/>
          <a:lstStyle>
            <a:lvl1pPr marL="0" indent="0">
              <a:spcBef>
                <a:spcPts val="1000"/>
              </a:spcBef>
              <a:buFont typeface="Arial" charset="0"/>
              <a:buNone/>
              <a:defRPr sz="2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sz="2000" dirty="0"/>
              <a:t>Figure 4.5 Figure title placeholder</a:t>
            </a:r>
          </a:p>
          <a:p>
            <a:pPr lvl="0"/>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9771030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28800"/>
            <a:ext cx="8534400" cy="4419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2539791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28800"/>
            <a:ext cx="8534400" cy="380999"/>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6">
            <a:extLst>
              <a:ext uri="{FF2B5EF4-FFF2-40B4-BE49-F238E27FC236}">
                <a16:creationId xmlns:a16="http://schemas.microsoft.com/office/drawing/2014/main" id="{FFD5900F-AA13-417D-AD3D-4C905926EE31}"/>
              </a:ext>
            </a:extLst>
          </p:cNvPr>
          <p:cNvSpPr>
            <a:spLocks noGrp="1"/>
          </p:cNvSpPr>
          <p:nvPr>
            <p:ph sz="quarter" idx="17"/>
          </p:nvPr>
        </p:nvSpPr>
        <p:spPr>
          <a:xfrm>
            <a:off x="304800" y="2286000"/>
            <a:ext cx="8534400" cy="457200"/>
          </a:xfrm>
          <a:prstGeom prst="rect">
            <a:avLst/>
          </a:prstGeom>
        </p:spPr>
        <p:txBody>
          <a:bodyPr/>
          <a:lstStyle>
            <a:lvl1pPr marL="0" indent="0">
              <a:buNone/>
              <a:defRPr/>
            </a:lvl1pPr>
          </a:lstStyle>
          <a:p>
            <a:pPr lvl="0"/>
            <a:endParaRPr lang="en-US" dirty="0"/>
          </a:p>
        </p:txBody>
      </p:sp>
      <p:sp>
        <p:nvSpPr>
          <p:cNvPr id="9" name="Content Placeholder 8">
            <a:extLst>
              <a:ext uri="{FF2B5EF4-FFF2-40B4-BE49-F238E27FC236}">
                <a16:creationId xmlns:a16="http://schemas.microsoft.com/office/drawing/2014/main" id="{84848AF1-D576-4FBF-A712-1BEB82131A85}"/>
              </a:ext>
            </a:extLst>
          </p:cNvPr>
          <p:cNvSpPr>
            <a:spLocks noGrp="1"/>
          </p:cNvSpPr>
          <p:nvPr>
            <p:ph sz="quarter" idx="18"/>
          </p:nvPr>
        </p:nvSpPr>
        <p:spPr>
          <a:xfrm>
            <a:off x="304800" y="2819400"/>
            <a:ext cx="8534400" cy="457200"/>
          </a:xfrm>
          <a:prstGeom prst="rect">
            <a:avLst/>
          </a:prstGeom>
        </p:spPr>
        <p:txBody>
          <a:bodyPr/>
          <a:lstStyle>
            <a:lvl1pPr marL="0" indent="0">
              <a:buNone/>
              <a:defRPr/>
            </a:lvl1pPr>
          </a:lstStyle>
          <a:p>
            <a:pPr lvl="0"/>
            <a:endParaRPr lang="en-US" dirty="0"/>
          </a:p>
        </p:txBody>
      </p:sp>
      <p:sp>
        <p:nvSpPr>
          <p:cNvPr id="11" name="Content Placeholder 10">
            <a:extLst>
              <a:ext uri="{FF2B5EF4-FFF2-40B4-BE49-F238E27FC236}">
                <a16:creationId xmlns:a16="http://schemas.microsoft.com/office/drawing/2014/main" id="{676B27F5-3B5F-44A3-B7D9-7B2B6279EB48}"/>
              </a:ext>
            </a:extLst>
          </p:cNvPr>
          <p:cNvSpPr>
            <a:spLocks noGrp="1"/>
          </p:cNvSpPr>
          <p:nvPr>
            <p:ph sz="quarter" idx="19"/>
          </p:nvPr>
        </p:nvSpPr>
        <p:spPr>
          <a:xfrm>
            <a:off x="304800" y="3352800"/>
            <a:ext cx="8534400" cy="457200"/>
          </a:xfrm>
          <a:prstGeom prst="rect">
            <a:avLst/>
          </a:prstGeom>
        </p:spPr>
        <p:txBody>
          <a:bodyPr/>
          <a:lstStyle>
            <a:lvl1pPr marL="0" indent="0">
              <a:buNone/>
              <a:defRPr/>
            </a:lvl1pPr>
          </a:lstStyle>
          <a:p>
            <a:pPr lvl="0"/>
            <a:endParaRPr lang="en-US" dirty="0"/>
          </a:p>
        </p:txBody>
      </p:sp>
      <p:sp>
        <p:nvSpPr>
          <p:cNvPr id="13" name="Content Placeholder 12">
            <a:extLst>
              <a:ext uri="{FF2B5EF4-FFF2-40B4-BE49-F238E27FC236}">
                <a16:creationId xmlns:a16="http://schemas.microsoft.com/office/drawing/2014/main" id="{AADC81E7-C60E-481D-B9D5-72B7F6F78DDF}"/>
              </a:ext>
            </a:extLst>
          </p:cNvPr>
          <p:cNvSpPr>
            <a:spLocks noGrp="1"/>
          </p:cNvSpPr>
          <p:nvPr>
            <p:ph sz="quarter" idx="20"/>
          </p:nvPr>
        </p:nvSpPr>
        <p:spPr>
          <a:xfrm>
            <a:off x="304800" y="3886200"/>
            <a:ext cx="8534400" cy="336550"/>
          </a:xfrm>
          <a:prstGeom prst="rect">
            <a:avLst/>
          </a:prstGeom>
        </p:spPr>
        <p:txBody>
          <a:bodyPr/>
          <a:lstStyle>
            <a:lvl1pPr marL="0" indent="0">
              <a:buNone/>
              <a:defRPr/>
            </a:lvl1pPr>
          </a:lstStyle>
          <a:p>
            <a:pPr lvl="0"/>
            <a:endParaRPr lang="en-US" dirty="0"/>
          </a:p>
        </p:txBody>
      </p:sp>
      <p:sp>
        <p:nvSpPr>
          <p:cNvPr id="15" name="Content Placeholder 14">
            <a:extLst>
              <a:ext uri="{FF2B5EF4-FFF2-40B4-BE49-F238E27FC236}">
                <a16:creationId xmlns:a16="http://schemas.microsoft.com/office/drawing/2014/main" id="{230C320A-51A3-4C9B-8ABF-11B3737D593B}"/>
              </a:ext>
            </a:extLst>
          </p:cNvPr>
          <p:cNvSpPr>
            <a:spLocks noGrp="1"/>
          </p:cNvSpPr>
          <p:nvPr>
            <p:ph sz="quarter" idx="21"/>
          </p:nvPr>
        </p:nvSpPr>
        <p:spPr>
          <a:xfrm>
            <a:off x="304800" y="4343400"/>
            <a:ext cx="8534400" cy="336550"/>
          </a:xfrm>
          <a:prstGeom prst="rect">
            <a:avLst/>
          </a:prstGeom>
        </p:spPr>
        <p:txBody>
          <a:bodyPr/>
          <a:lstStyle>
            <a:lvl1pPr marL="0" indent="0">
              <a:buNone/>
              <a:defRPr/>
            </a:lvl1pPr>
          </a:lstStyle>
          <a:p>
            <a:pPr lvl="0"/>
            <a:endParaRPr lang="en-US" dirty="0"/>
          </a:p>
        </p:txBody>
      </p:sp>
      <p:sp>
        <p:nvSpPr>
          <p:cNvPr id="17" name="Content Placeholder 16">
            <a:extLst>
              <a:ext uri="{FF2B5EF4-FFF2-40B4-BE49-F238E27FC236}">
                <a16:creationId xmlns:a16="http://schemas.microsoft.com/office/drawing/2014/main" id="{F9E37B07-0547-4324-8991-4A4CF789436D}"/>
              </a:ext>
            </a:extLst>
          </p:cNvPr>
          <p:cNvSpPr>
            <a:spLocks noGrp="1"/>
          </p:cNvSpPr>
          <p:nvPr>
            <p:ph sz="quarter" idx="22"/>
          </p:nvPr>
        </p:nvSpPr>
        <p:spPr>
          <a:xfrm>
            <a:off x="304800" y="4724400"/>
            <a:ext cx="8534400" cy="457200"/>
          </a:xfrm>
          <a:prstGeom prst="rect">
            <a:avLst/>
          </a:prstGeom>
        </p:spPr>
        <p:txBody>
          <a:bodyPr/>
          <a:lstStyle>
            <a:lvl1pPr marL="0" indent="0">
              <a:buNone/>
              <a:defRPr/>
            </a:lvl1pPr>
          </a:lstStyle>
          <a:p>
            <a:pPr lvl="0"/>
            <a:endParaRPr lang="en-US" dirty="0"/>
          </a:p>
        </p:txBody>
      </p:sp>
      <p:sp>
        <p:nvSpPr>
          <p:cNvPr id="19" name="Content Placeholder 18">
            <a:extLst>
              <a:ext uri="{FF2B5EF4-FFF2-40B4-BE49-F238E27FC236}">
                <a16:creationId xmlns:a16="http://schemas.microsoft.com/office/drawing/2014/main" id="{1B671F7A-E290-479A-9245-1B0D5F72CCE5}"/>
              </a:ext>
            </a:extLst>
          </p:cNvPr>
          <p:cNvSpPr>
            <a:spLocks noGrp="1"/>
          </p:cNvSpPr>
          <p:nvPr>
            <p:ph sz="quarter" idx="23"/>
          </p:nvPr>
        </p:nvSpPr>
        <p:spPr>
          <a:xfrm>
            <a:off x="304800" y="5257800"/>
            <a:ext cx="8534400" cy="457200"/>
          </a:xfrm>
          <a:prstGeom prst="rect">
            <a:avLst/>
          </a:prstGeom>
        </p:spPr>
        <p:txBody>
          <a:bodyPr/>
          <a:lstStyle>
            <a:lvl1pPr marL="0" indent="0">
              <a:buNone/>
              <a:defRPr/>
            </a:lvl1pPr>
          </a:lstStyle>
          <a:p>
            <a:pPr lvl="0"/>
            <a:endParaRPr lang="en-US" dirty="0"/>
          </a:p>
        </p:txBody>
      </p:sp>
      <p:sp>
        <p:nvSpPr>
          <p:cNvPr id="21" name="Content Placeholder 20">
            <a:extLst>
              <a:ext uri="{FF2B5EF4-FFF2-40B4-BE49-F238E27FC236}">
                <a16:creationId xmlns:a16="http://schemas.microsoft.com/office/drawing/2014/main" id="{97D65446-BE50-4693-A967-2E866104DFF6}"/>
              </a:ext>
            </a:extLst>
          </p:cNvPr>
          <p:cNvSpPr>
            <a:spLocks noGrp="1"/>
          </p:cNvSpPr>
          <p:nvPr>
            <p:ph sz="quarter" idx="24"/>
          </p:nvPr>
        </p:nvSpPr>
        <p:spPr>
          <a:xfrm>
            <a:off x="304800" y="5822950"/>
            <a:ext cx="8534400" cy="349250"/>
          </a:xfrm>
          <a:prstGeom prst="rect">
            <a:avLst/>
          </a:prstGeom>
        </p:spPr>
        <p:txBody>
          <a:bodyPr/>
          <a:lstStyle>
            <a:lvl1pPr marL="0" indent="0">
              <a:buNone/>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0727583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28800"/>
            <a:ext cx="4038600" cy="365125"/>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6">
            <a:extLst>
              <a:ext uri="{FF2B5EF4-FFF2-40B4-BE49-F238E27FC236}">
                <a16:creationId xmlns:a16="http://schemas.microsoft.com/office/drawing/2014/main" id="{08AEA028-BD17-4ECF-82B5-ECB2A3466362}"/>
              </a:ext>
            </a:extLst>
          </p:cNvPr>
          <p:cNvSpPr>
            <a:spLocks noGrp="1"/>
          </p:cNvSpPr>
          <p:nvPr>
            <p:ph sz="quarter" idx="17"/>
          </p:nvPr>
        </p:nvSpPr>
        <p:spPr>
          <a:xfrm>
            <a:off x="4419600" y="1828800"/>
            <a:ext cx="4419600" cy="365125"/>
          </a:xfrm>
          <a:prstGeom prst="rect">
            <a:avLst/>
          </a:prstGeom>
        </p:spPr>
        <p:txBody>
          <a:bodyPr/>
          <a:lstStyle>
            <a:lvl1pPr marL="0" indent="0">
              <a:buNone/>
              <a:defRPr/>
            </a:lvl1pPr>
          </a:lstStyle>
          <a:p>
            <a:pPr lvl="0"/>
            <a:endParaRPr lang="en-US" dirty="0"/>
          </a:p>
        </p:txBody>
      </p:sp>
      <p:sp>
        <p:nvSpPr>
          <p:cNvPr id="9" name="Content Placeholder 8">
            <a:extLst>
              <a:ext uri="{FF2B5EF4-FFF2-40B4-BE49-F238E27FC236}">
                <a16:creationId xmlns:a16="http://schemas.microsoft.com/office/drawing/2014/main" id="{D539518F-A4FA-4BE6-9B8E-E6329B43B944}"/>
              </a:ext>
            </a:extLst>
          </p:cNvPr>
          <p:cNvSpPr>
            <a:spLocks noGrp="1"/>
          </p:cNvSpPr>
          <p:nvPr>
            <p:ph sz="quarter" idx="18"/>
          </p:nvPr>
        </p:nvSpPr>
        <p:spPr>
          <a:xfrm>
            <a:off x="304800" y="2225675"/>
            <a:ext cx="4038600" cy="365125"/>
          </a:xfrm>
          <a:prstGeom prst="rect">
            <a:avLst/>
          </a:prstGeom>
        </p:spPr>
        <p:txBody>
          <a:bodyPr/>
          <a:lstStyle>
            <a:lvl1pPr marL="0" indent="0">
              <a:buNone/>
              <a:defRPr/>
            </a:lvl1pPr>
          </a:lstStyle>
          <a:p>
            <a:pPr lvl="0"/>
            <a:endParaRPr lang="en-US" dirty="0"/>
          </a:p>
        </p:txBody>
      </p:sp>
      <p:sp>
        <p:nvSpPr>
          <p:cNvPr id="11" name="Content Placeholder 10">
            <a:extLst>
              <a:ext uri="{FF2B5EF4-FFF2-40B4-BE49-F238E27FC236}">
                <a16:creationId xmlns:a16="http://schemas.microsoft.com/office/drawing/2014/main" id="{ECF92A28-BADD-49BA-AD73-AD609D2F6738}"/>
              </a:ext>
            </a:extLst>
          </p:cNvPr>
          <p:cNvSpPr>
            <a:spLocks noGrp="1"/>
          </p:cNvSpPr>
          <p:nvPr>
            <p:ph sz="quarter" idx="19"/>
          </p:nvPr>
        </p:nvSpPr>
        <p:spPr>
          <a:xfrm>
            <a:off x="4419600" y="2225675"/>
            <a:ext cx="4419600" cy="365125"/>
          </a:xfrm>
          <a:prstGeom prst="rect">
            <a:avLst/>
          </a:prstGeom>
        </p:spPr>
        <p:txBody>
          <a:bodyPr/>
          <a:lstStyle>
            <a:lvl1pPr marL="0" indent="0">
              <a:buNone/>
              <a:defRPr/>
            </a:lvl1pPr>
          </a:lstStyle>
          <a:p>
            <a:pPr lvl="0"/>
            <a:endParaRPr lang="en-US" dirty="0"/>
          </a:p>
        </p:txBody>
      </p:sp>
      <p:sp>
        <p:nvSpPr>
          <p:cNvPr id="15" name="Content Placeholder 14">
            <a:extLst>
              <a:ext uri="{FF2B5EF4-FFF2-40B4-BE49-F238E27FC236}">
                <a16:creationId xmlns:a16="http://schemas.microsoft.com/office/drawing/2014/main" id="{1B664998-83E5-4220-9835-1C5536CF389A}"/>
              </a:ext>
            </a:extLst>
          </p:cNvPr>
          <p:cNvSpPr>
            <a:spLocks noGrp="1"/>
          </p:cNvSpPr>
          <p:nvPr>
            <p:ph sz="quarter" idx="21"/>
          </p:nvPr>
        </p:nvSpPr>
        <p:spPr>
          <a:xfrm>
            <a:off x="304800" y="2667000"/>
            <a:ext cx="4038600" cy="365125"/>
          </a:xfrm>
          <a:prstGeom prst="rect">
            <a:avLst/>
          </a:prstGeom>
        </p:spPr>
        <p:txBody>
          <a:bodyPr/>
          <a:lstStyle>
            <a:lvl1pPr marL="0" indent="0">
              <a:buNone/>
              <a:defRPr/>
            </a:lvl1pPr>
          </a:lstStyle>
          <a:p>
            <a:pPr lvl="0"/>
            <a:endParaRPr lang="en-US" dirty="0"/>
          </a:p>
        </p:txBody>
      </p:sp>
      <p:sp>
        <p:nvSpPr>
          <p:cNvPr id="17" name="Content Placeholder 16">
            <a:extLst>
              <a:ext uri="{FF2B5EF4-FFF2-40B4-BE49-F238E27FC236}">
                <a16:creationId xmlns:a16="http://schemas.microsoft.com/office/drawing/2014/main" id="{064DC7D0-4EEC-48B5-8518-1EA8B867A73B}"/>
              </a:ext>
            </a:extLst>
          </p:cNvPr>
          <p:cNvSpPr>
            <a:spLocks noGrp="1"/>
          </p:cNvSpPr>
          <p:nvPr>
            <p:ph sz="quarter" idx="22"/>
          </p:nvPr>
        </p:nvSpPr>
        <p:spPr>
          <a:xfrm>
            <a:off x="4419600" y="2667000"/>
            <a:ext cx="4419600" cy="365125"/>
          </a:xfrm>
          <a:prstGeom prst="rect">
            <a:avLst/>
          </a:prstGeom>
        </p:spPr>
        <p:txBody>
          <a:bodyPr/>
          <a:lstStyle>
            <a:lvl1pPr marL="0" indent="0">
              <a:buNone/>
              <a:defRPr/>
            </a:lvl1pPr>
          </a:lstStyle>
          <a:p>
            <a:pPr lvl="0"/>
            <a:endParaRPr lang="en-US" dirty="0"/>
          </a:p>
        </p:txBody>
      </p:sp>
      <p:sp>
        <p:nvSpPr>
          <p:cNvPr id="19" name="Content Placeholder 18">
            <a:extLst>
              <a:ext uri="{FF2B5EF4-FFF2-40B4-BE49-F238E27FC236}">
                <a16:creationId xmlns:a16="http://schemas.microsoft.com/office/drawing/2014/main" id="{7B4BDA8F-D4C1-47AA-8C60-0937596C4F76}"/>
              </a:ext>
            </a:extLst>
          </p:cNvPr>
          <p:cNvSpPr>
            <a:spLocks noGrp="1"/>
          </p:cNvSpPr>
          <p:nvPr>
            <p:ph sz="quarter" idx="23"/>
          </p:nvPr>
        </p:nvSpPr>
        <p:spPr>
          <a:xfrm>
            <a:off x="304800" y="3124200"/>
            <a:ext cx="4038600" cy="365125"/>
          </a:xfrm>
          <a:prstGeom prst="rect">
            <a:avLst/>
          </a:prstGeom>
        </p:spPr>
        <p:txBody>
          <a:bodyPr/>
          <a:lstStyle>
            <a:lvl1pPr marL="0" indent="0">
              <a:buNone/>
              <a:defRPr/>
            </a:lvl1pPr>
          </a:lstStyle>
          <a:p>
            <a:pPr lvl="0"/>
            <a:endParaRPr lang="en-US" dirty="0"/>
          </a:p>
        </p:txBody>
      </p:sp>
      <p:sp>
        <p:nvSpPr>
          <p:cNvPr id="21" name="Content Placeholder 20">
            <a:extLst>
              <a:ext uri="{FF2B5EF4-FFF2-40B4-BE49-F238E27FC236}">
                <a16:creationId xmlns:a16="http://schemas.microsoft.com/office/drawing/2014/main" id="{3DA7099D-A1F8-48D8-B397-2BF5A3E8F84D}"/>
              </a:ext>
            </a:extLst>
          </p:cNvPr>
          <p:cNvSpPr>
            <a:spLocks noGrp="1"/>
          </p:cNvSpPr>
          <p:nvPr>
            <p:ph sz="quarter" idx="24"/>
          </p:nvPr>
        </p:nvSpPr>
        <p:spPr>
          <a:xfrm>
            <a:off x="4419600" y="3124200"/>
            <a:ext cx="4419600" cy="365125"/>
          </a:xfrm>
          <a:prstGeom prst="rect">
            <a:avLst/>
          </a:prstGeom>
        </p:spPr>
        <p:txBody>
          <a:bodyPr/>
          <a:lstStyle>
            <a:lvl1pPr marL="0" indent="0">
              <a:buNone/>
              <a:defRPr/>
            </a:lvl1pPr>
          </a:lstStyle>
          <a:p>
            <a:pPr lvl="0"/>
            <a:endParaRPr lang="en-US" dirty="0"/>
          </a:p>
        </p:txBody>
      </p:sp>
      <p:sp>
        <p:nvSpPr>
          <p:cNvPr id="23" name="Content Placeholder 22">
            <a:extLst>
              <a:ext uri="{FF2B5EF4-FFF2-40B4-BE49-F238E27FC236}">
                <a16:creationId xmlns:a16="http://schemas.microsoft.com/office/drawing/2014/main" id="{77261062-0158-40E4-A1CA-B2E0CAB19B2F}"/>
              </a:ext>
            </a:extLst>
          </p:cNvPr>
          <p:cNvSpPr>
            <a:spLocks noGrp="1"/>
          </p:cNvSpPr>
          <p:nvPr>
            <p:ph sz="quarter" idx="25"/>
          </p:nvPr>
        </p:nvSpPr>
        <p:spPr>
          <a:xfrm>
            <a:off x="304800" y="3581400"/>
            <a:ext cx="4038600" cy="365125"/>
          </a:xfrm>
          <a:prstGeom prst="rect">
            <a:avLst/>
          </a:prstGeom>
        </p:spPr>
        <p:txBody>
          <a:bodyPr/>
          <a:lstStyle>
            <a:lvl1pPr marL="0" indent="0">
              <a:buNone/>
              <a:defRPr/>
            </a:lvl1pPr>
          </a:lstStyle>
          <a:p>
            <a:pPr lvl="0"/>
            <a:endParaRPr lang="en-US" dirty="0"/>
          </a:p>
        </p:txBody>
      </p:sp>
      <p:sp>
        <p:nvSpPr>
          <p:cNvPr id="25" name="Content Placeholder 24">
            <a:extLst>
              <a:ext uri="{FF2B5EF4-FFF2-40B4-BE49-F238E27FC236}">
                <a16:creationId xmlns:a16="http://schemas.microsoft.com/office/drawing/2014/main" id="{E47747E0-D00B-41BD-93B5-8BC61DA916F9}"/>
              </a:ext>
            </a:extLst>
          </p:cNvPr>
          <p:cNvSpPr>
            <a:spLocks noGrp="1"/>
          </p:cNvSpPr>
          <p:nvPr>
            <p:ph sz="quarter" idx="26"/>
          </p:nvPr>
        </p:nvSpPr>
        <p:spPr>
          <a:xfrm>
            <a:off x="4419600" y="3581400"/>
            <a:ext cx="4419600" cy="365125"/>
          </a:xfrm>
          <a:prstGeom prst="rect">
            <a:avLst/>
          </a:prstGeom>
        </p:spPr>
        <p:txBody>
          <a:bodyPr/>
          <a:lstStyle>
            <a:lvl1pPr marL="0" indent="0">
              <a:buNone/>
              <a:defRPr/>
            </a:lvl1pPr>
          </a:lstStyle>
          <a:p>
            <a:pPr lvl="0"/>
            <a:endParaRPr lang="en-US" dirty="0"/>
          </a:p>
        </p:txBody>
      </p:sp>
      <p:sp>
        <p:nvSpPr>
          <p:cNvPr id="27" name="Content Placeholder 26">
            <a:extLst>
              <a:ext uri="{FF2B5EF4-FFF2-40B4-BE49-F238E27FC236}">
                <a16:creationId xmlns:a16="http://schemas.microsoft.com/office/drawing/2014/main" id="{87796A9F-9F2E-4385-823C-3D4A62F64819}"/>
              </a:ext>
            </a:extLst>
          </p:cNvPr>
          <p:cNvSpPr>
            <a:spLocks noGrp="1"/>
          </p:cNvSpPr>
          <p:nvPr>
            <p:ph sz="quarter" idx="27"/>
          </p:nvPr>
        </p:nvSpPr>
        <p:spPr>
          <a:xfrm>
            <a:off x="304800" y="4038600"/>
            <a:ext cx="4038600" cy="365125"/>
          </a:xfrm>
          <a:prstGeom prst="rect">
            <a:avLst/>
          </a:prstGeom>
        </p:spPr>
        <p:txBody>
          <a:bodyPr/>
          <a:lstStyle>
            <a:lvl1pPr marL="0" indent="0">
              <a:buNone/>
              <a:defRPr/>
            </a:lvl1pPr>
          </a:lstStyle>
          <a:p>
            <a:pPr lvl="0"/>
            <a:endParaRPr lang="en-US" dirty="0"/>
          </a:p>
        </p:txBody>
      </p:sp>
      <p:sp>
        <p:nvSpPr>
          <p:cNvPr id="29" name="Content Placeholder 28">
            <a:extLst>
              <a:ext uri="{FF2B5EF4-FFF2-40B4-BE49-F238E27FC236}">
                <a16:creationId xmlns:a16="http://schemas.microsoft.com/office/drawing/2014/main" id="{11A73B4E-7DA4-4299-A91F-FF7464B543E5}"/>
              </a:ext>
            </a:extLst>
          </p:cNvPr>
          <p:cNvSpPr>
            <a:spLocks noGrp="1"/>
          </p:cNvSpPr>
          <p:nvPr>
            <p:ph sz="quarter" idx="28"/>
          </p:nvPr>
        </p:nvSpPr>
        <p:spPr>
          <a:xfrm>
            <a:off x="4419600" y="4038600"/>
            <a:ext cx="4419600" cy="365125"/>
          </a:xfrm>
          <a:prstGeom prst="rect">
            <a:avLst/>
          </a:prstGeom>
        </p:spPr>
        <p:txBody>
          <a:bodyPr/>
          <a:lstStyle>
            <a:lvl1pPr marL="0" indent="0">
              <a:buNone/>
              <a:defRPr/>
            </a:lvl1pPr>
          </a:lstStyle>
          <a:p>
            <a:pPr lvl="0"/>
            <a:endParaRPr lang="en-US" dirty="0"/>
          </a:p>
        </p:txBody>
      </p:sp>
      <p:sp>
        <p:nvSpPr>
          <p:cNvPr id="31" name="Content Placeholder 30">
            <a:extLst>
              <a:ext uri="{FF2B5EF4-FFF2-40B4-BE49-F238E27FC236}">
                <a16:creationId xmlns:a16="http://schemas.microsoft.com/office/drawing/2014/main" id="{02C60366-269A-47CE-95CC-AAF3A8431B42}"/>
              </a:ext>
            </a:extLst>
          </p:cNvPr>
          <p:cNvSpPr>
            <a:spLocks noGrp="1"/>
          </p:cNvSpPr>
          <p:nvPr>
            <p:ph sz="quarter" idx="29"/>
          </p:nvPr>
        </p:nvSpPr>
        <p:spPr>
          <a:xfrm>
            <a:off x="304800" y="4495800"/>
            <a:ext cx="4038600" cy="365125"/>
          </a:xfrm>
          <a:prstGeom prst="rect">
            <a:avLst/>
          </a:prstGeom>
        </p:spPr>
        <p:txBody>
          <a:bodyPr/>
          <a:lstStyle>
            <a:lvl1pPr marL="0" indent="0">
              <a:buNone/>
              <a:defRPr/>
            </a:lvl1pPr>
          </a:lstStyle>
          <a:p>
            <a:pPr lvl="0"/>
            <a:endParaRPr lang="en-US" dirty="0"/>
          </a:p>
        </p:txBody>
      </p:sp>
      <p:sp>
        <p:nvSpPr>
          <p:cNvPr id="33" name="Content Placeholder 32">
            <a:extLst>
              <a:ext uri="{FF2B5EF4-FFF2-40B4-BE49-F238E27FC236}">
                <a16:creationId xmlns:a16="http://schemas.microsoft.com/office/drawing/2014/main" id="{8648E9CD-8615-4506-B88C-B7A06C509713}"/>
              </a:ext>
            </a:extLst>
          </p:cNvPr>
          <p:cNvSpPr>
            <a:spLocks noGrp="1"/>
          </p:cNvSpPr>
          <p:nvPr>
            <p:ph sz="quarter" idx="30"/>
          </p:nvPr>
        </p:nvSpPr>
        <p:spPr>
          <a:xfrm>
            <a:off x="4419600" y="4495800"/>
            <a:ext cx="4419600" cy="365125"/>
          </a:xfrm>
          <a:prstGeom prst="rect">
            <a:avLst/>
          </a:prstGeom>
        </p:spPr>
        <p:txBody>
          <a:bodyPr/>
          <a:lstStyle>
            <a:lvl1pPr marL="0" indent="0">
              <a:buNone/>
              <a:defRPr/>
            </a:lvl1pPr>
          </a:lstStyle>
          <a:p>
            <a:pPr lvl="0"/>
            <a:endParaRPr lang="en-US" dirty="0"/>
          </a:p>
        </p:txBody>
      </p:sp>
      <p:sp>
        <p:nvSpPr>
          <p:cNvPr id="35" name="Content Placeholder 34">
            <a:extLst>
              <a:ext uri="{FF2B5EF4-FFF2-40B4-BE49-F238E27FC236}">
                <a16:creationId xmlns:a16="http://schemas.microsoft.com/office/drawing/2014/main" id="{CE2DE845-64F9-47A6-AFDD-342063D5463E}"/>
              </a:ext>
            </a:extLst>
          </p:cNvPr>
          <p:cNvSpPr>
            <a:spLocks noGrp="1"/>
          </p:cNvSpPr>
          <p:nvPr>
            <p:ph sz="quarter" idx="31"/>
          </p:nvPr>
        </p:nvSpPr>
        <p:spPr>
          <a:xfrm>
            <a:off x="304800" y="4953000"/>
            <a:ext cx="4038600" cy="365125"/>
          </a:xfrm>
          <a:prstGeom prst="rect">
            <a:avLst/>
          </a:prstGeom>
        </p:spPr>
        <p:txBody>
          <a:bodyPr/>
          <a:lstStyle>
            <a:lvl1pPr marL="0" indent="0">
              <a:buNone/>
              <a:defRPr/>
            </a:lvl1pPr>
          </a:lstStyle>
          <a:p>
            <a:pPr lvl="0"/>
            <a:endParaRPr lang="en-US" dirty="0"/>
          </a:p>
        </p:txBody>
      </p:sp>
      <p:sp>
        <p:nvSpPr>
          <p:cNvPr id="37" name="Content Placeholder 36">
            <a:extLst>
              <a:ext uri="{FF2B5EF4-FFF2-40B4-BE49-F238E27FC236}">
                <a16:creationId xmlns:a16="http://schemas.microsoft.com/office/drawing/2014/main" id="{3597B8C4-A351-467F-A6DE-DA35689BC9B6}"/>
              </a:ext>
            </a:extLst>
          </p:cNvPr>
          <p:cNvSpPr>
            <a:spLocks noGrp="1"/>
          </p:cNvSpPr>
          <p:nvPr>
            <p:ph sz="quarter" idx="32"/>
          </p:nvPr>
        </p:nvSpPr>
        <p:spPr>
          <a:xfrm>
            <a:off x="4419600" y="4953000"/>
            <a:ext cx="4419600" cy="365125"/>
          </a:xfrm>
          <a:prstGeom prst="rect">
            <a:avLst/>
          </a:prstGeom>
        </p:spPr>
        <p:txBody>
          <a:bodyPr/>
          <a:lstStyle>
            <a:lvl1pPr marL="0" indent="0">
              <a:buNone/>
              <a:defRPr/>
            </a:lvl1pPr>
          </a:lstStyle>
          <a:p>
            <a:pPr lvl="0"/>
            <a:endParaRPr lang="en-US" dirty="0"/>
          </a:p>
        </p:txBody>
      </p:sp>
      <p:sp>
        <p:nvSpPr>
          <p:cNvPr id="39" name="Content Placeholder 38">
            <a:extLst>
              <a:ext uri="{FF2B5EF4-FFF2-40B4-BE49-F238E27FC236}">
                <a16:creationId xmlns:a16="http://schemas.microsoft.com/office/drawing/2014/main" id="{C719C597-84DC-42E6-9578-4E5764A52767}"/>
              </a:ext>
            </a:extLst>
          </p:cNvPr>
          <p:cNvSpPr>
            <a:spLocks noGrp="1"/>
          </p:cNvSpPr>
          <p:nvPr>
            <p:ph sz="quarter" idx="33"/>
          </p:nvPr>
        </p:nvSpPr>
        <p:spPr>
          <a:xfrm>
            <a:off x="304800" y="5410200"/>
            <a:ext cx="4038600" cy="365125"/>
          </a:xfrm>
          <a:prstGeom prst="rect">
            <a:avLst/>
          </a:prstGeom>
        </p:spPr>
        <p:txBody>
          <a:bodyPr/>
          <a:lstStyle>
            <a:lvl1pPr marL="0" indent="0">
              <a:buNone/>
              <a:defRPr/>
            </a:lvl1pPr>
          </a:lstStyle>
          <a:p>
            <a:pPr lvl="0"/>
            <a:endParaRPr lang="en-US" dirty="0"/>
          </a:p>
        </p:txBody>
      </p:sp>
      <p:sp>
        <p:nvSpPr>
          <p:cNvPr id="41" name="Content Placeholder 40">
            <a:extLst>
              <a:ext uri="{FF2B5EF4-FFF2-40B4-BE49-F238E27FC236}">
                <a16:creationId xmlns:a16="http://schemas.microsoft.com/office/drawing/2014/main" id="{602C790C-25A6-4AED-B96A-2273C76B90FF}"/>
              </a:ext>
            </a:extLst>
          </p:cNvPr>
          <p:cNvSpPr>
            <a:spLocks noGrp="1"/>
          </p:cNvSpPr>
          <p:nvPr>
            <p:ph sz="quarter" idx="34"/>
          </p:nvPr>
        </p:nvSpPr>
        <p:spPr>
          <a:xfrm>
            <a:off x="4419600" y="5410200"/>
            <a:ext cx="4419600" cy="365125"/>
          </a:xfrm>
          <a:prstGeom prst="rect">
            <a:avLst/>
          </a:prstGeom>
        </p:spPr>
        <p:txBody>
          <a:bodyPr/>
          <a:lstStyle>
            <a:lvl1pPr marL="0" indent="0">
              <a:buNone/>
              <a:defRPr/>
            </a:lvl1pPr>
          </a:lstStyle>
          <a:p>
            <a:pPr lvl="0"/>
            <a:endParaRPr lang="en-US" dirty="0"/>
          </a:p>
        </p:txBody>
      </p:sp>
      <p:sp>
        <p:nvSpPr>
          <p:cNvPr id="43" name="Content Placeholder 42">
            <a:extLst>
              <a:ext uri="{FF2B5EF4-FFF2-40B4-BE49-F238E27FC236}">
                <a16:creationId xmlns:a16="http://schemas.microsoft.com/office/drawing/2014/main" id="{01ADFC3A-CC86-4C35-AD6C-692CC02FCACF}"/>
              </a:ext>
            </a:extLst>
          </p:cNvPr>
          <p:cNvSpPr>
            <a:spLocks noGrp="1"/>
          </p:cNvSpPr>
          <p:nvPr>
            <p:ph sz="quarter" idx="35"/>
          </p:nvPr>
        </p:nvSpPr>
        <p:spPr>
          <a:xfrm>
            <a:off x="304800" y="5807075"/>
            <a:ext cx="4038600" cy="365125"/>
          </a:xfrm>
          <a:prstGeom prst="rect">
            <a:avLst/>
          </a:prstGeom>
        </p:spPr>
        <p:txBody>
          <a:bodyPr/>
          <a:lstStyle>
            <a:lvl1pPr marL="0" indent="0">
              <a:buNone/>
              <a:defRPr/>
            </a:lvl1pPr>
          </a:lstStyle>
          <a:p>
            <a:pPr lvl="0"/>
            <a:endParaRPr lang="en-US" dirty="0"/>
          </a:p>
        </p:txBody>
      </p:sp>
      <p:sp>
        <p:nvSpPr>
          <p:cNvPr id="45" name="Content Placeholder 44">
            <a:extLst>
              <a:ext uri="{FF2B5EF4-FFF2-40B4-BE49-F238E27FC236}">
                <a16:creationId xmlns:a16="http://schemas.microsoft.com/office/drawing/2014/main" id="{45E8B718-38EC-47F6-87EA-0F0A0846611D}"/>
              </a:ext>
            </a:extLst>
          </p:cNvPr>
          <p:cNvSpPr>
            <a:spLocks noGrp="1"/>
          </p:cNvSpPr>
          <p:nvPr>
            <p:ph sz="quarter" idx="36"/>
          </p:nvPr>
        </p:nvSpPr>
        <p:spPr>
          <a:xfrm>
            <a:off x="4419600" y="5807075"/>
            <a:ext cx="4419600" cy="365125"/>
          </a:xfrm>
          <a:prstGeom prst="rect">
            <a:avLst/>
          </a:prstGeom>
        </p:spPr>
        <p:txBody>
          <a:bodyPr/>
          <a:lstStyle>
            <a:lvl1pPr marL="0" indent="0">
              <a:buNone/>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6152769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28800"/>
            <a:ext cx="8534400" cy="914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p:cNvSpPr>
            <a:spLocks noGrp="1"/>
          </p:cNvSpPr>
          <p:nvPr>
            <p:ph sz="quarter" idx="17"/>
          </p:nvPr>
        </p:nvSpPr>
        <p:spPr>
          <a:xfrm>
            <a:off x="304800" y="3046942"/>
            <a:ext cx="8534400" cy="990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Content Placeholder"/>
          <p:cNvSpPr>
            <a:spLocks noGrp="1"/>
          </p:cNvSpPr>
          <p:nvPr>
            <p:ph sz="quarter" idx="18"/>
          </p:nvPr>
        </p:nvSpPr>
        <p:spPr>
          <a:xfrm>
            <a:off x="313267" y="4341284"/>
            <a:ext cx="8534400" cy="990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2659956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28800"/>
            <a:ext cx="8534400" cy="914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p:cNvSpPr>
            <a:spLocks noGrp="1"/>
          </p:cNvSpPr>
          <p:nvPr>
            <p:ph sz="quarter" idx="17"/>
          </p:nvPr>
        </p:nvSpPr>
        <p:spPr>
          <a:xfrm>
            <a:off x="304800" y="3046942"/>
            <a:ext cx="8534400" cy="990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Content Placeholder"/>
          <p:cNvSpPr>
            <a:spLocks noGrp="1"/>
          </p:cNvSpPr>
          <p:nvPr>
            <p:ph sz="quarter" idx="18"/>
          </p:nvPr>
        </p:nvSpPr>
        <p:spPr>
          <a:xfrm>
            <a:off x="313267" y="4038600"/>
            <a:ext cx="8534400" cy="609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9" name="Content Placeholder"/>
          <p:cNvSpPr>
            <a:spLocks noGrp="1"/>
          </p:cNvSpPr>
          <p:nvPr>
            <p:ph sz="quarter" idx="19"/>
          </p:nvPr>
        </p:nvSpPr>
        <p:spPr>
          <a:xfrm>
            <a:off x="304800" y="4800600"/>
            <a:ext cx="853440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0" name="Content Placeholder"/>
          <p:cNvSpPr>
            <a:spLocks noGrp="1"/>
          </p:cNvSpPr>
          <p:nvPr>
            <p:ph sz="quarter" idx="20"/>
          </p:nvPr>
        </p:nvSpPr>
        <p:spPr>
          <a:xfrm>
            <a:off x="304800" y="5527674"/>
            <a:ext cx="853440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21196859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30998"/>
            <a:ext cx="8534400" cy="507997"/>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p:cNvSpPr>
            <a:spLocks noGrp="1"/>
          </p:cNvSpPr>
          <p:nvPr>
            <p:ph sz="quarter" idx="17"/>
          </p:nvPr>
        </p:nvSpPr>
        <p:spPr>
          <a:xfrm>
            <a:off x="304800" y="2438400"/>
            <a:ext cx="8534400" cy="610658"/>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Content Placeholder"/>
          <p:cNvSpPr>
            <a:spLocks noGrp="1"/>
          </p:cNvSpPr>
          <p:nvPr>
            <p:ph sz="quarter" idx="18"/>
          </p:nvPr>
        </p:nvSpPr>
        <p:spPr>
          <a:xfrm>
            <a:off x="313267" y="3200400"/>
            <a:ext cx="8534400" cy="609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9" name="Content Placeholder"/>
          <p:cNvSpPr>
            <a:spLocks noGrp="1"/>
          </p:cNvSpPr>
          <p:nvPr>
            <p:ph sz="quarter" idx="19"/>
          </p:nvPr>
        </p:nvSpPr>
        <p:spPr>
          <a:xfrm>
            <a:off x="304800" y="3962400"/>
            <a:ext cx="853440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0" name="Content Placeholder"/>
          <p:cNvSpPr>
            <a:spLocks noGrp="1"/>
          </p:cNvSpPr>
          <p:nvPr>
            <p:ph sz="quarter" idx="20"/>
          </p:nvPr>
        </p:nvSpPr>
        <p:spPr>
          <a:xfrm>
            <a:off x="304800" y="4689474"/>
            <a:ext cx="853440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1" name="Content Placeholder"/>
          <p:cNvSpPr>
            <a:spLocks noGrp="1"/>
          </p:cNvSpPr>
          <p:nvPr>
            <p:ph sz="quarter" idx="21"/>
          </p:nvPr>
        </p:nvSpPr>
        <p:spPr>
          <a:xfrm>
            <a:off x="313267" y="5334000"/>
            <a:ext cx="853440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2" name="Content Placeholder"/>
          <p:cNvSpPr>
            <a:spLocks noGrp="1"/>
          </p:cNvSpPr>
          <p:nvPr>
            <p:ph sz="quarter" idx="22"/>
          </p:nvPr>
        </p:nvSpPr>
        <p:spPr>
          <a:xfrm>
            <a:off x="313267" y="5811308"/>
            <a:ext cx="853440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89888198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31896"/>
            <a:ext cx="8534400" cy="490008"/>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p:cNvSpPr>
            <a:spLocks noGrp="1"/>
          </p:cNvSpPr>
          <p:nvPr>
            <p:ph sz="quarter" idx="17"/>
          </p:nvPr>
        </p:nvSpPr>
        <p:spPr>
          <a:xfrm>
            <a:off x="304800" y="2438400"/>
            <a:ext cx="8534400" cy="610658"/>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Content Placeholder"/>
          <p:cNvSpPr>
            <a:spLocks noGrp="1"/>
          </p:cNvSpPr>
          <p:nvPr>
            <p:ph sz="quarter" idx="18"/>
          </p:nvPr>
        </p:nvSpPr>
        <p:spPr>
          <a:xfrm>
            <a:off x="313267" y="3200400"/>
            <a:ext cx="8534400" cy="609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9" name="Content Placeholder"/>
          <p:cNvSpPr>
            <a:spLocks noGrp="1"/>
          </p:cNvSpPr>
          <p:nvPr>
            <p:ph sz="quarter" idx="19"/>
          </p:nvPr>
        </p:nvSpPr>
        <p:spPr>
          <a:xfrm>
            <a:off x="304800" y="3962400"/>
            <a:ext cx="853440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0" name="Content Placeholder"/>
          <p:cNvSpPr>
            <a:spLocks noGrp="1"/>
          </p:cNvSpPr>
          <p:nvPr>
            <p:ph sz="quarter" idx="20"/>
          </p:nvPr>
        </p:nvSpPr>
        <p:spPr>
          <a:xfrm>
            <a:off x="304800" y="4689474"/>
            <a:ext cx="272415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1" name="Content Placeholder"/>
          <p:cNvSpPr>
            <a:spLocks noGrp="1"/>
          </p:cNvSpPr>
          <p:nvPr>
            <p:ph sz="quarter" idx="21"/>
          </p:nvPr>
        </p:nvSpPr>
        <p:spPr>
          <a:xfrm>
            <a:off x="313267" y="5334000"/>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2" name="Content Placeholder"/>
          <p:cNvSpPr>
            <a:spLocks noGrp="1"/>
          </p:cNvSpPr>
          <p:nvPr>
            <p:ph sz="quarter" idx="22"/>
          </p:nvPr>
        </p:nvSpPr>
        <p:spPr>
          <a:xfrm>
            <a:off x="313267" y="5811308"/>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3" name="Content Placeholder"/>
          <p:cNvSpPr>
            <a:spLocks noGrp="1"/>
          </p:cNvSpPr>
          <p:nvPr>
            <p:ph sz="quarter" idx="23"/>
          </p:nvPr>
        </p:nvSpPr>
        <p:spPr>
          <a:xfrm>
            <a:off x="3276600" y="4689474"/>
            <a:ext cx="272415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4" name="Content Placeholder"/>
          <p:cNvSpPr>
            <a:spLocks noGrp="1"/>
          </p:cNvSpPr>
          <p:nvPr>
            <p:ph sz="quarter" idx="24"/>
          </p:nvPr>
        </p:nvSpPr>
        <p:spPr>
          <a:xfrm>
            <a:off x="3285067" y="5334000"/>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5" name="Content Placeholder"/>
          <p:cNvSpPr>
            <a:spLocks noGrp="1"/>
          </p:cNvSpPr>
          <p:nvPr>
            <p:ph sz="quarter" idx="25"/>
          </p:nvPr>
        </p:nvSpPr>
        <p:spPr>
          <a:xfrm>
            <a:off x="3285067" y="5811308"/>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6" name="Content Placeholder"/>
          <p:cNvSpPr>
            <a:spLocks noGrp="1"/>
          </p:cNvSpPr>
          <p:nvPr>
            <p:ph sz="quarter" idx="26"/>
          </p:nvPr>
        </p:nvSpPr>
        <p:spPr>
          <a:xfrm>
            <a:off x="6123517" y="4689475"/>
            <a:ext cx="272415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7" name="Content Placeholder"/>
          <p:cNvSpPr>
            <a:spLocks noGrp="1"/>
          </p:cNvSpPr>
          <p:nvPr>
            <p:ph sz="quarter" idx="27"/>
          </p:nvPr>
        </p:nvSpPr>
        <p:spPr>
          <a:xfrm>
            <a:off x="6131984" y="5334001"/>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8" name="Content Placeholder"/>
          <p:cNvSpPr>
            <a:spLocks noGrp="1"/>
          </p:cNvSpPr>
          <p:nvPr>
            <p:ph sz="quarter" idx="28"/>
          </p:nvPr>
        </p:nvSpPr>
        <p:spPr>
          <a:xfrm>
            <a:off x="6131984" y="5811309"/>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24328652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304800" y="1828800"/>
            <a:ext cx="4114800" cy="4343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4724400" y="1828800"/>
            <a:ext cx="4114800" cy="4343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26476041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304800" y="1828800"/>
            <a:ext cx="4114800" cy="2743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4724400" y="1828800"/>
            <a:ext cx="4114800" cy="2743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9" name="Content Placeholder 8"/>
          <p:cNvSpPr>
            <a:spLocks noGrp="1"/>
          </p:cNvSpPr>
          <p:nvPr>
            <p:ph sz="quarter" idx="18"/>
          </p:nvPr>
        </p:nvSpPr>
        <p:spPr>
          <a:xfrm>
            <a:off x="2286000" y="4724400"/>
            <a:ext cx="4572000" cy="1489075"/>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61329841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304800" y="1828800"/>
            <a:ext cx="4267200" cy="365125"/>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4724400" y="1828800"/>
            <a:ext cx="4114800" cy="365125"/>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Content Placeholder 7">
            <a:extLst>
              <a:ext uri="{FF2B5EF4-FFF2-40B4-BE49-F238E27FC236}">
                <a16:creationId xmlns:a16="http://schemas.microsoft.com/office/drawing/2014/main" id="{D6C02995-1E5E-48F3-90EA-30A67DD6E930}"/>
              </a:ext>
            </a:extLst>
          </p:cNvPr>
          <p:cNvSpPr>
            <a:spLocks noGrp="1"/>
          </p:cNvSpPr>
          <p:nvPr>
            <p:ph sz="quarter" idx="18"/>
          </p:nvPr>
        </p:nvSpPr>
        <p:spPr>
          <a:xfrm>
            <a:off x="304800" y="2228109"/>
            <a:ext cx="4267200" cy="365125"/>
          </a:xfrm>
          <a:prstGeom prst="rect">
            <a:avLst/>
          </a:prstGeom>
        </p:spPr>
        <p:txBody>
          <a:bodyPr/>
          <a:lstStyle>
            <a:lvl1pPr marL="0" indent="0">
              <a:buNone/>
              <a:defRPr/>
            </a:lvl1pPr>
          </a:lstStyle>
          <a:p>
            <a:pPr lvl="0"/>
            <a:endParaRPr lang="en-US" dirty="0"/>
          </a:p>
        </p:txBody>
      </p:sp>
      <p:sp>
        <p:nvSpPr>
          <p:cNvPr id="10" name="Content Placeholder 9">
            <a:extLst>
              <a:ext uri="{FF2B5EF4-FFF2-40B4-BE49-F238E27FC236}">
                <a16:creationId xmlns:a16="http://schemas.microsoft.com/office/drawing/2014/main" id="{A97483CB-9142-40B0-AC19-8745028A19E9}"/>
              </a:ext>
            </a:extLst>
          </p:cNvPr>
          <p:cNvSpPr>
            <a:spLocks noGrp="1"/>
          </p:cNvSpPr>
          <p:nvPr>
            <p:ph sz="quarter" idx="19"/>
          </p:nvPr>
        </p:nvSpPr>
        <p:spPr>
          <a:xfrm>
            <a:off x="4724400" y="2228850"/>
            <a:ext cx="4114800" cy="365125"/>
          </a:xfrm>
          <a:prstGeom prst="rect">
            <a:avLst/>
          </a:prstGeom>
        </p:spPr>
        <p:txBody>
          <a:bodyPr/>
          <a:lstStyle>
            <a:lvl1pPr marL="0" indent="0">
              <a:buNone/>
              <a:defRPr/>
            </a:lvl1pPr>
          </a:lstStyle>
          <a:p>
            <a:pPr lvl="0"/>
            <a:endParaRPr lang="en-US" dirty="0"/>
          </a:p>
        </p:txBody>
      </p:sp>
      <p:sp>
        <p:nvSpPr>
          <p:cNvPr id="12" name="Content Placeholder 11">
            <a:extLst>
              <a:ext uri="{FF2B5EF4-FFF2-40B4-BE49-F238E27FC236}">
                <a16:creationId xmlns:a16="http://schemas.microsoft.com/office/drawing/2014/main" id="{697EDCB5-8A43-4F4F-81C5-8AA3A49E8940}"/>
              </a:ext>
            </a:extLst>
          </p:cNvPr>
          <p:cNvSpPr>
            <a:spLocks noGrp="1"/>
          </p:cNvSpPr>
          <p:nvPr>
            <p:ph sz="quarter" idx="20"/>
          </p:nvPr>
        </p:nvSpPr>
        <p:spPr>
          <a:xfrm>
            <a:off x="304800" y="2667000"/>
            <a:ext cx="4267200" cy="365125"/>
          </a:xfrm>
          <a:prstGeom prst="rect">
            <a:avLst/>
          </a:prstGeom>
        </p:spPr>
        <p:txBody>
          <a:bodyPr/>
          <a:lstStyle>
            <a:lvl1pPr marL="0" indent="0">
              <a:buNone/>
              <a:defRPr/>
            </a:lvl1pPr>
          </a:lstStyle>
          <a:p>
            <a:pPr lvl="0"/>
            <a:endParaRPr lang="en-US" dirty="0"/>
          </a:p>
        </p:txBody>
      </p:sp>
      <p:sp>
        <p:nvSpPr>
          <p:cNvPr id="14" name="Content Placeholder 13">
            <a:extLst>
              <a:ext uri="{FF2B5EF4-FFF2-40B4-BE49-F238E27FC236}">
                <a16:creationId xmlns:a16="http://schemas.microsoft.com/office/drawing/2014/main" id="{7FEA43A7-2626-4401-B078-5122780BC0F8}"/>
              </a:ext>
            </a:extLst>
          </p:cNvPr>
          <p:cNvSpPr>
            <a:spLocks noGrp="1"/>
          </p:cNvSpPr>
          <p:nvPr>
            <p:ph sz="quarter" idx="21"/>
          </p:nvPr>
        </p:nvSpPr>
        <p:spPr>
          <a:xfrm>
            <a:off x="4724400" y="2667000"/>
            <a:ext cx="4114800" cy="365125"/>
          </a:xfrm>
          <a:prstGeom prst="rect">
            <a:avLst/>
          </a:prstGeom>
        </p:spPr>
        <p:txBody>
          <a:bodyPr/>
          <a:lstStyle>
            <a:lvl1pPr marL="0" indent="0">
              <a:buNone/>
              <a:defRPr/>
            </a:lvl1pPr>
          </a:lstStyle>
          <a:p>
            <a:pPr lvl="0"/>
            <a:endParaRPr lang="en-US" dirty="0"/>
          </a:p>
        </p:txBody>
      </p:sp>
      <p:sp>
        <p:nvSpPr>
          <p:cNvPr id="16" name="Content Placeholder 15">
            <a:extLst>
              <a:ext uri="{FF2B5EF4-FFF2-40B4-BE49-F238E27FC236}">
                <a16:creationId xmlns:a16="http://schemas.microsoft.com/office/drawing/2014/main" id="{FEED7A6C-A1D8-4D89-9C0C-B1C824C59692}"/>
              </a:ext>
            </a:extLst>
          </p:cNvPr>
          <p:cNvSpPr>
            <a:spLocks noGrp="1"/>
          </p:cNvSpPr>
          <p:nvPr>
            <p:ph sz="quarter" idx="22"/>
          </p:nvPr>
        </p:nvSpPr>
        <p:spPr>
          <a:xfrm>
            <a:off x="304800" y="3124200"/>
            <a:ext cx="4267200" cy="365125"/>
          </a:xfrm>
          <a:prstGeom prst="rect">
            <a:avLst/>
          </a:prstGeom>
        </p:spPr>
        <p:txBody>
          <a:bodyPr/>
          <a:lstStyle>
            <a:lvl1pPr marL="0" indent="0">
              <a:buNone/>
              <a:defRPr/>
            </a:lvl1pPr>
          </a:lstStyle>
          <a:p>
            <a:pPr lvl="0"/>
            <a:endParaRPr lang="en-US" dirty="0"/>
          </a:p>
        </p:txBody>
      </p:sp>
      <p:sp>
        <p:nvSpPr>
          <p:cNvPr id="18" name="Content Placeholder 17">
            <a:extLst>
              <a:ext uri="{FF2B5EF4-FFF2-40B4-BE49-F238E27FC236}">
                <a16:creationId xmlns:a16="http://schemas.microsoft.com/office/drawing/2014/main" id="{543D2732-3A9F-406C-98CA-6DF1647EC031}"/>
              </a:ext>
            </a:extLst>
          </p:cNvPr>
          <p:cNvSpPr>
            <a:spLocks noGrp="1"/>
          </p:cNvSpPr>
          <p:nvPr>
            <p:ph sz="quarter" idx="23"/>
          </p:nvPr>
        </p:nvSpPr>
        <p:spPr>
          <a:xfrm>
            <a:off x="4724400" y="3124200"/>
            <a:ext cx="4114800" cy="365125"/>
          </a:xfrm>
          <a:prstGeom prst="rect">
            <a:avLst/>
          </a:prstGeom>
        </p:spPr>
        <p:txBody>
          <a:bodyPr/>
          <a:lstStyle>
            <a:lvl1pPr marL="0" indent="0">
              <a:buNone/>
              <a:defRPr/>
            </a:lvl1pPr>
          </a:lstStyle>
          <a:p>
            <a:pPr lvl="0"/>
            <a:endParaRPr lang="en-US" dirty="0"/>
          </a:p>
        </p:txBody>
      </p:sp>
      <p:sp>
        <p:nvSpPr>
          <p:cNvPr id="20" name="Content Placeholder 19">
            <a:extLst>
              <a:ext uri="{FF2B5EF4-FFF2-40B4-BE49-F238E27FC236}">
                <a16:creationId xmlns:a16="http://schemas.microsoft.com/office/drawing/2014/main" id="{F01F2447-776E-45D7-8D0A-E79277C539EF}"/>
              </a:ext>
            </a:extLst>
          </p:cNvPr>
          <p:cNvSpPr>
            <a:spLocks noGrp="1"/>
          </p:cNvSpPr>
          <p:nvPr>
            <p:ph sz="quarter" idx="24"/>
          </p:nvPr>
        </p:nvSpPr>
        <p:spPr>
          <a:xfrm>
            <a:off x="304800" y="3581400"/>
            <a:ext cx="4267200" cy="457200"/>
          </a:xfrm>
          <a:prstGeom prst="rect">
            <a:avLst/>
          </a:prstGeom>
        </p:spPr>
        <p:txBody>
          <a:bodyPr/>
          <a:lstStyle>
            <a:lvl1pPr marL="0" indent="0">
              <a:buNone/>
              <a:defRPr/>
            </a:lvl1pPr>
          </a:lstStyle>
          <a:p>
            <a:pPr lvl="0"/>
            <a:endParaRPr lang="en-US" dirty="0"/>
          </a:p>
        </p:txBody>
      </p:sp>
      <p:sp>
        <p:nvSpPr>
          <p:cNvPr id="22" name="Content Placeholder 21">
            <a:extLst>
              <a:ext uri="{FF2B5EF4-FFF2-40B4-BE49-F238E27FC236}">
                <a16:creationId xmlns:a16="http://schemas.microsoft.com/office/drawing/2014/main" id="{9CA587B7-AF27-4DA0-BF89-AEBB9D0B0C6A}"/>
              </a:ext>
            </a:extLst>
          </p:cNvPr>
          <p:cNvSpPr>
            <a:spLocks noGrp="1"/>
          </p:cNvSpPr>
          <p:nvPr>
            <p:ph sz="quarter" idx="25"/>
          </p:nvPr>
        </p:nvSpPr>
        <p:spPr>
          <a:xfrm>
            <a:off x="4724400" y="3581400"/>
            <a:ext cx="4114800" cy="457200"/>
          </a:xfrm>
          <a:prstGeom prst="rect">
            <a:avLst/>
          </a:prstGeom>
        </p:spPr>
        <p:txBody>
          <a:bodyPr/>
          <a:lstStyle>
            <a:lvl1pPr marL="0" indent="0">
              <a:buNone/>
              <a:defRPr/>
            </a:lvl1pPr>
          </a:lstStyle>
          <a:p>
            <a:pPr lvl="0"/>
            <a:endParaRPr lang="en-US" dirty="0"/>
          </a:p>
        </p:txBody>
      </p:sp>
      <p:sp>
        <p:nvSpPr>
          <p:cNvPr id="24" name="Content Placeholder 23">
            <a:extLst>
              <a:ext uri="{FF2B5EF4-FFF2-40B4-BE49-F238E27FC236}">
                <a16:creationId xmlns:a16="http://schemas.microsoft.com/office/drawing/2014/main" id="{B8C06814-D6BE-49EB-91F9-65609ABBCE93}"/>
              </a:ext>
            </a:extLst>
          </p:cNvPr>
          <p:cNvSpPr>
            <a:spLocks noGrp="1"/>
          </p:cNvSpPr>
          <p:nvPr>
            <p:ph sz="quarter" idx="26"/>
          </p:nvPr>
        </p:nvSpPr>
        <p:spPr>
          <a:xfrm>
            <a:off x="304800" y="4114800"/>
            <a:ext cx="4267200" cy="396875"/>
          </a:xfrm>
          <a:prstGeom prst="rect">
            <a:avLst/>
          </a:prstGeom>
        </p:spPr>
        <p:txBody>
          <a:bodyPr/>
          <a:lstStyle>
            <a:lvl1pPr marL="0" indent="0">
              <a:buNone/>
              <a:defRPr/>
            </a:lvl1pPr>
          </a:lstStyle>
          <a:p>
            <a:pPr lvl="0"/>
            <a:endParaRPr lang="en-US" dirty="0"/>
          </a:p>
        </p:txBody>
      </p:sp>
      <p:sp>
        <p:nvSpPr>
          <p:cNvPr id="26" name="Content Placeholder 25">
            <a:extLst>
              <a:ext uri="{FF2B5EF4-FFF2-40B4-BE49-F238E27FC236}">
                <a16:creationId xmlns:a16="http://schemas.microsoft.com/office/drawing/2014/main" id="{C30DE4D4-57AC-4CD5-B7CD-5EC4216BC72F}"/>
              </a:ext>
            </a:extLst>
          </p:cNvPr>
          <p:cNvSpPr>
            <a:spLocks noGrp="1"/>
          </p:cNvSpPr>
          <p:nvPr>
            <p:ph sz="quarter" idx="27"/>
          </p:nvPr>
        </p:nvSpPr>
        <p:spPr>
          <a:xfrm>
            <a:off x="4724400" y="4114800"/>
            <a:ext cx="4114800" cy="396875"/>
          </a:xfrm>
          <a:prstGeom prst="rect">
            <a:avLst/>
          </a:prstGeom>
        </p:spPr>
        <p:txBody>
          <a:bodyPr/>
          <a:lstStyle>
            <a:lvl1pPr marL="0" indent="0">
              <a:buNone/>
              <a:defRPr/>
            </a:lvl1pPr>
          </a:lstStyle>
          <a:p>
            <a:pPr lvl="0"/>
            <a:endParaRPr lang="en-US" dirty="0"/>
          </a:p>
        </p:txBody>
      </p:sp>
      <p:sp>
        <p:nvSpPr>
          <p:cNvPr id="28" name="Content Placeholder 27">
            <a:extLst>
              <a:ext uri="{FF2B5EF4-FFF2-40B4-BE49-F238E27FC236}">
                <a16:creationId xmlns:a16="http://schemas.microsoft.com/office/drawing/2014/main" id="{E7B81DE7-2CFB-4EF3-B694-A5E0B2622CF2}"/>
              </a:ext>
            </a:extLst>
          </p:cNvPr>
          <p:cNvSpPr>
            <a:spLocks noGrp="1"/>
          </p:cNvSpPr>
          <p:nvPr>
            <p:ph sz="quarter" idx="28"/>
          </p:nvPr>
        </p:nvSpPr>
        <p:spPr>
          <a:xfrm>
            <a:off x="304800" y="4572000"/>
            <a:ext cx="4267200" cy="304800"/>
          </a:xfrm>
          <a:prstGeom prst="rect">
            <a:avLst/>
          </a:prstGeom>
        </p:spPr>
        <p:txBody>
          <a:bodyPr/>
          <a:lstStyle>
            <a:lvl1pPr marL="0" indent="0">
              <a:buNone/>
              <a:defRPr/>
            </a:lvl1pPr>
          </a:lstStyle>
          <a:p>
            <a:pPr lvl="0"/>
            <a:endParaRPr lang="en-US" dirty="0"/>
          </a:p>
        </p:txBody>
      </p:sp>
      <p:sp>
        <p:nvSpPr>
          <p:cNvPr id="30" name="Content Placeholder 29">
            <a:extLst>
              <a:ext uri="{FF2B5EF4-FFF2-40B4-BE49-F238E27FC236}">
                <a16:creationId xmlns:a16="http://schemas.microsoft.com/office/drawing/2014/main" id="{00FAAFD7-3BF8-4817-B2E7-F4BF8BC460E2}"/>
              </a:ext>
            </a:extLst>
          </p:cNvPr>
          <p:cNvSpPr>
            <a:spLocks noGrp="1"/>
          </p:cNvSpPr>
          <p:nvPr>
            <p:ph sz="quarter" idx="29"/>
          </p:nvPr>
        </p:nvSpPr>
        <p:spPr>
          <a:xfrm>
            <a:off x="4724400" y="4572001"/>
            <a:ext cx="4114800" cy="304799"/>
          </a:xfrm>
          <a:prstGeom prst="rect">
            <a:avLst/>
          </a:prstGeom>
        </p:spPr>
        <p:txBody>
          <a:bodyPr/>
          <a:lstStyle>
            <a:lvl1pPr marL="0" indent="0">
              <a:buNone/>
              <a:defRPr/>
            </a:lvl1pPr>
          </a:lstStyle>
          <a:p>
            <a:pPr lvl="0"/>
            <a:endParaRPr lang="en-US" dirty="0"/>
          </a:p>
        </p:txBody>
      </p:sp>
      <p:sp>
        <p:nvSpPr>
          <p:cNvPr id="32" name="Content Placeholder 31">
            <a:extLst>
              <a:ext uri="{FF2B5EF4-FFF2-40B4-BE49-F238E27FC236}">
                <a16:creationId xmlns:a16="http://schemas.microsoft.com/office/drawing/2014/main" id="{E0D49398-7F51-4317-B17A-DBCFC82109F7}"/>
              </a:ext>
            </a:extLst>
          </p:cNvPr>
          <p:cNvSpPr>
            <a:spLocks noGrp="1"/>
          </p:cNvSpPr>
          <p:nvPr>
            <p:ph sz="quarter" idx="30"/>
          </p:nvPr>
        </p:nvSpPr>
        <p:spPr>
          <a:xfrm>
            <a:off x="304800" y="4953001"/>
            <a:ext cx="4267200" cy="381000"/>
          </a:xfrm>
          <a:prstGeom prst="rect">
            <a:avLst/>
          </a:prstGeom>
        </p:spPr>
        <p:txBody>
          <a:bodyPr/>
          <a:lstStyle>
            <a:lvl1pPr marL="0" indent="0">
              <a:buNone/>
              <a:defRPr/>
            </a:lvl1pPr>
          </a:lstStyle>
          <a:p>
            <a:pPr lvl="0"/>
            <a:endParaRPr lang="en-US" dirty="0"/>
          </a:p>
        </p:txBody>
      </p:sp>
      <p:sp>
        <p:nvSpPr>
          <p:cNvPr id="34" name="Content Placeholder 33">
            <a:extLst>
              <a:ext uri="{FF2B5EF4-FFF2-40B4-BE49-F238E27FC236}">
                <a16:creationId xmlns:a16="http://schemas.microsoft.com/office/drawing/2014/main" id="{7F70BB82-7130-4437-91C1-5D4AAC7AA6F0}"/>
              </a:ext>
            </a:extLst>
          </p:cNvPr>
          <p:cNvSpPr>
            <a:spLocks noGrp="1"/>
          </p:cNvSpPr>
          <p:nvPr>
            <p:ph sz="quarter" idx="31"/>
          </p:nvPr>
        </p:nvSpPr>
        <p:spPr>
          <a:xfrm>
            <a:off x="4724400" y="4953000"/>
            <a:ext cx="4114800" cy="381000"/>
          </a:xfrm>
          <a:prstGeom prst="rect">
            <a:avLst/>
          </a:prstGeom>
        </p:spPr>
        <p:txBody>
          <a:bodyPr/>
          <a:lstStyle>
            <a:lvl1pPr marL="0" indent="0">
              <a:buNone/>
              <a:defRPr/>
            </a:lvl1pPr>
          </a:lstStyle>
          <a:p>
            <a:pPr lvl="0"/>
            <a:endParaRPr lang="en-US" dirty="0"/>
          </a:p>
        </p:txBody>
      </p:sp>
      <p:sp>
        <p:nvSpPr>
          <p:cNvPr id="36" name="Content Placeholder 35">
            <a:extLst>
              <a:ext uri="{FF2B5EF4-FFF2-40B4-BE49-F238E27FC236}">
                <a16:creationId xmlns:a16="http://schemas.microsoft.com/office/drawing/2014/main" id="{78B55E74-A183-4F7C-97DC-E41ED4AFE2F0}"/>
              </a:ext>
            </a:extLst>
          </p:cNvPr>
          <p:cNvSpPr>
            <a:spLocks noGrp="1"/>
          </p:cNvSpPr>
          <p:nvPr>
            <p:ph sz="quarter" idx="32"/>
          </p:nvPr>
        </p:nvSpPr>
        <p:spPr>
          <a:xfrm>
            <a:off x="304800" y="5376730"/>
            <a:ext cx="4267200" cy="381000"/>
          </a:xfrm>
          <a:prstGeom prst="rect">
            <a:avLst/>
          </a:prstGeom>
        </p:spPr>
        <p:txBody>
          <a:bodyPr/>
          <a:lstStyle>
            <a:lvl1pPr marL="0" indent="0">
              <a:buNone/>
              <a:defRPr/>
            </a:lvl1pPr>
          </a:lstStyle>
          <a:p>
            <a:pPr lvl="0"/>
            <a:endParaRPr lang="en-US" dirty="0"/>
          </a:p>
        </p:txBody>
      </p:sp>
      <p:sp>
        <p:nvSpPr>
          <p:cNvPr id="38" name="Content Placeholder 37">
            <a:extLst>
              <a:ext uri="{FF2B5EF4-FFF2-40B4-BE49-F238E27FC236}">
                <a16:creationId xmlns:a16="http://schemas.microsoft.com/office/drawing/2014/main" id="{1DFFC32A-D015-4E75-8F48-0680EC4D2EB0}"/>
              </a:ext>
            </a:extLst>
          </p:cNvPr>
          <p:cNvSpPr>
            <a:spLocks noGrp="1"/>
          </p:cNvSpPr>
          <p:nvPr>
            <p:ph sz="quarter" idx="33"/>
          </p:nvPr>
        </p:nvSpPr>
        <p:spPr>
          <a:xfrm>
            <a:off x="4724400" y="5392738"/>
            <a:ext cx="4114800" cy="365125"/>
          </a:xfrm>
          <a:prstGeom prst="rect">
            <a:avLst/>
          </a:prstGeom>
        </p:spPr>
        <p:txBody>
          <a:bodyPr/>
          <a:lstStyle>
            <a:lvl1pPr marL="0" indent="0">
              <a:buNone/>
              <a:defRPr/>
            </a:lvl1pPr>
          </a:lstStyle>
          <a:p>
            <a:pPr lvl="0"/>
            <a:endParaRPr lang="en-US" dirty="0"/>
          </a:p>
        </p:txBody>
      </p:sp>
      <p:sp>
        <p:nvSpPr>
          <p:cNvPr id="40" name="Content Placeholder 39">
            <a:extLst>
              <a:ext uri="{FF2B5EF4-FFF2-40B4-BE49-F238E27FC236}">
                <a16:creationId xmlns:a16="http://schemas.microsoft.com/office/drawing/2014/main" id="{FC4643E0-42A6-49E8-9F03-3C26CB9D6497}"/>
              </a:ext>
            </a:extLst>
          </p:cNvPr>
          <p:cNvSpPr>
            <a:spLocks noGrp="1"/>
          </p:cNvSpPr>
          <p:nvPr>
            <p:ph sz="quarter" idx="34"/>
          </p:nvPr>
        </p:nvSpPr>
        <p:spPr>
          <a:xfrm>
            <a:off x="304800" y="5791200"/>
            <a:ext cx="4267200" cy="365125"/>
          </a:xfrm>
          <a:prstGeom prst="rect">
            <a:avLst/>
          </a:prstGeom>
        </p:spPr>
        <p:txBody>
          <a:bodyPr/>
          <a:lstStyle>
            <a:lvl1pPr marL="0" indent="0">
              <a:buNone/>
              <a:defRPr/>
            </a:lvl1pPr>
          </a:lstStyle>
          <a:p>
            <a:pPr lvl="0"/>
            <a:endParaRPr lang="en-US" dirty="0"/>
          </a:p>
        </p:txBody>
      </p:sp>
      <p:sp>
        <p:nvSpPr>
          <p:cNvPr id="42" name="Content Placeholder 41">
            <a:extLst>
              <a:ext uri="{FF2B5EF4-FFF2-40B4-BE49-F238E27FC236}">
                <a16:creationId xmlns:a16="http://schemas.microsoft.com/office/drawing/2014/main" id="{34298EB3-92EF-4C89-B045-581BE7F6E4C8}"/>
              </a:ext>
            </a:extLst>
          </p:cNvPr>
          <p:cNvSpPr>
            <a:spLocks noGrp="1"/>
          </p:cNvSpPr>
          <p:nvPr>
            <p:ph sz="quarter" idx="35"/>
          </p:nvPr>
        </p:nvSpPr>
        <p:spPr>
          <a:xfrm>
            <a:off x="4724400" y="5791200"/>
            <a:ext cx="4114800" cy="365125"/>
          </a:xfrm>
          <a:prstGeom prst="rect">
            <a:avLst/>
          </a:prstGeom>
        </p:spPr>
        <p:txBody>
          <a:bodyPr/>
          <a:lstStyle>
            <a:lvl1pPr marL="0" indent="0">
              <a:buNone/>
              <a:defRPr/>
            </a:lvl1pPr>
          </a:lstStyle>
          <a:p>
            <a:pPr lvl="0"/>
            <a:endParaRPr lang="en-US" dirty="0"/>
          </a:p>
        </p:txBody>
      </p:sp>
      <p:sp>
        <p:nvSpPr>
          <p:cNvPr id="3" name="Slide Number Placeholder "/>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36740793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mage Slide: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5350050"/>
            <a:ext cx="8534400" cy="309975"/>
          </a:xfrm>
          <a:prstGeom prst="rect">
            <a:avLst/>
          </a:prstGeom>
        </p:spPr>
        <p:txBody>
          <a:bodyPr/>
          <a:lstStyle>
            <a:lvl1pPr>
              <a:defRPr sz="2000" b="0" i="0">
                <a:latin typeface="Calibri" charset="0"/>
                <a:ea typeface="Calibri" charset="0"/>
                <a:cs typeface="Calibri" charset="0"/>
              </a:defRPr>
            </a:lvl1pPr>
          </a:lstStyle>
          <a:p>
            <a:pPr lvl="0"/>
            <a:r>
              <a:rPr lang="en-US" sz="2000" dirty="0"/>
              <a:t>Figure Title</a:t>
            </a:r>
          </a:p>
        </p:txBody>
      </p:sp>
      <p:sp>
        <p:nvSpPr>
          <p:cNvPr id="3" name="Content Placeholder 2"/>
          <p:cNvSpPr>
            <a:spLocks noGrp="1"/>
          </p:cNvSpPr>
          <p:nvPr>
            <p:ph idx="1"/>
          </p:nvPr>
        </p:nvSpPr>
        <p:spPr>
          <a:xfrm>
            <a:off x="304800" y="820738"/>
            <a:ext cx="8534400" cy="4452937"/>
          </a:xfrm>
          <a:prstGeom prst="rect">
            <a:avLst/>
          </a:prstGeom>
        </p:spPr>
        <p:txBody>
          <a:bodyPr/>
          <a:lstStyle>
            <a:lvl1pPr marL="0" indent="0">
              <a:buNone/>
              <a:defRPr b="0" i="0">
                <a:latin typeface="Calibri" charset="0"/>
                <a:ea typeface="Calibri" charset="0"/>
                <a:cs typeface="Calibri" charset="0"/>
              </a:defRPr>
            </a:lvl1pPr>
          </a:lstStyle>
          <a:p>
            <a:pPr lvl="0"/>
            <a:endParaRPr lang="en-US" dirty="0"/>
          </a:p>
        </p:txBody>
      </p:sp>
      <p:sp>
        <p:nvSpPr>
          <p:cNvPr id="8" name="Content Placeholder 7"/>
          <p:cNvSpPr>
            <a:spLocks noGrp="1"/>
          </p:cNvSpPr>
          <p:nvPr>
            <p:ph sz="quarter" idx="13" hasCustomPrompt="1"/>
          </p:nvPr>
        </p:nvSpPr>
        <p:spPr>
          <a:xfrm>
            <a:off x="304800" y="5780675"/>
            <a:ext cx="8534400" cy="467725"/>
          </a:xfrm>
          <a:prstGeom prst="rect">
            <a:avLst/>
          </a:prstGeom>
        </p:spPr>
        <p:txBody>
          <a:bodyPr/>
          <a:lstStyle>
            <a:lvl1pPr marL="0" indent="0">
              <a:buNone/>
              <a:defRPr sz="2000" b="0" i="0">
                <a:latin typeface="Calibri" charset="0"/>
                <a:ea typeface="Calibri" charset="0"/>
                <a:cs typeface="Calibri" charset="0"/>
              </a:defRPr>
            </a:lvl1pPr>
          </a:lstStyle>
          <a:p>
            <a:pPr lvl="0"/>
            <a:r>
              <a:rPr lang="en-US" sz="2000" dirty="0"/>
              <a:t>Figure 4.5 Figure title placeholder</a:t>
            </a:r>
          </a:p>
        </p:txBody>
      </p:sp>
      <p:sp>
        <p:nvSpPr>
          <p:cNvPr id="6" name="Slide Number Placeholder 5"/>
          <p:cNvSpPr>
            <a:spLocks noGrp="1"/>
          </p:cNvSpPr>
          <p:nvPr>
            <p:ph type="sldNum" sz="quarter" idx="12"/>
          </p:nvPr>
        </p:nvSpPr>
        <p:spPr>
          <a:xfrm>
            <a:off x="6457950" y="6356350"/>
            <a:ext cx="2381250" cy="365125"/>
          </a:xfrm>
        </p:spPr>
        <p:txBody>
          <a:bodyPr/>
          <a:lstStyle>
            <a:lvl1pPr>
              <a:defRPr b="0" i="0">
                <a:latin typeface="Calibri" charset="0"/>
                <a:ea typeface="Calibri" charset="0"/>
                <a:cs typeface="Calibri" charset="0"/>
              </a:defRPr>
            </a:lvl1pPr>
          </a:lstStyle>
          <a:p>
            <a:fld id="{42181430-7FCB-BA4C-90CE-EB7ACCC9EC50}" type="slidenum">
              <a:rPr lang="en-US" smtClean="0"/>
              <a:pPr/>
              <a:t>‹#›</a:t>
            </a:fld>
            <a:endParaRPr lang="en-US" dirty="0"/>
          </a:p>
        </p:txBody>
      </p:sp>
      <p:sp>
        <p:nvSpPr>
          <p:cNvPr id="5" name="Footer Placeholder 4"/>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26673764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mage Slide: Version B">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304800" y="5920581"/>
            <a:ext cx="8534400" cy="435770"/>
          </a:xfrm>
          <a:prstGeom prst="rect">
            <a:avLst/>
          </a:prstGeom>
        </p:spPr>
        <p:txBody>
          <a:bodyPr/>
          <a:lstStyle>
            <a:lvl1pPr algn="ctr">
              <a:defRPr b="0" i="0">
                <a:latin typeface="Calibri" charset="0"/>
                <a:ea typeface="Calibri" charset="0"/>
                <a:cs typeface="Calibri" charset="0"/>
              </a:defRPr>
            </a:lvl1pPr>
          </a:lstStyle>
          <a:p>
            <a:r>
              <a:rPr lang="en-US" dirty="0"/>
              <a:t>Image Title</a:t>
            </a:r>
          </a:p>
        </p:txBody>
      </p:sp>
      <p:sp>
        <p:nvSpPr>
          <p:cNvPr id="3" name="Content Placeholder 2"/>
          <p:cNvSpPr>
            <a:spLocks noGrp="1"/>
          </p:cNvSpPr>
          <p:nvPr>
            <p:ph idx="1"/>
          </p:nvPr>
        </p:nvSpPr>
        <p:spPr>
          <a:xfrm>
            <a:off x="304800" y="820738"/>
            <a:ext cx="8534400" cy="4970462"/>
          </a:xfrm>
          <a:prstGeom prst="rect">
            <a:avLst/>
          </a:prstGeom>
        </p:spPr>
        <p:txBody>
          <a:bodyPr/>
          <a:lstStyle>
            <a:lvl1pPr marL="0" indent="0">
              <a:buNone/>
              <a:defRPr b="0" i="0">
                <a:latin typeface="Calibri" charset="0"/>
                <a:ea typeface="Calibri" charset="0"/>
                <a:cs typeface="Calibri" charset="0"/>
              </a:defRPr>
            </a:lvl1pPr>
          </a:lstStyle>
          <a:p>
            <a:pPr lvl="0"/>
            <a:endParaRPr lang="en-US" dirty="0"/>
          </a:p>
        </p:txBody>
      </p:sp>
      <p:sp>
        <p:nvSpPr>
          <p:cNvPr id="6" name="Slide Number Placeholder 5"/>
          <p:cNvSpPr>
            <a:spLocks noGrp="1"/>
          </p:cNvSpPr>
          <p:nvPr>
            <p:ph type="sldNum" sz="quarter" idx="12"/>
          </p:nvPr>
        </p:nvSpPr>
        <p:spPr>
          <a:xfrm>
            <a:off x="6457950" y="6356350"/>
            <a:ext cx="2381250" cy="365125"/>
          </a:xfrm>
        </p:spPr>
        <p:txBody>
          <a:bodyPr/>
          <a:lstStyle>
            <a:lvl1pPr>
              <a:defRPr b="0" i="0">
                <a:latin typeface="Calibri" charset="0"/>
                <a:ea typeface="Calibri" charset="0"/>
                <a:cs typeface="Calibri" charset="0"/>
              </a:defRPr>
            </a:lvl1pPr>
          </a:lstStyle>
          <a:p>
            <a:fld id="{42181430-7FCB-BA4C-90CE-EB7ACCC9EC50}" type="slidenum">
              <a:rPr lang="en-US" smtClean="0"/>
              <a:pPr/>
              <a:t>‹#›</a:t>
            </a:fld>
            <a:endParaRPr lang="en-US" dirty="0"/>
          </a:p>
        </p:txBody>
      </p:sp>
      <p:sp>
        <p:nvSpPr>
          <p:cNvPr id="5" name="Footer Placeholder 4"/>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7.xml"/><Relationship Id="rId1" Type="http://schemas.openxmlformats.org/officeDocument/2006/relationships/slideLayout" Target="../slideLayouts/slideLayout16.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9.xml"/><Relationship Id="rId1" Type="http://schemas.openxmlformats.org/officeDocument/2006/relationships/slideLayout" Target="../slideLayouts/slideLayout18.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theme" Target="../theme/theme6.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32.xml"/><Relationship Id="rId1"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304800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93880275"/>
      </p:ext>
    </p:extLst>
  </p:cSld>
  <p:clrMap bg1="lt1" tx1="dk1" bg2="lt2" tx2="dk2" accent1="accent1" accent2="accent2" accent3="accent3" accent4="accent4" accent5="accent5" accent6="accent6" hlink="hlink" folHlink="folHlink"/>
  <p:sldLayoutIdLst>
    <p:sldLayoutId id="2147483940" r:id="rId1"/>
    <p:sldLayoutId id="2147483941" r:id="rId2"/>
  </p:sldLayoutIdLst>
  <p:hf hdr="0" dt="0"/>
  <p:txStyles>
    <p:titleStyle>
      <a:lvl1pPr algn="ctr" defTabSz="914400" rtl="0" eaLnBrk="1" latinLnBrk="0" hangingPunct="1">
        <a:lnSpc>
          <a:spcPct val="90000"/>
        </a:lnSpc>
        <a:spcBef>
          <a:spcPct val="0"/>
        </a:spcBef>
        <a:buNone/>
        <a:defRPr sz="1100" kern="1200">
          <a:solidFill>
            <a:schemeClr val="tx1"/>
          </a:solidFill>
          <a:latin typeface="Source Sans Pro" charset="0"/>
          <a:ea typeface="Source Sans Pro" charset="0"/>
          <a:cs typeface="Source Sans Pro"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2"/>
          <p:cNvSpPr>
            <a:spLocks noGrp="1"/>
          </p:cNvSpPr>
          <p:nvPr>
            <p:ph type="title"/>
          </p:nvPr>
        </p:nvSpPr>
        <p:spPr>
          <a:xfrm>
            <a:off x="295274" y="777242"/>
            <a:ext cx="8543926" cy="975360"/>
          </a:xfrm>
          <a:prstGeom prst="rect">
            <a:avLst/>
          </a:prstGeom>
        </p:spPr>
        <p:txBody>
          <a:bodyPr vert="horz" lIns="91440" tIns="45720" rIns="91440" bIns="45720" rtlCol="0" anchor="t">
            <a:normAutofit/>
          </a:bodyPr>
          <a:lstStyle/>
          <a:p>
            <a:r>
              <a:rPr lang="en-US" dirty="0"/>
              <a:t>Click to edit Master title style</a:t>
            </a:r>
          </a:p>
        </p:txBody>
      </p:sp>
      <p:sp>
        <p:nvSpPr>
          <p:cNvPr id="16" name="Rectangle 15"/>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mn-lt"/>
                <a:ea typeface="Source Sans Pro" charset="0"/>
                <a:cs typeface="Source Sans Pro" charset="0"/>
              </a:defRPr>
            </a:lvl1pPr>
          </a:lstStyle>
          <a:p>
            <a:fld id="{67B19427-F580-D146-B60E-4CADEE75497F}" type="slidenum">
              <a:rPr lang="en-US" smtClean="0"/>
              <a:pPr/>
              <a:t>‹#›</a:t>
            </a:fld>
            <a:endParaRPr lang="en-US" dirty="0"/>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mn-lt"/>
                <a:ea typeface="Source Sans Pro" charset="0"/>
                <a:cs typeface="Source Sans Pro" charset="0"/>
              </a:defRPr>
            </a:lvl1pPr>
          </a:lstStyle>
          <a:p>
            <a:r>
              <a:rPr lang="en-US"/>
              <a:t>Copyright ©2018 John Wiley &amp; Sons, Inc. </a:t>
            </a:r>
            <a:endParaRPr lang="en-US" dirty="0"/>
          </a:p>
        </p:txBody>
      </p:sp>
    </p:spTree>
    <p:extLst>
      <p:ext uri="{BB962C8B-B14F-4D97-AF65-F5344CB8AC3E}">
        <p14:creationId xmlns:p14="http://schemas.microsoft.com/office/powerpoint/2010/main" val="1611586285"/>
      </p:ext>
    </p:extLst>
  </p:cSld>
  <p:clrMap bg1="lt1" tx1="dk1" bg2="lt2" tx2="dk2" accent1="accent1" accent2="accent2" accent3="accent3" accent4="accent4" accent5="accent5" accent6="accent6" hlink="hlink" folHlink="folHlink"/>
  <p:sldLayoutIdLst>
    <p:sldLayoutId id="2147483937" r:id="rId1"/>
    <p:sldLayoutId id="2147483942" r:id="rId2"/>
    <p:sldLayoutId id="2147483956" r:id="rId3"/>
    <p:sldLayoutId id="2147483955" r:id="rId4"/>
    <p:sldLayoutId id="2147483957" r:id="rId5"/>
    <p:sldLayoutId id="2147483959" r:id="rId6"/>
    <p:sldLayoutId id="2147483958" r:id="rId7"/>
    <p:sldLayoutId id="2147483960" r:id="rId8"/>
    <p:sldLayoutId id="2147483961" r:id="rId9"/>
    <p:sldLayoutId id="2147483962" r:id="rId10"/>
    <p:sldLayoutId id="2147483963" r:id="rId11"/>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743713"/>
            <a:ext cx="85344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tint val="75000"/>
                  </a:schemeClr>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tint val="75000"/>
                  </a:schemeClr>
                </a:solidFill>
                <a:latin typeface="Source Sans Pro" charset="0"/>
                <a:ea typeface="Source Sans Pro" charset="0"/>
                <a:cs typeface="Source Sans Pro" charset="0"/>
              </a:defRPr>
            </a:lvl1pPr>
          </a:lstStyle>
          <a:p>
            <a:r>
              <a:rPr lang="en-US" dirty="0"/>
              <a:t>Copyright ©2018 John Wiley &amp; Sons, Inc. </a:t>
            </a:r>
          </a:p>
        </p:txBody>
      </p:sp>
    </p:spTree>
    <p:extLst>
      <p:ext uri="{BB962C8B-B14F-4D97-AF65-F5344CB8AC3E}">
        <p14:creationId xmlns:p14="http://schemas.microsoft.com/office/powerpoint/2010/main" val="1811935529"/>
      </p:ext>
    </p:extLst>
  </p:cSld>
  <p:clrMap bg1="lt1" tx1="dk1" bg2="lt2" tx2="dk2" accent1="accent1" accent2="accent2" accent3="accent3" accent4="accent4" accent5="accent5" accent6="accent6" hlink="hlink" folHlink="folHlink"/>
  <p:sldLayoutIdLst>
    <p:sldLayoutId id="2147483944" r:id="rId1"/>
    <p:sldLayoutId id="2147483964" r:id="rId2"/>
  </p:sldLayoutIdLst>
  <p:hf hdr="0" dt="0"/>
  <p:txStyles>
    <p:titleStyle>
      <a:lvl1pPr algn="l" defTabSz="914400" rtl="0" eaLnBrk="1" latinLnBrk="0" hangingPunct="1">
        <a:lnSpc>
          <a:spcPct val="90000"/>
        </a:lnSpc>
        <a:spcBef>
          <a:spcPct val="0"/>
        </a:spcBef>
        <a:buNone/>
        <a:defRPr sz="4000" kern="1200">
          <a:solidFill>
            <a:schemeClr val="accent2"/>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8704" y="762002"/>
            <a:ext cx="8540496" cy="990600"/>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mn-lt"/>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mn-lt"/>
                <a:ea typeface="Source Sans Pro" charset="0"/>
                <a:cs typeface="Source Sans Pro" charset="0"/>
              </a:defRPr>
            </a:lvl1pPr>
          </a:lstStyle>
          <a:p>
            <a:r>
              <a:rPr lang="en-US"/>
              <a:t>Copyright ©2018 John Wiley &amp; Sons, Inc. </a:t>
            </a:r>
            <a:endParaRPr lang="en-US" dirty="0"/>
          </a:p>
        </p:txBody>
      </p:sp>
    </p:spTree>
    <p:extLst>
      <p:ext uri="{BB962C8B-B14F-4D97-AF65-F5344CB8AC3E}">
        <p14:creationId xmlns:p14="http://schemas.microsoft.com/office/powerpoint/2010/main" val="332194706"/>
      </p:ext>
    </p:extLst>
  </p:cSld>
  <p:clrMap bg1="lt1" tx1="dk1" bg2="lt2" tx2="dk2" accent1="accent1" accent2="accent2" accent3="accent3" accent4="accent4" accent5="accent5" accent6="accent6" hlink="hlink" folHlink="folHlink"/>
  <p:sldLayoutIdLst>
    <p:sldLayoutId id="2147483966" r:id="rId1"/>
    <p:sldLayoutId id="2147483967" r:id="rId2"/>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762000"/>
            <a:ext cx="85344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tint val="75000"/>
                  </a:schemeClr>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tint val="75000"/>
                  </a:schemeClr>
                </a:solidFill>
                <a:latin typeface="Source Sans Pro" charset="0"/>
                <a:ea typeface="Source Sans Pro" charset="0"/>
                <a:cs typeface="Source Sans Pro" charset="0"/>
              </a:defRPr>
            </a:lvl1pPr>
          </a:lstStyle>
          <a:p>
            <a:r>
              <a:rPr lang="en-US" dirty="0"/>
              <a:t>Copyright ©2018 John Wiley &amp; Sons, Inc. </a:t>
            </a:r>
          </a:p>
        </p:txBody>
      </p:sp>
    </p:spTree>
    <p:extLst>
      <p:ext uri="{BB962C8B-B14F-4D97-AF65-F5344CB8AC3E}">
        <p14:creationId xmlns:p14="http://schemas.microsoft.com/office/powerpoint/2010/main" val="1616953850"/>
      </p:ext>
    </p:extLst>
  </p:cSld>
  <p:clrMap bg1="lt1" tx1="dk1" bg2="lt2" tx2="dk2" accent1="accent1" accent2="accent2" accent3="accent3" accent4="accent4" accent5="accent5" accent6="accent6" hlink="hlink" folHlink="folHlink"/>
  <p:sldLayoutIdLst>
    <p:sldLayoutId id="2147483969" r:id="rId1"/>
    <p:sldLayoutId id="2147483970" r:id="rId2"/>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86512" y="762000"/>
            <a:ext cx="85344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mn-lt"/>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mn-lt"/>
                <a:ea typeface="Source Sans Pro" charset="0"/>
                <a:cs typeface="Source Sans Pro" charset="0"/>
              </a:defRPr>
            </a:lvl1pPr>
          </a:lstStyle>
          <a:p>
            <a:r>
              <a:rPr lang="en-US"/>
              <a:t>Copyright ©2018 John Wiley &amp; Sons, Inc. </a:t>
            </a:r>
            <a:endParaRPr lang="en-US" dirty="0"/>
          </a:p>
        </p:txBody>
      </p:sp>
    </p:spTree>
    <p:extLst>
      <p:ext uri="{BB962C8B-B14F-4D97-AF65-F5344CB8AC3E}">
        <p14:creationId xmlns:p14="http://schemas.microsoft.com/office/powerpoint/2010/main" val="302625734"/>
      </p:ext>
    </p:extLst>
  </p:cSld>
  <p:clrMap bg1="lt1" tx1="dk1" bg2="lt2" tx2="dk2" accent1="accent1" accent2="accent2" accent3="accent3" accent4="accent4" accent5="accent5" accent6="accent6" hlink="hlink" folHlink="folHlink"/>
  <p:sldLayoutIdLst>
    <p:sldLayoutId id="2147483972" r:id="rId1"/>
    <p:sldLayoutId id="2147483973" r:id="rId2"/>
    <p:sldLayoutId id="2147483984" r:id="rId3"/>
    <p:sldLayoutId id="2147483985" r:id="rId4"/>
    <p:sldLayoutId id="2147483980" r:id="rId5"/>
    <p:sldLayoutId id="2147483981" r:id="rId6"/>
    <p:sldLayoutId id="2147483982" r:id="rId7"/>
    <p:sldLayoutId id="2147483983" r:id="rId8"/>
    <p:sldLayoutId id="2147483974" r:id="rId9"/>
    <p:sldLayoutId id="2147483975" r:id="rId10"/>
    <p:sldLayoutId id="2147483986" r:id="rId11"/>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3028950" y="640080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Copyright ©2018 John Wiley &amp; Sons, Inc. </a:t>
            </a:r>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181430-7FCB-BA4C-90CE-EB7ACCC9EC50}" type="slidenum">
              <a:rPr lang="en-US" smtClean="0"/>
              <a:t>‹#›</a:t>
            </a:fld>
            <a:endParaRPr lang="en-US"/>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216900"/>
      </p:ext>
    </p:extLst>
  </p:cSld>
  <p:clrMap bg1="lt1" tx1="dk1" bg2="lt2" tx2="dk2" accent1="accent1" accent2="accent2" accent3="accent3" accent4="accent4" accent5="accent5" accent6="accent6" hlink="hlink" folHlink="folHlink"/>
  <p:sldLayoutIdLst>
    <p:sldLayoutId id="2147483978" r:id="rId1"/>
    <p:sldLayoutId id="2147483979" r:id="rId2"/>
  </p:sldLayoutIdLst>
  <p:hf hdr="0" dt="0"/>
  <p:txStyles>
    <p:titleStyle>
      <a:lvl1pPr algn="l" defTabSz="914400" rtl="0" eaLnBrk="1" latinLnBrk="0" hangingPunct="1">
        <a:lnSpc>
          <a:spcPct val="90000"/>
        </a:lnSpc>
        <a:spcBef>
          <a:spcPct val="0"/>
        </a:spcBef>
        <a:buNone/>
        <a:defRPr sz="1600" b="0" i="0" kern="1200">
          <a:solidFill>
            <a:schemeClr val="tx1"/>
          </a:solidFill>
          <a:latin typeface="Source Sans Pro" charset="0"/>
          <a:ea typeface="Source Sans Pro" charset="0"/>
          <a:cs typeface="Source Sans Pro"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9.xml"/></Relationships>
</file>

<file path=ppt/slides/_rels/slide2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9.xml"/></Relationships>
</file>

<file path=ppt/slides/_rels/slide2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9.xml"/></Relationships>
</file>

<file path=ppt/slides/_rels/slide2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9.xml"/></Relationships>
</file>

<file path=ppt/slides/_rels/slide2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9.xml"/></Relationships>
</file>

<file path=ppt/slides/_rels/slide2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9.xml"/></Relationships>
</file>

<file path=ppt/slides/_rels/slide2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9.xml"/></Relationships>
</file>

<file path=ppt/slides/_rels/slide28.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9.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8.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8.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152400" y="301126"/>
            <a:ext cx="8839200" cy="1146674"/>
          </a:xfrm>
        </p:spPr>
        <p:txBody>
          <a:bodyPr/>
          <a:lstStyle/>
          <a:p>
            <a:r>
              <a:rPr lang="en-US" dirty="0">
                <a:latin typeface="Calibri" panose="020F0502020204030204" pitchFamily="34" charset="0"/>
              </a:rPr>
              <a:t>Accounting Principles</a:t>
            </a:r>
          </a:p>
        </p:txBody>
      </p:sp>
      <p:sp>
        <p:nvSpPr>
          <p:cNvPr id="3" name="Edition"/>
          <p:cNvSpPr>
            <a:spLocks noGrp="1"/>
          </p:cNvSpPr>
          <p:nvPr>
            <p:ph sz="quarter" idx="17"/>
          </p:nvPr>
        </p:nvSpPr>
        <p:spPr>
          <a:xfrm>
            <a:off x="152400" y="1669054"/>
            <a:ext cx="8839200" cy="503802"/>
          </a:xfrm>
        </p:spPr>
        <p:txBody>
          <a:bodyPr/>
          <a:lstStyle/>
          <a:p>
            <a:r>
              <a:rPr lang="en-US" dirty="0"/>
              <a:t>Thirteenth Edition</a:t>
            </a:r>
          </a:p>
        </p:txBody>
      </p:sp>
      <p:sp>
        <p:nvSpPr>
          <p:cNvPr id="4" name="Author"/>
          <p:cNvSpPr>
            <a:spLocks noGrp="1"/>
          </p:cNvSpPr>
          <p:nvPr>
            <p:ph sz="quarter" idx="18"/>
          </p:nvPr>
        </p:nvSpPr>
        <p:spPr>
          <a:xfrm>
            <a:off x="152400" y="2364849"/>
            <a:ext cx="8839200" cy="468411"/>
          </a:xfrm>
        </p:spPr>
        <p:txBody>
          <a:bodyPr/>
          <a:lstStyle/>
          <a:p>
            <a:r>
              <a:rPr lang="en-US" dirty="0"/>
              <a:t>Weygandt </a:t>
            </a:r>
            <a:r>
              <a:rPr lang="en-US" dirty="0">
                <a:ea typeface="STIX" charset="0"/>
                <a:cs typeface="STIX" charset="0"/>
              </a:rPr>
              <a:t>● </a:t>
            </a:r>
            <a:r>
              <a:rPr lang="en-US" dirty="0"/>
              <a:t>Kimmel </a:t>
            </a:r>
            <a:r>
              <a:rPr lang="en-US" dirty="0">
                <a:ea typeface="STIX" charset="0"/>
                <a:cs typeface="STIX" charset="0"/>
              </a:rPr>
              <a:t>● </a:t>
            </a:r>
            <a:r>
              <a:rPr lang="en-US" dirty="0"/>
              <a:t>Kieso</a:t>
            </a:r>
          </a:p>
        </p:txBody>
      </p:sp>
      <p:sp>
        <p:nvSpPr>
          <p:cNvPr id="5" name="CN"/>
          <p:cNvSpPr>
            <a:spLocks noGrp="1"/>
          </p:cNvSpPr>
          <p:nvPr>
            <p:ph sz="quarter" idx="19"/>
          </p:nvPr>
        </p:nvSpPr>
        <p:spPr>
          <a:xfrm>
            <a:off x="152400" y="3728006"/>
            <a:ext cx="8839200" cy="645414"/>
          </a:xfrm>
        </p:spPr>
        <p:txBody>
          <a:bodyPr/>
          <a:lstStyle/>
          <a:p>
            <a:r>
              <a:rPr lang="en-US" b="1" dirty="0"/>
              <a:t>Chapter 1</a:t>
            </a:r>
          </a:p>
        </p:txBody>
      </p:sp>
      <p:sp>
        <p:nvSpPr>
          <p:cNvPr id="6" name="CT"/>
          <p:cNvSpPr>
            <a:spLocks noGrp="1"/>
          </p:cNvSpPr>
          <p:nvPr>
            <p:ph sz="quarter" idx="20"/>
          </p:nvPr>
        </p:nvSpPr>
        <p:spPr>
          <a:xfrm>
            <a:off x="152400" y="4856282"/>
            <a:ext cx="8839200" cy="706318"/>
          </a:xfrm>
        </p:spPr>
        <p:txBody>
          <a:bodyPr/>
          <a:lstStyle/>
          <a:p>
            <a:pPr>
              <a:spcBef>
                <a:spcPts val="0"/>
              </a:spcBef>
            </a:pPr>
            <a:r>
              <a:rPr lang="en-US" sz="4000" dirty="0"/>
              <a:t>Accounting in Action</a:t>
            </a:r>
          </a:p>
        </p:txBody>
      </p:sp>
      <p:sp>
        <p:nvSpPr>
          <p:cNvPr id="7" name="Content Placeholder 6"/>
          <p:cNvSpPr>
            <a:spLocks noGrp="1"/>
          </p:cNvSpPr>
          <p:nvPr>
            <p:ph sz="quarter" idx="21"/>
          </p:nvPr>
        </p:nvSpPr>
        <p:spPr>
          <a:xfrm>
            <a:off x="152400" y="5715000"/>
            <a:ext cx="8839200" cy="533400"/>
          </a:xfrm>
        </p:spPr>
        <p:txBody>
          <a:bodyPr/>
          <a:lstStyle/>
          <a:p>
            <a:r>
              <a:rPr lang="en-IN" sz="1600" dirty="0">
                <a:solidFill>
                  <a:schemeClr val="bg1"/>
                </a:solidFill>
                <a:latin typeface="Calibri" panose="020F0502020204030204" pitchFamily="34" charset="0"/>
              </a:rPr>
              <a:t>This slide deck contains animations. Please disable animations if they cause issues with your device.</a:t>
            </a:r>
          </a:p>
        </p:txBody>
      </p:sp>
    </p:spTree>
    <p:extLst>
      <p:ext uri="{BB962C8B-B14F-4D97-AF65-F5344CB8AC3E}">
        <p14:creationId xmlns:p14="http://schemas.microsoft.com/office/powerpoint/2010/main" val="2870565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
          <p:cNvSpPr>
            <a:spLocks noGrp="1"/>
          </p:cNvSpPr>
          <p:nvPr>
            <p:ph type="title"/>
          </p:nvPr>
        </p:nvSpPr>
        <p:spPr>
          <a:xfrm>
            <a:off x="304800" y="762001"/>
            <a:ext cx="8534400" cy="685799"/>
          </a:xfrm>
          <a:prstGeom prst="rect">
            <a:avLst/>
          </a:prstGeom>
        </p:spPr>
        <p:txBody>
          <a:bodyPr/>
          <a:lstStyle/>
          <a:p>
            <a:r>
              <a:rPr lang="en-US" b="1" dirty="0">
                <a:solidFill>
                  <a:schemeClr val="accent1"/>
                </a:solidFill>
                <a:ea typeface="Source Sans Pro" charset="0"/>
              </a:rPr>
              <a:t>Chapter Outline</a:t>
            </a:r>
            <a:endParaRPr lang="en-US" sz="2400" dirty="0">
              <a:solidFill>
                <a:schemeClr val="accent1"/>
              </a:solidFill>
            </a:endParaRPr>
          </a:p>
        </p:txBody>
      </p:sp>
      <p:sp>
        <p:nvSpPr>
          <p:cNvPr id="4" name="COBBL"/>
          <p:cNvSpPr>
            <a:spLocks noGrp="1"/>
          </p:cNvSpPr>
          <p:nvPr>
            <p:ph sz="quarter" idx="16"/>
          </p:nvPr>
        </p:nvSpPr>
        <p:spPr>
          <a:xfrm>
            <a:off x="304800" y="1752600"/>
            <a:ext cx="8763000" cy="4267200"/>
          </a:xfrm>
        </p:spPr>
        <p:txBody>
          <a:bodyPr/>
          <a:lstStyle/>
          <a:p>
            <a:pPr marL="690563" lvl="1" indent="-690563">
              <a:spcBef>
                <a:spcPts val="1000"/>
              </a:spcBef>
              <a:buNone/>
            </a:pPr>
            <a:r>
              <a:rPr lang="en-US" sz="2600" b="1" dirty="0">
                <a:solidFill>
                  <a:schemeClr val="accent2"/>
                </a:solidFill>
                <a:latin typeface="Calibri" panose="020F0502020204030204" pitchFamily="34" charset="0"/>
              </a:rPr>
              <a:t>Learning Objectives</a:t>
            </a:r>
          </a:p>
          <a:p>
            <a:pPr marL="690563" indent="-690563"/>
            <a:r>
              <a:rPr lang="en-US" sz="2600" b="1" dirty="0">
                <a:solidFill>
                  <a:srgbClr val="990000"/>
                </a:solidFill>
                <a:latin typeface="Calibri" panose="020F0502020204030204" pitchFamily="34" charset="0"/>
              </a:rPr>
              <a:t>L</a:t>
            </a:r>
            <a:r>
              <a:rPr lang="en-US" sz="100" b="1" dirty="0">
                <a:solidFill>
                  <a:srgbClr val="990000"/>
                </a:solidFill>
                <a:latin typeface="Calibri" panose="020F0502020204030204" pitchFamily="34" charset="0"/>
              </a:rPr>
              <a:t> </a:t>
            </a:r>
            <a:r>
              <a:rPr lang="en-US" sz="2600" b="1" dirty="0">
                <a:solidFill>
                  <a:srgbClr val="990000"/>
                </a:solidFill>
                <a:latin typeface="Calibri" panose="020F0502020204030204" pitchFamily="34" charset="0"/>
              </a:rPr>
              <a:t>O 1 </a:t>
            </a:r>
            <a:r>
              <a:rPr lang="en-US" sz="2600" dirty="0">
                <a:latin typeface="Calibri" panose="020F0502020204030204" pitchFamily="34" charset="0"/>
              </a:rPr>
              <a:t>Identify the activities and users associated with accounting.</a:t>
            </a:r>
          </a:p>
          <a:p>
            <a:pPr marL="690563" indent="-690563"/>
            <a:r>
              <a:rPr lang="en-US" sz="2600" b="1" dirty="0">
                <a:solidFill>
                  <a:srgbClr val="990000"/>
                </a:solidFill>
                <a:latin typeface="Calibri" panose="020F0502020204030204" pitchFamily="34" charset="0"/>
              </a:rPr>
              <a:t>L</a:t>
            </a:r>
            <a:r>
              <a:rPr lang="en-US" sz="100" b="1" dirty="0">
                <a:solidFill>
                  <a:srgbClr val="990000"/>
                </a:solidFill>
                <a:latin typeface="Calibri" panose="020F0502020204030204" pitchFamily="34" charset="0"/>
              </a:rPr>
              <a:t> </a:t>
            </a:r>
            <a:r>
              <a:rPr lang="en-US" sz="2600" b="1" dirty="0">
                <a:solidFill>
                  <a:srgbClr val="990000"/>
                </a:solidFill>
                <a:latin typeface="Calibri" panose="020F0502020204030204" pitchFamily="34" charset="0"/>
              </a:rPr>
              <a:t>O 2 </a:t>
            </a:r>
            <a:r>
              <a:rPr lang="en-US" sz="2600" dirty="0">
                <a:latin typeface="Calibri" panose="020F0502020204030204" pitchFamily="34" charset="0"/>
              </a:rPr>
              <a:t>State the accounting equation, and define its components.</a:t>
            </a:r>
          </a:p>
          <a:p>
            <a:pPr marL="690563" indent="-690563"/>
            <a:r>
              <a:rPr lang="en-US" sz="2600" b="1" dirty="0">
                <a:solidFill>
                  <a:srgbClr val="990000"/>
                </a:solidFill>
                <a:latin typeface="Calibri" panose="020F0502020204030204" pitchFamily="34" charset="0"/>
              </a:rPr>
              <a:t>L</a:t>
            </a:r>
            <a:r>
              <a:rPr lang="en-US" sz="100" b="1" dirty="0">
                <a:solidFill>
                  <a:srgbClr val="990000"/>
                </a:solidFill>
                <a:latin typeface="Calibri" panose="020F0502020204030204" pitchFamily="34" charset="0"/>
              </a:rPr>
              <a:t> </a:t>
            </a:r>
            <a:r>
              <a:rPr lang="en-US" sz="2600" b="1" dirty="0">
                <a:solidFill>
                  <a:srgbClr val="990000"/>
                </a:solidFill>
                <a:latin typeface="Calibri" panose="020F0502020204030204" pitchFamily="34" charset="0"/>
              </a:rPr>
              <a:t>O 3 </a:t>
            </a:r>
            <a:r>
              <a:rPr lang="en-US" sz="2600" dirty="0">
                <a:latin typeface="Calibri" panose="020F0502020204030204" pitchFamily="34" charset="0"/>
              </a:rPr>
              <a:t>Analyze the effects of business transactions on the accounting equation.</a:t>
            </a:r>
          </a:p>
          <a:p>
            <a:pPr marL="690563" indent="-690563"/>
            <a:r>
              <a:rPr lang="en-US" sz="2600" b="1" dirty="0">
                <a:solidFill>
                  <a:srgbClr val="990000"/>
                </a:solidFill>
                <a:latin typeface="Calibri" panose="020F0502020204030204" pitchFamily="34" charset="0"/>
              </a:rPr>
              <a:t>L</a:t>
            </a:r>
            <a:r>
              <a:rPr lang="en-US" sz="100" b="1" dirty="0">
                <a:solidFill>
                  <a:srgbClr val="990000"/>
                </a:solidFill>
                <a:latin typeface="Calibri" panose="020F0502020204030204" pitchFamily="34" charset="0"/>
              </a:rPr>
              <a:t> </a:t>
            </a:r>
            <a:r>
              <a:rPr lang="en-US" sz="2600" b="1" dirty="0">
                <a:solidFill>
                  <a:srgbClr val="990000"/>
                </a:solidFill>
                <a:latin typeface="Calibri" panose="020F0502020204030204" pitchFamily="34" charset="0"/>
              </a:rPr>
              <a:t>O 4 </a:t>
            </a:r>
            <a:r>
              <a:rPr lang="en-US" sz="2600" dirty="0">
                <a:latin typeface="Calibri" panose="020F0502020204030204" pitchFamily="34" charset="0"/>
              </a:rPr>
              <a:t>Describe the four financial statements and how they are prepared.</a:t>
            </a:r>
          </a:p>
        </p:txBody>
      </p:sp>
      <p:sp>
        <p:nvSpPr>
          <p:cNvPr id="5" name="Slide Number Placeholder"/>
          <p:cNvSpPr>
            <a:spLocks noGrp="1"/>
          </p:cNvSpPr>
          <p:nvPr>
            <p:ph type="sldNum" sz="quarter" idx="10"/>
          </p:nvPr>
        </p:nvSpPr>
        <p:spPr/>
        <p:txBody>
          <a:bodyPr/>
          <a:lstStyle/>
          <a:p>
            <a:fld id="{67B19427-F580-D146-B60E-4CADEE75497F}" type="slidenum">
              <a:rPr lang="en-US" smtClean="0"/>
              <a:t>2</a:t>
            </a:fld>
            <a:endParaRPr lang="en-US"/>
          </a:p>
        </p:txBody>
      </p:sp>
      <p:sp>
        <p:nvSpPr>
          <p:cNvPr id="6" name="Footer Placeholder"/>
          <p:cNvSpPr>
            <a:spLocks noGrp="1"/>
          </p:cNvSpPr>
          <p:nvPr>
            <p:ph type="ftr" sz="quarter" idx="11"/>
          </p:nvPr>
        </p:nvSpPr>
        <p:spPr/>
        <p:txBody>
          <a:bodyPr/>
          <a:lstStyle/>
          <a:p>
            <a:r>
              <a:rPr lang="en-US" dirty="0"/>
              <a:t>Copyright ©2018 John Wiley &amp; Sons, Inc. </a:t>
            </a:r>
          </a:p>
        </p:txBody>
      </p:sp>
    </p:spTree>
    <p:extLst>
      <p:ext uri="{BB962C8B-B14F-4D97-AF65-F5344CB8AC3E}">
        <p14:creationId xmlns:p14="http://schemas.microsoft.com/office/powerpoint/2010/main" val="1490558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01645D6-7AEA-4BEB-AD4A-0221B028CA09}"/>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Accounting Activities and Users</a:t>
            </a:r>
            <a:endParaRPr lang="en-US" dirty="0">
              <a:latin typeface="Calibri" panose="020F0502020204030204" pitchFamily="34" charset="0"/>
            </a:endParaRPr>
          </a:p>
        </p:txBody>
      </p:sp>
      <p:sp>
        <p:nvSpPr>
          <p:cNvPr id="8" name="Content Placeholder 7">
            <a:extLst>
              <a:ext uri="{FF2B5EF4-FFF2-40B4-BE49-F238E27FC236}">
                <a16:creationId xmlns:a16="http://schemas.microsoft.com/office/drawing/2014/main" id="{6B4203CF-B8B6-4DB2-B733-2CB89F474675}"/>
              </a:ext>
            </a:extLst>
          </p:cNvPr>
          <p:cNvSpPr>
            <a:spLocks noGrp="1"/>
          </p:cNvSpPr>
          <p:nvPr>
            <p:ph sz="quarter" idx="16"/>
          </p:nvPr>
        </p:nvSpPr>
        <p:spPr>
          <a:xfrm>
            <a:off x="304800" y="1828800"/>
            <a:ext cx="8686800" cy="2362200"/>
          </a:xfrm>
        </p:spPr>
        <p:txBody>
          <a:bodyPr/>
          <a:lstStyle/>
          <a:p>
            <a:pPr>
              <a:lnSpc>
                <a:spcPct val="100000"/>
              </a:lnSpc>
              <a:spcBef>
                <a:spcPts val="1200"/>
              </a:spcBef>
              <a:buSzPct val="95000"/>
            </a:pPr>
            <a:r>
              <a:rPr lang="en-US" altLang="en-US" sz="2900" b="1" dirty="0">
                <a:solidFill>
                  <a:schemeClr val="accent4"/>
                </a:solidFill>
                <a:latin typeface="Calibri" panose="020F0502020204030204" pitchFamily="34" charset="0"/>
              </a:rPr>
              <a:t>Accounting</a:t>
            </a:r>
            <a:r>
              <a:rPr lang="en-US" altLang="en-US" dirty="0">
                <a:solidFill>
                  <a:srgbClr val="0000CC"/>
                </a:solidFill>
                <a:latin typeface="Calibri" panose="020F0502020204030204" pitchFamily="34" charset="0"/>
              </a:rPr>
              <a:t> </a:t>
            </a:r>
            <a:r>
              <a:rPr lang="en-US" altLang="en-US" dirty="0">
                <a:latin typeface="Calibri" panose="020F0502020204030204" pitchFamily="34" charset="0"/>
              </a:rPr>
              <a:t>consists of </a:t>
            </a:r>
            <a:r>
              <a:rPr lang="en-US" altLang="en-US" b="1" dirty="0">
                <a:solidFill>
                  <a:srgbClr val="990000"/>
                </a:solidFill>
                <a:latin typeface="Calibri" panose="020F0502020204030204" pitchFamily="34" charset="0"/>
              </a:rPr>
              <a:t>three activities</a:t>
            </a:r>
          </a:p>
          <a:p>
            <a:pPr marL="402336" lvl="1" indent="-402336">
              <a:spcBef>
                <a:spcPts val="1000"/>
              </a:spcBef>
              <a:buClr>
                <a:schemeClr val="accent2"/>
              </a:buClr>
              <a:buSzPct val="100000"/>
              <a:buFont typeface="+mj-lt"/>
              <a:buAutoNum type="arabicPeriod"/>
            </a:pPr>
            <a:r>
              <a:rPr lang="en-US" altLang="en-US" sz="2800" b="1" dirty="0">
                <a:latin typeface="Calibri" panose="020F0502020204030204" pitchFamily="34" charset="0"/>
              </a:rPr>
              <a:t>Identification </a:t>
            </a:r>
            <a:r>
              <a:rPr lang="en-US" altLang="en-US" sz="2800" dirty="0">
                <a:latin typeface="Calibri" panose="020F0502020204030204" pitchFamily="34" charset="0"/>
              </a:rPr>
              <a:t>–</a:t>
            </a:r>
            <a:r>
              <a:rPr lang="en-US" altLang="en-US" sz="2800" b="1" dirty="0">
                <a:latin typeface="Calibri" panose="020F0502020204030204" pitchFamily="34" charset="0"/>
              </a:rPr>
              <a:t> </a:t>
            </a:r>
            <a:r>
              <a:rPr lang="en-US" altLang="en-US" sz="2800" dirty="0">
                <a:latin typeface="Calibri" panose="020F0502020204030204" pitchFamily="34" charset="0"/>
              </a:rPr>
              <a:t>Identify economic events (relevant to its business)</a:t>
            </a:r>
          </a:p>
          <a:p>
            <a:pPr marL="402336" lvl="1" indent="-402336">
              <a:spcBef>
                <a:spcPts val="1000"/>
              </a:spcBef>
              <a:buClr>
                <a:schemeClr val="accent2"/>
              </a:buClr>
              <a:buSzPct val="100000"/>
              <a:buFont typeface="+mj-lt"/>
              <a:buAutoNum type="arabicPeriod"/>
            </a:pPr>
            <a:r>
              <a:rPr lang="en-US" altLang="en-US" sz="2800" b="1" dirty="0">
                <a:latin typeface="Calibri" panose="020F0502020204030204" pitchFamily="34" charset="0"/>
              </a:rPr>
              <a:t>Recording</a:t>
            </a:r>
            <a:r>
              <a:rPr lang="en-US" altLang="en-US" sz="2800" dirty="0">
                <a:latin typeface="Calibri" panose="020F0502020204030204" pitchFamily="34" charset="0"/>
              </a:rPr>
              <a:t> - Record, classify, and summarize</a:t>
            </a:r>
          </a:p>
          <a:p>
            <a:pPr marL="402336" lvl="1" indent="-402336">
              <a:spcBef>
                <a:spcPts val="1000"/>
              </a:spcBef>
              <a:buClr>
                <a:schemeClr val="accent2"/>
              </a:buClr>
              <a:buSzPct val="100000"/>
              <a:buFont typeface="+mj-lt"/>
              <a:buAutoNum type="arabicPeriod"/>
            </a:pPr>
            <a:r>
              <a:rPr lang="en-US" altLang="en-US" sz="2800" b="1" dirty="0">
                <a:latin typeface="Calibri" panose="020F0502020204030204" pitchFamily="34" charset="0"/>
              </a:rPr>
              <a:t>Communication</a:t>
            </a:r>
            <a:endParaRPr lang="en-US" altLang="en-US" sz="2800" dirty="0">
              <a:latin typeface="Calibri" panose="020F0502020204030204" pitchFamily="34" charset="0"/>
            </a:endParaRPr>
          </a:p>
        </p:txBody>
      </p:sp>
      <p:sp>
        <p:nvSpPr>
          <p:cNvPr id="2" name="Content Placeholder 1"/>
          <p:cNvSpPr>
            <a:spLocks noGrp="1"/>
          </p:cNvSpPr>
          <p:nvPr>
            <p:ph sz="quarter" idx="17"/>
          </p:nvPr>
        </p:nvSpPr>
        <p:spPr>
          <a:xfrm>
            <a:off x="304800" y="4281055"/>
            <a:ext cx="8534400" cy="900545"/>
          </a:xfrm>
        </p:spPr>
        <p:txBody>
          <a:bodyPr/>
          <a:lstStyle/>
          <a:p>
            <a:pPr marL="621792" lvl="2" indent="-320040">
              <a:buClr>
                <a:srgbClr val="990000"/>
              </a:buClr>
              <a:buSzPct val="100000"/>
            </a:pPr>
            <a:r>
              <a:rPr lang="en-US" altLang="en-US" sz="2600" dirty="0">
                <a:latin typeface="Calibri" panose="020F0502020204030204" pitchFamily="34" charset="0"/>
              </a:rPr>
              <a:t>Prepare accounting reports</a:t>
            </a:r>
          </a:p>
          <a:p>
            <a:pPr marL="621792" lvl="2" indent="-320040">
              <a:buClr>
                <a:srgbClr val="990000"/>
              </a:buClr>
              <a:buSzPct val="100000"/>
            </a:pPr>
            <a:r>
              <a:rPr lang="en-US" altLang="en-US" sz="2600" dirty="0">
                <a:latin typeface="Calibri" panose="020F0502020204030204" pitchFamily="34" charset="0"/>
              </a:rPr>
              <a:t>Analyze and interpret the reported information</a:t>
            </a:r>
          </a:p>
        </p:txBody>
      </p:sp>
      <p:sp>
        <p:nvSpPr>
          <p:cNvPr id="5" name="Slide Number Placeholder 4">
            <a:extLst>
              <a:ext uri="{FF2B5EF4-FFF2-40B4-BE49-F238E27FC236}">
                <a16:creationId xmlns:a16="http://schemas.microsoft.com/office/drawing/2014/main" id="{BE45A5AE-E6B9-42B4-B16F-6725B2881AF5}"/>
              </a:ext>
            </a:extLst>
          </p:cNvPr>
          <p:cNvSpPr>
            <a:spLocks noGrp="1"/>
          </p:cNvSpPr>
          <p:nvPr>
            <p:ph type="sldNum" sz="quarter" idx="10"/>
          </p:nvPr>
        </p:nvSpPr>
        <p:spPr/>
        <p:txBody>
          <a:bodyPr/>
          <a:lstStyle/>
          <a:p>
            <a:fld id="{67B19427-F580-D146-B60E-4CADEE75497F}" type="slidenum">
              <a:rPr lang="en-US" smtClean="0">
                <a:latin typeface="Calibri" panose="020F0502020204030204" pitchFamily="34" charset="0"/>
              </a:rPr>
              <a:pPr/>
              <a:t>3</a:t>
            </a:fld>
            <a:endParaRPr lang="en-US" dirty="0">
              <a:latin typeface="Calibri" panose="020F0502020204030204" pitchFamily="34" charset="0"/>
            </a:endParaRPr>
          </a:p>
        </p:txBody>
      </p:sp>
      <p:sp>
        <p:nvSpPr>
          <p:cNvPr id="6" name="Footer Placeholder 5">
            <a:extLst>
              <a:ext uri="{FF2B5EF4-FFF2-40B4-BE49-F238E27FC236}">
                <a16:creationId xmlns:a16="http://schemas.microsoft.com/office/drawing/2014/main" id="{38DA3CC3-B80C-4BD3-890C-63D2F0634E0C}"/>
              </a:ext>
            </a:extLst>
          </p:cNvPr>
          <p:cNvSpPr>
            <a:spLocks noGrp="1"/>
          </p:cNvSpPr>
          <p:nvPr>
            <p:ph type="ftr" sz="quarter" idx="11"/>
          </p:nvPr>
        </p:nvSpPr>
        <p:spPr/>
        <p:txBody>
          <a:bodyPr/>
          <a:lstStyle/>
          <a:p>
            <a:r>
              <a:rPr lang="en-US">
                <a:latin typeface="Calibri" panose="020F0502020204030204" pitchFamily="34" charset="0"/>
              </a:rPr>
              <a:t>Copyright ©2018 John Wiley &amp; Sons, Inc. </a:t>
            </a:r>
            <a:endParaRPr lang="en-US" dirty="0">
              <a:latin typeface="Calibri" panose="020F0502020204030204" pitchFamily="34" charset="0"/>
            </a:endParaRPr>
          </a:p>
        </p:txBody>
      </p:sp>
    </p:spTree>
    <p:extLst>
      <p:ext uri="{BB962C8B-B14F-4D97-AF65-F5344CB8AC3E}">
        <p14:creationId xmlns:p14="http://schemas.microsoft.com/office/powerpoint/2010/main" val="232474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83CC7-D21C-454D-A81A-9A5F6FA5361E}"/>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Accounting vs Bookkeeping</a:t>
            </a:r>
            <a:endParaRPr lang="en-US" sz="2400" b="0" baseline="0" dirty="0"/>
          </a:p>
        </p:txBody>
      </p:sp>
      <p:sp>
        <p:nvSpPr>
          <p:cNvPr id="3" name="Content Placeholder 2">
            <a:extLst>
              <a:ext uri="{FF2B5EF4-FFF2-40B4-BE49-F238E27FC236}">
                <a16:creationId xmlns:a16="http://schemas.microsoft.com/office/drawing/2014/main" id="{BF7D9122-0A9C-49CA-9A01-BB0BD34CAE85}"/>
              </a:ext>
            </a:extLst>
          </p:cNvPr>
          <p:cNvSpPr>
            <a:spLocks noGrp="1"/>
          </p:cNvSpPr>
          <p:nvPr>
            <p:ph sz="quarter" idx="16"/>
          </p:nvPr>
        </p:nvSpPr>
        <p:spPr>
          <a:xfrm>
            <a:off x="304800" y="1828800"/>
            <a:ext cx="8534400" cy="4267199"/>
          </a:xfrm>
        </p:spPr>
        <p:txBody>
          <a:bodyPr/>
          <a:lstStyle/>
          <a:p>
            <a:pPr marL="457200" indent="-457200">
              <a:buFont typeface="Arial" panose="020B0604020202020204" pitchFamily="34" charset="0"/>
              <a:buChar char="•"/>
            </a:pPr>
            <a:r>
              <a:rPr lang="en-US" dirty="0"/>
              <a:t>The accounting process </a:t>
            </a:r>
            <a:r>
              <a:rPr lang="en-US" b="1" dirty="0"/>
              <a:t>includes </a:t>
            </a:r>
            <a:r>
              <a:rPr lang="en-US" dirty="0"/>
              <a:t>the bookkeeping function.</a:t>
            </a:r>
          </a:p>
          <a:p>
            <a:pPr marL="457200" indent="-457200">
              <a:buFont typeface="Arial" panose="020B0604020202020204" pitchFamily="34" charset="0"/>
              <a:buChar char="•"/>
            </a:pPr>
            <a:r>
              <a:rPr lang="en-US" b="1" dirty="0"/>
              <a:t>Bookkeeping </a:t>
            </a:r>
            <a:r>
              <a:rPr lang="en-US" dirty="0"/>
              <a:t>usually involves </a:t>
            </a:r>
            <a:r>
              <a:rPr lang="en-US" b="1" dirty="0"/>
              <a:t>only </a:t>
            </a:r>
            <a:r>
              <a:rPr lang="en-US" dirty="0"/>
              <a:t>the recording of economic events. </a:t>
            </a:r>
          </a:p>
          <a:p>
            <a:pPr marL="457200" indent="-457200">
              <a:buFont typeface="Arial" panose="020B0604020202020204" pitchFamily="34" charset="0"/>
              <a:buChar char="•"/>
            </a:pPr>
            <a:r>
              <a:rPr lang="en-US" dirty="0"/>
              <a:t>It is therefore just one part of the accounting process. </a:t>
            </a:r>
          </a:p>
          <a:p>
            <a:pPr marL="457200" indent="-457200">
              <a:buFont typeface="Arial" panose="020B0604020202020204" pitchFamily="34" charset="0"/>
              <a:buChar char="•"/>
            </a:pPr>
            <a:r>
              <a:rPr lang="en-US" dirty="0"/>
              <a:t>In total, accounting involves </a:t>
            </a:r>
            <a:r>
              <a:rPr lang="en-US" b="1" dirty="0"/>
              <a:t>the entire process of identifying</a:t>
            </a:r>
            <a:r>
              <a:rPr lang="en-US" dirty="0"/>
              <a:t>, </a:t>
            </a:r>
            <a:r>
              <a:rPr lang="en-US" b="1" dirty="0"/>
              <a:t>recording</a:t>
            </a:r>
            <a:r>
              <a:rPr lang="en-US" dirty="0"/>
              <a:t>, </a:t>
            </a:r>
            <a:r>
              <a:rPr lang="en-US" b="1" dirty="0"/>
              <a:t>and communicating economic events.</a:t>
            </a:r>
            <a:endParaRPr lang="en-US" altLang="en-US" sz="2800" dirty="0">
              <a:latin typeface="Calibri" panose="020F0502020204030204" pitchFamily="34" charset="0"/>
            </a:endParaRPr>
          </a:p>
        </p:txBody>
      </p:sp>
      <p:sp>
        <p:nvSpPr>
          <p:cNvPr id="4" name="Slide Number Placeholder 3">
            <a:extLst>
              <a:ext uri="{FF2B5EF4-FFF2-40B4-BE49-F238E27FC236}">
                <a16:creationId xmlns:a16="http://schemas.microsoft.com/office/drawing/2014/main" id="{7AA7B4F7-D2A8-45E9-AAAD-8E5CD10927FA}"/>
              </a:ext>
            </a:extLst>
          </p:cNvPr>
          <p:cNvSpPr>
            <a:spLocks noGrp="1"/>
          </p:cNvSpPr>
          <p:nvPr>
            <p:ph type="sldNum" sz="quarter" idx="10"/>
          </p:nvPr>
        </p:nvSpPr>
        <p:spPr/>
        <p:txBody>
          <a:bodyPr/>
          <a:lstStyle/>
          <a:p>
            <a:fld id="{67B19427-F580-D146-B60E-4CADEE75497F}" type="slidenum">
              <a:rPr lang="en-US" smtClean="0"/>
              <a:pPr/>
              <a:t>4</a:t>
            </a:fld>
            <a:endParaRPr lang="en-US" dirty="0"/>
          </a:p>
        </p:txBody>
      </p:sp>
      <p:sp>
        <p:nvSpPr>
          <p:cNvPr id="5" name="Footer Placeholder 4">
            <a:extLst>
              <a:ext uri="{FF2B5EF4-FFF2-40B4-BE49-F238E27FC236}">
                <a16:creationId xmlns:a16="http://schemas.microsoft.com/office/drawing/2014/main" id="{84677C0C-0E40-4A84-B970-4ED94191CEF5}"/>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8433841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83CC7-D21C-454D-A81A-9A5F6FA5361E}"/>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Who Uses Accounting Data </a:t>
            </a:r>
            <a:r>
              <a:rPr lang="en-US" sz="2400" b="0" baseline="0" dirty="0">
                <a:latin typeface="Calibri" panose="020F0502020204030204" pitchFamily="34" charset="0"/>
                <a:ea typeface="Source Sans Pro" charset="0"/>
                <a:cs typeface="Calibri" panose="020F0502020204030204" pitchFamily="34" charset="0"/>
              </a:rPr>
              <a:t>(1 of 2)</a:t>
            </a:r>
            <a:endParaRPr lang="en-US" sz="2400" b="0" baseline="0" dirty="0"/>
          </a:p>
        </p:txBody>
      </p:sp>
      <p:sp>
        <p:nvSpPr>
          <p:cNvPr id="3" name="Content Placeholder 2">
            <a:extLst>
              <a:ext uri="{FF2B5EF4-FFF2-40B4-BE49-F238E27FC236}">
                <a16:creationId xmlns:a16="http://schemas.microsoft.com/office/drawing/2014/main" id="{BF7D9122-0A9C-49CA-9A01-BB0BD34CAE85}"/>
              </a:ext>
            </a:extLst>
          </p:cNvPr>
          <p:cNvSpPr>
            <a:spLocks noGrp="1"/>
          </p:cNvSpPr>
          <p:nvPr>
            <p:ph sz="quarter" idx="16"/>
          </p:nvPr>
        </p:nvSpPr>
        <p:spPr>
          <a:xfrm>
            <a:off x="304800" y="1828800"/>
            <a:ext cx="8534400" cy="4267199"/>
          </a:xfrm>
        </p:spPr>
        <p:txBody>
          <a:bodyPr/>
          <a:lstStyle/>
          <a:p>
            <a:pPr>
              <a:buSzPct val="95000"/>
            </a:pPr>
            <a:r>
              <a:rPr lang="en-US" altLang="en-US" b="1" dirty="0">
                <a:latin typeface="Calibri" panose="020F0502020204030204" pitchFamily="34" charset="0"/>
              </a:rPr>
              <a:t>Internal Users </a:t>
            </a:r>
          </a:p>
          <a:p>
            <a:pPr marL="292608" lvl="2" indent="-292608">
              <a:spcBef>
                <a:spcPts val="1000"/>
              </a:spcBef>
              <a:buClr>
                <a:srgbClr val="990000"/>
              </a:buClr>
              <a:buSzPct val="100000"/>
            </a:pPr>
            <a:r>
              <a:rPr lang="en-US" sz="2800" b="1" dirty="0">
                <a:latin typeface="Calibri" panose="020F0502020204030204" pitchFamily="34" charset="0"/>
              </a:rPr>
              <a:t>Finance</a:t>
            </a:r>
            <a:r>
              <a:rPr lang="en-US" sz="2800" dirty="0">
                <a:latin typeface="Calibri" panose="020F0502020204030204" pitchFamily="34" charset="0"/>
              </a:rPr>
              <a:t> - Is cash sufficient to pay dividends to </a:t>
            </a:r>
            <a:r>
              <a:rPr lang="en-US" sz="2800" b="1" dirty="0">
                <a:solidFill>
                  <a:srgbClr val="990000"/>
                </a:solidFill>
                <a:latin typeface="Calibri" panose="020F0502020204030204" pitchFamily="34" charset="0"/>
              </a:rPr>
              <a:t>Microsoft</a:t>
            </a:r>
            <a:r>
              <a:rPr lang="en-US" sz="2800" dirty="0">
                <a:solidFill>
                  <a:srgbClr val="990000"/>
                </a:solidFill>
                <a:latin typeface="Calibri" panose="020F0502020204030204" pitchFamily="34" charset="0"/>
              </a:rPr>
              <a:t> </a:t>
            </a:r>
            <a:r>
              <a:rPr lang="en-US" sz="2800" dirty="0">
                <a:latin typeface="Calibri" panose="020F0502020204030204" pitchFamily="34" charset="0"/>
              </a:rPr>
              <a:t>stockholders?</a:t>
            </a:r>
          </a:p>
          <a:p>
            <a:pPr marL="292608" lvl="2" indent="-292608">
              <a:spcBef>
                <a:spcPts val="1000"/>
              </a:spcBef>
              <a:buClr>
                <a:srgbClr val="990000"/>
              </a:buClr>
              <a:buSzPct val="100000"/>
            </a:pPr>
            <a:r>
              <a:rPr lang="en-US" altLang="en-US" sz="2800" b="1" dirty="0">
                <a:latin typeface="Calibri" panose="020F0502020204030204" pitchFamily="34" charset="0"/>
              </a:rPr>
              <a:t>Marketing</a:t>
            </a:r>
            <a:r>
              <a:rPr lang="en-US" altLang="en-US" sz="2800" dirty="0">
                <a:latin typeface="Calibri" panose="020F0502020204030204" pitchFamily="34" charset="0"/>
              </a:rPr>
              <a:t> – </a:t>
            </a:r>
            <a:r>
              <a:rPr lang="en-US" sz="2800" dirty="0">
                <a:latin typeface="Calibri" panose="020F0502020204030204" pitchFamily="34" charset="0"/>
              </a:rPr>
              <a:t>What price should </a:t>
            </a:r>
            <a:r>
              <a:rPr lang="en-US" sz="2800" b="1" dirty="0">
                <a:solidFill>
                  <a:srgbClr val="990000"/>
                </a:solidFill>
                <a:latin typeface="Calibri" panose="020F0502020204030204" pitchFamily="34" charset="0"/>
              </a:rPr>
              <a:t>Apple</a:t>
            </a:r>
            <a:r>
              <a:rPr lang="en-US" sz="2800" dirty="0">
                <a:latin typeface="Calibri" panose="020F0502020204030204" pitchFamily="34" charset="0"/>
              </a:rPr>
              <a:t> charge for an iPad to maximize net income?</a:t>
            </a:r>
          </a:p>
          <a:p>
            <a:pPr marL="292608" lvl="2" indent="-292608">
              <a:spcBef>
                <a:spcPts val="1000"/>
              </a:spcBef>
              <a:buClr>
                <a:srgbClr val="990000"/>
              </a:buClr>
              <a:buSzPct val="100000"/>
            </a:pPr>
            <a:r>
              <a:rPr lang="en-US" altLang="en-US" sz="2800" b="1" dirty="0">
                <a:latin typeface="Calibri" panose="020F0502020204030204" pitchFamily="34" charset="0"/>
              </a:rPr>
              <a:t>Human</a:t>
            </a:r>
            <a:r>
              <a:rPr lang="en-US" altLang="en-US" sz="2800" dirty="0">
                <a:latin typeface="Calibri" panose="020F0502020204030204" pitchFamily="34" charset="0"/>
              </a:rPr>
              <a:t> </a:t>
            </a:r>
            <a:r>
              <a:rPr lang="en-US" altLang="en-US" sz="2800" b="1" dirty="0">
                <a:latin typeface="Calibri" panose="020F0502020204030204" pitchFamily="34" charset="0"/>
              </a:rPr>
              <a:t>Resources</a:t>
            </a:r>
            <a:r>
              <a:rPr lang="en-US" altLang="en-US" sz="2800" dirty="0">
                <a:latin typeface="Calibri" panose="020F0502020204030204" pitchFamily="34" charset="0"/>
              </a:rPr>
              <a:t> – Can </a:t>
            </a:r>
            <a:r>
              <a:rPr lang="en-US" altLang="en-US" sz="2800" b="1" dirty="0">
                <a:solidFill>
                  <a:srgbClr val="990000"/>
                </a:solidFill>
                <a:latin typeface="Calibri" panose="020F0502020204030204" pitchFamily="34" charset="0"/>
              </a:rPr>
              <a:t>General</a:t>
            </a:r>
            <a:r>
              <a:rPr lang="en-US" altLang="en-US" sz="2800" dirty="0">
                <a:latin typeface="Calibri" panose="020F0502020204030204" pitchFamily="34" charset="0"/>
              </a:rPr>
              <a:t> </a:t>
            </a:r>
            <a:r>
              <a:rPr lang="en-US" altLang="en-US" sz="2800" b="1" dirty="0">
                <a:solidFill>
                  <a:srgbClr val="990000"/>
                </a:solidFill>
                <a:latin typeface="Calibri" panose="020F0502020204030204" pitchFamily="34" charset="0"/>
              </a:rPr>
              <a:t>Motors</a:t>
            </a:r>
            <a:r>
              <a:rPr lang="en-US" altLang="en-US" sz="2800" dirty="0">
                <a:latin typeface="Calibri" panose="020F0502020204030204" pitchFamily="34" charset="0"/>
              </a:rPr>
              <a:t> afford to give its employees pay raises this year?</a:t>
            </a:r>
          </a:p>
          <a:p>
            <a:pPr marL="292608" lvl="2" indent="-292608">
              <a:spcBef>
                <a:spcPts val="1000"/>
              </a:spcBef>
              <a:buClr>
                <a:srgbClr val="990000"/>
              </a:buClr>
              <a:buSzPct val="100000"/>
            </a:pPr>
            <a:r>
              <a:rPr lang="en-US" altLang="en-US" sz="2800" b="1" dirty="0">
                <a:latin typeface="Calibri" panose="020F0502020204030204" pitchFamily="34" charset="0"/>
              </a:rPr>
              <a:t>Management</a:t>
            </a:r>
            <a:r>
              <a:rPr lang="en-US" altLang="en-US" sz="2800" dirty="0">
                <a:latin typeface="Calibri" panose="020F0502020204030204" pitchFamily="34" charset="0"/>
              </a:rPr>
              <a:t> - </a:t>
            </a:r>
            <a:r>
              <a:rPr lang="en-US" sz="2800" dirty="0">
                <a:latin typeface="Calibri" panose="020F0502020204030204" pitchFamily="34" charset="0"/>
              </a:rPr>
              <a:t>Which </a:t>
            </a:r>
            <a:r>
              <a:rPr lang="en-US" sz="2800" b="1" dirty="0">
                <a:solidFill>
                  <a:srgbClr val="990000"/>
                </a:solidFill>
                <a:latin typeface="Calibri" panose="020F0502020204030204" pitchFamily="34" charset="0"/>
              </a:rPr>
              <a:t>PepsiCo</a:t>
            </a:r>
            <a:r>
              <a:rPr lang="en-US" sz="2800" dirty="0">
                <a:latin typeface="Calibri" panose="020F0502020204030204" pitchFamily="34" charset="0"/>
              </a:rPr>
              <a:t> product line is the most profitable? Should any product lines be eliminated?</a:t>
            </a:r>
            <a:endParaRPr lang="en-US" altLang="en-US" sz="2800" dirty="0">
              <a:latin typeface="Calibri" panose="020F0502020204030204" pitchFamily="34" charset="0"/>
            </a:endParaRPr>
          </a:p>
        </p:txBody>
      </p:sp>
      <p:sp>
        <p:nvSpPr>
          <p:cNvPr id="4" name="Slide Number Placeholder 3">
            <a:extLst>
              <a:ext uri="{FF2B5EF4-FFF2-40B4-BE49-F238E27FC236}">
                <a16:creationId xmlns:a16="http://schemas.microsoft.com/office/drawing/2014/main" id="{7AA7B4F7-D2A8-45E9-AAAD-8E5CD10927FA}"/>
              </a:ext>
            </a:extLst>
          </p:cNvPr>
          <p:cNvSpPr>
            <a:spLocks noGrp="1"/>
          </p:cNvSpPr>
          <p:nvPr>
            <p:ph type="sldNum" sz="quarter" idx="10"/>
          </p:nvPr>
        </p:nvSpPr>
        <p:spPr/>
        <p:txBody>
          <a:bodyPr/>
          <a:lstStyle/>
          <a:p>
            <a:fld id="{67B19427-F580-D146-B60E-4CADEE75497F}" type="slidenum">
              <a:rPr lang="en-US" smtClean="0"/>
              <a:pPr/>
              <a:t>5</a:t>
            </a:fld>
            <a:endParaRPr lang="en-US" dirty="0"/>
          </a:p>
        </p:txBody>
      </p:sp>
      <p:sp>
        <p:nvSpPr>
          <p:cNvPr id="5" name="Footer Placeholder 4">
            <a:extLst>
              <a:ext uri="{FF2B5EF4-FFF2-40B4-BE49-F238E27FC236}">
                <a16:creationId xmlns:a16="http://schemas.microsoft.com/office/drawing/2014/main" id="{84677C0C-0E40-4A84-B970-4ED94191CEF5}"/>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7388883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D1545-A6D4-4F3E-A805-F6E0986199F0}"/>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Who Uses Accounting Data </a:t>
            </a:r>
            <a:r>
              <a:rPr lang="en-US" sz="2400" dirty="0">
                <a:latin typeface="Calibri" panose="020F0502020204030204" pitchFamily="34" charset="0"/>
                <a:ea typeface="Source Sans Pro" charset="0"/>
                <a:cs typeface="Calibri" panose="020F0502020204030204" pitchFamily="34" charset="0"/>
              </a:rPr>
              <a:t>(2 of 2)</a:t>
            </a:r>
            <a:endParaRPr lang="en-US" dirty="0"/>
          </a:p>
        </p:txBody>
      </p:sp>
      <p:sp>
        <p:nvSpPr>
          <p:cNvPr id="3" name="Content Placeholder 2">
            <a:extLst>
              <a:ext uri="{FF2B5EF4-FFF2-40B4-BE49-F238E27FC236}">
                <a16:creationId xmlns:a16="http://schemas.microsoft.com/office/drawing/2014/main" id="{3B99D494-D701-43F7-8C5A-CD74D98BAB3B}"/>
              </a:ext>
            </a:extLst>
          </p:cNvPr>
          <p:cNvSpPr>
            <a:spLocks noGrp="1"/>
          </p:cNvSpPr>
          <p:nvPr>
            <p:ph sz="quarter" idx="16"/>
          </p:nvPr>
        </p:nvSpPr>
        <p:spPr>
          <a:xfrm>
            <a:off x="304800" y="1828800"/>
            <a:ext cx="8534400" cy="3124200"/>
          </a:xfrm>
        </p:spPr>
        <p:txBody>
          <a:bodyPr/>
          <a:lstStyle/>
          <a:p>
            <a:pPr>
              <a:buSzPct val="95000"/>
            </a:pPr>
            <a:r>
              <a:rPr lang="en-US" altLang="en-US" b="1" dirty="0">
                <a:latin typeface="Calibri" panose="020F0502020204030204" pitchFamily="34" charset="0"/>
              </a:rPr>
              <a:t>External Users</a:t>
            </a:r>
          </a:p>
          <a:p>
            <a:pPr marL="292608" lvl="2" indent="-292608">
              <a:spcBef>
                <a:spcPts val="1000"/>
              </a:spcBef>
              <a:buClr>
                <a:srgbClr val="990000"/>
              </a:buClr>
              <a:buSzPct val="100000"/>
            </a:pPr>
            <a:r>
              <a:rPr lang="en-US" sz="2800" b="1" dirty="0">
                <a:latin typeface="Calibri" panose="020F0502020204030204" pitchFamily="34" charset="0"/>
              </a:rPr>
              <a:t>Investors</a:t>
            </a:r>
            <a:endParaRPr lang="en-US" sz="2800" dirty="0">
              <a:latin typeface="Calibri" panose="020F0502020204030204" pitchFamily="34" charset="0"/>
            </a:endParaRPr>
          </a:p>
          <a:p>
            <a:pPr marL="621792" lvl="3" indent="-320040">
              <a:buClr>
                <a:srgbClr val="990000"/>
              </a:buClr>
              <a:buSzPct val="80000"/>
              <a:buFont typeface="Courier New" panose="02070309020205020404" pitchFamily="49" charset="0"/>
              <a:buChar char="o"/>
            </a:pPr>
            <a:r>
              <a:rPr lang="en-US" sz="2600" dirty="0">
                <a:latin typeface="Calibri" panose="020F0502020204030204" pitchFamily="34" charset="0"/>
              </a:rPr>
              <a:t>Is </a:t>
            </a:r>
            <a:r>
              <a:rPr lang="en-US" sz="2600" b="1" dirty="0">
                <a:solidFill>
                  <a:srgbClr val="990000"/>
                </a:solidFill>
                <a:latin typeface="Calibri" panose="020F0502020204030204" pitchFamily="34" charset="0"/>
              </a:rPr>
              <a:t>General</a:t>
            </a:r>
            <a:r>
              <a:rPr lang="en-US" sz="2600" dirty="0">
                <a:latin typeface="Calibri" panose="020F0502020204030204" pitchFamily="34" charset="0"/>
              </a:rPr>
              <a:t> </a:t>
            </a:r>
            <a:r>
              <a:rPr lang="en-US" sz="2600" b="1" dirty="0">
                <a:solidFill>
                  <a:srgbClr val="990000"/>
                </a:solidFill>
                <a:latin typeface="Calibri" panose="020F0502020204030204" pitchFamily="34" charset="0"/>
              </a:rPr>
              <a:t>Electric</a:t>
            </a:r>
            <a:r>
              <a:rPr lang="en-US" sz="2600" dirty="0">
                <a:latin typeface="Calibri" panose="020F0502020204030204" pitchFamily="34" charset="0"/>
              </a:rPr>
              <a:t> earning satisfactory income?</a:t>
            </a:r>
          </a:p>
          <a:p>
            <a:pPr marL="621792" lvl="3" indent="-320040">
              <a:buClr>
                <a:srgbClr val="990000"/>
              </a:buClr>
              <a:buSzPct val="80000"/>
              <a:buFont typeface="Courier New" panose="02070309020205020404" pitchFamily="49" charset="0"/>
              <a:buChar char="o"/>
            </a:pPr>
            <a:r>
              <a:rPr lang="en-US" sz="2600" dirty="0">
                <a:latin typeface="Calibri" panose="020F0502020204030204" pitchFamily="34" charset="0"/>
              </a:rPr>
              <a:t>How does </a:t>
            </a:r>
            <a:r>
              <a:rPr lang="en-US" sz="2600" b="1" dirty="0">
                <a:solidFill>
                  <a:srgbClr val="990000"/>
                </a:solidFill>
                <a:latin typeface="Calibri" panose="020F0502020204030204" pitchFamily="34" charset="0"/>
              </a:rPr>
              <a:t>Disney</a:t>
            </a:r>
            <a:r>
              <a:rPr lang="en-US" sz="2600" dirty="0">
                <a:latin typeface="Calibri" panose="020F0502020204030204" pitchFamily="34" charset="0"/>
              </a:rPr>
              <a:t> compare in size and profitability with </a:t>
            </a:r>
            <a:r>
              <a:rPr lang="en-US" sz="2600" b="1" dirty="0">
                <a:solidFill>
                  <a:srgbClr val="990000"/>
                </a:solidFill>
                <a:latin typeface="Calibri" panose="020F0502020204030204" pitchFamily="34" charset="0"/>
              </a:rPr>
              <a:t>Time</a:t>
            </a:r>
            <a:r>
              <a:rPr lang="en-US" sz="2600" dirty="0">
                <a:latin typeface="Calibri" panose="020F0502020204030204" pitchFamily="34" charset="0"/>
              </a:rPr>
              <a:t> </a:t>
            </a:r>
            <a:r>
              <a:rPr lang="en-US" sz="2600" b="1" dirty="0">
                <a:solidFill>
                  <a:srgbClr val="990000"/>
                </a:solidFill>
                <a:latin typeface="Calibri" panose="020F0502020204030204" pitchFamily="34" charset="0"/>
              </a:rPr>
              <a:t>Warner</a:t>
            </a:r>
            <a:r>
              <a:rPr lang="en-US" sz="2600" dirty="0">
                <a:latin typeface="Calibri" panose="020F0502020204030204" pitchFamily="34" charset="0"/>
              </a:rPr>
              <a:t>?</a:t>
            </a:r>
          </a:p>
          <a:p>
            <a:pPr marL="292608" lvl="2" indent="-292608">
              <a:spcBef>
                <a:spcPts val="1000"/>
              </a:spcBef>
              <a:buClr>
                <a:srgbClr val="990000"/>
              </a:buClr>
              <a:buSzPct val="100000"/>
            </a:pPr>
            <a:r>
              <a:rPr lang="en-US" altLang="en-US" sz="2800" b="1" dirty="0">
                <a:latin typeface="Calibri" panose="020F0502020204030204" pitchFamily="34" charset="0"/>
              </a:rPr>
              <a:t>Creditors</a:t>
            </a:r>
            <a:r>
              <a:rPr lang="en-US" altLang="en-US" sz="2800" dirty="0">
                <a:latin typeface="Calibri" panose="020F0502020204030204" pitchFamily="34" charset="0"/>
              </a:rPr>
              <a:t> – </a:t>
            </a:r>
            <a:r>
              <a:rPr lang="en-US" sz="2800" dirty="0">
                <a:latin typeface="Calibri" panose="020F0502020204030204" pitchFamily="34" charset="0"/>
              </a:rPr>
              <a:t>Will </a:t>
            </a:r>
            <a:r>
              <a:rPr lang="en-US" sz="2800" b="1" dirty="0">
                <a:solidFill>
                  <a:srgbClr val="990000"/>
                </a:solidFill>
                <a:latin typeface="Calibri" panose="020F0502020204030204" pitchFamily="34" charset="0"/>
              </a:rPr>
              <a:t>United</a:t>
            </a:r>
            <a:r>
              <a:rPr lang="en-US" sz="2800" dirty="0">
                <a:latin typeface="Calibri" panose="020F0502020204030204" pitchFamily="34" charset="0"/>
              </a:rPr>
              <a:t> </a:t>
            </a:r>
            <a:r>
              <a:rPr lang="en-US" sz="2800" b="1" dirty="0">
                <a:solidFill>
                  <a:srgbClr val="990000"/>
                </a:solidFill>
                <a:latin typeface="Calibri" panose="020F0502020204030204" pitchFamily="34" charset="0"/>
              </a:rPr>
              <a:t>Airlines</a:t>
            </a:r>
            <a:r>
              <a:rPr lang="en-US" sz="2800" dirty="0">
                <a:latin typeface="Calibri" panose="020F0502020204030204" pitchFamily="34" charset="0"/>
              </a:rPr>
              <a:t> be able to pay its debts as they come due?</a:t>
            </a:r>
            <a:endParaRPr lang="en-US" altLang="en-US" sz="2800" dirty="0">
              <a:latin typeface="Calibri" panose="020F0502020204030204" pitchFamily="34" charset="0"/>
            </a:endParaRPr>
          </a:p>
        </p:txBody>
      </p:sp>
      <p:sp>
        <p:nvSpPr>
          <p:cNvPr id="4" name="Slide Number Placeholder 3">
            <a:extLst>
              <a:ext uri="{FF2B5EF4-FFF2-40B4-BE49-F238E27FC236}">
                <a16:creationId xmlns:a16="http://schemas.microsoft.com/office/drawing/2014/main" id="{0403296F-A83C-45D0-978F-EACD283657FA}"/>
              </a:ext>
            </a:extLst>
          </p:cNvPr>
          <p:cNvSpPr>
            <a:spLocks noGrp="1"/>
          </p:cNvSpPr>
          <p:nvPr>
            <p:ph type="sldNum" sz="quarter" idx="10"/>
          </p:nvPr>
        </p:nvSpPr>
        <p:spPr/>
        <p:txBody>
          <a:bodyPr/>
          <a:lstStyle/>
          <a:p>
            <a:fld id="{67B19427-F580-D146-B60E-4CADEE75497F}" type="slidenum">
              <a:rPr lang="en-US" smtClean="0"/>
              <a:pPr/>
              <a:t>6</a:t>
            </a:fld>
            <a:endParaRPr lang="en-US" dirty="0"/>
          </a:p>
        </p:txBody>
      </p:sp>
      <p:sp>
        <p:nvSpPr>
          <p:cNvPr id="5" name="Footer Placeholder 4">
            <a:extLst>
              <a:ext uri="{FF2B5EF4-FFF2-40B4-BE49-F238E27FC236}">
                <a16:creationId xmlns:a16="http://schemas.microsoft.com/office/drawing/2014/main" id="{5D4E59BD-AD6D-4592-BFCC-79B543E45C7A}"/>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1576164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A7807-C52D-499C-87BE-287EF3F86070}"/>
              </a:ext>
            </a:extLst>
          </p:cNvPr>
          <p:cNvSpPr>
            <a:spLocks noGrp="1"/>
          </p:cNvSpPr>
          <p:nvPr>
            <p:ph type="title"/>
          </p:nvPr>
        </p:nvSpPr>
        <p:spPr>
          <a:xfrm>
            <a:off x="48244" y="533400"/>
            <a:ext cx="7391400" cy="156343"/>
          </a:xfrm>
        </p:spPr>
        <p:txBody>
          <a:bodyPr>
            <a:normAutofit fontScale="90000"/>
          </a:bodyPr>
          <a:lstStyle/>
          <a:p>
            <a:r>
              <a:rPr lang="en-US" sz="2800" b="1" dirty="0">
                <a:latin typeface="Calibri" panose="020F0502020204030204" pitchFamily="34" charset="0"/>
                <a:ea typeface="Source Sans Pro" charset="0"/>
                <a:cs typeface="Calibri" panose="020F0502020204030204" pitchFamily="34" charset="0"/>
              </a:rPr>
              <a:t>Measurement Principles</a:t>
            </a:r>
            <a:endParaRPr lang="en-US" sz="2800" dirty="0"/>
          </a:p>
        </p:txBody>
      </p:sp>
      <p:sp>
        <p:nvSpPr>
          <p:cNvPr id="3" name="Content Placeholder 2">
            <a:extLst>
              <a:ext uri="{FF2B5EF4-FFF2-40B4-BE49-F238E27FC236}">
                <a16:creationId xmlns:a16="http://schemas.microsoft.com/office/drawing/2014/main" id="{4AA70A76-892D-488F-A292-9E2331ABC16E}"/>
              </a:ext>
            </a:extLst>
          </p:cNvPr>
          <p:cNvSpPr>
            <a:spLocks noGrp="1"/>
          </p:cNvSpPr>
          <p:nvPr>
            <p:ph sz="quarter" idx="16"/>
          </p:nvPr>
        </p:nvSpPr>
        <p:spPr>
          <a:xfrm>
            <a:off x="76200" y="1187015"/>
            <a:ext cx="8991600" cy="3007928"/>
          </a:xfrm>
        </p:spPr>
        <p:txBody>
          <a:bodyPr/>
          <a:lstStyle/>
          <a:p>
            <a:pPr algn="l"/>
            <a:r>
              <a:rPr lang="en-US" sz="2400" b="1" i="0" u="none" strike="noStrike" baseline="0" dirty="0">
                <a:solidFill>
                  <a:srgbClr val="A80E13"/>
                </a:solidFill>
                <a:latin typeface="SourceSansPro-Bold"/>
              </a:rPr>
              <a:t>Generally Accepted Accounting Principles</a:t>
            </a:r>
          </a:p>
          <a:p>
            <a:pPr algn="l"/>
            <a:r>
              <a:rPr lang="en-US" sz="2400" b="0" i="0" u="none" strike="noStrike" baseline="0" dirty="0">
                <a:solidFill>
                  <a:srgbClr val="000000"/>
                </a:solidFill>
                <a:latin typeface="STIX-Regular"/>
              </a:rPr>
              <a:t>The accounting profession has developed standards that are generally accepted and universally practiced. This common set of standards is called </a:t>
            </a:r>
            <a:r>
              <a:rPr lang="en-US" sz="2400" b="1" i="0" u="none" strike="noStrike" baseline="0" dirty="0">
                <a:solidFill>
                  <a:srgbClr val="06749D"/>
                </a:solidFill>
                <a:latin typeface="STIX-Bold"/>
              </a:rPr>
              <a:t>generally accepted accounting principles (GAAP)</a:t>
            </a:r>
            <a:r>
              <a:rPr lang="en-US" sz="2400" b="0" i="0" u="none" strike="noStrike" baseline="0" dirty="0">
                <a:solidFill>
                  <a:srgbClr val="000000"/>
                </a:solidFill>
                <a:latin typeface="STIX-Regular"/>
              </a:rPr>
              <a:t>. These standards indicate how to report economic events.</a:t>
            </a:r>
          </a:p>
          <a:p>
            <a:pPr algn="l"/>
            <a:endParaRPr lang="en-US" sz="2400" dirty="0">
              <a:solidFill>
                <a:srgbClr val="000000"/>
              </a:solidFill>
              <a:latin typeface="STIX-Regular"/>
            </a:endParaRPr>
          </a:p>
          <a:p>
            <a:pPr algn="l"/>
            <a:r>
              <a:rPr lang="en-US" sz="2400" b="0" i="0" u="none" strike="noStrike" baseline="0" dirty="0">
                <a:latin typeface="STIX-Regular"/>
              </a:rPr>
              <a:t>GAAP generally uses one of two measurement principles, the </a:t>
            </a:r>
            <a:r>
              <a:rPr lang="en-US" sz="2400" b="1" i="0" u="none" strike="noStrike" baseline="0" dirty="0">
                <a:latin typeface="STIX-Regular"/>
              </a:rPr>
              <a:t>historical cost principle </a:t>
            </a:r>
            <a:r>
              <a:rPr lang="en-US" sz="2400" b="0" i="0" u="none" strike="noStrike" baseline="0" dirty="0">
                <a:latin typeface="STIX-Regular"/>
              </a:rPr>
              <a:t>or the </a:t>
            </a:r>
            <a:r>
              <a:rPr lang="en-US" sz="2400" b="1" i="0" u="none" strike="noStrike" baseline="0" dirty="0">
                <a:latin typeface="STIX-Regular"/>
              </a:rPr>
              <a:t>fair value principle</a:t>
            </a:r>
            <a:r>
              <a:rPr lang="en-US" sz="2400" b="0" i="0" u="none" strike="noStrike" baseline="0" dirty="0">
                <a:latin typeface="STIX-Regular"/>
              </a:rPr>
              <a:t>.</a:t>
            </a:r>
            <a:endParaRPr lang="en-US" sz="2400" dirty="0"/>
          </a:p>
        </p:txBody>
      </p:sp>
      <p:sp>
        <p:nvSpPr>
          <p:cNvPr id="4" name="Slide Number Placeholder 3">
            <a:extLst>
              <a:ext uri="{FF2B5EF4-FFF2-40B4-BE49-F238E27FC236}">
                <a16:creationId xmlns:a16="http://schemas.microsoft.com/office/drawing/2014/main" id="{AE85F45F-C581-4A84-8ADB-CF2E509335A8}"/>
              </a:ext>
            </a:extLst>
          </p:cNvPr>
          <p:cNvSpPr>
            <a:spLocks noGrp="1"/>
          </p:cNvSpPr>
          <p:nvPr>
            <p:ph type="sldNum" sz="quarter" idx="10"/>
          </p:nvPr>
        </p:nvSpPr>
        <p:spPr/>
        <p:txBody>
          <a:bodyPr/>
          <a:lstStyle/>
          <a:p>
            <a:fld id="{67B19427-F580-D146-B60E-4CADEE75497F}" type="slidenum">
              <a:rPr lang="en-US" sz="1000" smtClean="0"/>
              <a:pPr/>
              <a:t>7</a:t>
            </a:fld>
            <a:endParaRPr lang="en-US" sz="1000" dirty="0"/>
          </a:p>
        </p:txBody>
      </p:sp>
      <p:sp>
        <p:nvSpPr>
          <p:cNvPr id="5" name="Footer Placeholder 4">
            <a:extLst>
              <a:ext uri="{FF2B5EF4-FFF2-40B4-BE49-F238E27FC236}">
                <a16:creationId xmlns:a16="http://schemas.microsoft.com/office/drawing/2014/main" id="{CAA0EF0C-EDED-4D86-9C24-95426032480A}"/>
              </a:ext>
            </a:extLst>
          </p:cNvPr>
          <p:cNvSpPr>
            <a:spLocks noGrp="1"/>
          </p:cNvSpPr>
          <p:nvPr>
            <p:ph type="ftr" sz="quarter" idx="11"/>
          </p:nvPr>
        </p:nvSpPr>
        <p:spPr/>
        <p:txBody>
          <a:bodyPr/>
          <a:lstStyle/>
          <a:p>
            <a:r>
              <a:rPr lang="en-US" sz="1000"/>
              <a:t>Copyright ©2018 John Wiley &amp; Sons, Inc. </a:t>
            </a:r>
            <a:endParaRPr lang="en-US" sz="1000" dirty="0"/>
          </a:p>
        </p:txBody>
      </p:sp>
    </p:spTree>
    <p:extLst>
      <p:ext uri="{BB962C8B-B14F-4D97-AF65-F5344CB8AC3E}">
        <p14:creationId xmlns:p14="http://schemas.microsoft.com/office/powerpoint/2010/main" val="3978444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A7807-C52D-499C-87BE-287EF3F86070}"/>
              </a:ext>
            </a:extLst>
          </p:cNvPr>
          <p:cNvSpPr>
            <a:spLocks noGrp="1"/>
          </p:cNvSpPr>
          <p:nvPr>
            <p:ph type="title"/>
          </p:nvPr>
        </p:nvSpPr>
        <p:spPr>
          <a:xfrm>
            <a:off x="48244" y="533400"/>
            <a:ext cx="7391400" cy="156343"/>
          </a:xfrm>
        </p:spPr>
        <p:txBody>
          <a:bodyPr>
            <a:normAutofit fontScale="90000"/>
          </a:bodyPr>
          <a:lstStyle/>
          <a:p>
            <a:r>
              <a:rPr lang="en-US" sz="2800" b="1" dirty="0">
                <a:latin typeface="Calibri" panose="020F0502020204030204" pitchFamily="34" charset="0"/>
                <a:ea typeface="Source Sans Pro" charset="0"/>
                <a:cs typeface="Calibri" panose="020F0502020204030204" pitchFamily="34" charset="0"/>
              </a:rPr>
              <a:t>Measurement Principles</a:t>
            </a:r>
            <a:endParaRPr lang="en-US" sz="2800" dirty="0"/>
          </a:p>
        </p:txBody>
      </p:sp>
      <p:sp>
        <p:nvSpPr>
          <p:cNvPr id="3" name="Content Placeholder 2">
            <a:extLst>
              <a:ext uri="{FF2B5EF4-FFF2-40B4-BE49-F238E27FC236}">
                <a16:creationId xmlns:a16="http://schemas.microsoft.com/office/drawing/2014/main" id="{4AA70A76-892D-488F-A292-9E2331ABC16E}"/>
              </a:ext>
            </a:extLst>
          </p:cNvPr>
          <p:cNvSpPr>
            <a:spLocks noGrp="1"/>
          </p:cNvSpPr>
          <p:nvPr>
            <p:ph sz="quarter" idx="16"/>
          </p:nvPr>
        </p:nvSpPr>
        <p:spPr>
          <a:xfrm>
            <a:off x="152400" y="1030672"/>
            <a:ext cx="8991600" cy="1560562"/>
          </a:xfrm>
        </p:spPr>
        <p:txBody>
          <a:bodyPr/>
          <a:lstStyle/>
          <a:p>
            <a:pPr>
              <a:buSzPct val="80000"/>
              <a:defRPr/>
            </a:pPr>
            <a:r>
              <a:rPr lang="en-US" sz="1800" b="1" dirty="0"/>
              <a:t>Historical Cost Principle </a:t>
            </a:r>
            <a:r>
              <a:rPr lang="en-US" sz="1800" dirty="0"/>
              <a:t>(or cost principle): Record assets at their cost prices</a:t>
            </a:r>
          </a:p>
          <a:p>
            <a:pPr algn="l"/>
            <a:r>
              <a:rPr lang="en-US" sz="1800" b="0" i="0" u="none" strike="noStrike" baseline="0" dirty="0">
                <a:solidFill>
                  <a:srgbClr val="000000"/>
                </a:solidFill>
                <a:latin typeface="STIX-Regular"/>
              </a:rPr>
              <a:t>E.g., if </a:t>
            </a:r>
            <a:r>
              <a:rPr lang="en-US" sz="1800" b="1" dirty="0">
                <a:solidFill>
                  <a:srgbClr val="A80E13"/>
                </a:solidFill>
                <a:latin typeface="STIX-Bold"/>
              </a:rPr>
              <a:t>GP </a:t>
            </a:r>
            <a:r>
              <a:rPr lang="en-US" sz="1800" b="0" i="0" u="none" strike="noStrike" baseline="0" dirty="0">
                <a:solidFill>
                  <a:srgbClr val="000000"/>
                </a:solidFill>
                <a:latin typeface="STIX-Regular"/>
              </a:rPr>
              <a:t>purchases land for $300,000, the company initially reports </a:t>
            </a:r>
            <a:r>
              <a:rPr lang="en-US" sz="1800" b="0" i="0" u="none" strike="noStrike" baseline="0" dirty="0">
                <a:latin typeface="STIX-Regular"/>
              </a:rPr>
              <a:t>it in its accounting records at $300,000. But what does GP do if, by the end of the next year, the fair value of the land has increased to $400,000? Under the historical cost principle, it continues to report the land at $300,000.</a:t>
            </a:r>
            <a:endParaRPr lang="en-US" sz="1800" dirty="0"/>
          </a:p>
          <a:p>
            <a:pPr marL="292608" indent="-292608">
              <a:buClr>
                <a:srgbClr val="990000"/>
              </a:buClr>
              <a:buSzPct val="100000"/>
              <a:buFont typeface="Arial" panose="020B0604020202020204" pitchFamily="34" charset="0"/>
              <a:buChar char="•"/>
              <a:defRPr/>
            </a:pPr>
            <a:endParaRPr lang="en-US" sz="1800" dirty="0"/>
          </a:p>
        </p:txBody>
      </p:sp>
      <p:sp>
        <p:nvSpPr>
          <p:cNvPr id="6" name="Content Placeholder 5"/>
          <p:cNvSpPr>
            <a:spLocks noGrp="1"/>
          </p:cNvSpPr>
          <p:nvPr>
            <p:ph sz="quarter" idx="17"/>
          </p:nvPr>
        </p:nvSpPr>
        <p:spPr>
          <a:xfrm>
            <a:off x="163286" y="2875781"/>
            <a:ext cx="8828314" cy="1086619"/>
          </a:xfrm>
        </p:spPr>
        <p:txBody>
          <a:bodyPr/>
          <a:lstStyle/>
          <a:p>
            <a:pPr>
              <a:buClr>
                <a:srgbClr val="990000"/>
              </a:buClr>
              <a:buSzPct val="100000"/>
              <a:defRPr/>
            </a:pPr>
            <a:r>
              <a:rPr lang="en-US" sz="1800" b="1" dirty="0"/>
              <a:t>Fair Value Principle: </a:t>
            </a:r>
            <a:r>
              <a:rPr lang="en-US" sz="1800" dirty="0"/>
              <a:t>Assets and liabilities should be reported at fair value (current market value). </a:t>
            </a:r>
          </a:p>
          <a:p>
            <a:pPr algn="l"/>
            <a:r>
              <a:rPr lang="en-US" sz="1800" b="0" i="0" u="none" strike="noStrike" baseline="0" dirty="0">
                <a:latin typeface="STIX-Regular"/>
              </a:rPr>
              <a:t>Fair value information may be more useful than historical cost for certain types of assets and liabilities. For example, certain investment securities (</a:t>
            </a:r>
            <a:r>
              <a:rPr lang="en-US" sz="1800" b="0" i="1" u="none" strike="noStrike" baseline="0" dirty="0">
                <a:latin typeface="STIX-Regular"/>
              </a:rPr>
              <a:t>shares</a:t>
            </a:r>
            <a:r>
              <a:rPr lang="en-US" sz="1800" b="0" i="0" u="none" strike="noStrike" baseline="0" dirty="0">
                <a:latin typeface="STIX-Regular"/>
              </a:rPr>
              <a:t>) are reported at fair value because market price information is usually readily available for these types of assets.</a:t>
            </a:r>
            <a:r>
              <a:rPr lang="en-US" sz="1800" dirty="0"/>
              <a:t> </a:t>
            </a:r>
          </a:p>
        </p:txBody>
      </p:sp>
      <p:sp>
        <p:nvSpPr>
          <p:cNvPr id="8" name="Content Placeholder 7"/>
          <p:cNvSpPr>
            <a:spLocks noGrp="1"/>
          </p:cNvSpPr>
          <p:nvPr>
            <p:ph sz="quarter" idx="18"/>
          </p:nvPr>
        </p:nvSpPr>
        <p:spPr>
          <a:xfrm>
            <a:off x="304800" y="4684328"/>
            <a:ext cx="8686800" cy="1752600"/>
          </a:xfrm>
        </p:spPr>
        <p:txBody>
          <a:bodyPr/>
          <a:lstStyle/>
          <a:p>
            <a:r>
              <a:rPr lang="en-US" sz="1400" dirty="0"/>
              <a:t>Selection of which principle to follow generally relates to trade-offs between </a:t>
            </a:r>
            <a:r>
              <a:rPr lang="en-US" sz="1400" b="1" dirty="0">
                <a:solidFill>
                  <a:schemeClr val="accent4"/>
                </a:solidFill>
              </a:rPr>
              <a:t>relevance</a:t>
            </a:r>
            <a:r>
              <a:rPr lang="en-US" sz="1400" dirty="0"/>
              <a:t> and </a:t>
            </a:r>
            <a:r>
              <a:rPr lang="en-US" sz="1400" b="1" dirty="0">
                <a:solidFill>
                  <a:schemeClr val="accent4"/>
                </a:solidFill>
              </a:rPr>
              <a:t>faithful representation</a:t>
            </a:r>
            <a:r>
              <a:rPr lang="en-US" sz="1400" dirty="0">
                <a:solidFill>
                  <a:schemeClr val="accent4"/>
                </a:solidFill>
              </a:rPr>
              <a:t>.</a:t>
            </a:r>
          </a:p>
          <a:p>
            <a:pPr marL="285750" marR="0" lvl="0" indent="-285750" algn="l" defTabSz="914400" rtl="0" eaLnBrk="1" fontAlgn="auto" latinLnBrk="0" hangingPunct="1">
              <a:lnSpc>
                <a:spcPct val="107000"/>
              </a:lnSpc>
              <a:spcBef>
                <a:spcPts val="0"/>
              </a:spcBef>
              <a:spcAft>
                <a:spcPts val="800"/>
              </a:spcAft>
              <a:buClrTx/>
              <a:buSzTx/>
              <a:buFont typeface="Arial" panose="020B0604020202020204" pitchFamily="34" charset="0"/>
              <a:buChar char="•"/>
              <a:tabLst/>
              <a:defRPr/>
            </a:pPr>
            <a:r>
              <a:rPr lang="en-AU" sz="1400" b="1" dirty="0">
                <a:solidFill>
                  <a:srgbClr val="17479E"/>
                </a:solidFill>
                <a:effectLst/>
                <a:latin typeface="NewAsterLTStd-Bold"/>
                <a:ea typeface="Calibri" panose="020F0502020204030204" pitchFamily="34" charset="0"/>
                <a:cs typeface="NewAsterLTStd-Bold"/>
              </a:rPr>
              <a:t>Faithful representation </a:t>
            </a:r>
            <a:r>
              <a:rPr lang="en-AU" sz="1400" dirty="0">
                <a:solidFill>
                  <a:srgbClr val="000000"/>
                </a:solidFill>
                <a:effectLst/>
                <a:latin typeface="NewAsterLTStd"/>
                <a:ea typeface="Calibri" panose="020F0502020204030204" pitchFamily="34" charset="0"/>
                <a:cs typeface="NewAsterLTStd"/>
              </a:rPr>
              <a:t>means that the numbers and descriptions match what really existed or happened—they are factual. (</a:t>
            </a:r>
            <a:r>
              <a:rPr lang="en-AU" sz="1400" i="1" dirty="0">
                <a:solidFill>
                  <a:srgbClr val="000000"/>
                </a:solidFill>
                <a:effectLst/>
                <a:latin typeface="NewAsterLTStd"/>
                <a:ea typeface="Calibri" panose="020F0502020204030204" pitchFamily="34" charset="0"/>
                <a:cs typeface="NewAsterLTStd"/>
              </a:rPr>
              <a:t>historical cost principle)</a:t>
            </a:r>
          </a:p>
          <a:p>
            <a:pPr marL="285750" marR="0" lvl="0" indent="-285750" algn="l" defTabSz="914400" rtl="0" eaLnBrk="1" fontAlgn="auto" latinLnBrk="0" hangingPunct="1">
              <a:lnSpc>
                <a:spcPct val="107000"/>
              </a:lnSpc>
              <a:spcBef>
                <a:spcPts val="0"/>
              </a:spcBef>
              <a:spcAft>
                <a:spcPts val="800"/>
              </a:spcAft>
              <a:buClrTx/>
              <a:buSzTx/>
              <a:buFont typeface="Arial" panose="020B0604020202020204" pitchFamily="34" charset="0"/>
              <a:buChar char="•"/>
              <a:tabLst/>
              <a:defRPr/>
            </a:pPr>
            <a:r>
              <a:rPr lang="en-AU" sz="1400" b="1" dirty="0">
                <a:solidFill>
                  <a:srgbClr val="17479E"/>
                </a:solidFill>
                <a:effectLst/>
                <a:latin typeface="NewAsterLTStd-Bold"/>
                <a:ea typeface="Calibri" panose="020F0502020204030204" pitchFamily="34" charset="0"/>
                <a:cs typeface="NewAsterLTStd-Bold"/>
              </a:rPr>
              <a:t>Relevance </a:t>
            </a:r>
            <a:r>
              <a:rPr lang="en-AU" sz="1400" dirty="0">
                <a:solidFill>
                  <a:srgbClr val="000000"/>
                </a:solidFill>
                <a:effectLst/>
                <a:latin typeface="NewAsterLTStd"/>
                <a:ea typeface="Calibri" panose="020F0502020204030204" pitchFamily="34" charset="0"/>
                <a:cs typeface="NewAsterLTStd"/>
              </a:rPr>
              <a:t>means that financial information is capable of making a difference in a decision. </a:t>
            </a:r>
            <a:r>
              <a:rPr lang="en-AU" sz="1400" i="1" dirty="0">
                <a:solidFill>
                  <a:srgbClr val="000000"/>
                </a:solidFill>
                <a:effectLst/>
                <a:latin typeface="NewAsterLTStd"/>
                <a:ea typeface="Calibri" panose="020F0502020204030204" pitchFamily="34" charset="0"/>
                <a:cs typeface="NewAsterLTStd"/>
              </a:rPr>
              <a:t>(Fair value principle)</a:t>
            </a:r>
          </a:p>
          <a:p>
            <a:pPr>
              <a:lnSpc>
                <a:spcPct val="107000"/>
              </a:lnSpc>
              <a:spcBef>
                <a:spcPts val="0"/>
              </a:spcBef>
              <a:spcAft>
                <a:spcPts val="800"/>
              </a:spcAft>
              <a:defRPr/>
            </a:pPr>
            <a:r>
              <a:rPr lang="en-AU" sz="1400" b="1" i="1" dirty="0">
                <a:solidFill>
                  <a:srgbClr val="000000"/>
                </a:solidFill>
                <a:latin typeface="NewAsterLTStd"/>
                <a:ea typeface="Calibri" panose="020F0502020204030204" pitchFamily="34" charset="0"/>
                <a:cs typeface="Times New Roman" panose="02020603050405020304" pitchFamily="18" charset="0"/>
              </a:rPr>
              <a:t>BOTTOM LINE</a:t>
            </a:r>
            <a:r>
              <a:rPr lang="en-AU" sz="1400" i="1" dirty="0">
                <a:solidFill>
                  <a:srgbClr val="000000"/>
                </a:solidFill>
                <a:latin typeface="NewAsterLTStd"/>
                <a:ea typeface="Calibri" panose="020F0502020204030204" pitchFamily="34" charset="0"/>
                <a:cs typeface="Times New Roman" panose="02020603050405020304" pitchFamily="18" charset="0"/>
              </a:rPr>
              <a:t>: </a:t>
            </a:r>
            <a:r>
              <a:rPr lang="en-AU" sz="1400" b="0" i="0" u="none" strike="noStrike" baseline="0" dirty="0">
                <a:latin typeface="STIX-Regular"/>
              </a:rPr>
              <a:t>In general, most </a:t>
            </a:r>
            <a:r>
              <a:rPr lang="en-US" sz="1400" b="0" i="0" u="none" strike="noStrike" baseline="0" dirty="0">
                <a:latin typeface="STIX-Regular"/>
              </a:rPr>
              <a:t>companies choose to use cost. Only in situations where assets are actively traded, such as investment securities</a:t>
            </a:r>
            <a:r>
              <a:rPr lang="en-US" sz="1400" dirty="0">
                <a:latin typeface="STIX-Regular"/>
              </a:rPr>
              <a:t>/shares</a:t>
            </a:r>
            <a:r>
              <a:rPr lang="en-US" sz="1400" b="0" i="0" u="none" strike="noStrike" baseline="0" dirty="0">
                <a:latin typeface="STIX-Regular"/>
              </a:rPr>
              <a:t>, do companies apply the fair value principle extensively.</a:t>
            </a:r>
            <a:endParaRPr lang="en-AU" sz="1400" i="1"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400" dirty="0">
              <a:solidFill>
                <a:schemeClr val="accent4"/>
              </a:solidFill>
            </a:endParaRPr>
          </a:p>
        </p:txBody>
      </p:sp>
      <p:sp>
        <p:nvSpPr>
          <p:cNvPr id="4" name="Slide Number Placeholder 3">
            <a:extLst>
              <a:ext uri="{FF2B5EF4-FFF2-40B4-BE49-F238E27FC236}">
                <a16:creationId xmlns:a16="http://schemas.microsoft.com/office/drawing/2014/main" id="{AE85F45F-C581-4A84-8ADB-CF2E509335A8}"/>
              </a:ext>
            </a:extLst>
          </p:cNvPr>
          <p:cNvSpPr>
            <a:spLocks noGrp="1"/>
          </p:cNvSpPr>
          <p:nvPr>
            <p:ph type="sldNum" sz="quarter" idx="10"/>
          </p:nvPr>
        </p:nvSpPr>
        <p:spPr/>
        <p:txBody>
          <a:bodyPr/>
          <a:lstStyle/>
          <a:p>
            <a:fld id="{67B19427-F580-D146-B60E-4CADEE75497F}" type="slidenum">
              <a:rPr lang="en-US" sz="1000" smtClean="0"/>
              <a:pPr/>
              <a:t>8</a:t>
            </a:fld>
            <a:endParaRPr lang="en-US" sz="1000" dirty="0"/>
          </a:p>
        </p:txBody>
      </p:sp>
      <p:sp>
        <p:nvSpPr>
          <p:cNvPr id="5" name="Footer Placeholder 4">
            <a:extLst>
              <a:ext uri="{FF2B5EF4-FFF2-40B4-BE49-F238E27FC236}">
                <a16:creationId xmlns:a16="http://schemas.microsoft.com/office/drawing/2014/main" id="{CAA0EF0C-EDED-4D86-9C24-95426032480A}"/>
              </a:ext>
            </a:extLst>
          </p:cNvPr>
          <p:cNvSpPr>
            <a:spLocks noGrp="1"/>
          </p:cNvSpPr>
          <p:nvPr>
            <p:ph type="ftr" sz="quarter" idx="11"/>
          </p:nvPr>
        </p:nvSpPr>
        <p:spPr/>
        <p:txBody>
          <a:bodyPr/>
          <a:lstStyle/>
          <a:p>
            <a:r>
              <a:rPr lang="en-US" sz="1000"/>
              <a:t>Copyright ©2018 John Wiley &amp; Sons, Inc. </a:t>
            </a:r>
            <a:endParaRPr lang="en-US" sz="1000" dirty="0"/>
          </a:p>
        </p:txBody>
      </p:sp>
    </p:spTree>
    <p:extLst>
      <p:ext uri="{BB962C8B-B14F-4D97-AF65-F5344CB8AC3E}">
        <p14:creationId xmlns:p14="http://schemas.microsoft.com/office/powerpoint/2010/main" val="42702903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E6B80-80A1-469C-916E-DFC9E7C22E4D}"/>
              </a:ext>
            </a:extLst>
          </p:cNvPr>
          <p:cNvSpPr>
            <a:spLocks noGrp="1"/>
          </p:cNvSpPr>
          <p:nvPr>
            <p:ph type="title"/>
          </p:nvPr>
        </p:nvSpPr>
        <p:spPr>
          <a:xfrm>
            <a:off x="304800" y="762001"/>
            <a:ext cx="8534400" cy="761999"/>
          </a:xfrm>
        </p:spPr>
        <p:txBody>
          <a:bodyPr/>
          <a:lstStyle/>
          <a:p>
            <a:r>
              <a:rPr lang="en-US" altLang="en-US" b="1" dirty="0">
                <a:latin typeface="Calibri" panose="020F0502020204030204" pitchFamily="34" charset="0"/>
                <a:ea typeface="Source Sans Pro" charset="0"/>
                <a:cs typeface="Calibri" panose="020F0502020204030204" pitchFamily="34" charset="0"/>
              </a:rPr>
              <a:t>Assumptions</a:t>
            </a:r>
            <a:endParaRPr lang="en-US" dirty="0"/>
          </a:p>
        </p:txBody>
      </p:sp>
      <p:sp>
        <p:nvSpPr>
          <p:cNvPr id="3" name="Content Placeholder 2">
            <a:extLst>
              <a:ext uri="{FF2B5EF4-FFF2-40B4-BE49-F238E27FC236}">
                <a16:creationId xmlns:a16="http://schemas.microsoft.com/office/drawing/2014/main" id="{C43FA726-A048-4F5A-952C-A82D25608B70}"/>
              </a:ext>
            </a:extLst>
          </p:cNvPr>
          <p:cNvSpPr>
            <a:spLocks noGrp="1"/>
          </p:cNvSpPr>
          <p:nvPr>
            <p:ph sz="quarter" idx="16"/>
          </p:nvPr>
        </p:nvSpPr>
        <p:spPr>
          <a:xfrm>
            <a:off x="304800" y="1828799"/>
            <a:ext cx="8534400" cy="1311565"/>
          </a:xfrm>
        </p:spPr>
        <p:txBody>
          <a:bodyPr/>
          <a:lstStyle/>
          <a:p>
            <a:pPr>
              <a:buSzPct val="80000"/>
              <a:defRPr/>
            </a:pPr>
            <a:r>
              <a:rPr lang="en-US" b="1" dirty="0">
                <a:latin typeface="Calibri" panose="020F0502020204030204" pitchFamily="34" charset="0"/>
              </a:rPr>
              <a:t>Monetary Unit Assumption</a:t>
            </a:r>
            <a:endParaRPr lang="en-US" dirty="0">
              <a:latin typeface="Calibri" panose="020F0502020204030204" pitchFamily="34" charset="0"/>
            </a:endParaRPr>
          </a:p>
          <a:p>
            <a:pPr marL="292608" indent="-292608">
              <a:buClr>
                <a:srgbClr val="990000"/>
              </a:buClr>
              <a:buSzPct val="100000"/>
              <a:buFont typeface="Arial" panose="020B0604020202020204" pitchFamily="34" charset="0"/>
              <a:buChar char="•"/>
              <a:defRPr/>
            </a:pPr>
            <a:r>
              <a:rPr lang="en-US" dirty="0">
                <a:latin typeface="Calibri" panose="020F0502020204030204" pitchFamily="34" charset="0"/>
              </a:rPr>
              <a:t>Include in accounting records only transaction data that can be expressed in terms of money</a:t>
            </a:r>
          </a:p>
        </p:txBody>
      </p:sp>
      <p:sp>
        <p:nvSpPr>
          <p:cNvPr id="6" name="Content Placeholder 5"/>
          <p:cNvSpPr>
            <a:spLocks noGrp="1"/>
          </p:cNvSpPr>
          <p:nvPr>
            <p:ph sz="quarter" idx="17"/>
          </p:nvPr>
        </p:nvSpPr>
        <p:spPr>
          <a:xfrm>
            <a:off x="304800" y="3199342"/>
            <a:ext cx="8534400" cy="1296458"/>
          </a:xfrm>
        </p:spPr>
        <p:txBody>
          <a:bodyPr/>
          <a:lstStyle/>
          <a:p>
            <a:pPr>
              <a:buClr>
                <a:srgbClr val="990000"/>
              </a:buClr>
              <a:buSzPct val="100000"/>
              <a:defRPr/>
            </a:pPr>
            <a:r>
              <a:rPr lang="en-US" b="1" dirty="0">
                <a:latin typeface="Calibri" panose="020F0502020204030204" pitchFamily="34" charset="0"/>
              </a:rPr>
              <a:t>Economic Entity Assumption</a:t>
            </a:r>
          </a:p>
          <a:p>
            <a:pPr marL="292608" indent="-292608">
              <a:buClr>
                <a:srgbClr val="990000"/>
              </a:buClr>
              <a:buSzPct val="100000"/>
              <a:buFont typeface="Arial" panose="020B0604020202020204" pitchFamily="34" charset="0"/>
              <a:buChar char="•"/>
              <a:defRPr/>
            </a:pPr>
            <a:r>
              <a:rPr lang="en-US" dirty="0">
                <a:latin typeface="Calibri" panose="020F0502020204030204" pitchFamily="34" charset="0"/>
              </a:rPr>
              <a:t>Activities of entity be kept separate and distinct from activities of its owner and all other economic entities</a:t>
            </a:r>
          </a:p>
        </p:txBody>
      </p:sp>
      <p:sp>
        <p:nvSpPr>
          <p:cNvPr id="4" name="Slide Number Placeholder 3">
            <a:extLst>
              <a:ext uri="{FF2B5EF4-FFF2-40B4-BE49-F238E27FC236}">
                <a16:creationId xmlns:a16="http://schemas.microsoft.com/office/drawing/2014/main" id="{2A803677-2164-4427-93D9-104FA9DE6DB7}"/>
              </a:ext>
            </a:extLst>
          </p:cNvPr>
          <p:cNvSpPr>
            <a:spLocks noGrp="1"/>
          </p:cNvSpPr>
          <p:nvPr>
            <p:ph type="sldNum" sz="quarter" idx="10"/>
          </p:nvPr>
        </p:nvSpPr>
        <p:spPr/>
        <p:txBody>
          <a:bodyPr/>
          <a:lstStyle/>
          <a:p>
            <a:fld id="{67B19427-F580-D146-B60E-4CADEE75497F}" type="slidenum">
              <a:rPr lang="en-US" smtClean="0"/>
              <a:pPr/>
              <a:t>9</a:t>
            </a:fld>
            <a:endParaRPr lang="en-US" dirty="0"/>
          </a:p>
        </p:txBody>
      </p:sp>
      <p:sp>
        <p:nvSpPr>
          <p:cNvPr id="5" name="Footer Placeholder 4">
            <a:extLst>
              <a:ext uri="{FF2B5EF4-FFF2-40B4-BE49-F238E27FC236}">
                <a16:creationId xmlns:a16="http://schemas.microsoft.com/office/drawing/2014/main" id="{4C8AE40E-76CC-47E4-BE7C-DD5F835A005D}"/>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000502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071EE74-7C6C-48A2-B888-8CF18B989EEB}"/>
              </a:ext>
            </a:extLst>
          </p:cNvPr>
          <p:cNvSpPr>
            <a:spLocks noGrp="1"/>
          </p:cNvSpPr>
          <p:nvPr>
            <p:ph type="title"/>
          </p:nvPr>
        </p:nvSpPr>
        <p:spPr>
          <a:xfrm>
            <a:off x="304800" y="762001"/>
            <a:ext cx="8534400" cy="685799"/>
          </a:xfrm>
        </p:spPr>
        <p:txBody>
          <a:bodyPr/>
          <a:lstStyle/>
          <a:p>
            <a:r>
              <a:rPr lang="en-US" b="1" dirty="0">
                <a:latin typeface="Calibri" panose="020F0502020204030204" pitchFamily="34" charset="0"/>
                <a:ea typeface="Source Sans Pro" charset="0"/>
                <a:cs typeface="Calibri" panose="020F0502020204030204" pitchFamily="34" charset="0"/>
              </a:rPr>
              <a:t>Forms of Business Ownership</a:t>
            </a:r>
            <a:endParaRPr lang="en-US" dirty="0"/>
          </a:p>
        </p:txBody>
      </p:sp>
      <p:sp>
        <p:nvSpPr>
          <p:cNvPr id="7" name="Content Placeholder 6">
            <a:extLst>
              <a:ext uri="{FF2B5EF4-FFF2-40B4-BE49-F238E27FC236}">
                <a16:creationId xmlns:a16="http://schemas.microsoft.com/office/drawing/2014/main" id="{0256E18C-598F-4BAE-AFC0-4E584A6212AE}"/>
              </a:ext>
            </a:extLst>
          </p:cNvPr>
          <p:cNvSpPr>
            <a:spLocks noGrp="1"/>
          </p:cNvSpPr>
          <p:nvPr>
            <p:ph sz="quarter" idx="16"/>
          </p:nvPr>
        </p:nvSpPr>
        <p:spPr>
          <a:xfrm>
            <a:off x="304801" y="1828799"/>
            <a:ext cx="2971799" cy="3276601"/>
          </a:xfrm>
        </p:spPr>
        <p:txBody>
          <a:bodyPr/>
          <a:lstStyle/>
          <a:p>
            <a:r>
              <a:rPr lang="en-US" sz="2200" b="1" dirty="0">
                <a:latin typeface="Calibri" panose="020F0502020204030204" pitchFamily="34" charset="0"/>
              </a:rPr>
              <a:t>Proprietorship</a:t>
            </a:r>
            <a:endParaRPr lang="en-US" sz="2200" b="1" dirty="0">
              <a:solidFill>
                <a:srgbClr val="000000"/>
              </a:solidFill>
              <a:latin typeface="Calibri" panose="020F0502020204030204" pitchFamily="34" charset="0"/>
            </a:endParaRPr>
          </a:p>
          <a:p>
            <a:pPr marL="292608" indent="-292608" fontAlgn="t">
              <a:buClr>
                <a:srgbClr val="990000"/>
              </a:buClr>
              <a:buFont typeface="Arial" panose="020B0604020202020204" pitchFamily="34" charset="0"/>
              <a:buChar char="•"/>
            </a:pPr>
            <a:r>
              <a:rPr lang="en-US" sz="2200" dirty="0">
                <a:latin typeface="Calibri" panose="020F0502020204030204" pitchFamily="34" charset="0"/>
              </a:rPr>
              <a:t>Owned by one person</a:t>
            </a:r>
          </a:p>
          <a:p>
            <a:pPr marL="292608" indent="-292608" fontAlgn="t">
              <a:buClr>
                <a:srgbClr val="990000"/>
              </a:buClr>
              <a:buFont typeface="Arial" panose="020B0604020202020204" pitchFamily="34" charset="0"/>
              <a:buChar char="•"/>
            </a:pPr>
            <a:r>
              <a:rPr lang="en-US" sz="2200" dirty="0">
                <a:latin typeface="Calibri" panose="020F0502020204030204" pitchFamily="34" charset="0"/>
              </a:rPr>
              <a:t>Owner is often manager/operator</a:t>
            </a:r>
          </a:p>
          <a:p>
            <a:pPr marL="292608" indent="-292608" fontAlgn="t">
              <a:buClr>
                <a:srgbClr val="990000"/>
              </a:buClr>
              <a:buFont typeface="Arial" panose="020B0604020202020204" pitchFamily="34" charset="0"/>
              <a:buChar char="•"/>
            </a:pPr>
            <a:r>
              <a:rPr lang="en-US" sz="2200" dirty="0">
                <a:latin typeface="Calibri" panose="020F0502020204030204" pitchFamily="34" charset="0"/>
              </a:rPr>
              <a:t>Owner receives any profits, suffers any losses, and is personally liable for all debts</a:t>
            </a:r>
            <a:endParaRPr lang="en-US" sz="2200" dirty="0">
              <a:solidFill>
                <a:srgbClr val="000000"/>
              </a:solidFill>
              <a:latin typeface="Calibri" panose="020F0502020204030204" pitchFamily="34" charset="0"/>
            </a:endParaRPr>
          </a:p>
        </p:txBody>
      </p:sp>
      <p:sp>
        <p:nvSpPr>
          <p:cNvPr id="8" name="Content Placeholder 7">
            <a:extLst>
              <a:ext uri="{FF2B5EF4-FFF2-40B4-BE49-F238E27FC236}">
                <a16:creationId xmlns:a16="http://schemas.microsoft.com/office/drawing/2014/main" id="{1C3A6470-1E87-49E6-A6A5-6FDAE86FB53A}"/>
              </a:ext>
            </a:extLst>
          </p:cNvPr>
          <p:cNvSpPr>
            <a:spLocks noGrp="1"/>
          </p:cNvSpPr>
          <p:nvPr>
            <p:ph sz="quarter" idx="17"/>
          </p:nvPr>
        </p:nvSpPr>
        <p:spPr>
          <a:xfrm>
            <a:off x="3581400" y="1828800"/>
            <a:ext cx="2743200" cy="3657600"/>
          </a:xfrm>
        </p:spPr>
        <p:txBody>
          <a:bodyPr/>
          <a:lstStyle/>
          <a:p>
            <a:r>
              <a:rPr lang="en-US" sz="2200" b="1" dirty="0">
                <a:latin typeface="Calibri" panose="020F0502020204030204" pitchFamily="34" charset="0"/>
              </a:rPr>
              <a:t>Partnership</a:t>
            </a:r>
            <a:endParaRPr lang="en-US" sz="2200" b="1" dirty="0">
              <a:solidFill>
                <a:srgbClr val="000000"/>
              </a:solidFill>
              <a:latin typeface="Calibri" panose="020F0502020204030204" pitchFamily="34" charset="0"/>
            </a:endParaRPr>
          </a:p>
          <a:p>
            <a:pPr marL="292608" indent="-292608" fontAlgn="t">
              <a:buClr>
                <a:srgbClr val="990000"/>
              </a:buClr>
              <a:buSzPct val="100000"/>
              <a:buFont typeface="Arial" panose="020B0604020202020204" pitchFamily="34" charset="0"/>
              <a:buChar char="•"/>
            </a:pPr>
            <a:r>
              <a:rPr lang="en-US" sz="2200" dirty="0">
                <a:solidFill>
                  <a:schemeClr val="dk1"/>
                </a:solidFill>
                <a:latin typeface="Calibri" panose="020F0502020204030204" pitchFamily="34" charset="0"/>
              </a:rPr>
              <a:t>Owned by two or more persons</a:t>
            </a:r>
          </a:p>
          <a:p>
            <a:pPr marL="292608" indent="-292608" fontAlgn="t">
              <a:buClr>
                <a:srgbClr val="990000"/>
              </a:buClr>
              <a:buSzPct val="100000"/>
              <a:buFont typeface="Arial" panose="020B0604020202020204" pitchFamily="34" charset="0"/>
              <a:buChar char="•"/>
            </a:pPr>
            <a:r>
              <a:rPr lang="en-US" sz="2200" dirty="0">
                <a:solidFill>
                  <a:schemeClr val="dk1"/>
                </a:solidFill>
                <a:latin typeface="Calibri" panose="020F0502020204030204" pitchFamily="34" charset="0"/>
              </a:rPr>
              <a:t>Often retail and service-type businesses</a:t>
            </a:r>
          </a:p>
          <a:p>
            <a:pPr marL="292608" indent="-292608" fontAlgn="t">
              <a:buClr>
                <a:srgbClr val="990000"/>
              </a:buClr>
              <a:buSzPct val="100000"/>
              <a:buFont typeface="Arial" panose="020B0604020202020204" pitchFamily="34" charset="0"/>
              <a:buChar char="•"/>
            </a:pPr>
            <a:r>
              <a:rPr lang="en-US" sz="2200" dirty="0">
                <a:solidFill>
                  <a:schemeClr val="dk1"/>
                </a:solidFill>
                <a:latin typeface="Calibri" panose="020F0502020204030204" pitchFamily="34" charset="0"/>
              </a:rPr>
              <a:t>Generally unlimited personal liability</a:t>
            </a:r>
          </a:p>
          <a:p>
            <a:pPr marL="292608" indent="-292608" fontAlgn="t">
              <a:buClr>
                <a:srgbClr val="990000"/>
              </a:buClr>
              <a:buSzPct val="100000"/>
              <a:buFont typeface="Arial" panose="020B0604020202020204" pitchFamily="34" charset="0"/>
              <a:buChar char="•"/>
            </a:pPr>
            <a:r>
              <a:rPr lang="en-US" sz="2200" dirty="0">
                <a:solidFill>
                  <a:schemeClr val="dk1"/>
                </a:solidFill>
                <a:latin typeface="Calibri" panose="020F0502020204030204" pitchFamily="34" charset="0"/>
              </a:rPr>
              <a:t>Partnership agreement</a:t>
            </a:r>
          </a:p>
        </p:txBody>
      </p:sp>
      <p:sp>
        <p:nvSpPr>
          <p:cNvPr id="9" name="Content Placeholder 8">
            <a:extLst>
              <a:ext uri="{FF2B5EF4-FFF2-40B4-BE49-F238E27FC236}">
                <a16:creationId xmlns:a16="http://schemas.microsoft.com/office/drawing/2014/main" id="{EA18BCA0-1863-411D-8F0B-A438CDDA52BD}"/>
              </a:ext>
            </a:extLst>
          </p:cNvPr>
          <p:cNvSpPr>
            <a:spLocks noGrp="1"/>
          </p:cNvSpPr>
          <p:nvPr>
            <p:ph sz="quarter" idx="18"/>
          </p:nvPr>
        </p:nvSpPr>
        <p:spPr>
          <a:xfrm>
            <a:off x="6534150" y="1752601"/>
            <a:ext cx="2381250" cy="3733799"/>
          </a:xfrm>
        </p:spPr>
        <p:txBody>
          <a:bodyPr/>
          <a:lstStyle/>
          <a:p>
            <a:r>
              <a:rPr lang="en-US" sz="2200" b="1" dirty="0">
                <a:latin typeface="Calibri" panose="020F0502020204030204" pitchFamily="34" charset="0"/>
              </a:rPr>
              <a:t>Corporation</a:t>
            </a:r>
            <a:endParaRPr lang="en-US" sz="2200" b="1" dirty="0">
              <a:solidFill>
                <a:srgbClr val="000000"/>
              </a:solidFill>
              <a:latin typeface="Calibri" panose="020F0502020204030204" pitchFamily="34" charset="0"/>
            </a:endParaRPr>
          </a:p>
          <a:p>
            <a:pPr marL="292608" indent="-292608" fontAlgn="t">
              <a:buClr>
                <a:srgbClr val="990000"/>
              </a:buClr>
              <a:buSzPct val="100000"/>
              <a:buFont typeface="Arial" panose="020B0604020202020204" pitchFamily="34" charset="0"/>
              <a:buChar char="•"/>
            </a:pPr>
            <a:r>
              <a:rPr lang="en-US" sz="2200" dirty="0">
                <a:solidFill>
                  <a:schemeClr val="dk1"/>
                </a:solidFill>
                <a:latin typeface="Calibri" panose="020F0502020204030204" pitchFamily="34" charset="0"/>
              </a:rPr>
              <a:t>Ownership divided into transferable shares of stock</a:t>
            </a:r>
          </a:p>
          <a:p>
            <a:pPr marL="292608" indent="-292608" fontAlgn="t">
              <a:buClr>
                <a:srgbClr val="990000"/>
              </a:buClr>
              <a:buSzPct val="100000"/>
              <a:buFont typeface="Arial" panose="020B0604020202020204" pitchFamily="34" charset="0"/>
              <a:buChar char="•"/>
            </a:pPr>
            <a:r>
              <a:rPr lang="en-US" sz="2200" dirty="0">
                <a:solidFill>
                  <a:schemeClr val="dk1"/>
                </a:solidFill>
                <a:latin typeface="Calibri" panose="020F0502020204030204" pitchFamily="34" charset="0"/>
              </a:rPr>
              <a:t>Separate legal entity organized under state corporation law</a:t>
            </a:r>
          </a:p>
          <a:p>
            <a:pPr marL="292608" indent="-292608" fontAlgn="t">
              <a:buClr>
                <a:srgbClr val="990000"/>
              </a:buClr>
              <a:buSzPct val="100000"/>
              <a:buFont typeface="Arial" panose="020B0604020202020204" pitchFamily="34" charset="0"/>
              <a:buChar char="•"/>
            </a:pPr>
            <a:r>
              <a:rPr lang="en-US" sz="2200" dirty="0">
                <a:solidFill>
                  <a:schemeClr val="dk1"/>
                </a:solidFill>
                <a:latin typeface="Calibri" panose="020F0502020204030204" pitchFamily="34" charset="0"/>
              </a:rPr>
              <a:t>Limited liability</a:t>
            </a:r>
          </a:p>
        </p:txBody>
      </p:sp>
      <p:sp>
        <p:nvSpPr>
          <p:cNvPr id="4" name="Slide Number Placeholder 3">
            <a:extLst>
              <a:ext uri="{FF2B5EF4-FFF2-40B4-BE49-F238E27FC236}">
                <a16:creationId xmlns:a16="http://schemas.microsoft.com/office/drawing/2014/main" id="{414D9F11-5127-4689-B165-34CECBF224BF}"/>
              </a:ext>
            </a:extLst>
          </p:cNvPr>
          <p:cNvSpPr>
            <a:spLocks noGrp="1"/>
          </p:cNvSpPr>
          <p:nvPr>
            <p:ph type="sldNum" sz="quarter" idx="10"/>
          </p:nvPr>
        </p:nvSpPr>
        <p:spPr/>
        <p:txBody>
          <a:bodyPr/>
          <a:lstStyle/>
          <a:p>
            <a:fld id="{67B19427-F580-D146-B60E-4CADEE75497F}" type="slidenum">
              <a:rPr lang="en-US" smtClean="0"/>
              <a:pPr/>
              <a:t>10</a:t>
            </a:fld>
            <a:endParaRPr lang="en-US" dirty="0"/>
          </a:p>
        </p:txBody>
      </p:sp>
      <p:sp>
        <p:nvSpPr>
          <p:cNvPr id="5" name="Footer Placeholder 4">
            <a:extLst>
              <a:ext uri="{FF2B5EF4-FFF2-40B4-BE49-F238E27FC236}">
                <a16:creationId xmlns:a16="http://schemas.microsoft.com/office/drawing/2014/main" id="{B9CDA309-A76E-4F4E-8BB7-750964240827}"/>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0024836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82521-4432-49F9-926C-B333D0FA6BCC}"/>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The Accounting Equation </a:t>
            </a:r>
            <a:r>
              <a:rPr lang="en-US" sz="2400" dirty="0">
                <a:latin typeface="Calibri" panose="020F0502020204030204" pitchFamily="34" charset="0"/>
                <a:ea typeface="Source Sans Pro" charset="0"/>
                <a:cs typeface="Calibri" panose="020F0502020204030204" pitchFamily="34" charset="0"/>
              </a:rPr>
              <a:t>(1 of 6)</a:t>
            </a:r>
            <a:endParaRPr lang="en-US" sz="2400" dirty="0"/>
          </a:p>
        </p:txBody>
      </p:sp>
      <p:pic>
        <p:nvPicPr>
          <p:cNvPr id="7" name="Content Placeholder 6" descr="A formula reads, assets = liabilities plus owner's equity.">
            <a:extLst>
              <a:ext uri="{FF2B5EF4-FFF2-40B4-BE49-F238E27FC236}">
                <a16:creationId xmlns:a16="http://schemas.microsoft.com/office/drawing/2014/main" id="{F92A5637-A85B-4205-9659-7090E1A11A8D}"/>
              </a:ext>
            </a:extLst>
          </p:cNvPr>
          <p:cNvPicPr>
            <a:picLocks noGrp="1" noChangeAspect="1"/>
          </p:cNvPicPr>
          <p:nvPr>
            <p:ph sz="quarter" idx="16"/>
          </p:nvPr>
        </p:nvPicPr>
        <p:blipFill>
          <a:blip r:embed="rId2"/>
          <a:stretch>
            <a:fillRect/>
          </a:stretch>
        </p:blipFill>
        <p:spPr>
          <a:xfrm>
            <a:off x="515818" y="1923134"/>
            <a:ext cx="8018582" cy="896266"/>
          </a:xfrm>
          <a:prstGeom prst="rect">
            <a:avLst/>
          </a:prstGeom>
        </p:spPr>
      </p:pic>
      <p:sp>
        <p:nvSpPr>
          <p:cNvPr id="4" name="Content Placeholder 3">
            <a:extLst>
              <a:ext uri="{FF2B5EF4-FFF2-40B4-BE49-F238E27FC236}">
                <a16:creationId xmlns:a16="http://schemas.microsoft.com/office/drawing/2014/main" id="{881B3EF6-93C7-438A-8C05-6EE5D0DAF66E}"/>
              </a:ext>
            </a:extLst>
          </p:cNvPr>
          <p:cNvSpPr>
            <a:spLocks noGrp="1"/>
          </p:cNvSpPr>
          <p:nvPr>
            <p:ph sz="quarter" idx="17"/>
          </p:nvPr>
        </p:nvSpPr>
        <p:spPr>
          <a:xfrm>
            <a:off x="304800" y="2971800"/>
            <a:ext cx="8534400" cy="2819400"/>
          </a:xfrm>
        </p:spPr>
        <p:txBody>
          <a:bodyPr/>
          <a:lstStyle/>
          <a:p>
            <a:pPr>
              <a:buSzPct val="80000"/>
              <a:defRPr/>
            </a:pPr>
            <a:r>
              <a:rPr lang="en-US" b="1" dirty="0"/>
              <a:t>Basic Accounting Equation</a:t>
            </a:r>
            <a:endParaRPr lang="en-US" dirty="0"/>
          </a:p>
          <a:p>
            <a:pPr marL="292608" indent="-292608">
              <a:buClr>
                <a:srgbClr val="990000"/>
              </a:buClr>
              <a:buSzPct val="100000"/>
              <a:buFont typeface="Arial" panose="020B0604020202020204" pitchFamily="34" charset="0"/>
              <a:buChar char="•"/>
              <a:defRPr/>
            </a:pPr>
            <a:r>
              <a:rPr lang="en-US" altLang="en-US" dirty="0"/>
              <a:t>Provides underlying framework for recording and summarizing economic events</a:t>
            </a:r>
          </a:p>
          <a:p>
            <a:pPr marL="292608" indent="-292608">
              <a:buClr>
                <a:srgbClr val="990000"/>
              </a:buClr>
              <a:buSzPct val="100000"/>
              <a:buFont typeface="Arial" panose="020B0604020202020204" pitchFamily="34" charset="0"/>
              <a:buChar char="•"/>
              <a:defRPr/>
            </a:pPr>
            <a:r>
              <a:rPr lang="en-US" altLang="en-US" dirty="0"/>
              <a:t>Assets are claimed by either creditors or owners</a:t>
            </a:r>
          </a:p>
          <a:p>
            <a:pPr marL="292608" indent="-292608">
              <a:buClr>
                <a:srgbClr val="990000"/>
              </a:buClr>
              <a:buSzPct val="100000"/>
              <a:buFont typeface="Arial" panose="020B0604020202020204" pitchFamily="34" charset="0"/>
              <a:buChar char="•"/>
              <a:defRPr/>
            </a:pPr>
            <a:r>
              <a:rPr lang="en-US" altLang="en-US" dirty="0"/>
              <a:t>If a business is liquidated, claims of creditors must be paid before ownership claims</a:t>
            </a:r>
          </a:p>
        </p:txBody>
      </p:sp>
      <p:sp>
        <p:nvSpPr>
          <p:cNvPr id="5" name="Slide Number Placeholder 4">
            <a:extLst>
              <a:ext uri="{FF2B5EF4-FFF2-40B4-BE49-F238E27FC236}">
                <a16:creationId xmlns:a16="http://schemas.microsoft.com/office/drawing/2014/main" id="{887117D9-68CF-4D9B-B307-921E244F407F}"/>
              </a:ext>
            </a:extLst>
          </p:cNvPr>
          <p:cNvSpPr>
            <a:spLocks noGrp="1"/>
          </p:cNvSpPr>
          <p:nvPr>
            <p:ph type="sldNum" sz="quarter" idx="10"/>
          </p:nvPr>
        </p:nvSpPr>
        <p:spPr/>
        <p:txBody>
          <a:bodyPr/>
          <a:lstStyle/>
          <a:p>
            <a:fld id="{67B19427-F580-D146-B60E-4CADEE75497F}" type="slidenum">
              <a:rPr lang="en-US" smtClean="0"/>
              <a:pPr/>
              <a:t>11</a:t>
            </a:fld>
            <a:endParaRPr lang="en-US" dirty="0"/>
          </a:p>
        </p:txBody>
      </p:sp>
      <p:sp>
        <p:nvSpPr>
          <p:cNvPr id="6" name="Footer Placeholder 5">
            <a:extLst>
              <a:ext uri="{FF2B5EF4-FFF2-40B4-BE49-F238E27FC236}">
                <a16:creationId xmlns:a16="http://schemas.microsoft.com/office/drawing/2014/main" id="{D3D492D2-4EB1-4FE6-A524-59DD094FE339}"/>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4268665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82521-4432-49F9-926C-B333D0FA6BCC}"/>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The Accounting Equation </a:t>
            </a:r>
            <a:r>
              <a:rPr lang="en-US" sz="2400" dirty="0">
                <a:latin typeface="Calibri" panose="020F0502020204030204" pitchFamily="34" charset="0"/>
                <a:ea typeface="Source Sans Pro" charset="0"/>
                <a:cs typeface="Calibri" panose="020F0502020204030204" pitchFamily="34" charset="0"/>
              </a:rPr>
              <a:t>(2 of 6)</a:t>
            </a:r>
            <a:endParaRPr lang="en-US" sz="2400" dirty="0"/>
          </a:p>
        </p:txBody>
      </p:sp>
      <p:pic>
        <p:nvPicPr>
          <p:cNvPr id="10" name="Content Placeholder 9" descr="A formula reads, assets = liabilities plus owner's equity.">
            <a:extLst>
              <a:ext uri="{FF2B5EF4-FFF2-40B4-BE49-F238E27FC236}">
                <a16:creationId xmlns:a16="http://schemas.microsoft.com/office/drawing/2014/main" id="{79A83EC7-6E7A-43F4-87FD-2167E740890B}"/>
              </a:ext>
            </a:extLst>
          </p:cNvPr>
          <p:cNvPicPr>
            <a:picLocks noGrp="1" noChangeAspect="1"/>
          </p:cNvPicPr>
          <p:nvPr>
            <p:ph sz="quarter" idx="16"/>
          </p:nvPr>
        </p:nvPicPr>
        <p:blipFill>
          <a:blip r:embed="rId2"/>
          <a:stretch>
            <a:fillRect/>
          </a:stretch>
        </p:blipFill>
        <p:spPr>
          <a:xfrm>
            <a:off x="512064" y="1920240"/>
            <a:ext cx="8017224" cy="896112"/>
          </a:xfrm>
          <a:prstGeom prst="rect">
            <a:avLst/>
          </a:prstGeom>
        </p:spPr>
      </p:pic>
      <p:sp>
        <p:nvSpPr>
          <p:cNvPr id="4" name="Content Placeholder 3">
            <a:extLst>
              <a:ext uri="{FF2B5EF4-FFF2-40B4-BE49-F238E27FC236}">
                <a16:creationId xmlns:a16="http://schemas.microsoft.com/office/drawing/2014/main" id="{881B3EF6-93C7-438A-8C05-6EE5D0DAF66E}"/>
              </a:ext>
            </a:extLst>
          </p:cNvPr>
          <p:cNvSpPr>
            <a:spLocks noGrp="1"/>
          </p:cNvSpPr>
          <p:nvPr>
            <p:ph sz="quarter" idx="17"/>
          </p:nvPr>
        </p:nvSpPr>
        <p:spPr>
          <a:xfrm>
            <a:off x="304800" y="2971800"/>
            <a:ext cx="8534400" cy="2133600"/>
          </a:xfrm>
        </p:spPr>
        <p:txBody>
          <a:bodyPr/>
          <a:lstStyle/>
          <a:p>
            <a:pPr>
              <a:buClr>
                <a:schemeClr val="accent2"/>
              </a:buClr>
              <a:buSzPct val="80000"/>
              <a:defRPr/>
            </a:pPr>
            <a:r>
              <a:rPr lang="en-US" b="1" dirty="0">
                <a:solidFill>
                  <a:srgbClr val="990000"/>
                </a:solidFill>
              </a:rPr>
              <a:t>Assets</a:t>
            </a:r>
            <a:endParaRPr lang="en-US" dirty="0">
              <a:solidFill>
                <a:srgbClr val="990000"/>
              </a:solidFill>
            </a:endParaRPr>
          </a:p>
          <a:p>
            <a:pPr marL="292608" indent="-292608">
              <a:buClr>
                <a:schemeClr val="accent2"/>
              </a:buClr>
              <a:buSzPct val="100000"/>
              <a:buFont typeface="Arial" panose="020B0604020202020204" pitchFamily="34" charset="0"/>
              <a:buChar char="•"/>
              <a:defRPr/>
            </a:pPr>
            <a:r>
              <a:rPr lang="en-US" altLang="en-US" dirty="0"/>
              <a:t>Resources a business owns</a:t>
            </a:r>
          </a:p>
          <a:p>
            <a:pPr marL="292608" indent="-292608">
              <a:buClr>
                <a:schemeClr val="accent2"/>
              </a:buClr>
              <a:buSzPct val="100000"/>
              <a:buFont typeface="Arial" panose="020B0604020202020204" pitchFamily="34" charset="0"/>
              <a:buChar char="•"/>
              <a:defRPr/>
            </a:pPr>
            <a:r>
              <a:rPr lang="en-US" altLang="en-US" dirty="0"/>
              <a:t>Provide future services or benefits</a:t>
            </a:r>
          </a:p>
          <a:p>
            <a:pPr marL="292608" indent="-292608">
              <a:buClr>
                <a:schemeClr val="accent2"/>
              </a:buClr>
              <a:buSzPct val="100000"/>
              <a:buFont typeface="Arial" panose="020B0604020202020204" pitchFamily="34" charset="0"/>
              <a:buChar char="•"/>
              <a:defRPr/>
            </a:pPr>
            <a:r>
              <a:rPr lang="en-US" altLang="en-US" dirty="0"/>
              <a:t>Cash, Supplies, Equipment, etc.</a:t>
            </a:r>
            <a:endParaRPr lang="en-US" dirty="0"/>
          </a:p>
        </p:txBody>
      </p:sp>
      <p:sp>
        <p:nvSpPr>
          <p:cNvPr id="5" name="Slide Number Placeholder 4">
            <a:extLst>
              <a:ext uri="{FF2B5EF4-FFF2-40B4-BE49-F238E27FC236}">
                <a16:creationId xmlns:a16="http://schemas.microsoft.com/office/drawing/2014/main" id="{887117D9-68CF-4D9B-B307-921E244F407F}"/>
              </a:ext>
            </a:extLst>
          </p:cNvPr>
          <p:cNvSpPr>
            <a:spLocks noGrp="1"/>
          </p:cNvSpPr>
          <p:nvPr>
            <p:ph type="sldNum" sz="quarter" idx="10"/>
          </p:nvPr>
        </p:nvSpPr>
        <p:spPr/>
        <p:txBody>
          <a:bodyPr/>
          <a:lstStyle/>
          <a:p>
            <a:fld id="{67B19427-F580-D146-B60E-4CADEE75497F}" type="slidenum">
              <a:rPr lang="en-US" smtClean="0"/>
              <a:pPr/>
              <a:t>12</a:t>
            </a:fld>
            <a:endParaRPr lang="en-US" dirty="0"/>
          </a:p>
        </p:txBody>
      </p:sp>
      <p:sp>
        <p:nvSpPr>
          <p:cNvPr id="6" name="Footer Placeholder 5">
            <a:extLst>
              <a:ext uri="{FF2B5EF4-FFF2-40B4-BE49-F238E27FC236}">
                <a16:creationId xmlns:a16="http://schemas.microsoft.com/office/drawing/2014/main" id="{D3D492D2-4EB1-4FE6-A524-59DD094FE339}"/>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0125477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82521-4432-49F9-926C-B333D0FA6BCC}"/>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The Accounting Equation </a:t>
            </a:r>
            <a:r>
              <a:rPr lang="en-US" sz="2400" dirty="0">
                <a:latin typeface="Calibri" panose="020F0502020204030204" pitchFamily="34" charset="0"/>
                <a:ea typeface="Source Sans Pro" charset="0"/>
                <a:cs typeface="Calibri" panose="020F0502020204030204" pitchFamily="34" charset="0"/>
              </a:rPr>
              <a:t>(3 of 6)</a:t>
            </a:r>
            <a:endParaRPr lang="en-US" sz="2400" dirty="0"/>
          </a:p>
        </p:txBody>
      </p:sp>
      <p:pic>
        <p:nvPicPr>
          <p:cNvPr id="8" name="Content Placeholder 7" descr="A formula reads, assets = liabilities plus owner's equity.">
            <a:extLst>
              <a:ext uri="{FF2B5EF4-FFF2-40B4-BE49-F238E27FC236}">
                <a16:creationId xmlns:a16="http://schemas.microsoft.com/office/drawing/2014/main" id="{C17CB13F-F3E6-4DA5-9F86-9F61EC58FE8D}"/>
              </a:ext>
            </a:extLst>
          </p:cNvPr>
          <p:cNvPicPr>
            <a:picLocks noGrp="1" noChangeAspect="1"/>
          </p:cNvPicPr>
          <p:nvPr>
            <p:ph sz="quarter" idx="16"/>
          </p:nvPr>
        </p:nvPicPr>
        <p:blipFill>
          <a:blip r:embed="rId2"/>
          <a:stretch>
            <a:fillRect/>
          </a:stretch>
        </p:blipFill>
        <p:spPr>
          <a:xfrm>
            <a:off x="512064" y="1920240"/>
            <a:ext cx="8017224" cy="896112"/>
          </a:xfrm>
          <a:prstGeom prst="rect">
            <a:avLst/>
          </a:prstGeom>
        </p:spPr>
      </p:pic>
      <p:sp>
        <p:nvSpPr>
          <p:cNvPr id="4" name="Content Placeholder 3">
            <a:extLst>
              <a:ext uri="{FF2B5EF4-FFF2-40B4-BE49-F238E27FC236}">
                <a16:creationId xmlns:a16="http://schemas.microsoft.com/office/drawing/2014/main" id="{881B3EF6-93C7-438A-8C05-6EE5D0DAF66E}"/>
              </a:ext>
            </a:extLst>
          </p:cNvPr>
          <p:cNvSpPr>
            <a:spLocks noGrp="1"/>
          </p:cNvSpPr>
          <p:nvPr>
            <p:ph sz="quarter" idx="17"/>
          </p:nvPr>
        </p:nvSpPr>
        <p:spPr>
          <a:xfrm>
            <a:off x="304800" y="2971800"/>
            <a:ext cx="8534400" cy="2438400"/>
          </a:xfrm>
        </p:spPr>
        <p:txBody>
          <a:bodyPr/>
          <a:lstStyle/>
          <a:p>
            <a:pPr>
              <a:buClr>
                <a:schemeClr val="accent2"/>
              </a:buClr>
              <a:buSzPct val="80000"/>
              <a:defRPr/>
            </a:pPr>
            <a:r>
              <a:rPr lang="en-US" b="1" dirty="0">
                <a:solidFill>
                  <a:srgbClr val="990000"/>
                </a:solidFill>
              </a:rPr>
              <a:t>Liabilities</a:t>
            </a:r>
            <a:endParaRPr lang="en-US" dirty="0">
              <a:solidFill>
                <a:srgbClr val="990000"/>
              </a:solidFill>
            </a:endParaRPr>
          </a:p>
          <a:p>
            <a:pPr marL="292608" indent="-292608">
              <a:buClr>
                <a:schemeClr val="accent2"/>
              </a:buClr>
              <a:buSzPct val="100000"/>
              <a:buFont typeface="Arial" panose="020B0604020202020204" pitchFamily="34" charset="0"/>
              <a:buChar char="•"/>
              <a:defRPr/>
            </a:pPr>
            <a:r>
              <a:rPr lang="en-US" altLang="en-US" dirty="0"/>
              <a:t>Claims against assets (debts and obligations)</a:t>
            </a:r>
          </a:p>
          <a:p>
            <a:pPr marL="292608" indent="-292608">
              <a:buClr>
                <a:schemeClr val="accent2"/>
              </a:buClr>
              <a:buSzPct val="100000"/>
              <a:buFont typeface="Arial" panose="020B0604020202020204" pitchFamily="34" charset="0"/>
              <a:buChar char="•"/>
              <a:defRPr/>
            </a:pPr>
            <a:r>
              <a:rPr lang="en-US" altLang="en-US" dirty="0"/>
              <a:t>Creditors (party to whom money is owed)</a:t>
            </a:r>
          </a:p>
          <a:p>
            <a:pPr marL="292608" indent="-292608">
              <a:buClr>
                <a:schemeClr val="accent2"/>
              </a:buClr>
              <a:buSzPct val="100000"/>
              <a:buFont typeface="Arial" panose="020B0604020202020204" pitchFamily="34" charset="0"/>
              <a:buChar char="•"/>
              <a:defRPr/>
            </a:pPr>
            <a:r>
              <a:rPr lang="en-US" altLang="en-US" dirty="0"/>
              <a:t>Accounts Payable, Notes Payable, Salaries and Wages Payable, etc.</a:t>
            </a:r>
            <a:endParaRPr lang="en-US" dirty="0"/>
          </a:p>
        </p:txBody>
      </p:sp>
      <p:sp>
        <p:nvSpPr>
          <p:cNvPr id="5" name="Slide Number Placeholder 4">
            <a:extLst>
              <a:ext uri="{FF2B5EF4-FFF2-40B4-BE49-F238E27FC236}">
                <a16:creationId xmlns:a16="http://schemas.microsoft.com/office/drawing/2014/main" id="{887117D9-68CF-4D9B-B307-921E244F407F}"/>
              </a:ext>
            </a:extLst>
          </p:cNvPr>
          <p:cNvSpPr>
            <a:spLocks noGrp="1"/>
          </p:cNvSpPr>
          <p:nvPr>
            <p:ph type="sldNum" sz="quarter" idx="10"/>
          </p:nvPr>
        </p:nvSpPr>
        <p:spPr/>
        <p:txBody>
          <a:bodyPr/>
          <a:lstStyle/>
          <a:p>
            <a:fld id="{67B19427-F580-D146-B60E-4CADEE75497F}" type="slidenum">
              <a:rPr lang="en-US" smtClean="0"/>
              <a:pPr/>
              <a:t>13</a:t>
            </a:fld>
            <a:endParaRPr lang="en-US" dirty="0"/>
          </a:p>
        </p:txBody>
      </p:sp>
      <p:sp>
        <p:nvSpPr>
          <p:cNvPr id="6" name="Footer Placeholder 5">
            <a:extLst>
              <a:ext uri="{FF2B5EF4-FFF2-40B4-BE49-F238E27FC236}">
                <a16:creationId xmlns:a16="http://schemas.microsoft.com/office/drawing/2014/main" id="{D3D492D2-4EB1-4FE6-A524-59DD094FE339}"/>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5454789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82521-4432-49F9-926C-B333D0FA6BCC}"/>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The Accounting Equation </a:t>
            </a:r>
            <a:r>
              <a:rPr lang="en-US" sz="2400" dirty="0">
                <a:latin typeface="Calibri" panose="020F0502020204030204" pitchFamily="34" charset="0"/>
                <a:ea typeface="Source Sans Pro" charset="0"/>
                <a:cs typeface="Calibri" panose="020F0502020204030204" pitchFamily="34" charset="0"/>
              </a:rPr>
              <a:t>(4 of 6)</a:t>
            </a:r>
            <a:endParaRPr lang="en-US" sz="2400" dirty="0"/>
          </a:p>
        </p:txBody>
      </p:sp>
      <p:pic>
        <p:nvPicPr>
          <p:cNvPr id="9" name="Content Placeholder 8" descr="A formula reads, assets = liabilities plus owner's equity.">
            <a:extLst>
              <a:ext uri="{FF2B5EF4-FFF2-40B4-BE49-F238E27FC236}">
                <a16:creationId xmlns:a16="http://schemas.microsoft.com/office/drawing/2014/main" id="{0E617FA6-9B4C-4F8F-964E-C77DA63DCA5F}"/>
              </a:ext>
            </a:extLst>
          </p:cNvPr>
          <p:cNvPicPr>
            <a:picLocks noGrp="1" noChangeAspect="1"/>
          </p:cNvPicPr>
          <p:nvPr>
            <p:ph sz="quarter" idx="16"/>
          </p:nvPr>
        </p:nvPicPr>
        <p:blipFill>
          <a:blip r:embed="rId2"/>
          <a:stretch>
            <a:fillRect/>
          </a:stretch>
        </p:blipFill>
        <p:spPr>
          <a:xfrm>
            <a:off x="512064" y="1920240"/>
            <a:ext cx="8017224" cy="896112"/>
          </a:xfrm>
          <a:prstGeom prst="rect">
            <a:avLst/>
          </a:prstGeom>
        </p:spPr>
      </p:pic>
      <p:sp>
        <p:nvSpPr>
          <p:cNvPr id="4" name="Content Placeholder 3">
            <a:extLst>
              <a:ext uri="{FF2B5EF4-FFF2-40B4-BE49-F238E27FC236}">
                <a16:creationId xmlns:a16="http://schemas.microsoft.com/office/drawing/2014/main" id="{881B3EF6-93C7-438A-8C05-6EE5D0DAF66E}"/>
              </a:ext>
            </a:extLst>
          </p:cNvPr>
          <p:cNvSpPr>
            <a:spLocks noGrp="1"/>
          </p:cNvSpPr>
          <p:nvPr>
            <p:ph sz="quarter" idx="17"/>
          </p:nvPr>
        </p:nvSpPr>
        <p:spPr>
          <a:xfrm>
            <a:off x="304800" y="2971799"/>
            <a:ext cx="8534400" cy="3124199"/>
          </a:xfrm>
        </p:spPr>
        <p:txBody>
          <a:bodyPr/>
          <a:lstStyle/>
          <a:p>
            <a:pPr>
              <a:buClr>
                <a:schemeClr val="accent2"/>
              </a:buClr>
              <a:buSzPct val="80000"/>
              <a:defRPr/>
            </a:pPr>
            <a:r>
              <a:rPr lang="en-US" b="1" dirty="0">
                <a:solidFill>
                  <a:srgbClr val="990000"/>
                </a:solidFill>
              </a:rPr>
              <a:t>Owner’s Equity</a:t>
            </a:r>
            <a:endParaRPr lang="en-US" dirty="0">
              <a:solidFill>
                <a:srgbClr val="990000"/>
              </a:solidFill>
            </a:endParaRPr>
          </a:p>
          <a:p>
            <a:pPr marL="292608" indent="-292608">
              <a:buClr>
                <a:schemeClr val="accent2"/>
              </a:buClr>
              <a:buSzPct val="100000"/>
              <a:buFont typeface="Arial" panose="020B0604020202020204" pitchFamily="34" charset="0"/>
              <a:buChar char="•"/>
              <a:defRPr/>
            </a:pPr>
            <a:r>
              <a:rPr lang="en-US" altLang="en-US" dirty="0"/>
              <a:t>Ownership claim on total assets</a:t>
            </a:r>
          </a:p>
          <a:p>
            <a:pPr marL="292608" indent="-292608">
              <a:buClr>
                <a:schemeClr val="accent2"/>
              </a:buClr>
              <a:buSzPct val="100000"/>
              <a:buFont typeface="Arial" panose="020B0604020202020204" pitchFamily="34" charset="0"/>
              <a:buChar char="•"/>
              <a:defRPr/>
            </a:pPr>
            <a:r>
              <a:rPr lang="en-US" altLang="en-US" dirty="0"/>
              <a:t>Referred to as residual equity</a:t>
            </a:r>
          </a:p>
          <a:p>
            <a:pPr marL="292608" indent="-292608">
              <a:buClr>
                <a:schemeClr val="accent2"/>
              </a:buClr>
              <a:buSzPct val="100000"/>
              <a:buFont typeface="Arial" panose="020B0604020202020204" pitchFamily="34" charset="0"/>
              <a:buChar char="•"/>
              <a:defRPr/>
            </a:pPr>
            <a:r>
              <a:rPr lang="en-US" altLang="en-US" dirty="0"/>
              <a:t>Investment by owners and revenues increases owner's equity</a:t>
            </a:r>
          </a:p>
          <a:p>
            <a:pPr marL="292608" indent="-292608">
              <a:buClr>
                <a:schemeClr val="accent2"/>
              </a:buClr>
              <a:buSzPct val="100000"/>
              <a:buFont typeface="Arial" panose="020B0604020202020204" pitchFamily="34" charset="0"/>
              <a:buChar char="•"/>
              <a:defRPr/>
            </a:pPr>
            <a:r>
              <a:rPr lang="en-US" altLang="en-US" dirty="0"/>
              <a:t>Drawings and expenses decreases owner's equity</a:t>
            </a:r>
            <a:endParaRPr lang="en-US" dirty="0"/>
          </a:p>
        </p:txBody>
      </p:sp>
      <p:sp>
        <p:nvSpPr>
          <p:cNvPr id="5" name="Slide Number Placeholder 4">
            <a:extLst>
              <a:ext uri="{FF2B5EF4-FFF2-40B4-BE49-F238E27FC236}">
                <a16:creationId xmlns:a16="http://schemas.microsoft.com/office/drawing/2014/main" id="{887117D9-68CF-4D9B-B307-921E244F407F}"/>
              </a:ext>
            </a:extLst>
          </p:cNvPr>
          <p:cNvSpPr>
            <a:spLocks noGrp="1"/>
          </p:cNvSpPr>
          <p:nvPr>
            <p:ph type="sldNum" sz="quarter" idx="10"/>
          </p:nvPr>
        </p:nvSpPr>
        <p:spPr/>
        <p:txBody>
          <a:bodyPr/>
          <a:lstStyle/>
          <a:p>
            <a:fld id="{67B19427-F580-D146-B60E-4CADEE75497F}" type="slidenum">
              <a:rPr lang="en-US" smtClean="0"/>
              <a:pPr/>
              <a:t>14</a:t>
            </a:fld>
            <a:endParaRPr lang="en-US" dirty="0"/>
          </a:p>
        </p:txBody>
      </p:sp>
      <p:sp>
        <p:nvSpPr>
          <p:cNvPr id="6" name="Footer Placeholder 5">
            <a:extLst>
              <a:ext uri="{FF2B5EF4-FFF2-40B4-BE49-F238E27FC236}">
                <a16:creationId xmlns:a16="http://schemas.microsoft.com/office/drawing/2014/main" id="{D3D492D2-4EB1-4FE6-A524-59DD094FE339}"/>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1064302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82521-4432-49F9-926C-B333D0FA6BCC}"/>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The Accounting Equation </a:t>
            </a:r>
            <a:r>
              <a:rPr lang="en-US" sz="2400" dirty="0">
                <a:latin typeface="Calibri" panose="020F0502020204030204" pitchFamily="34" charset="0"/>
                <a:ea typeface="Source Sans Pro" charset="0"/>
                <a:cs typeface="Calibri" panose="020F0502020204030204" pitchFamily="34" charset="0"/>
              </a:rPr>
              <a:t>(5 of 6)</a:t>
            </a:r>
            <a:endParaRPr lang="en-US" sz="2400" dirty="0"/>
          </a:p>
        </p:txBody>
      </p:sp>
      <p:pic>
        <p:nvPicPr>
          <p:cNvPr id="12" name="Content Placeholder 11" descr="A table displays two columns. The first column reads the row headings, equation, and expanded equation, which are highlighted in red font. The second column correspond to the row headings as follows, Equation: assets = liabilities plus owner's equity. Expanded equation: assets = liabilities plus owner's capital minus owner's drawings plus revenues minus expenses.">
            <a:extLst>
              <a:ext uri="{FF2B5EF4-FFF2-40B4-BE49-F238E27FC236}">
                <a16:creationId xmlns:a16="http://schemas.microsoft.com/office/drawing/2014/main" id="{759FB570-3DC9-4ACA-8182-931091406064}"/>
              </a:ext>
            </a:extLst>
          </p:cNvPr>
          <p:cNvPicPr>
            <a:picLocks noGrp="1" noChangeAspect="1"/>
          </p:cNvPicPr>
          <p:nvPr>
            <p:ph sz="quarter" idx="16"/>
          </p:nvPr>
        </p:nvPicPr>
        <p:blipFill>
          <a:blip r:embed="rId2"/>
          <a:stretch>
            <a:fillRect/>
          </a:stretch>
        </p:blipFill>
        <p:spPr>
          <a:xfrm>
            <a:off x="501446" y="1756408"/>
            <a:ext cx="8261554" cy="1291592"/>
          </a:xfrm>
          <a:prstGeom prst="rect">
            <a:avLst/>
          </a:prstGeom>
        </p:spPr>
      </p:pic>
      <p:sp>
        <p:nvSpPr>
          <p:cNvPr id="4" name="Content Placeholder 3">
            <a:extLst>
              <a:ext uri="{FF2B5EF4-FFF2-40B4-BE49-F238E27FC236}">
                <a16:creationId xmlns:a16="http://schemas.microsoft.com/office/drawing/2014/main" id="{881B3EF6-93C7-438A-8C05-6EE5D0DAF66E}"/>
              </a:ext>
            </a:extLst>
          </p:cNvPr>
          <p:cNvSpPr>
            <a:spLocks noGrp="1"/>
          </p:cNvSpPr>
          <p:nvPr>
            <p:ph sz="quarter" idx="17"/>
          </p:nvPr>
        </p:nvSpPr>
        <p:spPr>
          <a:xfrm>
            <a:off x="304800" y="3190009"/>
            <a:ext cx="8534400" cy="2677391"/>
          </a:xfrm>
        </p:spPr>
        <p:txBody>
          <a:bodyPr/>
          <a:lstStyle/>
          <a:p>
            <a:pPr>
              <a:buClr>
                <a:schemeClr val="accent2"/>
              </a:buClr>
              <a:buSzPct val="80000"/>
              <a:defRPr/>
            </a:pPr>
            <a:r>
              <a:rPr lang="en-US" b="1" dirty="0"/>
              <a:t>Increase in Owner’s Equity</a:t>
            </a:r>
            <a:endParaRPr lang="en-US" dirty="0"/>
          </a:p>
          <a:p>
            <a:pPr marL="292608" indent="-292608">
              <a:buClr>
                <a:schemeClr val="accent2"/>
              </a:buClr>
              <a:buSzPct val="100000"/>
              <a:buFont typeface="Arial" panose="020B0604020202020204" pitchFamily="34" charset="0"/>
              <a:buChar char="•"/>
              <a:defRPr/>
            </a:pPr>
            <a:r>
              <a:rPr lang="en-US" altLang="en-US" b="1" dirty="0"/>
              <a:t>Investment by Owner.</a:t>
            </a:r>
            <a:r>
              <a:rPr lang="en-US" altLang="en-US" dirty="0"/>
              <a:t> Assets the owner puts into the business</a:t>
            </a:r>
          </a:p>
          <a:p>
            <a:pPr marL="292608" indent="-292608">
              <a:buClr>
                <a:schemeClr val="accent2"/>
              </a:buClr>
              <a:buSzPct val="100000"/>
              <a:buFont typeface="Arial" panose="020B0604020202020204" pitchFamily="34" charset="0"/>
              <a:buChar char="•"/>
              <a:defRPr/>
            </a:pPr>
            <a:r>
              <a:rPr lang="en-US" altLang="en-US" b="1" dirty="0"/>
              <a:t>Revenues.</a:t>
            </a:r>
            <a:r>
              <a:rPr lang="en-US" altLang="en-US" dirty="0"/>
              <a:t> Increases in assets or decreases in liabilities resulting from sale of goods or performance of services in normal course of business</a:t>
            </a:r>
            <a:endParaRPr lang="en-US" dirty="0"/>
          </a:p>
        </p:txBody>
      </p:sp>
      <p:sp>
        <p:nvSpPr>
          <p:cNvPr id="5" name="Slide Number Placeholder 4">
            <a:extLst>
              <a:ext uri="{FF2B5EF4-FFF2-40B4-BE49-F238E27FC236}">
                <a16:creationId xmlns:a16="http://schemas.microsoft.com/office/drawing/2014/main" id="{887117D9-68CF-4D9B-B307-921E244F407F}"/>
              </a:ext>
            </a:extLst>
          </p:cNvPr>
          <p:cNvSpPr>
            <a:spLocks noGrp="1"/>
          </p:cNvSpPr>
          <p:nvPr>
            <p:ph type="sldNum" sz="quarter" idx="10"/>
          </p:nvPr>
        </p:nvSpPr>
        <p:spPr/>
        <p:txBody>
          <a:bodyPr/>
          <a:lstStyle/>
          <a:p>
            <a:fld id="{67B19427-F580-D146-B60E-4CADEE75497F}" type="slidenum">
              <a:rPr lang="en-US" smtClean="0"/>
              <a:pPr/>
              <a:t>15</a:t>
            </a:fld>
            <a:endParaRPr lang="en-US" dirty="0"/>
          </a:p>
        </p:txBody>
      </p:sp>
      <p:sp>
        <p:nvSpPr>
          <p:cNvPr id="6" name="Footer Placeholder 5">
            <a:extLst>
              <a:ext uri="{FF2B5EF4-FFF2-40B4-BE49-F238E27FC236}">
                <a16:creationId xmlns:a16="http://schemas.microsoft.com/office/drawing/2014/main" id="{D3D492D2-4EB1-4FE6-A524-59DD094FE339}"/>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4798671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82521-4432-49F9-926C-B333D0FA6BCC}"/>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The Accounting Equation </a:t>
            </a:r>
            <a:r>
              <a:rPr lang="en-US" sz="2400" dirty="0">
                <a:latin typeface="Calibri" panose="020F0502020204030204" pitchFamily="34" charset="0"/>
                <a:ea typeface="Source Sans Pro" charset="0"/>
                <a:cs typeface="Calibri" panose="020F0502020204030204" pitchFamily="34" charset="0"/>
              </a:rPr>
              <a:t>(6 of 6)</a:t>
            </a:r>
            <a:endParaRPr lang="en-US" sz="2400" dirty="0"/>
          </a:p>
        </p:txBody>
      </p:sp>
      <p:pic>
        <p:nvPicPr>
          <p:cNvPr id="12" name="Content Placeholder 11" descr="A table displays two columns. The first column reads the row headings, equation, and expanded equation, which are highlighted in red font. The second column correspond to the row headings as follows, Equation: assets = liabilities plus owner's equity. Expanded equation: assets = liabilities plus owner's capital minus owner's drawings plus revenues minus expenses.">
            <a:extLst>
              <a:ext uri="{FF2B5EF4-FFF2-40B4-BE49-F238E27FC236}">
                <a16:creationId xmlns:a16="http://schemas.microsoft.com/office/drawing/2014/main" id="{759FB570-3DC9-4ACA-8182-931091406064}"/>
              </a:ext>
            </a:extLst>
          </p:cNvPr>
          <p:cNvPicPr>
            <a:picLocks noGrp="1" noChangeAspect="1"/>
          </p:cNvPicPr>
          <p:nvPr>
            <p:ph sz="quarter" idx="16"/>
          </p:nvPr>
        </p:nvPicPr>
        <p:blipFill>
          <a:blip r:embed="rId2"/>
          <a:stretch>
            <a:fillRect/>
          </a:stretch>
        </p:blipFill>
        <p:spPr>
          <a:xfrm>
            <a:off x="501446" y="1756408"/>
            <a:ext cx="8261554" cy="1291592"/>
          </a:xfrm>
          <a:prstGeom prst="rect">
            <a:avLst/>
          </a:prstGeom>
        </p:spPr>
      </p:pic>
      <p:sp>
        <p:nvSpPr>
          <p:cNvPr id="4" name="Content Placeholder 3">
            <a:extLst>
              <a:ext uri="{FF2B5EF4-FFF2-40B4-BE49-F238E27FC236}">
                <a16:creationId xmlns:a16="http://schemas.microsoft.com/office/drawing/2014/main" id="{881B3EF6-93C7-438A-8C05-6EE5D0DAF66E}"/>
              </a:ext>
            </a:extLst>
          </p:cNvPr>
          <p:cNvSpPr>
            <a:spLocks noGrp="1"/>
          </p:cNvSpPr>
          <p:nvPr>
            <p:ph sz="quarter" idx="17"/>
          </p:nvPr>
        </p:nvSpPr>
        <p:spPr>
          <a:xfrm>
            <a:off x="304800" y="3190009"/>
            <a:ext cx="7467600" cy="2372591"/>
          </a:xfrm>
        </p:spPr>
        <p:txBody>
          <a:bodyPr/>
          <a:lstStyle/>
          <a:p>
            <a:pPr>
              <a:buClr>
                <a:schemeClr val="accent2"/>
              </a:buClr>
              <a:buSzPct val="80000"/>
              <a:defRPr/>
            </a:pPr>
            <a:r>
              <a:rPr lang="en-US" b="1" dirty="0"/>
              <a:t>Decrease in Owner’s Equity</a:t>
            </a:r>
            <a:endParaRPr lang="en-US" dirty="0"/>
          </a:p>
          <a:p>
            <a:pPr marL="292608" indent="-292608">
              <a:buClr>
                <a:schemeClr val="accent2"/>
              </a:buClr>
              <a:buSzPct val="100000"/>
              <a:buFont typeface="Arial" panose="020B0604020202020204" pitchFamily="34" charset="0"/>
              <a:buChar char="•"/>
              <a:defRPr/>
            </a:pPr>
            <a:r>
              <a:rPr lang="en-US" altLang="en-US" b="1" dirty="0"/>
              <a:t>Drawings.</a:t>
            </a:r>
            <a:r>
              <a:rPr lang="en-US" altLang="en-US" dirty="0"/>
              <a:t> </a:t>
            </a:r>
            <a:r>
              <a:rPr lang="en-US" altLang="en-US"/>
              <a:t>A withdrawal </a:t>
            </a:r>
            <a:r>
              <a:rPr lang="en-US" altLang="en-US" dirty="0"/>
              <a:t>of cash or other assets for personal use</a:t>
            </a:r>
          </a:p>
          <a:p>
            <a:pPr marL="292608" indent="-292608">
              <a:buClr>
                <a:schemeClr val="accent2"/>
              </a:buClr>
              <a:buSzPct val="100000"/>
              <a:buFont typeface="Arial" panose="020B0604020202020204" pitchFamily="34" charset="0"/>
              <a:buChar char="•"/>
              <a:defRPr/>
            </a:pPr>
            <a:r>
              <a:rPr lang="en-US" altLang="en-US" b="1" dirty="0"/>
              <a:t>Expenses.</a:t>
            </a:r>
            <a:r>
              <a:rPr lang="en-US" altLang="en-US" dirty="0"/>
              <a:t> Cost of assets consumed or services used in the process of earning revenue</a:t>
            </a:r>
            <a:endParaRPr lang="en-US" dirty="0"/>
          </a:p>
        </p:txBody>
      </p:sp>
      <p:sp>
        <p:nvSpPr>
          <p:cNvPr id="5" name="Slide Number Placeholder 4">
            <a:extLst>
              <a:ext uri="{FF2B5EF4-FFF2-40B4-BE49-F238E27FC236}">
                <a16:creationId xmlns:a16="http://schemas.microsoft.com/office/drawing/2014/main" id="{887117D9-68CF-4D9B-B307-921E244F407F}"/>
              </a:ext>
            </a:extLst>
          </p:cNvPr>
          <p:cNvSpPr>
            <a:spLocks noGrp="1"/>
          </p:cNvSpPr>
          <p:nvPr>
            <p:ph type="sldNum" sz="quarter" idx="10"/>
          </p:nvPr>
        </p:nvSpPr>
        <p:spPr/>
        <p:txBody>
          <a:bodyPr/>
          <a:lstStyle/>
          <a:p>
            <a:fld id="{67B19427-F580-D146-B60E-4CADEE75497F}" type="slidenum">
              <a:rPr lang="en-US" smtClean="0"/>
              <a:pPr/>
              <a:t>16</a:t>
            </a:fld>
            <a:endParaRPr lang="en-US" dirty="0"/>
          </a:p>
        </p:txBody>
      </p:sp>
      <p:sp>
        <p:nvSpPr>
          <p:cNvPr id="6" name="Footer Placeholder 5">
            <a:extLst>
              <a:ext uri="{FF2B5EF4-FFF2-40B4-BE49-F238E27FC236}">
                <a16:creationId xmlns:a16="http://schemas.microsoft.com/office/drawing/2014/main" id="{D3D492D2-4EB1-4FE6-A524-59DD094FE339}"/>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40494831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B7974-1863-4027-80AB-35ADBDA41150}"/>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Analyzing Business Transactions </a:t>
            </a:r>
            <a:r>
              <a:rPr lang="en-US" sz="2400" dirty="0">
                <a:latin typeface="Calibri" panose="020F0502020204030204" pitchFamily="34" charset="0"/>
                <a:ea typeface="Source Sans Pro" charset="0"/>
                <a:cs typeface="Calibri" panose="020F0502020204030204" pitchFamily="34" charset="0"/>
              </a:rPr>
              <a:t>(1 of 2)</a:t>
            </a:r>
            <a:endParaRPr lang="en-US" sz="2400" dirty="0"/>
          </a:p>
        </p:txBody>
      </p:sp>
      <p:sp>
        <p:nvSpPr>
          <p:cNvPr id="3" name="Content Placeholder 2">
            <a:extLst>
              <a:ext uri="{FF2B5EF4-FFF2-40B4-BE49-F238E27FC236}">
                <a16:creationId xmlns:a16="http://schemas.microsoft.com/office/drawing/2014/main" id="{40CB6D68-E69E-44FB-989C-E8CFD929EB21}"/>
              </a:ext>
            </a:extLst>
          </p:cNvPr>
          <p:cNvSpPr>
            <a:spLocks noGrp="1"/>
          </p:cNvSpPr>
          <p:nvPr>
            <p:ph sz="quarter" idx="16"/>
          </p:nvPr>
        </p:nvSpPr>
        <p:spPr>
          <a:xfrm>
            <a:off x="304800" y="1828800"/>
            <a:ext cx="8534400" cy="2286000"/>
          </a:xfrm>
        </p:spPr>
        <p:txBody>
          <a:bodyPr/>
          <a:lstStyle/>
          <a:p>
            <a:r>
              <a:rPr lang="en-US" altLang="en-US" sz="2600" b="1" dirty="0">
                <a:solidFill>
                  <a:schemeClr val="accent4"/>
                </a:solidFill>
                <a:latin typeface="Calibri" panose="020F0502020204030204" pitchFamily="34" charset="0"/>
              </a:rPr>
              <a:t>Transactions</a:t>
            </a:r>
            <a:r>
              <a:rPr lang="en-US" altLang="en-US" sz="2600" dirty="0">
                <a:solidFill>
                  <a:srgbClr val="0000CC"/>
                </a:solidFill>
                <a:latin typeface="Calibri" panose="020F0502020204030204" pitchFamily="34" charset="0"/>
              </a:rPr>
              <a:t> </a:t>
            </a:r>
            <a:r>
              <a:rPr lang="en-US" altLang="en-US" sz="2600" dirty="0">
                <a:latin typeface="Calibri" panose="020F0502020204030204" pitchFamily="34" charset="0"/>
              </a:rPr>
              <a:t>are a business’s economic events recorded by accountants.</a:t>
            </a:r>
          </a:p>
          <a:p>
            <a:pPr marL="292608" lvl="1" indent="-292608">
              <a:spcBef>
                <a:spcPts val="1000"/>
              </a:spcBef>
              <a:buClr>
                <a:srgbClr val="A50021"/>
              </a:buClr>
              <a:buSzPct val="100000"/>
            </a:pPr>
            <a:r>
              <a:rPr lang="en-US" altLang="en-US" sz="2600" dirty="0">
                <a:latin typeface="Calibri" panose="020F0502020204030204" pitchFamily="34" charset="0"/>
              </a:rPr>
              <a:t>May be external or internal</a:t>
            </a:r>
          </a:p>
          <a:p>
            <a:pPr marL="292608" lvl="1" indent="-292608">
              <a:spcBef>
                <a:spcPts val="1000"/>
              </a:spcBef>
              <a:buClr>
                <a:srgbClr val="A50021"/>
              </a:buClr>
              <a:buSzPct val="100000"/>
            </a:pPr>
            <a:r>
              <a:rPr lang="en-US" altLang="en-US" sz="2600" dirty="0">
                <a:latin typeface="Calibri" panose="020F0502020204030204" pitchFamily="34" charset="0"/>
              </a:rPr>
              <a:t>Not all activities represent transactions</a:t>
            </a:r>
          </a:p>
          <a:p>
            <a:pPr marL="292608" lvl="1" indent="-292608">
              <a:spcBef>
                <a:spcPts val="1000"/>
              </a:spcBef>
              <a:buClr>
                <a:srgbClr val="A50021"/>
              </a:buClr>
              <a:buSzPct val="100000"/>
            </a:pPr>
            <a:r>
              <a:rPr lang="en-US" altLang="en-US" sz="2600" dirty="0">
                <a:latin typeface="Calibri" panose="020F0502020204030204" pitchFamily="34" charset="0"/>
              </a:rPr>
              <a:t>Have a dual effect on the accounting equation</a:t>
            </a:r>
          </a:p>
        </p:txBody>
      </p:sp>
      <p:pic>
        <p:nvPicPr>
          <p:cNvPr id="10" name="Content Placeholder 9" descr="A flow chart analyzing business transactions. Step 1: analyze business transactions. Step 2: journalize the transactions. Step 3: post to ledger accounts. Step 4: prepare a trial balance. Step 5: journalize and post adjusting entries. Step 6: adjusted trial balance. Step 7: prepare financial statements. Step 8: journalize and post closing entries. Step 9: prepare a post-closing trial balance.">
            <a:extLst>
              <a:ext uri="{FF2B5EF4-FFF2-40B4-BE49-F238E27FC236}">
                <a16:creationId xmlns:a16="http://schemas.microsoft.com/office/drawing/2014/main" id="{1C09B6A2-0BDC-4FC5-8E4F-1C0A9B17A75B}"/>
              </a:ext>
            </a:extLst>
          </p:cNvPr>
          <p:cNvPicPr>
            <a:picLocks noGrp="1" noChangeAspect="1"/>
          </p:cNvPicPr>
          <p:nvPr>
            <p:ph sz="quarter" idx="17"/>
          </p:nvPr>
        </p:nvPicPr>
        <p:blipFill>
          <a:blip r:embed="rId2">
            <a:extLst>
              <a:ext uri="{28A0092B-C50C-407E-A947-70E740481C1C}">
                <a14:useLocalDpi xmlns:a14="http://schemas.microsoft.com/office/drawing/2010/main" val="0"/>
              </a:ext>
            </a:extLst>
          </a:blip>
          <a:stretch>
            <a:fillRect/>
          </a:stretch>
        </p:blipFill>
        <p:spPr>
          <a:xfrm>
            <a:off x="914400" y="4291173"/>
            <a:ext cx="6990248" cy="1798341"/>
          </a:xfrm>
        </p:spPr>
      </p:pic>
      <p:sp>
        <p:nvSpPr>
          <p:cNvPr id="5" name="Slide Number Placeholder 4">
            <a:extLst>
              <a:ext uri="{FF2B5EF4-FFF2-40B4-BE49-F238E27FC236}">
                <a16:creationId xmlns:a16="http://schemas.microsoft.com/office/drawing/2014/main" id="{F4E8867A-DAC4-4422-B596-4A51C8928548}"/>
              </a:ext>
            </a:extLst>
          </p:cNvPr>
          <p:cNvSpPr>
            <a:spLocks noGrp="1"/>
          </p:cNvSpPr>
          <p:nvPr>
            <p:ph type="sldNum" sz="quarter" idx="10"/>
          </p:nvPr>
        </p:nvSpPr>
        <p:spPr/>
        <p:txBody>
          <a:bodyPr/>
          <a:lstStyle/>
          <a:p>
            <a:fld id="{67B19427-F580-D146-B60E-4CADEE75497F}" type="slidenum">
              <a:rPr lang="en-US" smtClean="0"/>
              <a:pPr/>
              <a:t>17</a:t>
            </a:fld>
            <a:endParaRPr lang="en-US" dirty="0"/>
          </a:p>
        </p:txBody>
      </p:sp>
      <p:sp>
        <p:nvSpPr>
          <p:cNvPr id="6" name="Footer Placeholder 5">
            <a:extLst>
              <a:ext uri="{FF2B5EF4-FFF2-40B4-BE49-F238E27FC236}">
                <a16:creationId xmlns:a16="http://schemas.microsoft.com/office/drawing/2014/main" id="{30245EFF-01EE-4F48-A2C5-097F4C63427F}"/>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7186493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6A281-E387-476D-85C5-F23622568E68}"/>
              </a:ext>
            </a:extLst>
          </p:cNvPr>
          <p:cNvSpPr>
            <a:spLocks noGrp="1"/>
          </p:cNvSpPr>
          <p:nvPr>
            <p:ph type="title"/>
          </p:nvPr>
        </p:nvSpPr>
        <p:spPr>
          <a:xfrm>
            <a:off x="304800" y="762001"/>
            <a:ext cx="8534400" cy="685799"/>
          </a:xfrm>
        </p:spPr>
        <p:txBody>
          <a:bodyPr/>
          <a:lstStyle/>
          <a:p>
            <a:r>
              <a:rPr lang="en-US" b="1" dirty="0">
                <a:latin typeface="Calibri" panose="020F0502020204030204" pitchFamily="34" charset="0"/>
                <a:ea typeface="Source Sans Pro" charset="0"/>
                <a:cs typeface="Calibri" panose="020F0502020204030204" pitchFamily="34" charset="0"/>
              </a:rPr>
              <a:t>Analyzing Business Transactions </a:t>
            </a:r>
            <a:r>
              <a:rPr lang="en-US" sz="2400" dirty="0">
                <a:latin typeface="Calibri" panose="020F0502020204030204" pitchFamily="34" charset="0"/>
                <a:ea typeface="Source Sans Pro" charset="0"/>
                <a:cs typeface="Calibri" panose="020F0502020204030204" pitchFamily="34" charset="0"/>
              </a:rPr>
              <a:t>(2 of 2)</a:t>
            </a:r>
            <a:endParaRPr lang="en-US" dirty="0"/>
          </a:p>
        </p:txBody>
      </p:sp>
      <p:sp>
        <p:nvSpPr>
          <p:cNvPr id="3" name="Content Placeholder 2">
            <a:extLst>
              <a:ext uri="{FF2B5EF4-FFF2-40B4-BE49-F238E27FC236}">
                <a16:creationId xmlns:a16="http://schemas.microsoft.com/office/drawing/2014/main" id="{22A70C9C-81E3-4AB1-890E-74F5A73314F0}"/>
              </a:ext>
            </a:extLst>
          </p:cNvPr>
          <p:cNvSpPr>
            <a:spLocks noGrp="1"/>
          </p:cNvSpPr>
          <p:nvPr>
            <p:ph sz="quarter" idx="16"/>
          </p:nvPr>
        </p:nvSpPr>
        <p:spPr>
          <a:xfrm>
            <a:off x="304800" y="1828799"/>
            <a:ext cx="7391400" cy="778199"/>
          </a:xfrm>
        </p:spPr>
        <p:txBody>
          <a:bodyPr/>
          <a:lstStyle/>
          <a:p>
            <a:r>
              <a:rPr lang="en-US" sz="2600" b="1" dirty="0"/>
              <a:t>Illustration:</a:t>
            </a:r>
            <a:r>
              <a:rPr lang="en-US" sz="2600" dirty="0"/>
              <a:t> Are the following events recorded in the accounting records?</a:t>
            </a:r>
          </a:p>
        </p:txBody>
      </p:sp>
      <p:pic>
        <p:nvPicPr>
          <p:cNvPr id="7" name="Content Placeholder 6" descr="An illustration displays transaction identification process. The events are, purchase computer; discuss product design with potential customer; and pay rent. The criterion connected to the events reads, is the financial position (assets, liabilities, or owner's equity) of the company changed? The purchase computer, and pay rent are recorded whereas the discussion of product design with potential customer is not recorded.">
            <a:extLst>
              <a:ext uri="{FF2B5EF4-FFF2-40B4-BE49-F238E27FC236}">
                <a16:creationId xmlns:a16="http://schemas.microsoft.com/office/drawing/2014/main" id="{0484532D-358C-4357-AFCC-53D3E853511F}"/>
              </a:ext>
            </a:extLst>
          </p:cNvPr>
          <p:cNvPicPr>
            <a:picLocks noGrp="1" noChangeAspect="1"/>
          </p:cNvPicPr>
          <p:nvPr>
            <p:ph sz="quarter" idx="17"/>
          </p:nvPr>
        </p:nvPicPr>
        <p:blipFill>
          <a:blip r:embed="rId2"/>
          <a:stretch>
            <a:fillRect/>
          </a:stretch>
        </p:blipFill>
        <p:spPr>
          <a:xfrm>
            <a:off x="838200" y="2739924"/>
            <a:ext cx="7661463" cy="3483501"/>
          </a:xfrm>
          <a:prstGeom prst="rect">
            <a:avLst/>
          </a:prstGeom>
        </p:spPr>
      </p:pic>
      <p:sp>
        <p:nvSpPr>
          <p:cNvPr id="5" name="Slide Number Placeholder 4">
            <a:extLst>
              <a:ext uri="{FF2B5EF4-FFF2-40B4-BE49-F238E27FC236}">
                <a16:creationId xmlns:a16="http://schemas.microsoft.com/office/drawing/2014/main" id="{C555F9DB-7C61-486D-98E4-160481F61732}"/>
              </a:ext>
            </a:extLst>
          </p:cNvPr>
          <p:cNvSpPr>
            <a:spLocks noGrp="1"/>
          </p:cNvSpPr>
          <p:nvPr>
            <p:ph type="sldNum" sz="quarter" idx="10"/>
          </p:nvPr>
        </p:nvSpPr>
        <p:spPr/>
        <p:txBody>
          <a:bodyPr/>
          <a:lstStyle/>
          <a:p>
            <a:fld id="{67B19427-F580-D146-B60E-4CADEE75497F}" type="slidenum">
              <a:rPr lang="en-US" smtClean="0"/>
              <a:pPr/>
              <a:t>18</a:t>
            </a:fld>
            <a:endParaRPr lang="en-US" dirty="0"/>
          </a:p>
        </p:txBody>
      </p:sp>
      <p:sp>
        <p:nvSpPr>
          <p:cNvPr id="6" name="Footer Placeholder 5">
            <a:extLst>
              <a:ext uri="{FF2B5EF4-FFF2-40B4-BE49-F238E27FC236}">
                <a16:creationId xmlns:a16="http://schemas.microsoft.com/office/drawing/2014/main" id="{054BD019-2CB0-4EB1-BF1B-35133AE4129A}"/>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4951157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E73A5-4D27-4A99-BBC2-7C955DA8B1A2}"/>
              </a:ext>
            </a:extLst>
          </p:cNvPr>
          <p:cNvSpPr>
            <a:spLocks noGrp="1"/>
          </p:cNvSpPr>
          <p:nvPr>
            <p:ph type="title"/>
          </p:nvPr>
        </p:nvSpPr>
        <p:spPr>
          <a:xfrm>
            <a:off x="304800" y="762001"/>
            <a:ext cx="8534400" cy="838199"/>
          </a:xfrm>
        </p:spPr>
        <p:txBody>
          <a:bodyPr/>
          <a:lstStyle/>
          <a:p>
            <a:r>
              <a:rPr lang="en-US" b="1" dirty="0">
                <a:latin typeface="Calibri" panose="020F0502020204030204" pitchFamily="34" charset="0"/>
                <a:ea typeface="Source Sans Pro" charset="0"/>
                <a:cs typeface="Calibri" panose="020F0502020204030204" pitchFamily="34" charset="0"/>
              </a:rPr>
              <a:t>Transaction Analysis </a:t>
            </a:r>
            <a:r>
              <a:rPr lang="en-US" sz="2400" dirty="0">
                <a:latin typeface="Calibri" panose="020F0502020204030204" pitchFamily="34" charset="0"/>
                <a:ea typeface="Source Sans Pro" charset="0"/>
                <a:cs typeface="Calibri" panose="020F0502020204030204" pitchFamily="34" charset="0"/>
              </a:rPr>
              <a:t>(1 of 10)</a:t>
            </a:r>
            <a:endParaRPr lang="en-US" sz="2400" dirty="0"/>
          </a:p>
        </p:txBody>
      </p:sp>
      <p:sp>
        <p:nvSpPr>
          <p:cNvPr id="3" name="Content Placeholder 2">
            <a:extLst>
              <a:ext uri="{FF2B5EF4-FFF2-40B4-BE49-F238E27FC236}">
                <a16:creationId xmlns:a16="http://schemas.microsoft.com/office/drawing/2014/main" id="{50046D23-89B8-4C97-AA36-0465D549C446}"/>
              </a:ext>
            </a:extLst>
          </p:cNvPr>
          <p:cNvSpPr>
            <a:spLocks noGrp="1"/>
          </p:cNvSpPr>
          <p:nvPr>
            <p:ph sz="quarter" idx="16"/>
          </p:nvPr>
        </p:nvSpPr>
        <p:spPr>
          <a:xfrm>
            <a:off x="304800" y="1828799"/>
            <a:ext cx="8534400" cy="794327"/>
          </a:xfrm>
        </p:spPr>
        <p:txBody>
          <a:bodyPr/>
          <a:lstStyle/>
          <a:p>
            <a:pPr marL="0" lvl="1" indent="0">
              <a:spcBef>
                <a:spcPts val="1000"/>
              </a:spcBef>
              <a:buClr>
                <a:srgbClr val="800000"/>
              </a:buClr>
              <a:buSzPct val="100000"/>
              <a:buNone/>
            </a:pPr>
            <a:r>
              <a:rPr lang="en-US" sz="1800" b="1" dirty="0"/>
              <a:t>Transaction 1.</a:t>
            </a:r>
            <a:r>
              <a:rPr lang="en-US" sz="1800" dirty="0"/>
              <a:t> Ray Neal decides to start a smartphone app development company which he names Softbyte. On September 1, 2020, he invests $15,000 cash in the business. This transaction results in an equal increase in assets and owner’s equity.</a:t>
            </a:r>
          </a:p>
        </p:txBody>
      </p:sp>
      <p:pic>
        <p:nvPicPr>
          <p:cNvPr id="9" name="Content Placeholder 8" descr="An illustration displays a transaction analysis. The illustration reads, assets equal to liabilities plus owner's equity. Assets is expanded as cash which is equal to liabilities plus owner's equity where the owner's equity is expanded as owner's capital. It reads, cash of $15,000 is equal to owner's capital of $15,000, as initial investment, where all entries are highlighted in red font.">
            <a:extLst>
              <a:ext uri="{FF2B5EF4-FFF2-40B4-BE49-F238E27FC236}">
                <a16:creationId xmlns:a16="http://schemas.microsoft.com/office/drawing/2014/main" id="{40BC86FB-F3E6-4067-966C-485E5AC2820B}"/>
              </a:ext>
            </a:extLst>
          </p:cNvPr>
          <p:cNvPicPr>
            <a:picLocks noGrp="1" noChangeAspect="1"/>
          </p:cNvPicPr>
          <p:nvPr>
            <p:ph sz="quarter" idx="18"/>
          </p:nvPr>
        </p:nvPicPr>
        <p:blipFill>
          <a:blip r:embed="rId2">
            <a:extLst>
              <a:ext uri="{28A0092B-C50C-407E-A947-70E740481C1C}">
                <a14:useLocalDpi xmlns:a14="http://schemas.microsoft.com/office/drawing/2010/main" val="0"/>
              </a:ext>
            </a:extLst>
          </a:blip>
          <a:stretch>
            <a:fillRect/>
          </a:stretch>
        </p:blipFill>
        <p:spPr>
          <a:xfrm>
            <a:off x="685800" y="3124200"/>
            <a:ext cx="7987553" cy="1607075"/>
          </a:xfrm>
        </p:spPr>
      </p:pic>
      <p:sp>
        <p:nvSpPr>
          <p:cNvPr id="5" name="Slide Number Placeholder 4">
            <a:extLst>
              <a:ext uri="{FF2B5EF4-FFF2-40B4-BE49-F238E27FC236}">
                <a16:creationId xmlns:a16="http://schemas.microsoft.com/office/drawing/2014/main" id="{CD432851-7DD1-4411-87EF-DCC68A8E346F}"/>
              </a:ext>
            </a:extLst>
          </p:cNvPr>
          <p:cNvSpPr>
            <a:spLocks noGrp="1"/>
          </p:cNvSpPr>
          <p:nvPr>
            <p:ph type="sldNum" sz="quarter" idx="10"/>
          </p:nvPr>
        </p:nvSpPr>
        <p:spPr/>
        <p:txBody>
          <a:bodyPr/>
          <a:lstStyle/>
          <a:p>
            <a:fld id="{67B19427-F580-D146-B60E-4CADEE75497F}" type="slidenum">
              <a:rPr lang="en-US" smtClean="0"/>
              <a:pPr/>
              <a:t>19</a:t>
            </a:fld>
            <a:endParaRPr lang="en-US" dirty="0"/>
          </a:p>
        </p:txBody>
      </p:sp>
      <p:sp>
        <p:nvSpPr>
          <p:cNvPr id="6" name="Footer Placeholder 5">
            <a:extLst>
              <a:ext uri="{FF2B5EF4-FFF2-40B4-BE49-F238E27FC236}">
                <a16:creationId xmlns:a16="http://schemas.microsoft.com/office/drawing/2014/main" id="{80AE5F88-388B-451C-8EA1-7677A7BB1A2C}"/>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8487177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E73A5-4D27-4A99-BBC2-7C955DA8B1A2}"/>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Transaction Analysis </a:t>
            </a:r>
            <a:r>
              <a:rPr lang="en-US" sz="2400" dirty="0">
                <a:latin typeface="Calibri" panose="020F0502020204030204" pitchFamily="34" charset="0"/>
                <a:ea typeface="Source Sans Pro" charset="0"/>
                <a:cs typeface="Calibri" panose="020F0502020204030204" pitchFamily="34" charset="0"/>
              </a:rPr>
              <a:t>(2 of 10)</a:t>
            </a:r>
            <a:endParaRPr lang="en-US" sz="2400" dirty="0"/>
          </a:p>
        </p:txBody>
      </p:sp>
      <p:sp>
        <p:nvSpPr>
          <p:cNvPr id="3" name="Content Placeholder 2">
            <a:extLst>
              <a:ext uri="{FF2B5EF4-FFF2-40B4-BE49-F238E27FC236}">
                <a16:creationId xmlns:a16="http://schemas.microsoft.com/office/drawing/2014/main" id="{50046D23-89B8-4C97-AA36-0465D549C446}"/>
              </a:ext>
            </a:extLst>
          </p:cNvPr>
          <p:cNvSpPr>
            <a:spLocks noGrp="1"/>
          </p:cNvSpPr>
          <p:nvPr>
            <p:ph sz="quarter" idx="16"/>
          </p:nvPr>
        </p:nvSpPr>
        <p:spPr>
          <a:xfrm>
            <a:off x="304800" y="1828799"/>
            <a:ext cx="7010400" cy="323273"/>
          </a:xfrm>
        </p:spPr>
        <p:txBody>
          <a:bodyPr/>
          <a:lstStyle/>
          <a:p>
            <a:pPr marL="0" lvl="1" indent="0">
              <a:spcBef>
                <a:spcPts val="1000"/>
              </a:spcBef>
              <a:buClr>
                <a:srgbClr val="800000"/>
              </a:buClr>
              <a:buSzPct val="100000"/>
              <a:buNone/>
            </a:pPr>
            <a:r>
              <a:rPr lang="en-US" sz="1800" b="1" dirty="0"/>
              <a:t>Transaction 2.</a:t>
            </a:r>
            <a:r>
              <a:rPr lang="en-US" sz="1800" dirty="0"/>
              <a:t> Softbyte purchases computer equipment for $7,000 cash.</a:t>
            </a:r>
          </a:p>
        </p:txBody>
      </p:sp>
      <p:pic>
        <p:nvPicPr>
          <p:cNvPr id="10" name="Content Placeholder 9" descr="An illustration displays a transaction analysis. The illustration reads, assets equal to liabilities plus owner's equity. Assets is expanded as cash plus equipment which is equal to liabilities plus owner's equity. The owner's equity is expanded as owner's capital. The illustration displays two rows, in which the first row shows cash of $15,000; and owner's capital of $15,000. The second row reads, cash of negative 7,000; and equipment of $7,000, highlighted in red font. The final row reads cash of $8,000 plus equipment of $7,000 gives a total of $150,000 which is equal to owner's capital of $15,000.">
            <a:extLst>
              <a:ext uri="{FF2B5EF4-FFF2-40B4-BE49-F238E27FC236}">
                <a16:creationId xmlns:a16="http://schemas.microsoft.com/office/drawing/2014/main" id="{CDE8A58B-52F7-422A-979C-7A2B757F5C0B}"/>
              </a:ext>
            </a:extLst>
          </p:cNvPr>
          <p:cNvPicPr>
            <a:picLocks noGrp="1" noChangeAspect="1"/>
          </p:cNvPicPr>
          <p:nvPr>
            <p:ph sz="quarter" idx="18"/>
          </p:nvPr>
        </p:nvPicPr>
        <p:blipFill>
          <a:blip r:embed="rId2">
            <a:extLst>
              <a:ext uri="{28A0092B-C50C-407E-A947-70E740481C1C}">
                <a14:useLocalDpi xmlns:a14="http://schemas.microsoft.com/office/drawing/2010/main" val="0"/>
              </a:ext>
            </a:extLst>
          </a:blip>
          <a:stretch>
            <a:fillRect/>
          </a:stretch>
        </p:blipFill>
        <p:spPr>
          <a:xfrm>
            <a:off x="762000" y="2692162"/>
            <a:ext cx="7261412" cy="2113200"/>
          </a:xfrm>
        </p:spPr>
      </p:pic>
      <p:sp>
        <p:nvSpPr>
          <p:cNvPr id="5" name="Slide Number Placeholder 4">
            <a:extLst>
              <a:ext uri="{FF2B5EF4-FFF2-40B4-BE49-F238E27FC236}">
                <a16:creationId xmlns:a16="http://schemas.microsoft.com/office/drawing/2014/main" id="{CD432851-7DD1-4411-87EF-DCC68A8E346F}"/>
              </a:ext>
            </a:extLst>
          </p:cNvPr>
          <p:cNvSpPr>
            <a:spLocks noGrp="1"/>
          </p:cNvSpPr>
          <p:nvPr>
            <p:ph type="sldNum" sz="quarter" idx="10"/>
          </p:nvPr>
        </p:nvSpPr>
        <p:spPr/>
        <p:txBody>
          <a:bodyPr/>
          <a:lstStyle/>
          <a:p>
            <a:fld id="{67B19427-F580-D146-B60E-4CADEE75497F}" type="slidenum">
              <a:rPr lang="en-US" smtClean="0"/>
              <a:pPr/>
              <a:t>20</a:t>
            </a:fld>
            <a:endParaRPr lang="en-US" dirty="0"/>
          </a:p>
        </p:txBody>
      </p:sp>
      <p:sp>
        <p:nvSpPr>
          <p:cNvPr id="6" name="Footer Placeholder 5">
            <a:extLst>
              <a:ext uri="{FF2B5EF4-FFF2-40B4-BE49-F238E27FC236}">
                <a16:creationId xmlns:a16="http://schemas.microsoft.com/office/drawing/2014/main" id="{80AE5F88-388B-451C-8EA1-7677A7BB1A2C}"/>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5639227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E73A5-4D27-4A99-BBC2-7C955DA8B1A2}"/>
              </a:ext>
            </a:extLst>
          </p:cNvPr>
          <p:cNvSpPr>
            <a:spLocks noGrp="1"/>
          </p:cNvSpPr>
          <p:nvPr>
            <p:ph type="title"/>
          </p:nvPr>
        </p:nvSpPr>
        <p:spPr>
          <a:xfrm>
            <a:off x="304800" y="762001"/>
            <a:ext cx="8534400" cy="812936"/>
          </a:xfrm>
        </p:spPr>
        <p:txBody>
          <a:bodyPr/>
          <a:lstStyle/>
          <a:p>
            <a:r>
              <a:rPr lang="en-US" b="1" dirty="0">
                <a:latin typeface="Calibri" panose="020F0502020204030204" pitchFamily="34" charset="0"/>
                <a:ea typeface="Source Sans Pro" charset="0"/>
                <a:cs typeface="Calibri" panose="020F0502020204030204" pitchFamily="34" charset="0"/>
              </a:rPr>
              <a:t>Transaction Analysis </a:t>
            </a:r>
            <a:r>
              <a:rPr lang="en-US" sz="2400" dirty="0">
                <a:latin typeface="Calibri" panose="020F0502020204030204" pitchFamily="34" charset="0"/>
                <a:ea typeface="Source Sans Pro" charset="0"/>
                <a:cs typeface="Calibri" panose="020F0502020204030204" pitchFamily="34" charset="0"/>
              </a:rPr>
              <a:t>(3 of 10)</a:t>
            </a:r>
            <a:endParaRPr lang="en-US" sz="2400" dirty="0"/>
          </a:p>
        </p:txBody>
      </p:sp>
      <p:sp>
        <p:nvSpPr>
          <p:cNvPr id="3" name="Content Placeholder 2">
            <a:extLst>
              <a:ext uri="{FF2B5EF4-FFF2-40B4-BE49-F238E27FC236}">
                <a16:creationId xmlns:a16="http://schemas.microsoft.com/office/drawing/2014/main" id="{50046D23-89B8-4C97-AA36-0465D549C446}"/>
              </a:ext>
            </a:extLst>
          </p:cNvPr>
          <p:cNvSpPr>
            <a:spLocks noGrp="1"/>
          </p:cNvSpPr>
          <p:nvPr>
            <p:ph sz="quarter" idx="16"/>
          </p:nvPr>
        </p:nvSpPr>
        <p:spPr>
          <a:xfrm>
            <a:off x="304800" y="1828799"/>
            <a:ext cx="8686800" cy="591127"/>
          </a:xfrm>
        </p:spPr>
        <p:txBody>
          <a:bodyPr/>
          <a:lstStyle/>
          <a:p>
            <a:pPr marL="0" lvl="1" indent="0">
              <a:spcBef>
                <a:spcPts val="1000"/>
              </a:spcBef>
              <a:buClr>
                <a:srgbClr val="800000"/>
              </a:buClr>
              <a:buSzPct val="100000"/>
              <a:buNone/>
            </a:pPr>
            <a:r>
              <a:rPr lang="en-US" sz="1800" b="1" dirty="0"/>
              <a:t>Transaction 3.</a:t>
            </a:r>
            <a:r>
              <a:rPr lang="en-US" sz="1800" dirty="0"/>
              <a:t> Softbyte Inc. purchases for $1,600 headsets and other computer accessories expected to last several months. The supplier allows Softbyte to pay this bill in October.</a:t>
            </a:r>
          </a:p>
        </p:txBody>
      </p:sp>
      <p:pic>
        <p:nvPicPr>
          <p:cNvPr id="10" name="Content Placeholder 9" descr="An illustration displays a transaction analysis. The illustration reads, assets equal to liabilities plus owner's equity. Assets is expanded as cash plus supplies plus equipment which is equal to liabilities plus owner's equity. Liabilities contains the accounts payable; and the owner's equity contains as owner's capital. The illustration displays two rows. The first row shows cash of $$8,000, equipment of $7,000, and owner's capital of $15,000. The next row numbered three reads, supplies of $1,600; and accounts payable of $1,600 highlighted in red font. The final row reads cash of 8,000 plus supplies of $16,000 plus equipment  plus $7,000 on the left side is equal to and liabilities of $1,600 plus owner's capital of $15,000 on the right side is equal to $16,600. ">
            <a:extLst>
              <a:ext uri="{FF2B5EF4-FFF2-40B4-BE49-F238E27FC236}">
                <a16:creationId xmlns:a16="http://schemas.microsoft.com/office/drawing/2014/main" id="{8037DF8E-02F0-4CAC-8E19-EC8207793896}"/>
              </a:ext>
            </a:extLst>
          </p:cNvPr>
          <p:cNvPicPr>
            <a:picLocks noGrp="1" noChangeAspect="1"/>
          </p:cNvPicPr>
          <p:nvPr>
            <p:ph sz="quarter" idx="18"/>
          </p:nvPr>
        </p:nvPicPr>
        <p:blipFill>
          <a:blip r:embed="rId2">
            <a:extLst>
              <a:ext uri="{28A0092B-C50C-407E-A947-70E740481C1C}">
                <a14:useLocalDpi xmlns:a14="http://schemas.microsoft.com/office/drawing/2010/main" val="0"/>
              </a:ext>
            </a:extLst>
          </a:blip>
          <a:stretch>
            <a:fillRect/>
          </a:stretch>
        </p:blipFill>
        <p:spPr>
          <a:xfrm>
            <a:off x="593889" y="2917775"/>
            <a:ext cx="7956222" cy="2066946"/>
          </a:xfrm>
        </p:spPr>
      </p:pic>
      <p:sp>
        <p:nvSpPr>
          <p:cNvPr id="5" name="Slide Number Placeholder 4">
            <a:extLst>
              <a:ext uri="{FF2B5EF4-FFF2-40B4-BE49-F238E27FC236}">
                <a16:creationId xmlns:a16="http://schemas.microsoft.com/office/drawing/2014/main" id="{CD432851-7DD1-4411-87EF-DCC68A8E346F}"/>
              </a:ext>
            </a:extLst>
          </p:cNvPr>
          <p:cNvSpPr>
            <a:spLocks noGrp="1"/>
          </p:cNvSpPr>
          <p:nvPr>
            <p:ph type="sldNum" sz="quarter" idx="10"/>
          </p:nvPr>
        </p:nvSpPr>
        <p:spPr/>
        <p:txBody>
          <a:bodyPr/>
          <a:lstStyle/>
          <a:p>
            <a:fld id="{67B19427-F580-D146-B60E-4CADEE75497F}" type="slidenum">
              <a:rPr lang="en-US" smtClean="0"/>
              <a:pPr/>
              <a:t>21</a:t>
            </a:fld>
            <a:endParaRPr lang="en-US" dirty="0"/>
          </a:p>
        </p:txBody>
      </p:sp>
      <p:sp>
        <p:nvSpPr>
          <p:cNvPr id="6" name="Footer Placeholder 5">
            <a:extLst>
              <a:ext uri="{FF2B5EF4-FFF2-40B4-BE49-F238E27FC236}">
                <a16:creationId xmlns:a16="http://schemas.microsoft.com/office/drawing/2014/main" id="{80AE5F88-388B-451C-8EA1-7677A7BB1A2C}"/>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6430340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E73A5-4D27-4A99-BBC2-7C955DA8B1A2}"/>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Transaction Analysis </a:t>
            </a:r>
            <a:r>
              <a:rPr lang="en-US" sz="2400" dirty="0">
                <a:latin typeface="Calibri" panose="020F0502020204030204" pitchFamily="34" charset="0"/>
                <a:ea typeface="Source Sans Pro" charset="0"/>
                <a:cs typeface="Calibri" panose="020F0502020204030204" pitchFamily="34" charset="0"/>
              </a:rPr>
              <a:t>(4 of 10)</a:t>
            </a:r>
            <a:endParaRPr lang="en-US" sz="2400" dirty="0"/>
          </a:p>
        </p:txBody>
      </p:sp>
      <p:sp>
        <p:nvSpPr>
          <p:cNvPr id="3" name="Content Placeholder 2">
            <a:extLst>
              <a:ext uri="{FF2B5EF4-FFF2-40B4-BE49-F238E27FC236}">
                <a16:creationId xmlns:a16="http://schemas.microsoft.com/office/drawing/2014/main" id="{50046D23-89B8-4C97-AA36-0465D549C446}"/>
              </a:ext>
            </a:extLst>
          </p:cNvPr>
          <p:cNvSpPr>
            <a:spLocks noGrp="1"/>
          </p:cNvSpPr>
          <p:nvPr>
            <p:ph sz="quarter" idx="16"/>
          </p:nvPr>
        </p:nvSpPr>
        <p:spPr>
          <a:xfrm>
            <a:off x="304800" y="1828800"/>
            <a:ext cx="8534400" cy="609600"/>
          </a:xfrm>
        </p:spPr>
        <p:txBody>
          <a:bodyPr/>
          <a:lstStyle/>
          <a:p>
            <a:pPr marL="0" lvl="1" indent="0">
              <a:spcBef>
                <a:spcPts val="1000"/>
              </a:spcBef>
              <a:buClr>
                <a:srgbClr val="800000"/>
              </a:buClr>
              <a:buSzPct val="100000"/>
              <a:buNone/>
            </a:pPr>
            <a:r>
              <a:rPr lang="en-US" sz="1800" b="1" dirty="0"/>
              <a:t>Transaction 4.</a:t>
            </a:r>
            <a:r>
              <a:rPr lang="en-US" sz="1800" dirty="0"/>
              <a:t> Softbyte receives $1,200 cash from customers for app development services it has performed.</a:t>
            </a:r>
          </a:p>
        </p:txBody>
      </p:sp>
      <p:pic>
        <p:nvPicPr>
          <p:cNvPr id="10" name="Content Placeholder 9" descr="An illustration displays a transaction analysis. The illustration reads, assets equal to liabilities plus owner's equity. Assets is expanded as cash plus supplies plus equipment which is equal to liabilities plus owner's equity. Liabilities contains the accounts payable; and the owner's equity is expanded as owner's capital plus revenues. The first row shows cash of  $8,000, supplies of $1,600, and equipment of $7,000 which is equal to accounts payable of $1,600, plus owner's capital of $15,000. The next row which is numbered as four reads, cash of   plus 1,200 and revenues of plus $1,200 highlighted in red font as service revenue. The final row reads,  cash of $9,200 plus supplies of $1,600 plus equipment of $7,000 is equal to accounts payable of $1,600 plus owner's capital of $15,000 plus revenues of $1,200 gives a total of $17,800. ">
            <a:extLst>
              <a:ext uri="{FF2B5EF4-FFF2-40B4-BE49-F238E27FC236}">
                <a16:creationId xmlns:a16="http://schemas.microsoft.com/office/drawing/2014/main" id="{80804C12-5C68-49D3-8D55-E9DFC7C87751}"/>
              </a:ext>
            </a:extLst>
          </p:cNvPr>
          <p:cNvPicPr>
            <a:picLocks noGrp="1" noChangeAspect="1"/>
          </p:cNvPicPr>
          <p:nvPr>
            <p:ph sz="quarter" idx="18"/>
          </p:nvPr>
        </p:nvPicPr>
        <p:blipFill>
          <a:blip r:embed="rId2">
            <a:extLst>
              <a:ext uri="{28A0092B-C50C-407E-A947-70E740481C1C}">
                <a14:useLocalDpi xmlns:a14="http://schemas.microsoft.com/office/drawing/2010/main" val="0"/>
              </a:ext>
            </a:extLst>
          </a:blip>
          <a:stretch>
            <a:fillRect/>
          </a:stretch>
        </p:blipFill>
        <p:spPr>
          <a:xfrm>
            <a:off x="685800" y="3048000"/>
            <a:ext cx="7507173" cy="1829423"/>
          </a:xfrm>
        </p:spPr>
      </p:pic>
      <p:sp>
        <p:nvSpPr>
          <p:cNvPr id="5" name="Slide Number Placeholder 4">
            <a:extLst>
              <a:ext uri="{FF2B5EF4-FFF2-40B4-BE49-F238E27FC236}">
                <a16:creationId xmlns:a16="http://schemas.microsoft.com/office/drawing/2014/main" id="{CD432851-7DD1-4411-87EF-DCC68A8E346F}"/>
              </a:ext>
            </a:extLst>
          </p:cNvPr>
          <p:cNvSpPr>
            <a:spLocks noGrp="1"/>
          </p:cNvSpPr>
          <p:nvPr>
            <p:ph type="sldNum" sz="quarter" idx="10"/>
          </p:nvPr>
        </p:nvSpPr>
        <p:spPr/>
        <p:txBody>
          <a:bodyPr/>
          <a:lstStyle/>
          <a:p>
            <a:fld id="{67B19427-F580-D146-B60E-4CADEE75497F}" type="slidenum">
              <a:rPr lang="en-US" smtClean="0"/>
              <a:pPr/>
              <a:t>22</a:t>
            </a:fld>
            <a:endParaRPr lang="en-US" dirty="0"/>
          </a:p>
        </p:txBody>
      </p:sp>
      <p:sp>
        <p:nvSpPr>
          <p:cNvPr id="6" name="Footer Placeholder 5">
            <a:extLst>
              <a:ext uri="{FF2B5EF4-FFF2-40B4-BE49-F238E27FC236}">
                <a16:creationId xmlns:a16="http://schemas.microsoft.com/office/drawing/2014/main" id="{80AE5F88-388B-451C-8EA1-7677A7BB1A2C}"/>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3159607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E73A5-4D27-4A99-BBC2-7C955DA8B1A2}"/>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Transaction Analysis </a:t>
            </a:r>
            <a:r>
              <a:rPr lang="en-US" sz="2400" dirty="0">
                <a:latin typeface="Calibri" panose="020F0502020204030204" pitchFamily="34" charset="0"/>
                <a:ea typeface="Source Sans Pro" charset="0"/>
                <a:cs typeface="Calibri" panose="020F0502020204030204" pitchFamily="34" charset="0"/>
              </a:rPr>
              <a:t>(5 of 10)</a:t>
            </a:r>
            <a:endParaRPr lang="en-US" sz="2400" dirty="0"/>
          </a:p>
        </p:txBody>
      </p:sp>
      <p:sp>
        <p:nvSpPr>
          <p:cNvPr id="3" name="Content Placeholder 2">
            <a:extLst>
              <a:ext uri="{FF2B5EF4-FFF2-40B4-BE49-F238E27FC236}">
                <a16:creationId xmlns:a16="http://schemas.microsoft.com/office/drawing/2014/main" id="{50046D23-89B8-4C97-AA36-0465D549C446}"/>
              </a:ext>
            </a:extLst>
          </p:cNvPr>
          <p:cNvSpPr>
            <a:spLocks noGrp="1"/>
          </p:cNvSpPr>
          <p:nvPr>
            <p:ph sz="quarter" idx="16"/>
          </p:nvPr>
        </p:nvSpPr>
        <p:spPr>
          <a:xfrm>
            <a:off x="304800" y="1828800"/>
            <a:ext cx="8229600" cy="609600"/>
          </a:xfrm>
        </p:spPr>
        <p:txBody>
          <a:bodyPr/>
          <a:lstStyle/>
          <a:p>
            <a:pPr marL="0" lvl="1" indent="0">
              <a:spcBef>
                <a:spcPts val="1000"/>
              </a:spcBef>
              <a:buClr>
                <a:srgbClr val="800000"/>
              </a:buClr>
              <a:buSzPct val="100000"/>
              <a:buNone/>
            </a:pPr>
            <a:r>
              <a:rPr lang="en-US" sz="1800" b="1" dirty="0"/>
              <a:t>Transaction 5.</a:t>
            </a:r>
            <a:r>
              <a:rPr lang="en-US" sz="1800" dirty="0"/>
              <a:t> Softbyte Inc. receives a bill for $250 from the Daily News for advertising on its online website but postpones payment until a later date.</a:t>
            </a:r>
          </a:p>
        </p:txBody>
      </p:sp>
      <p:pic>
        <p:nvPicPr>
          <p:cNvPr id="9" name="Content Placeholder 8" descr="An illustration displays a transaction analysis. The illustration reads, assets equal to liabilities plus owner's equity. Assets is expanded as cash plus supplies plus equipment which is equal to liabilities plus owner's equity. Liabilities contains the accounts payable; and the owner's equity is expanded as owner's capital plus revenue minus expense. The first row reads cash of $9,200 plus supplies of 1,600 plus equipment of $7,000 equals accounts payable of $1,600 plus owner's capital of $15,000; and revenues of $1,200. The next row numbered five reads, accounts payable of plus 250 and expenses of negative $250 highlighted in red font as advertising expense. The final row reads cash of $9,200 plus supplies of $1,600 plus equipment of $7,000 equal to accounts payable of $1,850 plus owner's capital of $15,000 plus revenues of $1,200 and expenses of $250 gives a total of $17,800 on either sides. ">
            <a:extLst>
              <a:ext uri="{FF2B5EF4-FFF2-40B4-BE49-F238E27FC236}">
                <a16:creationId xmlns:a16="http://schemas.microsoft.com/office/drawing/2014/main" id="{712BBBA9-6C7F-46F2-A110-C3BF166A947C}"/>
              </a:ext>
            </a:extLst>
          </p:cNvPr>
          <p:cNvPicPr>
            <a:picLocks noGrp="1" noChangeAspect="1"/>
          </p:cNvPicPr>
          <p:nvPr>
            <p:ph sz="quarter" idx="18"/>
          </p:nvPr>
        </p:nvPicPr>
        <p:blipFill>
          <a:blip r:embed="rId2">
            <a:extLst>
              <a:ext uri="{28A0092B-C50C-407E-A947-70E740481C1C}">
                <a14:useLocalDpi xmlns:a14="http://schemas.microsoft.com/office/drawing/2010/main" val="0"/>
              </a:ext>
            </a:extLst>
          </a:blip>
          <a:stretch>
            <a:fillRect/>
          </a:stretch>
        </p:blipFill>
        <p:spPr>
          <a:xfrm>
            <a:off x="348988" y="2971800"/>
            <a:ext cx="8401632" cy="2026741"/>
          </a:xfrm>
        </p:spPr>
      </p:pic>
      <p:sp>
        <p:nvSpPr>
          <p:cNvPr id="5" name="Slide Number Placeholder 4">
            <a:extLst>
              <a:ext uri="{FF2B5EF4-FFF2-40B4-BE49-F238E27FC236}">
                <a16:creationId xmlns:a16="http://schemas.microsoft.com/office/drawing/2014/main" id="{CD432851-7DD1-4411-87EF-DCC68A8E346F}"/>
              </a:ext>
            </a:extLst>
          </p:cNvPr>
          <p:cNvSpPr>
            <a:spLocks noGrp="1"/>
          </p:cNvSpPr>
          <p:nvPr>
            <p:ph type="sldNum" sz="quarter" idx="10"/>
          </p:nvPr>
        </p:nvSpPr>
        <p:spPr/>
        <p:txBody>
          <a:bodyPr/>
          <a:lstStyle/>
          <a:p>
            <a:fld id="{67B19427-F580-D146-B60E-4CADEE75497F}" type="slidenum">
              <a:rPr lang="en-US" smtClean="0"/>
              <a:pPr/>
              <a:t>23</a:t>
            </a:fld>
            <a:endParaRPr lang="en-US" dirty="0"/>
          </a:p>
        </p:txBody>
      </p:sp>
      <p:sp>
        <p:nvSpPr>
          <p:cNvPr id="6" name="Footer Placeholder 5">
            <a:extLst>
              <a:ext uri="{FF2B5EF4-FFF2-40B4-BE49-F238E27FC236}">
                <a16:creationId xmlns:a16="http://schemas.microsoft.com/office/drawing/2014/main" id="{80AE5F88-388B-451C-8EA1-7677A7BB1A2C}"/>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5797719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E73A5-4D27-4A99-BBC2-7C955DA8B1A2}"/>
              </a:ext>
            </a:extLst>
          </p:cNvPr>
          <p:cNvSpPr>
            <a:spLocks noGrp="1"/>
          </p:cNvSpPr>
          <p:nvPr>
            <p:ph type="title"/>
          </p:nvPr>
        </p:nvSpPr>
        <p:spPr>
          <a:xfrm>
            <a:off x="304800" y="762001"/>
            <a:ext cx="8534400" cy="779984"/>
          </a:xfrm>
        </p:spPr>
        <p:txBody>
          <a:bodyPr/>
          <a:lstStyle/>
          <a:p>
            <a:r>
              <a:rPr lang="en-US" b="1" dirty="0">
                <a:latin typeface="Calibri" panose="020F0502020204030204" pitchFamily="34" charset="0"/>
                <a:ea typeface="Source Sans Pro" charset="0"/>
                <a:cs typeface="Calibri" panose="020F0502020204030204" pitchFamily="34" charset="0"/>
              </a:rPr>
              <a:t>Transaction Analysis </a:t>
            </a:r>
            <a:r>
              <a:rPr lang="en-US" sz="2400" dirty="0">
                <a:latin typeface="Calibri" panose="020F0502020204030204" pitchFamily="34" charset="0"/>
                <a:ea typeface="Source Sans Pro" charset="0"/>
                <a:cs typeface="Calibri" panose="020F0502020204030204" pitchFamily="34" charset="0"/>
              </a:rPr>
              <a:t>(6 of 10)</a:t>
            </a:r>
            <a:endParaRPr lang="en-US" sz="2400" dirty="0"/>
          </a:p>
        </p:txBody>
      </p:sp>
      <p:sp>
        <p:nvSpPr>
          <p:cNvPr id="3" name="Content Placeholder 2">
            <a:extLst>
              <a:ext uri="{FF2B5EF4-FFF2-40B4-BE49-F238E27FC236}">
                <a16:creationId xmlns:a16="http://schemas.microsoft.com/office/drawing/2014/main" id="{50046D23-89B8-4C97-AA36-0465D549C446}"/>
              </a:ext>
            </a:extLst>
          </p:cNvPr>
          <p:cNvSpPr>
            <a:spLocks noGrp="1"/>
          </p:cNvSpPr>
          <p:nvPr>
            <p:ph sz="quarter" idx="16"/>
          </p:nvPr>
        </p:nvSpPr>
        <p:spPr>
          <a:xfrm>
            <a:off x="304800" y="1828799"/>
            <a:ext cx="8534400" cy="847725"/>
          </a:xfrm>
        </p:spPr>
        <p:txBody>
          <a:bodyPr/>
          <a:lstStyle/>
          <a:p>
            <a:pPr marL="0" lvl="1" indent="0">
              <a:spcBef>
                <a:spcPts val="1000"/>
              </a:spcBef>
              <a:buClr>
                <a:srgbClr val="800000"/>
              </a:buClr>
              <a:buSzPct val="100000"/>
              <a:buNone/>
            </a:pPr>
            <a:r>
              <a:rPr lang="en-US" sz="1800" b="1" dirty="0"/>
              <a:t>Transaction 6.</a:t>
            </a:r>
            <a:r>
              <a:rPr lang="en-US" sz="1800" dirty="0"/>
              <a:t> Softbyte performs $3,500 of app development services for customers. The company receives cash of $1,500 from customers, and it bills the balance of $2,000 on account.</a:t>
            </a:r>
          </a:p>
        </p:txBody>
      </p:sp>
      <p:pic>
        <p:nvPicPr>
          <p:cNvPr id="10" name="Content Placeholder 9" descr="An illustration displays a transaction analysis. The illustration reads, assets equal to liabilities plus owner's equity. Assets is expanded as cash plus accounts receivable plus supplies plus equipment. Liabilities contains the accounts payable; and the owner's equity is expanded as owner's capital plus revenue minus expense. The first row reads cash of $9,200 plus supplies of $1,600 plus equipment of $7,000 equal to accounts payable of $1,850 plus owner's capital of $15,000 plus revenues of $1,200 minus $250. The next row numbered six reads,  cash of 1,500, plus accounts receivable of $2,000, equal to revenues of 3,500, highlighted in red font as service revenue. The last row reads, cash of $10,700 plus accounts receivable of $2,000 plus supplies of $1,600 plus equipment of $7,000 equal to accounts payable of $1,850 plus owner's capital of $15,000 plus revenues of $4,700 minus expenses of $250 which is equal to $21,300. ">
            <a:extLst>
              <a:ext uri="{FF2B5EF4-FFF2-40B4-BE49-F238E27FC236}">
                <a16:creationId xmlns:a16="http://schemas.microsoft.com/office/drawing/2014/main" id="{8771F257-2E0E-493E-B033-1EF420ABEB38}"/>
              </a:ext>
            </a:extLst>
          </p:cNvPr>
          <p:cNvPicPr>
            <a:picLocks noGrp="1" noChangeAspect="1"/>
          </p:cNvPicPr>
          <p:nvPr>
            <p:ph sz="quarter" idx="18"/>
          </p:nvPr>
        </p:nvPicPr>
        <p:blipFill>
          <a:blip r:embed="rId2">
            <a:extLst>
              <a:ext uri="{28A0092B-C50C-407E-A947-70E740481C1C}">
                <a14:useLocalDpi xmlns:a14="http://schemas.microsoft.com/office/drawing/2010/main" val="0"/>
              </a:ext>
            </a:extLst>
          </a:blip>
          <a:stretch>
            <a:fillRect/>
          </a:stretch>
        </p:blipFill>
        <p:spPr>
          <a:xfrm>
            <a:off x="542699" y="3171699"/>
            <a:ext cx="8265078" cy="2019555"/>
          </a:xfrm>
        </p:spPr>
      </p:pic>
      <p:sp>
        <p:nvSpPr>
          <p:cNvPr id="5" name="Slide Number Placeholder 4">
            <a:extLst>
              <a:ext uri="{FF2B5EF4-FFF2-40B4-BE49-F238E27FC236}">
                <a16:creationId xmlns:a16="http://schemas.microsoft.com/office/drawing/2014/main" id="{CD432851-7DD1-4411-87EF-DCC68A8E346F}"/>
              </a:ext>
            </a:extLst>
          </p:cNvPr>
          <p:cNvSpPr>
            <a:spLocks noGrp="1"/>
          </p:cNvSpPr>
          <p:nvPr>
            <p:ph type="sldNum" sz="quarter" idx="10"/>
          </p:nvPr>
        </p:nvSpPr>
        <p:spPr/>
        <p:txBody>
          <a:bodyPr/>
          <a:lstStyle/>
          <a:p>
            <a:fld id="{67B19427-F580-D146-B60E-4CADEE75497F}" type="slidenum">
              <a:rPr lang="en-US" smtClean="0"/>
              <a:pPr/>
              <a:t>24</a:t>
            </a:fld>
            <a:endParaRPr lang="en-US" dirty="0"/>
          </a:p>
        </p:txBody>
      </p:sp>
      <p:sp>
        <p:nvSpPr>
          <p:cNvPr id="6" name="Footer Placeholder 5">
            <a:extLst>
              <a:ext uri="{FF2B5EF4-FFF2-40B4-BE49-F238E27FC236}">
                <a16:creationId xmlns:a16="http://schemas.microsoft.com/office/drawing/2014/main" id="{80AE5F88-388B-451C-8EA1-7677A7BB1A2C}"/>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2268997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E73A5-4D27-4A99-BBC2-7C955DA8B1A2}"/>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Transaction Analysis </a:t>
            </a:r>
            <a:r>
              <a:rPr lang="en-US" sz="2400" dirty="0">
                <a:latin typeface="Calibri" panose="020F0502020204030204" pitchFamily="34" charset="0"/>
                <a:ea typeface="Source Sans Pro" charset="0"/>
                <a:cs typeface="Calibri" panose="020F0502020204030204" pitchFamily="34" charset="0"/>
              </a:rPr>
              <a:t>(7 of 10)</a:t>
            </a:r>
            <a:endParaRPr lang="en-US" sz="2400" dirty="0"/>
          </a:p>
        </p:txBody>
      </p:sp>
      <p:sp>
        <p:nvSpPr>
          <p:cNvPr id="3" name="Content Placeholder 2">
            <a:extLst>
              <a:ext uri="{FF2B5EF4-FFF2-40B4-BE49-F238E27FC236}">
                <a16:creationId xmlns:a16="http://schemas.microsoft.com/office/drawing/2014/main" id="{50046D23-89B8-4C97-AA36-0465D549C446}"/>
              </a:ext>
            </a:extLst>
          </p:cNvPr>
          <p:cNvSpPr>
            <a:spLocks noGrp="1"/>
          </p:cNvSpPr>
          <p:nvPr>
            <p:ph sz="quarter" idx="16"/>
          </p:nvPr>
        </p:nvSpPr>
        <p:spPr>
          <a:xfrm>
            <a:off x="304800" y="1828800"/>
            <a:ext cx="8534400" cy="609600"/>
          </a:xfrm>
        </p:spPr>
        <p:txBody>
          <a:bodyPr/>
          <a:lstStyle/>
          <a:p>
            <a:pPr marL="0" lvl="1" indent="0">
              <a:spcBef>
                <a:spcPts val="1000"/>
              </a:spcBef>
              <a:buClr>
                <a:srgbClr val="800000"/>
              </a:buClr>
              <a:buSzPct val="100000"/>
              <a:buNone/>
            </a:pPr>
            <a:r>
              <a:rPr lang="en-US" sz="1800" b="1" dirty="0"/>
              <a:t>Transaction 7.</a:t>
            </a:r>
            <a:r>
              <a:rPr lang="en-US" sz="1800" dirty="0"/>
              <a:t> Softbyte pays the following expenses in cash for September: office rent $600, salaries and wages of employees $900, and utilities $200.</a:t>
            </a:r>
          </a:p>
        </p:txBody>
      </p:sp>
      <p:pic>
        <p:nvPicPr>
          <p:cNvPr id="10" name="Content Placeholder 9" descr="An illustration displays a transaction analysis. The illustration reads, assets equal to liabilities plus owner's equity. Assets is expanded as cash plus accounts receivable plus supplies plus equipment. Liabilities contains the accounts payable; and the owner's equity is expanded as owner's capital plus revenue minus expense. The first row reads cash of $10,700 plus accounts receivable of $2,000 plus supplies of $1,600 plus equipment of $7,000 equal to accounts payable of $1,850 plus owner' capital of $15,000 plus revenues of $4,700 minus expenses of $250. The next row numbered 7 reads, cash of negative 1,700; expenses divided as: rent expense of negative 600, salary and wages expense of negative 900, and utilities expense of negative 200 highlighted in red font. The final row reads, cash of $9,000 plus accounts receivable of $2,000 plus supplies of $1,600 plus equipment of $7,000 equals liabilities of $1,850 plus owner's capital of $15,000 plus revenues of $4,700 minus expenses of $1,950 which is equal to $19,600. ">
            <a:extLst>
              <a:ext uri="{FF2B5EF4-FFF2-40B4-BE49-F238E27FC236}">
                <a16:creationId xmlns:a16="http://schemas.microsoft.com/office/drawing/2014/main" id="{10E83880-790F-4B88-902D-DF0D394E609E}"/>
              </a:ext>
            </a:extLst>
          </p:cNvPr>
          <p:cNvPicPr>
            <a:picLocks noGrp="1" noChangeAspect="1"/>
          </p:cNvPicPr>
          <p:nvPr>
            <p:ph sz="quarter" idx="18"/>
          </p:nvPr>
        </p:nvPicPr>
        <p:blipFill>
          <a:blip r:embed="rId2">
            <a:extLst>
              <a:ext uri="{28A0092B-C50C-407E-A947-70E740481C1C}">
                <a14:useLocalDpi xmlns:a14="http://schemas.microsoft.com/office/drawing/2010/main" val="0"/>
              </a:ext>
            </a:extLst>
          </a:blip>
          <a:stretch>
            <a:fillRect/>
          </a:stretch>
        </p:blipFill>
        <p:spPr>
          <a:xfrm>
            <a:off x="539041" y="2779276"/>
            <a:ext cx="8257890" cy="2278287"/>
          </a:xfrm>
        </p:spPr>
      </p:pic>
      <p:sp>
        <p:nvSpPr>
          <p:cNvPr id="5" name="Slide Number Placeholder 4">
            <a:extLst>
              <a:ext uri="{FF2B5EF4-FFF2-40B4-BE49-F238E27FC236}">
                <a16:creationId xmlns:a16="http://schemas.microsoft.com/office/drawing/2014/main" id="{CD432851-7DD1-4411-87EF-DCC68A8E346F}"/>
              </a:ext>
            </a:extLst>
          </p:cNvPr>
          <p:cNvSpPr>
            <a:spLocks noGrp="1"/>
          </p:cNvSpPr>
          <p:nvPr>
            <p:ph type="sldNum" sz="quarter" idx="10"/>
          </p:nvPr>
        </p:nvSpPr>
        <p:spPr/>
        <p:txBody>
          <a:bodyPr/>
          <a:lstStyle/>
          <a:p>
            <a:fld id="{67B19427-F580-D146-B60E-4CADEE75497F}" type="slidenum">
              <a:rPr lang="en-US" smtClean="0"/>
              <a:pPr/>
              <a:t>25</a:t>
            </a:fld>
            <a:endParaRPr lang="en-US" dirty="0"/>
          </a:p>
        </p:txBody>
      </p:sp>
      <p:sp>
        <p:nvSpPr>
          <p:cNvPr id="6" name="Footer Placeholder 5">
            <a:extLst>
              <a:ext uri="{FF2B5EF4-FFF2-40B4-BE49-F238E27FC236}">
                <a16:creationId xmlns:a16="http://schemas.microsoft.com/office/drawing/2014/main" id="{80AE5F88-388B-451C-8EA1-7677A7BB1A2C}"/>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3698631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E73A5-4D27-4A99-BBC2-7C955DA8B1A2}"/>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Transaction Analysis </a:t>
            </a:r>
            <a:r>
              <a:rPr lang="en-US" sz="2400" dirty="0">
                <a:latin typeface="Calibri" panose="020F0502020204030204" pitchFamily="34" charset="0"/>
                <a:ea typeface="Source Sans Pro" charset="0"/>
                <a:cs typeface="Calibri" panose="020F0502020204030204" pitchFamily="34" charset="0"/>
              </a:rPr>
              <a:t>(8 of 10)</a:t>
            </a:r>
            <a:endParaRPr lang="en-US" sz="2400" dirty="0"/>
          </a:p>
        </p:txBody>
      </p:sp>
      <p:sp>
        <p:nvSpPr>
          <p:cNvPr id="3" name="Content Placeholder 2">
            <a:extLst>
              <a:ext uri="{FF2B5EF4-FFF2-40B4-BE49-F238E27FC236}">
                <a16:creationId xmlns:a16="http://schemas.microsoft.com/office/drawing/2014/main" id="{50046D23-89B8-4C97-AA36-0465D549C446}"/>
              </a:ext>
            </a:extLst>
          </p:cNvPr>
          <p:cNvSpPr>
            <a:spLocks noGrp="1"/>
          </p:cNvSpPr>
          <p:nvPr>
            <p:ph sz="quarter" idx="16"/>
          </p:nvPr>
        </p:nvSpPr>
        <p:spPr>
          <a:xfrm>
            <a:off x="304800" y="1828800"/>
            <a:ext cx="8153400" cy="761998"/>
          </a:xfrm>
        </p:spPr>
        <p:txBody>
          <a:bodyPr/>
          <a:lstStyle/>
          <a:p>
            <a:pPr marL="0" lvl="1" indent="0">
              <a:spcBef>
                <a:spcPts val="1000"/>
              </a:spcBef>
              <a:buClr>
                <a:srgbClr val="800000"/>
              </a:buClr>
              <a:buSzPct val="100000"/>
              <a:buNone/>
            </a:pPr>
            <a:r>
              <a:rPr lang="en-US" sz="1800" b="1" dirty="0"/>
              <a:t>Transaction 8.</a:t>
            </a:r>
            <a:r>
              <a:rPr lang="en-US" sz="1800" dirty="0"/>
              <a:t> Softbyte pays its $250 Daily News bill in cash. The company previously (in Transaction 5) recorded the bill as an increase in Accounts Payable and a decrease in owner’s equity.</a:t>
            </a:r>
          </a:p>
        </p:txBody>
      </p:sp>
      <p:pic>
        <p:nvPicPr>
          <p:cNvPr id="10" name="Content Placeholder 9" descr="An illustration displays a transaction analysis. The illustration reads, assets equal to liabilities plus owner's equity. Assets is expanded as cash plus accounts receivable plus supplies plus equipment. Liabilities contains the accounts payable; and the owner's equity is expanded as owner's capital plus revenue minus expense. The first row reads cash of $9,000 plus accounts receivable of $2,000 plus supplies of $1,600 plus equipment of $7,000 which is equal to accounts payable of $1,850 plus owner's capital of $15,000 plus revenues of $4,700 minus expenses of $1,950. The next line reads cash of negative 250; and accounts payable of negative 250, highlighted in red font. The last row reads, cash of $8,750 plus accounts payable of $2,000 plus supplies of $1,600 plus equipment of $7,000 equals accounts payable of $1,600 plus owner's capital of $15,000 plus revenues of $4,700 minus expenses of $1,950 which is equal to $19,350. ">
            <a:extLst>
              <a:ext uri="{FF2B5EF4-FFF2-40B4-BE49-F238E27FC236}">
                <a16:creationId xmlns:a16="http://schemas.microsoft.com/office/drawing/2014/main" id="{72DF03E7-7DDB-4744-BCD7-E5DA34179DB7}"/>
              </a:ext>
            </a:extLst>
          </p:cNvPr>
          <p:cNvPicPr>
            <a:picLocks noGrp="1" noChangeAspect="1"/>
          </p:cNvPicPr>
          <p:nvPr>
            <p:ph sz="quarter" idx="18"/>
          </p:nvPr>
        </p:nvPicPr>
        <p:blipFill>
          <a:blip r:embed="rId2">
            <a:extLst>
              <a:ext uri="{28A0092B-C50C-407E-A947-70E740481C1C}">
                <a14:useLocalDpi xmlns:a14="http://schemas.microsoft.com/office/drawing/2010/main" val="0"/>
              </a:ext>
            </a:extLst>
          </a:blip>
          <a:stretch>
            <a:fillRect/>
          </a:stretch>
        </p:blipFill>
        <p:spPr>
          <a:xfrm>
            <a:off x="443055" y="3384990"/>
            <a:ext cx="8257890" cy="1904562"/>
          </a:xfrm>
        </p:spPr>
      </p:pic>
      <p:sp>
        <p:nvSpPr>
          <p:cNvPr id="5" name="Slide Number Placeholder 4">
            <a:extLst>
              <a:ext uri="{FF2B5EF4-FFF2-40B4-BE49-F238E27FC236}">
                <a16:creationId xmlns:a16="http://schemas.microsoft.com/office/drawing/2014/main" id="{CD432851-7DD1-4411-87EF-DCC68A8E346F}"/>
              </a:ext>
            </a:extLst>
          </p:cNvPr>
          <p:cNvSpPr>
            <a:spLocks noGrp="1"/>
          </p:cNvSpPr>
          <p:nvPr>
            <p:ph type="sldNum" sz="quarter" idx="10"/>
          </p:nvPr>
        </p:nvSpPr>
        <p:spPr/>
        <p:txBody>
          <a:bodyPr/>
          <a:lstStyle/>
          <a:p>
            <a:fld id="{67B19427-F580-D146-B60E-4CADEE75497F}" type="slidenum">
              <a:rPr lang="en-US" smtClean="0"/>
              <a:pPr/>
              <a:t>26</a:t>
            </a:fld>
            <a:endParaRPr lang="en-US" dirty="0"/>
          </a:p>
        </p:txBody>
      </p:sp>
      <p:sp>
        <p:nvSpPr>
          <p:cNvPr id="6" name="Footer Placeholder 5">
            <a:extLst>
              <a:ext uri="{FF2B5EF4-FFF2-40B4-BE49-F238E27FC236}">
                <a16:creationId xmlns:a16="http://schemas.microsoft.com/office/drawing/2014/main" id="{80AE5F88-388B-451C-8EA1-7677A7BB1A2C}"/>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1101326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E73A5-4D27-4A99-BBC2-7C955DA8B1A2}"/>
              </a:ext>
            </a:extLst>
          </p:cNvPr>
          <p:cNvSpPr>
            <a:spLocks noGrp="1"/>
          </p:cNvSpPr>
          <p:nvPr>
            <p:ph type="title"/>
          </p:nvPr>
        </p:nvSpPr>
        <p:spPr>
          <a:xfrm>
            <a:off x="304800" y="762001"/>
            <a:ext cx="8534400" cy="789337"/>
          </a:xfrm>
        </p:spPr>
        <p:txBody>
          <a:bodyPr/>
          <a:lstStyle/>
          <a:p>
            <a:r>
              <a:rPr lang="en-US" b="1" dirty="0">
                <a:latin typeface="Calibri" panose="020F0502020204030204" pitchFamily="34" charset="0"/>
                <a:ea typeface="Source Sans Pro" charset="0"/>
                <a:cs typeface="Calibri" panose="020F0502020204030204" pitchFamily="34" charset="0"/>
              </a:rPr>
              <a:t>Transaction Analysis </a:t>
            </a:r>
            <a:r>
              <a:rPr lang="en-US" sz="2400" dirty="0">
                <a:latin typeface="Calibri" panose="020F0502020204030204" pitchFamily="34" charset="0"/>
                <a:ea typeface="Source Sans Pro" charset="0"/>
                <a:cs typeface="Calibri" panose="020F0502020204030204" pitchFamily="34" charset="0"/>
              </a:rPr>
              <a:t>(9 of 10)</a:t>
            </a:r>
            <a:endParaRPr lang="en-US" sz="2400" dirty="0"/>
          </a:p>
        </p:txBody>
      </p:sp>
      <p:sp>
        <p:nvSpPr>
          <p:cNvPr id="3" name="Content Placeholder 2">
            <a:extLst>
              <a:ext uri="{FF2B5EF4-FFF2-40B4-BE49-F238E27FC236}">
                <a16:creationId xmlns:a16="http://schemas.microsoft.com/office/drawing/2014/main" id="{50046D23-89B8-4C97-AA36-0465D549C446}"/>
              </a:ext>
            </a:extLst>
          </p:cNvPr>
          <p:cNvSpPr>
            <a:spLocks noGrp="1"/>
          </p:cNvSpPr>
          <p:nvPr>
            <p:ph sz="quarter" idx="16"/>
          </p:nvPr>
        </p:nvSpPr>
        <p:spPr>
          <a:xfrm>
            <a:off x="304800" y="1828800"/>
            <a:ext cx="8534400" cy="609600"/>
          </a:xfrm>
        </p:spPr>
        <p:txBody>
          <a:bodyPr/>
          <a:lstStyle/>
          <a:p>
            <a:pPr marL="0" lvl="1" indent="0">
              <a:spcBef>
                <a:spcPts val="1000"/>
              </a:spcBef>
              <a:buClr>
                <a:srgbClr val="800000"/>
              </a:buClr>
              <a:buSzPct val="100000"/>
              <a:buNone/>
            </a:pPr>
            <a:r>
              <a:rPr lang="en-US" sz="1800" b="1" dirty="0"/>
              <a:t>Transaction 9.</a:t>
            </a:r>
            <a:r>
              <a:rPr lang="en-US" sz="1800" dirty="0"/>
              <a:t> Softbyte receives $600 in cash from customers who had been billed for services (in Transaction 6).</a:t>
            </a:r>
          </a:p>
        </p:txBody>
      </p:sp>
      <p:pic>
        <p:nvPicPr>
          <p:cNvPr id="10" name="Content Placeholder 9" descr="An illustration displays a transaction analysis.  The illustration reads, assets equal to liabilities plus owner's equity. Assets is expanded as cash plus accounts receivable plus supplies plus equipment. Liabilities contains the accounts payable; and the owner's equity is expanded as owner's capital plus revenue minus expense. The first row reads cash of $8,750 plus accounts receivable of $2,000 plus supplies of $1,600 plus equipment of $7,000 equal to accounts payable of $1,600 plus owner's capital of $15,000 plus revenues of $4,700 minus expenses of $1,950. The next row reads cash of 600, accounts payable of negative 600, highlighted in red font. The last row reads, cash of $9,350 plus accounts receivable of $1,400 plus supplies of $1,600 plus equipment of $7,000 equals accounts payable of $1,600 plus owner's capital of $15,000 plus revenues of $4,700 minus expenses of $1,950 which is $19,350. ">
            <a:extLst>
              <a:ext uri="{FF2B5EF4-FFF2-40B4-BE49-F238E27FC236}">
                <a16:creationId xmlns:a16="http://schemas.microsoft.com/office/drawing/2014/main" id="{C36E2EE3-6E07-449C-B467-3DF6E3BEE6F6}"/>
              </a:ext>
            </a:extLst>
          </p:cNvPr>
          <p:cNvPicPr>
            <a:picLocks noGrp="1" noChangeAspect="1"/>
          </p:cNvPicPr>
          <p:nvPr>
            <p:ph sz="quarter" idx="18"/>
          </p:nvPr>
        </p:nvPicPr>
        <p:blipFill>
          <a:blip r:embed="rId2">
            <a:extLst>
              <a:ext uri="{28A0092B-C50C-407E-A947-70E740481C1C}">
                <a14:useLocalDpi xmlns:a14="http://schemas.microsoft.com/office/drawing/2010/main" val="0"/>
              </a:ext>
            </a:extLst>
          </a:blip>
          <a:stretch>
            <a:fillRect/>
          </a:stretch>
        </p:blipFill>
        <p:spPr>
          <a:xfrm>
            <a:off x="443055" y="3048000"/>
            <a:ext cx="8257890" cy="1904562"/>
          </a:xfrm>
        </p:spPr>
      </p:pic>
      <p:sp>
        <p:nvSpPr>
          <p:cNvPr id="5" name="Slide Number Placeholder 4">
            <a:extLst>
              <a:ext uri="{FF2B5EF4-FFF2-40B4-BE49-F238E27FC236}">
                <a16:creationId xmlns:a16="http://schemas.microsoft.com/office/drawing/2014/main" id="{CD432851-7DD1-4411-87EF-DCC68A8E346F}"/>
              </a:ext>
            </a:extLst>
          </p:cNvPr>
          <p:cNvSpPr>
            <a:spLocks noGrp="1"/>
          </p:cNvSpPr>
          <p:nvPr>
            <p:ph type="sldNum" sz="quarter" idx="10"/>
          </p:nvPr>
        </p:nvSpPr>
        <p:spPr/>
        <p:txBody>
          <a:bodyPr/>
          <a:lstStyle/>
          <a:p>
            <a:fld id="{67B19427-F580-D146-B60E-4CADEE75497F}" type="slidenum">
              <a:rPr lang="en-US" smtClean="0"/>
              <a:pPr/>
              <a:t>27</a:t>
            </a:fld>
            <a:endParaRPr lang="en-US" dirty="0"/>
          </a:p>
        </p:txBody>
      </p:sp>
      <p:sp>
        <p:nvSpPr>
          <p:cNvPr id="6" name="Footer Placeholder 5">
            <a:extLst>
              <a:ext uri="{FF2B5EF4-FFF2-40B4-BE49-F238E27FC236}">
                <a16:creationId xmlns:a16="http://schemas.microsoft.com/office/drawing/2014/main" id="{80AE5F88-388B-451C-8EA1-7677A7BB1A2C}"/>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0027454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E73A5-4D27-4A99-BBC2-7C955DA8B1A2}"/>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Transaction Analysis </a:t>
            </a:r>
            <a:r>
              <a:rPr lang="en-US" sz="2400" dirty="0">
                <a:latin typeface="Calibri" panose="020F0502020204030204" pitchFamily="34" charset="0"/>
                <a:ea typeface="Source Sans Pro" charset="0"/>
                <a:cs typeface="Calibri" panose="020F0502020204030204" pitchFamily="34" charset="0"/>
              </a:rPr>
              <a:t>(10 of 10)</a:t>
            </a:r>
            <a:endParaRPr lang="en-US" sz="2400" dirty="0"/>
          </a:p>
        </p:txBody>
      </p:sp>
      <p:sp>
        <p:nvSpPr>
          <p:cNvPr id="3" name="Content Placeholder 2">
            <a:extLst>
              <a:ext uri="{FF2B5EF4-FFF2-40B4-BE49-F238E27FC236}">
                <a16:creationId xmlns:a16="http://schemas.microsoft.com/office/drawing/2014/main" id="{50046D23-89B8-4C97-AA36-0465D549C446}"/>
              </a:ext>
            </a:extLst>
          </p:cNvPr>
          <p:cNvSpPr>
            <a:spLocks noGrp="1"/>
          </p:cNvSpPr>
          <p:nvPr>
            <p:ph sz="quarter" idx="16"/>
          </p:nvPr>
        </p:nvSpPr>
        <p:spPr>
          <a:xfrm>
            <a:off x="304800" y="1828800"/>
            <a:ext cx="8534400" cy="609600"/>
          </a:xfrm>
        </p:spPr>
        <p:txBody>
          <a:bodyPr/>
          <a:lstStyle/>
          <a:p>
            <a:pPr marL="0" lvl="1" indent="0">
              <a:spcBef>
                <a:spcPts val="1000"/>
              </a:spcBef>
              <a:buClr>
                <a:srgbClr val="800000"/>
              </a:buClr>
              <a:buSzPct val="100000"/>
              <a:buNone/>
            </a:pPr>
            <a:r>
              <a:rPr lang="en-US" sz="1800" b="1" dirty="0"/>
              <a:t>Transaction 10. </a:t>
            </a:r>
            <a:r>
              <a:rPr lang="en-US" sz="1800" dirty="0"/>
              <a:t>Ray Neal withdraws $1,300 in cash in cash from the business for his personal use.</a:t>
            </a:r>
            <a:endParaRPr lang="en-US" altLang="en-US" sz="1800" dirty="0"/>
          </a:p>
        </p:txBody>
      </p:sp>
      <p:pic>
        <p:nvPicPr>
          <p:cNvPr id="9" name="Content Placeholder 8" descr="An illustration displays a transaction analysis.  The illustration reads, assets equal to liabilities plus owner's equity. Assets is expanded as cash plus accounts receivable plus supplies plus equipment. Liabilities contains the accounts payable; and the owner's equity is expanded as owner's capital minus owner's drawings plus revenue minus expense. The first row reads cash of $9,350 plus accounts receivable of $1,400 plus supplies of $1,600 plus equipment of $7,000 equal to accounts payable of $1,600 plus owner's capital of $15,000 plus revenues of $4,7000 minus expenses of $1,950. The next row numbered ten reads cash of negative 1,300; and owner's drawings of negative $1,300, highlighted in red font as drawings. The last line reads, cash of $8,050 plus accounts receivable of $1,400 plus supplies of $1,600 plus equipments of $7,000 equals accounts payable of $1,600 plus owner's capital of $15,000 minus owner's drawings of $1,300 plus revenue of $4,700 minus expense of $1,950 which is $18,050.">
            <a:extLst>
              <a:ext uri="{FF2B5EF4-FFF2-40B4-BE49-F238E27FC236}">
                <a16:creationId xmlns:a16="http://schemas.microsoft.com/office/drawing/2014/main" id="{4B02C901-351F-43B2-A0AB-AD3D1262D026}"/>
              </a:ext>
            </a:extLst>
          </p:cNvPr>
          <p:cNvPicPr>
            <a:picLocks noGrp="1" noChangeAspect="1"/>
          </p:cNvPicPr>
          <p:nvPr>
            <p:ph sz="quarter" idx="17"/>
          </p:nvPr>
        </p:nvPicPr>
        <p:blipFill>
          <a:blip r:embed="rId2">
            <a:extLst>
              <a:ext uri="{28A0092B-C50C-407E-A947-70E740481C1C}">
                <a14:useLocalDpi xmlns:a14="http://schemas.microsoft.com/office/drawing/2010/main" val="0"/>
              </a:ext>
            </a:extLst>
          </a:blip>
          <a:stretch>
            <a:fillRect/>
          </a:stretch>
        </p:blipFill>
        <p:spPr>
          <a:xfrm>
            <a:off x="560863" y="3048000"/>
            <a:ext cx="8250704" cy="1897375"/>
          </a:xfrm>
        </p:spPr>
      </p:pic>
      <p:sp>
        <p:nvSpPr>
          <p:cNvPr id="5" name="Slide Number Placeholder 4">
            <a:extLst>
              <a:ext uri="{FF2B5EF4-FFF2-40B4-BE49-F238E27FC236}">
                <a16:creationId xmlns:a16="http://schemas.microsoft.com/office/drawing/2014/main" id="{CD432851-7DD1-4411-87EF-DCC68A8E346F}"/>
              </a:ext>
            </a:extLst>
          </p:cNvPr>
          <p:cNvSpPr>
            <a:spLocks noGrp="1"/>
          </p:cNvSpPr>
          <p:nvPr>
            <p:ph type="sldNum" sz="quarter" idx="10"/>
          </p:nvPr>
        </p:nvSpPr>
        <p:spPr/>
        <p:txBody>
          <a:bodyPr/>
          <a:lstStyle/>
          <a:p>
            <a:fld id="{67B19427-F580-D146-B60E-4CADEE75497F}" type="slidenum">
              <a:rPr lang="en-US" smtClean="0"/>
              <a:pPr/>
              <a:t>28</a:t>
            </a:fld>
            <a:endParaRPr lang="en-US" dirty="0"/>
          </a:p>
        </p:txBody>
      </p:sp>
      <p:sp>
        <p:nvSpPr>
          <p:cNvPr id="6" name="Footer Placeholder 5">
            <a:extLst>
              <a:ext uri="{FF2B5EF4-FFF2-40B4-BE49-F238E27FC236}">
                <a16:creationId xmlns:a16="http://schemas.microsoft.com/office/drawing/2014/main" id="{80AE5F88-388B-451C-8EA1-7677A7BB1A2C}"/>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4622666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591-C8D0-4FEA-9031-ABAFDA4FA1E2}"/>
              </a:ext>
            </a:extLst>
          </p:cNvPr>
          <p:cNvSpPr>
            <a:spLocks noGrp="1"/>
          </p:cNvSpPr>
          <p:nvPr>
            <p:ph type="title"/>
          </p:nvPr>
        </p:nvSpPr>
        <p:spPr>
          <a:xfrm>
            <a:off x="304800" y="762001"/>
            <a:ext cx="8534400" cy="685799"/>
          </a:xfrm>
        </p:spPr>
        <p:txBody>
          <a:bodyPr/>
          <a:lstStyle/>
          <a:p>
            <a:r>
              <a:rPr lang="en-US" b="1" dirty="0">
                <a:latin typeface="Calibri" panose="020F0502020204030204" pitchFamily="34" charset="0"/>
                <a:ea typeface="Source Sans Pro" charset="0"/>
                <a:cs typeface="Calibri" panose="020F0502020204030204" pitchFamily="34" charset="0"/>
              </a:rPr>
              <a:t>The Four Financial Statements</a:t>
            </a:r>
            <a:endParaRPr lang="en-US" dirty="0"/>
          </a:p>
        </p:txBody>
      </p:sp>
      <p:pic>
        <p:nvPicPr>
          <p:cNvPr id="7" name="Content Placeholder 6" descr="The four financial statements companies prepare are, income statement, owner's equity statement, balance sheet, and statement of cash flows. ">
            <a:extLst>
              <a:ext uri="{FF2B5EF4-FFF2-40B4-BE49-F238E27FC236}">
                <a16:creationId xmlns:a16="http://schemas.microsoft.com/office/drawing/2014/main" id="{DA59975A-C1E6-4445-BD6C-C725ED6F5EC4}"/>
              </a:ext>
            </a:extLst>
          </p:cNvPr>
          <p:cNvPicPr>
            <a:picLocks noGrp="1" noChangeAspect="1"/>
          </p:cNvPicPr>
          <p:nvPr>
            <p:ph sz="quarter" idx="16"/>
          </p:nvPr>
        </p:nvPicPr>
        <p:blipFill>
          <a:blip r:embed="rId2"/>
          <a:stretch>
            <a:fillRect/>
          </a:stretch>
        </p:blipFill>
        <p:spPr>
          <a:xfrm>
            <a:off x="820126" y="1981200"/>
            <a:ext cx="7503748" cy="3276600"/>
          </a:xfrm>
          <a:prstGeom prst="rect">
            <a:avLst/>
          </a:prstGeom>
        </p:spPr>
      </p:pic>
      <p:sp>
        <p:nvSpPr>
          <p:cNvPr id="5" name="Slide Number Placeholder 4">
            <a:extLst>
              <a:ext uri="{FF2B5EF4-FFF2-40B4-BE49-F238E27FC236}">
                <a16:creationId xmlns:a16="http://schemas.microsoft.com/office/drawing/2014/main" id="{E7B47C3D-84A2-40D6-B7DA-9F4E41C3A2A1}"/>
              </a:ext>
            </a:extLst>
          </p:cNvPr>
          <p:cNvSpPr>
            <a:spLocks noGrp="1"/>
          </p:cNvSpPr>
          <p:nvPr>
            <p:ph type="sldNum" sz="quarter" idx="10"/>
          </p:nvPr>
        </p:nvSpPr>
        <p:spPr/>
        <p:txBody>
          <a:bodyPr/>
          <a:lstStyle/>
          <a:p>
            <a:fld id="{67B19427-F580-D146-B60E-4CADEE75497F}" type="slidenum">
              <a:rPr lang="en-US" smtClean="0"/>
              <a:pPr/>
              <a:t>29</a:t>
            </a:fld>
            <a:endParaRPr lang="en-US" dirty="0"/>
          </a:p>
        </p:txBody>
      </p:sp>
      <p:sp>
        <p:nvSpPr>
          <p:cNvPr id="6" name="Footer Placeholder 5">
            <a:extLst>
              <a:ext uri="{FF2B5EF4-FFF2-40B4-BE49-F238E27FC236}">
                <a16:creationId xmlns:a16="http://schemas.microsoft.com/office/drawing/2014/main" id="{BB264189-DA43-47C9-AA9A-DAA62A3FC8E8}"/>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41580070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AD56F-7A99-4148-B5F3-4E2FB76DF6D9}"/>
              </a:ext>
            </a:extLst>
          </p:cNvPr>
          <p:cNvSpPr>
            <a:spLocks noGrp="1"/>
          </p:cNvSpPr>
          <p:nvPr>
            <p:ph type="title"/>
          </p:nvPr>
        </p:nvSpPr>
        <p:spPr>
          <a:xfrm>
            <a:off x="304800" y="762001"/>
            <a:ext cx="8534400" cy="685799"/>
          </a:xfrm>
        </p:spPr>
        <p:txBody>
          <a:bodyPr/>
          <a:lstStyle/>
          <a:p>
            <a:r>
              <a:rPr lang="en-US" b="1" dirty="0">
                <a:latin typeface="Calibri" panose="020F0502020204030204" pitchFamily="34" charset="0"/>
                <a:ea typeface="Source Sans Pro" charset="0"/>
                <a:cs typeface="Calibri" panose="020F0502020204030204" pitchFamily="34" charset="0"/>
              </a:rPr>
              <a:t>Financial Statements </a:t>
            </a:r>
            <a:r>
              <a:rPr lang="en-US" sz="2400" dirty="0">
                <a:latin typeface="Calibri" panose="020F0502020204030204" pitchFamily="34" charset="0"/>
                <a:ea typeface="Source Sans Pro" charset="0"/>
                <a:cs typeface="Calibri" panose="020F0502020204030204" pitchFamily="34" charset="0"/>
              </a:rPr>
              <a:t>(3 of 7)</a:t>
            </a:r>
            <a:endParaRPr lang="en-US" dirty="0"/>
          </a:p>
        </p:txBody>
      </p:sp>
      <p:sp>
        <p:nvSpPr>
          <p:cNvPr id="3" name="Content Placeholder 2">
            <a:extLst>
              <a:ext uri="{FF2B5EF4-FFF2-40B4-BE49-F238E27FC236}">
                <a16:creationId xmlns:a16="http://schemas.microsoft.com/office/drawing/2014/main" id="{DAD11E9F-EB47-493E-86F4-F397BA5C27F5}"/>
              </a:ext>
            </a:extLst>
          </p:cNvPr>
          <p:cNvSpPr>
            <a:spLocks noGrp="1"/>
          </p:cNvSpPr>
          <p:nvPr>
            <p:ph sz="quarter" idx="16"/>
          </p:nvPr>
        </p:nvSpPr>
        <p:spPr>
          <a:xfrm>
            <a:off x="304800" y="1828800"/>
            <a:ext cx="2971800" cy="1094704"/>
          </a:xfrm>
        </p:spPr>
        <p:txBody>
          <a:bodyPr/>
          <a:lstStyle/>
          <a:p>
            <a:r>
              <a:rPr lang="en-US" altLang="en-US" sz="2400" b="1" dirty="0"/>
              <a:t>Softbyte</a:t>
            </a:r>
            <a:r>
              <a:rPr lang="en-US" altLang="en-US" sz="2400" dirty="0"/>
              <a:t> statements for the Month Ended September 30, 2020</a:t>
            </a:r>
          </a:p>
        </p:txBody>
      </p:sp>
      <p:pic>
        <p:nvPicPr>
          <p:cNvPr id="7" name="Content Placeholder 6" descr="An illustration displays an income statement. The statement has three columns, parameters, and two numeric columns. Revenues, including service revenue, $4,700 displayed in the second of two numeric columns. Expenses displayed in the first numeric column are as follows: salaries and wages expense of 900; rent expense of 600; advertising expense of 250; and utilities expense of 200. The total expenses are 1,950 displayed in the second numeric column. The net income is $2,750, double underlined, displayed in the second numeric column in red font. An illustration of the Owner's equity statement has two columns, the first contains the parameters, and the second is a numeric column. The owner's capital, on September 1 is $0. After adding investments of 15,000; net income of 2,750 from the income statement, which is displayed in the red font; and subtracting drawings of 1,300, owner's capital, on September 30 is $16,450, double underlined.">
            <a:extLst>
              <a:ext uri="{FF2B5EF4-FFF2-40B4-BE49-F238E27FC236}">
                <a16:creationId xmlns:a16="http://schemas.microsoft.com/office/drawing/2014/main" id="{5B25B01A-2D65-4DB7-B451-73A4D78104E7}"/>
              </a:ext>
            </a:extLst>
          </p:cNvPr>
          <p:cNvPicPr>
            <a:picLocks noGrp="1" noChangeAspect="1"/>
          </p:cNvPicPr>
          <p:nvPr>
            <p:ph sz="quarter" idx="17"/>
          </p:nvPr>
        </p:nvPicPr>
        <p:blipFill>
          <a:blip r:embed="rId2"/>
          <a:stretch>
            <a:fillRect/>
          </a:stretch>
        </p:blipFill>
        <p:spPr>
          <a:xfrm>
            <a:off x="4191000" y="1722649"/>
            <a:ext cx="4526280" cy="4555703"/>
          </a:xfrm>
          <a:prstGeom prst="rect">
            <a:avLst/>
          </a:prstGeom>
        </p:spPr>
      </p:pic>
      <p:sp>
        <p:nvSpPr>
          <p:cNvPr id="5" name="Slide Number Placeholder 4">
            <a:extLst>
              <a:ext uri="{FF2B5EF4-FFF2-40B4-BE49-F238E27FC236}">
                <a16:creationId xmlns:a16="http://schemas.microsoft.com/office/drawing/2014/main" id="{79D8A62F-8290-414E-87C7-9D3579730C20}"/>
              </a:ext>
            </a:extLst>
          </p:cNvPr>
          <p:cNvSpPr>
            <a:spLocks noGrp="1"/>
          </p:cNvSpPr>
          <p:nvPr>
            <p:ph type="sldNum" sz="quarter" idx="10"/>
          </p:nvPr>
        </p:nvSpPr>
        <p:spPr/>
        <p:txBody>
          <a:bodyPr/>
          <a:lstStyle/>
          <a:p>
            <a:fld id="{67B19427-F580-D146-B60E-4CADEE75497F}" type="slidenum">
              <a:rPr lang="en-US" smtClean="0"/>
              <a:pPr/>
              <a:t>30</a:t>
            </a:fld>
            <a:endParaRPr lang="en-US" dirty="0"/>
          </a:p>
        </p:txBody>
      </p:sp>
      <p:sp>
        <p:nvSpPr>
          <p:cNvPr id="6" name="Footer Placeholder 5">
            <a:extLst>
              <a:ext uri="{FF2B5EF4-FFF2-40B4-BE49-F238E27FC236}">
                <a16:creationId xmlns:a16="http://schemas.microsoft.com/office/drawing/2014/main" id="{B7D8A731-426A-4D00-9C13-6FB120654466}"/>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0850286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22557-5741-4422-BBA7-1464D6D1ACCD}"/>
              </a:ext>
            </a:extLst>
          </p:cNvPr>
          <p:cNvSpPr>
            <a:spLocks noGrp="1"/>
          </p:cNvSpPr>
          <p:nvPr>
            <p:ph type="title"/>
          </p:nvPr>
        </p:nvSpPr>
        <p:spPr>
          <a:xfrm>
            <a:off x="304800" y="762001"/>
            <a:ext cx="8534400" cy="719277"/>
          </a:xfrm>
        </p:spPr>
        <p:txBody>
          <a:bodyPr/>
          <a:lstStyle/>
          <a:p>
            <a:r>
              <a:rPr lang="en-US" b="1" dirty="0">
                <a:latin typeface="Calibri" panose="020F0502020204030204" pitchFamily="34" charset="0"/>
                <a:ea typeface="Source Sans Pro" charset="0"/>
                <a:cs typeface="Calibri" panose="020F0502020204030204" pitchFamily="34" charset="0"/>
              </a:rPr>
              <a:t>Financial Statements </a:t>
            </a:r>
            <a:r>
              <a:rPr lang="en-US" sz="2400" dirty="0">
                <a:latin typeface="Calibri" panose="020F0502020204030204" pitchFamily="34" charset="0"/>
                <a:ea typeface="Source Sans Pro" charset="0"/>
                <a:cs typeface="Calibri" panose="020F0502020204030204" pitchFamily="34" charset="0"/>
              </a:rPr>
              <a:t>(4 of 7)</a:t>
            </a:r>
            <a:endParaRPr lang="en-US" dirty="0"/>
          </a:p>
        </p:txBody>
      </p:sp>
      <p:sp>
        <p:nvSpPr>
          <p:cNvPr id="3" name="Content Placeholder 2">
            <a:extLst>
              <a:ext uri="{FF2B5EF4-FFF2-40B4-BE49-F238E27FC236}">
                <a16:creationId xmlns:a16="http://schemas.microsoft.com/office/drawing/2014/main" id="{5ECB13D5-4775-45FE-9B52-729BD61CE36E}"/>
              </a:ext>
            </a:extLst>
          </p:cNvPr>
          <p:cNvSpPr>
            <a:spLocks noGrp="1"/>
          </p:cNvSpPr>
          <p:nvPr>
            <p:ph sz="quarter" idx="16"/>
          </p:nvPr>
        </p:nvSpPr>
        <p:spPr>
          <a:xfrm>
            <a:off x="304800" y="1828800"/>
            <a:ext cx="3086100" cy="1143000"/>
          </a:xfrm>
        </p:spPr>
        <p:txBody>
          <a:bodyPr/>
          <a:lstStyle/>
          <a:p>
            <a:r>
              <a:rPr lang="en-US" altLang="en-US" sz="2400" b="1" dirty="0"/>
              <a:t>Softbyte</a:t>
            </a:r>
            <a:r>
              <a:rPr lang="en-US" altLang="en-US" sz="2400" dirty="0"/>
              <a:t> statements for the Month Ended September 30, 2020</a:t>
            </a:r>
          </a:p>
        </p:txBody>
      </p:sp>
      <p:pic>
        <p:nvPicPr>
          <p:cNvPr id="7" name="Content Placeholder 6" descr="An illustration displays an Owner's equity statement. It has two columns, the first contains the parameters, and the second is a numeric column. Owner's capital, September 1, $0. After adding investments of 15,000; net income of 2,750 from the income statement, and subtracting drawings of 1,300, owner's capital, on September 30 is $16,450, double underlined and displayed in red font. An illustration of the balance sheet has two columns, the parameters, and the numeric column. It is divided into two sections, assets, and Liabilities and Owner's equity. The assets include the following entries: cash of $8,050; accounts receivable of 1,400; supplies of 1,600; equipment of 7,000; and total assets of $18,050, double underlined. Liabilities and owner's equity include the following entries: accounts payable of $1,600; owner's capital of 16,450 displayed in red font which is added from the Owner's equity statement; and total liabilities and equity of $18,050, double underlined. ">
            <a:extLst>
              <a:ext uri="{FF2B5EF4-FFF2-40B4-BE49-F238E27FC236}">
                <a16:creationId xmlns:a16="http://schemas.microsoft.com/office/drawing/2014/main" id="{F7ED35AC-05E5-4677-BA12-FB76E8A43114}"/>
              </a:ext>
            </a:extLst>
          </p:cNvPr>
          <p:cNvPicPr>
            <a:picLocks noGrp="1" noChangeAspect="1"/>
          </p:cNvPicPr>
          <p:nvPr>
            <p:ph sz="quarter" idx="17"/>
          </p:nvPr>
        </p:nvPicPr>
        <p:blipFill>
          <a:blip r:embed="rId2"/>
          <a:stretch>
            <a:fillRect/>
          </a:stretch>
        </p:blipFill>
        <p:spPr>
          <a:xfrm>
            <a:off x="4092629" y="1600200"/>
            <a:ext cx="4365571" cy="4637228"/>
          </a:xfrm>
          <a:prstGeom prst="rect">
            <a:avLst/>
          </a:prstGeom>
        </p:spPr>
      </p:pic>
      <p:sp>
        <p:nvSpPr>
          <p:cNvPr id="5" name="Slide Number Placeholder 4">
            <a:extLst>
              <a:ext uri="{FF2B5EF4-FFF2-40B4-BE49-F238E27FC236}">
                <a16:creationId xmlns:a16="http://schemas.microsoft.com/office/drawing/2014/main" id="{91C54E75-7A5A-4D4E-942A-54E6F3718636}"/>
              </a:ext>
            </a:extLst>
          </p:cNvPr>
          <p:cNvSpPr>
            <a:spLocks noGrp="1"/>
          </p:cNvSpPr>
          <p:nvPr>
            <p:ph type="sldNum" sz="quarter" idx="10"/>
          </p:nvPr>
        </p:nvSpPr>
        <p:spPr/>
        <p:txBody>
          <a:bodyPr/>
          <a:lstStyle/>
          <a:p>
            <a:fld id="{67B19427-F580-D146-B60E-4CADEE75497F}" type="slidenum">
              <a:rPr lang="en-US" smtClean="0"/>
              <a:pPr/>
              <a:t>31</a:t>
            </a:fld>
            <a:endParaRPr lang="en-US" dirty="0"/>
          </a:p>
        </p:txBody>
      </p:sp>
      <p:sp>
        <p:nvSpPr>
          <p:cNvPr id="6" name="Footer Placeholder 5">
            <a:extLst>
              <a:ext uri="{FF2B5EF4-FFF2-40B4-BE49-F238E27FC236}">
                <a16:creationId xmlns:a16="http://schemas.microsoft.com/office/drawing/2014/main" id="{17707651-00C6-43F5-9FFE-0654EE73F3CC}"/>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8517236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22557-5741-4422-BBA7-1464D6D1ACCD}"/>
              </a:ext>
            </a:extLst>
          </p:cNvPr>
          <p:cNvSpPr>
            <a:spLocks noGrp="1"/>
          </p:cNvSpPr>
          <p:nvPr>
            <p:ph type="title"/>
          </p:nvPr>
        </p:nvSpPr>
        <p:spPr>
          <a:xfrm>
            <a:off x="304800" y="762001"/>
            <a:ext cx="8534400" cy="685799"/>
          </a:xfrm>
        </p:spPr>
        <p:txBody>
          <a:bodyPr/>
          <a:lstStyle/>
          <a:p>
            <a:r>
              <a:rPr lang="en-US" b="1" dirty="0">
                <a:latin typeface="Calibri" panose="020F0502020204030204" pitchFamily="34" charset="0"/>
                <a:ea typeface="Source Sans Pro" charset="0"/>
                <a:cs typeface="Calibri" panose="020F0502020204030204" pitchFamily="34" charset="0"/>
              </a:rPr>
              <a:t>Financial Statements </a:t>
            </a:r>
            <a:r>
              <a:rPr lang="en-US" sz="2400" dirty="0">
                <a:latin typeface="Calibri" panose="020F0502020204030204" pitchFamily="34" charset="0"/>
                <a:ea typeface="Source Sans Pro" charset="0"/>
                <a:cs typeface="Calibri" panose="020F0502020204030204" pitchFamily="34" charset="0"/>
              </a:rPr>
              <a:t>(5 of 7)</a:t>
            </a:r>
            <a:endParaRPr lang="en-US" dirty="0"/>
          </a:p>
        </p:txBody>
      </p:sp>
      <p:sp>
        <p:nvSpPr>
          <p:cNvPr id="3" name="Content Placeholder 2">
            <a:extLst>
              <a:ext uri="{FF2B5EF4-FFF2-40B4-BE49-F238E27FC236}">
                <a16:creationId xmlns:a16="http://schemas.microsoft.com/office/drawing/2014/main" id="{5ECB13D5-4775-45FE-9B52-729BD61CE36E}"/>
              </a:ext>
            </a:extLst>
          </p:cNvPr>
          <p:cNvSpPr>
            <a:spLocks noGrp="1"/>
          </p:cNvSpPr>
          <p:nvPr>
            <p:ph sz="quarter" idx="16"/>
          </p:nvPr>
        </p:nvSpPr>
        <p:spPr>
          <a:xfrm>
            <a:off x="304800" y="1828800"/>
            <a:ext cx="3086100" cy="1143000"/>
          </a:xfrm>
        </p:spPr>
        <p:txBody>
          <a:bodyPr/>
          <a:lstStyle/>
          <a:p>
            <a:r>
              <a:rPr lang="en-US" altLang="en-US" sz="2400" b="1" dirty="0"/>
              <a:t>Softbyte</a:t>
            </a:r>
            <a:r>
              <a:rPr lang="en-US" altLang="en-US" sz="2400" dirty="0"/>
              <a:t> statements for the Month Ended September 30, 2020</a:t>
            </a:r>
          </a:p>
        </p:txBody>
      </p:sp>
      <p:pic>
        <p:nvPicPr>
          <p:cNvPr id="9" name="Content Placeholder 8" descr="An illustration displays a balance sheet, partial. It has two columns, the parameters, and the numeric entries. The balance sheet is divided into two sections, assets and the statement of cash flows. The assets contain the following entries: cash of $8,050 displayed in red font; accounts receivable of 1,400; and supplies of 1,600. The statement of cash flows contains two columns, the parameters, and the numeric entries. The statement of cash flows is further divided into three sections, cash flows from operating activities; cash flows from investing activities; and cash flows from financing activities. Cash flows from operating activities include: cash receipts from revenue with 3,300; cash payment from expenses of negative 1,950; and net cash from operating activities of 1,350. Cash flows from investing activities contain purchase of equipment of negative 7,000. Cash flows from financing activities include the following entries: investment by owner of 15,000; drawings by owner of negative 1,300; and net cash from financing activities of 13,700. Net increase in cash is 8,050. Cash at beginning of period is 0. The cash at end of period is $8,050, double underlined and displayed in red font.">
            <a:extLst>
              <a:ext uri="{FF2B5EF4-FFF2-40B4-BE49-F238E27FC236}">
                <a16:creationId xmlns:a16="http://schemas.microsoft.com/office/drawing/2014/main" id="{23885088-8894-4A26-8C7B-BF8FD2789EAF}"/>
              </a:ext>
            </a:extLst>
          </p:cNvPr>
          <p:cNvPicPr>
            <a:picLocks noGrp="1" noChangeAspect="1"/>
          </p:cNvPicPr>
          <p:nvPr>
            <p:ph sz="quarter" idx="17"/>
          </p:nvPr>
        </p:nvPicPr>
        <p:blipFill>
          <a:blip r:embed="rId2"/>
          <a:stretch>
            <a:fillRect/>
          </a:stretch>
        </p:blipFill>
        <p:spPr>
          <a:xfrm>
            <a:off x="4191000" y="1600200"/>
            <a:ext cx="4303224" cy="4750313"/>
          </a:xfrm>
          <a:prstGeom prst="rect">
            <a:avLst/>
          </a:prstGeom>
        </p:spPr>
      </p:pic>
      <p:sp>
        <p:nvSpPr>
          <p:cNvPr id="5" name="Slide Number Placeholder 4">
            <a:extLst>
              <a:ext uri="{FF2B5EF4-FFF2-40B4-BE49-F238E27FC236}">
                <a16:creationId xmlns:a16="http://schemas.microsoft.com/office/drawing/2014/main" id="{91C54E75-7A5A-4D4E-942A-54E6F3718636}"/>
              </a:ext>
            </a:extLst>
          </p:cNvPr>
          <p:cNvSpPr>
            <a:spLocks noGrp="1"/>
          </p:cNvSpPr>
          <p:nvPr>
            <p:ph type="sldNum" sz="quarter" idx="10"/>
          </p:nvPr>
        </p:nvSpPr>
        <p:spPr/>
        <p:txBody>
          <a:bodyPr/>
          <a:lstStyle/>
          <a:p>
            <a:fld id="{67B19427-F580-D146-B60E-4CADEE75497F}" type="slidenum">
              <a:rPr lang="en-US" smtClean="0"/>
              <a:pPr/>
              <a:t>32</a:t>
            </a:fld>
            <a:endParaRPr lang="en-US" dirty="0"/>
          </a:p>
        </p:txBody>
      </p:sp>
      <p:sp>
        <p:nvSpPr>
          <p:cNvPr id="6" name="Footer Placeholder 5">
            <a:extLst>
              <a:ext uri="{FF2B5EF4-FFF2-40B4-BE49-F238E27FC236}">
                <a16:creationId xmlns:a16="http://schemas.microsoft.com/office/drawing/2014/main" id="{17707651-00C6-43F5-9FFE-0654EE73F3CC}"/>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5042368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F5F18-32F4-4378-8792-CE8748826612}"/>
              </a:ext>
            </a:extLst>
          </p:cNvPr>
          <p:cNvSpPr>
            <a:spLocks noGrp="1"/>
          </p:cNvSpPr>
          <p:nvPr>
            <p:ph type="title"/>
          </p:nvPr>
        </p:nvSpPr>
        <p:spPr>
          <a:xfrm>
            <a:off x="304800" y="762001"/>
            <a:ext cx="8534400" cy="685799"/>
          </a:xfrm>
        </p:spPr>
        <p:txBody>
          <a:bodyPr/>
          <a:lstStyle/>
          <a:p>
            <a:r>
              <a:rPr lang="en-US" b="1" dirty="0">
                <a:latin typeface="Calibri" panose="020F0502020204030204" pitchFamily="34" charset="0"/>
                <a:ea typeface="Source Sans Pro" charset="0"/>
                <a:cs typeface="Calibri" panose="020F0502020204030204" pitchFamily="34" charset="0"/>
              </a:rPr>
              <a:t>Income Statement</a:t>
            </a:r>
            <a:endParaRPr lang="en-US" dirty="0"/>
          </a:p>
        </p:txBody>
      </p:sp>
      <p:sp>
        <p:nvSpPr>
          <p:cNvPr id="3" name="Content Placeholder 2">
            <a:extLst>
              <a:ext uri="{FF2B5EF4-FFF2-40B4-BE49-F238E27FC236}">
                <a16:creationId xmlns:a16="http://schemas.microsoft.com/office/drawing/2014/main" id="{30E239B6-BF72-44E0-9B38-E9CC517A75EC}"/>
              </a:ext>
            </a:extLst>
          </p:cNvPr>
          <p:cNvSpPr>
            <a:spLocks noGrp="1"/>
          </p:cNvSpPr>
          <p:nvPr>
            <p:ph sz="quarter" idx="16"/>
          </p:nvPr>
        </p:nvSpPr>
        <p:spPr>
          <a:xfrm>
            <a:off x="304800" y="1828800"/>
            <a:ext cx="8534400" cy="3200400"/>
          </a:xfrm>
        </p:spPr>
        <p:txBody>
          <a:bodyPr/>
          <a:lstStyle/>
          <a:p>
            <a:pPr marL="292608" lvl="2" indent="-292608">
              <a:spcBef>
                <a:spcPts val="1000"/>
              </a:spcBef>
              <a:buClr>
                <a:srgbClr val="800000"/>
              </a:buClr>
              <a:buSzPct val="100000"/>
            </a:pPr>
            <a:r>
              <a:rPr lang="en-US" altLang="en-US" sz="2800" dirty="0"/>
              <a:t>Reports revenues and expenses for a specific period of time</a:t>
            </a:r>
          </a:p>
          <a:p>
            <a:pPr marL="292608" lvl="2" indent="-292608">
              <a:spcBef>
                <a:spcPts val="1000"/>
              </a:spcBef>
              <a:buClr>
                <a:srgbClr val="800000"/>
              </a:buClr>
              <a:buSzPct val="100000"/>
            </a:pPr>
            <a:r>
              <a:rPr lang="en-US" altLang="en-US" sz="2800" dirty="0"/>
              <a:t>Lists revenues first, followed by expenses</a:t>
            </a:r>
          </a:p>
          <a:p>
            <a:pPr marL="292608" lvl="2" indent="-292608">
              <a:spcBef>
                <a:spcPts val="1000"/>
              </a:spcBef>
              <a:buClr>
                <a:srgbClr val="800000"/>
              </a:buClr>
              <a:buSzPct val="100000"/>
            </a:pPr>
            <a:r>
              <a:rPr lang="en-US" altLang="en-US" sz="2800" dirty="0"/>
              <a:t>Shows net income (or net loss)</a:t>
            </a:r>
          </a:p>
        </p:txBody>
      </p:sp>
      <p:sp>
        <p:nvSpPr>
          <p:cNvPr id="4" name="Slide Number Placeholder 3">
            <a:extLst>
              <a:ext uri="{FF2B5EF4-FFF2-40B4-BE49-F238E27FC236}">
                <a16:creationId xmlns:a16="http://schemas.microsoft.com/office/drawing/2014/main" id="{EA4BC6C0-97C2-4B28-A611-FC51BA0AAC6A}"/>
              </a:ext>
            </a:extLst>
          </p:cNvPr>
          <p:cNvSpPr>
            <a:spLocks noGrp="1"/>
          </p:cNvSpPr>
          <p:nvPr>
            <p:ph type="sldNum" sz="quarter" idx="10"/>
          </p:nvPr>
        </p:nvSpPr>
        <p:spPr/>
        <p:txBody>
          <a:bodyPr/>
          <a:lstStyle/>
          <a:p>
            <a:fld id="{67B19427-F580-D146-B60E-4CADEE75497F}" type="slidenum">
              <a:rPr lang="en-US" smtClean="0"/>
              <a:pPr/>
              <a:t>33</a:t>
            </a:fld>
            <a:endParaRPr lang="en-US" dirty="0"/>
          </a:p>
        </p:txBody>
      </p:sp>
      <p:sp>
        <p:nvSpPr>
          <p:cNvPr id="5" name="Footer Placeholder 4">
            <a:extLst>
              <a:ext uri="{FF2B5EF4-FFF2-40B4-BE49-F238E27FC236}">
                <a16:creationId xmlns:a16="http://schemas.microsoft.com/office/drawing/2014/main" id="{55D384A9-1D8E-424B-A508-E954A35BDCBD}"/>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1437453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F5F18-32F4-4378-8792-CE8748826612}"/>
              </a:ext>
            </a:extLst>
          </p:cNvPr>
          <p:cNvSpPr>
            <a:spLocks noGrp="1"/>
          </p:cNvSpPr>
          <p:nvPr>
            <p:ph type="title"/>
          </p:nvPr>
        </p:nvSpPr>
        <p:spPr>
          <a:xfrm>
            <a:off x="304800" y="762000"/>
            <a:ext cx="8534400" cy="762000"/>
          </a:xfrm>
        </p:spPr>
        <p:txBody>
          <a:bodyPr/>
          <a:lstStyle/>
          <a:p>
            <a:r>
              <a:rPr lang="en-US" b="1" dirty="0">
                <a:latin typeface="Calibri" panose="020F0502020204030204" pitchFamily="34" charset="0"/>
                <a:ea typeface="Source Sans Pro" charset="0"/>
                <a:cs typeface="Calibri" panose="020F0502020204030204" pitchFamily="34" charset="0"/>
              </a:rPr>
              <a:t>Owner’s Equity Statement</a:t>
            </a:r>
            <a:endParaRPr lang="en-US" dirty="0"/>
          </a:p>
        </p:txBody>
      </p:sp>
      <p:sp>
        <p:nvSpPr>
          <p:cNvPr id="3" name="Content Placeholder 2">
            <a:extLst>
              <a:ext uri="{FF2B5EF4-FFF2-40B4-BE49-F238E27FC236}">
                <a16:creationId xmlns:a16="http://schemas.microsoft.com/office/drawing/2014/main" id="{30E239B6-BF72-44E0-9B38-E9CC517A75EC}"/>
              </a:ext>
            </a:extLst>
          </p:cNvPr>
          <p:cNvSpPr>
            <a:spLocks noGrp="1"/>
          </p:cNvSpPr>
          <p:nvPr>
            <p:ph sz="quarter" idx="16"/>
          </p:nvPr>
        </p:nvSpPr>
        <p:spPr>
          <a:xfrm>
            <a:off x="304800" y="1828800"/>
            <a:ext cx="8534400" cy="1828800"/>
          </a:xfrm>
        </p:spPr>
        <p:txBody>
          <a:bodyPr/>
          <a:lstStyle/>
          <a:p>
            <a:pPr marL="292608" lvl="2" indent="-292608">
              <a:spcBef>
                <a:spcPts val="1000"/>
              </a:spcBef>
              <a:buClr>
                <a:srgbClr val="800000"/>
              </a:buClr>
              <a:buSzPct val="100000"/>
            </a:pPr>
            <a:r>
              <a:rPr lang="en-US" altLang="en-US" sz="2800" dirty="0"/>
              <a:t>Reports changes in owner’s equity for a specific period of time</a:t>
            </a:r>
          </a:p>
          <a:p>
            <a:pPr marL="292608" lvl="2" indent="-292608">
              <a:spcBef>
                <a:spcPts val="1000"/>
              </a:spcBef>
              <a:buClr>
                <a:srgbClr val="800000"/>
              </a:buClr>
              <a:buSzPct val="100000"/>
            </a:pPr>
            <a:r>
              <a:rPr lang="en-US" altLang="en-US" sz="2800" dirty="0"/>
              <a:t>Time period is the same as that covered by the income statement</a:t>
            </a:r>
          </a:p>
        </p:txBody>
      </p:sp>
      <p:sp>
        <p:nvSpPr>
          <p:cNvPr id="4" name="Slide Number Placeholder 3">
            <a:extLst>
              <a:ext uri="{FF2B5EF4-FFF2-40B4-BE49-F238E27FC236}">
                <a16:creationId xmlns:a16="http://schemas.microsoft.com/office/drawing/2014/main" id="{EA4BC6C0-97C2-4B28-A611-FC51BA0AAC6A}"/>
              </a:ext>
            </a:extLst>
          </p:cNvPr>
          <p:cNvSpPr>
            <a:spLocks noGrp="1"/>
          </p:cNvSpPr>
          <p:nvPr>
            <p:ph type="sldNum" sz="quarter" idx="10"/>
          </p:nvPr>
        </p:nvSpPr>
        <p:spPr/>
        <p:txBody>
          <a:bodyPr/>
          <a:lstStyle/>
          <a:p>
            <a:fld id="{67B19427-F580-D146-B60E-4CADEE75497F}" type="slidenum">
              <a:rPr lang="en-US" smtClean="0"/>
              <a:pPr/>
              <a:t>34</a:t>
            </a:fld>
            <a:endParaRPr lang="en-US" dirty="0"/>
          </a:p>
        </p:txBody>
      </p:sp>
      <p:sp>
        <p:nvSpPr>
          <p:cNvPr id="5" name="Footer Placeholder 4">
            <a:extLst>
              <a:ext uri="{FF2B5EF4-FFF2-40B4-BE49-F238E27FC236}">
                <a16:creationId xmlns:a16="http://schemas.microsoft.com/office/drawing/2014/main" id="{55D384A9-1D8E-424B-A508-E954A35BDCBD}"/>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5158051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F5F18-32F4-4378-8792-CE8748826612}"/>
              </a:ext>
            </a:extLst>
          </p:cNvPr>
          <p:cNvSpPr>
            <a:spLocks noGrp="1"/>
          </p:cNvSpPr>
          <p:nvPr>
            <p:ph type="title"/>
          </p:nvPr>
        </p:nvSpPr>
        <p:spPr>
          <a:xfrm>
            <a:off x="304800" y="762001"/>
            <a:ext cx="8534400" cy="685799"/>
          </a:xfrm>
        </p:spPr>
        <p:txBody>
          <a:bodyPr>
            <a:noAutofit/>
          </a:bodyPr>
          <a:lstStyle/>
          <a:p>
            <a:r>
              <a:rPr lang="en-US" b="1" dirty="0">
                <a:latin typeface="Calibri" panose="020F0502020204030204" pitchFamily="34" charset="0"/>
                <a:ea typeface="Source Sans Pro" charset="0"/>
                <a:cs typeface="Calibri" panose="020F0502020204030204" pitchFamily="34" charset="0"/>
              </a:rPr>
              <a:t>Balance Sheet</a:t>
            </a:r>
            <a:endParaRPr lang="en-US" dirty="0"/>
          </a:p>
        </p:txBody>
      </p:sp>
      <p:sp>
        <p:nvSpPr>
          <p:cNvPr id="3" name="Content Placeholder 2">
            <a:extLst>
              <a:ext uri="{FF2B5EF4-FFF2-40B4-BE49-F238E27FC236}">
                <a16:creationId xmlns:a16="http://schemas.microsoft.com/office/drawing/2014/main" id="{30E239B6-BF72-44E0-9B38-E9CC517A75EC}"/>
              </a:ext>
            </a:extLst>
          </p:cNvPr>
          <p:cNvSpPr>
            <a:spLocks noGrp="1"/>
          </p:cNvSpPr>
          <p:nvPr>
            <p:ph sz="quarter" idx="16"/>
          </p:nvPr>
        </p:nvSpPr>
        <p:spPr>
          <a:xfrm>
            <a:off x="304800" y="1828800"/>
            <a:ext cx="8534400" cy="3657600"/>
          </a:xfrm>
        </p:spPr>
        <p:txBody>
          <a:bodyPr/>
          <a:lstStyle/>
          <a:p>
            <a:pPr marL="292608" lvl="2" indent="-292608">
              <a:spcBef>
                <a:spcPts val="1000"/>
              </a:spcBef>
              <a:buClr>
                <a:srgbClr val="800000"/>
              </a:buClr>
              <a:buSzPct val="100000"/>
            </a:pPr>
            <a:r>
              <a:rPr lang="en-US" altLang="en-US" sz="2800" dirty="0"/>
              <a:t>Reports assets, liabilities, and owner’s equity at a specific date</a:t>
            </a:r>
          </a:p>
          <a:p>
            <a:pPr marL="292608" lvl="2" indent="-292608">
              <a:spcBef>
                <a:spcPts val="1000"/>
              </a:spcBef>
              <a:buClr>
                <a:srgbClr val="800000"/>
              </a:buClr>
              <a:buSzPct val="100000"/>
            </a:pPr>
            <a:r>
              <a:rPr lang="en-US" altLang="en-US" sz="2800" dirty="0"/>
              <a:t>Lists assets at top, followed by liabilities and owner’s equity</a:t>
            </a:r>
          </a:p>
          <a:p>
            <a:pPr marL="292608" lvl="2" indent="-292608">
              <a:spcBef>
                <a:spcPts val="1000"/>
              </a:spcBef>
              <a:buClr>
                <a:srgbClr val="800000"/>
              </a:buClr>
              <a:buSzPct val="100000"/>
            </a:pPr>
            <a:r>
              <a:rPr lang="en-US" altLang="en-US" sz="2800" dirty="0"/>
              <a:t>Total assets must equal total liabilities and owner's equity</a:t>
            </a:r>
          </a:p>
          <a:p>
            <a:pPr marL="292608" lvl="2" indent="-292608">
              <a:spcBef>
                <a:spcPts val="1000"/>
              </a:spcBef>
              <a:buClr>
                <a:srgbClr val="800000"/>
              </a:buClr>
              <a:buSzPct val="100000"/>
            </a:pPr>
            <a:r>
              <a:rPr lang="en-US" altLang="en-US" sz="2800" dirty="0"/>
              <a:t>Snapshot of company’s financial condition at a specific moment in time (usually month-end or year-end)</a:t>
            </a:r>
          </a:p>
        </p:txBody>
      </p:sp>
      <p:sp>
        <p:nvSpPr>
          <p:cNvPr id="4" name="Slide Number Placeholder 3">
            <a:extLst>
              <a:ext uri="{FF2B5EF4-FFF2-40B4-BE49-F238E27FC236}">
                <a16:creationId xmlns:a16="http://schemas.microsoft.com/office/drawing/2014/main" id="{EA4BC6C0-97C2-4B28-A611-FC51BA0AAC6A}"/>
              </a:ext>
            </a:extLst>
          </p:cNvPr>
          <p:cNvSpPr>
            <a:spLocks noGrp="1"/>
          </p:cNvSpPr>
          <p:nvPr>
            <p:ph type="sldNum" sz="quarter" idx="10"/>
          </p:nvPr>
        </p:nvSpPr>
        <p:spPr/>
        <p:txBody>
          <a:bodyPr/>
          <a:lstStyle/>
          <a:p>
            <a:fld id="{67B19427-F580-D146-B60E-4CADEE75497F}" type="slidenum">
              <a:rPr lang="en-US" smtClean="0"/>
              <a:pPr/>
              <a:t>35</a:t>
            </a:fld>
            <a:endParaRPr lang="en-US" dirty="0"/>
          </a:p>
        </p:txBody>
      </p:sp>
      <p:sp>
        <p:nvSpPr>
          <p:cNvPr id="5" name="Footer Placeholder 4">
            <a:extLst>
              <a:ext uri="{FF2B5EF4-FFF2-40B4-BE49-F238E27FC236}">
                <a16:creationId xmlns:a16="http://schemas.microsoft.com/office/drawing/2014/main" id="{55D384A9-1D8E-424B-A508-E954A35BDCBD}"/>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0838567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F5F18-32F4-4378-8792-CE8748826612}"/>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Statement of Cash Flows</a:t>
            </a:r>
            <a:endParaRPr lang="en-US" dirty="0"/>
          </a:p>
        </p:txBody>
      </p:sp>
      <p:sp>
        <p:nvSpPr>
          <p:cNvPr id="3" name="Content Placeholder 2">
            <a:extLst>
              <a:ext uri="{FF2B5EF4-FFF2-40B4-BE49-F238E27FC236}">
                <a16:creationId xmlns:a16="http://schemas.microsoft.com/office/drawing/2014/main" id="{30E239B6-BF72-44E0-9B38-E9CC517A75EC}"/>
              </a:ext>
            </a:extLst>
          </p:cNvPr>
          <p:cNvSpPr>
            <a:spLocks noGrp="1"/>
          </p:cNvSpPr>
          <p:nvPr>
            <p:ph sz="quarter" idx="16"/>
          </p:nvPr>
        </p:nvSpPr>
        <p:spPr>
          <a:xfrm>
            <a:off x="304800" y="1828800"/>
            <a:ext cx="8458200" cy="3124200"/>
          </a:xfrm>
        </p:spPr>
        <p:txBody>
          <a:bodyPr/>
          <a:lstStyle/>
          <a:p>
            <a:pPr marL="292608" lvl="2" indent="-292608">
              <a:spcBef>
                <a:spcPts val="1000"/>
              </a:spcBef>
              <a:buClr>
                <a:srgbClr val="800000"/>
              </a:buClr>
              <a:buSzPct val="100000"/>
            </a:pPr>
            <a:r>
              <a:rPr lang="en-US" altLang="en-US" sz="2800" dirty="0"/>
              <a:t>Provides information on cash receipts and payments for a specific period of time</a:t>
            </a:r>
          </a:p>
          <a:p>
            <a:pPr marL="292608" lvl="2" indent="-292608">
              <a:spcBef>
                <a:spcPts val="1000"/>
              </a:spcBef>
              <a:buClr>
                <a:srgbClr val="800000"/>
              </a:buClr>
              <a:buSzPct val="100000"/>
            </a:pPr>
            <a:r>
              <a:rPr lang="en-US" altLang="en-US" sz="2800" dirty="0"/>
              <a:t>Answers the following:</a:t>
            </a:r>
          </a:p>
          <a:p>
            <a:pPr marL="621792" lvl="2" indent="-320040">
              <a:buClr>
                <a:srgbClr val="800000"/>
              </a:buClr>
              <a:buSzPct val="80000"/>
              <a:buFont typeface="Courier New" panose="02070309020205020404" pitchFamily="49" charset="0"/>
              <a:buChar char="o"/>
            </a:pPr>
            <a:r>
              <a:rPr lang="en-US" altLang="en-US" sz="2600" dirty="0"/>
              <a:t>Where did cash come from during the period?</a:t>
            </a:r>
          </a:p>
          <a:p>
            <a:pPr marL="621792" lvl="2" indent="-320040">
              <a:buClr>
                <a:srgbClr val="800000"/>
              </a:buClr>
              <a:buSzPct val="80000"/>
              <a:buFont typeface="Courier New" panose="02070309020205020404" pitchFamily="49" charset="0"/>
              <a:buChar char="o"/>
            </a:pPr>
            <a:r>
              <a:rPr lang="en-US" altLang="en-US" sz="2600" dirty="0"/>
              <a:t>What was cash used for during the period?</a:t>
            </a:r>
          </a:p>
          <a:p>
            <a:pPr marL="621792" lvl="2" indent="-320040">
              <a:buClr>
                <a:srgbClr val="800000"/>
              </a:buClr>
              <a:buSzPct val="80000"/>
              <a:buFont typeface="Courier New" panose="02070309020205020404" pitchFamily="49" charset="0"/>
              <a:buChar char="o"/>
            </a:pPr>
            <a:r>
              <a:rPr lang="en-US" altLang="en-US" sz="2600" dirty="0"/>
              <a:t>What was the change in the cash balance during the period?</a:t>
            </a:r>
          </a:p>
        </p:txBody>
      </p:sp>
      <p:sp>
        <p:nvSpPr>
          <p:cNvPr id="4" name="Slide Number Placeholder 3">
            <a:extLst>
              <a:ext uri="{FF2B5EF4-FFF2-40B4-BE49-F238E27FC236}">
                <a16:creationId xmlns:a16="http://schemas.microsoft.com/office/drawing/2014/main" id="{EA4BC6C0-97C2-4B28-A611-FC51BA0AAC6A}"/>
              </a:ext>
            </a:extLst>
          </p:cNvPr>
          <p:cNvSpPr>
            <a:spLocks noGrp="1"/>
          </p:cNvSpPr>
          <p:nvPr>
            <p:ph type="sldNum" sz="quarter" idx="10"/>
          </p:nvPr>
        </p:nvSpPr>
        <p:spPr/>
        <p:txBody>
          <a:bodyPr/>
          <a:lstStyle/>
          <a:p>
            <a:fld id="{67B19427-F580-D146-B60E-4CADEE75497F}" type="slidenum">
              <a:rPr lang="en-US" smtClean="0"/>
              <a:pPr/>
              <a:t>36</a:t>
            </a:fld>
            <a:endParaRPr lang="en-US" dirty="0"/>
          </a:p>
        </p:txBody>
      </p:sp>
      <p:sp>
        <p:nvSpPr>
          <p:cNvPr id="5" name="Footer Placeholder 4">
            <a:extLst>
              <a:ext uri="{FF2B5EF4-FFF2-40B4-BE49-F238E27FC236}">
                <a16:creationId xmlns:a16="http://schemas.microsoft.com/office/drawing/2014/main" id="{55D384A9-1D8E-424B-A508-E954A35BDCBD}"/>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818413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F5F18-32F4-4378-8792-CE8748826612}"/>
              </a:ext>
            </a:extLst>
          </p:cNvPr>
          <p:cNvSpPr>
            <a:spLocks noGrp="1"/>
          </p:cNvSpPr>
          <p:nvPr>
            <p:ph type="title"/>
          </p:nvPr>
        </p:nvSpPr>
        <p:spPr>
          <a:xfrm>
            <a:off x="304800" y="762001"/>
            <a:ext cx="8534400" cy="685799"/>
          </a:xfrm>
        </p:spPr>
        <p:txBody>
          <a:bodyPr>
            <a:normAutofit fontScale="90000"/>
          </a:bodyPr>
          <a:lstStyle/>
          <a:p>
            <a:r>
              <a:rPr lang="en-US" b="1" dirty="0">
                <a:latin typeface="Calibri" panose="020F0502020204030204" pitchFamily="34" charset="0"/>
                <a:ea typeface="Source Sans Pro" charset="0"/>
                <a:cs typeface="Calibri" panose="020F0502020204030204" pitchFamily="34" charset="0"/>
              </a:rPr>
              <a:t>Usefulness of the Statement of Cash Flows</a:t>
            </a:r>
            <a:endParaRPr lang="en-US" dirty="0">
              <a:latin typeface="Calibri" panose="020F0502020204030204" pitchFamily="34" charset="0"/>
            </a:endParaRPr>
          </a:p>
        </p:txBody>
      </p:sp>
      <p:sp>
        <p:nvSpPr>
          <p:cNvPr id="3" name="Content Placeholder 2">
            <a:extLst>
              <a:ext uri="{FF2B5EF4-FFF2-40B4-BE49-F238E27FC236}">
                <a16:creationId xmlns:a16="http://schemas.microsoft.com/office/drawing/2014/main" id="{30E239B6-BF72-44E0-9B38-E9CC517A75EC}"/>
              </a:ext>
            </a:extLst>
          </p:cNvPr>
          <p:cNvSpPr>
            <a:spLocks noGrp="1"/>
          </p:cNvSpPr>
          <p:nvPr>
            <p:ph sz="quarter" idx="16"/>
          </p:nvPr>
        </p:nvSpPr>
        <p:spPr>
          <a:xfrm>
            <a:off x="304800" y="1752600"/>
            <a:ext cx="8534400" cy="3352800"/>
          </a:xfrm>
        </p:spPr>
        <p:txBody>
          <a:bodyPr/>
          <a:lstStyle/>
          <a:p>
            <a:pPr marL="0" lvl="2" indent="0">
              <a:spcBef>
                <a:spcPts val="1000"/>
              </a:spcBef>
              <a:buClr>
                <a:srgbClr val="800000"/>
              </a:buClr>
              <a:buSzPct val="100000"/>
              <a:buNone/>
            </a:pPr>
            <a:r>
              <a:rPr lang="en-US" altLang="en-US" sz="2800" dirty="0">
                <a:latin typeface="Calibri" panose="020F0502020204030204" pitchFamily="34" charset="0"/>
              </a:rPr>
              <a:t>Provides information to help assess:</a:t>
            </a:r>
          </a:p>
          <a:p>
            <a:pPr marL="402336" lvl="2" indent="-402336">
              <a:spcBef>
                <a:spcPts val="1000"/>
              </a:spcBef>
              <a:buClr>
                <a:srgbClr val="800000"/>
              </a:buClr>
              <a:buSzPct val="100000"/>
              <a:buFont typeface="+mj-lt"/>
              <a:buAutoNum type="arabicPeriod"/>
            </a:pPr>
            <a:r>
              <a:rPr lang="en-US" altLang="en-US" sz="2800" dirty="0">
                <a:latin typeface="Calibri" panose="020F0502020204030204" pitchFamily="34" charset="0"/>
              </a:rPr>
              <a:t>Entity’s ability to generate future cash flows.</a:t>
            </a:r>
          </a:p>
          <a:p>
            <a:pPr marL="402336" lvl="2" indent="-402336">
              <a:spcBef>
                <a:spcPts val="1000"/>
              </a:spcBef>
              <a:buClr>
                <a:srgbClr val="800000"/>
              </a:buClr>
              <a:buSzPct val="100000"/>
              <a:buFont typeface="+mj-lt"/>
              <a:buAutoNum type="arabicPeriod"/>
            </a:pPr>
            <a:r>
              <a:rPr lang="en-US" altLang="en-US" sz="2800" dirty="0">
                <a:latin typeface="Calibri" panose="020F0502020204030204" pitchFamily="34" charset="0"/>
              </a:rPr>
              <a:t>Entity’s ability to pay dividends and meet obligations.</a:t>
            </a:r>
          </a:p>
          <a:p>
            <a:pPr marL="402336" lvl="2" indent="-402336">
              <a:spcBef>
                <a:spcPts val="1000"/>
              </a:spcBef>
              <a:buClr>
                <a:srgbClr val="800000"/>
              </a:buClr>
              <a:buSzPct val="100000"/>
              <a:buFont typeface="+mj-lt"/>
              <a:buAutoNum type="arabicPeriod"/>
            </a:pPr>
            <a:r>
              <a:rPr lang="en-US" altLang="en-US" sz="2800" dirty="0">
                <a:latin typeface="Calibri" panose="020F0502020204030204" pitchFamily="34" charset="0"/>
              </a:rPr>
              <a:t>Reasons for difference between net income and net cash provided (used) by operating activities.</a:t>
            </a:r>
          </a:p>
          <a:p>
            <a:pPr marL="402336" lvl="2" indent="-402336">
              <a:spcBef>
                <a:spcPts val="1000"/>
              </a:spcBef>
              <a:buClr>
                <a:srgbClr val="800000"/>
              </a:buClr>
              <a:buSzPct val="100000"/>
              <a:buFont typeface="+mj-lt"/>
              <a:buAutoNum type="arabicPeriod"/>
            </a:pPr>
            <a:r>
              <a:rPr lang="en-US" altLang="en-US" sz="2800" dirty="0">
                <a:latin typeface="Calibri" panose="020F0502020204030204" pitchFamily="34" charset="0"/>
              </a:rPr>
              <a:t>Cash investing and financing transactions during the period.</a:t>
            </a:r>
          </a:p>
        </p:txBody>
      </p:sp>
      <p:sp>
        <p:nvSpPr>
          <p:cNvPr id="4" name="Slide Number Placeholder 3">
            <a:extLst>
              <a:ext uri="{FF2B5EF4-FFF2-40B4-BE49-F238E27FC236}">
                <a16:creationId xmlns:a16="http://schemas.microsoft.com/office/drawing/2014/main" id="{EA4BC6C0-97C2-4B28-A611-FC51BA0AAC6A}"/>
              </a:ext>
            </a:extLst>
          </p:cNvPr>
          <p:cNvSpPr>
            <a:spLocks noGrp="1"/>
          </p:cNvSpPr>
          <p:nvPr>
            <p:ph type="sldNum" sz="quarter" idx="10"/>
          </p:nvPr>
        </p:nvSpPr>
        <p:spPr/>
        <p:txBody>
          <a:bodyPr/>
          <a:lstStyle/>
          <a:p>
            <a:fld id="{67B19427-F580-D146-B60E-4CADEE75497F}" type="slidenum">
              <a:rPr lang="en-US" smtClean="0">
                <a:latin typeface="Calibri" panose="020F0502020204030204" pitchFamily="34" charset="0"/>
              </a:rPr>
              <a:pPr/>
              <a:t>37</a:t>
            </a:fld>
            <a:endParaRPr lang="en-US" dirty="0">
              <a:latin typeface="Calibri" panose="020F0502020204030204" pitchFamily="34" charset="0"/>
            </a:endParaRPr>
          </a:p>
        </p:txBody>
      </p:sp>
      <p:sp>
        <p:nvSpPr>
          <p:cNvPr id="5" name="Footer Placeholder 4">
            <a:extLst>
              <a:ext uri="{FF2B5EF4-FFF2-40B4-BE49-F238E27FC236}">
                <a16:creationId xmlns:a16="http://schemas.microsoft.com/office/drawing/2014/main" id="{55D384A9-1D8E-424B-A508-E954A35BDCBD}"/>
              </a:ext>
            </a:extLst>
          </p:cNvPr>
          <p:cNvSpPr>
            <a:spLocks noGrp="1"/>
          </p:cNvSpPr>
          <p:nvPr>
            <p:ph type="ftr" sz="quarter" idx="11"/>
          </p:nvPr>
        </p:nvSpPr>
        <p:spPr/>
        <p:txBody>
          <a:bodyPr/>
          <a:lstStyle/>
          <a:p>
            <a:r>
              <a:rPr lang="en-US">
                <a:latin typeface="Calibri" panose="020F0502020204030204" pitchFamily="34" charset="0"/>
              </a:rPr>
              <a:t>Copyright ©2018 John Wiley &amp; Sons, Inc. </a:t>
            </a:r>
            <a:endParaRPr lang="en-US" dirty="0">
              <a:latin typeface="Calibri" panose="020F0502020204030204" pitchFamily="34" charset="0"/>
            </a:endParaRPr>
          </a:p>
        </p:txBody>
      </p:sp>
    </p:spTree>
    <p:extLst>
      <p:ext uri="{BB962C8B-B14F-4D97-AF65-F5344CB8AC3E}">
        <p14:creationId xmlns:p14="http://schemas.microsoft.com/office/powerpoint/2010/main" val="17991337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37E717E-D554-45A6-9D96-5468E3C9AEA1}"/>
              </a:ext>
            </a:extLst>
          </p:cNvPr>
          <p:cNvSpPr>
            <a:spLocks noGrp="1"/>
          </p:cNvSpPr>
          <p:nvPr>
            <p:ph type="sldNum" sz="quarter" idx="10"/>
          </p:nvPr>
        </p:nvSpPr>
        <p:spPr/>
        <p:txBody>
          <a:bodyPr/>
          <a:lstStyle/>
          <a:p>
            <a:fld id="{67B19427-F580-D146-B60E-4CADEE75497F}" type="slidenum">
              <a:rPr lang="en-US" smtClean="0"/>
              <a:pPr/>
              <a:t>38</a:t>
            </a:fld>
            <a:endParaRPr lang="en-US" dirty="0"/>
          </a:p>
        </p:txBody>
      </p:sp>
      <p:sp>
        <p:nvSpPr>
          <p:cNvPr id="6" name="Footer Placeholder 5">
            <a:extLst>
              <a:ext uri="{FF2B5EF4-FFF2-40B4-BE49-F238E27FC236}">
                <a16:creationId xmlns:a16="http://schemas.microsoft.com/office/drawing/2014/main" id="{DCFFB13F-3531-4570-87DD-A125F96433E7}"/>
              </a:ext>
            </a:extLst>
          </p:cNvPr>
          <p:cNvSpPr>
            <a:spLocks noGrp="1"/>
          </p:cNvSpPr>
          <p:nvPr>
            <p:ph type="ftr" sz="quarter" idx="11"/>
          </p:nvPr>
        </p:nvSpPr>
        <p:spPr/>
        <p:txBody>
          <a:bodyPr/>
          <a:lstStyle/>
          <a:p>
            <a:r>
              <a:rPr lang="en-US"/>
              <a:t>Copyright ©2018 John Wiley &amp; Sons, Inc. </a:t>
            </a:r>
            <a:endParaRPr lang="en-US" dirty="0"/>
          </a:p>
        </p:txBody>
      </p:sp>
      <p:pic>
        <p:nvPicPr>
          <p:cNvPr id="7" name="Picture 6">
            <a:extLst>
              <a:ext uri="{FF2B5EF4-FFF2-40B4-BE49-F238E27FC236}">
                <a16:creationId xmlns:a16="http://schemas.microsoft.com/office/drawing/2014/main" id="{EE0BF929-1600-4999-B8F0-A55570D7DDF7}"/>
              </a:ext>
            </a:extLst>
          </p:cNvPr>
          <p:cNvPicPr>
            <a:picLocks noChangeAspect="1"/>
          </p:cNvPicPr>
          <p:nvPr/>
        </p:nvPicPr>
        <p:blipFill rotWithShape="1">
          <a:blip r:embed="rId2"/>
          <a:srcRect b="7037"/>
          <a:stretch/>
        </p:blipFill>
        <p:spPr>
          <a:xfrm>
            <a:off x="0" y="838200"/>
            <a:ext cx="9144000" cy="4781550"/>
          </a:xfrm>
          <a:prstGeom prst="rect">
            <a:avLst/>
          </a:prstGeom>
        </p:spPr>
      </p:pic>
    </p:spTree>
    <p:extLst>
      <p:ext uri="{BB962C8B-B14F-4D97-AF65-F5344CB8AC3E}">
        <p14:creationId xmlns:p14="http://schemas.microsoft.com/office/powerpoint/2010/main" val="1669546867"/>
      </p:ext>
    </p:extLst>
  </p:cSld>
  <p:clrMapOvr>
    <a:masterClrMapping/>
  </p:clrMapOvr>
</p:sld>
</file>

<file path=ppt/theme/theme1.xml><?xml version="1.0" encoding="utf-8"?>
<a:theme xmlns:a="http://schemas.openxmlformats.org/drawingml/2006/main" name="Open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pter Outline">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Learning Objectives">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oncept Check Question">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Key Term">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Section">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Image Slide Mast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078D6520EA68A49865606D3C9534DA1" ma:contentTypeVersion="13" ma:contentTypeDescription="Create a new document." ma:contentTypeScope="" ma:versionID="70035eb3428c3adc80d38ad743135323">
  <xsd:schema xmlns:xsd="http://www.w3.org/2001/XMLSchema" xmlns:xs="http://www.w3.org/2001/XMLSchema" xmlns:p="http://schemas.microsoft.com/office/2006/metadata/properties" xmlns:ns2="991c6ba3-1c6f-40a9-b60d-1b3170aa9e50" xmlns:ns3="7a71b9a5-dc42-4723-8d0f-e8d6ba5fbeb6" targetNamespace="http://schemas.microsoft.com/office/2006/metadata/properties" ma:root="true" ma:fieldsID="bd7354960e2e8c08eb9a78d1f0de2318" ns2:_="" ns3:_="">
    <xsd:import namespace="991c6ba3-1c6f-40a9-b60d-1b3170aa9e50"/>
    <xsd:import namespace="7a71b9a5-dc42-4723-8d0f-e8d6ba5fbeb6"/>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Fil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1c6ba3-1c6f-40a9-b60d-1b3170aa9e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Files" ma:index="20" nillable="true" ma:displayName="Files" ma:format="Dropdown" ma:internalName="Files" ma:percentage="FALSE">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7a71b9a5-dc42-4723-8d0f-e8d6ba5fbeb6"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Files xmlns="991c6ba3-1c6f-40a9-b60d-1b3170aa9e50" xsi:nil="true"/>
  </documentManagement>
</p:properties>
</file>

<file path=customXml/itemProps1.xml><?xml version="1.0" encoding="utf-8"?>
<ds:datastoreItem xmlns:ds="http://schemas.openxmlformats.org/officeDocument/2006/customXml" ds:itemID="{1D8F211B-7259-4792-BE8A-1E689A2DB2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91c6ba3-1c6f-40a9-b60d-1b3170aa9e50"/>
    <ds:schemaRef ds:uri="7a71b9a5-dc42-4723-8d0f-e8d6ba5fbeb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88F1D47-4251-47E8-ACDB-2528FF86B6CA}">
  <ds:schemaRefs>
    <ds:schemaRef ds:uri="http://schemas.microsoft.com/sharepoint/v3/contenttype/forms"/>
  </ds:schemaRefs>
</ds:datastoreItem>
</file>

<file path=customXml/itemProps3.xml><?xml version="1.0" encoding="utf-8"?>
<ds:datastoreItem xmlns:ds="http://schemas.openxmlformats.org/officeDocument/2006/customXml" ds:itemID="{EF1C71EB-81EB-430C-AADD-7391148CA650}">
  <ds:schemaRefs>
    <ds:schemaRef ds:uri="7a71b9a5-dc42-4723-8d0f-e8d6ba5fbeb6"/>
    <ds:schemaRef ds:uri="http://schemas.microsoft.com/office/infopath/2007/PartnerControls"/>
    <ds:schemaRef ds:uri="http://schemas.openxmlformats.org/package/2006/metadata/core-properties"/>
    <ds:schemaRef ds:uri="http://schemas.microsoft.com/office/2006/metadata/properties"/>
    <ds:schemaRef ds:uri="http://purl.org/dc/dcmitype/"/>
    <ds:schemaRef ds:uri="http://www.w3.org/XML/1998/namespace"/>
    <ds:schemaRef ds:uri="http://purl.org/dc/elements/1.1/"/>
    <ds:schemaRef ds:uri="http://schemas.microsoft.com/office/2006/documentManagement/types"/>
    <ds:schemaRef ds:uri="http://purl.org/dc/terms/"/>
    <ds:schemaRef ds:uri="991c6ba3-1c6f-40a9-b60d-1b3170aa9e50"/>
  </ds:schemaRefs>
</ds:datastoreItem>
</file>

<file path=docProps/app.xml><?xml version="1.0" encoding="utf-8"?>
<Properties xmlns="http://schemas.openxmlformats.org/officeDocument/2006/extended-properties" xmlns:vt="http://schemas.openxmlformats.org/officeDocument/2006/docPropsVTypes">
  <Template/>
  <TotalTime>16334</TotalTime>
  <Words>2022</Words>
  <Application>Microsoft Office PowerPoint</Application>
  <PresentationFormat>On-screen Show (4:3)</PresentationFormat>
  <Paragraphs>232</Paragraphs>
  <Slides>38</Slides>
  <Notes>2</Notes>
  <HiddenSlides>0</HiddenSlides>
  <MMClips>0</MMClips>
  <ScaleCrop>false</ScaleCrop>
  <HeadingPairs>
    <vt:vector size="6" baseType="variant">
      <vt:variant>
        <vt:lpstr>Fonts Used</vt:lpstr>
      </vt:variant>
      <vt:variant>
        <vt:i4>12</vt:i4>
      </vt:variant>
      <vt:variant>
        <vt:lpstr>Theme</vt:lpstr>
      </vt:variant>
      <vt:variant>
        <vt:i4>7</vt:i4>
      </vt:variant>
      <vt:variant>
        <vt:lpstr>Slide Titles</vt:lpstr>
      </vt:variant>
      <vt:variant>
        <vt:i4>38</vt:i4>
      </vt:variant>
    </vt:vector>
  </HeadingPairs>
  <TitlesOfParts>
    <vt:vector size="57" baseType="lpstr">
      <vt:lpstr>Arial</vt:lpstr>
      <vt:lpstr>Calibri</vt:lpstr>
      <vt:lpstr>Calibri Light</vt:lpstr>
      <vt:lpstr>Courier New</vt:lpstr>
      <vt:lpstr>NewAsterLTStd</vt:lpstr>
      <vt:lpstr>NewAsterLTStd-Bold</vt:lpstr>
      <vt:lpstr>Source Sans Pro</vt:lpstr>
      <vt:lpstr>SourceSansPro-Bold</vt:lpstr>
      <vt:lpstr>STIX</vt:lpstr>
      <vt:lpstr>STIX-Bold</vt:lpstr>
      <vt:lpstr>STIX-Regular</vt:lpstr>
      <vt:lpstr>Times New Roman</vt:lpstr>
      <vt:lpstr>Opener</vt:lpstr>
      <vt:lpstr>Chapter Outline</vt:lpstr>
      <vt:lpstr>Learning Objectives</vt:lpstr>
      <vt:lpstr>Concept Check Question</vt:lpstr>
      <vt:lpstr>Key Term</vt:lpstr>
      <vt:lpstr>Section</vt:lpstr>
      <vt:lpstr>Image Slide Master</vt:lpstr>
      <vt:lpstr>Accounting Principles</vt:lpstr>
      <vt:lpstr>Chapter Outline</vt:lpstr>
      <vt:lpstr>Accounting Activities and Users</vt:lpstr>
      <vt:lpstr>Accounting vs Bookkeeping</vt:lpstr>
      <vt:lpstr>Who Uses Accounting Data (1 of 2)</vt:lpstr>
      <vt:lpstr>Who Uses Accounting Data (2 of 2)</vt:lpstr>
      <vt:lpstr>Measurement Principles</vt:lpstr>
      <vt:lpstr>Measurement Principles</vt:lpstr>
      <vt:lpstr>Assumptions</vt:lpstr>
      <vt:lpstr>Forms of Business Ownership</vt:lpstr>
      <vt:lpstr>The Accounting Equation (1 of 6)</vt:lpstr>
      <vt:lpstr>The Accounting Equation (2 of 6)</vt:lpstr>
      <vt:lpstr>The Accounting Equation (3 of 6)</vt:lpstr>
      <vt:lpstr>The Accounting Equation (4 of 6)</vt:lpstr>
      <vt:lpstr>The Accounting Equation (5 of 6)</vt:lpstr>
      <vt:lpstr>The Accounting Equation (6 of 6)</vt:lpstr>
      <vt:lpstr>Analyzing Business Transactions (1 of 2)</vt:lpstr>
      <vt:lpstr>Analyzing Business Transactions (2 of 2)</vt:lpstr>
      <vt:lpstr>Transaction Analysis (1 of 10)</vt:lpstr>
      <vt:lpstr>Transaction Analysis (2 of 10)</vt:lpstr>
      <vt:lpstr>Transaction Analysis (3 of 10)</vt:lpstr>
      <vt:lpstr>Transaction Analysis (4 of 10)</vt:lpstr>
      <vt:lpstr>Transaction Analysis (5 of 10)</vt:lpstr>
      <vt:lpstr>Transaction Analysis (6 of 10)</vt:lpstr>
      <vt:lpstr>Transaction Analysis (7 of 10)</vt:lpstr>
      <vt:lpstr>Transaction Analysis (8 of 10)</vt:lpstr>
      <vt:lpstr>Transaction Analysis (9 of 10)</vt:lpstr>
      <vt:lpstr>Transaction Analysis (10 of 10)</vt:lpstr>
      <vt:lpstr>The Four Financial Statements</vt:lpstr>
      <vt:lpstr>Financial Statements (3 of 7)</vt:lpstr>
      <vt:lpstr>Financial Statements (4 of 7)</vt:lpstr>
      <vt:lpstr>Financial Statements (5 of 7)</vt:lpstr>
      <vt:lpstr>Income Statement</vt:lpstr>
      <vt:lpstr>Owner’s Equity Statement</vt:lpstr>
      <vt:lpstr>Balance Sheet</vt:lpstr>
      <vt:lpstr>Statement of Cash Flows</vt:lpstr>
      <vt:lpstr>Usefulness of the Statement of Cash Flows</vt:lpstr>
      <vt:lpstr>PowerPoint Presentation</vt:lpstr>
    </vt:vector>
  </TitlesOfParts>
  <Company>SPi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Accounting Principles, 13e</dc:title>
  <dc:subject>Accounts</dc:subject>
  <dc:creator>Weygandt/Kimmel/Kieso</dc:creator>
  <cp:lastModifiedBy>USER</cp:lastModifiedBy>
  <cp:revision>1477</cp:revision>
  <cp:lastPrinted>2017-04-26T13:25:47Z</cp:lastPrinted>
  <dcterms:created xsi:type="dcterms:W3CDTF">2017-04-21T14:49:46Z</dcterms:created>
  <dcterms:modified xsi:type="dcterms:W3CDTF">2025-02-10T08:00:01Z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0x0101004078D6520EA68A49865606D3C9534DA1</vt:lpwstr>
  </property>
</Properties>
</file>