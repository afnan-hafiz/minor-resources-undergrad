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53"/>
  </p:notesMasterIdLst>
  <p:sldIdLst>
    <p:sldId id="393" r:id="rId11"/>
    <p:sldId id="488" r:id="rId12"/>
    <p:sldId id="489" r:id="rId13"/>
    <p:sldId id="490" r:id="rId14"/>
    <p:sldId id="491" r:id="rId15"/>
    <p:sldId id="538" r:id="rId16"/>
    <p:sldId id="551" r:id="rId17"/>
    <p:sldId id="552" r:id="rId18"/>
    <p:sldId id="494" r:id="rId19"/>
    <p:sldId id="554" r:id="rId20"/>
    <p:sldId id="553" r:id="rId21"/>
    <p:sldId id="495" r:id="rId22"/>
    <p:sldId id="539" r:id="rId23"/>
    <p:sldId id="540" r:id="rId24"/>
    <p:sldId id="498" r:id="rId25"/>
    <p:sldId id="541" r:id="rId26"/>
    <p:sldId id="543" r:id="rId27"/>
    <p:sldId id="544" r:id="rId28"/>
    <p:sldId id="545" r:id="rId29"/>
    <p:sldId id="546" r:id="rId30"/>
    <p:sldId id="559" r:id="rId31"/>
    <p:sldId id="555" r:id="rId32"/>
    <p:sldId id="557" r:id="rId33"/>
    <p:sldId id="558" r:id="rId34"/>
    <p:sldId id="556" r:id="rId35"/>
    <p:sldId id="504" r:id="rId36"/>
    <p:sldId id="416" r:id="rId37"/>
    <p:sldId id="417" r:id="rId38"/>
    <p:sldId id="508" r:id="rId39"/>
    <p:sldId id="509" r:id="rId40"/>
    <p:sldId id="510" r:id="rId41"/>
    <p:sldId id="548" r:id="rId42"/>
    <p:sldId id="512" r:id="rId43"/>
    <p:sldId id="513" r:id="rId44"/>
    <p:sldId id="514" r:id="rId45"/>
    <p:sldId id="560" r:id="rId46"/>
    <p:sldId id="515" r:id="rId47"/>
    <p:sldId id="516" r:id="rId48"/>
    <p:sldId id="412" r:id="rId49"/>
    <p:sldId id="517" r:id="rId50"/>
    <p:sldId id="518" r:id="rId51"/>
    <p:sldId id="519" r:id="rId52"/>
  </p:sldIdLst>
  <p:sldSz cx="9144000" cy="6858000" type="screen4x3"/>
  <p:notesSz cx="7315200" cy="9601200"/>
  <p:custDataLst>
    <p:tags r:id="rId5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26" autoAdjust="0"/>
    <p:restoredTop sz="83919" autoAdjust="0"/>
  </p:normalViewPr>
  <p:slideViewPr>
    <p:cSldViewPr>
      <p:cViewPr varScale="1">
        <p:scale>
          <a:sx n="56" d="100"/>
          <a:sy n="56" d="100"/>
        </p:scale>
        <p:origin x="1864" y="44"/>
      </p:cViewPr>
      <p:guideLst>
        <p:guide orient="horz" pos="2160"/>
        <p:guide pos="2880"/>
      </p:guideLst>
    </p:cSldViewPr>
  </p:slideViewPr>
  <p:outlineViewPr>
    <p:cViewPr>
      <p:scale>
        <a:sx n="33" d="100"/>
        <a:sy n="33" d="100"/>
      </p:scale>
      <p:origin x="0" y="-33930"/>
    </p:cViewPr>
  </p:outlineViewPr>
  <p:notesTextViewPr>
    <p:cViewPr>
      <p:scale>
        <a:sx n="66" d="100"/>
        <a:sy n="66" d="100"/>
      </p:scale>
      <p:origin x="0" y="0"/>
    </p:cViewPr>
  </p:notesTextViewPr>
  <p:sorterViewPr>
    <p:cViewPr>
      <p:scale>
        <a:sx n="70" d="100"/>
        <a:sy n="70" d="100"/>
      </p:scale>
      <p:origin x="0" y="6254"/>
    </p:cViewPr>
  </p:sorterViewPr>
  <p:notesViewPr>
    <p:cSldViewPr>
      <p:cViewPr varScale="1">
        <p:scale>
          <a:sx n="134" d="100"/>
          <a:sy n="134" d="100"/>
        </p:scale>
        <p:origin x="3184" y="20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1.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tableStyles" Target="tableStyle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viewProps" Target="viewProps.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t>4/5/2025</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Supplementary notes by TBR:</a:t>
            </a:r>
          </a:p>
          <a:p>
            <a:endParaRPr lang="en-US" sz="1200" b="1"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Why change in estimate may be required: </a:t>
            </a:r>
            <a:r>
              <a:rPr lang="en-US" sz="1200" b="0" i="0" u="none" strike="noStrike" kern="1200" baseline="0" dirty="0">
                <a:solidFill>
                  <a:schemeClr val="tx1"/>
                </a:solidFill>
                <a:latin typeface="+mn-lt"/>
                <a:ea typeface="+mn-ea"/>
                <a:cs typeface="+mn-cs"/>
              </a:rPr>
              <a:t>Depreciation is one example of the use of estimation in the accounting process. Management should periodically review annual depreciation expense. If wear and tear or obsolescence indicate that annual depreciation estimates are inadequate or excessive, the company should change the amount of depreciation expense.</a:t>
            </a:r>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4</a:t>
            </a:fld>
            <a:endParaRPr lang="en-US" dirty="0"/>
          </a:p>
        </p:txBody>
      </p:sp>
    </p:spTree>
    <p:extLst>
      <p:ext uri="{BB962C8B-B14F-4D97-AF65-F5344CB8AC3E}">
        <p14:creationId xmlns:p14="http://schemas.microsoft.com/office/powerpoint/2010/main" val="466868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t>Supplementary notes by </a:t>
            </a:r>
            <a:r>
              <a:rPr lang="en-US" b="1" i="1"/>
              <a:t>TBR:</a:t>
            </a:r>
          </a:p>
          <a:p>
            <a:endParaRPr lang="en-US" b="1" i="1" dirty="0"/>
          </a:p>
          <a:p>
            <a:r>
              <a:rPr lang="en-US" dirty="0"/>
              <a:t>(New) depreciation cost = Remaining Book Value - New Salvage Value</a:t>
            </a:r>
          </a:p>
          <a:p>
            <a:r>
              <a:rPr lang="en-US" dirty="0"/>
              <a:t>The (remaining) book value represents the portion of the asset's cost that has not yet been expensed. It's the amount that still needs to be depreciated over the </a:t>
            </a:r>
            <a:r>
              <a:rPr lang="en-US" i="1" dirty="0"/>
              <a:t>remaining</a:t>
            </a:r>
            <a:r>
              <a:rPr lang="en-US" dirty="0"/>
              <a:t> useful life.   </a:t>
            </a:r>
          </a:p>
          <a:p>
            <a:r>
              <a:rPr lang="en-US" dirty="0"/>
              <a:t>Therefore, we use the book value, not the original cost, to calculate the new depreciation expense.</a:t>
            </a:r>
          </a:p>
          <a:p>
            <a:endParaRPr lang="en-US" dirty="0"/>
          </a:p>
          <a:p>
            <a:r>
              <a:rPr lang="en-US" dirty="0"/>
              <a:t>Think of it like this: The accumulated depreciation has already accounted for the "past" depreciation. Now, we're looking forward. The book value is the "now" value, and we need to depreciate that "now" value, minus the new salvage value, over the rest of the assets life.</a:t>
            </a:r>
          </a:p>
        </p:txBody>
      </p:sp>
      <p:sp>
        <p:nvSpPr>
          <p:cNvPr id="4" name="Slide Number Placeholder 3"/>
          <p:cNvSpPr>
            <a:spLocks noGrp="1"/>
          </p:cNvSpPr>
          <p:nvPr>
            <p:ph type="sldNum" sz="quarter" idx="5"/>
          </p:nvPr>
        </p:nvSpPr>
        <p:spPr/>
        <p:txBody>
          <a:bodyPr/>
          <a:lstStyle/>
          <a:p>
            <a:fld id="{A8073E54-D085-4E2E-B9A5-A53D7E51940E}" type="slidenum">
              <a:rPr lang="en-US" smtClean="0"/>
              <a:t>6</a:t>
            </a:fld>
            <a:endParaRPr lang="en-US" dirty="0"/>
          </a:p>
        </p:txBody>
      </p:sp>
    </p:spTree>
    <p:extLst>
      <p:ext uri="{BB962C8B-B14F-4D97-AF65-F5344CB8AC3E}">
        <p14:creationId xmlns:p14="http://schemas.microsoft.com/office/powerpoint/2010/main" val="2569562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ffectLst/>
            </a:endParaRPr>
          </a:p>
        </p:txBody>
      </p:sp>
      <p:sp>
        <p:nvSpPr>
          <p:cNvPr id="4" name="Slide Number Placeholder 3"/>
          <p:cNvSpPr>
            <a:spLocks noGrp="1"/>
          </p:cNvSpPr>
          <p:nvPr>
            <p:ph type="sldNum" sz="quarter" idx="5"/>
          </p:nvPr>
        </p:nvSpPr>
        <p:spPr/>
        <p:txBody>
          <a:bodyPr/>
          <a:lstStyle/>
          <a:p>
            <a:fld id="{A8073E54-D085-4E2E-B9A5-A53D7E51940E}" type="slidenum">
              <a:rPr lang="en-US" smtClean="0"/>
              <a:t>9</a:t>
            </a:fld>
            <a:endParaRPr lang="en-US" dirty="0"/>
          </a:p>
        </p:txBody>
      </p:sp>
    </p:spTree>
    <p:extLst>
      <p:ext uri="{BB962C8B-B14F-4D97-AF65-F5344CB8AC3E}">
        <p14:creationId xmlns:p14="http://schemas.microsoft.com/office/powerpoint/2010/main" val="4253064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t>Supplementary notes by TBR:</a:t>
            </a:r>
          </a:p>
          <a:p>
            <a:r>
              <a:rPr lang="en-US" dirty="0"/>
              <a:t>"Permanent decline" in the context of asset impairment means that the decrease in the asset's fair value is not expected to recover. It's not a temporary dip due to short-term market fluctuations; it's a long-lasting or irreversible loss. </a:t>
            </a:r>
            <a:r>
              <a:rPr lang="en-US" dirty="0">
                <a:effectLst/>
              </a:rPr>
              <a:t>Indicators of a permanent decline can include: </a:t>
            </a:r>
          </a:p>
          <a:p>
            <a:pPr marL="171450" lvl="0" indent="-171450" rtl="0">
              <a:buFont typeface="Arial" panose="020B0604020202020204" pitchFamily="34" charset="0"/>
              <a:buChar char="•"/>
            </a:pPr>
            <a:r>
              <a:rPr lang="en-US" dirty="0">
                <a:effectLst/>
              </a:rPr>
              <a:t>Obsolescence of the asset </a:t>
            </a:r>
            <a:r>
              <a:rPr lang="en-US" i="1" dirty="0">
                <a:effectLst/>
              </a:rPr>
              <a:t>(the process of becoming obsolete or outdated and no longer used)</a:t>
            </a:r>
            <a:r>
              <a:rPr lang="en-US" dirty="0">
                <a:effectLst/>
              </a:rPr>
              <a:t>.   </a:t>
            </a:r>
          </a:p>
          <a:p>
            <a:pPr marL="171450" lvl="0" indent="-171450" rtl="0">
              <a:buFont typeface="Arial" panose="020B0604020202020204" pitchFamily="34" charset="0"/>
              <a:buChar char="•"/>
            </a:pPr>
            <a:r>
              <a:rPr lang="en-US" dirty="0">
                <a:effectLst/>
              </a:rPr>
              <a:t>Significant adverse changes in the market.</a:t>
            </a:r>
          </a:p>
          <a:p>
            <a:pPr marL="171450" lvl="0" indent="-171450" rtl="0">
              <a:buFont typeface="Arial" panose="020B0604020202020204" pitchFamily="34" charset="0"/>
              <a:buChar char="•"/>
            </a:pPr>
            <a:r>
              <a:rPr lang="en-US" dirty="0">
                <a:effectLst/>
              </a:rPr>
              <a:t>Legal or regulatory changes.</a:t>
            </a:r>
          </a:p>
          <a:p>
            <a:pPr marL="171450" lvl="0" indent="-171450" rtl="0">
              <a:buFont typeface="Arial" panose="020B0604020202020204" pitchFamily="34" charset="0"/>
              <a:buChar char="•"/>
            </a:pPr>
            <a:r>
              <a:rPr lang="en-US" dirty="0">
                <a:effectLst/>
              </a:rPr>
              <a:t>Physical damage to the asset.   </a:t>
            </a:r>
          </a:p>
          <a:p>
            <a:pPr marL="171450" lvl="0" indent="-171450" rtl="0">
              <a:buFont typeface="Arial" panose="020B0604020202020204" pitchFamily="34" charset="0"/>
              <a:buChar char="•"/>
            </a:pPr>
            <a:r>
              <a:rPr lang="en-US" dirty="0">
                <a:effectLst/>
              </a:rPr>
              <a:t>A company's decision to restructure, and those assets will not be used in the future.</a:t>
            </a:r>
          </a:p>
          <a:p>
            <a:pPr rtl="0"/>
            <a:r>
              <a:rPr lang="en-US" dirty="0">
                <a:effectLst/>
              </a:rPr>
              <a:t>Essentially, a permanent decline signals that the asset's future economic benefits have been reduced, and the company needs to recognize this loss in its financial statements.</a:t>
            </a:r>
          </a:p>
        </p:txBody>
      </p:sp>
      <p:sp>
        <p:nvSpPr>
          <p:cNvPr id="4" name="Slide Number Placeholder 3"/>
          <p:cNvSpPr>
            <a:spLocks noGrp="1"/>
          </p:cNvSpPr>
          <p:nvPr>
            <p:ph type="sldNum" sz="quarter" idx="5"/>
          </p:nvPr>
        </p:nvSpPr>
        <p:spPr/>
        <p:txBody>
          <a:bodyPr/>
          <a:lstStyle/>
          <a:p>
            <a:fld id="{A8073E54-D085-4E2E-B9A5-A53D7E51940E}" type="slidenum">
              <a:rPr lang="en-US" smtClean="0"/>
              <a:t>10</a:t>
            </a:fld>
            <a:endParaRPr lang="en-US" dirty="0"/>
          </a:p>
        </p:txBody>
      </p:sp>
    </p:spTree>
    <p:extLst>
      <p:ext uri="{BB962C8B-B14F-4D97-AF65-F5344CB8AC3E}">
        <p14:creationId xmlns:p14="http://schemas.microsoft.com/office/powerpoint/2010/main" val="901869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Supplementary notes by TBR:</a:t>
            </a:r>
          </a:p>
          <a:p>
            <a:endParaRPr lang="en-US" dirty="0"/>
          </a:p>
          <a:p>
            <a:r>
              <a:rPr lang="en-US" dirty="0"/>
              <a:t>What happens if a fully depreciated plant asset is still useful to the company? In this case, the asset and its accumulated depreciation continue to be reported on the balance sheet, without further depreciation adjustment, until the company retires the asset. Reporting the asset and related accumulated depreciation on the balance sheet informs the financial statement reader that the asset is still in use. Once fully depreciated, no additional depreciation should be taken, even if an asset is still being used. In no situation can the accumulated depreciation on a plant asset exceed its cost.</a:t>
            </a:r>
          </a:p>
        </p:txBody>
      </p:sp>
      <p:sp>
        <p:nvSpPr>
          <p:cNvPr id="4" name="Slide Number Placeholder 3"/>
          <p:cNvSpPr>
            <a:spLocks noGrp="1"/>
          </p:cNvSpPr>
          <p:nvPr>
            <p:ph type="sldNum" sz="quarter" idx="5"/>
          </p:nvPr>
        </p:nvSpPr>
        <p:spPr/>
        <p:txBody>
          <a:bodyPr/>
          <a:lstStyle/>
          <a:p>
            <a:fld id="{A8073E54-D085-4E2E-B9A5-A53D7E51940E}" type="slidenum">
              <a:rPr lang="en-US" smtClean="0"/>
              <a:t>13</a:t>
            </a:fld>
            <a:endParaRPr lang="en-US" dirty="0"/>
          </a:p>
        </p:txBody>
      </p:sp>
    </p:spTree>
    <p:extLst>
      <p:ext uri="{BB962C8B-B14F-4D97-AF65-F5344CB8AC3E}">
        <p14:creationId xmlns:p14="http://schemas.microsoft.com/office/powerpoint/2010/main" val="2097354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8073E54-D085-4E2E-B9A5-A53D7E51940E}" type="slidenum">
              <a:rPr lang="en-US" smtClean="0"/>
              <a:t>19</a:t>
            </a:fld>
            <a:endParaRPr lang="en-US" dirty="0"/>
          </a:p>
        </p:txBody>
      </p:sp>
    </p:spTree>
    <p:extLst>
      <p:ext uri="{BB962C8B-B14F-4D97-AF65-F5344CB8AC3E}">
        <p14:creationId xmlns:p14="http://schemas.microsoft.com/office/powerpoint/2010/main" val="3875849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Calibri" panose="020F0502020204030204" pitchFamily="34" charset="0"/>
                <a:ea typeface="Source Sans Pro" charset="0"/>
                <a:cs typeface="Calibri" panose="020F0502020204030204" pitchFamily="34" charset="0"/>
              </a:rPr>
              <a:t>“Exchange of Plant Assets”: </a:t>
            </a:r>
            <a:r>
              <a:rPr lang="en-US" b="0" dirty="0">
                <a:latin typeface="Calibri" panose="020F0502020204030204" pitchFamily="34" charset="0"/>
                <a:ea typeface="Source Sans Pro" charset="0"/>
                <a:cs typeface="Calibri" panose="020F0502020204030204" pitchFamily="34" charset="0"/>
              </a:rPr>
              <a:t>this section is from Appendix 10A in your book</a:t>
            </a:r>
            <a:br>
              <a:rPr lang="en-US" b="1" dirty="0">
                <a:latin typeface="Calibri" panose="020F0502020204030204" pitchFamily="34" charset="0"/>
                <a:ea typeface="Source Sans Pro" charset="0"/>
                <a:cs typeface="Calibri" panose="020F0502020204030204" pitchFamily="34" charset="0"/>
              </a:rPr>
            </a:br>
            <a:endParaRPr lang="en-US" b="1" dirty="0">
              <a:latin typeface="Calibri" panose="020F0502020204030204" pitchFamily="34" charset="0"/>
              <a:ea typeface="Source Sans Pro" charset="0"/>
              <a:cs typeface="Calibri" panose="020F0502020204030204" pitchFamily="34" charset="0"/>
            </a:endParaRPr>
          </a:p>
          <a:p>
            <a:r>
              <a:rPr lang="en-US" b="1" i="1" dirty="0">
                <a:latin typeface="Calibri" panose="020F0502020204030204" pitchFamily="34" charset="0"/>
                <a:ea typeface="Source Sans Pro" charset="0"/>
                <a:cs typeface="Calibri" panose="020F0502020204030204" pitchFamily="34" charset="0"/>
              </a:rPr>
              <a:t>Supplementary notes by TBR:</a:t>
            </a:r>
          </a:p>
          <a:p>
            <a:br>
              <a:rPr lang="en-US" b="1" dirty="0">
                <a:latin typeface="Calibri" panose="020F0502020204030204" pitchFamily="34" charset="0"/>
                <a:ea typeface="Source Sans Pro" charset="0"/>
                <a:cs typeface="Calibri" panose="020F0502020204030204" pitchFamily="34" charset="0"/>
              </a:rPr>
            </a:br>
            <a:r>
              <a:rPr lang="en-US" b="1" dirty="0"/>
              <a:t>"It is likely that the timing and amount of the cash flows arising from the land will differ significantly from the cash flows arising from the equipment."</a:t>
            </a:r>
            <a:r>
              <a:rPr lang="en-US" dirty="0"/>
              <a:t> It means: </a:t>
            </a:r>
          </a:p>
          <a:p>
            <a:pPr marL="171450" indent="-171450">
              <a:buFont typeface="Arial" panose="020B0604020202020204" pitchFamily="34" charset="0"/>
              <a:buChar char="•"/>
            </a:pPr>
            <a:r>
              <a:rPr lang="en-US" b="1" dirty="0"/>
              <a:t>Timing:</a:t>
            </a:r>
            <a:r>
              <a:rPr lang="en-US" dirty="0"/>
              <a:t> The land might generate cash flows at different times compared to the equipment (e.g., land might be sold in the future, whereas equipment generates cash flows from its usage).</a:t>
            </a:r>
          </a:p>
          <a:p>
            <a:pPr marL="171450" indent="-171450">
              <a:buFont typeface="Arial" panose="020B0604020202020204" pitchFamily="34" charset="0"/>
              <a:buChar char="•"/>
            </a:pPr>
            <a:r>
              <a:rPr lang="en-US" b="1" dirty="0"/>
              <a:t>Amount:</a:t>
            </a:r>
            <a:r>
              <a:rPr lang="en-US" dirty="0"/>
              <a:t> The amount of cash flows generated by the land is expected to be different from the amount generated by the equipment.</a:t>
            </a:r>
          </a:p>
          <a:p>
            <a:pPr marL="171450" indent="-171450">
              <a:buFont typeface="Arial" panose="020B0604020202020204" pitchFamily="34" charset="0"/>
              <a:buChar char="•"/>
            </a:pPr>
            <a:r>
              <a:rPr lang="en-US" dirty="0"/>
              <a:t>In other words, the economic benefit of owning land is different than owning equipment.</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a:t>
            </a:r>
            <a:r>
              <a:rPr lang="en-US" altLang="en-US" sz="1200" b="1" dirty="0"/>
              <a:t>As a result, both Ramos and Brodhead are in different economic positions.” </a:t>
            </a:r>
            <a:r>
              <a:rPr lang="en-US" altLang="en-US" sz="1200" b="0" dirty="0"/>
              <a:t>It means:</a:t>
            </a:r>
          </a:p>
          <a:p>
            <a:pPr marL="171450" indent="-171450">
              <a:buFont typeface="Arial" panose="020B0604020202020204" pitchFamily="34" charset="0"/>
              <a:buChar char="•"/>
            </a:pPr>
            <a:r>
              <a:rPr lang="en-US" dirty="0"/>
              <a:t>The equipment has a certain function and generates cash flows through its usage whereas the land represents a different type of asset with potentially different future cash flows (e.g., from future sale, development, or rental).</a:t>
            </a:r>
            <a:endParaRPr lang="en-US" altLang="en-US" sz="1200" b="0" dirty="0"/>
          </a:p>
          <a:p>
            <a:pPr marL="171450" indent="-171450">
              <a:buFont typeface="Arial" panose="020B0604020202020204" pitchFamily="34" charset="0"/>
              <a:buChar char="•"/>
            </a:pPr>
            <a:r>
              <a:rPr lang="en-US" dirty="0"/>
              <a:t>The exchange has altered the financial landscape for both companies. They now hold different assets that will affect their future economic outcomes in distinct ways. </a:t>
            </a:r>
          </a:p>
          <a:p>
            <a:pPr marL="0" indent="0">
              <a:buFont typeface="Arial" panose="020B0604020202020204" pitchFamily="34" charset="0"/>
              <a:buNone/>
            </a:pPr>
            <a:endParaRPr lang="en-US" b="1" dirty="0"/>
          </a:p>
          <a:p>
            <a:pPr marL="0" indent="0">
              <a:buFont typeface="Arial" panose="020B0604020202020204" pitchFamily="34" charset="0"/>
              <a:buNone/>
            </a:pPr>
            <a:r>
              <a:rPr lang="en-US" b="1" dirty="0"/>
              <a:t>“Therefore, the exchange has commercial substance, and the companies recognize a gain or loss in the exchange.“ </a:t>
            </a:r>
            <a:r>
              <a:rPr lang="en-US" b="0" dirty="0"/>
              <a:t>It means:</a:t>
            </a:r>
          </a:p>
          <a:p>
            <a:pPr marL="171450" indent="-171450">
              <a:buFont typeface="Arial" panose="020B0604020202020204" pitchFamily="34" charset="0"/>
              <a:buChar char="•"/>
            </a:pPr>
            <a:r>
              <a:rPr lang="en-US" dirty="0"/>
              <a:t>This refers back to the earlier point that the cash flows of the exchanged assets are significantly different.</a:t>
            </a:r>
          </a:p>
          <a:p>
            <a:pPr marL="171450" indent="-171450">
              <a:buFont typeface="Arial" panose="020B0604020202020204" pitchFamily="34" charset="0"/>
              <a:buChar char="•"/>
            </a:pPr>
            <a:r>
              <a:rPr lang="en-US" dirty="0"/>
              <a:t>Because the exchange has commercial substance, accounting rules require that any gain or loss resulting from the transaction be recorded in the companies' financial statements.</a:t>
            </a:r>
          </a:p>
          <a:p>
            <a:pPr marL="171450" indent="-171450">
              <a:buFont typeface="Arial" panose="020B0604020202020204" pitchFamily="34" charset="0"/>
              <a:buChar char="•"/>
            </a:pPr>
            <a:r>
              <a:rPr lang="en-US" dirty="0"/>
              <a:t>This gain or loss is the difference between the fair value of what was received and the book value of what was given up </a:t>
            </a:r>
            <a:r>
              <a:rPr lang="en-US" i="1" dirty="0"/>
              <a:t>(refer to the subsequent slides)</a:t>
            </a:r>
            <a:r>
              <a:rPr lang="en-US" dirty="0"/>
              <a:t>.</a:t>
            </a:r>
            <a:endParaRPr lang="en-US" b="1" dirty="0"/>
          </a:p>
          <a:p>
            <a:pPr marL="0" indent="0">
              <a:buFont typeface="Arial" panose="020B0604020202020204" pitchFamily="34" charset="0"/>
              <a:buNone/>
            </a:pPr>
            <a:endParaRPr lang="en-US" b="1" dirty="0"/>
          </a:p>
          <a:p>
            <a:pPr marL="0" indent="0">
              <a:buFont typeface="Arial" panose="020B0604020202020204" pitchFamily="34" charset="0"/>
              <a:buNone/>
            </a:pPr>
            <a:r>
              <a:rPr lang="en-US" altLang="en-US" sz="1200" b="1" dirty="0"/>
              <a:t>“even when similar assets are exchanged”. </a:t>
            </a:r>
            <a:r>
              <a:rPr lang="en-US" altLang="en-US" sz="1200" dirty="0"/>
              <a:t>It means:</a:t>
            </a:r>
            <a:endParaRPr lang="en-US" b="1" dirty="0"/>
          </a:p>
          <a:p>
            <a:pPr marL="171450" indent="-171450">
              <a:buFont typeface="Arial" panose="020B0604020202020204" pitchFamily="34" charset="0"/>
              <a:buChar char="•"/>
            </a:pPr>
            <a:r>
              <a:rPr lang="en-US" dirty="0"/>
              <a:t>Even when </a:t>
            </a:r>
            <a:r>
              <a:rPr lang="en-US" b="0" dirty="0"/>
              <a:t>similar assets </a:t>
            </a:r>
            <a:r>
              <a:rPr lang="en-US" dirty="0"/>
              <a:t>are exchanged, there are often differences in the condition, age, or functionality of the assets that will cause a change in future cash flows. </a:t>
            </a:r>
          </a:p>
          <a:p>
            <a:pPr marL="171450" indent="-171450">
              <a:buFont typeface="Arial" panose="020B0604020202020204" pitchFamily="34" charset="0"/>
              <a:buChar char="•"/>
            </a:pPr>
            <a:r>
              <a:rPr lang="en-US" dirty="0"/>
              <a:t>For example, a company might trade in an old, inefficient machine for a newer, more productive one. </a:t>
            </a:r>
          </a:p>
          <a:p>
            <a:pPr marL="171450" indent="-171450">
              <a:buFont typeface="Arial" panose="020B0604020202020204" pitchFamily="34" charset="0"/>
              <a:buChar char="•"/>
            </a:pPr>
            <a:r>
              <a:rPr lang="en-US" dirty="0"/>
              <a:t>This exchange is likely to increase future production and reduce operating costs, giving it commercial substance.</a:t>
            </a:r>
          </a:p>
          <a:p>
            <a:pPr marL="0" indent="0">
              <a:buFont typeface="Arial" panose="020B0604020202020204" pitchFamily="34" charset="0"/>
              <a:buNone/>
            </a:pPr>
            <a:endParaRPr lang="en-US" b="1" dirty="0"/>
          </a:p>
        </p:txBody>
      </p:sp>
      <p:sp>
        <p:nvSpPr>
          <p:cNvPr id="4" name="Slide Number Placeholder 3"/>
          <p:cNvSpPr>
            <a:spLocks noGrp="1"/>
          </p:cNvSpPr>
          <p:nvPr>
            <p:ph type="sldNum" sz="quarter" idx="5"/>
          </p:nvPr>
        </p:nvSpPr>
        <p:spPr/>
        <p:txBody>
          <a:bodyPr/>
          <a:lstStyle/>
          <a:p>
            <a:fld id="{A8073E54-D085-4E2E-B9A5-A53D7E51940E}" type="slidenum">
              <a:rPr lang="en-US" smtClean="0"/>
              <a:t>21</a:t>
            </a:fld>
            <a:endParaRPr lang="en-US" dirty="0"/>
          </a:p>
        </p:txBody>
      </p:sp>
    </p:spTree>
    <p:extLst>
      <p:ext uri="{BB962C8B-B14F-4D97-AF65-F5344CB8AC3E}">
        <p14:creationId xmlns:p14="http://schemas.microsoft.com/office/powerpoint/2010/main" val="3671690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Supplementary notes by TBR: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Eliminate </a:t>
            </a:r>
            <a:r>
              <a:rPr lang="en-US" altLang="en-US" b="0" dirty="0"/>
              <a:t>(book value of the) </a:t>
            </a:r>
            <a:r>
              <a:rPr lang="en-US" altLang="en-US" b="1" dirty="0"/>
              <a:t>asset </a:t>
            </a:r>
            <a:r>
              <a:rPr lang="en-US" altLang="en-US" dirty="0"/>
              <a:t>by (1) debiting Accumulated Depreciation, and (2) crediting the asset account. (from first slide of </a:t>
            </a:r>
            <a:r>
              <a:rPr lang="en-US" b="1" dirty="0">
                <a:ea typeface="Source Sans Pro" charset="0"/>
                <a:cs typeface="Calibri" panose="020F0502020204030204" pitchFamily="34" charset="0"/>
              </a:rPr>
              <a:t>Plant Asset Disposals</a:t>
            </a:r>
            <a:r>
              <a:rPr lang="en-US" b="0" dirty="0">
                <a:ea typeface="Source Sans Pro" charset="0"/>
                <a:cs typeface="Calibri" panose="020F0502020204030204" pitchFamily="34" charset="0"/>
              </a:rPr>
              <a:t>)</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Extra</a:t>
            </a:r>
            <a:r>
              <a:rPr lang="en-US" altLang="en-US" dirty="0"/>
              <a:t>: I am getting a new equipment worth $43,000 (= fair value of old equipment + cash paid). I am giving up an old equipment worth $42,000 (BV = cost – acc dep) + cash of $17,000. Therefore, $43,000 – ($42,000 + $17,000) = $16,000 (loss)</a:t>
            </a:r>
          </a:p>
        </p:txBody>
      </p:sp>
      <p:sp>
        <p:nvSpPr>
          <p:cNvPr id="4" name="Slide Number Placeholder 3"/>
          <p:cNvSpPr>
            <a:spLocks noGrp="1"/>
          </p:cNvSpPr>
          <p:nvPr>
            <p:ph type="sldNum" sz="quarter" idx="5"/>
          </p:nvPr>
        </p:nvSpPr>
        <p:spPr/>
        <p:txBody>
          <a:bodyPr/>
          <a:lstStyle/>
          <a:p>
            <a:fld id="{A8073E54-D085-4E2E-B9A5-A53D7E51940E}" type="slidenum">
              <a:rPr lang="en-US" smtClean="0"/>
              <a:t>23</a:t>
            </a:fld>
            <a:endParaRPr lang="en-US" dirty="0"/>
          </a:p>
        </p:txBody>
      </p:sp>
    </p:spTree>
    <p:extLst>
      <p:ext uri="{BB962C8B-B14F-4D97-AF65-F5344CB8AC3E}">
        <p14:creationId xmlns:p14="http://schemas.microsoft.com/office/powerpoint/2010/main" val="769816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Eliminate </a:t>
            </a:r>
            <a:r>
              <a:rPr lang="en-US" altLang="en-US" b="0" dirty="0"/>
              <a:t>(book value of the) </a:t>
            </a:r>
            <a:r>
              <a:rPr lang="en-US" altLang="en-US" b="1" dirty="0"/>
              <a:t>asset </a:t>
            </a:r>
            <a:r>
              <a:rPr lang="en-US" altLang="en-US" dirty="0"/>
              <a:t>by (1) debiting Accumulated Depreciation, and (2) crediting the asset account. (from first slide of </a:t>
            </a:r>
            <a:r>
              <a:rPr lang="en-US" b="1" dirty="0">
                <a:ea typeface="Source Sans Pro" charset="0"/>
                <a:cs typeface="Calibri" panose="020F0502020204030204" pitchFamily="34" charset="0"/>
              </a:rPr>
              <a:t>Plant Asset Disposals</a:t>
            </a:r>
            <a:r>
              <a:rPr lang="en-US" b="0" dirty="0">
                <a:ea typeface="Source Sans Pro" charset="0"/>
                <a:cs typeface="Calibri" panose="020F0502020204030204" pitchFamily="34" charset="0"/>
              </a:rPr>
              <a:t>)</a:t>
            </a:r>
            <a:endParaRPr lang="en-US" alt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25</a:t>
            </a:fld>
            <a:endParaRPr lang="en-US" dirty="0"/>
          </a:p>
        </p:txBody>
      </p:sp>
    </p:spTree>
    <p:extLst>
      <p:ext uri="{BB962C8B-B14F-4D97-AF65-F5344CB8AC3E}">
        <p14:creationId xmlns:p14="http://schemas.microsoft.com/office/powerpoint/2010/main" val="285060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Supplementary notes by TBR:</a:t>
            </a:r>
          </a:p>
          <a:p>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a:solidFill>
                  <a:schemeClr val="tx1"/>
                </a:solidFill>
                <a:effectLst/>
                <a:latin typeface="+mn-lt"/>
                <a:ea typeface="+mn-ea"/>
                <a:cs typeface="+mn-cs"/>
              </a:rPr>
              <a:t>Standing Timber </a:t>
            </a:r>
            <a:r>
              <a:rPr lang="en-US" sz="1200" b="0" i="0" kern="1200" dirty="0">
                <a:solidFill>
                  <a:schemeClr val="tx1"/>
                </a:solidFill>
                <a:effectLst/>
                <a:latin typeface="+mn-lt"/>
                <a:ea typeface="+mn-ea"/>
                <a:cs typeface="+mn-cs"/>
              </a:rPr>
              <a:t>means trees that are still growing in the forest. It means the trees haven't been cut down yet. So, it's the raw material for lumber </a:t>
            </a:r>
            <a:r>
              <a:rPr lang="en-US" sz="1200" b="0" i="1" kern="1200" dirty="0">
                <a:solidFill>
                  <a:schemeClr val="tx1"/>
                </a:solidFill>
                <a:effectLst/>
                <a:latin typeface="+mn-lt"/>
                <a:ea typeface="+mn-ea"/>
                <a:cs typeface="+mn-cs"/>
              </a:rPr>
              <a:t>(wood that has been processed into uniform and useful sizes)</a:t>
            </a:r>
            <a:r>
              <a:rPr lang="en-US" sz="1200" b="0" i="0" kern="1200" dirty="0">
                <a:solidFill>
                  <a:schemeClr val="tx1"/>
                </a:solidFill>
                <a:effectLst/>
                <a:latin typeface="+mn-lt"/>
                <a:ea typeface="+mn-ea"/>
                <a:cs typeface="+mn-cs"/>
              </a:rPr>
              <a:t> and other wood products, while it is still in its natural environment.</a:t>
            </a:r>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26</a:t>
            </a:fld>
            <a:endParaRPr lang="en-US" dirty="0"/>
          </a:p>
        </p:txBody>
      </p:sp>
    </p:spTree>
    <p:extLst>
      <p:ext uri="{BB962C8B-B14F-4D97-AF65-F5344CB8AC3E}">
        <p14:creationId xmlns:p14="http://schemas.microsoft.com/office/powerpoint/2010/main" val="3700707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28</a:t>
            </a:fld>
            <a:endParaRPr lang="en-US" dirty="0"/>
          </a:p>
        </p:txBody>
      </p:sp>
    </p:spTree>
    <p:extLst>
      <p:ext uri="{BB962C8B-B14F-4D97-AF65-F5344CB8AC3E}">
        <p14:creationId xmlns:p14="http://schemas.microsoft.com/office/powerpoint/2010/main" val="1362155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Supplementary notes by TBR:</a:t>
            </a:r>
          </a:p>
          <a:p>
            <a:endParaRPr lang="en-US" i="1" dirty="0"/>
          </a:p>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trademark </a:t>
            </a:r>
            <a:r>
              <a:rPr lang="en-US" sz="1200" b="0" i="0" kern="1200" dirty="0">
                <a:solidFill>
                  <a:schemeClr val="tx1"/>
                </a:solidFill>
                <a:effectLst/>
                <a:latin typeface="+mn-lt"/>
                <a:ea typeface="+mn-ea"/>
                <a:cs typeface="+mn-cs"/>
              </a:rPr>
              <a:t>is a form of intellectual property that consists of a word, phrase, symbol, design, or a combination that identifies a product or service from a particular source and distinguishes it from others.</a:t>
            </a:r>
          </a:p>
          <a:p>
            <a:r>
              <a:rPr lang="en-US" dirty="0"/>
              <a:t>Nike has several very recognizable trademarks. The most prominent of these are:   </a:t>
            </a:r>
          </a:p>
          <a:p>
            <a:pPr marL="171450" indent="-171450">
              <a:buFont typeface="Arial" panose="020B0604020202020204" pitchFamily="34" charset="0"/>
              <a:buChar char="•"/>
            </a:pPr>
            <a:r>
              <a:rPr lang="en-US" b="1" dirty="0"/>
              <a:t>The Swoosh:</a:t>
            </a:r>
            <a:r>
              <a:rPr lang="en-US" dirty="0"/>
              <a:t> This is the iconic checkmark logo.   </a:t>
            </a:r>
          </a:p>
          <a:p>
            <a:pPr marL="171450" indent="-171450">
              <a:buFont typeface="Arial" panose="020B0604020202020204" pitchFamily="34" charset="0"/>
              <a:buChar char="•"/>
            </a:pPr>
            <a:r>
              <a:rPr lang="en-US" b="1" dirty="0"/>
              <a:t>"Just Do It":</a:t>
            </a:r>
            <a:r>
              <a:rPr lang="en-US" dirty="0"/>
              <a:t> This is their well-known slogan.   </a:t>
            </a:r>
          </a:p>
          <a:p>
            <a:r>
              <a:rPr lang="en-US" dirty="0"/>
              <a:t>Essentially, these are the key elements that make the Nike brand instantly recognizable worldwide.</a:t>
            </a:r>
          </a:p>
          <a:p>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A patent protects inventions and designs, like engines or a phone casing, and a copyright protects original artistic and literary works, like songs or books.</a:t>
            </a:r>
            <a:endParaRPr lang="en-US" i="1" dirty="0"/>
          </a:p>
          <a:p>
            <a:endParaRPr lang="en-US" i="1" dirty="0"/>
          </a:p>
        </p:txBody>
      </p:sp>
      <p:sp>
        <p:nvSpPr>
          <p:cNvPr id="4" name="Slide Number Placeholder 3"/>
          <p:cNvSpPr>
            <a:spLocks noGrp="1"/>
          </p:cNvSpPr>
          <p:nvPr>
            <p:ph type="sldNum" sz="quarter" idx="5"/>
          </p:nvPr>
        </p:nvSpPr>
        <p:spPr/>
        <p:txBody>
          <a:bodyPr/>
          <a:lstStyle/>
          <a:p>
            <a:fld id="{A8073E54-D085-4E2E-B9A5-A53D7E51940E}" type="slidenum">
              <a:rPr lang="en-US" smtClean="0"/>
              <a:t>29</a:t>
            </a:fld>
            <a:endParaRPr lang="en-US" dirty="0"/>
          </a:p>
        </p:txBody>
      </p:sp>
    </p:spTree>
    <p:extLst>
      <p:ext uri="{BB962C8B-B14F-4D97-AF65-F5344CB8AC3E}">
        <p14:creationId xmlns:p14="http://schemas.microsoft.com/office/powerpoint/2010/main" val="1261486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30</a:t>
            </a:fld>
            <a:endParaRPr lang="en-US" dirty="0"/>
          </a:p>
        </p:txBody>
      </p:sp>
    </p:spTree>
    <p:extLst>
      <p:ext uri="{BB962C8B-B14F-4D97-AF65-F5344CB8AC3E}">
        <p14:creationId xmlns:p14="http://schemas.microsoft.com/office/powerpoint/2010/main" val="3546234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Amortization similar to patents</a:t>
            </a:r>
          </a:p>
        </p:txBody>
      </p:sp>
      <p:sp>
        <p:nvSpPr>
          <p:cNvPr id="4" name="Slide Number Placeholder 3"/>
          <p:cNvSpPr>
            <a:spLocks noGrp="1"/>
          </p:cNvSpPr>
          <p:nvPr>
            <p:ph type="sldNum" sz="quarter" idx="5"/>
          </p:nvPr>
        </p:nvSpPr>
        <p:spPr/>
        <p:txBody>
          <a:bodyPr/>
          <a:lstStyle/>
          <a:p>
            <a:fld id="{A8073E54-D085-4E2E-B9A5-A53D7E51940E}" type="slidenum">
              <a:rPr lang="en-US" smtClean="0"/>
              <a:t>33</a:t>
            </a:fld>
            <a:endParaRPr lang="en-US" dirty="0"/>
          </a:p>
        </p:txBody>
      </p:sp>
    </p:spTree>
    <p:extLst>
      <p:ext uri="{BB962C8B-B14F-4D97-AF65-F5344CB8AC3E}">
        <p14:creationId xmlns:p14="http://schemas.microsoft.com/office/powerpoint/2010/main" val="1929690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Supplementary notes by TBR:</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Another type of franchise is a </a:t>
            </a:r>
            <a:r>
              <a:rPr lang="en-US" sz="1200" b="1" i="0" u="none" strike="noStrike" kern="1200" baseline="0" dirty="0">
                <a:solidFill>
                  <a:schemeClr val="tx1"/>
                </a:solidFill>
                <a:latin typeface="+mn-lt"/>
                <a:ea typeface="+mn-ea"/>
                <a:cs typeface="+mn-cs"/>
              </a:rPr>
              <a:t>license</a:t>
            </a:r>
            <a:r>
              <a:rPr lang="en-US" sz="1200" b="0" i="0" u="none" strike="noStrike" kern="1200" baseline="0" dirty="0">
                <a:solidFill>
                  <a:schemeClr val="tx1"/>
                </a:solidFill>
                <a:latin typeface="+mn-lt"/>
                <a:ea typeface="+mn-ea"/>
                <a:cs typeface="+mn-cs"/>
              </a:rPr>
              <a:t>. A license granted by a governmental body permits a company to use public property in performing its services. Examples are the use of city streets for a bus line or taxi service, the use of public land for telephone and electric lines, and the use of airwaves for radio or TV broadcasting. In a recent license agreement, </a:t>
            </a:r>
            <a:r>
              <a:rPr lang="en-US" sz="1200" b="1" i="0" u="none" strike="noStrike" kern="1200" baseline="0" dirty="0">
                <a:solidFill>
                  <a:schemeClr val="tx1"/>
                </a:solidFill>
                <a:latin typeface="+mn-lt"/>
                <a:ea typeface="+mn-ea"/>
                <a:cs typeface="+mn-cs"/>
              </a:rPr>
              <a:t>FOX</a:t>
            </a:r>
            <a:r>
              <a:rPr lang="en-US" sz="1200" b="0" i="0" u="none" strike="noStrike" kern="1200" baseline="0" dirty="0">
                <a:solidFill>
                  <a:schemeClr val="tx1"/>
                </a:solidFill>
                <a:latin typeface="+mn-lt"/>
                <a:ea typeface="+mn-ea"/>
                <a:cs typeface="+mn-cs"/>
              </a:rPr>
              <a:t>, </a:t>
            </a:r>
            <a:r>
              <a:rPr lang="en-US" sz="1200" b="1" i="0" u="none" strike="noStrike" kern="1200" baseline="0" dirty="0">
                <a:solidFill>
                  <a:schemeClr val="tx1"/>
                </a:solidFill>
                <a:latin typeface="+mn-lt"/>
                <a:ea typeface="+mn-ea"/>
                <a:cs typeface="+mn-cs"/>
              </a:rPr>
              <a:t>CBS</a:t>
            </a:r>
            <a:r>
              <a:rPr lang="en-US" sz="1200" b="0" i="0" u="none" strike="noStrike" kern="1200" baseline="0" dirty="0">
                <a:solidFill>
                  <a:schemeClr val="tx1"/>
                </a:solidFill>
                <a:latin typeface="+mn-lt"/>
                <a:ea typeface="+mn-ea"/>
                <a:cs typeface="+mn-cs"/>
              </a:rPr>
              <a:t>, and </a:t>
            </a:r>
            <a:r>
              <a:rPr lang="en-US" sz="1200" b="1" i="0" u="none" strike="noStrike" kern="1200" baseline="0" dirty="0">
                <a:solidFill>
                  <a:schemeClr val="tx1"/>
                </a:solidFill>
                <a:latin typeface="+mn-lt"/>
                <a:ea typeface="+mn-ea"/>
                <a:cs typeface="+mn-cs"/>
              </a:rPr>
              <a:t>NBC </a:t>
            </a:r>
            <a:r>
              <a:rPr lang="en-US" sz="1200" b="0" i="0" u="none" strike="noStrike" kern="1200" baseline="0" dirty="0">
                <a:solidFill>
                  <a:schemeClr val="tx1"/>
                </a:solidFill>
                <a:latin typeface="+mn-lt"/>
                <a:ea typeface="+mn-ea"/>
                <a:cs typeface="+mn-cs"/>
              </a:rPr>
              <a:t>agreed to pay $27.9 billion for the right to broadcast </a:t>
            </a:r>
            <a:r>
              <a:rPr lang="en-US" sz="1200" b="1" i="0" u="none" strike="noStrike" kern="1200" baseline="0" dirty="0">
                <a:solidFill>
                  <a:schemeClr val="tx1"/>
                </a:solidFill>
                <a:latin typeface="+mn-lt"/>
                <a:ea typeface="+mn-ea"/>
                <a:cs typeface="+mn-cs"/>
              </a:rPr>
              <a:t>NFL </a:t>
            </a:r>
            <a:r>
              <a:rPr lang="en-US" sz="1200" b="0" i="0" u="none" strike="noStrike" kern="1200" baseline="0" dirty="0">
                <a:solidFill>
                  <a:schemeClr val="tx1"/>
                </a:solidFill>
                <a:latin typeface="+mn-lt"/>
                <a:ea typeface="+mn-ea"/>
                <a:cs typeface="+mn-cs"/>
              </a:rPr>
              <a:t>football games over an eight-year period.</a:t>
            </a:r>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35</a:t>
            </a:fld>
            <a:endParaRPr lang="en-US" dirty="0"/>
          </a:p>
        </p:txBody>
      </p:sp>
    </p:spTree>
    <p:extLst>
      <p:ext uri="{BB962C8B-B14F-4D97-AF65-F5344CB8AC3E}">
        <p14:creationId xmlns:p14="http://schemas.microsoft.com/office/powerpoint/2010/main" val="2961013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36</a:t>
            </a:fld>
            <a:endParaRPr lang="en-US" dirty="0"/>
          </a:p>
        </p:txBody>
      </p:sp>
    </p:spTree>
    <p:extLst>
      <p:ext uri="{BB962C8B-B14F-4D97-AF65-F5344CB8AC3E}">
        <p14:creationId xmlns:p14="http://schemas.microsoft.com/office/powerpoint/2010/main" val="1865050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Supplementary notes by TBR:</a:t>
            </a:r>
          </a:p>
          <a:p>
            <a:endParaRPr lang="en-US" sz="1200" b="0" i="0" u="none" strike="noStrike" kern="1200" baseline="0" dirty="0">
              <a:solidFill>
                <a:schemeClr val="tx1"/>
              </a:solidFill>
              <a:latin typeface="+mn-lt"/>
              <a:ea typeface="+mn-ea"/>
              <a:cs typeface="+mn-cs"/>
            </a:endParaRPr>
          </a:p>
          <a:p>
            <a:r>
              <a:rPr lang="en-US" altLang="en-US" sz="1200" b="1" dirty="0"/>
              <a:t>“Only recorded</a:t>
            </a:r>
            <a:r>
              <a:rPr lang="en-US" altLang="en-US" sz="1200" dirty="0"/>
              <a:t> when an </a:t>
            </a:r>
            <a:r>
              <a:rPr lang="en-US" altLang="en-US" sz="1200" b="1" dirty="0"/>
              <a:t>entire business is purchased” </a:t>
            </a:r>
            <a:r>
              <a:rPr lang="en-US" altLang="en-US" sz="1200" b="0" dirty="0"/>
              <a:t>means</a:t>
            </a:r>
            <a:r>
              <a:rPr lang="en-US" altLang="en-US" sz="1200" b="1" dirty="0"/>
              <a:t>:</a:t>
            </a:r>
            <a:endParaRPr lang="en-US" sz="1200" b="0" i="0" u="none" strike="noStrike" kern="1200" baseline="0" dirty="0">
              <a:solidFill>
                <a:schemeClr val="tx1"/>
              </a:solidFill>
              <a:latin typeface="+mn-lt"/>
              <a:ea typeface="+mn-ea"/>
              <a:cs typeface="+mn-cs"/>
            </a:endParaRP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Goodwill is unique. Unlike assets such as investments and plant assets, which can be sold </a:t>
            </a:r>
            <a:r>
              <a:rPr lang="en-US" sz="1200" b="1" i="0" u="none" strike="noStrike" kern="1200" baseline="0" dirty="0">
                <a:solidFill>
                  <a:schemeClr val="tx1"/>
                </a:solidFill>
                <a:latin typeface="+mn-lt"/>
                <a:ea typeface="+mn-ea"/>
                <a:cs typeface="+mn-cs"/>
              </a:rPr>
              <a:t>individually </a:t>
            </a:r>
            <a:r>
              <a:rPr lang="en-US" sz="1200" b="0" i="0" u="none" strike="noStrike" kern="1200" baseline="0" dirty="0">
                <a:solidFill>
                  <a:schemeClr val="tx1"/>
                </a:solidFill>
                <a:latin typeface="+mn-lt"/>
                <a:ea typeface="+mn-ea"/>
                <a:cs typeface="+mn-cs"/>
              </a:rPr>
              <a:t>in the marketplace, goodwill can be identified only with the business </a:t>
            </a:r>
            <a:r>
              <a:rPr lang="en-US" sz="1200" b="1" i="0" u="none" strike="noStrike" kern="1200" baseline="0" dirty="0">
                <a:solidFill>
                  <a:schemeClr val="tx1"/>
                </a:solidFill>
                <a:latin typeface="+mn-lt"/>
                <a:ea typeface="+mn-ea"/>
                <a:cs typeface="+mn-cs"/>
              </a:rPr>
              <a:t>as a whole</a:t>
            </a:r>
            <a:r>
              <a:rPr lang="en-US" sz="1200" b="0" i="0" u="none" strike="noStrike" kern="1200" baseline="0" dirty="0">
                <a:solidFill>
                  <a:schemeClr val="tx1"/>
                </a:solidFill>
                <a:latin typeface="+mn-lt"/>
                <a:ea typeface="+mn-ea"/>
                <a:cs typeface="+mn-cs"/>
              </a:rPr>
              <a:t>.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If goodwill can be identified only with the business as a whole, how can its amount be determined? One could try to put a dollar value on the factors listed above (exceptional management, desirable location, and so on). But, the results would be very subjective, and such subjective valuations would not contribute to the reliability of financial statements. </a:t>
            </a:r>
            <a:r>
              <a:rPr lang="en-US" sz="1200" b="1" i="0" u="none" strike="noStrike" kern="1200" baseline="0" dirty="0">
                <a:solidFill>
                  <a:schemeClr val="tx1"/>
                </a:solidFill>
                <a:latin typeface="+mn-lt"/>
                <a:ea typeface="+mn-ea"/>
                <a:cs typeface="+mn-cs"/>
              </a:rPr>
              <a:t>Therefore, companies record goodwill only when an entire business is purchased. </a:t>
            </a:r>
          </a:p>
          <a:p>
            <a:pPr marL="171450" indent="-171450">
              <a:buFont typeface="Arial" panose="020B0604020202020204" pitchFamily="34" charset="0"/>
              <a:buChar char="•"/>
            </a:pPr>
            <a:endParaRPr lang="en-US" sz="1200" b="1"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i="0" u="none" strike="noStrike" kern="1200" baseline="0" dirty="0">
                <a:solidFill>
                  <a:schemeClr val="tx1"/>
                </a:solidFill>
                <a:latin typeface="+mn-lt"/>
                <a:ea typeface="+mn-ea"/>
                <a:cs typeface="+mn-cs"/>
              </a:rPr>
              <a:t>“</a:t>
            </a:r>
            <a:r>
              <a:rPr lang="en-US" altLang="en-US" sz="1200" dirty="0"/>
              <a:t>Goodwill is recorded as excess of </a:t>
            </a:r>
            <a:r>
              <a:rPr lang="en-US" altLang="en-US" sz="1200" b="1" dirty="0">
                <a:solidFill>
                  <a:schemeClr val="accent2"/>
                </a:solidFill>
              </a:rPr>
              <a:t>purchase price over fair value of net assets</a:t>
            </a:r>
            <a:r>
              <a:rPr lang="en-US" altLang="en-US" sz="1200" dirty="0"/>
              <a:t> acquired” means:</a:t>
            </a:r>
            <a:endParaRPr lang="en-US" sz="1200" b="1" i="0" u="none" strike="noStrike" kern="1200" baseline="0" dirty="0">
              <a:solidFill>
                <a:schemeClr val="tx1"/>
              </a:solidFill>
              <a:latin typeface="+mn-lt"/>
              <a:ea typeface="+mn-ea"/>
              <a:cs typeface="+mn-cs"/>
            </a:endParaRPr>
          </a:p>
          <a:p>
            <a:pPr marL="0" indent="0">
              <a:buFont typeface="Arial" panose="020B0604020202020204" pitchFamily="34" charset="0"/>
              <a:buNone/>
            </a:pPr>
            <a:endParaRPr lang="en-US" altLang="en-US" sz="1200" b="0" i="0" u="none" strike="noStrike" kern="1200" baseline="0" dirty="0">
              <a:solidFill>
                <a:schemeClr val="tx1"/>
              </a:solidFill>
              <a:latin typeface="+mn-lt"/>
              <a:ea typeface="+mn-ea"/>
              <a:cs typeface="+mn-cs"/>
            </a:endParaRPr>
          </a:p>
          <a:p>
            <a:r>
              <a:rPr lang="en-US" dirty="0"/>
              <a:t>Goodwill arises when a company acquires another company for a purchase price that is higher than the fair value of its net identifiable assets. Here's a simplified example to illustrate the calculation:</a:t>
            </a:r>
          </a:p>
          <a:p>
            <a:endParaRPr lang="en-US" b="1" dirty="0"/>
          </a:p>
          <a:p>
            <a:r>
              <a:rPr lang="en-US" b="1" dirty="0"/>
              <a:t>Scenario:</a:t>
            </a:r>
            <a:endParaRPr lang="en-US" dirty="0"/>
          </a:p>
          <a:p>
            <a:pPr marL="171450" indent="-171450">
              <a:buFont typeface="Arial" panose="020B0604020202020204" pitchFamily="34" charset="0"/>
              <a:buChar char="•"/>
            </a:pPr>
            <a:r>
              <a:rPr lang="en-US" dirty="0"/>
              <a:t>Company A acquires Company B.</a:t>
            </a:r>
          </a:p>
          <a:p>
            <a:pPr marL="171450" indent="-171450">
              <a:buFont typeface="Arial" panose="020B0604020202020204" pitchFamily="34" charset="0"/>
              <a:buChar char="•"/>
            </a:pPr>
            <a:r>
              <a:rPr lang="en-US" dirty="0"/>
              <a:t>Company A pays $1,000,000 for Company B.</a:t>
            </a:r>
          </a:p>
          <a:p>
            <a:pPr marL="171450" indent="-171450">
              <a:buFont typeface="Arial" panose="020B0604020202020204" pitchFamily="34" charset="0"/>
              <a:buChar char="•"/>
            </a:pPr>
            <a:r>
              <a:rPr lang="en-US" dirty="0"/>
              <a:t>Company B's identifiable assets (like equipment, inventory, etc.) are valued at $800,000.</a:t>
            </a:r>
          </a:p>
          <a:p>
            <a:pPr marL="171450" indent="-171450">
              <a:buFont typeface="Arial" panose="020B0604020202020204" pitchFamily="34" charset="0"/>
              <a:buChar char="•"/>
            </a:pPr>
            <a:r>
              <a:rPr lang="en-US" dirty="0"/>
              <a:t>Company B's liabilities (like debts) are valued at $100,000.</a:t>
            </a:r>
          </a:p>
          <a:p>
            <a:r>
              <a:rPr lang="en-US" b="1" dirty="0"/>
              <a:t>Calculation:</a:t>
            </a:r>
            <a:endParaRPr lang="en-US" dirty="0"/>
          </a:p>
          <a:p>
            <a:pPr marL="228600" indent="-228600">
              <a:buFont typeface="+mj-lt"/>
              <a:buAutoNum type="arabicPeriod"/>
            </a:pPr>
            <a:r>
              <a:rPr lang="en-US" b="1" dirty="0"/>
              <a:t>Calculate Net Identifiable Assets:</a:t>
            </a:r>
            <a:endParaRPr lang="en-US" dirty="0"/>
          </a:p>
          <a:p>
            <a:pPr marL="628650" lvl="1" indent="-171450">
              <a:buFont typeface="Arial" panose="020B0604020202020204" pitchFamily="34" charset="0"/>
              <a:buChar char="•"/>
            </a:pPr>
            <a:r>
              <a:rPr lang="en-US" dirty="0"/>
              <a:t>Net identifiable assets = Assets - Liabilities</a:t>
            </a:r>
          </a:p>
          <a:p>
            <a:pPr marL="628650" lvl="1" indent="-171450">
              <a:buFont typeface="Arial" panose="020B0604020202020204" pitchFamily="34" charset="0"/>
              <a:buChar char="•"/>
            </a:pPr>
            <a:r>
              <a:rPr lang="en-US" dirty="0"/>
              <a:t>Net identifiable assets = $800,000 - $100,000 = $700,000</a:t>
            </a:r>
          </a:p>
          <a:p>
            <a:pPr marL="228600" indent="-228600">
              <a:buFont typeface="+mj-lt"/>
              <a:buAutoNum type="arabicPeriod"/>
            </a:pPr>
            <a:r>
              <a:rPr lang="en-US" b="1" dirty="0"/>
              <a:t>Calculate Goodwill:</a:t>
            </a:r>
            <a:endParaRPr lang="en-US" dirty="0"/>
          </a:p>
          <a:p>
            <a:pPr marL="628650" lvl="1" indent="-171450">
              <a:buFont typeface="Arial" panose="020B0604020202020204" pitchFamily="34" charset="0"/>
              <a:buChar char="•"/>
            </a:pPr>
            <a:r>
              <a:rPr lang="en-US" dirty="0"/>
              <a:t>Goodwill = Purchase Price - Net Identifiable Assets</a:t>
            </a:r>
          </a:p>
          <a:p>
            <a:pPr marL="628650" lvl="1" indent="-171450">
              <a:buFont typeface="Arial" panose="020B0604020202020204" pitchFamily="34" charset="0"/>
              <a:buChar char="•"/>
            </a:pPr>
            <a:r>
              <a:rPr lang="en-US" dirty="0"/>
              <a:t>Goodwill = $1,000,000 - $700,000 = $300,000</a:t>
            </a:r>
          </a:p>
          <a:p>
            <a:r>
              <a:rPr lang="en-US" b="1" dirty="0"/>
              <a:t>Therefore, the goodwill in this transaction is $300,000.</a:t>
            </a:r>
          </a:p>
          <a:p>
            <a:endParaRPr lang="en-US" dirty="0"/>
          </a:p>
          <a:p>
            <a:r>
              <a:rPr lang="en-US" b="1" dirty="0"/>
              <a:t>What this means:</a:t>
            </a:r>
            <a:endParaRPr lang="en-US" dirty="0"/>
          </a:p>
          <a:p>
            <a:pPr marL="171450" indent="-171450">
              <a:buFont typeface="Arial" panose="020B0604020202020204" pitchFamily="34" charset="0"/>
              <a:buChar char="•"/>
            </a:pPr>
            <a:r>
              <a:rPr lang="en-US" dirty="0"/>
              <a:t>Company A paid an extra $300,000 for Company B. This extra amount represents intangible assets that are difficult to quantify, such as: </a:t>
            </a:r>
          </a:p>
          <a:p>
            <a:pPr marL="628650" lvl="1" indent="-171450">
              <a:buFont typeface="Arial" panose="020B0604020202020204" pitchFamily="34" charset="0"/>
              <a:buChar char="•"/>
            </a:pPr>
            <a:r>
              <a:rPr lang="en-US" dirty="0"/>
              <a:t>Brand reputation</a:t>
            </a:r>
          </a:p>
          <a:p>
            <a:pPr marL="628650" lvl="1" indent="-171450">
              <a:buFont typeface="Arial" panose="020B0604020202020204" pitchFamily="34" charset="0"/>
              <a:buChar char="•"/>
            </a:pPr>
            <a:r>
              <a:rPr lang="en-US" dirty="0"/>
              <a:t>Customer loyalty</a:t>
            </a:r>
          </a:p>
          <a:p>
            <a:pPr marL="628650" lvl="1" indent="-171450">
              <a:buFont typeface="Arial" panose="020B0604020202020204" pitchFamily="34" charset="0"/>
              <a:buChar char="•"/>
            </a:pPr>
            <a:r>
              <a:rPr lang="en-US" dirty="0"/>
              <a:t>Strong management</a:t>
            </a:r>
          </a:p>
          <a:p>
            <a:pPr marL="628650" lvl="1" indent="-171450">
              <a:buFont typeface="Arial" panose="020B0604020202020204" pitchFamily="34" charset="0"/>
              <a:buChar char="•"/>
            </a:pPr>
            <a:r>
              <a:rPr lang="en-US" dirty="0"/>
              <a:t>Existing business relationships.</a:t>
            </a:r>
          </a:p>
          <a:p>
            <a:r>
              <a:rPr lang="en-US" dirty="0"/>
              <a:t>In essence, goodwill is the premium paid for the "intangible value" of a company.</a:t>
            </a:r>
          </a:p>
          <a:p>
            <a:pPr marL="0" indent="0">
              <a:buFont typeface="Arial" panose="020B0604020202020204" pitchFamily="34" charset="0"/>
              <a:buNone/>
            </a:pPr>
            <a:endParaRPr lang="en-US" altLang="en-US" sz="1200" b="0" dirty="0"/>
          </a:p>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37</a:t>
            </a:fld>
            <a:endParaRPr lang="en-US" dirty="0"/>
          </a:p>
        </p:txBody>
      </p:sp>
    </p:spTree>
    <p:extLst>
      <p:ext uri="{BB962C8B-B14F-4D97-AF65-F5344CB8AC3E}">
        <p14:creationId xmlns:p14="http://schemas.microsoft.com/office/powerpoint/2010/main" val="895460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073E54-D085-4E2E-B9A5-A53D7E51940E}" type="slidenum">
              <a:rPr lang="en-US" smtClean="0"/>
              <a:t>38</a:t>
            </a:fld>
            <a:endParaRPr lang="en-US" dirty="0"/>
          </a:p>
        </p:txBody>
      </p:sp>
    </p:spTree>
    <p:extLst>
      <p:ext uri="{BB962C8B-B14F-4D97-AF65-F5344CB8AC3E}">
        <p14:creationId xmlns:p14="http://schemas.microsoft.com/office/powerpoint/2010/main" val="4226133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25" name="Edition"/>
          <p:cNvSpPr>
            <a:spLocks noGrp="1"/>
          </p:cNvSpPr>
          <p:nvPr>
            <p:ph sz="quarter" idx="17" hasCustomPrompt="1"/>
          </p:nvPr>
        </p:nvSpPr>
        <p:spPr>
          <a:xfrm>
            <a:off x="152400" y="1752600"/>
            <a:ext cx="8839200" cy="6096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27" name="Author"/>
          <p:cNvSpPr>
            <a:spLocks noGrp="1"/>
          </p:cNvSpPr>
          <p:nvPr>
            <p:ph sz="quarter" idx="18" hasCustomPrompt="1"/>
          </p:nvPr>
        </p:nvSpPr>
        <p:spPr>
          <a:xfrm>
            <a:off x="152400" y="2362200"/>
            <a:ext cx="88392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31" name="CT"/>
          <p:cNvSpPr>
            <a:spLocks noGrp="1"/>
          </p:cNvSpPr>
          <p:nvPr>
            <p:ph sz="quarter" idx="20" hasCustomPrompt="1"/>
          </p:nvPr>
        </p:nvSpPr>
        <p:spPr>
          <a:xfrm>
            <a:off x="152400" y="5133241"/>
            <a:ext cx="8839200" cy="706318"/>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3" name="Content Placeholder 2"/>
          <p:cNvSpPr>
            <a:spLocks noGrp="1"/>
          </p:cNvSpPr>
          <p:nvPr>
            <p:ph sz="quarter" idx="21" hasCustomPrompt="1"/>
          </p:nvPr>
        </p:nvSpPr>
        <p:spPr>
          <a:xfrm>
            <a:off x="381000" y="6096000"/>
            <a:ext cx="8458200" cy="533400"/>
          </a:xfrm>
          <a:prstGeom prst="rect">
            <a:avLst/>
          </a:prstGeom>
        </p:spPr>
        <p:txBody>
          <a:bodyPr/>
          <a:lstStyle>
            <a:lvl1pPr marL="0" indent="0">
              <a:buNone/>
              <a:defRPr/>
            </a:lvl1pPr>
          </a:lstStyle>
          <a:p>
            <a:pPr lvl="0"/>
            <a:r>
              <a:rPr lang="en-IN" dirty="0"/>
              <a:t>Text</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152400" y="762000"/>
            <a:ext cx="8839200" cy="22860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152400" y="5029200"/>
            <a:ext cx="8839200" cy="7620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5274" y="777241"/>
            <a:ext cx="8543926"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304800" y="1752600"/>
            <a:ext cx="85344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78642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304800" y="1752600"/>
            <a:ext cx="85344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 Inc. </a:t>
            </a:r>
          </a:p>
        </p:txBody>
      </p:sp>
    </p:spTree>
    <p:extLst>
      <p:ext uri="{BB962C8B-B14F-4D97-AF65-F5344CB8AC3E}">
        <p14:creationId xmlns:p14="http://schemas.microsoft.com/office/powerpoint/2010/main" val="19563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lvl1pPr>
              <a:defRPr b="0" i="0">
                <a:latin typeface="Calibri" charset="0"/>
                <a:ea typeface="Calibri" charset="0"/>
                <a:cs typeface="Calibri" charset="0"/>
              </a:defRPr>
            </a:lvl1p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8350"/>
            <a:ext cx="8534400" cy="990599"/>
          </a:xfrm>
        </p:spPr>
        <p:txBody>
          <a:bodyPr/>
          <a:lstStyle/>
          <a:p>
            <a:r>
              <a:rPr lang="en-US"/>
              <a:t>Language</a:t>
            </a:r>
            <a:endParaRPr lang="en-US" dirty="0"/>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914401"/>
            <a:ext cx="8534400" cy="9905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771030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761999"/>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441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539791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380999"/>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FFD5900F-AA13-417D-AD3D-4C905926EE31}"/>
              </a:ext>
            </a:extLst>
          </p:cNvPr>
          <p:cNvSpPr>
            <a:spLocks noGrp="1"/>
          </p:cNvSpPr>
          <p:nvPr>
            <p:ph sz="quarter" idx="17"/>
          </p:nvPr>
        </p:nvSpPr>
        <p:spPr>
          <a:xfrm>
            <a:off x="304800" y="2286000"/>
            <a:ext cx="8534400" cy="457200"/>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84848AF1-D576-4FBF-A712-1BEB82131A85}"/>
              </a:ext>
            </a:extLst>
          </p:cNvPr>
          <p:cNvSpPr>
            <a:spLocks noGrp="1"/>
          </p:cNvSpPr>
          <p:nvPr>
            <p:ph sz="quarter" idx="18"/>
          </p:nvPr>
        </p:nvSpPr>
        <p:spPr>
          <a:xfrm>
            <a:off x="304800" y="2819400"/>
            <a:ext cx="8534400" cy="457200"/>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676B27F5-3B5F-44A3-B7D9-7B2B6279EB48}"/>
              </a:ext>
            </a:extLst>
          </p:cNvPr>
          <p:cNvSpPr>
            <a:spLocks noGrp="1"/>
          </p:cNvSpPr>
          <p:nvPr>
            <p:ph sz="quarter" idx="19"/>
          </p:nvPr>
        </p:nvSpPr>
        <p:spPr>
          <a:xfrm>
            <a:off x="304800" y="3352800"/>
            <a:ext cx="8534400" cy="457200"/>
          </a:xfrm>
          <a:prstGeom prst="rect">
            <a:avLst/>
          </a:prstGeom>
        </p:spPr>
        <p:txBody>
          <a:bodyPr/>
          <a:lstStyle>
            <a:lvl1pPr marL="0" indent="0">
              <a:buNone/>
              <a:defRPr/>
            </a:lvl1pPr>
          </a:lstStyle>
          <a:p>
            <a:pPr lvl="0"/>
            <a:endParaRPr lang="en-US" dirty="0"/>
          </a:p>
        </p:txBody>
      </p:sp>
      <p:sp>
        <p:nvSpPr>
          <p:cNvPr id="13" name="Content Placeholder 12">
            <a:extLst>
              <a:ext uri="{FF2B5EF4-FFF2-40B4-BE49-F238E27FC236}">
                <a16:creationId xmlns:a16="http://schemas.microsoft.com/office/drawing/2014/main" id="{AADC81E7-C60E-481D-B9D5-72B7F6F78DDF}"/>
              </a:ext>
            </a:extLst>
          </p:cNvPr>
          <p:cNvSpPr>
            <a:spLocks noGrp="1"/>
          </p:cNvSpPr>
          <p:nvPr>
            <p:ph sz="quarter" idx="20"/>
          </p:nvPr>
        </p:nvSpPr>
        <p:spPr>
          <a:xfrm>
            <a:off x="304800" y="3886200"/>
            <a:ext cx="8534400" cy="336550"/>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230C320A-51A3-4C9B-8ABF-11B3737D593B}"/>
              </a:ext>
            </a:extLst>
          </p:cNvPr>
          <p:cNvSpPr>
            <a:spLocks noGrp="1"/>
          </p:cNvSpPr>
          <p:nvPr>
            <p:ph sz="quarter" idx="21"/>
          </p:nvPr>
        </p:nvSpPr>
        <p:spPr>
          <a:xfrm>
            <a:off x="304800" y="4343400"/>
            <a:ext cx="8534400" cy="336550"/>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F9E37B07-0547-4324-8991-4A4CF789436D}"/>
              </a:ext>
            </a:extLst>
          </p:cNvPr>
          <p:cNvSpPr>
            <a:spLocks noGrp="1"/>
          </p:cNvSpPr>
          <p:nvPr>
            <p:ph sz="quarter" idx="22"/>
          </p:nvPr>
        </p:nvSpPr>
        <p:spPr>
          <a:xfrm>
            <a:off x="304800" y="4724400"/>
            <a:ext cx="8534400" cy="457200"/>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1B671F7A-E290-479A-9245-1B0D5F72CCE5}"/>
              </a:ext>
            </a:extLst>
          </p:cNvPr>
          <p:cNvSpPr>
            <a:spLocks noGrp="1"/>
          </p:cNvSpPr>
          <p:nvPr>
            <p:ph sz="quarter" idx="23"/>
          </p:nvPr>
        </p:nvSpPr>
        <p:spPr>
          <a:xfrm>
            <a:off x="304800" y="5257800"/>
            <a:ext cx="8534400" cy="457200"/>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97D65446-BE50-4693-A967-2E866104DFF6}"/>
              </a:ext>
            </a:extLst>
          </p:cNvPr>
          <p:cNvSpPr>
            <a:spLocks noGrp="1"/>
          </p:cNvSpPr>
          <p:nvPr>
            <p:ph sz="quarter" idx="24"/>
          </p:nvPr>
        </p:nvSpPr>
        <p:spPr>
          <a:xfrm>
            <a:off x="304800" y="5822950"/>
            <a:ext cx="8534400" cy="349250"/>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72758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40386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08AEA028-BD17-4ECF-82B5-ECB2A3466362}"/>
              </a:ext>
            </a:extLst>
          </p:cNvPr>
          <p:cNvSpPr>
            <a:spLocks noGrp="1"/>
          </p:cNvSpPr>
          <p:nvPr>
            <p:ph sz="quarter" idx="17"/>
          </p:nvPr>
        </p:nvSpPr>
        <p:spPr>
          <a:xfrm>
            <a:off x="4419600" y="1828800"/>
            <a:ext cx="4419600" cy="365125"/>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D539518F-A4FA-4BE6-9B8E-E6329B43B944}"/>
              </a:ext>
            </a:extLst>
          </p:cNvPr>
          <p:cNvSpPr>
            <a:spLocks noGrp="1"/>
          </p:cNvSpPr>
          <p:nvPr>
            <p:ph sz="quarter" idx="18"/>
          </p:nvPr>
        </p:nvSpPr>
        <p:spPr>
          <a:xfrm>
            <a:off x="304800" y="2225675"/>
            <a:ext cx="4038600" cy="365125"/>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ECF92A28-BADD-49BA-AD73-AD609D2F6738}"/>
              </a:ext>
            </a:extLst>
          </p:cNvPr>
          <p:cNvSpPr>
            <a:spLocks noGrp="1"/>
          </p:cNvSpPr>
          <p:nvPr>
            <p:ph sz="quarter" idx="19"/>
          </p:nvPr>
        </p:nvSpPr>
        <p:spPr>
          <a:xfrm>
            <a:off x="4419600" y="2225675"/>
            <a:ext cx="4419600" cy="365125"/>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1B664998-83E5-4220-9835-1C5536CF389A}"/>
              </a:ext>
            </a:extLst>
          </p:cNvPr>
          <p:cNvSpPr>
            <a:spLocks noGrp="1"/>
          </p:cNvSpPr>
          <p:nvPr>
            <p:ph sz="quarter" idx="21"/>
          </p:nvPr>
        </p:nvSpPr>
        <p:spPr>
          <a:xfrm>
            <a:off x="304800" y="2667000"/>
            <a:ext cx="4038600" cy="365125"/>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064DC7D0-4EEC-48B5-8518-1EA8B867A73B}"/>
              </a:ext>
            </a:extLst>
          </p:cNvPr>
          <p:cNvSpPr>
            <a:spLocks noGrp="1"/>
          </p:cNvSpPr>
          <p:nvPr>
            <p:ph sz="quarter" idx="22"/>
          </p:nvPr>
        </p:nvSpPr>
        <p:spPr>
          <a:xfrm>
            <a:off x="4419600" y="2667000"/>
            <a:ext cx="4419600" cy="365125"/>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7B4BDA8F-D4C1-47AA-8C60-0937596C4F76}"/>
              </a:ext>
            </a:extLst>
          </p:cNvPr>
          <p:cNvSpPr>
            <a:spLocks noGrp="1"/>
          </p:cNvSpPr>
          <p:nvPr>
            <p:ph sz="quarter" idx="23"/>
          </p:nvPr>
        </p:nvSpPr>
        <p:spPr>
          <a:xfrm>
            <a:off x="304800" y="3124200"/>
            <a:ext cx="4038600" cy="365125"/>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3DA7099D-A1F8-48D8-B397-2BF5A3E8F84D}"/>
              </a:ext>
            </a:extLst>
          </p:cNvPr>
          <p:cNvSpPr>
            <a:spLocks noGrp="1"/>
          </p:cNvSpPr>
          <p:nvPr>
            <p:ph sz="quarter" idx="24"/>
          </p:nvPr>
        </p:nvSpPr>
        <p:spPr>
          <a:xfrm>
            <a:off x="4419600" y="3124200"/>
            <a:ext cx="4419600" cy="365125"/>
          </a:xfrm>
          <a:prstGeom prst="rect">
            <a:avLst/>
          </a:prstGeom>
        </p:spPr>
        <p:txBody>
          <a:bodyPr/>
          <a:lstStyle>
            <a:lvl1pPr marL="0" indent="0">
              <a:buNone/>
              <a:defRPr/>
            </a:lvl1pPr>
          </a:lstStyle>
          <a:p>
            <a:pPr lvl="0"/>
            <a:endParaRPr lang="en-US" dirty="0"/>
          </a:p>
        </p:txBody>
      </p:sp>
      <p:sp>
        <p:nvSpPr>
          <p:cNvPr id="23" name="Content Placeholder 22">
            <a:extLst>
              <a:ext uri="{FF2B5EF4-FFF2-40B4-BE49-F238E27FC236}">
                <a16:creationId xmlns:a16="http://schemas.microsoft.com/office/drawing/2014/main" id="{77261062-0158-40E4-A1CA-B2E0CAB19B2F}"/>
              </a:ext>
            </a:extLst>
          </p:cNvPr>
          <p:cNvSpPr>
            <a:spLocks noGrp="1"/>
          </p:cNvSpPr>
          <p:nvPr>
            <p:ph sz="quarter" idx="25"/>
          </p:nvPr>
        </p:nvSpPr>
        <p:spPr>
          <a:xfrm>
            <a:off x="304800" y="3581400"/>
            <a:ext cx="4038600" cy="365125"/>
          </a:xfrm>
          <a:prstGeom prst="rect">
            <a:avLst/>
          </a:prstGeom>
        </p:spPr>
        <p:txBody>
          <a:bodyPr/>
          <a:lstStyle>
            <a:lvl1pPr marL="0" indent="0">
              <a:buNone/>
              <a:defRPr/>
            </a:lvl1pPr>
          </a:lstStyle>
          <a:p>
            <a:pPr lvl="0"/>
            <a:endParaRPr lang="en-US" dirty="0"/>
          </a:p>
        </p:txBody>
      </p:sp>
      <p:sp>
        <p:nvSpPr>
          <p:cNvPr id="25" name="Content Placeholder 24">
            <a:extLst>
              <a:ext uri="{FF2B5EF4-FFF2-40B4-BE49-F238E27FC236}">
                <a16:creationId xmlns:a16="http://schemas.microsoft.com/office/drawing/2014/main" id="{E47747E0-D00B-41BD-93B5-8BC61DA916F9}"/>
              </a:ext>
            </a:extLst>
          </p:cNvPr>
          <p:cNvSpPr>
            <a:spLocks noGrp="1"/>
          </p:cNvSpPr>
          <p:nvPr>
            <p:ph sz="quarter" idx="26"/>
          </p:nvPr>
        </p:nvSpPr>
        <p:spPr>
          <a:xfrm>
            <a:off x="4419600" y="3581400"/>
            <a:ext cx="4419600" cy="365125"/>
          </a:xfrm>
          <a:prstGeom prst="rect">
            <a:avLst/>
          </a:prstGeom>
        </p:spPr>
        <p:txBody>
          <a:bodyPr/>
          <a:lstStyle>
            <a:lvl1pPr marL="0" indent="0">
              <a:buNone/>
              <a:defRPr/>
            </a:lvl1pPr>
          </a:lstStyle>
          <a:p>
            <a:pPr lvl="0"/>
            <a:endParaRPr lang="en-US" dirty="0"/>
          </a:p>
        </p:txBody>
      </p:sp>
      <p:sp>
        <p:nvSpPr>
          <p:cNvPr id="27" name="Content Placeholder 26">
            <a:extLst>
              <a:ext uri="{FF2B5EF4-FFF2-40B4-BE49-F238E27FC236}">
                <a16:creationId xmlns:a16="http://schemas.microsoft.com/office/drawing/2014/main" id="{87796A9F-9F2E-4385-823C-3D4A62F64819}"/>
              </a:ext>
            </a:extLst>
          </p:cNvPr>
          <p:cNvSpPr>
            <a:spLocks noGrp="1"/>
          </p:cNvSpPr>
          <p:nvPr>
            <p:ph sz="quarter" idx="27"/>
          </p:nvPr>
        </p:nvSpPr>
        <p:spPr>
          <a:xfrm>
            <a:off x="304800" y="4038600"/>
            <a:ext cx="4038600" cy="365125"/>
          </a:xfrm>
          <a:prstGeom prst="rect">
            <a:avLst/>
          </a:prstGeom>
        </p:spPr>
        <p:txBody>
          <a:bodyPr/>
          <a:lstStyle>
            <a:lvl1pPr marL="0" indent="0">
              <a:buNone/>
              <a:defRPr/>
            </a:lvl1pPr>
          </a:lstStyle>
          <a:p>
            <a:pPr lvl="0"/>
            <a:endParaRPr lang="en-US" dirty="0"/>
          </a:p>
        </p:txBody>
      </p:sp>
      <p:sp>
        <p:nvSpPr>
          <p:cNvPr id="29" name="Content Placeholder 28">
            <a:extLst>
              <a:ext uri="{FF2B5EF4-FFF2-40B4-BE49-F238E27FC236}">
                <a16:creationId xmlns:a16="http://schemas.microsoft.com/office/drawing/2014/main" id="{11A73B4E-7DA4-4299-A91F-FF7464B543E5}"/>
              </a:ext>
            </a:extLst>
          </p:cNvPr>
          <p:cNvSpPr>
            <a:spLocks noGrp="1"/>
          </p:cNvSpPr>
          <p:nvPr>
            <p:ph sz="quarter" idx="28"/>
          </p:nvPr>
        </p:nvSpPr>
        <p:spPr>
          <a:xfrm>
            <a:off x="4419600" y="4038600"/>
            <a:ext cx="4419600" cy="365125"/>
          </a:xfrm>
          <a:prstGeom prst="rect">
            <a:avLst/>
          </a:prstGeom>
        </p:spPr>
        <p:txBody>
          <a:bodyPr/>
          <a:lstStyle>
            <a:lvl1pPr marL="0" indent="0">
              <a:buNone/>
              <a:defRPr/>
            </a:lvl1pPr>
          </a:lstStyle>
          <a:p>
            <a:pPr lvl="0"/>
            <a:endParaRPr lang="en-US" dirty="0"/>
          </a:p>
        </p:txBody>
      </p:sp>
      <p:sp>
        <p:nvSpPr>
          <p:cNvPr id="31" name="Content Placeholder 30">
            <a:extLst>
              <a:ext uri="{FF2B5EF4-FFF2-40B4-BE49-F238E27FC236}">
                <a16:creationId xmlns:a16="http://schemas.microsoft.com/office/drawing/2014/main" id="{02C60366-269A-47CE-95CC-AAF3A8431B42}"/>
              </a:ext>
            </a:extLst>
          </p:cNvPr>
          <p:cNvSpPr>
            <a:spLocks noGrp="1"/>
          </p:cNvSpPr>
          <p:nvPr>
            <p:ph sz="quarter" idx="29"/>
          </p:nvPr>
        </p:nvSpPr>
        <p:spPr>
          <a:xfrm>
            <a:off x="304800" y="4495800"/>
            <a:ext cx="4038600" cy="365125"/>
          </a:xfrm>
          <a:prstGeom prst="rect">
            <a:avLst/>
          </a:prstGeom>
        </p:spPr>
        <p:txBody>
          <a:bodyPr/>
          <a:lstStyle>
            <a:lvl1pPr marL="0" indent="0">
              <a:buNone/>
              <a:defRPr/>
            </a:lvl1pPr>
          </a:lstStyle>
          <a:p>
            <a:pPr lvl="0"/>
            <a:endParaRPr lang="en-US" dirty="0"/>
          </a:p>
        </p:txBody>
      </p:sp>
      <p:sp>
        <p:nvSpPr>
          <p:cNvPr id="33" name="Content Placeholder 32">
            <a:extLst>
              <a:ext uri="{FF2B5EF4-FFF2-40B4-BE49-F238E27FC236}">
                <a16:creationId xmlns:a16="http://schemas.microsoft.com/office/drawing/2014/main" id="{8648E9CD-8615-4506-B88C-B7A06C509713}"/>
              </a:ext>
            </a:extLst>
          </p:cNvPr>
          <p:cNvSpPr>
            <a:spLocks noGrp="1"/>
          </p:cNvSpPr>
          <p:nvPr>
            <p:ph sz="quarter" idx="30"/>
          </p:nvPr>
        </p:nvSpPr>
        <p:spPr>
          <a:xfrm>
            <a:off x="4419600" y="4495800"/>
            <a:ext cx="4419600" cy="365125"/>
          </a:xfrm>
          <a:prstGeom prst="rect">
            <a:avLst/>
          </a:prstGeom>
        </p:spPr>
        <p:txBody>
          <a:bodyPr/>
          <a:lstStyle>
            <a:lvl1pPr marL="0" indent="0">
              <a:buNone/>
              <a:defRPr/>
            </a:lvl1pPr>
          </a:lstStyle>
          <a:p>
            <a:pPr lvl="0"/>
            <a:endParaRPr lang="en-US" dirty="0"/>
          </a:p>
        </p:txBody>
      </p:sp>
      <p:sp>
        <p:nvSpPr>
          <p:cNvPr id="35" name="Content Placeholder 34">
            <a:extLst>
              <a:ext uri="{FF2B5EF4-FFF2-40B4-BE49-F238E27FC236}">
                <a16:creationId xmlns:a16="http://schemas.microsoft.com/office/drawing/2014/main" id="{CE2DE845-64F9-47A6-AFDD-342063D5463E}"/>
              </a:ext>
            </a:extLst>
          </p:cNvPr>
          <p:cNvSpPr>
            <a:spLocks noGrp="1"/>
          </p:cNvSpPr>
          <p:nvPr>
            <p:ph sz="quarter" idx="31"/>
          </p:nvPr>
        </p:nvSpPr>
        <p:spPr>
          <a:xfrm>
            <a:off x="304800" y="4953000"/>
            <a:ext cx="4038600" cy="365125"/>
          </a:xfrm>
          <a:prstGeom prst="rect">
            <a:avLst/>
          </a:prstGeom>
        </p:spPr>
        <p:txBody>
          <a:bodyPr/>
          <a:lstStyle>
            <a:lvl1pPr marL="0" indent="0">
              <a:buNone/>
              <a:defRPr/>
            </a:lvl1pPr>
          </a:lstStyle>
          <a:p>
            <a:pPr lvl="0"/>
            <a:endParaRPr lang="en-US" dirty="0"/>
          </a:p>
        </p:txBody>
      </p:sp>
      <p:sp>
        <p:nvSpPr>
          <p:cNvPr id="37" name="Content Placeholder 36">
            <a:extLst>
              <a:ext uri="{FF2B5EF4-FFF2-40B4-BE49-F238E27FC236}">
                <a16:creationId xmlns:a16="http://schemas.microsoft.com/office/drawing/2014/main" id="{3597B8C4-A351-467F-A6DE-DA35689BC9B6}"/>
              </a:ext>
            </a:extLst>
          </p:cNvPr>
          <p:cNvSpPr>
            <a:spLocks noGrp="1"/>
          </p:cNvSpPr>
          <p:nvPr>
            <p:ph sz="quarter" idx="32"/>
          </p:nvPr>
        </p:nvSpPr>
        <p:spPr>
          <a:xfrm>
            <a:off x="4419600" y="4953000"/>
            <a:ext cx="4419600" cy="365125"/>
          </a:xfrm>
          <a:prstGeom prst="rect">
            <a:avLst/>
          </a:prstGeom>
        </p:spPr>
        <p:txBody>
          <a:bodyPr/>
          <a:lstStyle>
            <a:lvl1pPr marL="0" indent="0">
              <a:buNone/>
              <a:defRPr/>
            </a:lvl1pPr>
          </a:lstStyle>
          <a:p>
            <a:pPr lvl="0"/>
            <a:endParaRPr lang="en-US" dirty="0"/>
          </a:p>
        </p:txBody>
      </p:sp>
      <p:sp>
        <p:nvSpPr>
          <p:cNvPr id="39" name="Content Placeholder 38">
            <a:extLst>
              <a:ext uri="{FF2B5EF4-FFF2-40B4-BE49-F238E27FC236}">
                <a16:creationId xmlns:a16="http://schemas.microsoft.com/office/drawing/2014/main" id="{C719C597-84DC-42E6-9578-4E5764A52767}"/>
              </a:ext>
            </a:extLst>
          </p:cNvPr>
          <p:cNvSpPr>
            <a:spLocks noGrp="1"/>
          </p:cNvSpPr>
          <p:nvPr>
            <p:ph sz="quarter" idx="33"/>
          </p:nvPr>
        </p:nvSpPr>
        <p:spPr>
          <a:xfrm>
            <a:off x="304800" y="5410200"/>
            <a:ext cx="4038600" cy="365125"/>
          </a:xfrm>
          <a:prstGeom prst="rect">
            <a:avLst/>
          </a:prstGeom>
        </p:spPr>
        <p:txBody>
          <a:bodyPr/>
          <a:lstStyle>
            <a:lvl1pPr marL="0" indent="0">
              <a:buNone/>
              <a:defRPr/>
            </a:lvl1pPr>
          </a:lstStyle>
          <a:p>
            <a:pPr lvl="0"/>
            <a:endParaRPr lang="en-US" dirty="0"/>
          </a:p>
        </p:txBody>
      </p:sp>
      <p:sp>
        <p:nvSpPr>
          <p:cNvPr id="41" name="Content Placeholder 40">
            <a:extLst>
              <a:ext uri="{FF2B5EF4-FFF2-40B4-BE49-F238E27FC236}">
                <a16:creationId xmlns:a16="http://schemas.microsoft.com/office/drawing/2014/main" id="{602C790C-25A6-4AED-B96A-2273C76B90FF}"/>
              </a:ext>
            </a:extLst>
          </p:cNvPr>
          <p:cNvSpPr>
            <a:spLocks noGrp="1"/>
          </p:cNvSpPr>
          <p:nvPr>
            <p:ph sz="quarter" idx="34"/>
          </p:nvPr>
        </p:nvSpPr>
        <p:spPr>
          <a:xfrm>
            <a:off x="4419600" y="5410200"/>
            <a:ext cx="4419600" cy="365125"/>
          </a:xfrm>
          <a:prstGeom prst="rect">
            <a:avLst/>
          </a:prstGeom>
        </p:spPr>
        <p:txBody>
          <a:bodyPr/>
          <a:lstStyle>
            <a:lvl1pPr marL="0" indent="0">
              <a:buNone/>
              <a:defRPr/>
            </a:lvl1pPr>
          </a:lstStyle>
          <a:p>
            <a:pPr lvl="0"/>
            <a:endParaRPr lang="en-US" dirty="0"/>
          </a:p>
        </p:txBody>
      </p:sp>
      <p:sp>
        <p:nvSpPr>
          <p:cNvPr id="43" name="Content Placeholder 42">
            <a:extLst>
              <a:ext uri="{FF2B5EF4-FFF2-40B4-BE49-F238E27FC236}">
                <a16:creationId xmlns:a16="http://schemas.microsoft.com/office/drawing/2014/main" id="{01ADFC3A-CC86-4C35-AD6C-692CC02FCACF}"/>
              </a:ext>
            </a:extLst>
          </p:cNvPr>
          <p:cNvSpPr>
            <a:spLocks noGrp="1"/>
          </p:cNvSpPr>
          <p:nvPr>
            <p:ph sz="quarter" idx="35"/>
          </p:nvPr>
        </p:nvSpPr>
        <p:spPr>
          <a:xfrm>
            <a:off x="304800" y="5807075"/>
            <a:ext cx="4038600" cy="365125"/>
          </a:xfrm>
          <a:prstGeom prst="rect">
            <a:avLst/>
          </a:prstGeom>
        </p:spPr>
        <p:txBody>
          <a:bodyPr/>
          <a:lstStyle>
            <a:lvl1pPr marL="0" indent="0">
              <a:buNone/>
              <a:defRPr/>
            </a:lvl1pPr>
          </a:lstStyle>
          <a:p>
            <a:pPr lvl="0"/>
            <a:endParaRPr lang="en-US" dirty="0"/>
          </a:p>
        </p:txBody>
      </p:sp>
      <p:sp>
        <p:nvSpPr>
          <p:cNvPr id="45" name="Content Placeholder 44">
            <a:extLst>
              <a:ext uri="{FF2B5EF4-FFF2-40B4-BE49-F238E27FC236}">
                <a16:creationId xmlns:a16="http://schemas.microsoft.com/office/drawing/2014/main" id="{45E8B718-38EC-47F6-87EA-0F0A0846611D}"/>
              </a:ext>
            </a:extLst>
          </p:cNvPr>
          <p:cNvSpPr>
            <a:spLocks noGrp="1"/>
          </p:cNvSpPr>
          <p:nvPr>
            <p:ph sz="quarter" idx="36"/>
          </p:nvPr>
        </p:nvSpPr>
        <p:spPr>
          <a:xfrm>
            <a:off x="4419600" y="5807075"/>
            <a:ext cx="4419600" cy="365125"/>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52769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341284"/>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59956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0386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48006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55276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1196859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0998"/>
            <a:ext cx="8534400" cy="507997"/>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988819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1896"/>
            <a:ext cx="8534400" cy="49000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3" name="Content Placeholder"/>
          <p:cNvSpPr>
            <a:spLocks noGrp="1"/>
          </p:cNvSpPr>
          <p:nvPr>
            <p:ph sz="quarter" idx="23"/>
          </p:nvPr>
        </p:nvSpPr>
        <p:spPr>
          <a:xfrm>
            <a:off x="32766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4" name="Content Placeholder"/>
          <p:cNvSpPr>
            <a:spLocks noGrp="1"/>
          </p:cNvSpPr>
          <p:nvPr>
            <p:ph sz="quarter" idx="24"/>
          </p:nvPr>
        </p:nvSpPr>
        <p:spPr>
          <a:xfrm>
            <a:off x="32850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5" name="Content Placeholder"/>
          <p:cNvSpPr>
            <a:spLocks noGrp="1"/>
          </p:cNvSpPr>
          <p:nvPr>
            <p:ph sz="quarter" idx="25"/>
          </p:nvPr>
        </p:nvSpPr>
        <p:spPr>
          <a:xfrm>
            <a:off x="32850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6" name="Content Placeholder"/>
          <p:cNvSpPr>
            <a:spLocks noGrp="1"/>
          </p:cNvSpPr>
          <p:nvPr>
            <p:ph sz="quarter" idx="26"/>
          </p:nvPr>
        </p:nvSpPr>
        <p:spPr>
          <a:xfrm>
            <a:off x="6123517" y="4689475"/>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7" name="Content Placeholder"/>
          <p:cNvSpPr>
            <a:spLocks noGrp="1"/>
          </p:cNvSpPr>
          <p:nvPr>
            <p:ph sz="quarter" idx="27"/>
          </p:nvPr>
        </p:nvSpPr>
        <p:spPr>
          <a:xfrm>
            <a:off x="6131984" y="5334001"/>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8" name="Content Placeholder"/>
          <p:cNvSpPr>
            <a:spLocks noGrp="1"/>
          </p:cNvSpPr>
          <p:nvPr>
            <p:ph sz="quarter" idx="28"/>
          </p:nvPr>
        </p:nvSpPr>
        <p:spPr>
          <a:xfrm>
            <a:off x="6131984" y="5811309"/>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4328652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47604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32984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2672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7">
            <a:extLst>
              <a:ext uri="{FF2B5EF4-FFF2-40B4-BE49-F238E27FC236}">
                <a16:creationId xmlns:a16="http://schemas.microsoft.com/office/drawing/2014/main" id="{D6C02995-1E5E-48F3-90EA-30A67DD6E930}"/>
              </a:ext>
            </a:extLst>
          </p:cNvPr>
          <p:cNvSpPr>
            <a:spLocks noGrp="1"/>
          </p:cNvSpPr>
          <p:nvPr>
            <p:ph sz="quarter" idx="18"/>
          </p:nvPr>
        </p:nvSpPr>
        <p:spPr>
          <a:xfrm>
            <a:off x="304800" y="2228109"/>
            <a:ext cx="4267200" cy="365125"/>
          </a:xfrm>
          <a:prstGeom prst="rect">
            <a:avLst/>
          </a:prstGeom>
        </p:spPr>
        <p:txBody>
          <a:bodyPr/>
          <a:lstStyle>
            <a:lvl1pPr marL="0" indent="0">
              <a:buNone/>
              <a:defRPr/>
            </a:lvl1pPr>
          </a:lstStyle>
          <a:p>
            <a:pPr lvl="0"/>
            <a:endParaRPr lang="en-US" dirty="0"/>
          </a:p>
        </p:txBody>
      </p:sp>
      <p:sp>
        <p:nvSpPr>
          <p:cNvPr id="10" name="Content Placeholder 9">
            <a:extLst>
              <a:ext uri="{FF2B5EF4-FFF2-40B4-BE49-F238E27FC236}">
                <a16:creationId xmlns:a16="http://schemas.microsoft.com/office/drawing/2014/main" id="{A97483CB-9142-40B0-AC19-8745028A19E9}"/>
              </a:ext>
            </a:extLst>
          </p:cNvPr>
          <p:cNvSpPr>
            <a:spLocks noGrp="1"/>
          </p:cNvSpPr>
          <p:nvPr>
            <p:ph sz="quarter" idx="19"/>
          </p:nvPr>
        </p:nvSpPr>
        <p:spPr>
          <a:xfrm>
            <a:off x="4724400" y="2228850"/>
            <a:ext cx="4114800" cy="365125"/>
          </a:xfrm>
          <a:prstGeom prst="rect">
            <a:avLst/>
          </a:prstGeom>
        </p:spPr>
        <p:txBody>
          <a:bodyPr/>
          <a:lstStyle>
            <a:lvl1pPr marL="0" indent="0">
              <a:buNone/>
              <a:defRPr/>
            </a:lvl1pPr>
          </a:lstStyle>
          <a:p>
            <a:pPr lvl="0"/>
            <a:endParaRPr lang="en-US" dirty="0"/>
          </a:p>
        </p:txBody>
      </p:sp>
      <p:sp>
        <p:nvSpPr>
          <p:cNvPr id="12" name="Content Placeholder 11">
            <a:extLst>
              <a:ext uri="{FF2B5EF4-FFF2-40B4-BE49-F238E27FC236}">
                <a16:creationId xmlns:a16="http://schemas.microsoft.com/office/drawing/2014/main" id="{697EDCB5-8A43-4F4F-81C5-8AA3A49E8940}"/>
              </a:ext>
            </a:extLst>
          </p:cNvPr>
          <p:cNvSpPr>
            <a:spLocks noGrp="1"/>
          </p:cNvSpPr>
          <p:nvPr>
            <p:ph sz="quarter" idx="20"/>
          </p:nvPr>
        </p:nvSpPr>
        <p:spPr>
          <a:xfrm>
            <a:off x="304800" y="2667000"/>
            <a:ext cx="4267200" cy="365125"/>
          </a:xfrm>
          <a:prstGeom prst="rect">
            <a:avLst/>
          </a:prstGeom>
        </p:spPr>
        <p:txBody>
          <a:bodyPr/>
          <a:lstStyle>
            <a:lvl1pPr marL="0" indent="0">
              <a:buNone/>
              <a:defRPr/>
            </a:lvl1pPr>
          </a:lstStyle>
          <a:p>
            <a:pPr lvl="0"/>
            <a:endParaRPr lang="en-US" dirty="0"/>
          </a:p>
        </p:txBody>
      </p:sp>
      <p:sp>
        <p:nvSpPr>
          <p:cNvPr id="14" name="Content Placeholder 13">
            <a:extLst>
              <a:ext uri="{FF2B5EF4-FFF2-40B4-BE49-F238E27FC236}">
                <a16:creationId xmlns:a16="http://schemas.microsoft.com/office/drawing/2014/main" id="{7FEA43A7-2626-4401-B078-5122780BC0F8}"/>
              </a:ext>
            </a:extLst>
          </p:cNvPr>
          <p:cNvSpPr>
            <a:spLocks noGrp="1"/>
          </p:cNvSpPr>
          <p:nvPr>
            <p:ph sz="quarter" idx="21"/>
          </p:nvPr>
        </p:nvSpPr>
        <p:spPr>
          <a:xfrm>
            <a:off x="4724400" y="2667000"/>
            <a:ext cx="4114800" cy="365125"/>
          </a:xfrm>
          <a:prstGeom prst="rect">
            <a:avLst/>
          </a:prstGeom>
        </p:spPr>
        <p:txBody>
          <a:bodyPr/>
          <a:lstStyle>
            <a:lvl1pPr marL="0" indent="0">
              <a:buNone/>
              <a:defRPr/>
            </a:lvl1pPr>
          </a:lstStyle>
          <a:p>
            <a:pPr lvl="0"/>
            <a:endParaRPr lang="en-US" dirty="0"/>
          </a:p>
        </p:txBody>
      </p:sp>
      <p:sp>
        <p:nvSpPr>
          <p:cNvPr id="16" name="Content Placeholder 15">
            <a:extLst>
              <a:ext uri="{FF2B5EF4-FFF2-40B4-BE49-F238E27FC236}">
                <a16:creationId xmlns:a16="http://schemas.microsoft.com/office/drawing/2014/main" id="{FEED7A6C-A1D8-4D89-9C0C-B1C824C59692}"/>
              </a:ext>
            </a:extLst>
          </p:cNvPr>
          <p:cNvSpPr>
            <a:spLocks noGrp="1"/>
          </p:cNvSpPr>
          <p:nvPr>
            <p:ph sz="quarter" idx="22"/>
          </p:nvPr>
        </p:nvSpPr>
        <p:spPr>
          <a:xfrm>
            <a:off x="304800" y="3124200"/>
            <a:ext cx="4267200" cy="365125"/>
          </a:xfrm>
          <a:prstGeom prst="rect">
            <a:avLst/>
          </a:prstGeom>
        </p:spPr>
        <p:txBody>
          <a:bodyPr/>
          <a:lstStyle>
            <a:lvl1pPr marL="0" indent="0">
              <a:buNone/>
              <a:defRPr/>
            </a:lvl1pPr>
          </a:lstStyle>
          <a:p>
            <a:pPr lvl="0"/>
            <a:endParaRPr lang="en-US" dirty="0"/>
          </a:p>
        </p:txBody>
      </p:sp>
      <p:sp>
        <p:nvSpPr>
          <p:cNvPr id="18" name="Content Placeholder 17">
            <a:extLst>
              <a:ext uri="{FF2B5EF4-FFF2-40B4-BE49-F238E27FC236}">
                <a16:creationId xmlns:a16="http://schemas.microsoft.com/office/drawing/2014/main" id="{543D2732-3A9F-406C-98CA-6DF1647EC031}"/>
              </a:ext>
            </a:extLst>
          </p:cNvPr>
          <p:cNvSpPr>
            <a:spLocks noGrp="1"/>
          </p:cNvSpPr>
          <p:nvPr>
            <p:ph sz="quarter" idx="23"/>
          </p:nvPr>
        </p:nvSpPr>
        <p:spPr>
          <a:xfrm>
            <a:off x="4724400" y="3124200"/>
            <a:ext cx="4114800" cy="365125"/>
          </a:xfrm>
          <a:prstGeom prst="rect">
            <a:avLst/>
          </a:prstGeom>
        </p:spPr>
        <p:txBody>
          <a:bodyPr/>
          <a:lstStyle>
            <a:lvl1pPr marL="0" indent="0">
              <a:buNone/>
              <a:defRPr/>
            </a:lvl1pPr>
          </a:lstStyle>
          <a:p>
            <a:pPr lvl="0"/>
            <a:endParaRPr lang="en-US" dirty="0"/>
          </a:p>
        </p:txBody>
      </p:sp>
      <p:sp>
        <p:nvSpPr>
          <p:cNvPr id="20" name="Content Placeholder 19">
            <a:extLst>
              <a:ext uri="{FF2B5EF4-FFF2-40B4-BE49-F238E27FC236}">
                <a16:creationId xmlns:a16="http://schemas.microsoft.com/office/drawing/2014/main" id="{F01F2447-776E-45D7-8D0A-E79277C539EF}"/>
              </a:ext>
            </a:extLst>
          </p:cNvPr>
          <p:cNvSpPr>
            <a:spLocks noGrp="1"/>
          </p:cNvSpPr>
          <p:nvPr>
            <p:ph sz="quarter" idx="24"/>
          </p:nvPr>
        </p:nvSpPr>
        <p:spPr>
          <a:xfrm>
            <a:off x="304800" y="3581400"/>
            <a:ext cx="4267200" cy="457200"/>
          </a:xfrm>
          <a:prstGeom prst="rect">
            <a:avLst/>
          </a:prstGeom>
        </p:spPr>
        <p:txBody>
          <a:bodyPr/>
          <a:lstStyle>
            <a:lvl1pPr marL="0" indent="0">
              <a:buNone/>
              <a:defRPr/>
            </a:lvl1pPr>
          </a:lstStyle>
          <a:p>
            <a:pPr lvl="0"/>
            <a:endParaRPr lang="en-US" dirty="0"/>
          </a:p>
        </p:txBody>
      </p:sp>
      <p:sp>
        <p:nvSpPr>
          <p:cNvPr id="22" name="Content Placeholder 21">
            <a:extLst>
              <a:ext uri="{FF2B5EF4-FFF2-40B4-BE49-F238E27FC236}">
                <a16:creationId xmlns:a16="http://schemas.microsoft.com/office/drawing/2014/main" id="{9CA587B7-AF27-4DA0-BF89-AEBB9D0B0C6A}"/>
              </a:ext>
            </a:extLst>
          </p:cNvPr>
          <p:cNvSpPr>
            <a:spLocks noGrp="1"/>
          </p:cNvSpPr>
          <p:nvPr>
            <p:ph sz="quarter" idx="25"/>
          </p:nvPr>
        </p:nvSpPr>
        <p:spPr>
          <a:xfrm>
            <a:off x="4724400" y="3581400"/>
            <a:ext cx="4114800" cy="457200"/>
          </a:xfrm>
          <a:prstGeom prst="rect">
            <a:avLst/>
          </a:prstGeom>
        </p:spPr>
        <p:txBody>
          <a:bodyPr/>
          <a:lstStyle>
            <a:lvl1pPr marL="0" indent="0">
              <a:buNone/>
              <a:defRPr/>
            </a:lvl1pPr>
          </a:lstStyle>
          <a:p>
            <a:pPr lvl="0"/>
            <a:endParaRPr lang="en-US" dirty="0"/>
          </a:p>
        </p:txBody>
      </p:sp>
      <p:sp>
        <p:nvSpPr>
          <p:cNvPr id="24" name="Content Placeholder 23">
            <a:extLst>
              <a:ext uri="{FF2B5EF4-FFF2-40B4-BE49-F238E27FC236}">
                <a16:creationId xmlns:a16="http://schemas.microsoft.com/office/drawing/2014/main" id="{B8C06814-D6BE-49EB-91F9-65609ABBCE93}"/>
              </a:ext>
            </a:extLst>
          </p:cNvPr>
          <p:cNvSpPr>
            <a:spLocks noGrp="1"/>
          </p:cNvSpPr>
          <p:nvPr>
            <p:ph sz="quarter" idx="26"/>
          </p:nvPr>
        </p:nvSpPr>
        <p:spPr>
          <a:xfrm>
            <a:off x="304800" y="4114800"/>
            <a:ext cx="4267200" cy="396875"/>
          </a:xfrm>
          <a:prstGeom prst="rect">
            <a:avLst/>
          </a:prstGeom>
        </p:spPr>
        <p:txBody>
          <a:bodyPr/>
          <a:lstStyle>
            <a:lvl1pPr marL="0" indent="0">
              <a:buNone/>
              <a:defRPr/>
            </a:lvl1pPr>
          </a:lstStyle>
          <a:p>
            <a:pPr lvl="0"/>
            <a:endParaRPr lang="en-US" dirty="0"/>
          </a:p>
        </p:txBody>
      </p:sp>
      <p:sp>
        <p:nvSpPr>
          <p:cNvPr id="26" name="Content Placeholder 25">
            <a:extLst>
              <a:ext uri="{FF2B5EF4-FFF2-40B4-BE49-F238E27FC236}">
                <a16:creationId xmlns:a16="http://schemas.microsoft.com/office/drawing/2014/main" id="{C30DE4D4-57AC-4CD5-B7CD-5EC4216BC72F}"/>
              </a:ext>
            </a:extLst>
          </p:cNvPr>
          <p:cNvSpPr>
            <a:spLocks noGrp="1"/>
          </p:cNvSpPr>
          <p:nvPr>
            <p:ph sz="quarter" idx="27"/>
          </p:nvPr>
        </p:nvSpPr>
        <p:spPr>
          <a:xfrm>
            <a:off x="4724400" y="4114800"/>
            <a:ext cx="4114800" cy="396875"/>
          </a:xfrm>
          <a:prstGeom prst="rect">
            <a:avLst/>
          </a:prstGeom>
        </p:spPr>
        <p:txBody>
          <a:bodyPr/>
          <a:lstStyle>
            <a:lvl1pPr marL="0" indent="0">
              <a:buNone/>
              <a:defRPr/>
            </a:lvl1pPr>
          </a:lstStyle>
          <a:p>
            <a:pPr lvl="0"/>
            <a:endParaRPr lang="en-US" dirty="0"/>
          </a:p>
        </p:txBody>
      </p:sp>
      <p:sp>
        <p:nvSpPr>
          <p:cNvPr id="28" name="Content Placeholder 27">
            <a:extLst>
              <a:ext uri="{FF2B5EF4-FFF2-40B4-BE49-F238E27FC236}">
                <a16:creationId xmlns:a16="http://schemas.microsoft.com/office/drawing/2014/main" id="{E7B81DE7-2CFB-4EF3-B694-A5E0B2622CF2}"/>
              </a:ext>
            </a:extLst>
          </p:cNvPr>
          <p:cNvSpPr>
            <a:spLocks noGrp="1"/>
          </p:cNvSpPr>
          <p:nvPr>
            <p:ph sz="quarter" idx="28"/>
          </p:nvPr>
        </p:nvSpPr>
        <p:spPr>
          <a:xfrm>
            <a:off x="304800" y="4572000"/>
            <a:ext cx="4267200" cy="304800"/>
          </a:xfrm>
          <a:prstGeom prst="rect">
            <a:avLst/>
          </a:prstGeom>
        </p:spPr>
        <p:txBody>
          <a:bodyPr/>
          <a:lstStyle>
            <a:lvl1pPr marL="0" indent="0">
              <a:buNone/>
              <a:defRPr/>
            </a:lvl1pPr>
          </a:lstStyle>
          <a:p>
            <a:pPr lvl="0"/>
            <a:endParaRPr lang="en-US" dirty="0"/>
          </a:p>
        </p:txBody>
      </p:sp>
      <p:sp>
        <p:nvSpPr>
          <p:cNvPr id="30" name="Content Placeholder 29">
            <a:extLst>
              <a:ext uri="{FF2B5EF4-FFF2-40B4-BE49-F238E27FC236}">
                <a16:creationId xmlns:a16="http://schemas.microsoft.com/office/drawing/2014/main" id="{00FAAFD7-3BF8-4817-B2E7-F4BF8BC460E2}"/>
              </a:ext>
            </a:extLst>
          </p:cNvPr>
          <p:cNvSpPr>
            <a:spLocks noGrp="1"/>
          </p:cNvSpPr>
          <p:nvPr>
            <p:ph sz="quarter" idx="29"/>
          </p:nvPr>
        </p:nvSpPr>
        <p:spPr>
          <a:xfrm>
            <a:off x="4724400" y="4572001"/>
            <a:ext cx="4114800" cy="304799"/>
          </a:xfrm>
          <a:prstGeom prst="rect">
            <a:avLst/>
          </a:prstGeom>
        </p:spPr>
        <p:txBody>
          <a:bodyPr/>
          <a:lstStyle>
            <a:lvl1pPr marL="0" indent="0">
              <a:buNone/>
              <a:defRPr/>
            </a:lvl1pPr>
          </a:lstStyle>
          <a:p>
            <a:pPr lvl="0"/>
            <a:endParaRPr lang="en-US" dirty="0"/>
          </a:p>
        </p:txBody>
      </p:sp>
      <p:sp>
        <p:nvSpPr>
          <p:cNvPr id="32" name="Content Placeholder 31">
            <a:extLst>
              <a:ext uri="{FF2B5EF4-FFF2-40B4-BE49-F238E27FC236}">
                <a16:creationId xmlns:a16="http://schemas.microsoft.com/office/drawing/2014/main" id="{E0D49398-7F51-4317-B17A-DBCFC82109F7}"/>
              </a:ext>
            </a:extLst>
          </p:cNvPr>
          <p:cNvSpPr>
            <a:spLocks noGrp="1"/>
          </p:cNvSpPr>
          <p:nvPr>
            <p:ph sz="quarter" idx="30"/>
          </p:nvPr>
        </p:nvSpPr>
        <p:spPr>
          <a:xfrm>
            <a:off x="304800" y="4953001"/>
            <a:ext cx="4267200" cy="381000"/>
          </a:xfrm>
          <a:prstGeom prst="rect">
            <a:avLst/>
          </a:prstGeom>
        </p:spPr>
        <p:txBody>
          <a:bodyPr/>
          <a:lstStyle>
            <a:lvl1pPr marL="0" indent="0">
              <a:buNone/>
              <a:defRPr/>
            </a:lvl1pPr>
          </a:lstStyle>
          <a:p>
            <a:pPr lvl="0"/>
            <a:endParaRPr lang="en-US" dirty="0"/>
          </a:p>
        </p:txBody>
      </p:sp>
      <p:sp>
        <p:nvSpPr>
          <p:cNvPr id="34" name="Content Placeholder 33">
            <a:extLst>
              <a:ext uri="{FF2B5EF4-FFF2-40B4-BE49-F238E27FC236}">
                <a16:creationId xmlns:a16="http://schemas.microsoft.com/office/drawing/2014/main" id="{7F70BB82-7130-4437-91C1-5D4AAC7AA6F0}"/>
              </a:ext>
            </a:extLst>
          </p:cNvPr>
          <p:cNvSpPr>
            <a:spLocks noGrp="1"/>
          </p:cNvSpPr>
          <p:nvPr>
            <p:ph sz="quarter" idx="31"/>
          </p:nvPr>
        </p:nvSpPr>
        <p:spPr>
          <a:xfrm>
            <a:off x="4724400" y="4953000"/>
            <a:ext cx="4114800" cy="381000"/>
          </a:xfrm>
          <a:prstGeom prst="rect">
            <a:avLst/>
          </a:prstGeom>
        </p:spPr>
        <p:txBody>
          <a:bodyPr/>
          <a:lstStyle>
            <a:lvl1pPr marL="0" indent="0">
              <a:buNone/>
              <a:defRPr/>
            </a:lvl1pPr>
          </a:lstStyle>
          <a:p>
            <a:pPr lvl="0"/>
            <a:endParaRPr lang="en-US" dirty="0"/>
          </a:p>
        </p:txBody>
      </p:sp>
      <p:sp>
        <p:nvSpPr>
          <p:cNvPr id="36" name="Content Placeholder 35">
            <a:extLst>
              <a:ext uri="{FF2B5EF4-FFF2-40B4-BE49-F238E27FC236}">
                <a16:creationId xmlns:a16="http://schemas.microsoft.com/office/drawing/2014/main" id="{78B55E74-A183-4F7C-97DC-E41ED4AFE2F0}"/>
              </a:ext>
            </a:extLst>
          </p:cNvPr>
          <p:cNvSpPr>
            <a:spLocks noGrp="1"/>
          </p:cNvSpPr>
          <p:nvPr>
            <p:ph sz="quarter" idx="32"/>
          </p:nvPr>
        </p:nvSpPr>
        <p:spPr>
          <a:xfrm>
            <a:off x="304800" y="5376730"/>
            <a:ext cx="4267200" cy="381000"/>
          </a:xfrm>
          <a:prstGeom prst="rect">
            <a:avLst/>
          </a:prstGeom>
        </p:spPr>
        <p:txBody>
          <a:bodyPr/>
          <a:lstStyle>
            <a:lvl1pPr marL="0" indent="0">
              <a:buNone/>
              <a:defRPr/>
            </a:lvl1pPr>
          </a:lstStyle>
          <a:p>
            <a:pPr lvl="0"/>
            <a:endParaRPr lang="en-US" dirty="0"/>
          </a:p>
        </p:txBody>
      </p:sp>
      <p:sp>
        <p:nvSpPr>
          <p:cNvPr id="38" name="Content Placeholder 37">
            <a:extLst>
              <a:ext uri="{FF2B5EF4-FFF2-40B4-BE49-F238E27FC236}">
                <a16:creationId xmlns:a16="http://schemas.microsoft.com/office/drawing/2014/main" id="{1DFFC32A-D015-4E75-8F48-0680EC4D2EB0}"/>
              </a:ext>
            </a:extLst>
          </p:cNvPr>
          <p:cNvSpPr>
            <a:spLocks noGrp="1"/>
          </p:cNvSpPr>
          <p:nvPr>
            <p:ph sz="quarter" idx="33"/>
          </p:nvPr>
        </p:nvSpPr>
        <p:spPr>
          <a:xfrm>
            <a:off x="4724400" y="5392738"/>
            <a:ext cx="4114800" cy="365125"/>
          </a:xfrm>
          <a:prstGeom prst="rect">
            <a:avLst/>
          </a:prstGeom>
        </p:spPr>
        <p:txBody>
          <a:bodyPr/>
          <a:lstStyle>
            <a:lvl1pPr marL="0" indent="0">
              <a:buNone/>
              <a:defRPr/>
            </a:lvl1pPr>
          </a:lstStyle>
          <a:p>
            <a:pPr lvl="0"/>
            <a:endParaRPr lang="en-US" dirty="0"/>
          </a:p>
        </p:txBody>
      </p:sp>
      <p:sp>
        <p:nvSpPr>
          <p:cNvPr id="40" name="Content Placeholder 39">
            <a:extLst>
              <a:ext uri="{FF2B5EF4-FFF2-40B4-BE49-F238E27FC236}">
                <a16:creationId xmlns:a16="http://schemas.microsoft.com/office/drawing/2014/main" id="{FC4643E0-42A6-49E8-9F03-3C26CB9D6497}"/>
              </a:ext>
            </a:extLst>
          </p:cNvPr>
          <p:cNvSpPr>
            <a:spLocks noGrp="1"/>
          </p:cNvSpPr>
          <p:nvPr>
            <p:ph sz="quarter" idx="34"/>
          </p:nvPr>
        </p:nvSpPr>
        <p:spPr>
          <a:xfrm>
            <a:off x="304800" y="5791200"/>
            <a:ext cx="4267200" cy="365125"/>
          </a:xfrm>
          <a:prstGeom prst="rect">
            <a:avLst/>
          </a:prstGeom>
        </p:spPr>
        <p:txBody>
          <a:bodyPr/>
          <a:lstStyle>
            <a:lvl1pPr marL="0" indent="0">
              <a:buNone/>
              <a:defRPr/>
            </a:lvl1pPr>
          </a:lstStyle>
          <a:p>
            <a:pPr lvl="0"/>
            <a:endParaRPr lang="en-US" dirty="0"/>
          </a:p>
        </p:txBody>
      </p:sp>
      <p:sp>
        <p:nvSpPr>
          <p:cNvPr id="42" name="Content Placeholder 41">
            <a:extLst>
              <a:ext uri="{FF2B5EF4-FFF2-40B4-BE49-F238E27FC236}">
                <a16:creationId xmlns:a16="http://schemas.microsoft.com/office/drawing/2014/main" id="{34298EB3-92EF-4C89-B045-581BE7F6E4C8}"/>
              </a:ext>
            </a:extLst>
          </p:cNvPr>
          <p:cNvSpPr>
            <a:spLocks noGrp="1"/>
          </p:cNvSpPr>
          <p:nvPr>
            <p:ph sz="quarter" idx="35"/>
          </p:nvPr>
        </p:nvSpPr>
        <p:spPr>
          <a:xfrm>
            <a:off x="4724400" y="5791200"/>
            <a:ext cx="4114800" cy="365125"/>
          </a:xfrm>
          <a:prstGeom prst="rect">
            <a:avLst/>
          </a:prstGeom>
        </p:spPr>
        <p:txBody>
          <a:bodyPr/>
          <a:lstStyle>
            <a:lvl1pPr marL="0" indent="0">
              <a:buNone/>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6740793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5350050"/>
            <a:ext cx="85344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304800" y="820738"/>
            <a:ext cx="85344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304800" y="5780675"/>
            <a:ext cx="85344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5920581"/>
            <a:ext cx="85344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304800" y="820738"/>
            <a:ext cx="85344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295274" y="777242"/>
            <a:ext cx="8543926"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43713"/>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704" y="762002"/>
            <a:ext cx="8540496"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6512"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84" r:id="rId3"/>
    <p:sldLayoutId id="2147483985" r:id="rId4"/>
    <p:sldLayoutId id="2147483980" r:id="rId5"/>
    <p:sldLayoutId id="2147483981" r:id="rId6"/>
    <p:sldLayoutId id="2147483982" r:id="rId7"/>
    <p:sldLayoutId id="2147483983" r:id="rId8"/>
    <p:sldLayoutId id="2147483974" r:id="rId9"/>
    <p:sldLayoutId id="2147483975" r:id="rId10"/>
    <p:sldLayoutId id="2147483986"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400800"/>
            <a:ext cx="3086100" cy="365125"/>
          </a:xfrm>
          <a:prstGeom prst="rect">
            <a:avLst/>
          </a:prstGeom>
        </p:spPr>
        <p:txBody>
          <a:bodyPr vert="horz" lIns="91440" tIns="45720" rIns="91440" bIns="45720" rtlCol="0" anchor="ctr"/>
          <a:lstStyle>
            <a:lvl1pPr algn="ctr">
              <a:defRPr sz="1200">
                <a:solidFill>
                  <a:schemeClr val="tx1"/>
                </a:solidFill>
              </a:defRPr>
            </a:lvl1pPr>
          </a:lstStyle>
          <a:p>
            <a:r>
              <a:rPr lang="en-US"/>
              <a:t>Copyright ©2018 John Wiley &amp; Sons, Inc. </a:t>
            </a:r>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solidFill>
              </a:defRPr>
            </a:lvl1pPr>
          </a:lstStyle>
          <a:p>
            <a:fld id="{42181430-7FCB-BA4C-90CE-EB7ACCC9EC50}" type="slidenum">
              <a:rPr lang="en-US" smtClean="0"/>
              <a:pPr/>
              <a:t>‹#›</a:t>
            </a:fld>
            <a:endParaRPr lang="en-US"/>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4.xml"/><Relationship Id="rId1" Type="http://schemas.openxmlformats.org/officeDocument/2006/relationships/vmlDrawing" Target="../drawings/vmlDrawing1.vml"/><Relationship Id="rId4" Type="http://schemas.openxmlformats.org/officeDocument/2006/relationships/image" Target="../media/image14.wm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6.wmf"/><Relationship Id="rId2" Type="http://schemas.openxmlformats.org/officeDocument/2006/relationships/slideLayout" Target="../slideLayouts/slideLayout25.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5.wmf"/><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52400" y="301126"/>
            <a:ext cx="8839200" cy="1146674"/>
          </a:xfrm>
        </p:spPr>
        <p:txBody>
          <a:bodyPr/>
          <a:lstStyle/>
          <a:p>
            <a:r>
              <a:rPr lang="en-US" dirty="0">
                <a:latin typeface="Calibri" panose="020F0502020204030204" pitchFamily="34" charset="0"/>
              </a:rPr>
              <a:t>Accounting Principles</a:t>
            </a:r>
          </a:p>
        </p:txBody>
      </p:sp>
      <p:sp>
        <p:nvSpPr>
          <p:cNvPr id="3" name="Edition"/>
          <p:cNvSpPr>
            <a:spLocks noGrp="1"/>
          </p:cNvSpPr>
          <p:nvPr>
            <p:ph sz="quarter" idx="17"/>
          </p:nvPr>
        </p:nvSpPr>
        <p:spPr>
          <a:xfrm>
            <a:off x="152400" y="1669054"/>
            <a:ext cx="8839200" cy="503802"/>
          </a:xfrm>
        </p:spPr>
        <p:txBody>
          <a:bodyPr/>
          <a:lstStyle/>
          <a:p>
            <a:r>
              <a:rPr lang="en-US" dirty="0"/>
              <a:t>Thirteenth Edition</a:t>
            </a:r>
          </a:p>
        </p:txBody>
      </p:sp>
      <p:sp>
        <p:nvSpPr>
          <p:cNvPr id="4" name="Author"/>
          <p:cNvSpPr>
            <a:spLocks noGrp="1"/>
          </p:cNvSpPr>
          <p:nvPr>
            <p:ph sz="quarter" idx="18"/>
          </p:nvPr>
        </p:nvSpPr>
        <p:spPr>
          <a:xfrm>
            <a:off x="152400" y="2364849"/>
            <a:ext cx="8839200" cy="468411"/>
          </a:xfrm>
        </p:spPr>
        <p:txBody>
          <a:bodyPr/>
          <a:lstStyle/>
          <a:p>
            <a:r>
              <a:rPr lang="en-US" dirty="0"/>
              <a:t>Weygandt </a:t>
            </a:r>
            <a:r>
              <a:rPr lang="en-US" dirty="0">
                <a:ea typeface="STIX" charset="0"/>
                <a:cs typeface="STIX" charset="0"/>
              </a:rPr>
              <a:t>● </a:t>
            </a:r>
            <a:r>
              <a:rPr lang="en-US" dirty="0"/>
              <a:t>Kimmel </a:t>
            </a:r>
            <a:r>
              <a:rPr lang="en-US" dirty="0">
                <a:ea typeface="STIX" charset="0"/>
                <a:cs typeface="STIX" charset="0"/>
              </a:rPr>
              <a:t>● </a:t>
            </a:r>
            <a:r>
              <a:rPr lang="en-US" dirty="0"/>
              <a:t>Kieso</a:t>
            </a:r>
          </a:p>
        </p:txBody>
      </p:sp>
      <p:sp>
        <p:nvSpPr>
          <p:cNvPr id="5" name="CN"/>
          <p:cNvSpPr>
            <a:spLocks noGrp="1"/>
          </p:cNvSpPr>
          <p:nvPr>
            <p:ph sz="quarter" idx="19"/>
          </p:nvPr>
        </p:nvSpPr>
        <p:spPr>
          <a:xfrm>
            <a:off x="152400" y="3728006"/>
            <a:ext cx="8839200" cy="645414"/>
          </a:xfrm>
        </p:spPr>
        <p:txBody>
          <a:bodyPr/>
          <a:lstStyle/>
          <a:p>
            <a:r>
              <a:rPr lang="en-US" b="1" dirty="0"/>
              <a:t>Chapter 10</a:t>
            </a:r>
          </a:p>
        </p:txBody>
      </p:sp>
      <p:sp>
        <p:nvSpPr>
          <p:cNvPr id="6" name="CT"/>
          <p:cNvSpPr>
            <a:spLocks noGrp="1"/>
          </p:cNvSpPr>
          <p:nvPr>
            <p:ph sz="quarter" idx="20"/>
          </p:nvPr>
        </p:nvSpPr>
        <p:spPr>
          <a:xfrm>
            <a:off x="152400" y="4572000"/>
            <a:ext cx="8839200" cy="990600"/>
          </a:xfrm>
        </p:spPr>
        <p:txBody>
          <a:bodyPr/>
          <a:lstStyle/>
          <a:p>
            <a:r>
              <a:rPr lang="en-US" sz="4000" dirty="0"/>
              <a:t>Plant Assets, Natural Resources, and Intangible Assets</a:t>
            </a:r>
          </a:p>
        </p:txBody>
      </p:sp>
      <p:sp>
        <p:nvSpPr>
          <p:cNvPr id="7" name="Content Placeholder 6"/>
          <p:cNvSpPr>
            <a:spLocks noGrp="1"/>
          </p:cNvSpPr>
          <p:nvPr>
            <p:ph sz="quarter" idx="21"/>
          </p:nvPr>
        </p:nvSpPr>
        <p:spPr>
          <a:xfrm>
            <a:off x="152400" y="5715000"/>
            <a:ext cx="8839200" cy="533400"/>
          </a:xfrm>
        </p:spPr>
        <p:txBody>
          <a:bodyPr/>
          <a:lstStyle/>
          <a:p>
            <a:r>
              <a:rPr lang="en-IN" sz="1600" dirty="0">
                <a:solidFill>
                  <a:schemeClr val="bg1"/>
                </a:solidFill>
                <a:latin typeface="Calibri" panose="020F0502020204030204" pitchFamily="34" charset="0"/>
              </a:rPr>
              <a:t>This slide deck contains animations. Please disable animations if they cause issues with your device.</a:t>
            </a:r>
          </a:p>
        </p:txBody>
      </p:sp>
    </p:spTree>
    <p:extLst>
      <p:ext uri="{BB962C8B-B14F-4D97-AF65-F5344CB8AC3E}">
        <p14:creationId xmlns:p14="http://schemas.microsoft.com/office/powerpoint/2010/main" val="2870565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C338A-C92C-46EC-A599-E61C5DED5205}"/>
              </a:ext>
            </a:extLst>
          </p:cNvPr>
          <p:cNvSpPr>
            <a:spLocks noGrp="1"/>
          </p:cNvSpPr>
          <p:nvPr>
            <p:ph type="title"/>
          </p:nvPr>
        </p:nvSpPr>
        <p:spPr>
          <a:xfrm>
            <a:off x="304800" y="762001"/>
            <a:ext cx="8534400" cy="685799"/>
          </a:xfrm>
        </p:spPr>
        <p:txBody>
          <a:bodyPr/>
          <a:lstStyle/>
          <a:p>
            <a:r>
              <a:rPr lang="en-US" b="1" dirty="0">
                <a:ea typeface="Source Sans Pro" charset="0"/>
                <a:cs typeface="Calibri" panose="020F0502020204030204" pitchFamily="34" charset="0"/>
              </a:rPr>
              <a:t>Comparison of Depreciation Methods</a:t>
            </a:r>
            <a:endParaRPr lang="en-US" dirty="0"/>
          </a:p>
        </p:txBody>
      </p:sp>
      <p:graphicFrame>
        <p:nvGraphicFramePr>
          <p:cNvPr id="9" name="Content Placeholder 8" descr="Table is accessible to screenreaders">
            <a:extLst>
              <a:ext uri="{FF2B5EF4-FFF2-40B4-BE49-F238E27FC236}">
                <a16:creationId xmlns:a16="http://schemas.microsoft.com/office/drawing/2014/main" id="{FACA394B-A00B-41E1-AD33-A57446F3D9C4}"/>
              </a:ext>
            </a:extLst>
          </p:cNvPr>
          <p:cNvGraphicFramePr>
            <a:graphicFrameLocks noGrp="1"/>
          </p:cNvGraphicFramePr>
          <p:nvPr>
            <p:ph sz="quarter" idx="17"/>
            <p:extLst>
              <p:ext uri="{D42A27DB-BD31-4B8C-83A1-F6EECF244321}">
                <p14:modId xmlns:p14="http://schemas.microsoft.com/office/powerpoint/2010/main" val="913621923"/>
              </p:ext>
            </p:extLst>
          </p:nvPr>
        </p:nvGraphicFramePr>
        <p:xfrm>
          <a:off x="457200" y="1828800"/>
          <a:ext cx="4114803" cy="2685626"/>
        </p:xfrm>
        <a:graphic>
          <a:graphicData uri="http://schemas.openxmlformats.org/drawingml/2006/table">
            <a:tbl>
              <a:tblPr firstRow="1" bandRow="1">
                <a:tableStyleId>{5C22544A-7EE6-4342-B048-85BDC9FD1C3A}</a:tableStyleId>
              </a:tblPr>
              <a:tblGrid>
                <a:gridCol w="587829">
                  <a:extLst>
                    <a:ext uri="{9D8B030D-6E8A-4147-A177-3AD203B41FA5}">
                      <a16:colId xmlns:a16="http://schemas.microsoft.com/office/drawing/2014/main" val="4070056466"/>
                    </a:ext>
                  </a:extLst>
                </a:gridCol>
                <a:gridCol w="174171">
                  <a:extLst>
                    <a:ext uri="{9D8B030D-6E8A-4147-A177-3AD203B41FA5}">
                      <a16:colId xmlns:a16="http://schemas.microsoft.com/office/drawing/2014/main" val="1009157236"/>
                    </a:ext>
                  </a:extLst>
                </a:gridCol>
                <a:gridCol w="1001487">
                  <a:extLst>
                    <a:ext uri="{9D8B030D-6E8A-4147-A177-3AD203B41FA5}">
                      <a16:colId xmlns:a16="http://schemas.microsoft.com/office/drawing/2014/main" val="821386722"/>
                    </a:ext>
                  </a:extLst>
                </a:gridCol>
                <a:gridCol w="141513">
                  <a:extLst>
                    <a:ext uri="{9D8B030D-6E8A-4147-A177-3AD203B41FA5}">
                      <a16:colId xmlns:a16="http://schemas.microsoft.com/office/drawing/2014/main" val="3769474973"/>
                    </a:ext>
                  </a:extLst>
                </a:gridCol>
                <a:gridCol w="914400">
                  <a:extLst>
                    <a:ext uri="{9D8B030D-6E8A-4147-A177-3AD203B41FA5}">
                      <a16:colId xmlns:a16="http://schemas.microsoft.com/office/drawing/2014/main" val="1133037182"/>
                    </a:ext>
                  </a:extLst>
                </a:gridCol>
                <a:gridCol w="153611">
                  <a:extLst>
                    <a:ext uri="{9D8B030D-6E8A-4147-A177-3AD203B41FA5}">
                      <a16:colId xmlns:a16="http://schemas.microsoft.com/office/drawing/2014/main" val="2423686535"/>
                    </a:ext>
                  </a:extLst>
                </a:gridCol>
                <a:gridCol w="1141792">
                  <a:extLst>
                    <a:ext uri="{9D8B030D-6E8A-4147-A177-3AD203B41FA5}">
                      <a16:colId xmlns:a16="http://schemas.microsoft.com/office/drawing/2014/main" val="2996764531"/>
                    </a:ext>
                  </a:extLst>
                </a:gridCol>
              </a:tblGrid>
              <a:tr h="370840">
                <a:tc>
                  <a:txBody>
                    <a:bodyPr/>
                    <a:lstStyle/>
                    <a:p>
                      <a:pPr algn="ctr" fontAlgn="b"/>
                      <a:r>
                        <a:rPr lang="en-US" sz="1800" b="1" u="none" strike="noStrike" baseline="0" dirty="0">
                          <a:solidFill>
                            <a:schemeClr val="tx1"/>
                          </a:solidFill>
                          <a:effectLst/>
                          <a:latin typeface="Calibri" panose="020F0502020204030204" pitchFamily="34" charset="0"/>
                        </a:rPr>
                        <a:t>Year</a:t>
                      </a:r>
                      <a:endParaRPr lang="en-US" sz="1800" b="1"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 b="1" i="0" u="none" strike="noStrike" baseline="0" dirty="0">
                          <a:solidFill>
                            <a:schemeClr val="tx1"/>
                          </a:solidFill>
                          <a:effectLst/>
                          <a:latin typeface="Calibri" panose="020F0502020204030204" pitchFamily="34" charset="0"/>
                        </a:rPr>
                        <a:t>.</a:t>
                      </a:r>
                    </a:p>
                  </a:txBody>
                  <a:tcPr marL="4233" marR="4233"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1800" b="1" u="none" strike="noStrike" baseline="0" dirty="0">
                          <a:solidFill>
                            <a:schemeClr val="tx1"/>
                          </a:solidFill>
                          <a:effectLst/>
                          <a:latin typeface="Calibri" panose="020F0502020204030204" pitchFamily="34" charset="0"/>
                        </a:rPr>
                        <a:t>Straight-Line</a:t>
                      </a:r>
                      <a:endParaRPr lang="en-US" sz="1800" b="1" i="0" u="none" strike="noStrike" baseline="0" dirty="0">
                        <a:solidFill>
                          <a:schemeClr val="tx1"/>
                        </a:solidFill>
                        <a:effectLst/>
                        <a:latin typeface="Calibri" panose="020F0502020204030204" pitchFamily="34" charset="0"/>
                      </a:endParaRPr>
                    </a:p>
                  </a:txBody>
                  <a:tcPr marL="4233" marR="4233" marT="423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00" b="1" i="0" u="none" strike="noStrike" baseline="0" dirty="0">
                          <a:solidFill>
                            <a:schemeClr val="tx1"/>
                          </a:solidFill>
                          <a:effectLst/>
                          <a:latin typeface="Calibri" panose="020F0502020204030204" pitchFamily="34" charset="0"/>
                        </a:rPr>
                        <a:t>.</a:t>
                      </a:r>
                    </a:p>
                  </a:txBody>
                  <a:tcPr marL="4233" marR="4233"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1800" b="1" u="none" strike="noStrike" baseline="0" dirty="0">
                          <a:solidFill>
                            <a:schemeClr val="tx1"/>
                          </a:solidFill>
                          <a:effectLst/>
                          <a:latin typeface="Calibri" panose="020F0502020204030204" pitchFamily="34" charset="0"/>
                        </a:rPr>
                        <a:t>Units-of-Activity</a:t>
                      </a:r>
                      <a:endParaRPr lang="en-US" sz="1800" b="1" i="0" u="none" strike="noStrike" baseline="0" dirty="0">
                        <a:solidFill>
                          <a:schemeClr val="tx1"/>
                        </a:solidFill>
                        <a:effectLst/>
                        <a:latin typeface="Calibri" panose="020F0502020204030204" pitchFamily="34" charset="0"/>
                      </a:endParaRPr>
                    </a:p>
                  </a:txBody>
                  <a:tcPr marL="4233" marR="4233" marT="423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00" b="1" i="0" u="none" strike="noStrike" baseline="0" dirty="0">
                          <a:solidFill>
                            <a:schemeClr val="tx1"/>
                          </a:solidFill>
                          <a:effectLst/>
                          <a:latin typeface="Calibri" panose="020F0502020204030204" pitchFamily="34" charset="0"/>
                        </a:rPr>
                        <a:t>.</a:t>
                      </a:r>
                    </a:p>
                  </a:txBody>
                  <a:tcPr marL="4233" marR="4233"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1800" b="1" u="none" strike="noStrike" baseline="0" dirty="0">
                          <a:solidFill>
                            <a:schemeClr val="tx1"/>
                          </a:solidFill>
                          <a:effectLst/>
                          <a:latin typeface="Calibri" panose="020F0502020204030204" pitchFamily="34" charset="0"/>
                        </a:rPr>
                        <a:t>Declining- </a:t>
                      </a:r>
                    </a:p>
                    <a:p>
                      <a:pPr algn="ctr" fontAlgn="b"/>
                      <a:r>
                        <a:rPr lang="en-US" sz="1800" b="1" u="none" strike="noStrike" baseline="0" dirty="0">
                          <a:solidFill>
                            <a:schemeClr val="tx1"/>
                          </a:solidFill>
                          <a:effectLst/>
                          <a:latin typeface="Calibri" panose="020F0502020204030204" pitchFamily="34" charset="0"/>
                        </a:rPr>
                        <a:t>Balance</a:t>
                      </a:r>
                      <a:endParaRPr lang="en-US" sz="1800" b="1" i="0" u="none" strike="noStrike" baseline="0" dirty="0">
                        <a:solidFill>
                          <a:schemeClr val="tx1"/>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4585484"/>
                  </a:ext>
                </a:extLst>
              </a:tr>
              <a:tr h="370840">
                <a:tc>
                  <a:txBody>
                    <a:bodyPr/>
                    <a:lstStyle/>
                    <a:p>
                      <a:pPr algn="ctr" fontAlgn="b"/>
                      <a:r>
                        <a:rPr lang="en-US" sz="1800" u="none" strike="noStrike" baseline="0" dirty="0">
                          <a:solidFill>
                            <a:schemeClr val="tx1"/>
                          </a:solidFill>
                          <a:effectLst/>
                          <a:latin typeface="Calibri" panose="020F0502020204030204" pitchFamily="34" charset="0"/>
                        </a:rPr>
                        <a:t>2020</a:t>
                      </a:r>
                      <a:endParaRPr lang="en-US" sz="1800" b="0"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  2,400</a:t>
                      </a:r>
                      <a:endParaRPr lang="en-US" sz="1800" b="0" i="0" u="none" strike="noStrike" baseline="0" dirty="0">
                        <a:solidFill>
                          <a:schemeClr val="tx1"/>
                        </a:solidFill>
                        <a:effectLst/>
                        <a:latin typeface="Calibri" panose="020F0502020204030204" pitchFamily="34" charset="0"/>
                      </a:endParaRPr>
                    </a:p>
                  </a:txBody>
                  <a:tcPr marL="4233" marR="4233"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  1,800</a:t>
                      </a:r>
                      <a:endParaRPr lang="en-US" sz="1800" b="0" i="0" u="none" strike="noStrike" baseline="0" dirty="0">
                        <a:solidFill>
                          <a:schemeClr val="tx1"/>
                        </a:solidFill>
                        <a:effectLst/>
                        <a:latin typeface="Calibri" panose="020F0502020204030204" pitchFamily="34" charset="0"/>
                      </a:endParaRPr>
                    </a:p>
                  </a:txBody>
                  <a:tcPr marL="4233" marR="4233"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  5,200</a:t>
                      </a:r>
                      <a:endParaRPr lang="en-US" sz="1800" b="0" i="0" u="none" strike="noStrike" baseline="0" dirty="0">
                        <a:solidFill>
                          <a:schemeClr val="tx1"/>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307565556"/>
                  </a:ext>
                </a:extLst>
              </a:tr>
              <a:tr h="370840">
                <a:tc>
                  <a:txBody>
                    <a:bodyPr/>
                    <a:lstStyle/>
                    <a:p>
                      <a:pPr algn="ctr" fontAlgn="b"/>
                      <a:r>
                        <a:rPr lang="en-US" sz="1800" u="none" strike="noStrike" baseline="0" dirty="0">
                          <a:solidFill>
                            <a:schemeClr val="tx1"/>
                          </a:solidFill>
                          <a:effectLst/>
                          <a:latin typeface="Calibri" panose="020F0502020204030204" pitchFamily="34" charset="0"/>
                        </a:rPr>
                        <a:t>2021</a:t>
                      </a:r>
                      <a:endParaRPr lang="en-US" sz="1800" b="0"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3,600</a:t>
                      </a:r>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3,120</a:t>
                      </a:r>
                      <a:endParaRPr lang="en-US" sz="1800" b="0" i="0" u="none" strike="noStrike" baseline="0" dirty="0">
                        <a:solidFill>
                          <a:schemeClr val="tx1"/>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2041745146"/>
                  </a:ext>
                </a:extLst>
              </a:tr>
              <a:tr h="370840">
                <a:tc>
                  <a:txBody>
                    <a:bodyPr/>
                    <a:lstStyle/>
                    <a:p>
                      <a:pPr algn="ctr" fontAlgn="b"/>
                      <a:r>
                        <a:rPr lang="en-US" sz="1800" u="none" strike="noStrike" baseline="0" dirty="0">
                          <a:solidFill>
                            <a:schemeClr val="tx1"/>
                          </a:solidFill>
                          <a:effectLst/>
                          <a:latin typeface="Calibri" panose="020F0502020204030204" pitchFamily="34" charset="0"/>
                        </a:rPr>
                        <a:t>2022</a:t>
                      </a:r>
                      <a:endParaRPr lang="en-US" sz="1800" b="0"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1,872</a:t>
                      </a:r>
                      <a:endParaRPr lang="en-US" sz="1800" b="0" i="0" u="none" strike="noStrike" baseline="0" dirty="0">
                        <a:solidFill>
                          <a:schemeClr val="tx1"/>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619430687"/>
                  </a:ext>
                </a:extLst>
              </a:tr>
              <a:tr h="370840">
                <a:tc>
                  <a:txBody>
                    <a:bodyPr/>
                    <a:lstStyle/>
                    <a:p>
                      <a:pPr algn="ctr" fontAlgn="b"/>
                      <a:r>
                        <a:rPr lang="en-US" sz="1800" u="none" strike="noStrike" baseline="0" dirty="0">
                          <a:solidFill>
                            <a:schemeClr val="tx1"/>
                          </a:solidFill>
                          <a:effectLst/>
                          <a:latin typeface="Calibri" panose="020F0502020204030204" pitchFamily="34" charset="0"/>
                        </a:rPr>
                        <a:t>2023</a:t>
                      </a:r>
                      <a:endParaRPr lang="en-US" sz="1800" b="0"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2,400</a:t>
                      </a:r>
                      <a:endParaRPr lang="en-US" sz="1800" b="0" i="0" u="none" strike="noStrike" baseline="0" dirty="0">
                        <a:solidFill>
                          <a:schemeClr val="tx1"/>
                        </a:solidFill>
                        <a:effectLst/>
                        <a:latin typeface="Calibri" panose="020F0502020204030204" pitchFamily="34" charset="0"/>
                      </a:endParaRPr>
                    </a:p>
                  </a:txBody>
                  <a:tcPr marL="4233" marR="4233" marT="4233" marB="0" anchor="b">
                    <a:lnB w="12700" cmpd="sng">
                      <a:noFill/>
                    </a:ln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lnB w="12700" cmpd="sng">
                      <a:noFill/>
                    </a:ln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3,000</a:t>
                      </a:r>
                      <a:endParaRPr lang="en-US" sz="1800" b="0" i="0" u="none" strike="noStrike" baseline="0" dirty="0">
                        <a:solidFill>
                          <a:schemeClr val="tx1"/>
                        </a:solidFill>
                        <a:effectLst/>
                        <a:latin typeface="Calibri" panose="020F0502020204030204" pitchFamily="34" charset="0"/>
                      </a:endParaRPr>
                    </a:p>
                  </a:txBody>
                  <a:tcPr marL="4233" marR="4233" marT="4233" marB="0" anchor="b">
                    <a:lnB w="12700" cmpd="sng">
                      <a:noFill/>
                    </a:ln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lnB w="12700" cmpd="sng">
                      <a:noFill/>
                    </a:lnB>
                    <a:solidFill>
                      <a:schemeClr val="bg1"/>
                    </a:solidFill>
                  </a:tcPr>
                </a:tc>
                <a:tc>
                  <a:txBody>
                    <a:bodyPr/>
                    <a:lstStyle/>
                    <a:p>
                      <a:pPr algn="r" fontAlgn="b"/>
                      <a:r>
                        <a:rPr lang="en-US" sz="1800" u="none" strike="noStrike" baseline="0" dirty="0">
                          <a:solidFill>
                            <a:schemeClr val="tx1"/>
                          </a:solidFill>
                          <a:effectLst/>
                          <a:latin typeface="Calibri" panose="020F0502020204030204" pitchFamily="34" charset="0"/>
                        </a:rPr>
                        <a:t>1,123</a:t>
                      </a:r>
                      <a:endParaRPr lang="en-US" sz="1800" b="0" i="0" u="none" strike="noStrike" baseline="0" dirty="0">
                        <a:solidFill>
                          <a:schemeClr val="tx1"/>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B w="12700" cmpd="sng">
                      <a:noFill/>
                    </a:lnB>
                    <a:solidFill>
                      <a:schemeClr val="bg1"/>
                    </a:solidFill>
                  </a:tcPr>
                </a:tc>
                <a:extLst>
                  <a:ext uri="{0D108BD9-81ED-4DB2-BD59-A6C34878D82A}">
                    <a16:rowId xmlns:a16="http://schemas.microsoft.com/office/drawing/2014/main" val="879720477"/>
                  </a:ext>
                </a:extLst>
              </a:tr>
              <a:tr h="370840">
                <a:tc>
                  <a:txBody>
                    <a:bodyPr/>
                    <a:lstStyle/>
                    <a:p>
                      <a:pPr algn="ctr" fontAlgn="b"/>
                      <a:r>
                        <a:rPr lang="en-US" sz="1800" u="none" strike="noStrike" baseline="0" dirty="0">
                          <a:solidFill>
                            <a:schemeClr val="tx1"/>
                          </a:solidFill>
                          <a:effectLst/>
                          <a:latin typeface="Calibri" panose="020F0502020204030204" pitchFamily="34" charset="0"/>
                        </a:rPr>
                        <a:t>2024</a:t>
                      </a:r>
                      <a:endParaRPr lang="en-US" sz="1800" b="0"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lnR w="12700" cmpd="sng">
                      <a:noFill/>
                    </a:lnR>
                    <a:solidFill>
                      <a:schemeClr val="bg1"/>
                    </a:solidFill>
                  </a:tcPr>
                </a:tc>
                <a:tc>
                  <a:txBody>
                    <a:bodyPr/>
                    <a:lstStyle/>
                    <a:p>
                      <a:pPr algn="r" fontAlgn="b"/>
                      <a:r>
                        <a:rPr lang="en-US" sz="1800" u="sng" strike="noStrike" baseline="0" dirty="0">
                          <a:solidFill>
                            <a:schemeClr val="tx1"/>
                          </a:solidFill>
                          <a:effectLst/>
                          <a:latin typeface="Calibri" panose="020F0502020204030204" pitchFamily="34" charset="0"/>
                        </a:rPr>
                        <a:t>    2,400</a:t>
                      </a:r>
                      <a:endParaRPr lang="en-US" sz="1800" b="0" i="0" u="sng" strike="noStrike" baseline="0" dirty="0">
                        <a:solidFill>
                          <a:schemeClr val="tx1"/>
                        </a:solidFill>
                        <a:effectLst/>
                        <a:latin typeface="Calibri" panose="020F0502020204030204" pitchFamily="34" charset="0"/>
                      </a:endParaRPr>
                    </a:p>
                  </a:txBody>
                  <a:tcPr marL="4233" marR="4233" marT="4233"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US" sz="1800" b="0" i="0" u="sng" strike="noStrike" baseline="0" dirty="0">
                        <a:solidFill>
                          <a:schemeClr val="tx1"/>
                        </a:solidFill>
                        <a:effectLst/>
                        <a:latin typeface="Calibri" panose="020F0502020204030204" pitchFamily="34" charset="0"/>
                      </a:endParaRPr>
                    </a:p>
                  </a:txBody>
                  <a:tcPr marL="4233" marR="4233" marT="4233"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r>
                        <a:rPr lang="en-US" sz="1800" u="sng" strike="noStrike" baseline="0" dirty="0">
                          <a:solidFill>
                            <a:schemeClr val="tx1"/>
                          </a:solidFill>
                          <a:effectLst/>
                          <a:latin typeface="Calibri" panose="020F0502020204030204" pitchFamily="34" charset="0"/>
                        </a:rPr>
                        <a:t>     1,200</a:t>
                      </a:r>
                      <a:endParaRPr lang="en-US" sz="1800" b="0" i="0" u="sng" strike="noStrike" baseline="0" dirty="0">
                        <a:solidFill>
                          <a:schemeClr val="tx1"/>
                        </a:solidFill>
                        <a:effectLst/>
                        <a:latin typeface="Calibri" panose="020F0502020204030204" pitchFamily="34" charset="0"/>
                      </a:endParaRPr>
                    </a:p>
                  </a:txBody>
                  <a:tcPr marL="4233" marR="4233" marT="4233"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US" sz="1800" b="0" i="0" u="sng" strike="noStrike" baseline="0" dirty="0">
                        <a:solidFill>
                          <a:schemeClr val="tx1"/>
                        </a:solidFill>
                        <a:effectLst/>
                        <a:latin typeface="Calibri" panose="020F0502020204030204" pitchFamily="34" charset="0"/>
                      </a:endParaRPr>
                    </a:p>
                  </a:txBody>
                  <a:tcPr marL="4233" marR="4233" marT="4233"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b"/>
                      <a:r>
                        <a:rPr lang="en-US" sz="1800" u="sng" strike="noStrike" baseline="0" dirty="0">
                          <a:solidFill>
                            <a:schemeClr val="tx1"/>
                          </a:solidFill>
                          <a:effectLst/>
                          <a:latin typeface="Calibri" panose="020F0502020204030204" pitchFamily="34" charset="0"/>
                        </a:rPr>
                        <a:t>       685</a:t>
                      </a:r>
                      <a:endParaRPr lang="en-US" sz="1800" b="0" i="0" u="sng" strike="noStrike" baseline="0" dirty="0">
                        <a:solidFill>
                          <a:schemeClr val="tx1"/>
                        </a:solidFill>
                        <a:effectLst/>
                        <a:latin typeface="Calibri" panose="020F0502020204030204" pitchFamily="34" charset="0"/>
                      </a:endParaRPr>
                    </a:p>
                  </a:txBody>
                  <a:tcPr marL="4233" marR="4233" marT="4233"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0779199"/>
                  </a:ext>
                </a:extLst>
              </a:tr>
              <a:tr h="183727">
                <a:tc>
                  <a:txBody>
                    <a:bodyPr/>
                    <a:lstStyle/>
                    <a:p>
                      <a:pPr algn="ctr" fontAlgn="b"/>
                      <a:endParaRPr lang="en-US" sz="1800" b="0" i="0" u="none" strike="noStrike" baseline="0" dirty="0">
                        <a:solidFill>
                          <a:schemeClr val="tx1"/>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800" b="0" i="0" u="none" strike="noStrike" baseline="0" dirty="0">
                        <a:solidFill>
                          <a:schemeClr val="tx1"/>
                        </a:solidFill>
                        <a:effectLst/>
                        <a:latin typeface="Calibri" panose="020F0502020204030204" pitchFamily="34" charset="0"/>
                      </a:endParaRPr>
                    </a:p>
                  </a:txBody>
                  <a:tcPr marL="4233" marR="4233" marT="4233" marB="0" anchor="b">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b="1" u="dbl" strike="noStrike" baseline="0" dirty="0">
                          <a:solidFill>
                            <a:schemeClr val="accent2"/>
                          </a:solidFill>
                          <a:effectLst/>
                          <a:uFill>
                            <a:solidFill>
                              <a:schemeClr val="tx1"/>
                            </a:solidFill>
                          </a:uFill>
                          <a:latin typeface="Calibri" panose="020F0502020204030204" pitchFamily="34" charset="0"/>
                        </a:rPr>
                        <a:t>$12,000</a:t>
                      </a:r>
                      <a:endParaRPr lang="en-US" sz="1800" b="1" i="0" u="dbl" strike="noStrike" baseline="0" dirty="0">
                        <a:solidFill>
                          <a:schemeClr val="accent2"/>
                        </a:solidFill>
                        <a:effectLst/>
                        <a:uFill>
                          <a:solidFill>
                            <a:schemeClr val="tx1"/>
                          </a:solidFill>
                        </a:uFill>
                        <a:latin typeface="Calibri" panose="020F0502020204030204" pitchFamily="34" charset="0"/>
                      </a:endParaRPr>
                    </a:p>
                  </a:txBody>
                  <a:tcPr marL="4233" marR="4233" marT="4233" marB="0" anchor="b">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800" b="1" i="0" u="dbl" strike="noStrike" baseline="0" dirty="0">
                        <a:solidFill>
                          <a:schemeClr val="accent2"/>
                        </a:solidFill>
                        <a:effectLst/>
                        <a:uFill>
                          <a:solidFill>
                            <a:schemeClr val="tx1"/>
                          </a:solidFill>
                        </a:uFill>
                        <a:latin typeface="Calibri" panose="020F0502020204030204" pitchFamily="34" charset="0"/>
                      </a:endParaRPr>
                    </a:p>
                  </a:txBody>
                  <a:tcPr marL="4233" marR="4233" marT="4233" marB="0" anchor="b">
                    <a:lnT w="12700" cmpd="sng">
                      <a:noFill/>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b="1" u="dbl" strike="noStrike" baseline="0" dirty="0">
                          <a:solidFill>
                            <a:schemeClr val="accent2"/>
                          </a:solidFill>
                          <a:effectLst/>
                          <a:uFill>
                            <a:solidFill>
                              <a:schemeClr val="tx1"/>
                            </a:solidFill>
                          </a:uFill>
                          <a:latin typeface="Calibri" panose="020F0502020204030204" pitchFamily="34" charset="0"/>
                        </a:rPr>
                        <a:t>$12,000</a:t>
                      </a:r>
                      <a:endParaRPr lang="en-US" sz="1800" b="1" i="0" u="dbl" strike="noStrike" baseline="0" dirty="0">
                        <a:solidFill>
                          <a:schemeClr val="accent2"/>
                        </a:solidFill>
                        <a:effectLst/>
                        <a:uFill>
                          <a:solidFill>
                            <a:schemeClr val="tx1"/>
                          </a:solidFill>
                        </a:uFill>
                        <a:latin typeface="Calibri" panose="020F0502020204030204" pitchFamily="34" charset="0"/>
                      </a:endParaRPr>
                    </a:p>
                  </a:txBody>
                  <a:tcPr marL="4233" marR="4233" marT="4233" marB="0" anchor="b">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800" b="1" i="0" u="dbl" strike="noStrike" baseline="0" dirty="0">
                        <a:solidFill>
                          <a:schemeClr val="accent2"/>
                        </a:solidFill>
                        <a:effectLst/>
                        <a:uFill>
                          <a:solidFill>
                            <a:schemeClr val="tx1"/>
                          </a:solidFill>
                        </a:uFill>
                        <a:latin typeface="Calibri" panose="020F0502020204030204" pitchFamily="34" charset="0"/>
                      </a:endParaRPr>
                    </a:p>
                  </a:txBody>
                  <a:tcPr marL="4233" marR="4233" marT="4233" marB="0" anchor="b">
                    <a:lnT w="12700" cmpd="sng">
                      <a:noFill/>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b="1" u="dbl" strike="noStrike" baseline="0" dirty="0">
                          <a:solidFill>
                            <a:schemeClr val="accent2"/>
                          </a:solidFill>
                          <a:effectLst/>
                          <a:uFill>
                            <a:solidFill>
                              <a:schemeClr val="tx1"/>
                            </a:solidFill>
                          </a:uFill>
                          <a:latin typeface="Calibri" panose="020F0502020204030204" pitchFamily="34" charset="0"/>
                        </a:rPr>
                        <a:t>$12,000</a:t>
                      </a:r>
                      <a:endParaRPr lang="en-US" sz="1800" b="1" i="0" u="dbl" strike="noStrike" baseline="0" dirty="0">
                        <a:solidFill>
                          <a:schemeClr val="accent2"/>
                        </a:solidFill>
                        <a:effectLst/>
                        <a:uFill>
                          <a:solidFill>
                            <a:schemeClr val="tx1"/>
                          </a:solidFill>
                        </a:uFill>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6284840"/>
                  </a:ext>
                </a:extLst>
              </a:tr>
            </a:tbl>
          </a:graphicData>
        </a:graphic>
      </p:graphicFrame>
      <p:sp>
        <p:nvSpPr>
          <p:cNvPr id="5" name="Content Placeholder 4">
            <a:extLst>
              <a:ext uri="{FF2B5EF4-FFF2-40B4-BE49-F238E27FC236}">
                <a16:creationId xmlns:a16="http://schemas.microsoft.com/office/drawing/2014/main" id="{F217884A-AD00-4BC5-915A-8A157FB73F63}"/>
              </a:ext>
            </a:extLst>
          </p:cNvPr>
          <p:cNvSpPr>
            <a:spLocks noGrp="1"/>
          </p:cNvSpPr>
          <p:nvPr>
            <p:ph sz="quarter" idx="18"/>
          </p:nvPr>
        </p:nvSpPr>
        <p:spPr>
          <a:xfrm>
            <a:off x="304800" y="4800600"/>
            <a:ext cx="8458200" cy="1295401"/>
          </a:xfrm>
        </p:spPr>
        <p:txBody>
          <a:bodyPr/>
          <a:lstStyle/>
          <a:p>
            <a:r>
              <a:rPr lang="en-US" altLang="en-US" sz="1800" dirty="0"/>
              <a:t>Annual depreciation expense varies considerably among the methods, but total depreciation expense is the same ($12,000) for the five-year period under all three methods. Each method is acceptable in accounting because each recognizes in a rational and systematic manner the decline in service potential of the asset. The graph above shows the depreciation expense pattern under each method.</a:t>
            </a:r>
          </a:p>
        </p:txBody>
      </p:sp>
      <p:sp>
        <p:nvSpPr>
          <p:cNvPr id="6" name="Slide Number Placeholder 5">
            <a:extLst>
              <a:ext uri="{FF2B5EF4-FFF2-40B4-BE49-F238E27FC236}">
                <a16:creationId xmlns:a16="http://schemas.microsoft.com/office/drawing/2014/main" id="{F5CBD4CB-21D3-4F78-8CA8-FA33209606A9}"/>
              </a:ext>
            </a:extLst>
          </p:cNvPr>
          <p:cNvSpPr>
            <a:spLocks noGrp="1"/>
          </p:cNvSpPr>
          <p:nvPr>
            <p:ph type="sldNum" sz="quarter" idx="10"/>
          </p:nvPr>
        </p:nvSpPr>
        <p:spPr/>
        <p:txBody>
          <a:bodyPr/>
          <a:lstStyle/>
          <a:p>
            <a:fld id="{67B19427-F580-D146-B60E-4CADEE75497F}" type="slidenum">
              <a:rPr lang="en-US" smtClean="0"/>
              <a:pPr/>
              <a:t>2</a:t>
            </a:fld>
            <a:endParaRPr lang="en-US" dirty="0"/>
          </a:p>
        </p:txBody>
      </p:sp>
      <p:sp>
        <p:nvSpPr>
          <p:cNvPr id="7" name="Footer Placeholder 6">
            <a:extLst>
              <a:ext uri="{FF2B5EF4-FFF2-40B4-BE49-F238E27FC236}">
                <a16:creationId xmlns:a16="http://schemas.microsoft.com/office/drawing/2014/main" id="{D9651505-6B00-4DAD-9AEC-3053F1EECE20}"/>
              </a:ext>
            </a:extLst>
          </p:cNvPr>
          <p:cNvSpPr>
            <a:spLocks noGrp="1"/>
          </p:cNvSpPr>
          <p:nvPr>
            <p:ph type="ftr" sz="quarter" idx="11"/>
          </p:nvPr>
        </p:nvSpPr>
        <p:spPr/>
        <p:txBody>
          <a:bodyPr/>
          <a:lstStyle/>
          <a:p>
            <a:r>
              <a:rPr lang="en-US"/>
              <a:t>Copyright ©2018 John Wiley &amp; Sons, Inc. </a:t>
            </a:r>
            <a:endParaRPr lang="en-US" dirty="0"/>
          </a:p>
        </p:txBody>
      </p:sp>
      <p:pic>
        <p:nvPicPr>
          <p:cNvPr id="10" name="Content Placeholder 7" descr="A line graph shows the patterns of depreciation expense. The horizontal axis shows the year, ranging from 2020 to 2024 in increments of 1. The vertical axis shows depreciation expense, ranging from 0 to $5,000 in increments of 1,000. The straight-line graph is a horizontal line at y = $2,400. The graph for declining-balance falls from (2020, 5,000) to (2024, 500). The graph for units-of-activity is plotted through the following points (2020, 1,500), (2021, 3,500), (2022, 2,400), (2023, 3,000), and (2024, 1,000). All values are approximated.">
            <a:extLst>
              <a:ext uri="{FF2B5EF4-FFF2-40B4-BE49-F238E27FC236}">
                <a16:creationId xmlns:a16="http://schemas.microsoft.com/office/drawing/2014/main" id="{27B5CCFF-9FBD-4644-B645-4962B1DC307D}"/>
              </a:ext>
            </a:extLst>
          </p:cNvPr>
          <p:cNvPicPr>
            <a:picLocks noGrp="1" noChangeAspect="1"/>
          </p:cNvPicPr>
          <p:nvPr>
            <p:ph sz="quarter" idx="16"/>
          </p:nvPr>
        </p:nvPicPr>
        <p:blipFill>
          <a:blip r:embed="rId2"/>
          <a:stretch>
            <a:fillRect/>
          </a:stretch>
        </p:blipFill>
        <p:spPr>
          <a:xfrm>
            <a:off x="4953000" y="1828800"/>
            <a:ext cx="3561951" cy="2743200"/>
          </a:xfrm>
          <a:prstGeom prst="rect">
            <a:avLst/>
          </a:prstGeom>
        </p:spPr>
      </p:pic>
    </p:spTree>
    <p:extLst>
      <p:ext uri="{BB962C8B-B14F-4D97-AF65-F5344CB8AC3E}">
        <p14:creationId xmlns:p14="http://schemas.microsoft.com/office/powerpoint/2010/main" val="1584197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95A6-D045-4E1F-B9F8-7C26B71DF6C7}"/>
              </a:ext>
            </a:extLst>
          </p:cNvPr>
          <p:cNvSpPr>
            <a:spLocks noGrp="1"/>
          </p:cNvSpPr>
          <p:nvPr>
            <p:ph type="title"/>
          </p:nvPr>
        </p:nvSpPr>
        <p:spPr>
          <a:xfrm>
            <a:off x="304800" y="533400"/>
            <a:ext cx="8534400" cy="685799"/>
          </a:xfrm>
        </p:spPr>
        <p:txBody>
          <a:bodyPr/>
          <a:lstStyle/>
          <a:p>
            <a:r>
              <a:rPr lang="en-US" b="1" dirty="0">
                <a:ea typeface="Source Sans Pro" charset="0"/>
                <a:cs typeface="Calibri" panose="020F0502020204030204" pitchFamily="34" charset="0"/>
              </a:rPr>
              <a:t>Depreciation and Income Taxes</a:t>
            </a:r>
            <a:endParaRPr lang="en-US" dirty="0"/>
          </a:p>
        </p:txBody>
      </p:sp>
      <p:sp>
        <p:nvSpPr>
          <p:cNvPr id="3" name="Content Placeholder 2">
            <a:extLst>
              <a:ext uri="{FF2B5EF4-FFF2-40B4-BE49-F238E27FC236}">
                <a16:creationId xmlns:a16="http://schemas.microsoft.com/office/drawing/2014/main" id="{6844D94E-823F-4587-B2F1-E4EFF72F57BB}"/>
              </a:ext>
            </a:extLst>
          </p:cNvPr>
          <p:cNvSpPr>
            <a:spLocks noGrp="1"/>
          </p:cNvSpPr>
          <p:nvPr>
            <p:ph sz="quarter" idx="16"/>
          </p:nvPr>
        </p:nvSpPr>
        <p:spPr>
          <a:xfrm>
            <a:off x="152400" y="1219199"/>
            <a:ext cx="8839200" cy="4953001"/>
          </a:xfrm>
        </p:spPr>
        <p:txBody>
          <a:bodyPr/>
          <a:lstStyle/>
          <a:p>
            <a:pPr>
              <a:lnSpc>
                <a:spcPct val="100000"/>
              </a:lnSpc>
              <a:spcBef>
                <a:spcPts val="1200"/>
              </a:spcBef>
              <a:buClr>
                <a:srgbClr val="800000"/>
              </a:buClr>
              <a:buSzPct val="100000"/>
            </a:pPr>
            <a:r>
              <a:rPr lang="en-US" altLang="en-US" sz="2000" dirty="0"/>
              <a:t>I</a:t>
            </a:r>
            <a:r>
              <a:rPr lang="en-US" altLang="en-US" sz="100" dirty="0"/>
              <a:t> </a:t>
            </a:r>
            <a:r>
              <a:rPr lang="en-US" altLang="en-US" sz="2000" dirty="0"/>
              <a:t>R</a:t>
            </a:r>
            <a:r>
              <a:rPr lang="en-US" altLang="en-US" sz="100" dirty="0"/>
              <a:t> </a:t>
            </a:r>
            <a:r>
              <a:rPr lang="en-US" altLang="en-US" sz="2000" dirty="0"/>
              <a:t>S (US tax authority) does not require companies to use the same depreciation method on the tax return (when paying tax) that is used in preparing financial statements.</a:t>
            </a:r>
          </a:p>
          <a:p>
            <a:pPr marL="342900" indent="-342900">
              <a:lnSpc>
                <a:spcPct val="100000"/>
              </a:lnSpc>
              <a:spcBef>
                <a:spcPts val="1200"/>
              </a:spcBef>
              <a:buClr>
                <a:srgbClr val="800000"/>
              </a:buClr>
              <a:buSzPct val="100000"/>
              <a:buFont typeface="Arial" panose="020B0604020202020204" pitchFamily="34" charset="0"/>
              <a:buChar char="•"/>
            </a:pPr>
            <a:r>
              <a:rPr lang="en-US" altLang="en-US" sz="2000" dirty="0"/>
              <a:t>The company will deduct depreciation expense (on the income statement), when they compute net income. They may choose any of the 3 methods to do this (sometimes companies choose the method which maximizes their net income i.e. the method that shows lowest depreciation expense). </a:t>
            </a:r>
          </a:p>
          <a:p>
            <a:pPr marL="342900" indent="-342900">
              <a:lnSpc>
                <a:spcPct val="100000"/>
              </a:lnSpc>
              <a:spcBef>
                <a:spcPts val="1200"/>
              </a:spcBef>
              <a:buClr>
                <a:srgbClr val="800000"/>
              </a:buClr>
              <a:buSzPct val="100000"/>
              <a:buFont typeface="Arial" panose="020B0604020202020204" pitchFamily="34" charset="0"/>
              <a:buChar char="•"/>
            </a:pPr>
            <a:r>
              <a:rPr lang="en-US" altLang="en-US" sz="2000" dirty="0"/>
              <a:t>At the same time, when paying tax, they may use a special deprecation method called Modified Accelerated Cost Recovery System (MACRS) to minimize their income taxes (by showing higher depreciation expense and therefore lower net income). </a:t>
            </a:r>
          </a:p>
          <a:p>
            <a:pPr marL="342900" indent="-342900">
              <a:lnSpc>
                <a:spcPct val="100000"/>
              </a:lnSpc>
              <a:spcBef>
                <a:spcPts val="1200"/>
              </a:spcBef>
              <a:buClr>
                <a:srgbClr val="800000"/>
              </a:buClr>
              <a:buSzPct val="100000"/>
              <a:buFont typeface="Arial" panose="020B0604020202020204" pitchFamily="34" charset="0"/>
              <a:buChar char="•"/>
            </a:pPr>
            <a:r>
              <a:rPr lang="en-US" altLang="en-US" sz="2000" b="1" dirty="0"/>
              <a:t>Rule</a:t>
            </a:r>
            <a:r>
              <a:rPr lang="en-US" altLang="en-US" sz="2000" dirty="0"/>
              <a:t>: When filing tax returns (or paying tax), companies </a:t>
            </a:r>
            <a:r>
              <a:rPr lang="en-US" altLang="en-US" sz="2000" b="1" dirty="0"/>
              <a:t>must </a:t>
            </a:r>
            <a:r>
              <a:rPr lang="en-US" altLang="en-US" sz="2000" dirty="0"/>
              <a:t>use either the straight-line method or a MACRS (not allowed to use the other 2 methods).</a:t>
            </a:r>
          </a:p>
          <a:p>
            <a:pPr marL="342900" indent="-342900">
              <a:lnSpc>
                <a:spcPct val="100000"/>
              </a:lnSpc>
              <a:spcBef>
                <a:spcPts val="1200"/>
              </a:spcBef>
              <a:buClr>
                <a:srgbClr val="800000"/>
              </a:buClr>
              <a:buSzPct val="100000"/>
              <a:buFont typeface="Arial" panose="020B0604020202020204" pitchFamily="34" charset="0"/>
              <a:buChar char="•"/>
            </a:pPr>
            <a:r>
              <a:rPr lang="en-US" altLang="en-US" sz="2000" dirty="0"/>
              <a:t>M</a:t>
            </a:r>
            <a:r>
              <a:rPr lang="en-US" altLang="en-US" sz="100" dirty="0"/>
              <a:t> </a:t>
            </a:r>
            <a:r>
              <a:rPr lang="en-US" altLang="en-US" sz="2000" dirty="0"/>
              <a:t>A</a:t>
            </a:r>
            <a:r>
              <a:rPr lang="en-US" altLang="en-US" sz="100" dirty="0"/>
              <a:t> </a:t>
            </a:r>
            <a:r>
              <a:rPr lang="en-US" altLang="en-US" sz="2000" dirty="0"/>
              <a:t>C</a:t>
            </a:r>
            <a:r>
              <a:rPr lang="en-US" altLang="en-US" sz="100" dirty="0"/>
              <a:t> </a:t>
            </a:r>
            <a:r>
              <a:rPr lang="en-US" altLang="en-US" sz="2000" dirty="0"/>
              <a:t>R</a:t>
            </a:r>
            <a:r>
              <a:rPr lang="en-US" altLang="en-US" sz="100" dirty="0"/>
              <a:t> </a:t>
            </a:r>
            <a:r>
              <a:rPr lang="en-US" altLang="en-US" sz="2000" dirty="0"/>
              <a:t>S is </a:t>
            </a:r>
            <a:r>
              <a:rPr lang="en-US" altLang="en-US" sz="2000" b="1" dirty="0"/>
              <a:t>NOT acceptable </a:t>
            </a:r>
            <a:r>
              <a:rPr lang="en-US" altLang="en-US" sz="2000" dirty="0"/>
              <a:t>under G</a:t>
            </a:r>
            <a:r>
              <a:rPr lang="en-US" altLang="en-US" sz="100" dirty="0"/>
              <a:t> </a:t>
            </a:r>
            <a:r>
              <a:rPr lang="en-US" altLang="en-US" sz="2000" dirty="0"/>
              <a:t>A</a:t>
            </a:r>
            <a:r>
              <a:rPr lang="en-US" altLang="en-US" sz="100" dirty="0"/>
              <a:t> </a:t>
            </a:r>
            <a:r>
              <a:rPr lang="en-US" altLang="en-US" sz="2000" dirty="0"/>
              <a:t>A</a:t>
            </a:r>
            <a:r>
              <a:rPr lang="en-US" altLang="en-US" sz="100" dirty="0"/>
              <a:t> </a:t>
            </a:r>
            <a:r>
              <a:rPr lang="en-US" altLang="en-US" sz="2000" dirty="0"/>
              <a:t>P.</a:t>
            </a:r>
          </a:p>
        </p:txBody>
      </p:sp>
      <p:sp>
        <p:nvSpPr>
          <p:cNvPr id="4" name="Slide Number Placeholder 3">
            <a:extLst>
              <a:ext uri="{FF2B5EF4-FFF2-40B4-BE49-F238E27FC236}">
                <a16:creationId xmlns:a16="http://schemas.microsoft.com/office/drawing/2014/main" id="{A0CDDA7D-E8A0-46F0-B5A3-F4D51DEBB6EA}"/>
              </a:ext>
            </a:extLst>
          </p:cNvPr>
          <p:cNvSpPr>
            <a:spLocks noGrp="1"/>
          </p:cNvSpPr>
          <p:nvPr>
            <p:ph type="sldNum" sz="quarter" idx="10"/>
          </p:nvPr>
        </p:nvSpPr>
        <p:spPr/>
        <p:txBody>
          <a:bodyPr/>
          <a:lstStyle/>
          <a:p>
            <a:fld id="{67B19427-F580-D146-B60E-4CADEE75497F}" type="slidenum">
              <a:rPr lang="en-US" smtClean="0"/>
              <a:pPr/>
              <a:t>3</a:t>
            </a:fld>
            <a:endParaRPr lang="en-US" dirty="0"/>
          </a:p>
        </p:txBody>
      </p:sp>
      <p:sp>
        <p:nvSpPr>
          <p:cNvPr id="5" name="Footer Placeholder 4">
            <a:extLst>
              <a:ext uri="{FF2B5EF4-FFF2-40B4-BE49-F238E27FC236}">
                <a16:creationId xmlns:a16="http://schemas.microsoft.com/office/drawing/2014/main" id="{1474C64F-6B99-41EF-B3B6-4F8FBF49A4B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851199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95A6-D045-4E1F-B9F8-7C26B71DF6C7}"/>
              </a:ext>
            </a:extLst>
          </p:cNvPr>
          <p:cNvSpPr>
            <a:spLocks noGrp="1"/>
          </p:cNvSpPr>
          <p:nvPr>
            <p:ph type="title"/>
          </p:nvPr>
        </p:nvSpPr>
        <p:spPr>
          <a:xfrm>
            <a:off x="304800" y="533400"/>
            <a:ext cx="8534400" cy="761999"/>
          </a:xfrm>
        </p:spPr>
        <p:txBody>
          <a:bodyPr/>
          <a:lstStyle/>
          <a:p>
            <a:r>
              <a:rPr lang="en-US" b="1" dirty="0">
                <a:ea typeface="Source Sans Pro" charset="0"/>
                <a:cs typeface="Calibri" panose="020F0502020204030204" pitchFamily="34" charset="0"/>
              </a:rPr>
              <a:t>Revising Periodic Depreciation </a:t>
            </a:r>
            <a:r>
              <a:rPr lang="en-US" sz="2400" dirty="0">
                <a:ea typeface="Source Sans Pro" charset="0"/>
                <a:cs typeface="Calibri" panose="020F0502020204030204" pitchFamily="34" charset="0"/>
              </a:rPr>
              <a:t>(1 of 3)</a:t>
            </a:r>
            <a:endParaRPr lang="en-US" sz="2400" dirty="0"/>
          </a:p>
        </p:txBody>
      </p:sp>
      <p:sp>
        <p:nvSpPr>
          <p:cNvPr id="3" name="Content Placeholder 2">
            <a:extLst>
              <a:ext uri="{FF2B5EF4-FFF2-40B4-BE49-F238E27FC236}">
                <a16:creationId xmlns:a16="http://schemas.microsoft.com/office/drawing/2014/main" id="{6844D94E-823F-4587-B2F1-E4EFF72F57BB}"/>
              </a:ext>
            </a:extLst>
          </p:cNvPr>
          <p:cNvSpPr>
            <a:spLocks noGrp="1"/>
          </p:cNvSpPr>
          <p:nvPr>
            <p:ph sz="quarter" idx="16"/>
          </p:nvPr>
        </p:nvSpPr>
        <p:spPr>
          <a:xfrm>
            <a:off x="304800" y="1371600"/>
            <a:ext cx="8534400" cy="5029200"/>
          </a:xfrm>
        </p:spPr>
        <p:txBody>
          <a:bodyPr/>
          <a:lstStyle/>
          <a:p>
            <a:pPr marL="292608" indent="-292608">
              <a:buClr>
                <a:srgbClr val="800000"/>
              </a:buClr>
              <a:buSzPct val="100000"/>
              <a:buFont typeface="Arial" panose="020B0604020202020204" pitchFamily="34" charset="0"/>
              <a:buChar char="•"/>
            </a:pPr>
            <a:r>
              <a:rPr lang="en-US" altLang="en-US" sz="3200" dirty="0">
                <a:latin typeface="Calibri" panose="020F0502020204030204" pitchFamily="34" charset="0"/>
              </a:rPr>
              <a:t>When a change in an estimate is required, the company makes the change in </a:t>
            </a:r>
            <a:r>
              <a:rPr lang="en-US" altLang="en-US" sz="3200" b="1" dirty="0">
                <a:latin typeface="Calibri" panose="020F0502020204030204" pitchFamily="34" charset="0"/>
              </a:rPr>
              <a:t>current and future years.</a:t>
            </a:r>
            <a:r>
              <a:rPr lang="en-US" altLang="en-US" sz="3200" dirty="0">
                <a:latin typeface="Calibri" panose="020F0502020204030204" pitchFamily="34" charset="0"/>
              </a:rPr>
              <a:t> </a:t>
            </a:r>
          </a:p>
          <a:p>
            <a:pPr marL="978408" lvl="1" indent="-292608">
              <a:buClr>
                <a:srgbClr val="800000"/>
              </a:buClr>
              <a:buSzPct val="100000"/>
              <a:buFont typeface="Arial" panose="020B0604020202020204" pitchFamily="34" charset="0"/>
              <a:buChar char="•"/>
            </a:pPr>
            <a:r>
              <a:rPr lang="en-US" altLang="en-US" b="1" dirty="0">
                <a:latin typeface="Calibri" panose="020F0502020204030204" pitchFamily="34" charset="0"/>
              </a:rPr>
              <a:t>It does not change depreciation in prior periods.</a:t>
            </a:r>
          </a:p>
          <a:p>
            <a:pPr marL="292608" indent="-292608">
              <a:buClr>
                <a:srgbClr val="800000"/>
              </a:buClr>
              <a:buSzPct val="100000"/>
              <a:buFont typeface="Arial" panose="020B0604020202020204" pitchFamily="34" charset="0"/>
              <a:buChar char="•"/>
            </a:pPr>
            <a:r>
              <a:rPr lang="en-US" altLang="en-US" sz="3200" dirty="0">
                <a:latin typeface="Calibri" panose="020F0502020204030204" pitchFamily="34" charset="0"/>
              </a:rPr>
              <a:t>To determine the new annual depreciation expense: </a:t>
            </a:r>
          </a:p>
          <a:p>
            <a:pPr marL="1028700" lvl="1" indent="-342900">
              <a:buClr>
                <a:srgbClr val="800000"/>
              </a:buClr>
              <a:buSzPct val="100000"/>
              <a:buFont typeface="+mj-lt"/>
              <a:buAutoNum type="arabicPeriod"/>
            </a:pPr>
            <a:r>
              <a:rPr lang="en-US" altLang="en-US" dirty="0">
                <a:latin typeface="Calibri" panose="020F0502020204030204" pitchFamily="34" charset="0"/>
              </a:rPr>
              <a:t>the company first computes the asset’s new depreciable cost at the time of the revision. </a:t>
            </a:r>
          </a:p>
          <a:p>
            <a:pPr marL="1028700" lvl="1" indent="-342900">
              <a:buClr>
                <a:srgbClr val="800000"/>
              </a:buClr>
              <a:buSzPct val="100000"/>
              <a:buFont typeface="+mj-lt"/>
              <a:buAutoNum type="arabicPeriod"/>
            </a:pPr>
            <a:r>
              <a:rPr lang="en-US" altLang="en-US" dirty="0">
                <a:latin typeface="Calibri" panose="020F0502020204030204" pitchFamily="34" charset="0"/>
              </a:rPr>
              <a:t>It then divides the revised depreciable cost by remaining useful life</a:t>
            </a:r>
          </a:p>
          <a:p>
            <a:pPr marL="1028700" lvl="1" indent="-342900">
              <a:buClr>
                <a:srgbClr val="800000"/>
              </a:buClr>
              <a:buSzPct val="100000"/>
              <a:buFont typeface="+mj-lt"/>
              <a:buAutoNum type="arabicPeriod"/>
            </a:pPr>
            <a:endParaRPr lang="en-US" altLang="en-US" dirty="0">
              <a:latin typeface="Calibri" panose="020F0502020204030204" pitchFamily="34" charset="0"/>
            </a:endParaRPr>
          </a:p>
          <a:p>
            <a:pPr lvl="1" indent="0" algn="r">
              <a:buClr>
                <a:srgbClr val="800000"/>
              </a:buClr>
              <a:buSzPct val="100000"/>
              <a:buNone/>
            </a:pPr>
            <a:r>
              <a:rPr lang="en-US" altLang="en-US" i="1" dirty="0">
                <a:solidFill>
                  <a:srgbClr val="FF0000"/>
                </a:solidFill>
                <a:latin typeface="Calibri" panose="020F0502020204030204" pitchFamily="34" charset="0"/>
              </a:rPr>
              <a:t>Example on next slide</a:t>
            </a:r>
          </a:p>
        </p:txBody>
      </p:sp>
      <p:sp>
        <p:nvSpPr>
          <p:cNvPr id="4" name="Slide Number Placeholder 3">
            <a:extLst>
              <a:ext uri="{FF2B5EF4-FFF2-40B4-BE49-F238E27FC236}">
                <a16:creationId xmlns:a16="http://schemas.microsoft.com/office/drawing/2014/main" id="{A0CDDA7D-E8A0-46F0-B5A3-F4D51DEBB6EA}"/>
              </a:ext>
            </a:extLst>
          </p:cNvPr>
          <p:cNvSpPr>
            <a:spLocks noGrp="1"/>
          </p:cNvSpPr>
          <p:nvPr>
            <p:ph type="sldNum" sz="quarter" idx="10"/>
          </p:nvPr>
        </p:nvSpPr>
        <p:spPr/>
        <p:txBody>
          <a:bodyPr/>
          <a:lstStyle/>
          <a:p>
            <a:fld id="{67B19427-F580-D146-B60E-4CADEE75497F}" type="slidenum">
              <a:rPr lang="en-US" smtClean="0"/>
              <a:pPr/>
              <a:t>4</a:t>
            </a:fld>
            <a:endParaRPr lang="en-US" dirty="0"/>
          </a:p>
        </p:txBody>
      </p:sp>
      <p:sp>
        <p:nvSpPr>
          <p:cNvPr id="5" name="Footer Placeholder 4">
            <a:extLst>
              <a:ext uri="{FF2B5EF4-FFF2-40B4-BE49-F238E27FC236}">
                <a16:creationId xmlns:a16="http://schemas.microsoft.com/office/drawing/2014/main" id="{1474C64F-6B99-41EF-B3B6-4F8FBF49A4B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852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95A6-D045-4E1F-B9F8-7C26B71DF6C7}"/>
              </a:ext>
            </a:extLst>
          </p:cNvPr>
          <p:cNvSpPr>
            <a:spLocks noGrp="1"/>
          </p:cNvSpPr>
          <p:nvPr>
            <p:ph type="title"/>
          </p:nvPr>
        </p:nvSpPr>
        <p:spPr>
          <a:xfrm>
            <a:off x="304800" y="457200"/>
            <a:ext cx="8534400" cy="761999"/>
          </a:xfrm>
        </p:spPr>
        <p:txBody>
          <a:bodyPr/>
          <a:lstStyle/>
          <a:p>
            <a:r>
              <a:rPr lang="en-US" b="1" dirty="0">
                <a:ea typeface="Source Sans Pro" charset="0"/>
                <a:cs typeface="Calibri" panose="020F0502020204030204" pitchFamily="34" charset="0"/>
              </a:rPr>
              <a:t>Revising Periodic Depreciation </a:t>
            </a:r>
            <a:r>
              <a:rPr lang="en-US" sz="2400" dirty="0">
                <a:ea typeface="Source Sans Pro" charset="0"/>
                <a:cs typeface="Calibri" panose="020F0502020204030204" pitchFamily="34" charset="0"/>
              </a:rPr>
              <a:t>(2 of 3)</a:t>
            </a:r>
            <a:endParaRPr lang="en-US" sz="2400" dirty="0"/>
          </a:p>
        </p:txBody>
      </p:sp>
      <p:sp>
        <p:nvSpPr>
          <p:cNvPr id="3" name="Content Placeholder 2">
            <a:extLst>
              <a:ext uri="{FF2B5EF4-FFF2-40B4-BE49-F238E27FC236}">
                <a16:creationId xmlns:a16="http://schemas.microsoft.com/office/drawing/2014/main" id="{6844D94E-823F-4587-B2F1-E4EFF72F57BB}"/>
              </a:ext>
            </a:extLst>
          </p:cNvPr>
          <p:cNvSpPr>
            <a:spLocks noGrp="1"/>
          </p:cNvSpPr>
          <p:nvPr>
            <p:ph sz="quarter" idx="16"/>
          </p:nvPr>
        </p:nvSpPr>
        <p:spPr>
          <a:xfrm>
            <a:off x="304800" y="4191003"/>
            <a:ext cx="8534400" cy="2057397"/>
          </a:xfrm>
        </p:spPr>
        <p:txBody>
          <a:bodyPr/>
          <a:lstStyle/>
          <a:p>
            <a:pPr>
              <a:buClr>
                <a:srgbClr val="800000"/>
              </a:buClr>
              <a:buSzPct val="100000"/>
              <a:tabLst>
                <a:tab pos="722313" algn="l"/>
              </a:tabLst>
            </a:pPr>
            <a:r>
              <a:rPr lang="en-US" altLang="en-US" sz="2400" dirty="0">
                <a:latin typeface="Calibri" panose="020F0502020204030204" pitchFamily="34" charset="0"/>
              </a:rPr>
              <a:t>Barb’s Florists decides on January 1, 2023, to extend the useful life of the truck one year (a total life of six years) and increase its salvage value to $2,200. The company has used the straight-line method to depreciate the asset to date. Accumulated depreciation after three years (2020–2022) is $7,200, and book value is $5,800.</a:t>
            </a:r>
          </a:p>
        </p:txBody>
      </p:sp>
      <p:sp>
        <p:nvSpPr>
          <p:cNvPr id="4" name="Slide Number Placeholder 3">
            <a:extLst>
              <a:ext uri="{FF2B5EF4-FFF2-40B4-BE49-F238E27FC236}">
                <a16:creationId xmlns:a16="http://schemas.microsoft.com/office/drawing/2014/main" id="{A0CDDA7D-E8A0-46F0-B5A3-F4D51DEBB6EA}"/>
              </a:ext>
            </a:extLst>
          </p:cNvPr>
          <p:cNvSpPr>
            <a:spLocks noGrp="1"/>
          </p:cNvSpPr>
          <p:nvPr>
            <p:ph type="sldNum" sz="quarter" idx="10"/>
          </p:nvPr>
        </p:nvSpPr>
        <p:spPr/>
        <p:txBody>
          <a:bodyPr/>
          <a:lstStyle/>
          <a:p>
            <a:fld id="{67B19427-F580-D146-B60E-4CADEE75497F}" type="slidenum">
              <a:rPr lang="en-US" smtClean="0"/>
              <a:pPr/>
              <a:t>5</a:t>
            </a:fld>
            <a:endParaRPr lang="en-US" dirty="0"/>
          </a:p>
        </p:txBody>
      </p:sp>
      <p:sp>
        <p:nvSpPr>
          <p:cNvPr id="5" name="Footer Placeholder 4">
            <a:extLst>
              <a:ext uri="{FF2B5EF4-FFF2-40B4-BE49-F238E27FC236}">
                <a16:creationId xmlns:a16="http://schemas.microsoft.com/office/drawing/2014/main" id="{1474C64F-6B99-41EF-B3B6-4F8FBF49A4B5}"/>
              </a:ext>
            </a:extLst>
          </p:cNvPr>
          <p:cNvSpPr>
            <a:spLocks noGrp="1"/>
          </p:cNvSpPr>
          <p:nvPr>
            <p:ph type="ftr" sz="quarter" idx="11"/>
          </p:nvPr>
        </p:nvSpPr>
        <p:spPr/>
        <p:txBody>
          <a:bodyPr/>
          <a:lstStyle/>
          <a:p>
            <a:r>
              <a:rPr lang="en-US"/>
              <a:t>Copyright ©2018 John Wiley &amp; Sons, Inc. </a:t>
            </a:r>
            <a:endParaRPr lang="en-US" dirty="0"/>
          </a:p>
        </p:txBody>
      </p:sp>
      <p:grpSp>
        <p:nvGrpSpPr>
          <p:cNvPr id="10" name="Group 9">
            <a:extLst>
              <a:ext uri="{FF2B5EF4-FFF2-40B4-BE49-F238E27FC236}">
                <a16:creationId xmlns:a16="http://schemas.microsoft.com/office/drawing/2014/main" id="{50BDC55F-FF6C-4218-8489-C9907D167586}"/>
              </a:ext>
            </a:extLst>
          </p:cNvPr>
          <p:cNvGrpSpPr/>
          <p:nvPr/>
        </p:nvGrpSpPr>
        <p:grpSpPr>
          <a:xfrm>
            <a:off x="457200" y="1307971"/>
            <a:ext cx="6807550" cy="2502029"/>
            <a:chOff x="457200" y="996885"/>
            <a:chExt cx="6807550" cy="2502029"/>
          </a:xfrm>
        </p:grpSpPr>
        <p:pic>
          <p:nvPicPr>
            <p:cNvPr id="6" name="Picture 5">
              <a:extLst>
                <a:ext uri="{FF2B5EF4-FFF2-40B4-BE49-F238E27FC236}">
                  <a16:creationId xmlns:a16="http://schemas.microsoft.com/office/drawing/2014/main" id="{41CBD9CF-1A26-43AD-A027-17191E18BB76}"/>
                </a:ext>
              </a:extLst>
            </p:cNvPr>
            <p:cNvPicPr>
              <a:picLocks noChangeAspect="1"/>
            </p:cNvPicPr>
            <p:nvPr/>
          </p:nvPicPr>
          <p:blipFill>
            <a:blip r:embed="rId2"/>
            <a:stretch>
              <a:fillRect/>
            </a:stretch>
          </p:blipFill>
          <p:spPr>
            <a:xfrm>
              <a:off x="457200" y="996885"/>
              <a:ext cx="6807550" cy="2502029"/>
            </a:xfrm>
            <a:prstGeom prst="rect">
              <a:avLst/>
            </a:prstGeom>
          </p:spPr>
        </p:pic>
        <p:cxnSp>
          <p:nvCxnSpPr>
            <p:cNvPr id="8" name="Straight Connector 7">
              <a:extLst>
                <a:ext uri="{FF2B5EF4-FFF2-40B4-BE49-F238E27FC236}">
                  <a16:creationId xmlns:a16="http://schemas.microsoft.com/office/drawing/2014/main" id="{49F5FE2B-EB46-4C85-85A5-F7426FB3BD8C}"/>
                </a:ext>
              </a:extLst>
            </p:cNvPr>
            <p:cNvCxnSpPr>
              <a:cxnSpLocks/>
            </p:cNvCxnSpPr>
            <p:nvPr/>
          </p:nvCxnSpPr>
          <p:spPr>
            <a:xfrm>
              <a:off x="533400" y="2804160"/>
              <a:ext cx="6731350"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3682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EEDDC-5997-431E-AFAF-2FB7290625DE}"/>
              </a:ext>
            </a:extLst>
          </p:cNvPr>
          <p:cNvSpPr>
            <a:spLocks noGrp="1"/>
          </p:cNvSpPr>
          <p:nvPr>
            <p:ph type="title"/>
          </p:nvPr>
        </p:nvSpPr>
        <p:spPr>
          <a:xfrm>
            <a:off x="304800" y="762001"/>
            <a:ext cx="8534400" cy="666557"/>
          </a:xfrm>
        </p:spPr>
        <p:txBody>
          <a:bodyPr/>
          <a:lstStyle/>
          <a:p>
            <a:r>
              <a:rPr lang="en-US" b="1" dirty="0">
                <a:ea typeface="Source Sans Pro" charset="0"/>
                <a:cs typeface="Calibri" panose="020F0502020204030204" pitchFamily="34" charset="0"/>
              </a:rPr>
              <a:t>Revising Periodic Depreciation </a:t>
            </a:r>
            <a:r>
              <a:rPr lang="en-US" sz="2400" dirty="0">
                <a:ea typeface="Source Sans Pro" charset="0"/>
                <a:cs typeface="Calibri" panose="020F0502020204030204" pitchFamily="34" charset="0"/>
              </a:rPr>
              <a:t>(3 of 3)</a:t>
            </a:r>
            <a:endParaRPr lang="en-US" sz="2400" dirty="0"/>
          </a:p>
        </p:txBody>
      </p:sp>
      <p:graphicFrame>
        <p:nvGraphicFramePr>
          <p:cNvPr id="25" name="Content Placeholder 24" descr="Table is accessible to screenreaders">
            <a:extLst>
              <a:ext uri="{FF2B5EF4-FFF2-40B4-BE49-F238E27FC236}">
                <a16:creationId xmlns:a16="http://schemas.microsoft.com/office/drawing/2014/main" id="{EC56288D-59AF-4D84-8BD4-198EE5B08020}"/>
              </a:ext>
            </a:extLst>
          </p:cNvPr>
          <p:cNvGraphicFramePr>
            <a:graphicFrameLocks noGrp="1"/>
          </p:cNvGraphicFramePr>
          <p:nvPr>
            <p:ph sz="quarter" idx="16"/>
            <p:extLst>
              <p:ext uri="{D42A27DB-BD31-4B8C-83A1-F6EECF244321}">
                <p14:modId xmlns:p14="http://schemas.microsoft.com/office/powerpoint/2010/main" val="1060426676"/>
              </p:ext>
            </p:extLst>
          </p:nvPr>
        </p:nvGraphicFramePr>
        <p:xfrm>
          <a:off x="423744" y="1676400"/>
          <a:ext cx="7958256" cy="2269319"/>
        </p:xfrm>
        <a:graphic>
          <a:graphicData uri="http://schemas.openxmlformats.org/drawingml/2006/table">
            <a:tbl>
              <a:tblPr firstRow="1" bandRow="1">
                <a:tableStyleId>{2D5ABB26-0587-4C30-8999-92F81FD0307C}</a:tableStyleId>
              </a:tblPr>
              <a:tblGrid>
                <a:gridCol w="4774141">
                  <a:extLst>
                    <a:ext uri="{9D8B030D-6E8A-4147-A177-3AD203B41FA5}">
                      <a16:colId xmlns:a16="http://schemas.microsoft.com/office/drawing/2014/main" val="664359692"/>
                    </a:ext>
                  </a:extLst>
                </a:gridCol>
                <a:gridCol w="3184115">
                  <a:extLst>
                    <a:ext uri="{9D8B030D-6E8A-4147-A177-3AD203B41FA5}">
                      <a16:colId xmlns:a16="http://schemas.microsoft.com/office/drawing/2014/main" val="592244386"/>
                    </a:ext>
                  </a:extLst>
                </a:gridCol>
              </a:tblGrid>
              <a:tr h="781039">
                <a:tc>
                  <a:txBody>
                    <a:bodyPr/>
                    <a:lstStyle/>
                    <a:p>
                      <a:pPr algn="l" fontAlgn="b"/>
                      <a:r>
                        <a:rPr lang="en-IN" sz="2200" b="0" i="0" u="none" strike="noStrike" kern="1200" baseline="0" dirty="0">
                          <a:solidFill>
                            <a:schemeClr val="tx1"/>
                          </a:solidFill>
                          <a:latin typeface="+mn-lt"/>
                          <a:ea typeface="+mn-ea"/>
                          <a:cs typeface="+mn-cs"/>
                        </a:rPr>
                        <a:t>Book value, January 1, 2023</a:t>
                      </a:r>
                      <a:endParaRPr lang="en-US" sz="2200" b="0" i="0" u="none"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b"/>
                      <a:r>
                        <a:rPr lang="en-IN" sz="2200" b="0" i="0" u="none" strike="noStrike" kern="1200" baseline="0" dirty="0">
                          <a:solidFill>
                            <a:schemeClr val="tx1"/>
                          </a:solidFill>
                          <a:latin typeface="+mn-lt"/>
                          <a:ea typeface="+mn-ea"/>
                          <a:cs typeface="+mn-cs"/>
                        </a:rPr>
                        <a:t>         $  5,800</a:t>
                      </a:r>
                      <a:endParaRPr lang="en-US" sz="2200" b="0" i="0" u="none"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778808334"/>
                  </a:ext>
                </a:extLst>
              </a:tr>
              <a:tr h="372070">
                <a:tc>
                  <a:txBody>
                    <a:bodyPr/>
                    <a:lstStyle/>
                    <a:p>
                      <a:pPr algn="l" fontAlgn="b"/>
                      <a:r>
                        <a:rPr lang="en-IN" sz="2200" b="0" i="0" u="none" strike="noStrike" kern="1200" baseline="0" dirty="0">
                          <a:solidFill>
                            <a:schemeClr val="tx1"/>
                          </a:solidFill>
                          <a:latin typeface="+mn-lt"/>
                          <a:ea typeface="+mn-ea"/>
                          <a:cs typeface="+mn-cs"/>
                        </a:rPr>
                        <a:t>Less: Salvage value</a:t>
                      </a:r>
                      <a:endParaRPr lang="en-US" sz="2200" b="0" i="0" u="none"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b"/>
                      <a:r>
                        <a:rPr lang="en-IN" sz="2200" b="0" i="0" u="none" strike="noStrike" kern="1200" baseline="0" dirty="0">
                          <a:solidFill>
                            <a:schemeClr val="tx1"/>
                          </a:solidFill>
                          <a:latin typeface="+mn-lt"/>
                          <a:ea typeface="+mn-ea"/>
                          <a:cs typeface="+mn-cs"/>
                        </a:rPr>
                        <a:t>         </a:t>
                      </a:r>
                      <a:r>
                        <a:rPr lang="en-IN" sz="2200" b="0" i="0" u="sng" strike="noStrike" kern="1200" baseline="0" dirty="0">
                          <a:solidFill>
                            <a:schemeClr val="tx1"/>
                          </a:solidFill>
                          <a:latin typeface="+mn-lt"/>
                          <a:ea typeface="+mn-ea"/>
                          <a:cs typeface="+mn-cs"/>
                        </a:rPr>
                        <a:t>    2,200</a:t>
                      </a:r>
                      <a:endParaRPr lang="en-US" sz="2200" b="0" i="0" u="sng"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651405056"/>
                  </a:ext>
                </a:extLst>
              </a:tr>
              <a:tr h="372070">
                <a:tc>
                  <a:txBody>
                    <a:bodyPr/>
                    <a:lstStyle/>
                    <a:p>
                      <a:pPr algn="l" fontAlgn="b"/>
                      <a:r>
                        <a:rPr lang="en-IN" sz="2200" b="0" i="0" u="none" strike="noStrike" kern="1200" baseline="0" dirty="0">
                          <a:solidFill>
                            <a:schemeClr val="tx1"/>
                          </a:solidFill>
                          <a:latin typeface="+mn-lt"/>
                          <a:ea typeface="+mn-ea"/>
                          <a:cs typeface="+mn-cs"/>
                        </a:rPr>
                        <a:t>Depreciable cost</a:t>
                      </a:r>
                      <a:endParaRPr lang="en-US" sz="2200" b="0" i="0" u="none"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b"/>
                      <a:r>
                        <a:rPr lang="en-IN" sz="2200" b="0" i="0" u="none" strike="noStrike" kern="1200" baseline="0" dirty="0">
                          <a:solidFill>
                            <a:schemeClr val="tx1"/>
                          </a:solidFill>
                          <a:uFill>
                            <a:solidFill>
                              <a:schemeClr val="tx1"/>
                            </a:solidFill>
                          </a:uFill>
                          <a:latin typeface="+mn-lt"/>
                          <a:ea typeface="+mn-ea"/>
                          <a:cs typeface="+mn-cs"/>
                        </a:rPr>
                        <a:t>         </a:t>
                      </a:r>
                      <a:r>
                        <a:rPr lang="en-IN" sz="2200" b="0" i="0" u="dbl" strike="noStrike" kern="1200" baseline="0" dirty="0">
                          <a:solidFill>
                            <a:schemeClr val="tx1"/>
                          </a:solidFill>
                          <a:uFill>
                            <a:solidFill>
                              <a:schemeClr val="tx1"/>
                            </a:solidFill>
                          </a:uFill>
                          <a:latin typeface="+mn-lt"/>
                          <a:ea typeface="+mn-ea"/>
                          <a:cs typeface="+mn-cs"/>
                        </a:rPr>
                        <a:t>$  3,600</a:t>
                      </a:r>
                      <a:endParaRPr lang="en-US" sz="2200" b="0" i="0" u="dbl" strike="noStrike" baseline="0" dirty="0">
                        <a:solidFill>
                          <a:srgbClr val="000000"/>
                        </a:solidFill>
                        <a:effectLst/>
                        <a:uFill>
                          <a:solidFill>
                            <a:schemeClr val="tx1"/>
                          </a:solidFill>
                        </a:uFill>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596485437"/>
                  </a:ext>
                </a:extLst>
              </a:tr>
              <a:tr h="372070">
                <a:tc>
                  <a:txBody>
                    <a:bodyPr/>
                    <a:lstStyle/>
                    <a:p>
                      <a:pPr algn="l" fontAlgn="b"/>
                      <a:r>
                        <a:rPr lang="en-IN" sz="2200" b="0" i="0" u="none" strike="noStrike" kern="1200" baseline="0" dirty="0">
                          <a:solidFill>
                            <a:schemeClr val="tx1"/>
                          </a:solidFill>
                          <a:latin typeface="+mn-lt"/>
                          <a:ea typeface="+mn-ea"/>
                          <a:cs typeface="+mn-cs"/>
                        </a:rPr>
                        <a:t>Remaining useful life</a:t>
                      </a:r>
                      <a:endParaRPr lang="en-US" sz="2200" b="0" i="0" u="none"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IN" sz="2200" b="0" i="0" u="none" strike="noStrike" kern="1200" baseline="0" dirty="0">
                          <a:solidFill>
                            <a:schemeClr val="tx1"/>
                          </a:solidFill>
                          <a:uFill>
                            <a:solidFill>
                              <a:schemeClr val="tx1"/>
                            </a:solidFill>
                          </a:uFill>
                          <a:latin typeface="+mn-lt"/>
                          <a:ea typeface="+mn-ea"/>
                          <a:cs typeface="+mn-cs"/>
                        </a:rPr>
                        <a:t>        </a:t>
                      </a:r>
                      <a:r>
                        <a:rPr lang="en-IN" sz="2200" b="0" i="0" u="dbl" strike="noStrike" kern="1200" baseline="0" dirty="0">
                          <a:solidFill>
                            <a:schemeClr val="tx1"/>
                          </a:solidFill>
                          <a:uFill>
                            <a:solidFill>
                              <a:schemeClr val="tx1"/>
                            </a:solidFill>
                          </a:uFill>
                          <a:latin typeface="+mn-lt"/>
                          <a:ea typeface="+mn-ea"/>
                          <a:cs typeface="+mn-cs"/>
                        </a:rPr>
                        <a:t> 3   years</a:t>
                      </a:r>
                      <a:r>
                        <a:rPr lang="en-IN" sz="2200" b="0" i="0" u="none" strike="noStrike" kern="1200" baseline="0" dirty="0">
                          <a:solidFill>
                            <a:schemeClr val="tx1"/>
                          </a:solidFill>
                          <a:uFill>
                            <a:solidFill>
                              <a:schemeClr val="tx1"/>
                            </a:solidFill>
                          </a:uFill>
                          <a:latin typeface="+mn-lt"/>
                          <a:ea typeface="+mn-ea"/>
                          <a:cs typeface="+mn-cs"/>
                        </a:rPr>
                        <a:t> </a:t>
                      </a:r>
                      <a:r>
                        <a:rPr lang="en-IN" sz="2200" b="0" i="0" u="none" strike="noStrike" kern="1200" baseline="0" dirty="0">
                          <a:solidFill>
                            <a:schemeClr val="tx1"/>
                          </a:solidFill>
                          <a:latin typeface="+mn-lt"/>
                          <a:ea typeface="+mn-ea"/>
                          <a:cs typeface="+mn-cs"/>
                        </a:rPr>
                        <a:t>(2023</a:t>
                      </a:r>
                      <a:r>
                        <a:rPr lang="en-IN" sz="2200" b="0" i="0" u="none" strike="noStrike" kern="1200" baseline="0" dirty="0">
                          <a:solidFill>
                            <a:schemeClr val="tx1"/>
                          </a:solidFill>
                          <a:latin typeface="+mn-lt"/>
                          <a:ea typeface="+mn-ea"/>
                          <a:cs typeface="Arial" panose="020B0604020202020204" pitchFamily="34" charset="0"/>
                        </a:rPr>
                        <a:t>−</a:t>
                      </a:r>
                      <a:r>
                        <a:rPr lang="en-IN" sz="2200" b="0" i="0" u="none" strike="noStrike" kern="1200" baseline="0" dirty="0">
                          <a:solidFill>
                            <a:schemeClr val="tx1"/>
                          </a:solidFill>
                          <a:latin typeface="+mn-lt"/>
                          <a:ea typeface="+mn-ea"/>
                          <a:cs typeface="+mn-cs"/>
                        </a:rPr>
                        <a:t>2025)</a:t>
                      </a:r>
                      <a:endParaRPr lang="en-US" sz="2200" b="0" i="0" u="none" strike="noStrike" baseline="0" dirty="0">
                        <a:solidFill>
                          <a:srgbClr val="000000"/>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56230209"/>
                  </a:ext>
                </a:extLst>
              </a:tr>
              <a:tr h="372070">
                <a:tc>
                  <a:txBody>
                    <a:bodyPr/>
                    <a:lstStyle/>
                    <a:p>
                      <a:pPr algn="l" fontAlgn="b"/>
                      <a:r>
                        <a:rPr lang="en-IN" sz="2200" b="1" i="0" u="none" strike="noStrike" kern="1200" baseline="0" dirty="0">
                          <a:solidFill>
                            <a:schemeClr val="accent2">
                              <a:lumMod val="75000"/>
                            </a:schemeClr>
                          </a:solidFill>
                          <a:latin typeface="+mn-lt"/>
                          <a:ea typeface="+mn-ea"/>
                          <a:cs typeface="+mn-cs"/>
                        </a:rPr>
                        <a:t>Revised annual depreciation ($3,600 ÷ 3)</a:t>
                      </a:r>
                      <a:endParaRPr lang="en-US" sz="2200" b="0" i="0" u="none" strike="noStrike" baseline="0" dirty="0">
                        <a:solidFill>
                          <a:schemeClr val="accent2">
                            <a:lumMod val="75000"/>
                          </a:schemeClr>
                        </a:solidFill>
                        <a:effectLst/>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b"/>
                      <a:r>
                        <a:rPr lang="en-IN" sz="2200" b="1" i="0" u="none" strike="noStrike" kern="1200" baseline="0" dirty="0">
                          <a:solidFill>
                            <a:schemeClr val="accent2">
                              <a:lumMod val="75000"/>
                            </a:schemeClr>
                          </a:solidFill>
                          <a:uFill>
                            <a:solidFill>
                              <a:schemeClr val="tx1"/>
                            </a:solidFill>
                          </a:uFill>
                          <a:latin typeface="+mn-lt"/>
                          <a:ea typeface="+mn-ea"/>
                          <a:cs typeface="+mn-cs"/>
                        </a:rPr>
                        <a:t>         </a:t>
                      </a:r>
                      <a:r>
                        <a:rPr lang="en-IN" sz="2200" b="1" i="0" u="dbl" strike="noStrike" kern="1200" baseline="0" dirty="0">
                          <a:solidFill>
                            <a:schemeClr val="accent2">
                              <a:lumMod val="75000"/>
                            </a:schemeClr>
                          </a:solidFill>
                          <a:uFill>
                            <a:solidFill>
                              <a:schemeClr val="tx1"/>
                            </a:solidFill>
                          </a:uFill>
                          <a:latin typeface="+mn-lt"/>
                          <a:ea typeface="+mn-ea"/>
                          <a:cs typeface="+mn-cs"/>
                        </a:rPr>
                        <a:t>$  1,200</a:t>
                      </a:r>
                      <a:endParaRPr lang="en-US" sz="2200" b="0" i="0" u="dbl" strike="noStrike" baseline="0" dirty="0">
                        <a:solidFill>
                          <a:schemeClr val="accent2">
                            <a:lumMod val="75000"/>
                          </a:schemeClr>
                        </a:solidFill>
                        <a:effectLst/>
                        <a:uFill>
                          <a:solidFill>
                            <a:schemeClr val="tx1"/>
                          </a:solidFill>
                        </a:uFill>
                        <a:latin typeface="+mn-lt"/>
                      </a:endParaRPr>
                    </a:p>
                  </a:txBody>
                  <a:tcPr marL="4233" marR="4233" marT="4233"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615158686"/>
                  </a:ext>
                </a:extLst>
              </a:tr>
            </a:tbl>
          </a:graphicData>
        </a:graphic>
      </p:graphicFrame>
      <p:sp>
        <p:nvSpPr>
          <p:cNvPr id="10" name="Content Placeholder 9">
            <a:extLst>
              <a:ext uri="{FF2B5EF4-FFF2-40B4-BE49-F238E27FC236}">
                <a16:creationId xmlns:a16="http://schemas.microsoft.com/office/drawing/2014/main" id="{93E1571F-5853-4F79-A8E2-73B6A1038A35}"/>
              </a:ext>
            </a:extLst>
          </p:cNvPr>
          <p:cNvSpPr>
            <a:spLocks noGrp="1"/>
          </p:cNvSpPr>
          <p:nvPr>
            <p:ph sz="quarter" idx="21"/>
          </p:nvPr>
        </p:nvSpPr>
        <p:spPr>
          <a:xfrm>
            <a:off x="304800" y="5181600"/>
            <a:ext cx="8534400" cy="365125"/>
          </a:xfrm>
        </p:spPr>
        <p:txBody>
          <a:bodyPr/>
          <a:lstStyle/>
          <a:p>
            <a:r>
              <a:rPr lang="en-IN" sz="2000" dirty="0"/>
              <a:t>Barb’s Florists makes no entry for the change in estimate.</a:t>
            </a:r>
          </a:p>
        </p:txBody>
      </p:sp>
      <p:sp>
        <p:nvSpPr>
          <p:cNvPr id="23" name="Slide Number Placeholder 22">
            <a:extLst>
              <a:ext uri="{FF2B5EF4-FFF2-40B4-BE49-F238E27FC236}">
                <a16:creationId xmlns:a16="http://schemas.microsoft.com/office/drawing/2014/main" id="{C457D6F1-CB68-4233-971D-E31CD07A7028}"/>
              </a:ext>
            </a:extLst>
          </p:cNvPr>
          <p:cNvSpPr>
            <a:spLocks noGrp="1"/>
          </p:cNvSpPr>
          <p:nvPr>
            <p:ph type="sldNum" sz="quarter" idx="10"/>
          </p:nvPr>
        </p:nvSpPr>
        <p:spPr/>
        <p:txBody>
          <a:bodyPr/>
          <a:lstStyle/>
          <a:p>
            <a:fld id="{67B19427-F580-D146-B60E-4CADEE75497F}" type="slidenum">
              <a:rPr lang="en-US" smtClean="0"/>
              <a:pPr/>
              <a:t>6</a:t>
            </a:fld>
            <a:endParaRPr lang="en-US" dirty="0"/>
          </a:p>
        </p:txBody>
      </p:sp>
      <p:sp>
        <p:nvSpPr>
          <p:cNvPr id="24" name="Footer Placeholder 23">
            <a:extLst>
              <a:ext uri="{FF2B5EF4-FFF2-40B4-BE49-F238E27FC236}">
                <a16:creationId xmlns:a16="http://schemas.microsoft.com/office/drawing/2014/main" id="{B92B96B0-7983-43D4-A37B-5B5673605861}"/>
              </a:ext>
            </a:extLst>
          </p:cNvPr>
          <p:cNvSpPr>
            <a:spLocks noGrp="1"/>
          </p:cNvSpPr>
          <p:nvPr>
            <p:ph type="ftr" sz="quarter" idx="11"/>
          </p:nvPr>
        </p:nvSpPr>
        <p:spPr/>
        <p:txBody>
          <a:bodyPr/>
          <a:lstStyle/>
          <a:p>
            <a:r>
              <a:rPr lang="en-US"/>
              <a:t>Copyright ©2018 John Wiley &amp; Sons, Inc. </a:t>
            </a:r>
            <a:endParaRPr lang="en-US" dirty="0"/>
          </a:p>
        </p:txBody>
      </p:sp>
      <p:sp>
        <p:nvSpPr>
          <p:cNvPr id="3" name="Rectangle 2">
            <a:extLst>
              <a:ext uri="{FF2B5EF4-FFF2-40B4-BE49-F238E27FC236}">
                <a16:creationId xmlns:a16="http://schemas.microsoft.com/office/drawing/2014/main" id="{688581C2-9365-4A29-BCB0-7604EC59356A}"/>
              </a:ext>
            </a:extLst>
          </p:cNvPr>
          <p:cNvSpPr/>
          <p:nvPr/>
        </p:nvSpPr>
        <p:spPr>
          <a:xfrm>
            <a:off x="228600" y="1535668"/>
            <a:ext cx="8248650" cy="369332"/>
          </a:xfrm>
          <a:prstGeom prst="rect">
            <a:avLst/>
          </a:prstGeom>
        </p:spPr>
        <p:txBody>
          <a:bodyPr wrap="square">
            <a:spAutoFit/>
          </a:bodyPr>
          <a:lstStyle/>
          <a:p>
            <a:pPr>
              <a:buClr>
                <a:srgbClr val="800000"/>
              </a:buClr>
              <a:buSzPct val="100000"/>
              <a:tabLst>
                <a:tab pos="722313" algn="l"/>
              </a:tabLst>
            </a:pPr>
            <a:r>
              <a:rPr lang="en-US" altLang="en-US" b="1" dirty="0">
                <a:latin typeface="Calibri" panose="020F0502020204030204" pitchFamily="34" charset="0"/>
              </a:rPr>
              <a:t>a) Calculate the depreciation expense for 2023 and future years.</a:t>
            </a:r>
          </a:p>
        </p:txBody>
      </p:sp>
      <p:sp>
        <p:nvSpPr>
          <p:cNvPr id="4" name="Rectangle 3">
            <a:extLst>
              <a:ext uri="{FF2B5EF4-FFF2-40B4-BE49-F238E27FC236}">
                <a16:creationId xmlns:a16="http://schemas.microsoft.com/office/drawing/2014/main" id="{FC0E9999-75E0-42BB-867F-53EACCC37EBC}"/>
              </a:ext>
            </a:extLst>
          </p:cNvPr>
          <p:cNvSpPr/>
          <p:nvPr/>
        </p:nvSpPr>
        <p:spPr>
          <a:xfrm>
            <a:off x="334536" y="4548279"/>
            <a:ext cx="7818863" cy="369332"/>
          </a:xfrm>
          <a:prstGeom prst="rect">
            <a:avLst/>
          </a:prstGeom>
        </p:spPr>
        <p:txBody>
          <a:bodyPr wrap="square">
            <a:spAutoFit/>
          </a:bodyPr>
          <a:lstStyle/>
          <a:p>
            <a:pPr>
              <a:buClr>
                <a:srgbClr val="800000"/>
              </a:buClr>
              <a:buSzPct val="100000"/>
              <a:tabLst>
                <a:tab pos="722313" algn="l"/>
              </a:tabLst>
            </a:pPr>
            <a:r>
              <a:rPr lang="en-US" altLang="en-US" b="1" dirty="0">
                <a:latin typeface="Calibri" panose="020F0502020204030204" pitchFamily="34" charset="0"/>
              </a:rPr>
              <a:t>b) What entry is necessary to correct prior year's deprecation?</a:t>
            </a:r>
          </a:p>
        </p:txBody>
      </p:sp>
    </p:spTree>
    <p:extLst>
      <p:ext uri="{BB962C8B-B14F-4D97-AF65-F5344CB8AC3E}">
        <p14:creationId xmlns:p14="http://schemas.microsoft.com/office/powerpoint/2010/main" val="1196559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BDBD26-E7A0-4987-99F0-432A2CF2153E}"/>
              </a:ext>
            </a:extLst>
          </p:cNvPr>
          <p:cNvSpPr>
            <a:spLocks noGrp="1"/>
          </p:cNvSpPr>
          <p:nvPr>
            <p:ph sz="quarter" idx="16"/>
          </p:nvPr>
        </p:nvSpPr>
        <p:spPr>
          <a:xfrm>
            <a:off x="304800" y="1524000"/>
            <a:ext cx="8534400" cy="2207684"/>
          </a:xfrm>
        </p:spPr>
        <p:txBody>
          <a:bodyPr/>
          <a:lstStyle/>
          <a:p>
            <a:r>
              <a:rPr lang="en-US" sz="2400" dirty="0"/>
              <a:t>Chambers Corporation purchased a piece of equipment for $36,000. It estimated a 6-year life and $6,000 salvage value. Thus, straight-line depreciation was $5,000 per year [($36,000 </a:t>
            </a:r>
            <a:r>
              <a:rPr lang="en-US" sz="2400" dirty="0">
                <a:latin typeface="Arial" panose="020B0604020202020204" pitchFamily="34" charset="0"/>
                <a:cs typeface="Arial" panose="020B0604020202020204" pitchFamily="34" charset="0"/>
              </a:rPr>
              <a:t>−</a:t>
            </a:r>
            <a:r>
              <a:rPr lang="en-US" sz="2400" dirty="0"/>
              <a:t> $6,000) ÷ 6]. At the end of year three (before the depreciation adjustment </a:t>
            </a:r>
            <a:r>
              <a:rPr lang="en-US" sz="2400" i="1" dirty="0"/>
              <a:t>= meaning after 2 years </a:t>
            </a:r>
            <a:r>
              <a:rPr lang="en-US" sz="2400" i="1"/>
              <a:t>of depreciation</a:t>
            </a:r>
            <a:r>
              <a:rPr lang="en-US" sz="2400"/>
              <a:t>), </a:t>
            </a:r>
            <a:r>
              <a:rPr lang="en-US" sz="2400" dirty="0"/>
              <a:t>it estimated the new total life to be 10 years and the new salvage value to be $2,000. Compute the revised depreciation.</a:t>
            </a:r>
          </a:p>
        </p:txBody>
      </p:sp>
      <p:sp>
        <p:nvSpPr>
          <p:cNvPr id="5" name="Content Placeholder 4">
            <a:extLst>
              <a:ext uri="{FF2B5EF4-FFF2-40B4-BE49-F238E27FC236}">
                <a16:creationId xmlns:a16="http://schemas.microsoft.com/office/drawing/2014/main" id="{A8B8E16F-9379-47CA-B72F-1153C42CA6CE}"/>
              </a:ext>
            </a:extLst>
          </p:cNvPr>
          <p:cNvSpPr>
            <a:spLocks noGrp="1"/>
          </p:cNvSpPr>
          <p:nvPr>
            <p:ph sz="quarter" idx="18"/>
          </p:nvPr>
        </p:nvSpPr>
        <p:spPr>
          <a:xfrm>
            <a:off x="313267" y="4038600"/>
            <a:ext cx="8534400" cy="1828800"/>
          </a:xfrm>
        </p:spPr>
        <p:txBody>
          <a:bodyPr/>
          <a:lstStyle/>
          <a:p>
            <a:r>
              <a:rPr lang="en-US" sz="2400" b="1" dirty="0"/>
              <a:t>Solution</a:t>
            </a:r>
          </a:p>
          <a:p>
            <a:r>
              <a:rPr lang="en-US" sz="2400" dirty="0"/>
              <a:t>Original depreciation expense = [($36,000 </a:t>
            </a:r>
            <a:r>
              <a:rPr lang="en-US" sz="2400" dirty="0">
                <a:latin typeface="Arial" panose="020B0604020202020204" pitchFamily="34" charset="0"/>
                <a:cs typeface="Arial" panose="020B0604020202020204" pitchFamily="34" charset="0"/>
              </a:rPr>
              <a:t>−</a:t>
            </a:r>
            <a:r>
              <a:rPr lang="en-US" sz="2400" dirty="0"/>
              <a:t> $6,000) ÷ 6] = $5,000</a:t>
            </a:r>
          </a:p>
          <a:p>
            <a:r>
              <a:rPr lang="en-US" sz="2400" dirty="0"/>
              <a:t>Accumulated depreciation after 2 years = 2 </a:t>
            </a:r>
            <a:r>
              <a:rPr lang="en-US" sz="2400" dirty="0">
                <a:latin typeface="Arial" panose="020B0604020202020204" pitchFamily="34" charset="0"/>
                <a:cs typeface="Arial" panose="020B0604020202020204" pitchFamily="34" charset="0"/>
              </a:rPr>
              <a:t>×</a:t>
            </a:r>
            <a:r>
              <a:rPr lang="en-US" sz="2400" dirty="0"/>
              <a:t> $5,000 = $10,000</a:t>
            </a:r>
          </a:p>
          <a:p>
            <a:r>
              <a:rPr lang="en-US" sz="2400" dirty="0"/>
              <a:t>Book value = $36,000 </a:t>
            </a:r>
            <a:r>
              <a:rPr lang="en-US" sz="2400" dirty="0">
                <a:latin typeface="Arial" panose="020B0604020202020204" pitchFamily="34" charset="0"/>
                <a:cs typeface="Arial" panose="020B0604020202020204" pitchFamily="34" charset="0"/>
              </a:rPr>
              <a:t>−</a:t>
            </a:r>
            <a:r>
              <a:rPr lang="en-US" sz="2400" dirty="0"/>
              <a:t> $10,000 = $26,000</a:t>
            </a:r>
          </a:p>
        </p:txBody>
      </p:sp>
      <p:sp>
        <p:nvSpPr>
          <p:cNvPr id="6" name="Slide Number Placeholder 5">
            <a:extLst>
              <a:ext uri="{FF2B5EF4-FFF2-40B4-BE49-F238E27FC236}">
                <a16:creationId xmlns:a16="http://schemas.microsoft.com/office/drawing/2014/main" id="{40356292-E50B-4FE4-9D97-43BC78E705AC}"/>
              </a:ext>
            </a:extLst>
          </p:cNvPr>
          <p:cNvSpPr>
            <a:spLocks noGrp="1"/>
          </p:cNvSpPr>
          <p:nvPr>
            <p:ph type="sldNum" sz="quarter" idx="10"/>
          </p:nvPr>
        </p:nvSpPr>
        <p:spPr/>
        <p:txBody>
          <a:bodyPr/>
          <a:lstStyle/>
          <a:p>
            <a:fld id="{67B19427-F580-D146-B60E-4CADEE75497F}" type="slidenum">
              <a:rPr lang="en-US" smtClean="0"/>
              <a:pPr/>
              <a:t>7</a:t>
            </a:fld>
            <a:endParaRPr lang="en-US" dirty="0"/>
          </a:p>
        </p:txBody>
      </p:sp>
      <p:sp>
        <p:nvSpPr>
          <p:cNvPr id="7" name="Footer Placeholder 6">
            <a:extLst>
              <a:ext uri="{FF2B5EF4-FFF2-40B4-BE49-F238E27FC236}">
                <a16:creationId xmlns:a16="http://schemas.microsoft.com/office/drawing/2014/main" id="{7F1E770D-4F1F-4C5F-B75A-544C404FBB63}"/>
              </a:ext>
            </a:extLst>
          </p:cNvPr>
          <p:cNvSpPr>
            <a:spLocks noGrp="1"/>
          </p:cNvSpPr>
          <p:nvPr>
            <p:ph type="ftr" sz="quarter" idx="11"/>
          </p:nvPr>
        </p:nvSpPr>
        <p:spPr/>
        <p:txBody>
          <a:bodyPr/>
          <a:lstStyle/>
          <a:p>
            <a:r>
              <a:rPr lang="en-US"/>
              <a:t>Copyright ©2018 John Wiley &amp; Sons, Inc. </a:t>
            </a:r>
            <a:endParaRPr lang="en-US" dirty="0"/>
          </a:p>
        </p:txBody>
      </p:sp>
      <p:sp>
        <p:nvSpPr>
          <p:cNvPr id="9" name="Title 1">
            <a:extLst>
              <a:ext uri="{FF2B5EF4-FFF2-40B4-BE49-F238E27FC236}">
                <a16:creationId xmlns:a16="http://schemas.microsoft.com/office/drawing/2014/main" id="{C143CDB8-71AC-4496-8B60-4E9ECBF057E1}"/>
              </a:ext>
            </a:extLst>
          </p:cNvPr>
          <p:cNvSpPr>
            <a:spLocks noGrp="1"/>
          </p:cNvSpPr>
          <p:nvPr>
            <p:ph type="title"/>
          </p:nvPr>
        </p:nvSpPr>
        <p:spPr>
          <a:xfrm>
            <a:off x="304800" y="762000"/>
            <a:ext cx="8534400" cy="685799"/>
          </a:xfrm>
        </p:spPr>
        <p:txBody>
          <a:bodyPr>
            <a:noAutofit/>
          </a:bodyPr>
          <a:lstStyle/>
          <a:p>
            <a:r>
              <a:rPr lang="en-US" sz="3200" b="1" dirty="0"/>
              <a:t>DO IT</a:t>
            </a:r>
            <a:r>
              <a:rPr lang="en-US" sz="3200" b="1" dirty="0">
                <a:solidFill>
                  <a:srgbClr val="FF0000"/>
                </a:solidFill>
                <a:ea typeface="Source Sans Pro" charset="0"/>
              </a:rPr>
              <a:t> AT HOME</a:t>
            </a:r>
            <a:r>
              <a:rPr lang="en-US" sz="3200" b="1" dirty="0"/>
              <a:t>! 2b Revised Depreciation </a:t>
            </a:r>
            <a:r>
              <a:rPr lang="en-US" sz="2000" dirty="0"/>
              <a:t>(1 of 2)</a:t>
            </a:r>
          </a:p>
        </p:txBody>
      </p:sp>
    </p:spTree>
    <p:extLst>
      <p:ext uri="{BB962C8B-B14F-4D97-AF65-F5344CB8AC3E}">
        <p14:creationId xmlns:p14="http://schemas.microsoft.com/office/powerpoint/2010/main" val="961351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19AF9-CB27-431E-9AC1-77C154EE47BB}"/>
              </a:ext>
            </a:extLst>
          </p:cNvPr>
          <p:cNvSpPr>
            <a:spLocks noGrp="1"/>
          </p:cNvSpPr>
          <p:nvPr>
            <p:ph type="title"/>
          </p:nvPr>
        </p:nvSpPr>
        <p:spPr>
          <a:xfrm>
            <a:off x="304800" y="762000"/>
            <a:ext cx="8534400" cy="685799"/>
          </a:xfrm>
        </p:spPr>
        <p:txBody>
          <a:bodyPr>
            <a:noAutofit/>
          </a:bodyPr>
          <a:lstStyle/>
          <a:p>
            <a:r>
              <a:rPr lang="en-US" sz="3200" b="1" dirty="0"/>
              <a:t>DO IT </a:t>
            </a:r>
            <a:r>
              <a:rPr lang="en-US" sz="3200" b="1" dirty="0">
                <a:solidFill>
                  <a:srgbClr val="FF0000"/>
                </a:solidFill>
                <a:ea typeface="Source Sans Pro" charset="0"/>
              </a:rPr>
              <a:t>AT HOME</a:t>
            </a:r>
            <a:r>
              <a:rPr lang="en-US" sz="3200" b="1" dirty="0"/>
              <a:t>! 2b Revised Depreciation </a:t>
            </a:r>
            <a:r>
              <a:rPr lang="en-US" sz="2000" dirty="0"/>
              <a:t>(2 of 2)</a:t>
            </a:r>
          </a:p>
        </p:txBody>
      </p:sp>
      <p:graphicFrame>
        <p:nvGraphicFramePr>
          <p:cNvPr id="4" name="Table 7" descr="Table is accessible to screenreaders">
            <a:extLst>
              <a:ext uri="{FF2B5EF4-FFF2-40B4-BE49-F238E27FC236}">
                <a16:creationId xmlns:a16="http://schemas.microsoft.com/office/drawing/2014/main" id="{B00DFB62-496A-4293-8E7F-F2F799F8411A}"/>
              </a:ext>
            </a:extLst>
          </p:cNvPr>
          <p:cNvGraphicFramePr>
            <a:graphicFrameLocks noGrp="1"/>
          </p:cNvGraphicFramePr>
          <p:nvPr>
            <p:ph sz="quarter" idx="16"/>
            <p:extLst>
              <p:ext uri="{D42A27DB-BD31-4B8C-83A1-F6EECF244321}">
                <p14:modId xmlns:p14="http://schemas.microsoft.com/office/powerpoint/2010/main" val="1492895626"/>
              </p:ext>
            </p:extLst>
          </p:nvPr>
        </p:nvGraphicFramePr>
        <p:xfrm>
          <a:off x="838200" y="1905000"/>
          <a:ext cx="7086600" cy="2286000"/>
        </p:xfrm>
        <a:graphic>
          <a:graphicData uri="http://schemas.openxmlformats.org/drawingml/2006/table">
            <a:tbl>
              <a:tblPr firstRow="1" bandRow="1">
                <a:tableStyleId>{5C22544A-7EE6-4342-B048-85BDC9FD1C3A}</a:tableStyleId>
              </a:tblPr>
              <a:tblGrid>
                <a:gridCol w="5791200">
                  <a:extLst>
                    <a:ext uri="{9D8B030D-6E8A-4147-A177-3AD203B41FA5}">
                      <a16:colId xmlns:a16="http://schemas.microsoft.com/office/drawing/2014/main" val="3446683678"/>
                    </a:ext>
                  </a:extLst>
                </a:gridCol>
                <a:gridCol w="1295400">
                  <a:extLst>
                    <a:ext uri="{9D8B030D-6E8A-4147-A177-3AD203B41FA5}">
                      <a16:colId xmlns:a16="http://schemas.microsoft.com/office/drawing/2014/main" val="1629714475"/>
                    </a:ext>
                  </a:extLst>
                </a:gridCol>
              </a:tblGrid>
              <a:tr h="370840">
                <a:tc>
                  <a:txBody>
                    <a:bodyPr/>
                    <a:lstStyle/>
                    <a:p>
                      <a:r>
                        <a:rPr lang="en-US" sz="2400" b="0" dirty="0">
                          <a:solidFill>
                            <a:schemeClr val="tx1"/>
                          </a:solidFill>
                        </a:rPr>
                        <a:t>Book value after 2 years of depreciation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2400" b="0" dirty="0">
                          <a:solidFill>
                            <a:schemeClr val="tx1"/>
                          </a:solidFill>
                        </a:rPr>
                        <a:t>$26,000</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0967230"/>
                  </a:ext>
                </a:extLst>
              </a:tr>
              <a:tr h="370840">
                <a:tc>
                  <a:txBody>
                    <a:bodyPr/>
                    <a:lstStyle/>
                    <a:p>
                      <a:r>
                        <a:rPr lang="en-US" sz="2400" dirty="0">
                          <a:solidFill>
                            <a:schemeClr val="tx1"/>
                          </a:solidFill>
                        </a:rPr>
                        <a:t>Less: New salvage value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a:r>
                        <a:rPr lang="en-US" sz="2400" u="sng" dirty="0">
                          <a:solidFill>
                            <a:schemeClr val="tx1"/>
                          </a:solidFill>
                        </a:rPr>
                        <a:t>    2,000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30274189"/>
                  </a:ext>
                </a:extLst>
              </a:tr>
              <a:tr h="370840">
                <a:tc>
                  <a:txBody>
                    <a:bodyPr/>
                    <a:lstStyle/>
                    <a:p>
                      <a:r>
                        <a:rPr lang="en-US" sz="2400" dirty="0">
                          <a:solidFill>
                            <a:schemeClr val="tx1"/>
                          </a:solidFill>
                        </a:rPr>
                        <a:t>Depreciable cost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sz="2400" u="dbl" baseline="0" dirty="0">
                          <a:solidFill>
                            <a:schemeClr val="tx1"/>
                          </a:solidFill>
                        </a:rPr>
                        <a:t>$24,000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87512044"/>
                  </a:ext>
                </a:extLst>
              </a:tr>
              <a:tr h="370840">
                <a:tc>
                  <a:txBody>
                    <a:bodyPr/>
                    <a:lstStyle/>
                    <a:p>
                      <a:r>
                        <a:rPr lang="en-US" sz="2400" dirty="0">
                          <a:solidFill>
                            <a:schemeClr val="tx1"/>
                          </a:solidFill>
                        </a:rPr>
                        <a:t>Remaining useful life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sz="2400" u="sng" dirty="0">
                          <a:solidFill>
                            <a:schemeClr val="tx1"/>
                          </a:solidFill>
                        </a:rPr>
                        <a:t>  8 years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38862465"/>
                  </a:ext>
                </a:extLst>
              </a:tr>
              <a:tr h="370840">
                <a:tc>
                  <a:txBody>
                    <a:bodyPr/>
                    <a:lstStyle/>
                    <a:p>
                      <a:r>
                        <a:rPr lang="en-US" sz="2400" dirty="0">
                          <a:solidFill>
                            <a:schemeClr val="tx1"/>
                          </a:solidFill>
                        </a:rPr>
                        <a:t>Revised annual depreciation ($24,000 ÷ 8)</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sz="2400" u="dbl" baseline="0" dirty="0">
                          <a:solidFill>
                            <a:schemeClr val="tx1"/>
                          </a:solidFill>
                        </a:rPr>
                        <a:t>$  3,000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10328781"/>
                  </a:ext>
                </a:extLst>
              </a:tr>
            </a:tbl>
          </a:graphicData>
        </a:graphic>
      </p:graphicFrame>
      <p:sp>
        <p:nvSpPr>
          <p:cNvPr id="6" name="Slide Number Placeholder 5">
            <a:extLst>
              <a:ext uri="{FF2B5EF4-FFF2-40B4-BE49-F238E27FC236}">
                <a16:creationId xmlns:a16="http://schemas.microsoft.com/office/drawing/2014/main" id="{40356292-E50B-4FE4-9D97-43BC78E705AC}"/>
              </a:ext>
            </a:extLst>
          </p:cNvPr>
          <p:cNvSpPr>
            <a:spLocks noGrp="1"/>
          </p:cNvSpPr>
          <p:nvPr>
            <p:ph type="sldNum" sz="quarter" idx="10"/>
          </p:nvPr>
        </p:nvSpPr>
        <p:spPr/>
        <p:txBody>
          <a:bodyPr/>
          <a:lstStyle/>
          <a:p>
            <a:fld id="{67B19427-F580-D146-B60E-4CADEE75497F}" type="slidenum">
              <a:rPr lang="en-US" smtClean="0"/>
              <a:pPr/>
              <a:t>8</a:t>
            </a:fld>
            <a:endParaRPr lang="en-US" dirty="0"/>
          </a:p>
        </p:txBody>
      </p:sp>
      <p:sp>
        <p:nvSpPr>
          <p:cNvPr id="7" name="Footer Placeholder 6">
            <a:extLst>
              <a:ext uri="{FF2B5EF4-FFF2-40B4-BE49-F238E27FC236}">
                <a16:creationId xmlns:a16="http://schemas.microsoft.com/office/drawing/2014/main" id="{7F1E770D-4F1F-4C5F-B75A-544C404FBB63}"/>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342074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05BED-2DA2-4819-AA3F-7F94699BFFFD}"/>
              </a:ext>
            </a:extLst>
          </p:cNvPr>
          <p:cNvSpPr>
            <a:spLocks noGrp="1"/>
          </p:cNvSpPr>
          <p:nvPr>
            <p:ph type="title"/>
          </p:nvPr>
        </p:nvSpPr>
        <p:spPr>
          <a:xfrm>
            <a:off x="104078" y="674618"/>
            <a:ext cx="8534400" cy="735081"/>
          </a:xfrm>
        </p:spPr>
        <p:txBody>
          <a:bodyPr>
            <a:noAutofit/>
          </a:bodyPr>
          <a:lstStyle/>
          <a:p>
            <a:r>
              <a:rPr lang="en-US" sz="2400" b="1" dirty="0"/>
              <a:t>Difference between book value and fair value </a:t>
            </a:r>
            <a:br>
              <a:rPr lang="en-US" sz="2400" b="1" dirty="0"/>
            </a:br>
            <a:r>
              <a:rPr lang="en-US" sz="2400" b="1" dirty="0"/>
              <a:t>(</a:t>
            </a:r>
            <a:r>
              <a:rPr lang="en-US" sz="2400" b="1" i="1" dirty="0"/>
              <a:t>supplementary notes by TBR)</a:t>
            </a:r>
            <a:br>
              <a:rPr lang="en-US" sz="2400" b="1" i="1" dirty="0"/>
            </a:br>
            <a:endParaRPr lang="en-US" sz="2400" b="1" dirty="0"/>
          </a:p>
        </p:txBody>
      </p:sp>
      <p:sp>
        <p:nvSpPr>
          <p:cNvPr id="3" name="Content Placeholder 2">
            <a:extLst>
              <a:ext uri="{FF2B5EF4-FFF2-40B4-BE49-F238E27FC236}">
                <a16:creationId xmlns:a16="http://schemas.microsoft.com/office/drawing/2014/main" id="{58B92470-E0A5-475E-9680-FC782A1FE3CF}"/>
              </a:ext>
            </a:extLst>
          </p:cNvPr>
          <p:cNvSpPr>
            <a:spLocks noGrp="1"/>
          </p:cNvSpPr>
          <p:nvPr>
            <p:ph sz="quarter" idx="16"/>
          </p:nvPr>
        </p:nvSpPr>
        <p:spPr>
          <a:xfrm>
            <a:off x="104078" y="1752600"/>
            <a:ext cx="8991600" cy="4038600"/>
          </a:xfrm>
        </p:spPr>
        <p:txBody>
          <a:bodyPr/>
          <a:lstStyle/>
          <a:p>
            <a:r>
              <a:rPr lang="en-US" sz="2400" b="1" dirty="0"/>
              <a:t>Book Value:</a:t>
            </a:r>
            <a:r>
              <a:rPr lang="en-US" sz="2400" dirty="0"/>
              <a:t> </a:t>
            </a:r>
          </a:p>
          <a:p>
            <a:pPr lvl="1"/>
            <a:r>
              <a:rPr lang="en-US" sz="2000" dirty="0"/>
              <a:t>This is like the car's value on your "accounting records“. You bought it for $20,000, and over time, it depreciates (as you are using it). After a few years, your "book value" might be $10,000. This is based on the car's original cost minus its depreciation.</a:t>
            </a:r>
          </a:p>
          <a:p>
            <a:r>
              <a:rPr lang="en-US" sz="2400" b="1" dirty="0"/>
              <a:t>Fair Value:</a:t>
            </a:r>
            <a:r>
              <a:rPr lang="en-US" sz="2400" dirty="0"/>
              <a:t> </a:t>
            </a:r>
          </a:p>
          <a:p>
            <a:pPr lvl="1"/>
            <a:r>
              <a:rPr lang="en-US" sz="2000" dirty="0"/>
              <a:t>This is what you could actually sell the car for today. If the used </a:t>
            </a:r>
            <a:r>
              <a:rPr lang="en-US" sz="2000" i="1" dirty="0"/>
              <a:t>(second hand)</a:t>
            </a:r>
            <a:r>
              <a:rPr lang="en-US" sz="2000" dirty="0"/>
              <a:t> car market is strong, you might sell it for $12,000. If it's weak, you might only get $8,000. This "fair value" is the current market price.</a:t>
            </a:r>
          </a:p>
          <a:p>
            <a:endParaRPr lang="en-US" sz="2400" dirty="0"/>
          </a:p>
          <a:p>
            <a:r>
              <a:rPr lang="en-US" sz="2400" dirty="0"/>
              <a:t>Therefore, the book value of the car, and the fair market value of the car, will rarely be the same.</a:t>
            </a:r>
          </a:p>
        </p:txBody>
      </p:sp>
      <p:sp>
        <p:nvSpPr>
          <p:cNvPr id="4" name="Slide Number Placeholder 3">
            <a:extLst>
              <a:ext uri="{FF2B5EF4-FFF2-40B4-BE49-F238E27FC236}">
                <a16:creationId xmlns:a16="http://schemas.microsoft.com/office/drawing/2014/main" id="{90A3A2E0-F296-49C1-8DBD-1A79FDB59529}"/>
              </a:ext>
            </a:extLst>
          </p:cNvPr>
          <p:cNvSpPr>
            <a:spLocks noGrp="1"/>
          </p:cNvSpPr>
          <p:nvPr>
            <p:ph type="sldNum" sz="quarter" idx="10"/>
          </p:nvPr>
        </p:nvSpPr>
        <p:spPr/>
        <p:txBody>
          <a:bodyPr/>
          <a:lstStyle/>
          <a:p>
            <a:fld id="{67B19427-F580-D146-B60E-4CADEE75497F}" type="slidenum">
              <a:rPr lang="en-US" smtClean="0"/>
              <a:pPr/>
              <a:t>9</a:t>
            </a:fld>
            <a:endParaRPr lang="en-US" dirty="0"/>
          </a:p>
        </p:txBody>
      </p:sp>
      <p:sp>
        <p:nvSpPr>
          <p:cNvPr id="5" name="Footer Placeholder 4">
            <a:extLst>
              <a:ext uri="{FF2B5EF4-FFF2-40B4-BE49-F238E27FC236}">
                <a16:creationId xmlns:a16="http://schemas.microsoft.com/office/drawing/2014/main" id="{DE1E744B-94DC-4BEF-A309-D15B07025CBE}"/>
              </a:ext>
            </a:extLst>
          </p:cNvPr>
          <p:cNvSpPr>
            <a:spLocks noGrp="1"/>
          </p:cNvSpPr>
          <p:nvPr>
            <p:ph type="ftr" sz="quarter" idx="11"/>
          </p:nvPr>
        </p:nvSpPr>
        <p:spPr/>
        <p:txBody>
          <a:bodyPr/>
          <a:lstStyle/>
          <a:p>
            <a:r>
              <a:rPr lang="en-US"/>
              <a:t>Copyright ©2018 John Wiley &amp; Sons, Inc. </a:t>
            </a:r>
            <a:endParaRPr lang="en-US" dirty="0"/>
          </a:p>
        </p:txBody>
      </p:sp>
      <p:pic>
        <p:nvPicPr>
          <p:cNvPr id="12291" name="Picture 3" descr="images (300×168)">
            <a:extLst>
              <a:ext uri="{FF2B5EF4-FFF2-40B4-BE49-F238E27FC236}">
                <a16:creationId xmlns:a16="http://schemas.microsoft.com/office/drawing/2014/main" id="{4D8C484A-CC78-4769-8DDD-8D8B61D6F6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527741"/>
            <a:ext cx="2523428" cy="141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87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05BED-2DA2-4819-AA3F-7F94699BFFFD}"/>
              </a:ext>
            </a:extLst>
          </p:cNvPr>
          <p:cNvSpPr>
            <a:spLocks noGrp="1"/>
          </p:cNvSpPr>
          <p:nvPr>
            <p:ph type="title"/>
          </p:nvPr>
        </p:nvSpPr>
        <p:spPr>
          <a:xfrm>
            <a:off x="104078" y="461894"/>
            <a:ext cx="8534400" cy="412750"/>
          </a:xfrm>
        </p:spPr>
        <p:txBody>
          <a:bodyPr>
            <a:noAutofit/>
          </a:bodyPr>
          <a:lstStyle/>
          <a:p>
            <a:r>
              <a:rPr lang="en-US" sz="2400" b="1" dirty="0"/>
              <a:t>Impairments </a:t>
            </a:r>
            <a:r>
              <a:rPr lang="en-US" sz="2400" i="1" dirty="0"/>
              <a:t>- what happens when fair value &lt; book value?</a:t>
            </a:r>
            <a:endParaRPr lang="en-US" sz="2400" dirty="0"/>
          </a:p>
        </p:txBody>
      </p:sp>
      <p:sp>
        <p:nvSpPr>
          <p:cNvPr id="3" name="Content Placeholder 2">
            <a:extLst>
              <a:ext uri="{FF2B5EF4-FFF2-40B4-BE49-F238E27FC236}">
                <a16:creationId xmlns:a16="http://schemas.microsoft.com/office/drawing/2014/main" id="{58B92470-E0A5-475E-9680-FC782A1FE3CF}"/>
              </a:ext>
            </a:extLst>
          </p:cNvPr>
          <p:cNvSpPr>
            <a:spLocks noGrp="1"/>
          </p:cNvSpPr>
          <p:nvPr>
            <p:ph sz="quarter" idx="16"/>
          </p:nvPr>
        </p:nvSpPr>
        <p:spPr>
          <a:xfrm>
            <a:off x="76200" y="914400"/>
            <a:ext cx="8991600" cy="5481706"/>
          </a:xfrm>
        </p:spPr>
        <p:txBody>
          <a:bodyPr/>
          <a:lstStyle/>
          <a:p>
            <a:pPr>
              <a:buClr>
                <a:srgbClr val="800000"/>
              </a:buClr>
              <a:buSzPct val="100000"/>
            </a:pPr>
            <a:r>
              <a:rPr lang="en-US" altLang="en-US" sz="1900" b="1" dirty="0"/>
              <a:t>Book value = cost – accumulated depreciation; Fair value = market value</a:t>
            </a:r>
            <a:endParaRPr lang="en-US" altLang="en-US" sz="1900" b="1" i="1" dirty="0"/>
          </a:p>
          <a:p>
            <a:pPr>
              <a:buClr>
                <a:srgbClr val="800000"/>
              </a:buClr>
              <a:buSzPct val="100000"/>
            </a:pPr>
            <a:r>
              <a:rPr lang="en-US" altLang="en-US" sz="1900" dirty="0"/>
              <a:t>As noted earlier, the book value of plant assets is rarely the same as the fair value. </a:t>
            </a:r>
          </a:p>
          <a:p>
            <a:pPr>
              <a:buClr>
                <a:srgbClr val="800000"/>
              </a:buClr>
              <a:buSzPct val="100000"/>
            </a:pPr>
            <a:r>
              <a:rPr lang="en-US" altLang="en-US" sz="1900" dirty="0"/>
              <a:t>Now, let’s imagine a machine you bought earlier has become obsolete </a:t>
            </a:r>
            <a:r>
              <a:rPr lang="en-US" altLang="en-US" sz="1900" i="1" dirty="0"/>
              <a:t>(out of date)</a:t>
            </a:r>
            <a:r>
              <a:rPr lang="en-US" altLang="en-US" sz="1900" dirty="0"/>
              <a:t>, or the market for the product made by the machine has dried up or has become very competitive. This might cause the market value of your machine to decline substantially, and its </a:t>
            </a:r>
            <a:r>
              <a:rPr lang="en-US" altLang="en-US" sz="1900" b="1" dirty="0"/>
              <a:t>fair value </a:t>
            </a:r>
            <a:r>
              <a:rPr lang="en-US" altLang="en-US" sz="1900" dirty="0"/>
              <a:t>might fall materially </a:t>
            </a:r>
            <a:r>
              <a:rPr lang="en-US" altLang="en-US" sz="1900" i="1" dirty="0"/>
              <a:t>(significantly) </a:t>
            </a:r>
            <a:r>
              <a:rPr lang="en-US" altLang="en-US" sz="1900" dirty="0"/>
              <a:t>below </a:t>
            </a:r>
            <a:r>
              <a:rPr lang="en-US" altLang="en-US" sz="1900" b="1" dirty="0"/>
              <a:t>book value</a:t>
            </a:r>
            <a:r>
              <a:rPr lang="en-US" altLang="en-US" sz="1900" dirty="0"/>
              <a:t>. </a:t>
            </a:r>
          </a:p>
          <a:p>
            <a:pPr>
              <a:buClr>
                <a:srgbClr val="800000"/>
              </a:buClr>
              <a:buSzPct val="100000"/>
            </a:pPr>
            <a:endParaRPr lang="en-US" altLang="en-US" sz="1900" dirty="0"/>
          </a:p>
          <a:p>
            <a:pPr>
              <a:buClr>
                <a:srgbClr val="800000"/>
              </a:buClr>
              <a:buSzPct val="100000"/>
            </a:pPr>
            <a:r>
              <a:rPr lang="en-US" altLang="en-US" sz="1900" dirty="0"/>
              <a:t>A </a:t>
            </a:r>
            <a:r>
              <a:rPr lang="en-US" altLang="en-US" sz="1900" b="1" dirty="0"/>
              <a:t>permanent decline </a:t>
            </a:r>
            <a:r>
              <a:rPr lang="en-US" altLang="en-US" sz="1900" i="1" dirty="0"/>
              <a:t>(decrease in the asset's fair value is not expected to recover)</a:t>
            </a:r>
            <a:r>
              <a:rPr lang="en-US" altLang="en-US" sz="1900" dirty="0"/>
              <a:t> in the fair value of an asset is referred to as an </a:t>
            </a:r>
            <a:r>
              <a:rPr lang="en-US" altLang="en-US" sz="1900" b="1" dirty="0"/>
              <a:t>impairment</a:t>
            </a:r>
            <a:r>
              <a:rPr lang="en-US" altLang="en-US" sz="1900" dirty="0"/>
              <a:t>. So as not to overstate </a:t>
            </a:r>
            <a:r>
              <a:rPr lang="en-US" altLang="en-US" sz="1900" i="1" dirty="0"/>
              <a:t>(overestimate) </a:t>
            </a:r>
            <a:r>
              <a:rPr lang="en-US" altLang="en-US" sz="1900" dirty="0"/>
              <a:t>the asset on the books, the company records a write-down, whereby the asset’s cost is reduced to its new fair value during the year in which the decline in value occurs. </a:t>
            </a:r>
          </a:p>
          <a:p>
            <a:pPr>
              <a:buClr>
                <a:srgbClr val="800000"/>
              </a:buClr>
              <a:buSzPct val="100000"/>
            </a:pPr>
            <a:r>
              <a:rPr lang="en-US" altLang="en-US" sz="1900" dirty="0"/>
              <a:t>E.g. Recently, Disney recorded a $200 million write-down on its action movie John Carter. Disney spent more than $300 million producing the film.</a:t>
            </a:r>
          </a:p>
          <a:p>
            <a:pPr marL="342900" indent="-342900">
              <a:buClr>
                <a:srgbClr val="800000"/>
              </a:buClr>
              <a:buSzPct val="100000"/>
              <a:buFont typeface="Arial" panose="020B0604020202020204" pitchFamily="34" charset="0"/>
              <a:buChar char="•"/>
            </a:pPr>
            <a:r>
              <a:rPr lang="en-US" altLang="en-US" sz="1900" dirty="0"/>
              <a:t>Loss on Impairment of Film Asset DR $200,000,000 (INCOME STATEMENT)</a:t>
            </a:r>
          </a:p>
          <a:p>
            <a:pPr marL="342900" indent="-342900">
              <a:buClr>
                <a:srgbClr val="800000"/>
              </a:buClr>
              <a:buSzPct val="100000"/>
              <a:buFont typeface="Arial" panose="020B0604020202020204" pitchFamily="34" charset="0"/>
              <a:buChar char="•"/>
            </a:pPr>
            <a:r>
              <a:rPr lang="en-US" altLang="en-US" sz="1900" dirty="0"/>
              <a:t>Film Asset (or Inventory - Film Production) CR $200,000,000 (BALANCE SHEET)</a:t>
            </a:r>
          </a:p>
        </p:txBody>
      </p:sp>
      <p:sp>
        <p:nvSpPr>
          <p:cNvPr id="4" name="Slide Number Placeholder 3">
            <a:extLst>
              <a:ext uri="{FF2B5EF4-FFF2-40B4-BE49-F238E27FC236}">
                <a16:creationId xmlns:a16="http://schemas.microsoft.com/office/drawing/2014/main" id="{90A3A2E0-F296-49C1-8DBD-1A79FDB59529}"/>
              </a:ext>
            </a:extLst>
          </p:cNvPr>
          <p:cNvSpPr>
            <a:spLocks noGrp="1"/>
          </p:cNvSpPr>
          <p:nvPr>
            <p:ph type="sldNum" sz="quarter" idx="10"/>
          </p:nvPr>
        </p:nvSpPr>
        <p:spPr/>
        <p:txBody>
          <a:bodyPr/>
          <a:lstStyle/>
          <a:p>
            <a:fld id="{67B19427-F580-D146-B60E-4CADEE75497F}" type="slidenum">
              <a:rPr lang="en-US" smtClean="0"/>
              <a:pPr/>
              <a:t>10</a:t>
            </a:fld>
            <a:endParaRPr lang="en-US" dirty="0"/>
          </a:p>
        </p:txBody>
      </p:sp>
      <p:sp>
        <p:nvSpPr>
          <p:cNvPr id="5" name="Footer Placeholder 4">
            <a:extLst>
              <a:ext uri="{FF2B5EF4-FFF2-40B4-BE49-F238E27FC236}">
                <a16:creationId xmlns:a16="http://schemas.microsoft.com/office/drawing/2014/main" id="{DE1E744B-94DC-4BEF-A309-D15B07025CB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670417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05BED-2DA2-4819-AA3F-7F94699BFFFD}"/>
              </a:ext>
            </a:extLst>
          </p:cNvPr>
          <p:cNvSpPr>
            <a:spLocks noGrp="1"/>
          </p:cNvSpPr>
          <p:nvPr>
            <p:ph type="title"/>
          </p:nvPr>
        </p:nvSpPr>
        <p:spPr>
          <a:xfrm>
            <a:off x="304800" y="722244"/>
            <a:ext cx="8534400" cy="761999"/>
          </a:xfrm>
        </p:spPr>
        <p:txBody>
          <a:bodyPr/>
          <a:lstStyle/>
          <a:p>
            <a:r>
              <a:rPr lang="en-US" b="1" dirty="0">
                <a:ea typeface="Source Sans Pro" charset="0"/>
                <a:cs typeface="Calibri" panose="020F0502020204030204" pitchFamily="34" charset="0"/>
              </a:rPr>
              <a:t>Plant Asset Disposals</a:t>
            </a:r>
            <a:endParaRPr lang="en-US" dirty="0"/>
          </a:p>
        </p:txBody>
      </p:sp>
      <p:sp>
        <p:nvSpPr>
          <p:cNvPr id="3" name="Content Placeholder 2">
            <a:extLst>
              <a:ext uri="{FF2B5EF4-FFF2-40B4-BE49-F238E27FC236}">
                <a16:creationId xmlns:a16="http://schemas.microsoft.com/office/drawing/2014/main" id="{58B92470-E0A5-475E-9680-FC782A1FE3CF}"/>
              </a:ext>
            </a:extLst>
          </p:cNvPr>
          <p:cNvSpPr>
            <a:spLocks noGrp="1"/>
          </p:cNvSpPr>
          <p:nvPr>
            <p:ph sz="quarter" idx="16"/>
          </p:nvPr>
        </p:nvSpPr>
        <p:spPr>
          <a:xfrm>
            <a:off x="76200" y="1828800"/>
            <a:ext cx="8991600" cy="3962400"/>
          </a:xfrm>
        </p:spPr>
        <p:txBody>
          <a:bodyPr/>
          <a:lstStyle/>
          <a:p>
            <a:pPr>
              <a:buClr>
                <a:srgbClr val="800000"/>
              </a:buClr>
              <a:buSzPct val="100000"/>
            </a:pPr>
            <a:r>
              <a:rPr lang="en-US" altLang="en-US" dirty="0"/>
              <a:t>Companies dispose </a:t>
            </a:r>
            <a:r>
              <a:rPr lang="en-US" altLang="en-US" i="1" dirty="0"/>
              <a:t>(get rid of)</a:t>
            </a:r>
            <a:r>
              <a:rPr lang="en-US" altLang="en-US" dirty="0"/>
              <a:t> of plant assets in three ways:</a:t>
            </a:r>
          </a:p>
          <a:p>
            <a:pPr marL="402336" indent="-402336">
              <a:buClr>
                <a:schemeClr val="accent2"/>
              </a:buClr>
              <a:buSzPct val="100000"/>
              <a:buFont typeface="+mj-lt"/>
              <a:buAutoNum type="arabicPeriod"/>
            </a:pPr>
            <a:r>
              <a:rPr lang="en-US" altLang="en-US" b="1" dirty="0"/>
              <a:t>Retirement: </a:t>
            </a:r>
            <a:r>
              <a:rPr lang="en-US" dirty="0"/>
              <a:t>Equipment is scrapped or discarded</a:t>
            </a:r>
          </a:p>
          <a:p>
            <a:pPr marL="402336" indent="-402336">
              <a:buClr>
                <a:schemeClr val="accent2"/>
              </a:buClr>
              <a:buSzPct val="100000"/>
              <a:buFont typeface="+mj-lt"/>
              <a:buAutoNum type="arabicPeriod"/>
            </a:pPr>
            <a:r>
              <a:rPr lang="en-US" altLang="en-US" b="1" dirty="0"/>
              <a:t>Sale: </a:t>
            </a:r>
            <a:r>
              <a:rPr lang="en-US" altLang="en-US" dirty="0"/>
              <a:t>Equipment is sold to another party</a:t>
            </a:r>
          </a:p>
          <a:p>
            <a:pPr marL="402336" indent="-402336">
              <a:spcAft>
                <a:spcPts val="500"/>
              </a:spcAft>
              <a:buClr>
                <a:schemeClr val="accent2"/>
              </a:buClr>
              <a:buSzPct val="100000"/>
              <a:buFont typeface="+mj-lt"/>
              <a:buAutoNum type="arabicPeriod"/>
            </a:pPr>
            <a:r>
              <a:rPr lang="en-US" altLang="en-US" b="1" dirty="0"/>
              <a:t>Exchange: </a:t>
            </a:r>
            <a:r>
              <a:rPr lang="en-US" altLang="en-US" dirty="0"/>
              <a:t>Equipment is traded for new equipment</a:t>
            </a:r>
          </a:p>
          <a:p>
            <a:endParaRPr lang="en-US" altLang="en-US" dirty="0"/>
          </a:p>
          <a:p>
            <a:r>
              <a:rPr lang="en-US" altLang="en-US" dirty="0"/>
              <a:t>Record depreciation up to the </a:t>
            </a:r>
            <a:r>
              <a:rPr lang="en-US" altLang="en-US" b="1" dirty="0"/>
              <a:t>date of disposal</a:t>
            </a:r>
            <a:r>
              <a:rPr lang="en-US" altLang="en-US" dirty="0"/>
              <a:t>.</a:t>
            </a:r>
          </a:p>
          <a:p>
            <a:r>
              <a:rPr lang="en-US" altLang="en-US" b="1" dirty="0"/>
              <a:t>Eliminate asset </a:t>
            </a:r>
            <a:r>
              <a:rPr lang="en-US" altLang="en-US" dirty="0"/>
              <a:t>by (1) debiting Accumulated Depreciation, and (2) crediting the asset account.</a:t>
            </a:r>
          </a:p>
        </p:txBody>
      </p:sp>
      <p:sp>
        <p:nvSpPr>
          <p:cNvPr id="4" name="Slide Number Placeholder 3">
            <a:extLst>
              <a:ext uri="{FF2B5EF4-FFF2-40B4-BE49-F238E27FC236}">
                <a16:creationId xmlns:a16="http://schemas.microsoft.com/office/drawing/2014/main" id="{90A3A2E0-F296-49C1-8DBD-1A79FDB59529}"/>
              </a:ext>
            </a:extLst>
          </p:cNvPr>
          <p:cNvSpPr>
            <a:spLocks noGrp="1"/>
          </p:cNvSpPr>
          <p:nvPr>
            <p:ph type="sldNum" sz="quarter" idx="10"/>
          </p:nvPr>
        </p:nvSpPr>
        <p:spPr/>
        <p:txBody>
          <a:bodyPr/>
          <a:lstStyle/>
          <a:p>
            <a:fld id="{67B19427-F580-D146-B60E-4CADEE75497F}" type="slidenum">
              <a:rPr lang="en-US" smtClean="0"/>
              <a:pPr/>
              <a:t>11</a:t>
            </a:fld>
            <a:endParaRPr lang="en-US" dirty="0"/>
          </a:p>
        </p:txBody>
      </p:sp>
      <p:sp>
        <p:nvSpPr>
          <p:cNvPr id="5" name="Footer Placeholder 4">
            <a:extLst>
              <a:ext uri="{FF2B5EF4-FFF2-40B4-BE49-F238E27FC236}">
                <a16:creationId xmlns:a16="http://schemas.microsoft.com/office/drawing/2014/main" id="{DE1E744B-94DC-4BEF-A309-D15B07025CB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280719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5A41D-1904-4FF7-9143-FD4C1A903F12}"/>
              </a:ext>
            </a:extLst>
          </p:cNvPr>
          <p:cNvSpPr>
            <a:spLocks noGrp="1"/>
          </p:cNvSpPr>
          <p:nvPr>
            <p:ph type="title"/>
          </p:nvPr>
        </p:nvSpPr>
        <p:spPr>
          <a:xfrm>
            <a:off x="304800" y="722245"/>
            <a:ext cx="8534400" cy="761999"/>
          </a:xfrm>
        </p:spPr>
        <p:txBody>
          <a:bodyPr/>
          <a:lstStyle/>
          <a:p>
            <a:r>
              <a:rPr lang="en-US" b="1" dirty="0">
                <a:ea typeface="Source Sans Pro" charset="0"/>
                <a:cs typeface="Calibri" panose="020F0502020204030204" pitchFamily="34" charset="0"/>
              </a:rPr>
              <a:t>Retirement of Plant Asset </a:t>
            </a:r>
            <a:r>
              <a:rPr lang="en-US" sz="2400" dirty="0">
                <a:ea typeface="Source Sans Pro" charset="0"/>
                <a:cs typeface="Calibri" panose="020F0502020204030204" pitchFamily="34" charset="0"/>
              </a:rPr>
              <a:t>(1 of 3)</a:t>
            </a:r>
            <a:endParaRPr lang="en-US" sz="2400" dirty="0"/>
          </a:p>
        </p:txBody>
      </p:sp>
      <p:sp>
        <p:nvSpPr>
          <p:cNvPr id="3" name="Content Placeholder 2">
            <a:extLst>
              <a:ext uri="{FF2B5EF4-FFF2-40B4-BE49-F238E27FC236}">
                <a16:creationId xmlns:a16="http://schemas.microsoft.com/office/drawing/2014/main" id="{10A78160-6F44-4CAD-9C0A-ED331469F549}"/>
              </a:ext>
            </a:extLst>
          </p:cNvPr>
          <p:cNvSpPr>
            <a:spLocks noGrp="1"/>
          </p:cNvSpPr>
          <p:nvPr>
            <p:ph sz="quarter" idx="16"/>
          </p:nvPr>
        </p:nvSpPr>
        <p:spPr>
          <a:xfrm>
            <a:off x="381000" y="2254802"/>
            <a:ext cx="8534400" cy="2895600"/>
          </a:xfrm>
        </p:spPr>
        <p:txBody>
          <a:bodyPr/>
          <a:lstStyle/>
          <a:p>
            <a:pPr marL="292608" indent="-292608">
              <a:buClr>
                <a:srgbClr val="800000"/>
              </a:buClr>
              <a:buSzPct val="100000"/>
              <a:buFont typeface="Arial" panose="020B0604020202020204" pitchFamily="34" charset="0"/>
              <a:buChar char="•"/>
            </a:pPr>
            <a:r>
              <a:rPr lang="en-US" altLang="en-US" b="1" dirty="0"/>
              <a:t>No cash </a:t>
            </a:r>
            <a:r>
              <a:rPr lang="en-US" altLang="en-US" dirty="0"/>
              <a:t>is received</a:t>
            </a:r>
          </a:p>
          <a:p>
            <a:pPr marL="292608" indent="-292608">
              <a:buClr>
                <a:srgbClr val="800000"/>
              </a:buClr>
              <a:buSzPct val="100000"/>
              <a:buFont typeface="Arial" panose="020B0604020202020204" pitchFamily="34" charset="0"/>
              <a:buChar char="•"/>
            </a:pPr>
            <a:r>
              <a:rPr lang="en-US" altLang="en-US" b="1" dirty="0"/>
              <a:t>Decrease (credit) asset account </a:t>
            </a:r>
            <a:r>
              <a:rPr lang="en-US" altLang="en-US" dirty="0"/>
              <a:t>for original cost in asset</a:t>
            </a:r>
          </a:p>
          <a:p>
            <a:pPr marL="292608" indent="-292608">
              <a:buClr>
                <a:srgbClr val="800000"/>
              </a:buClr>
              <a:buSzPct val="100000"/>
              <a:buFont typeface="Arial" panose="020B0604020202020204" pitchFamily="34" charset="0"/>
              <a:buChar char="•"/>
            </a:pPr>
            <a:r>
              <a:rPr lang="en-US" altLang="en-US" b="1" dirty="0"/>
              <a:t>Decrease (debit) Accumulated Depreciation </a:t>
            </a:r>
            <a:r>
              <a:rPr lang="en-US" altLang="en-US" dirty="0"/>
              <a:t>for full amount of depreciation taken over life of asset</a:t>
            </a:r>
          </a:p>
        </p:txBody>
      </p:sp>
      <p:sp>
        <p:nvSpPr>
          <p:cNvPr id="4" name="Slide Number Placeholder 3">
            <a:extLst>
              <a:ext uri="{FF2B5EF4-FFF2-40B4-BE49-F238E27FC236}">
                <a16:creationId xmlns:a16="http://schemas.microsoft.com/office/drawing/2014/main" id="{83D59631-1867-4AE3-BA57-F44CAE62B486}"/>
              </a:ext>
            </a:extLst>
          </p:cNvPr>
          <p:cNvSpPr>
            <a:spLocks noGrp="1"/>
          </p:cNvSpPr>
          <p:nvPr>
            <p:ph type="sldNum" sz="quarter" idx="10"/>
          </p:nvPr>
        </p:nvSpPr>
        <p:spPr/>
        <p:txBody>
          <a:bodyPr/>
          <a:lstStyle/>
          <a:p>
            <a:fld id="{67B19427-F580-D146-B60E-4CADEE75497F}" type="slidenum">
              <a:rPr lang="en-US" smtClean="0"/>
              <a:pPr/>
              <a:t>12</a:t>
            </a:fld>
            <a:endParaRPr lang="en-US" dirty="0"/>
          </a:p>
        </p:txBody>
      </p:sp>
      <p:sp>
        <p:nvSpPr>
          <p:cNvPr id="5" name="Footer Placeholder 4">
            <a:extLst>
              <a:ext uri="{FF2B5EF4-FFF2-40B4-BE49-F238E27FC236}">
                <a16:creationId xmlns:a16="http://schemas.microsoft.com/office/drawing/2014/main" id="{B7C18707-F4F9-4AB2-AA27-142166A5063B}"/>
              </a:ext>
            </a:extLst>
          </p:cNvPr>
          <p:cNvSpPr>
            <a:spLocks noGrp="1"/>
          </p:cNvSpPr>
          <p:nvPr>
            <p:ph type="ftr" sz="quarter" idx="11"/>
          </p:nvPr>
        </p:nvSpPr>
        <p:spPr/>
        <p:txBody>
          <a:bodyPr/>
          <a:lstStyle/>
          <a:p>
            <a:r>
              <a:rPr lang="en-US"/>
              <a:t>Copyright ©2018 John Wiley &amp; Sons, Inc. </a:t>
            </a:r>
            <a:endParaRPr lang="en-US" dirty="0"/>
          </a:p>
        </p:txBody>
      </p:sp>
      <p:pic>
        <p:nvPicPr>
          <p:cNvPr id="6" name="Picture 5">
            <a:extLst>
              <a:ext uri="{FF2B5EF4-FFF2-40B4-BE49-F238E27FC236}">
                <a16:creationId xmlns:a16="http://schemas.microsoft.com/office/drawing/2014/main" id="{EF098C70-245D-4786-B20A-354B264B4AB0}"/>
              </a:ext>
            </a:extLst>
          </p:cNvPr>
          <p:cNvPicPr>
            <a:picLocks noChangeAspect="1"/>
          </p:cNvPicPr>
          <p:nvPr/>
        </p:nvPicPr>
        <p:blipFill rotWithShape="1">
          <a:blip r:embed="rId2"/>
          <a:srcRect l="9301" t="10958"/>
          <a:stretch/>
        </p:blipFill>
        <p:spPr>
          <a:xfrm>
            <a:off x="7010400" y="793199"/>
            <a:ext cx="1791355" cy="1492801"/>
          </a:xfrm>
          <a:prstGeom prst="rect">
            <a:avLst/>
          </a:prstGeom>
        </p:spPr>
      </p:pic>
    </p:spTree>
    <p:extLst>
      <p:ext uri="{BB962C8B-B14F-4D97-AF65-F5344CB8AC3E}">
        <p14:creationId xmlns:p14="http://schemas.microsoft.com/office/powerpoint/2010/main" val="2049473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E7FD8-CD88-42AD-A7C7-123B2B34CCBE}"/>
              </a:ext>
            </a:extLst>
          </p:cNvPr>
          <p:cNvSpPr>
            <a:spLocks noGrp="1"/>
          </p:cNvSpPr>
          <p:nvPr>
            <p:ph type="title"/>
          </p:nvPr>
        </p:nvSpPr>
        <p:spPr/>
        <p:txBody>
          <a:bodyPr/>
          <a:lstStyle/>
          <a:p>
            <a:r>
              <a:rPr lang="en-US" b="1">
                <a:ea typeface="Source Sans Pro" charset="0"/>
                <a:cs typeface="Calibri" panose="020F0502020204030204" pitchFamily="34" charset="0"/>
              </a:rPr>
              <a:t>Retirement of Plant Asset </a:t>
            </a:r>
            <a:r>
              <a:rPr lang="en-US" sz="2400">
                <a:ea typeface="Source Sans Pro" charset="0"/>
                <a:cs typeface="Calibri" panose="020F0502020204030204" pitchFamily="34" charset="0"/>
              </a:rPr>
              <a:t>(2 of 3)</a:t>
            </a:r>
            <a:endParaRPr lang="en-IN"/>
          </a:p>
        </p:txBody>
      </p:sp>
      <p:sp>
        <p:nvSpPr>
          <p:cNvPr id="3" name="Content Placeholder 2">
            <a:extLst>
              <a:ext uri="{FF2B5EF4-FFF2-40B4-BE49-F238E27FC236}">
                <a16:creationId xmlns:a16="http://schemas.microsoft.com/office/drawing/2014/main" id="{79B62335-F727-42AB-8C7D-3862BBDB8081}"/>
              </a:ext>
            </a:extLst>
          </p:cNvPr>
          <p:cNvSpPr>
            <a:spLocks noGrp="1"/>
          </p:cNvSpPr>
          <p:nvPr>
            <p:ph sz="quarter" idx="16"/>
          </p:nvPr>
        </p:nvSpPr>
        <p:spPr>
          <a:xfrm>
            <a:off x="304800" y="1576327"/>
            <a:ext cx="8534400" cy="1242673"/>
          </a:xfrm>
        </p:spPr>
        <p:txBody>
          <a:bodyPr/>
          <a:lstStyle/>
          <a:p>
            <a:r>
              <a:rPr lang="en-US" sz="2200" b="1" dirty="0">
                <a:latin typeface="+mn-lt"/>
              </a:rPr>
              <a:t>Illustration: </a:t>
            </a:r>
            <a:r>
              <a:rPr lang="en-US" sz="2200" dirty="0">
                <a:latin typeface="+mn-lt"/>
              </a:rPr>
              <a:t>Hobart Enterprises retires its computer printers, which cost $32,000. The accumulated depreciation on these printers is $32,000. Prepare the entry to record this retirement. The equipment, therefore, is </a:t>
            </a:r>
            <a:r>
              <a:rPr lang="en-US" sz="2200" b="1" dirty="0">
                <a:latin typeface="+mn-lt"/>
              </a:rPr>
              <a:t>fully depreciated </a:t>
            </a:r>
            <a:r>
              <a:rPr lang="en-US" sz="2200" dirty="0">
                <a:latin typeface="+mn-lt"/>
              </a:rPr>
              <a:t>(zero book value).</a:t>
            </a:r>
            <a:endParaRPr lang="en-IN" sz="2200" dirty="0">
              <a:latin typeface="+mn-lt"/>
            </a:endParaRPr>
          </a:p>
        </p:txBody>
      </p:sp>
      <p:sp>
        <p:nvSpPr>
          <p:cNvPr id="4" name="Content Placeholder 3">
            <a:extLst>
              <a:ext uri="{FF2B5EF4-FFF2-40B4-BE49-F238E27FC236}">
                <a16:creationId xmlns:a16="http://schemas.microsoft.com/office/drawing/2014/main" id="{0DC0297E-3364-4518-B1A8-9534E72EE91A}"/>
              </a:ext>
            </a:extLst>
          </p:cNvPr>
          <p:cNvSpPr>
            <a:spLocks noGrp="1"/>
          </p:cNvSpPr>
          <p:nvPr>
            <p:ph sz="quarter" idx="17"/>
          </p:nvPr>
        </p:nvSpPr>
        <p:spPr>
          <a:xfrm>
            <a:off x="304800" y="3048000"/>
            <a:ext cx="4343400" cy="457200"/>
          </a:xfrm>
        </p:spPr>
        <p:txBody>
          <a:bodyPr/>
          <a:lstStyle/>
          <a:p>
            <a:r>
              <a:rPr lang="en-US" sz="2000"/>
              <a:t>Accumulated Depreciation—Equipment</a:t>
            </a:r>
            <a:endParaRPr lang="en-IN" sz="2000"/>
          </a:p>
        </p:txBody>
      </p:sp>
      <p:sp>
        <p:nvSpPr>
          <p:cNvPr id="5" name="Content Placeholder 4">
            <a:extLst>
              <a:ext uri="{FF2B5EF4-FFF2-40B4-BE49-F238E27FC236}">
                <a16:creationId xmlns:a16="http://schemas.microsoft.com/office/drawing/2014/main" id="{5CC02DC4-9250-4DCC-AAB3-10A34740ADAC}"/>
              </a:ext>
            </a:extLst>
          </p:cNvPr>
          <p:cNvSpPr>
            <a:spLocks noGrp="1"/>
          </p:cNvSpPr>
          <p:nvPr>
            <p:ph sz="quarter" idx="18"/>
          </p:nvPr>
        </p:nvSpPr>
        <p:spPr>
          <a:xfrm>
            <a:off x="6629400" y="3070225"/>
            <a:ext cx="990600" cy="304800"/>
          </a:xfrm>
        </p:spPr>
        <p:txBody>
          <a:bodyPr/>
          <a:lstStyle/>
          <a:p>
            <a:r>
              <a:rPr lang="en-US" sz="2000"/>
              <a:t>32,000</a:t>
            </a:r>
            <a:endParaRPr lang="en-IN" sz="2000"/>
          </a:p>
        </p:txBody>
      </p:sp>
      <p:sp>
        <p:nvSpPr>
          <p:cNvPr id="6" name="Content Placeholder 5">
            <a:extLst>
              <a:ext uri="{FF2B5EF4-FFF2-40B4-BE49-F238E27FC236}">
                <a16:creationId xmlns:a16="http://schemas.microsoft.com/office/drawing/2014/main" id="{9ABB304F-B8AC-4334-8523-C3DCDC9BF326}"/>
              </a:ext>
            </a:extLst>
          </p:cNvPr>
          <p:cNvSpPr>
            <a:spLocks noGrp="1"/>
          </p:cNvSpPr>
          <p:nvPr>
            <p:ph sz="quarter" idx="19"/>
          </p:nvPr>
        </p:nvSpPr>
        <p:spPr>
          <a:xfrm>
            <a:off x="533400" y="3352800"/>
            <a:ext cx="1600200" cy="412750"/>
          </a:xfrm>
        </p:spPr>
        <p:txBody>
          <a:bodyPr/>
          <a:lstStyle/>
          <a:p>
            <a:r>
              <a:rPr lang="en-US" sz="2000" dirty="0"/>
              <a:t>Equipment</a:t>
            </a:r>
            <a:endParaRPr lang="en-IN" sz="2000" dirty="0"/>
          </a:p>
        </p:txBody>
      </p:sp>
      <p:sp>
        <p:nvSpPr>
          <p:cNvPr id="7" name="Content Placeholder 6">
            <a:extLst>
              <a:ext uri="{FF2B5EF4-FFF2-40B4-BE49-F238E27FC236}">
                <a16:creationId xmlns:a16="http://schemas.microsoft.com/office/drawing/2014/main" id="{2A5965BC-AA37-497F-BCA4-6C28B8F7A5E7}"/>
              </a:ext>
            </a:extLst>
          </p:cNvPr>
          <p:cNvSpPr>
            <a:spLocks noGrp="1"/>
          </p:cNvSpPr>
          <p:nvPr>
            <p:ph sz="quarter" idx="20"/>
          </p:nvPr>
        </p:nvSpPr>
        <p:spPr>
          <a:xfrm>
            <a:off x="8153400" y="3360677"/>
            <a:ext cx="914400" cy="349250"/>
          </a:xfrm>
        </p:spPr>
        <p:txBody>
          <a:bodyPr/>
          <a:lstStyle/>
          <a:p>
            <a:r>
              <a:rPr lang="en-US" sz="2000"/>
              <a:t>32,000</a:t>
            </a:r>
            <a:endParaRPr lang="en-IN" sz="2000"/>
          </a:p>
        </p:txBody>
      </p:sp>
      <p:sp>
        <p:nvSpPr>
          <p:cNvPr id="8" name="Content Placeholder 7">
            <a:extLst>
              <a:ext uri="{FF2B5EF4-FFF2-40B4-BE49-F238E27FC236}">
                <a16:creationId xmlns:a16="http://schemas.microsoft.com/office/drawing/2014/main" id="{C363E1B7-32D2-42C4-9D1E-32C90D064CB4}"/>
              </a:ext>
            </a:extLst>
          </p:cNvPr>
          <p:cNvSpPr>
            <a:spLocks noGrp="1"/>
          </p:cNvSpPr>
          <p:nvPr>
            <p:ph sz="quarter" idx="21"/>
          </p:nvPr>
        </p:nvSpPr>
        <p:spPr>
          <a:xfrm>
            <a:off x="778400" y="3657600"/>
            <a:ext cx="5769975" cy="365125"/>
          </a:xfrm>
        </p:spPr>
        <p:txBody>
          <a:bodyPr/>
          <a:lstStyle/>
          <a:p>
            <a:r>
              <a:rPr lang="en-IN" sz="2000"/>
              <a:t>(To record retirement of fully-depreciated equipment)</a:t>
            </a:r>
          </a:p>
        </p:txBody>
      </p:sp>
      <p:sp>
        <p:nvSpPr>
          <p:cNvPr id="9" name="Content Placeholder 8">
            <a:extLst>
              <a:ext uri="{FF2B5EF4-FFF2-40B4-BE49-F238E27FC236}">
                <a16:creationId xmlns:a16="http://schemas.microsoft.com/office/drawing/2014/main" id="{1B6C4230-682F-437F-BCED-BC816D816CEC}"/>
              </a:ext>
            </a:extLst>
          </p:cNvPr>
          <p:cNvSpPr>
            <a:spLocks noGrp="1"/>
          </p:cNvSpPr>
          <p:nvPr>
            <p:ph sz="quarter" idx="22"/>
          </p:nvPr>
        </p:nvSpPr>
        <p:spPr>
          <a:xfrm>
            <a:off x="304800" y="4419600"/>
            <a:ext cx="8534400" cy="686926"/>
          </a:xfrm>
        </p:spPr>
        <p:txBody>
          <a:bodyPr/>
          <a:lstStyle/>
          <a:p>
            <a:r>
              <a:rPr lang="en-US" altLang="en-US" sz="2200" b="1" dirty="0"/>
              <a:t>Question: </a:t>
            </a:r>
            <a:r>
              <a:rPr lang="en-US" altLang="en-US" sz="2200" dirty="0"/>
              <a:t>What happens if a fully depreciated plant asset is still useful to the company?</a:t>
            </a:r>
            <a:endParaRPr lang="en-IN" sz="2200" dirty="0"/>
          </a:p>
        </p:txBody>
      </p:sp>
      <p:sp>
        <p:nvSpPr>
          <p:cNvPr id="10" name="Content Placeholder 9">
            <a:extLst>
              <a:ext uri="{FF2B5EF4-FFF2-40B4-BE49-F238E27FC236}">
                <a16:creationId xmlns:a16="http://schemas.microsoft.com/office/drawing/2014/main" id="{F900B197-0838-48AF-A499-3CF959A5AD55}"/>
              </a:ext>
            </a:extLst>
          </p:cNvPr>
          <p:cNvSpPr>
            <a:spLocks noGrp="1"/>
          </p:cNvSpPr>
          <p:nvPr>
            <p:ph sz="quarter" idx="23"/>
          </p:nvPr>
        </p:nvSpPr>
        <p:spPr>
          <a:xfrm>
            <a:off x="304800" y="5181600"/>
            <a:ext cx="8534400" cy="977536"/>
          </a:xfrm>
        </p:spPr>
        <p:txBody>
          <a:bodyPr/>
          <a:lstStyle/>
          <a:p>
            <a:r>
              <a:rPr lang="en-IN" sz="2200"/>
              <a:t>Answer: The asset and its accumulated depreciation continue to be reported on the balance sheet, without further depreciation adjustment, until the company retires the asset.</a:t>
            </a:r>
          </a:p>
        </p:txBody>
      </p:sp>
      <p:sp>
        <p:nvSpPr>
          <p:cNvPr id="12" name="Slide Number Placeholder 11">
            <a:extLst>
              <a:ext uri="{FF2B5EF4-FFF2-40B4-BE49-F238E27FC236}">
                <a16:creationId xmlns:a16="http://schemas.microsoft.com/office/drawing/2014/main" id="{7A82CA71-5CD0-49C3-B17D-D509F0FE2EE7}"/>
              </a:ext>
            </a:extLst>
          </p:cNvPr>
          <p:cNvSpPr>
            <a:spLocks noGrp="1"/>
          </p:cNvSpPr>
          <p:nvPr>
            <p:ph type="sldNum" sz="quarter" idx="10"/>
          </p:nvPr>
        </p:nvSpPr>
        <p:spPr/>
        <p:txBody>
          <a:bodyPr/>
          <a:lstStyle/>
          <a:p>
            <a:fld id="{67B19427-F580-D146-B60E-4CADEE75497F}" type="slidenum">
              <a:rPr lang="en-US" smtClean="0"/>
              <a:pPr/>
              <a:t>13</a:t>
            </a:fld>
            <a:endParaRPr lang="en-US" dirty="0"/>
          </a:p>
        </p:txBody>
      </p:sp>
      <p:sp>
        <p:nvSpPr>
          <p:cNvPr id="13" name="Footer Placeholder 12">
            <a:extLst>
              <a:ext uri="{FF2B5EF4-FFF2-40B4-BE49-F238E27FC236}">
                <a16:creationId xmlns:a16="http://schemas.microsoft.com/office/drawing/2014/main" id="{A0FA12BC-C0F4-49E4-86D4-3F43631DA62B}"/>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723189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52725-7932-48CD-9633-F2ABA996FDE7}"/>
              </a:ext>
            </a:extLst>
          </p:cNvPr>
          <p:cNvSpPr>
            <a:spLocks noGrp="1"/>
          </p:cNvSpPr>
          <p:nvPr>
            <p:ph type="title"/>
          </p:nvPr>
        </p:nvSpPr>
        <p:spPr>
          <a:xfrm>
            <a:off x="304800" y="533400"/>
            <a:ext cx="8534400" cy="460255"/>
          </a:xfrm>
        </p:spPr>
        <p:txBody>
          <a:bodyPr>
            <a:normAutofit fontScale="90000"/>
          </a:bodyPr>
          <a:lstStyle/>
          <a:p>
            <a:r>
              <a:rPr lang="en-US" b="1" dirty="0">
                <a:ea typeface="Source Sans Pro" charset="0"/>
                <a:cs typeface="Calibri" panose="020F0502020204030204" pitchFamily="34" charset="0"/>
              </a:rPr>
              <a:t>Retirement of Plant Asset </a:t>
            </a:r>
            <a:r>
              <a:rPr lang="en-US" sz="2400" dirty="0">
                <a:ea typeface="Source Sans Pro" charset="0"/>
                <a:cs typeface="Calibri" panose="020F0502020204030204" pitchFamily="34" charset="0"/>
              </a:rPr>
              <a:t>(3 of 3)</a:t>
            </a:r>
            <a:endParaRPr lang="en-IN" dirty="0"/>
          </a:p>
        </p:txBody>
      </p:sp>
      <p:sp>
        <p:nvSpPr>
          <p:cNvPr id="3" name="Content Placeholder 2">
            <a:extLst>
              <a:ext uri="{FF2B5EF4-FFF2-40B4-BE49-F238E27FC236}">
                <a16:creationId xmlns:a16="http://schemas.microsoft.com/office/drawing/2014/main" id="{D939E13E-3DBA-4F20-88E2-61CDA6152BC8}"/>
              </a:ext>
            </a:extLst>
          </p:cNvPr>
          <p:cNvSpPr>
            <a:spLocks noGrp="1"/>
          </p:cNvSpPr>
          <p:nvPr>
            <p:ph sz="quarter" idx="16"/>
          </p:nvPr>
        </p:nvSpPr>
        <p:spPr>
          <a:xfrm>
            <a:off x="265321" y="1066800"/>
            <a:ext cx="8534400" cy="2167604"/>
          </a:xfrm>
        </p:spPr>
        <p:txBody>
          <a:bodyPr/>
          <a:lstStyle/>
          <a:p>
            <a:r>
              <a:rPr lang="en-US" sz="2400" dirty="0"/>
              <a:t>If a company retires a plant asset </a:t>
            </a:r>
            <a:r>
              <a:rPr lang="en-US" sz="2400" b="1" dirty="0"/>
              <a:t>before it is fully depreciated </a:t>
            </a:r>
            <a:r>
              <a:rPr lang="en-US" sz="2400" dirty="0"/>
              <a:t>and no cash is received for scrap or salvage value, a loss on disposal occurs.</a:t>
            </a:r>
          </a:p>
          <a:p>
            <a:r>
              <a:rPr lang="en-US" sz="2400" b="1" dirty="0"/>
              <a:t>Illustration: </a:t>
            </a:r>
            <a:r>
              <a:rPr lang="en-US" altLang="en-US" sz="2400" dirty="0"/>
              <a:t>Sunset Company discards delivery equipment that cost $18,000 and has accumulated depreciation of $14,000. The journal entry is?</a:t>
            </a:r>
            <a:endParaRPr lang="en-IN" sz="2400" dirty="0"/>
          </a:p>
        </p:txBody>
      </p:sp>
      <p:sp>
        <p:nvSpPr>
          <p:cNvPr id="5" name="Content Placeholder 4">
            <a:extLst>
              <a:ext uri="{FF2B5EF4-FFF2-40B4-BE49-F238E27FC236}">
                <a16:creationId xmlns:a16="http://schemas.microsoft.com/office/drawing/2014/main" id="{D49F9392-8A1A-41D2-AE8D-7B676873E849}"/>
              </a:ext>
            </a:extLst>
          </p:cNvPr>
          <p:cNvSpPr>
            <a:spLocks noGrp="1"/>
          </p:cNvSpPr>
          <p:nvPr>
            <p:ph sz="quarter" idx="18"/>
          </p:nvPr>
        </p:nvSpPr>
        <p:spPr>
          <a:xfrm>
            <a:off x="346346" y="3548929"/>
            <a:ext cx="5105400" cy="387150"/>
          </a:xfrm>
        </p:spPr>
        <p:txBody>
          <a:bodyPr/>
          <a:lstStyle/>
          <a:p>
            <a:r>
              <a:rPr lang="en-US" sz="2000" dirty="0"/>
              <a:t>Accumulated Depreciation—Equipment</a:t>
            </a:r>
            <a:endParaRPr lang="en-IN" sz="2000" dirty="0"/>
          </a:p>
        </p:txBody>
      </p:sp>
      <p:sp>
        <p:nvSpPr>
          <p:cNvPr id="6" name="Content Placeholder 5">
            <a:extLst>
              <a:ext uri="{FF2B5EF4-FFF2-40B4-BE49-F238E27FC236}">
                <a16:creationId xmlns:a16="http://schemas.microsoft.com/office/drawing/2014/main" id="{250FD21A-6B8B-43D2-A6E1-C7BCA0736198}"/>
              </a:ext>
            </a:extLst>
          </p:cNvPr>
          <p:cNvSpPr>
            <a:spLocks noGrp="1"/>
          </p:cNvSpPr>
          <p:nvPr>
            <p:ph sz="quarter" idx="19"/>
          </p:nvPr>
        </p:nvSpPr>
        <p:spPr>
          <a:xfrm>
            <a:off x="6612346" y="3562431"/>
            <a:ext cx="1030875" cy="387150"/>
          </a:xfrm>
        </p:spPr>
        <p:txBody>
          <a:bodyPr/>
          <a:lstStyle/>
          <a:p>
            <a:r>
              <a:rPr lang="en-US" sz="2000"/>
              <a:t>14,000</a:t>
            </a:r>
            <a:endParaRPr lang="en-IN" sz="2000"/>
          </a:p>
        </p:txBody>
      </p:sp>
      <p:sp>
        <p:nvSpPr>
          <p:cNvPr id="7" name="Content Placeholder 6">
            <a:extLst>
              <a:ext uri="{FF2B5EF4-FFF2-40B4-BE49-F238E27FC236}">
                <a16:creationId xmlns:a16="http://schemas.microsoft.com/office/drawing/2014/main" id="{D8E5A44A-A8AB-493A-B702-63A7FBAEDBDB}"/>
              </a:ext>
            </a:extLst>
          </p:cNvPr>
          <p:cNvSpPr>
            <a:spLocks noGrp="1"/>
          </p:cNvSpPr>
          <p:nvPr>
            <p:ph sz="quarter" idx="20"/>
          </p:nvPr>
        </p:nvSpPr>
        <p:spPr>
          <a:xfrm>
            <a:off x="346346" y="3870325"/>
            <a:ext cx="4114800" cy="387150"/>
          </a:xfrm>
        </p:spPr>
        <p:txBody>
          <a:bodyPr/>
          <a:lstStyle/>
          <a:p>
            <a:r>
              <a:rPr lang="en-US" sz="2000" dirty="0"/>
              <a:t>Loss on Disposal of Plant Assets</a:t>
            </a:r>
            <a:endParaRPr lang="en-IN" sz="2000" dirty="0"/>
          </a:p>
        </p:txBody>
      </p:sp>
      <p:sp>
        <p:nvSpPr>
          <p:cNvPr id="8" name="Content Placeholder 7">
            <a:extLst>
              <a:ext uri="{FF2B5EF4-FFF2-40B4-BE49-F238E27FC236}">
                <a16:creationId xmlns:a16="http://schemas.microsoft.com/office/drawing/2014/main" id="{DE91C8E7-5B54-482B-94CC-F1D5CB3E79A9}"/>
              </a:ext>
            </a:extLst>
          </p:cNvPr>
          <p:cNvSpPr>
            <a:spLocks noGrp="1"/>
          </p:cNvSpPr>
          <p:nvPr>
            <p:ph sz="quarter" idx="21"/>
          </p:nvPr>
        </p:nvSpPr>
        <p:spPr>
          <a:xfrm>
            <a:off x="6739671" y="3871773"/>
            <a:ext cx="903550" cy="387150"/>
          </a:xfrm>
        </p:spPr>
        <p:txBody>
          <a:bodyPr/>
          <a:lstStyle/>
          <a:p>
            <a:r>
              <a:rPr lang="en-US" sz="2000"/>
              <a:t>4,000</a:t>
            </a:r>
            <a:endParaRPr lang="en-IN" sz="2000"/>
          </a:p>
        </p:txBody>
      </p:sp>
      <p:sp>
        <p:nvSpPr>
          <p:cNvPr id="9" name="Content Placeholder 8">
            <a:extLst>
              <a:ext uri="{FF2B5EF4-FFF2-40B4-BE49-F238E27FC236}">
                <a16:creationId xmlns:a16="http://schemas.microsoft.com/office/drawing/2014/main" id="{314ADD96-98C1-4E6B-9EDD-80126CC2FC02}"/>
              </a:ext>
            </a:extLst>
          </p:cNvPr>
          <p:cNvSpPr>
            <a:spLocks noGrp="1"/>
          </p:cNvSpPr>
          <p:nvPr>
            <p:ph sz="quarter" idx="22"/>
          </p:nvPr>
        </p:nvSpPr>
        <p:spPr>
          <a:xfrm>
            <a:off x="546971" y="4175125"/>
            <a:ext cx="1676400" cy="396875"/>
          </a:xfrm>
        </p:spPr>
        <p:txBody>
          <a:bodyPr/>
          <a:lstStyle/>
          <a:p>
            <a:r>
              <a:rPr lang="en-US" sz="2000" dirty="0"/>
              <a:t>Equipment</a:t>
            </a:r>
            <a:endParaRPr lang="en-IN" sz="2000" dirty="0"/>
          </a:p>
        </p:txBody>
      </p:sp>
      <p:sp>
        <p:nvSpPr>
          <p:cNvPr id="10" name="Content Placeholder 9">
            <a:extLst>
              <a:ext uri="{FF2B5EF4-FFF2-40B4-BE49-F238E27FC236}">
                <a16:creationId xmlns:a16="http://schemas.microsoft.com/office/drawing/2014/main" id="{5E37CC0A-E2B2-4A08-9FD9-265ED87FE355}"/>
              </a:ext>
            </a:extLst>
          </p:cNvPr>
          <p:cNvSpPr>
            <a:spLocks noGrp="1"/>
          </p:cNvSpPr>
          <p:nvPr>
            <p:ph sz="quarter" idx="23"/>
          </p:nvPr>
        </p:nvSpPr>
        <p:spPr>
          <a:xfrm>
            <a:off x="8001001" y="4185455"/>
            <a:ext cx="914399" cy="479746"/>
          </a:xfrm>
        </p:spPr>
        <p:txBody>
          <a:bodyPr/>
          <a:lstStyle/>
          <a:p>
            <a:r>
              <a:rPr lang="en-US" sz="2000"/>
              <a:t>18,000</a:t>
            </a:r>
            <a:endParaRPr lang="en-IN" sz="2000"/>
          </a:p>
        </p:txBody>
      </p:sp>
      <p:sp>
        <p:nvSpPr>
          <p:cNvPr id="14" name="Content Placeholder 13">
            <a:extLst>
              <a:ext uri="{FF2B5EF4-FFF2-40B4-BE49-F238E27FC236}">
                <a16:creationId xmlns:a16="http://schemas.microsoft.com/office/drawing/2014/main" id="{A347D53A-95F1-4DD9-AD1F-AC396A6E21D9}"/>
              </a:ext>
            </a:extLst>
          </p:cNvPr>
          <p:cNvSpPr>
            <a:spLocks noGrp="1"/>
          </p:cNvSpPr>
          <p:nvPr>
            <p:ph sz="quarter" idx="17"/>
          </p:nvPr>
        </p:nvSpPr>
        <p:spPr>
          <a:xfrm>
            <a:off x="769789" y="4479925"/>
            <a:ext cx="5822307" cy="396875"/>
          </a:xfrm>
        </p:spPr>
        <p:txBody>
          <a:bodyPr/>
          <a:lstStyle/>
          <a:p>
            <a:r>
              <a:rPr lang="en-IN" sz="2000" dirty="0"/>
              <a:t>(To record retirement of delivery equipment at a loss)</a:t>
            </a:r>
          </a:p>
        </p:txBody>
      </p:sp>
      <p:sp>
        <p:nvSpPr>
          <p:cNvPr id="11" name="Content Placeholder 10">
            <a:extLst>
              <a:ext uri="{FF2B5EF4-FFF2-40B4-BE49-F238E27FC236}">
                <a16:creationId xmlns:a16="http://schemas.microsoft.com/office/drawing/2014/main" id="{A5FF5925-CC98-402F-AA7D-479C00A17639}"/>
              </a:ext>
            </a:extLst>
          </p:cNvPr>
          <p:cNvSpPr>
            <a:spLocks noGrp="1"/>
          </p:cNvSpPr>
          <p:nvPr>
            <p:ph sz="quarter" idx="24"/>
          </p:nvPr>
        </p:nvSpPr>
        <p:spPr>
          <a:xfrm>
            <a:off x="304800" y="5319733"/>
            <a:ext cx="8534400" cy="776267"/>
          </a:xfrm>
        </p:spPr>
        <p:txBody>
          <a:bodyPr/>
          <a:lstStyle/>
          <a:p>
            <a:r>
              <a:rPr lang="en-US" altLang="en-US" sz="2400" dirty="0"/>
              <a:t>Companies report a loss on disposal in the </a:t>
            </a:r>
            <a:r>
              <a:rPr lang="en-US" altLang="en-US" sz="2400" b="1" dirty="0"/>
              <a:t>“Other expenses and losses”</a:t>
            </a:r>
            <a:r>
              <a:rPr lang="en-US" altLang="en-US" sz="2400" dirty="0"/>
              <a:t> section of the income statement.</a:t>
            </a:r>
            <a:endParaRPr lang="en-IN" sz="2400" dirty="0"/>
          </a:p>
        </p:txBody>
      </p:sp>
      <p:sp>
        <p:nvSpPr>
          <p:cNvPr id="12" name="Slide Number Placeholder 11">
            <a:extLst>
              <a:ext uri="{FF2B5EF4-FFF2-40B4-BE49-F238E27FC236}">
                <a16:creationId xmlns:a16="http://schemas.microsoft.com/office/drawing/2014/main" id="{369B7FC6-60AC-4691-BF1C-C217B8F07DAD}"/>
              </a:ext>
            </a:extLst>
          </p:cNvPr>
          <p:cNvSpPr>
            <a:spLocks noGrp="1"/>
          </p:cNvSpPr>
          <p:nvPr>
            <p:ph type="sldNum" sz="quarter" idx="10"/>
          </p:nvPr>
        </p:nvSpPr>
        <p:spPr/>
        <p:txBody>
          <a:bodyPr/>
          <a:lstStyle/>
          <a:p>
            <a:fld id="{67B19427-F580-D146-B60E-4CADEE75497F}" type="slidenum">
              <a:rPr lang="en-US" smtClean="0"/>
              <a:pPr/>
              <a:t>14</a:t>
            </a:fld>
            <a:endParaRPr lang="en-US" dirty="0"/>
          </a:p>
        </p:txBody>
      </p:sp>
      <p:sp>
        <p:nvSpPr>
          <p:cNvPr id="13" name="Footer Placeholder 12">
            <a:extLst>
              <a:ext uri="{FF2B5EF4-FFF2-40B4-BE49-F238E27FC236}">
                <a16:creationId xmlns:a16="http://schemas.microsoft.com/office/drawing/2014/main" id="{DDE2D364-07E3-4E6A-882F-FD0062F87663}"/>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94956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9" grpId="0" build="p"/>
      <p:bldP spid="10" grpId="0" build="p"/>
      <p:bldP spid="14" grpId="0" build="p"/>
      <p:bldP spid="1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F8BC8-F9A0-4759-BC34-7E70D8165CD1}"/>
              </a:ext>
            </a:extLst>
          </p:cNvPr>
          <p:cNvSpPr>
            <a:spLocks noGrp="1"/>
          </p:cNvSpPr>
          <p:nvPr>
            <p:ph type="title"/>
          </p:nvPr>
        </p:nvSpPr>
        <p:spPr>
          <a:xfrm>
            <a:off x="304800" y="762001"/>
            <a:ext cx="8534400" cy="685799"/>
          </a:xfrm>
        </p:spPr>
        <p:txBody>
          <a:bodyPr/>
          <a:lstStyle/>
          <a:p>
            <a:r>
              <a:rPr lang="en-US" b="1" dirty="0">
                <a:ea typeface="Source Sans Pro" charset="0"/>
                <a:cs typeface="Calibri" panose="020F0502020204030204" pitchFamily="34" charset="0"/>
              </a:rPr>
              <a:t>Sale of Plant Asset </a:t>
            </a:r>
            <a:r>
              <a:rPr lang="en-US" sz="2400" dirty="0">
                <a:ea typeface="Source Sans Pro" charset="0"/>
                <a:cs typeface="Calibri" panose="020F0502020204030204" pitchFamily="34" charset="0"/>
              </a:rPr>
              <a:t>(1 of 2)</a:t>
            </a:r>
            <a:endParaRPr lang="en-US" sz="2400" dirty="0"/>
          </a:p>
        </p:txBody>
      </p:sp>
      <p:sp>
        <p:nvSpPr>
          <p:cNvPr id="3" name="Content Placeholder 2">
            <a:extLst>
              <a:ext uri="{FF2B5EF4-FFF2-40B4-BE49-F238E27FC236}">
                <a16:creationId xmlns:a16="http://schemas.microsoft.com/office/drawing/2014/main" id="{F0A26FA5-6E32-4BE4-BA1C-F5BE34234C87}"/>
              </a:ext>
            </a:extLst>
          </p:cNvPr>
          <p:cNvSpPr>
            <a:spLocks noGrp="1"/>
          </p:cNvSpPr>
          <p:nvPr>
            <p:ph sz="quarter" idx="16"/>
          </p:nvPr>
        </p:nvSpPr>
        <p:spPr>
          <a:xfrm>
            <a:off x="304800" y="1828800"/>
            <a:ext cx="8534400" cy="2743200"/>
          </a:xfrm>
        </p:spPr>
        <p:txBody>
          <a:bodyPr/>
          <a:lstStyle/>
          <a:p>
            <a:pPr>
              <a:buClr>
                <a:srgbClr val="800000"/>
              </a:buClr>
              <a:buSzPct val="100000"/>
            </a:pPr>
            <a:r>
              <a:rPr lang="en-US" altLang="en-US" dirty="0"/>
              <a:t>Compare the </a:t>
            </a:r>
            <a:r>
              <a:rPr lang="en-US" altLang="en-US" b="1" dirty="0"/>
              <a:t>book value </a:t>
            </a:r>
            <a:r>
              <a:rPr lang="en-US" altLang="en-US" dirty="0"/>
              <a:t>of the asset with the </a:t>
            </a:r>
            <a:r>
              <a:rPr lang="en-US" altLang="en-US" b="1" dirty="0"/>
              <a:t>proceeds</a:t>
            </a:r>
            <a:r>
              <a:rPr lang="en-US" altLang="en-US" dirty="0"/>
              <a:t> received from the sale</a:t>
            </a:r>
          </a:p>
          <a:p>
            <a:pPr marL="292608" indent="-292608">
              <a:buClr>
                <a:srgbClr val="800000"/>
              </a:buClr>
              <a:buSzPct val="100000"/>
              <a:buFont typeface="Arial" panose="020B0604020202020204" pitchFamily="34" charset="0"/>
              <a:buChar char="•"/>
            </a:pPr>
            <a:r>
              <a:rPr lang="en-US" altLang="en-US" dirty="0"/>
              <a:t>If proceeds </a:t>
            </a:r>
            <a:r>
              <a:rPr lang="en-US" altLang="en-US" b="1" dirty="0"/>
              <a:t>exceed</a:t>
            </a:r>
            <a:r>
              <a:rPr lang="en-US" altLang="en-US" dirty="0"/>
              <a:t> the book value, a </a:t>
            </a:r>
            <a:r>
              <a:rPr lang="en-US" altLang="en-US" b="1" dirty="0"/>
              <a:t>gain</a:t>
            </a:r>
            <a:r>
              <a:rPr lang="en-US" altLang="en-US" dirty="0"/>
              <a:t> on disposal occurs</a:t>
            </a:r>
          </a:p>
          <a:p>
            <a:pPr marL="292608" indent="-292608">
              <a:buClr>
                <a:srgbClr val="800000"/>
              </a:buClr>
              <a:buSzPct val="100000"/>
              <a:buFont typeface="Arial" panose="020B0604020202020204" pitchFamily="34" charset="0"/>
              <a:buChar char="•"/>
            </a:pPr>
            <a:r>
              <a:rPr lang="en-US" altLang="en-US" dirty="0"/>
              <a:t>If proceeds </a:t>
            </a:r>
            <a:r>
              <a:rPr lang="en-US" altLang="en-US" b="1" dirty="0"/>
              <a:t>are less than </a:t>
            </a:r>
            <a:r>
              <a:rPr lang="en-US" altLang="en-US" dirty="0"/>
              <a:t>the book value, a </a:t>
            </a:r>
            <a:r>
              <a:rPr lang="en-US" altLang="en-US" b="1" dirty="0"/>
              <a:t>loss</a:t>
            </a:r>
            <a:r>
              <a:rPr lang="en-US" altLang="en-US" dirty="0"/>
              <a:t> on disposal occurs</a:t>
            </a:r>
          </a:p>
        </p:txBody>
      </p:sp>
      <p:sp>
        <p:nvSpPr>
          <p:cNvPr id="4" name="Slide Number Placeholder 3">
            <a:extLst>
              <a:ext uri="{FF2B5EF4-FFF2-40B4-BE49-F238E27FC236}">
                <a16:creationId xmlns:a16="http://schemas.microsoft.com/office/drawing/2014/main" id="{9A43A01A-FD35-4237-9DFF-2C533EF06F85}"/>
              </a:ext>
            </a:extLst>
          </p:cNvPr>
          <p:cNvSpPr>
            <a:spLocks noGrp="1"/>
          </p:cNvSpPr>
          <p:nvPr>
            <p:ph type="sldNum" sz="quarter" idx="10"/>
          </p:nvPr>
        </p:nvSpPr>
        <p:spPr/>
        <p:txBody>
          <a:bodyPr/>
          <a:lstStyle/>
          <a:p>
            <a:fld id="{67B19427-F580-D146-B60E-4CADEE75497F}" type="slidenum">
              <a:rPr lang="en-US" smtClean="0"/>
              <a:pPr/>
              <a:t>15</a:t>
            </a:fld>
            <a:endParaRPr lang="en-US" dirty="0"/>
          </a:p>
        </p:txBody>
      </p:sp>
      <p:sp>
        <p:nvSpPr>
          <p:cNvPr id="5" name="Footer Placeholder 4">
            <a:extLst>
              <a:ext uri="{FF2B5EF4-FFF2-40B4-BE49-F238E27FC236}">
                <a16:creationId xmlns:a16="http://schemas.microsoft.com/office/drawing/2014/main" id="{B9FFEC5A-3A69-4693-BEF1-E93B2CD14181}"/>
              </a:ext>
            </a:extLst>
          </p:cNvPr>
          <p:cNvSpPr>
            <a:spLocks noGrp="1"/>
          </p:cNvSpPr>
          <p:nvPr>
            <p:ph type="ftr" sz="quarter" idx="11"/>
          </p:nvPr>
        </p:nvSpPr>
        <p:spPr/>
        <p:txBody>
          <a:bodyPr/>
          <a:lstStyle/>
          <a:p>
            <a:r>
              <a:rPr lang="en-US"/>
              <a:t>Copyright ©2018 John Wiley &amp; Sons, Inc. </a:t>
            </a:r>
            <a:endParaRPr lang="en-US" dirty="0"/>
          </a:p>
        </p:txBody>
      </p:sp>
      <p:pic>
        <p:nvPicPr>
          <p:cNvPr id="6" name="Picture 5">
            <a:extLst>
              <a:ext uri="{FF2B5EF4-FFF2-40B4-BE49-F238E27FC236}">
                <a16:creationId xmlns:a16="http://schemas.microsoft.com/office/drawing/2014/main" id="{21E9E7B4-458E-415F-8E4A-32914C65ABEF}"/>
              </a:ext>
            </a:extLst>
          </p:cNvPr>
          <p:cNvPicPr>
            <a:picLocks noChangeAspect="1"/>
          </p:cNvPicPr>
          <p:nvPr/>
        </p:nvPicPr>
        <p:blipFill>
          <a:blip r:embed="rId2"/>
          <a:stretch>
            <a:fillRect/>
          </a:stretch>
        </p:blipFill>
        <p:spPr>
          <a:xfrm>
            <a:off x="6661476" y="526164"/>
            <a:ext cx="2406324" cy="1302636"/>
          </a:xfrm>
          <a:prstGeom prst="rect">
            <a:avLst/>
          </a:prstGeom>
        </p:spPr>
      </p:pic>
    </p:spTree>
    <p:extLst>
      <p:ext uri="{BB962C8B-B14F-4D97-AF65-F5344CB8AC3E}">
        <p14:creationId xmlns:p14="http://schemas.microsoft.com/office/powerpoint/2010/main" val="8320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D3C7C-0582-4729-BD80-7A9D9CCD6713}"/>
              </a:ext>
            </a:extLst>
          </p:cNvPr>
          <p:cNvSpPr>
            <a:spLocks noGrp="1"/>
          </p:cNvSpPr>
          <p:nvPr>
            <p:ph type="title"/>
          </p:nvPr>
        </p:nvSpPr>
        <p:spPr>
          <a:xfrm>
            <a:off x="304800" y="762001"/>
            <a:ext cx="8534400" cy="717441"/>
          </a:xfrm>
        </p:spPr>
        <p:txBody>
          <a:bodyPr/>
          <a:lstStyle/>
          <a:p>
            <a:r>
              <a:rPr lang="en-US" b="1">
                <a:ea typeface="Source Sans Pro" charset="0"/>
                <a:cs typeface="Calibri" panose="020F0502020204030204" pitchFamily="34" charset="0"/>
              </a:rPr>
              <a:t>Sale of Plant Asset </a:t>
            </a:r>
            <a:r>
              <a:rPr lang="en-US" sz="2400">
                <a:ea typeface="Source Sans Pro" charset="0"/>
                <a:cs typeface="Calibri" panose="020F0502020204030204" pitchFamily="34" charset="0"/>
              </a:rPr>
              <a:t>(2 of 2)</a:t>
            </a:r>
            <a:endParaRPr lang="en-IN"/>
          </a:p>
        </p:txBody>
      </p:sp>
      <p:sp>
        <p:nvSpPr>
          <p:cNvPr id="3" name="Content Placeholder 2">
            <a:extLst>
              <a:ext uri="{FF2B5EF4-FFF2-40B4-BE49-F238E27FC236}">
                <a16:creationId xmlns:a16="http://schemas.microsoft.com/office/drawing/2014/main" id="{F8A41839-D490-407D-B766-FB4FE595858E}"/>
              </a:ext>
            </a:extLst>
          </p:cNvPr>
          <p:cNvSpPr>
            <a:spLocks noGrp="1"/>
          </p:cNvSpPr>
          <p:nvPr>
            <p:ph sz="quarter" idx="16"/>
          </p:nvPr>
        </p:nvSpPr>
        <p:spPr>
          <a:xfrm>
            <a:off x="304800" y="1828800"/>
            <a:ext cx="8534400" cy="2209800"/>
          </a:xfrm>
        </p:spPr>
        <p:txBody>
          <a:bodyPr/>
          <a:lstStyle/>
          <a:p>
            <a:pPr>
              <a:buClr>
                <a:srgbClr val="800000"/>
              </a:buClr>
              <a:buSzPct val="100000"/>
            </a:pPr>
            <a:r>
              <a:rPr lang="en-US" sz="2400" b="1"/>
              <a:t>Gain on Sale</a:t>
            </a:r>
          </a:p>
          <a:p>
            <a:pPr>
              <a:buClr>
                <a:srgbClr val="800000"/>
              </a:buClr>
              <a:buSzPct val="100000"/>
            </a:pPr>
            <a:r>
              <a:rPr lang="en-US" sz="2400" b="1"/>
              <a:t>Illustration: </a:t>
            </a:r>
            <a:r>
              <a:rPr lang="en-US" sz="2400"/>
              <a:t>On July 1, 2020, Wright Company sells office furniture for $16,000 cash. The office furniture originally cost $60,000. As of January 1, 2020, it had accumulated depreciation of $41,000. Depreciation for the first six months of 2020 is $8,000. Prepare the journal entry to record depreciation expense up to the date of sale.</a:t>
            </a:r>
            <a:endParaRPr lang="en-IN" sz="2400"/>
          </a:p>
        </p:txBody>
      </p:sp>
      <p:sp>
        <p:nvSpPr>
          <p:cNvPr id="4" name="Content Placeholder 3">
            <a:extLst>
              <a:ext uri="{FF2B5EF4-FFF2-40B4-BE49-F238E27FC236}">
                <a16:creationId xmlns:a16="http://schemas.microsoft.com/office/drawing/2014/main" id="{421BF173-DD3B-48E3-BDD5-0A4448D2289F}"/>
              </a:ext>
            </a:extLst>
          </p:cNvPr>
          <p:cNvSpPr>
            <a:spLocks noGrp="1"/>
          </p:cNvSpPr>
          <p:nvPr>
            <p:ph sz="quarter" idx="17"/>
          </p:nvPr>
        </p:nvSpPr>
        <p:spPr>
          <a:xfrm>
            <a:off x="304800" y="4109975"/>
            <a:ext cx="990600" cy="381000"/>
          </a:xfrm>
        </p:spPr>
        <p:txBody>
          <a:bodyPr/>
          <a:lstStyle/>
          <a:p>
            <a:r>
              <a:rPr lang="en-IN" sz="2200" dirty="0"/>
              <a:t>Jul. 1</a:t>
            </a:r>
          </a:p>
        </p:txBody>
      </p:sp>
      <p:sp>
        <p:nvSpPr>
          <p:cNvPr id="5" name="Content Placeholder 4">
            <a:extLst>
              <a:ext uri="{FF2B5EF4-FFF2-40B4-BE49-F238E27FC236}">
                <a16:creationId xmlns:a16="http://schemas.microsoft.com/office/drawing/2014/main" id="{99888737-3907-40C9-9A3B-047654EBF9DC}"/>
              </a:ext>
            </a:extLst>
          </p:cNvPr>
          <p:cNvSpPr>
            <a:spLocks noGrp="1"/>
          </p:cNvSpPr>
          <p:nvPr>
            <p:ph sz="quarter" idx="18"/>
          </p:nvPr>
        </p:nvSpPr>
        <p:spPr>
          <a:xfrm>
            <a:off x="1378350" y="4116725"/>
            <a:ext cx="2662175" cy="381000"/>
          </a:xfrm>
        </p:spPr>
        <p:txBody>
          <a:bodyPr/>
          <a:lstStyle/>
          <a:p>
            <a:r>
              <a:rPr lang="en-US" sz="2200"/>
              <a:t>Depreciation Expense</a:t>
            </a:r>
            <a:endParaRPr lang="en-IN" sz="2200"/>
          </a:p>
        </p:txBody>
      </p:sp>
      <p:sp>
        <p:nvSpPr>
          <p:cNvPr id="6" name="Content Placeholder 5">
            <a:extLst>
              <a:ext uri="{FF2B5EF4-FFF2-40B4-BE49-F238E27FC236}">
                <a16:creationId xmlns:a16="http://schemas.microsoft.com/office/drawing/2014/main" id="{514F36B3-5D79-47FA-B77A-5889AC13F94B}"/>
              </a:ext>
            </a:extLst>
          </p:cNvPr>
          <p:cNvSpPr>
            <a:spLocks noGrp="1"/>
          </p:cNvSpPr>
          <p:nvPr>
            <p:ph sz="quarter" idx="19"/>
          </p:nvPr>
        </p:nvSpPr>
        <p:spPr>
          <a:xfrm>
            <a:off x="7107825" y="4161174"/>
            <a:ext cx="914400" cy="381000"/>
          </a:xfrm>
        </p:spPr>
        <p:txBody>
          <a:bodyPr/>
          <a:lstStyle/>
          <a:p>
            <a:r>
              <a:rPr lang="en-US" sz="2200"/>
              <a:t>8,000</a:t>
            </a:r>
            <a:endParaRPr lang="en-IN" sz="2200"/>
          </a:p>
        </p:txBody>
      </p:sp>
      <p:sp>
        <p:nvSpPr>
          <p:cNvPr id="7" name="Content Placeholder 6">
            <a:extLst>
              <a:ext uri="{FF2B5EF4-FFF2-40B4-BE49-F238E27FC236}">
                <a16:creationId xmlns:a16="http://schemas.microsoft.com/office/drawing/2014/main" id="{88897375-F8B7-4A06-86BF-BB2324A71E64}"/>
              </a:ext>
            </a:extLst>
          </p:cNvPr>
          <p:cNvSpPr>
            <a:spLocks noGrp="1"/>
          </p:cNvSpPr>
          <p:nvPr>
            <p:ph sz="quarter" idx="20"/>
          </p:nvPr>
        </p:nvSpPr>
        <p:spPr>
          <a:xfrm>
            <a:off x="1651800" y="4495800"/>
            <a:ext cx="4800600" cy="336550"/>
          </a:xfrm>
        </p:spPr>
        <p:txBody>
          <a:bodyPr/>
          <a:lstStyle/>
          <a:p>
            <a:r>
              <a:rPr lang="en-US" sz="2200" dirty="0"/>
              <a:t>Accumulated Depreciation—Equipment</a:t>
            </a:r>
            <a:endParaRPr lang="en-IN" sz="2200" dirty="0"/>
          </a:p>
        </p:txBody>
      </p:sp>
      <p:sp>
        <p:nvSpPr>
          <p:cNvPr id="8" name="Content Placeholder 7">
            <a:extLst>
              <a:ext uri="{FF2B5EF4-FFF2-40B4-BE49-F238E27FC236}">
                <a16:creationId xmlns:a16="http://schemas.microsoft.com/office/drawing/2014/main" id="{783E5DE2-85CE-4E3C-BA3B-ADD1453E8315}"/>
              </a:ext>
            </a:extLst>
          </p:cNvPr>
          <p:cNvSpPr>
            <a:spLocks noGrp="1"/>
          </p:cNvSpPr>
          <p:nvPr>
            <p:ph sz="quarter" idx="21"/>
          </p:nvPr>
        </p:nvSpPr>
        <p:spPr>
          <a:xfrm>
            <a:off x="8229600" y="4516124"/>
            <a:ext cx="838200" cy="336550"/>
          </a:xfrm>
        </p:spPr>
        <p:txBody>
          <a:bodyPr/>
          <a:lstStyle/>
          <a:p>
            <a:r>
              <a:rPr lang="en-US" sz="2200"/>
              <a:t>8,000</a:t>
            </a:r>
            <a:endParaRPr lang="en-IN" sz="2200"/>
          </a:p>
        </p:txBody>
      </p:sp>
      <p:sp>
        <p:nvSpPr>
          <p:cNvPr id="9" name="Content Placeholder 8">
            <a:extLst>
              <a:ext uri="{FF2B5EF4-FFF2-40B4-BE49-F238E27FC236}">
                <a16:creationId xmlns:a16="http://schemas.microsoft.com/office/drawing/2014/main" id="{BB02BAAB-443C-499E-AA14-6434448A16EA}"/>
              </a:ext>
            </a:extLst>
          </p:cNvPr>
          <p:cNvSpPr>
            <a:spLocks noGrp="1"/>
          </p:cNvSpPr>
          <p:nvPr>
            <p:ph sz="quarter" idx="22"/>
          </p:nvPr>
        </p:nvSpPr>
        <p:spPr>
          <a:xfrm>
            <a:off x="1853875" y="4891532"/>
            <a:ext cx="5253950" cy="746125"/>
          </a:xfrm>
        </p:spPr>
        <p:txBody>
          <a:bodyPr/>
          <a:lstStyle/>
          <a:p>
            <a:r>
              <a:rPr lang="en-IN" sz="2200" dirty="0"/>
              <a:t>(To record depreciation expense for the first 6 months of 2020)</a:t>
            </a:r>
          </a:p>
        </p:txBody>
      </p:sp>
      <p:sp>
        <p:nvSpPr>
          <p:cNvPr id="12" name="Slide Number Placeholder 11">
            <a:extLst>
              <a:ext uri="{FF2B5EF4-FFF2-40B4-BE49-F238E27FC236}">
                <a16:creationId xmlns:a16="http://schemas.microsoft.com/office/drawing/2014/main" id="{8AC6E177-A0EC-4405-B678-F8C6780DC5F6}"/>
              </a:ext>
            </a:extLst>
          </p:cNvPr>
          <p:cNvSpPr>
            <a:spLocks noGrp="1"/>
          </p:cNvSpPr>
          <p:nvPr>
            <p:ph type="sldNum" sz="quarter" idx="10"/>
          </p:nvPr>
        </p:nvSpPr>
        <p:spPr/>
        <p:txBody>
          <a:bodyPr/>
          <a:lstStyle/>
          <a:p>
            <a:fld id="{67B19427-F580-D146-B60E-4CADEE75497F}" type="slidenum">
              <a:rPr lang="en-US" smtClean="0"/>
              <a:pPr/>
              <a:t>16</a:t>
            </a:fld>
            <a:endParaRPr lang="en-US" dirty="0"/>
          </a:p>
        </p:txBody>
      </p:sp>
      <p:sp>
        <p:nvSpPr>
          <p:cNvPr id="13" name="Footer Placeholder 12">
            <a:extLst>
              <a:ext uri="{FF2B5EF4-FFF2-40B4-BE49-F238E27FC236}">
                <a16:creationId xmlns:a16="http://schemas.microsoft.com/office/drawing/2014/main" id="{483AF293-A0FC-405D-92D7-A9B92F206EF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77420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build="p"/>
      <p:bldP spid="8" grpId="0" build="p"/>
      <p:bldP spid="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3AE0C-F4A6-4D8C-BB1C-2935703BD73B}"/>
              </a:ext>
            </a:extLst>
          </p:cNvPr>
          <p:cNvSpPr>
            <a:spLocks noGrp="1"/>
          </p:cNvSpPr>
          <p:nvPr>
            <p:ph type="title"/>
          </p:nvPr>
        </p:nvSpPr>
        <p:spPr>
          <a:xfrm>
            <a:off x="304800" y="762001"/>
            <a:ext cx="8534400" cy="837619"/>
          </a:xfrm>
        </p:spPr>
        <p:txBody>
          <a:bodyPr/>
          <a:lstStyle/>
          <a:p>
            <a:r>
              <a:rPr lang="en-US" b="1">
                <a:latin typeface="Calibri" panose="020F0502020204030204" pitchFamily="34" charset="0"/>
                <a:ea typeface="Source Sans Pro" charset="0"/>
                <a:cs typeface="Calibri" panose="020F0502020204030204" pitchFamily="34" charset="0"/>
              </a:rPr>
              <a:t>Gain on Sale</a:t>
            </a:r>
            <a:endParaRPr lang="en-IN"/>
          </a:p>
        </p:txBody>
      </p:sp>
      <p:graphicFrame>
        <p:nvGraphicFramePr>
          <p:cNvPr id="25" name="Content Placeholder 11" descr="Table is accessible to screenreaders">
            <a:extLst>
              <a:ext uri="{FF2B5EF4-FFF2-40B4-BE49-F238E27FC236}">
                <a16:creationId xmlns:a16="http://schemas.microsoft.com/office/drawing/2014/main" id="{55C11A5B-3F52-4560-BD05-04CC328115E4}"/>
              </a:ext>
            </a:extLst>
          </p:cNvPr>
          <p:cNvGraphicFramePr>
            <a:graphicFrameLocks noGrp="1"/>
          </p:cNvGraphicFramePr>
          <p:nvPr>
            <p:ph sz="quarter" idx="16"/>
            <p:extLst>
              <p:ext uri="{D42A27DB-BD31-4B8C-83A1-F6EECF244321}">
                <p14:modId xmlns:p14="http://schemas.microsoft.com/office/powerpoint/2010/main" val="96812744"/>
              </p:ext>
            </p:extLst>
          </p:nvPr>
        </p:nvGraphicFramePr>
        <p:xfrm>
          <a:off x="647700" y="1729450"/>
          <a:ext cx="7848600" cy="1874520"/>
        </p:xfrm>
        <a:graphic>
          <a:graphicData uri="http://schemas.openxmlformats.org/drawingml/2006/table">
            <a:tbl>
              <a:tblPr firstRow="1" bandRow="1">
                <a:tableStyleId>{2D5ABB26-0587-4C30-8999-92F81FD0307C}</a:tableStyleId>
              </a:tblPr>
              <a:tblGrid>
                <a:gridCol w="6705600">
                  <a:extLst>
                    <a:ext uri="{9D8B030D-6E8A-4147-A177-3AD203B41FA5}">
                      <a16:colId xmlns:a16="http://schemas.microsoft.com/office/drawing/2014/main" val="2361644242"/>
                    </a:ext>
                  </a:extLst>
                </a:gridCol>
                <a:gridCol w="1143000">
                  <a:extLst>
                    <a:ext uri="{9D8B030D-6E8A-4147-A177-3AD203B41FA5}">
                      <a16:colId xmlns:a16="http://schemas.microsoft.com/office/drawing/2014/main" val="3772718329"/>
                    </a:ext>
                  </a:extLst>
                </a:gridCol>
              </a:tblGrid>
              <a:tr h="370840">
                <a:tc>
                  <a:txBody>
                    <a:bodyPr/>
                    <a:lstStyle/>
                    <a:p>
                      <a:pPr algn="l" fontAlgn="b"/>
                      <a:r>
                        <a:rPr lang="en-US" sz="2200" u="none" strike="noStrike" baseline="0" dirty="0">
                          <a:effectLst/>
                        </a:rPr>
                        <a:t>Cost of office furniture </a:t>
                      </a:r>
                      <a:endParaRPr lang="en-US" sz="2200" b="0"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fontAlgn="b"/>
                      <a:r>
                        <a:rPr lang="en-US" sz="2200" u="none" strike="noStrike" baseline="0" dirty="0">
                          <a:effectLst/>
                        </a:rPr>
                        <a:t>$60,000</a:t>
                      </a:r>
                      <a:endParaRPr lang="en-US" sz="2200" b="0"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13578091"/>
                  </a:ext>
                </a:extLst>
              </a:tr>
              <a:tr h="391160">
                <a:tc>
                  <a:txBody>
                    <a:bodyPr/>
                    <a:lstStyle/>
                    <a:p>
                      <a:pPr algn="l" fontAlgn="b"/>
                      <a:r>
                        <a:rPr lang="en-US" sz="2200" u="none" strike="noStrike" baseline="0" dirty="0">
                          <a:effectLst/>
                        </a:rPr>
                        <a:t>Less: Accumulated depreciation ($41,000 + $8,000)</a:t>
                      </a:r>
                      <a:endParaRPr lang="en-US" sz="2200" b="0"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tcPr>
                </a:tc>
                <a:tc>
                  <a:txBody>
                    <a:bodyPr/>
                    <a:lstStyle/>
                    <a:p>
                      <a:pPr algn="r" fontAlgn="b"/>
                      <a:r>
                        <a:rPr lang="en-US" sz="2200" u="none" strike="noStrike" baseline="0" dirty="0">
                          <a:effectLst/>
                        </a:rPr>
                        <a:t>49,000</a:t>
                      </a:r>
                      <a:endParaRPr lang="en-US" sz="2200" b="0"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7329924"/>
                  </a:ext>
                </a:extLst>
              </a:tr>
              <a:tr h="370840">
                <a:tc>
                  <a:txBody>
                    <a:bodyPr/>
                    <a:lstStyle/>
                    <a:p>
                      <a:pPr algn="l" fontAlgn="b"/>
                      <a:r>
                        <a:rPr lang="en-US" sz="2200" u="none" strike="noStrike" baseline="0" dirty="0">
                          <a:effectLst/>
                        </a:rPr>
                        <a:t>Book value at date of disposal </a:t>
                      </a:r>
                      <a:endParaRPr lang="en-US" sz="2200" b="0"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tcPr>
                </a:tc>
                <a:tc>
                  <a:txBody>
                    <a:bodyPr/>
                    <a:lstStyle/>
                    <a:p>
                      <a:pPr algn="r" fontAlgn="b"/>
                      <a:r>
                        <a:rPr lang="en-US" sz="2200" u="none" strike="noStrike" baseline="0" dirty="0">
                          <a:effectLst/>
                        </a:rPr>
                        <a:t>11,000</a:t>
                      </a:r>
                      <a:endParaRPr lang="en-US" sz="2200" b="0"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36176583"/>
                  </a:ext>
                </a:extLst>
              </a:tr>
              <a:tr h="370840">
                <a:tc>
                  <a:txBody>
                    <a:bodyPr/>
                    <a:lstStyle/>
                    <a:p>
                      <a:pPr algn="l" fontAlgn="b"/>
                      <a:r>
                        <a:rPr lang="en-US" sz="2200" b="1" u="none" strike="noStrike" baseline="0" dirty="0">
                          <a:effectLst/>
                        </a:rPr>
                        <a:t>Proceeds from sale </a:t>
                      </a:r>
                      <a:endParaRPr lang="en-US" sz="2200" b="1"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tcPr>
                </a:tc>
                <a:tc>
                  <a:txBody>
                    <a:bodyPr/>
                    <a:lstStyle/>
                    <a:p>
                      <a:pPr algn="r" fontAlgn="b"/>
                      <a:r>
                        <a:rPr lang="en-US" sz="2200" b="1" u="none" strike="noStrike" baseline="0" dirty="0">
                          <a:effectLst/>
                        </a:rPr>
                        <a:t>16,000</a:t>
                      </a:r>
                      <a:endParaRPr lang="en-US" sz="2200" b="1"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5308666"/>
                  </a:ext>
                </a:extLst>
              </a:tr>
              <a:tr h="370840">
                <a:tc>
                  <a:txBody>
                    <a:bodyPr/>
                    <a:lstStyle/>
                    <a:p>
                      <a:pPr algn="l" fontAlgn="b"/>
                      <a:r>
                        <a:rPr lang="en-US" sz="2200" b="1" u="none" strike="noStrike" baseline="0" dirty="0">
                          <a:solidFill>
                            <a:srgbClr val="990000"/>
                          </a:solidFill>
                          <a:effectLst/>
                        </a:rPr>
                        <a:t>Gain on disposal of plant asset</a:t>
                      </a:r>
                      <a:endParaRPr lang="en-US" sz="2200" b="1" i="0" u="none" strike="noStrike" baseline="0" dirty="0">
                        <a:solidFill>
                          <a:srgbClr val="99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fontAlgn="b"/>
                      <a:r>
                        <a:rPr lang="en-US" sz="2200" b="1" u="dbl" strike="noStrike" baseline="0" dirty="0">
                          <a:solidFill>
                            <a:srgbClr val="990000"/>
                          </a:solidFill>
                          <a:effectLst/>
                          <a:uFill>
                            <a:solidFill>
                              <a:schemeClr val="tx1"/>
                            </a:solidFill>
                          </a:uFill>
                        </a:rPr>
                        <a:t>   $  5,000</a:t>
                      </a:r>
                      <a:endParaRPr lang="en-US" sz="2200" b="1" i="0" u="dbl" strike="noStrike" baseline="0" dirty="0">
                        <a:solidFill>
                          <a:srgbClr val="990000"/>
                        </a:solidFill>
                        <a:effectLst/>
                        <a:uFill>
                          <a:solidFill>
                            <a:schemeClr val="tx1"/>
                          </a:solidFill>
                        </a:uFill>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0517478"/>
                  </a:ext>
                </a:extLst>
              </a:tr>
            </a:tbl>
          </a:graphicData>
        </a:graphic>
      </p:graphicFrame>
      <p:sp>
        <p:nvSpPr>
          <p:cNvPr id="7" name="Content Placeholder 6">
            <a:extLst>
              <a:ext uri="{FF2B5EF4-FFF2-40B4-BE49-F238E27FC236}">
                <a16:creationId xmlns:a16="http://schemas.microsoft.com/office/drawing/2014/main" id="{4D7576FB-A761-425A-907D-F443C017D93D}"/>
              </a:ext>
            </a:extLst>
          </p:cNvPr>
          <p:cNvSpPr>
            <a:spLocks noGrp="1"/>
          </p:cNvSpPr>
          <p:nvPr>
            <p:ph sz="quarter" idx="21"/>
          </p:nvPr>
        </p:nvSpPr>
        <p:spPr>
          <a:xfrm>
            <a:off x="304800" y="3710650"/>
            <a:ext cx="4114800" cy="365125"/>
          </a:xfrm>
        </p:spPr>
        <p:txBody>
          <a:bodyPr/>
          <a:lstStyle/>
          <a:p>
            <a:r>
              <a:rPr lang="en-US" altLang="en-US" sz="2200"/>
              <a:t>Wright records the sale as follows.</a:t>
            </a:r>
            <a:endParaRPr lang="en-IN" sz="2200"/>
          </a:p>
        </p:txBody>
      </p:sp>
      <p:sp>
        <p:nvSpPr>
          <p:cNvPr id="17" name="Content Placeholder 16">
            <a:extLst>
              <a:ext uri="{FF2B5EF4-FFF2-40B4-BE49-F238E27FC236}">
                <a16:creationId xmlns:a16="http://schemas.microsoft.com/office/drawing/2014/main" id="{97A3FECC-02B1-4C1B-9A72-06B908DDD374}"/>
              </a:ext>
            </a:extLst>
          </p:cNvPr>
          <p:cNvSpPr>
            <a:spLocks noGrp="1"/>
          </p:cNvSpPr>
          <p:nvPr>
            <p:ph sz="quarter" idx="31"/>
          </p:nvPr>
        </p:nvSpPr>
        <p:spPr>
          <a:xfrm>
            <a:off x="304800" y="4167892"/>
            <a:ext cx="762000" cy="365125"/>
          </a:xfrm>
        </p:spPr>
        <p:txBody>
          <a:bodyPr/>
          <a:lstStyle/>
          <a:p>
            <a:r>
              <a:rPr lang="en-IN" sz="2000"/>
              <a:t>Jul. 1</a:t>
            </a:r>
          </a:p>
        </p:txBody>
      </p:sp>
      <p:sp>
        <p:nvSpPr>
          <p:cNvPr id="9" name="Content Placeholder 8">
            <a:extLst>
              <a:ext uri="{FF2B5EF4-FFF2-40B4-BE49-F238E27FC236}">
                <a16:creationId xmlns:a16="http://schemas.microsoft.com/office/drawing/2014/main" id="{BDD7F992-0E6C-4969-BFC4-8459F828C527}"/>
              </a:ext>
            </a:extLst>
          </p:cNvPr>
          <p:cNvSpPr>
            <a:spLocks noGrp="1"/>
          </p:cNvSpPr>
          <p:nvPr>
            <p:ph sz="quarter" idx="23"/>
          </p:nvPr>
        </p:nvSpPr>
        <p:spPr>
          <a:xfrm>
            <a:off x="1295400" y="4183144"/>
            <a:ext cx="685800" cy="365125"/>
          </a:xfrm>
        </p:spPr>
        <p:txBody>
          <a:bodyPr/>
          <a:lstStyle/>
          <a:p>
            <a:r>
              <a:rPr lang="en-US" sz="2000">
                <a:latin typeface="Calibri" panose="020F0502020204030204" pitchFamily="34" charset="0"/>
              </a:rPr>
              <a:t>Cash</a:t>
            </a:r>
            <a:endParaRPr lang="en-IN" sz="2000"/>
          </a:p>
        </p:txBody>
      </p:sp>
      <p:sp>
        <p:nvSpPr>
          <p:cNvPr id="10" name="Content Placeholder 9">
            <a:extLst>
              <a:ext uri="{FF2B5EF4-FFF2-40B4-BE49-F238E27FC236}">
                <a16:creationId xmlns:a16="http://schemas.microsoft.com/office/drawing/2014/main" id="{D8C29A7A-041E-4E49-A20D-EC1A4E198DB6}"/>
              </a:ext>
            </a:extLst>
          </p:cNvPr>
          <p:cNvSpPr>
            <a:spLocks noGrp="1"/>
          </p:cNvSpPr>
          <p:nvPr>
            <p:ph sz="quarter" idx="24"/>
          </p:nvPr>
        </p:nvSpPr>
        <p:spPr>
          <a:xfrm>
            <a:off x="6553200" y="4179909"/>
            <a:ext cx="1066800" cy="365125"/>
          </a:xfrm>
        </p:spPr>
        <p:txBody>
          <a:bodyPr/>
          <a:lstStyle/>
          <a:p>
            <a:r>
              <a:rPr lang="en-US" sz="2000">
                <a:latin typeface="Calibri" panose="020F0502020204030204" pitchFamily="34" charset="0"/>
              </a:rPr>
              <a:t>16,000</a:t>
            </a:r>
            <a:endParaRPr lang="en-IN" sz="2000"/>
          </a:p>
        </p:txBody>
      </p:sp>
      <p:sp>
        <p:nvSpPr>
          <p:cNvPr id="11" name="Content Placeholder 10">
            <a:extLst>
              <a:ext uri="{FF2B5EF4-FFF2-40B4-BE49-F238E27FC236}">
                <a16:creationId xmlns:a16="http://schemas.microsoft.com/office/drawing/2014/main" id="{D5032ED6-55CD-4225-ADB2-42E919ECD1A5}"/>
              </a:ext>
            </a:extLst>
          </p:cNvPr>
          <p:cNvSpPr>
            <a:spLocks noGrp="1"/>
          </p:cNvSpPr>
          <p:nvPr>
            <p:ph sz="quarter" idx="25"/>
          </p:nvPr>
        </p:nvSpPr>
        <p:spPr>
          <a:xfrm>
            <a:off x="1295400" y="4478313"/>
            <a:ext cx="4419600" cy="365125"/>
          </a:xfrm>
        </p:spPr>
        <p:txBody>
          <a:bodyPr/>
          <a:lstStyle/>
          <a:p>
            <a:r>
              <a:rPr lang="en-US" sz="2000" dirty="0">
                <a:latin typeface="Calibri" panose="020F0502020204030204" pitchFamily="34" charset="0"/>
              </a:rPr>
              <a:t>Accumulated Depreciation—Equipment</a:t>
            </a:r>
            <a:endParaRPr lang="en-IN" sz="2000" dirty="0"/>
          </a:p>
        </p:txBody>
      </p:sp>
      <p:sp>
        <p:nvSpPr>
          <p:cNvPr id="12" name="Content Placeholder 11">
            <a:extLst>
              <a:ext uri="{FF2B5EF4-FFF2-40B4-BE49-F238E27FC236}">
                <a16:creationId xmlns:a16="http://schemas.microsoft.com/office/drawing/2014/main" id="{756C4564-ABA6-43AE-936F-292EFF131B78}"/>
              </a:ext>
            </a:extLst>
          </p:cNvPr>
          <p:cNvSpPr>
            <a:spLocks noGrp="1"/>
          </p:cNvSpPr>
          <p:nvPr>
            <p:ph sz="quarter" idx="26"/>
          </p:nvPr>
        </p:nvSpPr>
        <p:spPr>
          <a:xfrm>
            <a:off x="6555130" y="4481916"/>
            <a:ext cx="958770" cy="365125"/>
          </a:xfrm>
        </p:spPr>
        <p:txBody>
          <a:bodyPr/>
          <a:lstStyle/>
          <a:p>
            <a:r>
              <a:rPr lang="en-US" sz="2000">
                <a:latin typeface="Calibri" panose="020F0502020204030204" pitchFamily="34" charset="0"/>
              </a:rPr>
              <a:t>49,000</a:t>
            </a:r>
            <a:endParaRPr lang="en-IN" sz="2000"/>
          </a:p>
        </p:txBody>
      </p:sp>
      <p:sp>
        <p:nvSpPr>
          <p:cNvPr id="13" name="Content Placeholder 12">
            <a:extLst>
              <a:ext uri="{FF2B5EF4-FFF2-40B4-BE49-F238E27FC236}">
                <a16:creationId xmlns:a16="http://schemas.microsoft.com/office/drawing/2014/main" id="{DC325CA9-76D3-46B4-B654-146F0C76DC32}"/>
              </a:ext>
            </a:extLst>
          </p:cNvPr>
          <p:cNvSpPr>
            <a:spLocks noGrp="1"/>
          </p:cNvSpPr>
          <p:nvPr>
            <p:ph sz="quarter" idx="27"/>
          </p:nvPr>
        </p:nvSpPr>
        <p:spPr>
          <a:xfrm>
            <a:off x="1509050" y="4800600"/>
            <a:ext cx="1386550" cy="365125"/>
          </a:xfrm>
        </p:spPr>
        <p:txBody>
          <a:bodyPr/>
          <a:lstStyle/>
          <a:p>
            <a:r>
              <a:rPr lang="en-US" sz="2000" dirty="0">
                <a:latin typeface="Calibri" panose="020F0502020204030204" pitchFamily="34" charset="0"/>
              </a:rPr>
              <a:t>Equipment</a:t>
            </a:r>
            <a:endParaRPr lang="en-IN" sz="2000" dirty="0"/>
          </a:p>
        </p:txBody>
      </p:sp>
      <p:sp>
        <p:nvSpPr>
          <p:cNvPr id="14" name="Content Placeholder 13">
            <a:extLst>
              <a:ext uri="{FF2B5EF4-FFF2-40B4-BE49-F238E27FC236}">
                <a16:creationId xmlns:a16="http://schemas.microsoft.com/office/drawing/2014/main" id="{40ED4D50-E67C-4E82-AA76-320BF047618A}"/>
              </a:ext>
            </a:extLst>
          </p:cNvPr>
          <p:cNvSpPr>
            <a:spLocks noGrp="1"/>
          </p:cNvSpPr>
          <p:nvPr>
            <p:ph sz="quarter" idx="28"/>
          </p:nvPr>
        </p:nvSpPr>
        <p:spPr>
          <a:xfrm>
            <a:off x="7941682" y="4810202"/>
            <a:ext cx="914400" cy="365125"/>
          </a:xfrm>
        </p:spPr>
        <p:txBody>
          <a:bodyPr/>
          <a:lstStyle/>
          <a:p>
            <a:r>
              <a:rPr lang="en-US" sz="2000">
                <a:latin typeface="Calibri" panose="020F0502020204030204" pitchFamily="34" charset="0"/>
              </a:rPr>
              <a:t>60,000</a:t>
            </a:r>
            <a:endParaRPr lang="en-IN" sz="2000"/>
          </a:p>
        </p:txBody>
      </p:sp>
      <p:sp>
        <p:nvSpPr>
          <p:cNvPr id="15" name="Content Placeholder 14">
            <a:extLst>
              <a:ext uri="{FF2B5EF4-FFF2-40B4-BE49-F238E27FC236}">
                <a16:creationId xmlns:a16="http://schemas.microsoft.com/office/drawing/2014/main" id="{7DE1B66C-83F4-47AD-8BBE-D7F3A1CC62E7}"/>
              </a:ext>
            </a:extLst>
          </p:cNvPr>
          <p:cNvSpPr>
            <a:spLocks noGrp="1"/>
          </p:cNvSpPr>
          <p:nvPr>
            <p:ph sz="quarter" idx="29"/>
          </p:nvPr>
        </p:nvSpPr>
        <p:spPr>
          <a:xfrm>
            <a:off x="1509050" y="5105400"/>
            <a:ext cx="3824950" cy="365125"/>
          </a:xfrm>
        </p:spPr>
        <p:txBody>
          <a:bodyPr/>
          <a:lstStyle/>
          <a:p>
            <a:r>
              <a:rPr lang="en-US" sz="2000" dirty="0"/>
              <a:t>Gain on Disposal of Plant Assets</a:t>
            </a:r>
            <a:endParaRPr lang="en-IN" sz="2000" dirty="0"/>
          </a:p>
        </p:txBody>
      </p:sp>
      <p:sp>
        <p:nvSpPr>
          <p:cNvPr id="16" name="Content Placeholder 15">
            <a:extLst>
              <a:ext uri="{FF2B5EF4-FFF2-40B4-BE49-F238E27FC236}">
                <a16:creationId xmlns:a16="http://schemas.microsoft.com/office/drawing/2014/main" id="{D8CBF0AE-45E1-4735-8C3F-65C307CBAFEA}"/>
              </a:ext>
            </a:extLst>
          </p:cNvPr>
          <p:cNvSpPr>
            <a:spLocks noGrp="1"/>
          </p:cNvSpPr>
          <p:nvPr>
            <p:ph sz="quarter" idx="30"/>
          </p:nvPr>
        </p:nvSpPr>
        <p:spPr>
          <a:xfrm>
            <a:off x="8087331" y="5113337"/>
            <a:ext cx="844469" cy="365125"/>
          </a:xfrm>
        </p:spPr>
        <p:txBody>
          <a:bodyPr/>
          <a:lstStyle/>
          <a:p>
            <a:r>
              <a:rPr lang="en-US" sz="2000">
                <a:latin typeface="Calibri" panose="020F0502020204030204" pitchFamily="34" charset="0"/>
              </a:rPr>
              <a:t>5,000</a:t>
            </a:r>
            <a:endParaRPr lang="en-IN" sz="2000"/>
          </a:p>
        </p:txBody>
      </p:sp>
      <p:sp>
        <p:nvSpPr>
          <p:cNvPr id="18" name="Content Placeholder 17">
            <a:extLst>
              <a:ext uri="{FF2B5EF4-FFF2-40B4-BE49-F238E27FC236}">
                <a16:creationId xmlns:a16="http://schemas.microsoft.com/office/drawing/2014/main" id="{0F7F17AA-7569-4C72-9921-7A740C4BA05C}"/>
              </a:ext>
            </a:extLst>
          </p:cNvPr>
          <p:cNvSpPr>
            <a:spLocks noGrp="1"/>
          </p:cNvSpPr>
          <p:nvPr>
            <p:ph sz="quarter" idx="32"/>
          </p:nvPr>
        </p:nvSpPr>
        <p:spPr>
          <a:xfrm>
            <a:off x="1715466" y="5450188"/>
            <a:ext cx="4685334" cy="415330"/>
          </a:xfrm>
        </p:spPr>
        <p:txBody>
          <a:bodyPr/>
          <a:lstStyle/>
          <a:p>
            <a:r>
              <a:rPr lang="en-IN" sz="2000"/>
              <a:t>(To record sale of office furniture at a gain)</a:t>
            </a:r>
          </a:p>
        </p:txBody>
      </p:sp>
      <p:sp>
        <p:nvSpPr>
          <p:cNvPr id="23" name="Slide Number Placeholder 22">
            <a:extLst>
              <a:ext uri="{FF2B5EF4-FFF2-40B4-BE49-F238E27FC236}">
                <a16:creationId xmlns:a16="http://schemas.microsoft.com/office/drawing/2014/main" id="{7437299B-9C51-40C8-A41B-88487F7FE763}"/>
              </a:ext>
            </a:extLst>
          </p:cNvPr>
          <p:cNvSpPr>
            <a:spLocks noGrp="1"/>
          </p:cNvSpPr>
          <p:nvPr>
            <p:ph type="sldNum" sz="quarter" idx="10"/>
          </p:nvPr>
        </p:nvSpPr>
        <p:spPr/>
        <p:txBody>
          <a:bodyPr/>
          <a:lstStyle/>
          <a:p>
            <a:fld id="{67B19427-F580-D146-B60E-4CADEE75497F}" type="slidenum">
              <a:rPr lang="en-US" smtClean="0"/>
              <a:pPr/>
              <a:t>17</a:t>
            </a:fld>
            <a:endParaRPr lang="en-US" dirty="0"/>
          </a:p>
        </p:txBody>
      </p:sp>
      <p:sp>
        <p:nvSpPr>
          <p:cNvPr id="24" name="Footer Placeholder 23">
            <a:extLst>
              <a:ext uri="{FF2B5EF4-FFF2-40B4-BE49-F238E27FC236}">
                <a16:creationId xmlns:a16="http://schemas.microsoft.com/office/drawing/2014/main" id="{6DF1E6A7-BEC4-4B64-934A-FA88A8699021}"/>
              </a:ext>
            </a:extLst>
          </p:cNvPr>
          <p:cNvSpPr>
            <a:spLocks noGrp="1"/>
          </p:cNvSpPr>
          <p:nvPr>
            <p:ph type="ftr" sz="quarter" idx="11"/>
          </p:nvPr>
        </p:nvSpPr>
        <p:spPr>
          <a:xfrm>
            <a:off x="3028950" y="6356350"/>
            <a:ext cx="3086100" cy="365125"/>
          </a:xfrm>
        </p:spPr>
        <p:txBody>
          <a:bodyPr/>
          <a:lstStyle/>
          <a:p>
            <a:r>
              <a:rPr lang="en-US"/>
              <a:t>Copyright ©2018 John Wiley &amp; Sons, Inc. </a:t>
            </a:r>
            <a:endParaRPr lang="en-US" dirty="0"/>
          </a:p>
        </p:txBody>
      </p:sp>
    </p:spTree>
    <p:extLst>
      <p:ext uri="{BB962C8B-B14F-4D97-AF65-F5344CB8AC3E}">
        <p14:creationId xmlns:p14="http://schemas.microsoft.com/office/powerpoint/2010/main" val="3137857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9" grpId="0" build="p"/>
      <p:bldP spid="10" grpId="0" build="p"/>
      <p:bldP spid="11" grpId="0" build="p"/>
      <p:bldP spid="12" grpId="0" build="p"/>
      <p:bldP spid="13" grpId="0" build="p"/>
      <p:bldP spid="14" grpId="0" build="p"/>
      <p:bldP spid="15" grpId="0" build="p"/>
      <p:bldP spid="16" grpId="0" build="p"/>
      <p:bldP spid="18"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3AE0C-F4A6-4D8C-BB1C-2935703BD73B}"/>
              </a:ext>
            </a:extLst>
          </p:cNvPr>
          <p:cNvSpPr>
            <a:spLocks noGrp="1"/>
          </p:cNvSpPr>
          <p:nvPr>
            <p:ph type="title"/>
          </p:nvPr>
        </p:nvSpPr>
        <p:spPr>
          <a:xfrm>
            <a:off x="220140" y="488189"/>
            <a:ext cx="8619060" cy="578611"/>
          </a:xfrm>
        </p:spPr>
        <p:txBody>
          <a:bodyPr>
            <a:normAutofit fontScale="90000"/>
          </a:bodyPr>
          <a:lstStyle/>
          <a:p>
            <a:r>
              <a:rPr lang="en-US" b="1" dirty="0">
                <a:latin typeface="Calibri" panose="020F0502020204030204" pitchFamily="34" charset="0"/>
                <a:ea typeface="Source Sans Pro" charset="0"/>
                <a:cs typeface="Calibri" panose="020F0502020204030204" pitchFamily="34" charset="0"/>
              </a:rPr>
              <a:t>Loss on Sale</a:t>
            </a:r>
            <a:endParaRPr lang="en-IN" dirty="0"/>
          </a:p>
        </p:txBody>
      </p:sp>
      <p:graphicFrame>
        <p:nvGraphicFramePr>
          <p:cNvPr id="25" name="Content Placeholder 11" descr="Table is accessible to screenreaders">
            <a:extLst>
              <a:ext uri="{FF2B5EF4-FFF2-40B4-BE49-F238E27FC236}">
                <a16:creationId xmlns:a16="http://schemas.microsoft.com/office/drawing/2014/main" id="{55C11A5B-3F52-4560-BD05-04CC328115E4}"/>
              </a:ext>
            </a:extLst>
          </p:cNvPr>
          <p:cNvGraphicFramePr>
            <a:graphicFrameLocks noGrp="1"/>
          </p:cNvGraphicFramePr>
          <p:nvPr>
            <p:ph sz="quarter" idx="16"/>
            <p:extLst>
              <p:ext uri="{D42A27DB-BD31-4B8C-83A1-F6EECF244321}">
                <p14:modId xmlns:p14="http://schemas.microsoft.com/office/powerpoint/2010/main" val="3369162682"/>
              </p:ext>
            </p:extLst>
          </p:nvPr>
        </p:nvGraphicFramePr>
        <p:xfrm>
          <a:off x="569843" y="1942175"/>
          <a:ext cx="7926457" cy="1874520"/>
        </p:xfrm>
        <a:graphic>
          <a:graphicData uri="http://schemas.openxmlformats.org/drawingml/2006/table">
            <a:tbl>
              <a:tblPr firstRow="1" bandRow="1">
                <a:tableStyleId>{2D5ABB26-0587-4C30-8999-92F81FD0307C}</a:tableStyleId>
              </a:tblPr>
              <a:tblGrid>
                <a:gridCol w="6772119">
                  <a:extLst>
                    <a:ext uri="{9D8B030D-6E8A-4147-A177-3AD203B41FA5}">
                      <a16:colId xmlns:a16="http://schemas.microsoft.com/office/drawing/2014/main" val="2361644242"/>
                    </a:ext>
                  </a:extLst>
                </a:gridCol>
                <a:gridCol w="1154338">
                  <a:extLst>
                    <a:ext uri="{9D8B030D-6E8A-4147-A177-3AD203B41FA5}">
                      <a16:colId xmlns:a16="http://schemas.microsoft.com/office/drawing/2014/main" val="3772718329"/>
                    </a:ext>
                  </a:extLst>
                </a:gridCol>
              </a:tblGrid>
              <a:tr h="370840">
                <a:tc>
                  <a:txBody>
                    <a:bodyPr/>
                    <a:lstStyle/>
                    <a:p>
                      <a:pPr algn="l" fontAlgn="b"/>
                      <a:r>
                        <a:rPr lang="en-US" sz="2200" u="none" strike="noStrike" baseline="0" dirty="0">
                          <a:effectLst/>
                        </a:rPr>
                        <a:t>Cost of office furniture </a:t>
                      </a:r>
                      <a:endParaRPr lang="en-US" sz="2200" b="0"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fontAlgn="b"/>
                      <a:r>
                        <a:rPr lang="en-US" sz="2200" u="none" strike="noStrike" baseline="0" dirty="0">
                          <a:effectLst/>
                        </a:rPr>
                        <a:t>$60,000</a:t>
                      </a:r>
                      <a:endParaRPr lang="en-US" sz="2200" b="0"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13578091"/>
                  </a:ext>
                </a:extLst>
              </a:tr>
              <a:tr h="391160">
                <a:tc>
                  <a:txBody>
                    <a:bodyPr/>
                    <a:lstStyle/>
                    <a:p>
                      <a:pPr algn="l" fontAlgn="b"/>
                      <a:r>
                        <a:rPr lang="en-US" sz="2200" u="none" strike="noStrike" baseline="0" dirty="0">
                          <a:effectLst/>
                        </a:rPr>
                        <a:t>Less: Accumulated depreciation ($41,000 + $8,000)</a:t>
                      </a:r>
                      <a:endParaRPr lang="en-US" sz="2200" b="0"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tcPr>
                </a:tc>
                <a:tc>
                  <a:txBody>
                    <a:bodyPr/>
                    <a:lstStyle/>
                    <a:p>
                      <a:pPr algn="r" fontAlgn="b"/>
                      <a:r>
                        <a:rPr lang="en-US" sz="2200" u="none" strike="noStrike" baseline="0" dirty="0">
                          <a:effectLst/>
                        </a:rPr>
                        <a:t>49,000</a:t>
                      </a:r>
                      <a:endParaRPr lang="en-US" sz="2200" b="0"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7329924"/>
                  </a:ext>
                </a:extLst>
              </a:tr>
              <a:tr h="370840">
                <a:tc>
                  <a:txBody>
                    <a:bodyPr/>
                    <a:lstStyle/>
                    <a:p>
                      <a:pPr algn="l" fontAlgn="b"/>
                      <a:r>
                        <a:rPr lang="en-US" sz="2200" u="none" strike="noStrike" baseline="0" dirty="0">
                          <a:effectLst/>
                        </a:rPr>
                        <a:t>Book value at date of disposal </a:t>
                      </a:r>
                      <a:endParaRPr lang="en-US" sz="2200" b="0"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tcPr>
                </a:tc>
                <a:tc>
                  <a:txBody>
                    <a:bodyPr/>
                    <a:lstStyle/>
                    <a:p>
                      <a:pPr algn="r" fontAlgn="b"/>
                      <a:r>
                        <a:rPr lang="en-US" sz="2200" u="none" strike="noStrike" baseline="0" dirty="0">
                          <a:effectLst/>
                        </a:rPr>
                        <a:t>11,000</a:t>
                      </a:r>
                      <a:endParaRPr lang="en-US" sz="2200" b="0"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36176583"/>
                  </a:ext>
                </a:extLst>
              </a:tr>
              <a:tr h="370840">
                <a:tc>
                  <a:txBody>
                    <a:bodyPr/>
                    <a:lstStyle/>
                    <a:p>
                      <a:pPr algn="l" fontAlgn="b"/>
                      <a:r>
                        <a:rPr lang="en-US" sz="2200" b="1" u="none" strike="noStrike" baseline="0" dirty="0">
                          <a:effectLst/>
                        </a:rPr>
                        <a:t>Proceeds from sale </a:t>
                      </a:r>
                      <a:endParaRPr lang="en-US" sz="2200" b="1" i="0" u="none" strike="noStrike" baseline="0" dirty="0">
                        <a:solidFill>
                          <a:srgbClr val="00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tcPr>
                </a:tc>
                <a:tc>
                  <a:txBody>
                    <a:bodyPr/>
                    <a:lstStyle/>
                    <a:p>
                      <a:pPr algn="r" fontAlgn="b"/>
                      <a:r>
                        <a:rPr lang="en-US" sz="2200" b="1" u="none" strike="noStrike" baseline="0">
                          <a:effectLst/>
                        </a:rPr>
                        <a:t>9,000</a:t>
                      </a:r>
                      <a:endParaRPr lang="en-US" sz="2200" b="1" i="0" u="none" strike="noStrike" baseline="0" dirty="0">
                        <a:solidFill>
                          <a:srgbClr val="000000"/>
                        </a:solidFill>
                        <a:effectLst/>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5308666"/>
                  </a:ext>
                </a:extLst>
              </a:tr>
              <a:tr h="370840">
                <a:tc>
                  <a:txBody>
                    <a:bodyPr/>
                    <a:lstStyle/>
                    <a:p>
                      <a:pPr algn="l" fontAlgn="b"/>
                      <a:r>
                        <a:rPr lang="en-US" sz="2200" b="1" u="none" strike="noStrike" baseline="0">
                          <a:solidFill>
                            <a:srgbClr val="990000"/>
                          </a:solidFill>
                          <a:effectLst/>
                        </a:rPr>
                        <a:t>Loss </a:t>
                      </a:r>
                      <a:r>
                        <a:rPr lang="en-US" sz="2200" b="1" u="none" strike="noStrike" baseline="0" dirty="0">
                          <a:solidFill>
                            <a:srgbClr val="990000"/>
                          </a:solidFill>
                          <a:effectLst/>
                        </a:rPr>
                        <a:t>on disposal of plant asset</a:t>
                      </a:r>
                      <a:endParaRPr lang="en-US" sz="2200" b="1" i="0" u="none" strike="noStrike" baseline="0" dirty="0">
                        <a:solidFill>
                          <a:srgbClr val="990000"/>
                        </a:solidFill>
                        <a:effectLst/>
                        <a:latin typeface="Calibri" panose="020F0502020204030204" pitchFamily="34" charset="0"/>
                      </a:endParaRPr>
                    </a:p>
                  </a:txBody>
                  <a:tcPr marL="4233" marR="182880" marT="4233"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fontAlgn="b"/>
                      <a:r>
                        <a:rPr lang="en-US" sz="2200" b="1" u="dbl" strike="noStrike" baseline="0" dirty="0">
                          <a:solidFill>
                            <a:srgbClr val="990000"/>
                          </a:solidFill>
                          <a:effectLst/>
                          <a:uFill>
                            <a:solidFill>
                              <a:schemeClr val="tx1"/>
                            </a:solidFill>
                          </a:uFill>
                        </a:rPr>
                        <a:t>   $  2,000</a:t>
                      </a:r>
                      <a:endParaRPr lang="en-US" sz="2200" b="1" i="0" u="dbl" strike="noStrike" baseline="0" dirty="0">
                        <a:solidFill>
                          <a:srgbClr val="990000"/>
                        </a:solidFill>
                        <a:effectLst/>
                        <a:uFill>
                          <a:solidFill>
                            <a:schemeClr val="tx1"/>
                          </a:solidFill>
                        </a:uFill>
                        <a:latin typeface="Calibri" panose="020F0502020204030204" pitchFamily="34" charset="0"/>
                      </a:endParaRPr>
                    </a:p>
                  </a:txBody>
                  <a:tcPr marL="4233" marR="4233" marT="4233"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0517478"/>
                  </a:ext>
                </a:extLst>
              </a:tr>
            </a:tbl>
          </a:graphicData>
        </a:graphic>
      </p:graphicFrame>
      <p:sp>
        <p:nvSpPr>
          <p:cNvPr id="7" name="Content Placeholder 6">
            <a:extLst>
              <a:ext uri="{FF2B5EF4-FFF2-40B4-BE49-F238E27FC236}">
                <a16:creationId xmlns:a16="http://schemas.microsoft.com/office/drawing/2014/main" id="{4D7576FB-A761-425A-907D-F443C017D93D}"/>
              </a:ext>
            </a:extLst>
          </p:cNvPr>
          <p:cNvSpPr>
            <a:spLocks noGrp="1"/>
          </p:cNvSpPr>
          <p:nvPr>
            <p:ph sz="quarter" idx="21"/>
          </p:nvPr>
        </p:nvSpPr>
        <p:spPr>
          <a:xfrm>
            <a:off x="263982" y="3923375"/>
            <a:ext cx="4155618" cy="365125"/>
          </a:xfrm>
        </p:spPr>
        <p:txBody>
          <a:bodyPr/>
          <a:lstStyle/>
          <a:p>
            <a:r>
              <a:rPr lang="en-US" altLang="en-US" sz="2200"/>
              <a:t>Wright records the sale as follows.</a:t>
            </a:r>
            <a:endParaRPr lang="en-IN" sz="2200"/>
          </a:p>
        </p:txBody>
      </p:sp>
      <p:sp>
        <p:nvSpPr>
          <p:cNvPr id="9" name="Content Placeholder 8">
            <a:extLst>
              <a:ext uri="{FF2B5EF4-FFF2-40B4-BE49-F238E27FC236}">
                <a16:creationId xmlns:a16="http://schemas.microsoft.com/office/drawing/2014/main" id="{BDD7F992-0E6C-4969-BFC4-8459F828C527}"/>
              </a:ext>
            </a:extLst>
          </p:cNvPr>
          <p:cNvSpPr>
            <a:spLocks noGrp="1"/>
          </p:cNvSpPr>
          <p:nvPr>
            <p:ph sz="quarter" idx="23"/>
          </p:nvPr>
        </p:nvSpPr>
        <p:spPr>
          <a:xfrm>
            <a:off x="1288597" y="4395869"/>
            <a:ext cx="692603" cy="365125"/>
          </a:xfrm>
        </p:spPr>
        <p:txBody>
          <a:bodyPr/>
          <a:lstStyle/>
          <a:p>
            <a:r>
              <a:rPr lang="en-US" sz="2000">
                <a:latin typeface="Calibri" panose="020F0502020204030204" pitchFamily="34" charset="0"/>
              </a:rPr>
              <a:t>Cash</a:t>
            </a:r>
            <a:endParaRPr lang="en-IN" sz="2000"/>
          </a:p>
        </p:txBody>
      </p:sp>
      <p:sp>
        <p:nvSpPr>
          <p:cNvPr id="10" name="Content Placeholder 9">
            <a:extLst>
              <a:ext uri="{FF2B5EF4-FFF2-40B4-BE49-F238E27FC236}">
                <a16:creationId xmlns:a16="http://schemas.microsoft.com/office/drawing/2014/main" id="{D8C29A7A-041E-4E49-A20D-EC1A4E198DB6}"/>
              </a:ext>
            </a:extLst>
          </p:cNvPr>
          <p:cNvSpPr>
            <a:spLocks noGrp="1"/>
          </p:cNvSpPr>
          <p:nvPr>
            <p:ph sz="quarter" idx="24"/>
          </p:nvPr>
        </p:nvSpPr>
        <p:spPr>
          <a:xfrm>
            <a:off x="6665117" y="4392634"/>
            <a:ext cx="1077383" cy="365125"/>
          </a:xfrm>
        </p:spPr>
        <p:txBody>
          <a:bodyPr/>
          <a:lstStyle/>
          <a:p>
            <a:r>
              <a:rPr lang="en-US" sz="2000">
                <a:latin typeface="Calibri" panose="020F0502020204030204" pitchFamily="34" charset="0"/>
              </a:rPr>
              <a:t>9,000</a:t>
            </a:r>
            <a:endParaRPr lang="en-IN" sz="2000"/>
          </a:p>
        </p:txBody>
      </p:sp>
      <p:sp>
        <p:nvSpPr>
          <p:cNvPr id="11" name="Content Placeholder 10">
            <a:extLst>
              <a:ext uri="{FF2B5EF4-FFF2-40B4-BE49-F238E27FC236}">
                <a16:creationId xmlns:a16="http://schemas.microsoft.com/office/drawing/2014/main" id="{D5032ED6-55CD-4225-ADB2-42E919ECD1A5}"/>
              </a:ext>
            </a:extLst>
          </p:cNvPr>
          <p:cNvSpPr>
            <a:spLocks noGrp="1"/>
          </p:cNvSpPr>
          <p:nvPr>
            <p:ph sz="quarter" idx="25"/>
          </p:nvPr>
        </p:nvSpPr>
        <p:spPr>
          <a:xfrm>
            <a:off x="1251558" y="4668537"/>
            <a:ext cx="4463442" cy="365125"/>
          </a:xfrm>
        </p:spPr>
        <p:txBody>
          <a:bodyPr/>
          <a:lstStyle/>
          <a:p>
            <a:r>
              <a:rPr lang="en-US" sz="2000" dirty="0">
                <a:latin typeface="Calibri" panose="020F0502020204030204" pitchFamily="34" charset="0"/>
              </a:rPr>
              <a:t>Accumulated Depreciation—Equipment</a:t>
            </a:r>
            <a:endParaRPr lang="en-IN" sz="2000" dirty="0"/>
          </a:p>
        </p:txBody>
      </p:sp>
      <p:sp>
        <p:nvSpPr>
          <p:cNvPr id="12" name="Content Placeholder 11">
            <a:extLst>
              <a:ext uri="{FF2B5EF4-FFF2-40B4-BE49-F238E27FC236}">
                <a16:creationId xmlns:a16="http://schemas.microsoft.com/office/drawing/2014/main" id="{756C4564-ABA6-43AE-936F-292EFF131B78}"/>
              </a:ext>
            </a:extLst>
          </p:cNvPr>
          <p:cNvSpPr>
            <a:spLocks noGrp="1"/>
          </p:cNvSpPr>
          <p:nvPr>
            <p:ph sz="quarter" idx="26"/>
          </p:nvPr>
        </p:nvSpPr>
        <p:spPr>
          <a:xfrm>
            <a:off x="6545619" y="4672140"/>
            <a:ext cx="968281" cy="365125"/>
          </a:xfrm>
        </p:spPr>
        <p:txBody>
          <a:bodyPr/>
          <a:lstStyle/>
          <a:p>
            <a:r>
              <a:rPr lang="en-US" sz="2000">
                <a:latin typeface="Calibri" panose="020F0502020204030204" pitchFamily="34" charset="0"/>
              </a:rPr>
              <a:t>49,000</a:t>
            </a:r>
            <a:endParaRPr lang="en-IN" sz="2000"/>
          </a:p>
        </p:txBody>
      </p:sp>
      <p:sp>
        <p:nvSpPr>
          <p:cNvPr id="13" name="Content Placeholder 12">
            <a:extLst>
              <a:ext uri="{FF2B5EF4-FFF2-40B4-BE49-F238E27FC236}">
                <a16:creationId xmlns:a16="http://schemas.microsoft.com/office/drawing/2014/main" id="{DC325CA9-76D3-46B4-B654-146F0C76DC32}"/>
              </a:ext>
            </a:extLst>
          </p:cNvPr>
          <p:cNvSpPr>
            <a:spLocks noGrp="1"/>
          </p:cNvSpPr>
          <p:nvPr>
            <p:ph sz="quarter" idx="27"/>
          </p:nvPr>
        </p:nvSpPr>
        <p:spPr>
          <a:xfrm>
            <a:off x="1252314" y="4982139"/>
            <a:ext cx="4386486" cy="365125"/>
          </a:xfrm>
        </p:spPr>
        <p:txBody>
          <a:bodyPr/>
          <a:lstStyle/>
          <a:p>
            <a:r>
              <a:rPr lang="en-US" sz="2000" dirty="0"/>
              <a:t>Loss on Disposal of Plant Assets</a:t>
            </a:r>
            <a:endParaRPr lang="en-IN" sz="2000" dirty="0"/>
          </a:p>
        </p:txBody>
      </p:sp>
      <p:sp>
        <p:nvSpPr>
          <p:cNvPr id="14" name="Content Placeholder 13">
            <a:extLst>
              <a:ext uri="{FF2B5EF4-FFF2-40B4-BE49-F238E27FC236}">
                <a16:creationId xmlns:a16="http://schemas.microsoft.com/office/drawing/2014/main" id="{40ED4D50-E67C-4E82-AA76-320BF047618A}"/>
              </a:ext>
            </a:extLst>
          </p:cNvPr>
          <p:cNvSpPr>
            <a:spLocks noGrp="1"/>
          </p:cNvSpPr>
          <p:nvPr>
            <p:ph sz="quarter" idx="28"/>
          </p:nvPr>
        </p:nvSpPr>
        <p:spPr>
          <a:xfrm>
            <a:off x="6679295" y="4979124"/>
            <a:ext cx="812420" cy="365125"/>
          </a:xfrm>
        </p:spPr>
        <p:txBody>
          <a:bodyPr/>
          <a:lstStyle/>
          <a:p>
            <a:r>
              <a:rPr lang="en-US" sz="2000">
                <a:latin typeface="Calibri" panose="020F0502020204030204" pitchFamily="34" charset="0"/>
              </a:rPr>
              <a:t>2,000</a:t>
            </a:r>
            <a:endParaRPr lang="en-IN" sz="2000"/>
          </a:p>
        </p:txBody>
      </p:sp>
      <p:sp>
        <p:nvSpPr>
          <p:cNvPr id="15" name="Content Placeholder 14">
            <a:extLst>
              <a:ext uri="{FF2B5EF4-FFF2-40B4-BE49-F238E27FC236}">
                <a16:creationId xmlns:a16="http://schemas.microsoft.com/office/drawing/2014/main" id="{7DE1B66C-83F4-47AD-8BBE-D7F3A1CC62E7}"/>
              </a:ext>
            </a:extLst>
          </p:cNvPr>
          <p:cNvSpPr>
            <a:spLocks noGrp="1"/>
          </p:cNvSpPr>
          <p:nvPr>
            <p:ph sz="quarter" idx="29"/>
          </p:nvPr>
        </p:nvSpPr>
        <p:spPr>
          <a:xfrm>
            <a:off x="1479185" y="5318125"/>
            <a:ext cx="1862040" cy="365125"/>
          </a:xfrm>
        </p:spPr>
        <p:txBody>
          <a:bodyPr/>
          <a:lstStyle/>
          <a:p>
            <a:r>
              <a:rPr lang="en-US" sz="2000" dirty="0"/>
              <a:t>Equipment</a:t>
            </a:r>
            <a:endParaRPr lang="en-IN" sz="2000" dirty="0"/>
          </a:p>
        </p:txBody>
      </p:sp>
      <p:sp>
        <p:nvSpPr>
          <p:cNvPr id="16" name="Content Placeholder 15">
            <a:extLst>
              <a:ext uri="{FF2B5EF4-FFF2-40B4-BE49-F238E27FC236}">
                <a16:creationId xmlns:a16="http://schemas.microsoft.com/office/drawing/2014/main" id="{D8CBF0AE-45E1-4735-8C3F-65C307CBAFEA}"/>
              </a:ext>
            </a:extLst>
          </p:cNvPr>
          <p:cNvSpPr>
            <a:spLocks noGrp="1"/>
          </p:cNvSpPr>
          <p:nvPr>
            <p:ph sz="quarter" idx="30"/>
          </p:nvPr>
        </p:nvSpPr>
        <p:spPr>
          <a:xfrm>
            <a:off x="7991768" y="5326062"/>
            <a:ext cx="940033" cy="365125"/>
          </a:xfrm>
        </p:spPr>
        <p:txBody>
          <a:bodyPr/>
          <a:lstStyle/>
          <a:p>
            <a:r>
              <a:rPr lang="en-US" sz="2000">
                <a:latin typeface="Calibri" panose="020F0502020204030204" pitchFamily="34" charset="0"/>
              </a:rPr>
              <a:t>60,000</a:t>
            </a:r>
            <a:endParaRPr lang="en-IN" sz="2000"/>
          </a:p>
        </p:txBody>
      </p:sp>
      <p:sp>
        <p:nvSpPr>
          <p:cNvPr id="18" name="Content Placeholder 17">
            <a:extLst>
              <a:ext uri="{FF2B5EF4-FFF2-40B4-BE49-F238E27FC236}">
                <a16:creationId xmlns:a16="http://schemas.microsoft.com/office/drawing/2014/main" id="{0F7F17AA-7569-4C72-9921-7A740C4BA05C}"/>
              </a:ext>
            </a:extLst>
          </p:cNvPr>
          <p:cNvSpPr>
            <a:spLocks noGrp="1"/>
          </p:cNvSpPr>
          <p:nvPr>
            <p:ph sz="quarter" idx="32"/>
          </p:nvPr>
        </p:nvSpPr>
        <p:spPr>
          <a:xfrm>
            <a:off x="1669744" y="5651047"/>
            <a:ext cx="4654856" cy="365125"/>
          </a:xfrm>
        </p:spPr>
        <p:txBody>
          <a:bodyPr/>
          <a:lstStyle/>
          <a:p>
            <a:r>
              <a:rPr lang="en-IN" sz="2000" dirty="0"/>
              <a:t>(To record sale of office furniture at a loss)</a:t>
            </a:r>
          </a:p>
        </p:txBody>
      </p:sp>
      <p:sp>
        <p:nvSpPr>
          <p:cNvPr id="23" name="Slide Number Placeholder 22">
            <a:extLst>
              <a:ext uri="{FF2B5EF4-FFF2-40B4-BE49-F238E27FC236}">
                <a16:creationId xmlns:a16="http://schemas.microsoft.com/office/drawing/2014/main" id="{7437299B-9C51-40C8-A41B-88487F7FE763}"/>
              </a:ext>
            </a:extLst>
          </p:cNvPr>
          <p:cNvSpPr>
            <a:spLocks noGrp="1"/>
          </p:cNvSpPr>
          <p:nvPr>
            <p:ph type="sldNum" sz="quarter" idx="10"/>
          </p:nvPr>
        </p:nvSpPr>
        <p:spPr>
          <a:xfrm>
            <a:off x="6434328" y="6569075"/>
            <a:ext cx="2404872" cy="365125"/>
          </a:xfrm>
        </p:spPr>
        <p:txBody>
          <a:bodyPr/>
          <a:lstStyle/>
          <a:p>
            <a:fld id="{67B19427-F580-D146-B60E-4CADEE75497F}" type="slidenum">
              <a:rPr lang="en-US" smtClean="0"/>
              <a:pPr/>
              <a:t>18</a:t>
            </a:fld>
            <a:endParaRPr lang="en-US" dirty="0"/>
          </a:p>
        </p:txBody>
      </p:sp>
      <p:sp>
        <p:nvSpPr>
          <p:cNvPr id="24" name="Footer Placeholder 23">
            <a:extLst>
              <a:ext uri="{FF2B5EF4-FFF2-40B4-BE49-F238E27FC236}">
                <a16:creationId xmlns:a16="http://schemas.microsoft.com/office/drawing/2014/main" id="{6DF1E6A7-BEC4-4B64-934A-FA88A8699021}"/>
              </a:ext>
            </a:extLst>
          </p:cNvPr>
          <p:cNvSpPr>
            <a:spLocks noGrp="1"/>
          </p:cNvSpPr>
          <p:nvPr>
            <p:ph type="ftr" sz="quarter" idx="11"/>
          </p:nvPr>
        </p:nvSpPr>
        <p:spPr>
          <a:xfrm>
            <a:off x="2998336" y="6569075"/>
            <a:ext cx="3116714" cy="365125"/>
          </a:xfrm>
        </p:spPr>
        <p:txBody>
          <a:bodyPr/>
          <a:lstStyle/>
          <a:p>
            <a:r>
              <a:rPr lang="en-US"/>
              <a:t>Copyright ©2018 John Wiley &amp; Sons, Inc. </a:t>
            </a:r>
            <a:endParaRPr lang="en-US" dirty="0"/>
          </a:p>
        </p:txBody>
      </p:sp>
      <p:sp>
        <p:nvSpPr>
          <p:cNvPr id="3" name="Rectangle 2">
            <a:extLst>
              <a:ext uri="{FF2B5EF4-FFF2-40B4-BE49-F238E27FC236}">
                <a16:creationId xmlns:a16="http://schemas.microsoft.com/office/drawing/2014/main" id="{BF66D908-D292-48D8-83B8-AE7DD0B5E822}"/>
              </a:ext>
            </a:extLst>
          </p:cNvPr>
          <p:cNvSpPr/>
          <p:nvPr/>
        </p:nvSpPr>
        <p:spPr>
          <a:xfrm>
            <a:off x="457200" y="1059359"/>
            <a:ext cx="8315739" cy="769441"/>
          </a:xfrm>
          <a:prstGeom prst="rect">
            <a:avLst/>
          </a:prstGeom>
        </p:spPr>
        <p:txBody>
          <a:bodyPr wrap="square">
            <a:spAutoFit/>
          </a:bodyPr>
          <a:lstStyle/>
          <a:p>
            <a:r>
              <a:rPr lang="en-US" sz="2200" dirty="0"/>
              <a:t>Assume that instead of selling the office furniture for $16,000, Wright </a:t>
            </a:r>
            <a:r>
              <a:rPr lang="en-US" sz="2200" b="1" dirty="0"/>
              <a:t>sells it for $9,000</a:t>
            </a:r>
            <a:r>
              <a:rPr lang="en-US" sz="2200" dirty="0"/>
              <a:t>. In this case, Wright computes a loss of $2,000.</a:t>
            </a:r>
          </a:p>
        </p:txBody>
      </p:sp>
    </p:spTree>
    <p:extLst>
      <p:ext uri="{BB962C8B-B14F-4D97-AF65-F5344CB8AC3E}">
        <p14:creationId xmlns:p14="http://schemas.microsoft.com/office/powerpoint/2010/main" val="153463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build="p"/>
      <p:bldP spid="11" grpId="0" build="p"/>
      <p:bldP spid="12" grpId="0" build="p"/>
      <p:bldP spid="13" grpId="0" build="p"/>
      <p:bldP spid="14" grpId="0" build="p"/>
      <p:bldP spid="15" grpId="0" build="p"/>
      <p:bldP spid="16" grpId="0" build="p"/>
      <p:bldP spid="18"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5416A-9951-4506-9F33-2A3A88DD0DBB}"/>
              </a:ext>
            </a:extLst>
          </p:cNvPr>
          <p:cNvSpPr>
            <a:spLocks noGrp="1"/>
          </p:cNvSpPr>
          <p:nvPr>
            <p:ph type="title"/>
          </p:nvPr>
        </p:nvSpPr>
        <p:spPr>
          <a:xfrm>
            <a:off x="304800" y="762001"/>
            <a:ext cx="8534400" cy="679956"/>
          </a:xfrm>
        </p:spPr>
        <p:txBody>
          <a:bodyPr>
            <a:normAutofit fontScale="90000"/>
          </a:bodyPr>
          <a:lstStyle/>
          <a:p>
            <a:r>
              <a:rPr lang="en-US" b="1" dirty="0">
                <a:ea typeface="Source Sans Pro" charset="0"/>
              </a:rPr>
              <a:t>Do It </a:t>
            </a:r>
            <a:r>
              <a:rPr lang="en-US" b="1" dirty="0">
                <a:solidFill>
                  <a:srgbClr val="FF0000"/>
                </a:solidFill>
                <a:ea typeface="Source Sans Pro" charset="0"/>
              </a:rPr>
              <a:t>AT HOME</a:t>
            </a:r>
            <a:r>
              <a:rPr lang="en-US" b="1" dirty="0">
                <a:ea typeface="Source Sans Pro" charset="0"/>
              </a:rPr>
              <a:t>! 3: </a:t>
            </a:r>
            <a:r>
              <a:rPr lang="en-US" b="1" dirty="0">
                <a:solidFill>
                  <a:srgbClr val="196E78"/>
                </a:solidFill>
                <a:ea typeface="Source Sans Pro" charset="0"/>
              </a:rPr>
              <a:t>Plant Asset Disposal </a:t>
            </a:r>
            <a:r>
              <a:rPr lang="en-US" sz="2400" dirty="0">
                <a:solidFill>
                  <a:srgbClr val="196E78"/>
                </a:solidFill>
                <a:ea typeface="Source Sans Pro" charset="0"/>
              </a:rPr>
              <a:t>(1 of 2)</a:t>
            </a:r>
            <a:endParaRPr lang="en-IN" dirty="0"/>
          </a:p>
        </p:txBody>
      </p:sp>
      <p:sp>
        <p:nvSpPr>
          <p:cNvPr id="5" name="Content Placeholder 4">
            <a:extLst>
              <a:ext uri="{FF2B5EF4-FFF2-40B4-BE49-F238E27FC236}">
                <a16:creationId xmlns:a16="http://schemas.microsoft.com/office/drawing/2014/main" id="{33184757-0C06-428C-838C-0F11A3DE4A2D}"/>
              </a:ext>
            </a:extLst>
          </p:cNvPr>
          <p:cNvSpPr>
            <a:spLocks noGrp="1"/>
          </p:cNvSpPr>
          <p:nvPr>
            <p:ph sz="quarter" idx="18"/>
          </p:nvPr>
        </p:nvSpPr>
        <p:spPr>
          <a:xfrm>
            <a:off x="304800" y="1752601"/>
            <a:ext cx="8534400" cy="1495425"/>
          </a:xfrm>
        </p:spPr>
        <p:txBody>
          <a:bodyPr/>
          <a:lstStyle/>
          <a:p>
            <a:r>
              <a:rPr lang="en-US" sz="2600"/>
              <a:t>Overland Trucking has decided to sell an old truck that cost $30,000 and which has accumulated depreciation of $16,000. </a:t>
            </a:r>
            <a:r>
              <a:rPr lang="en-US" sz="2600" b="1"/>
              <a:t>(a) </a:t>
            </a:r>
            <a:r>
              <a:rPr lang="en-US" sz="2600"/>
              <a:t>What entry would Overland Trucking make to record the sale of the truck for </a:t>
            </a:r>
            <a:r>
              <a:rPr lang="en-US" sz="2600" b="1"/>
              <a:t>$17,000 cash</a:t>
            </a:r>
            <a:r>
              <a:rPr lang="en-US" sz="2600"/>
              <a:t>?</a:t>
            </a:r>
            <a:endParaRPr lang="en-IN" sz="2600"/>
          </a:p>
        </p:txBody>
      </p:sp>
      <p:sp>
        <p:nvSpPr>
          <p:cNvPr id="7" name="Content Placeholder 6">
            <a:extLst>
              <a:ext uri="{FF2B5EF4-FFF2-40B4-BE49-F238E27FC236}">
                <a16:creationId xmlns:a16="http://schemas.microsoft.com/office/drawing/2014/main" id="{1F8F62E3-0196-4282-9091-AA277A31EFA6}"/>
              </a:ext>
            </a:extLst>
          </p:cNvPr>
          <p:cNvSpPr>
            <a:spLocks noGrp="1"/>
          </p:cNvSpPr>
          <p:nvPr>
            <p:ph sz="quarter" idx="21"/>
          </p:nvPr>
        </p:nvSpPr>
        <p:spPr>
          <a:xfrm>
            <a:off x="318300" y="3444875"/>
            <a:ext cx="1048756" cy="365125"/>
          </a:xfrm>
        </p:spPr>
        <p:txBody>
          <a:bodyPr/>
          <a:lstStyle/>
          <a:p>
            <a:r>
              <a:rPr lang="en-US" sz="2400"/>
              <a:t>Cash</a:t>
            </a:r>
            <a:endParaRPr lang="en-IN" sz="2400"/>
          </a:p>
        </p:txBody>
      </p:sp>
      <p:sp>
        <p:nvSpPr>
          <p:cNvPr id="8" name="Content Placeholder 7">
            <a:extLst>
              <a:ext uri="{FF2B5EF4-FFF2-40B4-BE49-F238E27FC236}">
                <a16:creationId xmlns:a16="http://schemas.microsoft.com/office/drawing/2014/main" id="{6489EC7D-60B1-4A74-A279-B1BC8527657F}"/>
              </a:ext>
            </a:extLst>
          </p:cNvPr>
          <p:cNvSpPr>
            <a:spLocks noGrp="1"/>
          </p:cNvSpPr>
          <p:nvPr>
            <p:ph sz="quarter" idx="22"/>
          </p:nvPr>
        </p:nvSpPr>
        <p:spPr>
          <a:xfrm>
            <a:off x="6041133" y="3458298"/>
            <a:ext cx="1188701" cy="365125"/>
          </a:xfrm>
        </p:spPr>
        <p:txBody>
          <a:bodyPr/>
          <a:lstStyle/>
          <a:p>
            <a:r>
              <a:rPr lang="en-US" sz="2400"/>
              <a:t>17,000</a:t>
            </a:r>
            <a:endParaRPr lang="en-IN" sz="2400"/>
          </a:p>
        </p:txBody>
      </p:sp>
      <p:sp>
        <p:nvSpPr>
          <p:cNvPr id="9" name="Content Placeholder 8">
            <a:extLst>
              <a:ext uri="{FF2B5EF4-FFF2-40B4-BE49-F238E27FC236}">
                <a16:creationId xmlns:a16="http://schemas.microsoft.com/office/drawing/2014/main" id="{AC69C9D7-D04D-4FC1-A248-1D779617D217}"/>
              </a:ext>
            </a:extLst>
          </p:cNvPr>
          <p:cNvSpPr>
            <a:spLocks noGrp="1"/>
          </p:cNvSpPr>
          <p:nvPr>
            <p:ph sz="quarter" idx="23"/>
          </p:nvPr>
        </p:nvSpPr>
        <p:spPr>
          <a:xfrm>
            <a:off x="304800" y="3828325"/>
            <a:ext cx="5181600" cy="365125"/>
          </a:xfrm>
        </p:spPr>
        <p:txBody>
          <a:bodyPr/>
          <a:lstStyle/>
          <a:p>
            <a:r>
              <a:rPr lang="en-US" sz="2400"/>
              <a:t>Accumulated Depreciation—Equipment</a:t>
            </a:r>
            <a:endParaRPr lang="en-IN" sz="2400"/>
          </a:p>
        </p:txBody>
      </p:sp>
      <p:sp>
        <p:nvSpPr>
          <p:cNvPr id="10" name="Content Placeholder 9">
            <a:extLst>
              <a:ext uri="{FF2B5EF4-FFF2-40B4-BE49-F238E27FC236}">
                <a16:creationId xmlns:a16="http://schemas.microsoft.com/office/drawing/2014/main" id="{6252B4B4-9707-49CD-8BAB-2815C1011066}"/>
              </a:ext>
            </a:extLst>
          </p:cNvPr>
          <p:cNvSpPr>
            <a:spLocks noGrp="1"/>
          </p:cNvSpPr>
          <p:nvPr>
            <p:ph sz="quarter" idx="24"/>
          </p:nvPr>
        </p:nvSpPr>
        <p:spPr>
          <a:xfrm>
            <a:off x="6050299" y="3839900"/>
            <a:ext cx="1188701" cy="365125"/>
          </a:xfrm>
        </p:spPr>
        <p:txBody>
          <a:bodyPr/>
          <a:lstStyle/>
          <a:p>
            <a:r>
              <a:rPr lang="en-US" sz="2400"/>
              <a:t>16,000</a:t>
            </a:r>
            <a:endParaRPr lang="en-IN" sz="2400"/>
          </a:p>
        </p:txBody>
      </p:sp>
      <p:sp>
        <p:nvSpPr>
          <p:cNvPr id="11" name="Content Placeholder 10">
            <a:extLst>
              <a:ext uri="{FF2B5EF4-FFF2-40B4-BE49-F238E27FC236}">
                <a16:creationId xmlns:a16="http://schemas.microsoft.com/office/drawing/2014/main" id="{8054EB29-FCD5-479D-A106-D766E91A73AB}"/>
              </a:ext>
            </a:extLst>
          </p:cNvPr>
          <p:cNvSpPr>
            <a:spLocks noGrp="1"/>
          </p:cNvSpPr>
          <p:nvPr>
            <p:ph sz="quarter" idx="25"/>
          </p:nvPr>
        </p:nvSpPr>
        <p:spPr>
          <a:xfrm>
            <a:off x="556549" y="4234925"/>
            <a:ext cx="1747927" cy="365125"/>
          </a:xfrm>
        </p:spPr>
        <p:txBody>
          <a:bodyPr/>
          <a:lstStyle/>
          <a:p>
            <a:r>
              <a:rPr lang="en-US" sz="2400"/>
              <a:t>Equipment</a:t>
            </a:r>
            <a:endParaRPr lang="en-IN" sz="2400"/>
          </a:p>
        </p:txBody>
      </p:sp>
      <p:sp>
        <p:nvSpPr>
          <p:cNvPr id="12" name="Content Placeholder 11">
            <a:extLst>
              <a:ext uri="{FF2B5EF4-FFF2-40B4-BE49-F238E27FC236}">
                <a16:creationId xmlns:a16="http://schemas.microsoft.com/office/drawing/2014/main" id="{4D5F69EE-9ACC-443E-AD7C-673252925889}"/>
              </a:ext>
            </a:extLst>
          </p:cNvPr>
          <p:cNvSpPr>
            <a:spLocks noGrp="1"/>
          </p:cNvSpPr>
          <p:nvPr>
            <p:ph sz="quarter" idx="26"/>
          </p:nvPr>
        </p:nvSpPr>
        <p:spPr>
          <a:xfrm>
            <a:off x="7772399" y="4258075"/>
            <a:ext cx="1223549" cy="365125"/>
          </a:xfrm>
        </p:spPr>
        <p:txBody>
          <a:bodyPr/>
          <a:lstStyle/>
          <a:p>
            <a:r>
              <a:rPr lang="en-US" sz="2400"/>
              <a:t>30,000</a:t>
            </a:r>
            <a:endParaRPr lang="en-IN" sz="2400"/>
          </a:p>
        </p:txBody>
      </p:sp>
      <p:sp>
        <p:nvSpPr>
          <p:cNvPr id="13" name="Content Placeholder 12">
            <a:extLst>
              <a:ext uri="{FF2B5EF4-FFF2-40B4-BE49-F238E27FC236}">
                <a16:creationId xmlns:a16="http://schemas.microsoft.com/office/drawing/2014/main" id="{2B4AEC0A-0791-485A-A2F8-29FB4F282C24}"/>
              </a:ext>
            </a:extLst>
          </p:cNvPr>
          <p:cNvSpPr>
            <a:spLocks noGrp="1"/>
          </p:cNvSpPr>
          <p:nvPr>
            <p:ph sz="quarter" idx="27"/>
          </p:nvPr>
        </p:nvSpPr>
        <p:spPr>
          <a:xfrm>
            <a:off x="556550" y="4628342"/>
            <a:ext cx="4632008" cy="365125"/>
          </a:xfrm>
        </p:spPr>
        <p:txBody>
          <a:bodyPr/>
          <a:lstStyle/>
          <a:p>
            <a:r>
              <a:rPr lang="en-US" sz="2400" dirty="0"/>
              <a:t>Gain on Disposal of Plant Assets</a:t>
            </a:r>
            <a:endParaRPr lang="en-IN" sz="2400" dirty="0"/>
          </a:p>
        </p:txBody>
      </p:sp>
      <p:sp>
        <p:nvSpPr>
          <p:cNvPr id="15" name="Content Placeholder 14">
            <a:extLst>
              <a:ext uri="{FF2B5EF4-FFF2-40B4-BE49-F238E27FC236}">
                <a16:creationId xmlns:a16="http://schemas.microsoft.com/office/drawing/2014/main" id="{229E00DA-F000-4C54-BF12-9FD586FD9BF4}"/>
              </a:ext>
            </a:extLst>
          </p:cNvPr>
          <p:cNvSpPr>
            <a:spLocks noGrp="1"/>
          </p:cNvSpPr>
          <p:nvPr>
            <p:ph sz="quarter" idx="29"/>
          </p:nvPr>
        </p:nvSpPr>
        <p:spPr>
          <a:xfrm>
            <a:off x="812159" y="4987318"/>
            <a:ext cx="4457215" cy="428725"/>
          </a:xfrm>
        </p:spPr>
        <p:txBody>
          <a:bodyPr/>
          <a:lstStyle/>
          <a:p>
            <a:r>
              <a:rPr lang="en-IN" sz="2400"/>
              <a:t>[$17,000 − ($30,000 − $16,000)]</a:t>
            </a:r>
          </a:p>
        </p:txBody>
      </p:sp>
      <p:sp>
        <p:nvSpPr>
          <p:cNvPr id="14" name="Content Placeholder 13">
            <a:extLst>
              <a:ext uri="{FF2B5EF4-FFF2-40B4-BE49-F238E27FC236}">
                <a16:creationId xmlns:a16="http://schemas.microsoft.com/office/drawing/2014/main" id="{254B08A9-583B-4F1B-98DE-E06B1CF4BA27}"/>
              </a:ext>
            </a:extLst>
          </p:cNvPr>
          <p:cNvSpPr>
            <a:spLocks noGrp="1"/>
          </p:cNvSpPr>
          <p:nvPr>
            <p:ph sz="quarter" idx="28"/>
          </p:nvPr>
        </p:nvSpPr>
        <p:spPr>
          <a:xfrm>
            <a:off x="7931550" y="4648200"/>
            <a:ext cx="896735" cy="365125"/>
          </a:xfrm>
        </p:spPr>
        <p:txBody>
          <a:bodyPr/>
          <a:lstStyle/>
          <a:p>
            <a:r>
              <a:rPr lang="en-US" sz="2400" dirty="0"/>
              <a:t>3,000</a:t>
            </a:r>
            <a:endParaRPr lang="en-IN" sz="2400" dirty="0"/>
          </a:p>
        </p:txBody>
      </p:sp>
      <p:sp>
        <p:nvSpPr>
          <p:cNvPr id="16" name="Content Placeholder 15">
            <a:extLst>
              <a:ext uri="{FF2B5EF4-FFF2-40B4-BE49-F238E27FC236}">
                <a16:creationId xmlns:a16="http://schemas.microsoft.com/office/drawing/2014/main" id="{1E04B097-46E5-4C97-9125-F9A0C2D46F4A}"/>
              </a:ext>
            </a:extLst>
          </p:cNvPr>
          <p:cNvSpPr>
            <a:spLocks noGrp="1"/>
          </p:cNvSpPr>
          <p:nvPr>
            <p:ph sz="quarter" idx="30"/>
          </p:nvPr>
        </p:nvSpPr>
        <p:spPr>
          <a:xfrm>
            <a:off x="815050" y="5397356"/>
            <a:ext cx="4419600" cy="365125"/>
          </a:xfrm>
        </p:spPr>
        <p:txBody>
          <a:bodyPr/>
          <a:lstStyle/>
          <a:p>
            <a:r>
              <a:rPr lang="en-IN" sz="2400"/>
              <a:t>(To record sale of truck at a gain)</a:t>
            </a:r>
          </a:p>
        </p:txBody>
      </p:sp>
      <p:sp>
        <p:nvSpPr>
          <p:cNvPr id="23" name="Slide Number Placeholder 22">
            <a:extLst>
              <a:ext uri="{FF2B5EF4-FFF2-40B4-BE49-F238E27FC236}">
                <a16:creationId xmlns:a16="http://schemas.microsoft.com/office/drawing/2014/main" id="{AC8A6125-2434-4EE6-B84D-7ED42144BB76}"/>
              </a:ext>
            </a:extLst>
          </p:cNvPr>
          <p:cNvSpPr>
            <a:spLocks noGrp="1"/>
          </p:cNvSpPr>
          <p:nvPr>
            <p:ph type="sldNum" sz="quarter" idx="10"/>
          </p:nvPr>
        </p:nvSpPr>
        <p:spPr/>
        <p:txBody>
          <a:bodyPr/>
          <a:lstStyle/>
          <a:p>
            <a:fld id="{67B19427-F580-D146-B60E-4CADEE75497F}" type="slidenum">
              <a:rPr lang="en-US" smtClean="0"/>
              <a:pPr/>
              <a:t>19</a:t>
            </a:fld>
            <a:endParaRPr lang="en-US" dirty="0"/>
          </a:p>
        </p:txBody>
      </p:sp>
      <p:sp>
        <p:nvSpPr>
          <p:cNvPr id="24" name="Footer Placeholder 23">
            <a:extLst>
              <a:ext uri="{FF2B5EF4-FFF2-40B4-BE49-F238E27FC236}">
                <a16:creationId xmlns:a16="http://schemas.microsoft.com/office/drawing/2014/main" id="{2E410200-29FB-4587-B7EE-C4B2B83EAE3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983535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P spid="9" grpId="0" build="p"/>
      <p:bldP spid="10" grpId="0" build="p"/>
      <p:bldP spid="11" grpId="0" build="p"/>
      <p:bldP spid="12" grpId="0" build="p"/>
      <p:bldP spid="13" grpId="0" build="p"/>
      <p:bldP spid="15" grpId="0" build="p"/>
      <p:bldP spid="14" grpId="0" build="p"/>
      <p:bldP spid="1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5416A-9951-4506-9F33-2A3A88DD0DBB}"/>
              </a:ext>
            </a:extLst>
          </p:cNvPr>
          <p:cNvSpPr>
            <a:spLocks noGrp="1"/>
          </p:cNvSpPr>
          <p:nvPr>
            <p:ph type="title"/>
          </p:nvPr>
        </p:nvSpPr>
        <p:spPr>
          <a:xfrm>
            <a:off x="304800" y="762001"/>
            <a:ext cx="8534400" cy="666650"/>
          </a:xfrm>
        </p:spPr>
        <p:txBody>
          <a:bodyPr>
            <a:normAutofit fontScale="90000"/>
          </a:bodyPr>
          <a:lstStyle/>
          <a:p>
            <a:r>
              <a:rPr lang="en-US" b="1" dirty="0">
                <a:ea typeface="Source Sans Pro" charset="0"/>
              </a:rPr>
              <a:t>Do It </a:t>
            </a:r>
            <a:r>
              <a:rPr lang="en-US" b="1" dirty="0">
                <a:solidFill>
                  <a:srgbClr val="FF0000"/>
                </a:solidFill>
                <a:ea typeface="Source Sans Pro" charset="0"/>
              </a:rPr>
              <a:t>AT HOME</a:t>
            </a:r>
            <a:r>
              <a:rPr lang="en-US" b="1" dirty="0">
                <a:ea typeface="Source Sans Pro" charset="0"/>
              </a:rPr>
              <a:t>! 3: </a:t>
            </a:r>
            <a:r>
              <a:rPr lang="en-US" b="1" dirty="0">
                <a:solidFill>
                  <a:srgbClr val="196E78"/>
                </a:solidFill>
                <a:ea typeface="Source Sans Pro" charset="0"/>
              </a:rPr>
              <a:t>Plant Asset Disposal </a:t>
            </a:r>
            <a:r>
              <a:rPr lang="en-US" sz="2400" dirty="0">
                <a:solidFill>
                  <a:srgbClr val="196E78"/>
                </a:solidFill>
                <a:ea typeface="Source Sans Pro" charset="0"/>
              </a:rPr>
              <a:t>(2 of 2)</a:t>
            </a:r>
            <a:endParaRPr lang="en-IN" dirty="0"/>
          </a:p>
        </p:txBody>
      </p:sp>
      <p:sp>
        <p:nvSpPr>
          <p:cNvPr id="5" name="Content Placeholder 4">
            <a:extLst>
              <a:ext uri="{FF2B5EF4-FFF2-40B4-BE49-F238E27FC236}">
                <a16:creationId xmlns:a16="http://schemas.microsoft.com/office/drawing/2014/main" id="{33184757-0C06-428C-838C-0F11A3DE4A2D}"/>
              </a:ext>
            </a:extLst>
          </p:cNvPr>
          <p:cNvSpPr>
            <a:spLocks noGrp="1"/>
          </p:cNvSpPr>
          <p:nvPr>
            <p:ph sz="quarter" idx="18"/>
          </p:nvPr>
        </p:nvSpPr>
        <p:spPr>
          <a:xfrm>
            <a:off x="304800" y="1752601"/>
            <a:ext cx="8534400" cy="1495425"/>
          </a:xfrm>
        </p:spPr>
        <p:txBody>
          <a:bodyPr/>
          <a:lstStyle/>
          <a:p>
            <a:r>
              <a:rPr lang="en-US" sz="2600" dirty="0"/>
              <a:t>Overland Trucking has decided to sell an old truck that cost $30,000 and which has accumulated depreciation of $16,000. </a:t>
            </a:r>
            <a:r>
              <a:rPr lang="en-US" sz="2600" b="1" dirty="0"/>
              <a:t>(b) </a:t>
            </a:r>
            <a:r>
              <a:rPr lang="en-US" sz="2600" dirty="0"/>
              <a:t>What entry would Overland Trucking make to record the sale of the truck for </a:t>
            </a:r>
            <a:r>
              <a:rPr lang="en-US" sz="2600" b="1" dirty="0"/>
              <a:t>$10,000 cash</a:t>
            </a:r>
            <a:r>
              <a:rPr lang="en-US" sz="2600" dirty="0"/>
              <a:t>?</a:t>
            </a:r>
            <a:endParaRPr lang="en-IN" sz="2600" dirty="0"/>
          </a:p>
        </p:txBody>
      </p:sp>
      <p:sp>
        <p:nvSpPr>
          <p:cNvPr id="7" name="Content Placeholder 6">
            <a:extLst>
              <a:ext uri="{FF2B5EF4-FFF2-40B4-BE49-F238E27FC236}">
                <a16:creationId xmlns:a16="http://schemas.microsoft.com/office/drawing/2014/main" id="{1F8F62E3-0196-4282-9091-AA277A31EFA6}"/>
              </a:ext>
            </a:extLst>
          </p:cNvPr>
          <p:cNvSpPr>
            <a:spLocks noGrp="1"/>
          </p:cNvSpPr>
          <p:nvPr>
            <p:ph sz="quarter" idx="21"/>
          </p:nvPr>
        </p:nvSpPr>
        <p:spPr>
          <a:xfrm>
            <a:off x="318300" y="3444875"/>
            <a:ext cx="1048756" cy="365125"/>
          </a:xfrm>
        </p:spPr>
        <p:txBody>
          <a:bodyPr/>
          <a:lstStyle/>
          <a:p>
            <a:r>
              <a:rPr lang="en-US" sz="2400"/>
              <a:t>Cash</a:t>
            </a:r>
            <a:endParaRPr lang="en-IN" sz="2400"/>
          </a:p>
        </p:txBody>
      </p:sp>
      <p:sp>
        <p:nvSpPr>
          <p:cNvPr id="8" name="Content Placeholder 7">
            <a:extLst>
              <a:ext uri="{FF2B5EF4-FFF2-40B4-BE49-F238E27FC236}">
                <a16:creationId xmlns:a16="http://schemas.microsoft.com/office/drawing/2014/main" id="{6489EC7D-60B1-4A74-A279-B1BC8527657F}"/>
              </a:ext>
            </a:extLst>
          </p:cNvPr>
          <p:cNvSpPr>
            <a:spLocks noGrp="1"/>
          </p:cNvSpPr>
          <p:nvPr>
            <p:ph sz="quarter" idx="22"/>
          </p:nvPr>
        </p:nvSpPr>
        <p:spPr>
          <a:xfrm>
            <a:off x="6041133" y="3458298"/>
            <a:ext cx="1188701" cy="365125"/>
          </a:xfrm>
        </p:spPr>
        <p:txBody>
          <a:bodyPr/>
          <a:lstStyle/>
          <a:p>
            <a:r>
              <a:rPr lang="en-US" sz="2400"/>
              <a:t>10,000</a:t>
            </a:r>
            <a:endParaRPr lang="en-IN" sz="2400"/>
          </a:p>
        </p:txBody>
      </p:sp>
      <p:sp>
        <p:nvSpPr>
          <p:cNvPr id="9" name="Content Placeholder 8">
            <a:extLst>
              <a:ext uri="{FF2B5EF4-FFF2-40B4-BE49-F238E27FC236}">
                <a16:creationId xmlns:a16="http://schemas.microsoft.com/office/drawing/2014/main" id="{AC69C9D7-D04D-4FC1-A248-1D779617D217}"/>
              </a:ext>
            </a:extLst>
          </p:cNvPr>
          <p:cNvSpPr>
            <a:spLocks noGrp="1"/>
          </p:cNvSpPr>
          <p:nvPr>
            <p:ph sz="quarter" idx="23"/>
          </p:nvPr>
        </p:nvSpPr>
        <p:spPr>
          <a:xfrm>
            <a:off x="304800" y="3828325"/>
            <a:ext cx="5181600" cy="365125"/>
          </a:xfrm>
        </p:spPr>
        <p:txBody>
          <a:bodyPr/>
          <a:lstStyle/>
          <a:p>
            <a:r>
              <a:rPr lang="en-US" sz="2400"/>
              <a:t>Accumulated Depreciation—Equipment</a:t>
            </a:r>
            <a:endParaRPr lang="en-IN" sz="2400"/>
          </a:p>
        </p:txBody>
      </p:sp>
      <p:sp>
        <p:nvSpPr>
          <p:cNvPr id="10" name="Content Placeholder 9">
            <a:extLst>
              <a:ext uri="{FF2B5EF4-FFF2-40B4-BE49-F238E27FC236}">
                <a16:creationId xmlns:a16="http://schemas.microsoft.com/office/drawing/2014/main" id="{6252B4B4-9707-49CD-8BAB-2815C1011066}"/>
              </a:ext>
            </a:extLst>
          </p:cNvPr>
          <p:cNvSpPr>
            <a:spLocks noGrp="1"/>
          </p:cNvSpPr>
          <p:nvPr>
            <p:ph sz="quarter" idx="24"/>
          </p:nvPr>
        </p:nvSpPr>
        <p:spPr>
          <a:xfrm>
            <a:off x="6050299" y="3839900"/>
            <a:ext cx="1188701" cy="365125"/>
          </a:xfrm>
        </p:spPr>
        <p:txBody>
          <a:bodyPr/>
          <a:lstStyle/>
          <a:p>
            <a:r>
              <a:rPr lang="en-US" sz="2400"/>
              <a:t>16,000</a:t>
            </a:r>
            <a:endParaRPr lang="en-IN" sz="2400"/>
          </a:p>
        </p:txBody>
      </p:sp>
      <p:sp>
        <p:nvSpPr>
          <p:cNvPr id="13" name="Content Placeholder 12">
            <a:extLst>
              <a:ext uri="{FF2B5EF4-FFF2-40B4-BE49-F238E27FC236}">
                <a16:creationId xmlns:a16="http://schemas.microsoft.com/office/drawing/2014/main" id="{2B4AEC0A-0791-485A-A2F8-29FB4F282C24}"/>
              </a:ext>
            </a:extLst>
          </p:cNvPr>
          <p:cNvSpPr>
            <a:spLocks noGrp="1"/>
          </p:cNvSpPr>
          <p:nvPr>
            <p:ph sz="quarter" idx="27"/>
          </p:nvPr>
        </p:nvSpPr>
        <p:spPr>
          <a:xfrm>
            <a:off x="318300" y="4214619"/>
            <a:ext cx="4632008" cy="365125"/>
          </a:xfrm>
        </p:spPr>
        <p:txBody>
          <a:bodyPr/>
          <a:lstStyle/>
          <a:p>
            <a:r>
              <a:rPr lang="en-US" sz="2400" dirty="0"/>
              <a:t>Loss on Disposal of Plant Assets</a:t>
            </a:r>
            <a:endParaRPr lang="en-IN" sz="2400" dirty="0"/>
          </a:p>
        </p:txBody>
      </p:sp>
      <p:sp>
        <p:nvSpPr>
          <p:cNvPr id="15" name="Content Placeholder 14">
            <a:extLst>
              <a:ext uri="{FF2B5EF4-FFF2-40B4-BE49-F238E27FC236}">
                <a16:creationId xmlns:a16="http://schemas.microsoft.com/office/drawing/2014/main" id="{229E00DA-F000-4C54-BF12-9FD586FD9BF4}"/>
              </a:ext>
            </a:extLst>
          </p:cNvPr>
          <p:cNvSpPr>
            <a:spLocks noGrp="1"/>
          </p:cNvSpPr>
          <p:nvPr>
            <p:ph sz="quarter" idx="29"/>
          </p:nvPr>
        </p:nvSpPr>
        <p:spPr>
          <a:xfrm>
            <a:off x="584200" y="4624688"/>
            <a:ext cx="4457215" cy="428725"/>
          </a:xfrm>
        </p:spPr>
        <p:txBody>
          <a:bodyPr/>
          <a:lstStyle/>
          <a:p>
            <a:r>
              <a:rPr lang="en-IN" sz="2400"/>
              <a:t>[$10,000 − ($30,000 − $16,000)]</a:t>
            </a:r>
          </a:p>
        </p:txBody>
      </p:sp>
      <p:sp>
        <p:nvSpPr>
          <p:cNvPr id="12" name="Content Placeholder 11">
            <a:extLst>
              <a:ext uri="{FF2B5EF4-FFF2-40B4-BE49-F238E27FC236}">
                <a16:creationId xmlns:a16="http://schemas.microsoft.com/office/drawing/2014/main" id="{4D5F69EE-9ACC-443E-AD7C-673252925889}"/>
              </a:ext>
            </a:extLst>
          </p:cNvPr>
          <p:cNvSpPr>
            <a:spLocks noGrp="1"/>
          </p:cNvSpPr>
          <p:nvPr>
            <p:ph sz="quarter" idx="26"/>
          </p:nvPr>
        </p:nvSpPr>
        <p:spPr>
          <a:xfrm>
            <a:off x="6167375" y="4636101"/>
            <a:ext cx="1060050" cy="365125"/>
          </a:xfrm>
        </p:spPr>
        <p:txBody>
          <a:bodyPr/>
          <a:lstStyle/>
          <a:p>
            <a:r>
              <a:rPr lang="en-US" sz="2400"/>
              <a:t>4,000</a:t>
            </a:r>
            <a:endParaRPr lang="en-IN" sz="2400"/>
          </a:p>
        </p:txBody>
      </p:sp>
      <p:sp>
        <p:nvSpPr>
          <p:cNvPr id="11" name="Content Placeholder 10">
            <a:extLst>
              <a:ext uri="{FF2B5EF4-FFF2-40B4-BE49-F238E27FC236}">
                <a16:creationId xmlns:a16="http://schemas.microsoft.com/office/drawing/2014/main" id="{8054EB29-FCD5-479D-A106-D766E91A73AB}"/>
              </a:ext>
            </a:extLst>
          </p:cNvPr>
          <p:cNvSpPr>
            <a:spLocks noGrp="1"/>
          </p:cNvSpPr>
          <p:nvPr>
            <p:ph sz="quarter" idx="25"/>
          </p:nvPr>
        </p:nvSpPr>
        <p:spPr>
          <a:xfrm>
            <a:off x="584200" y="5038547"/>
            <a:ext cx="1747927" cy="365125"/>
          </a:xfrm>
        </p:spPr>
        <p:txBody>
          <a:bodyPr/>
          <a:lstStyle/>
          <a:p>
            <a:r>
              <a:rPr lang="en-US" sz="2400"/>
              <a:t>Equipment</a:t>
            </a:r>
            <a:endParaRPr lang="en-IN" sz="2400"/>
          </a:p>
        </p:txBody>
      </p:sp>
      <p:sp>
        <p:nvSpPr>
          <p:cNvPr id="14" name="Content Placeholder 13">
            <a:extLst>
              <a:ext uri="{FF2B5EF4-FFF2-40B4-BE49-F238E27FC236}">
                <a16:creationId xmlns:a16="http://schemas.microsoft.com/office/drawing/2014/main" id="{254B08A9-583B-4F1B-98DE-E06B1CF4BA27}"/>
              </a:ext>
            </a:extLst>
          </p:cNvPr>
          <p:cNvSpPr>
            <a:spLocks noGrp="1"/>
          </p:cNvSpPr>
          <p:nvPr>
            <p:ph sz="quarter" idx="28"/>
          </p:nvPr>
        </p:nvSpPr>
        <p:spPr>
          <a:xfrm>
            <a:off x="7806335" y="5045038"/>
            <a:ext cx="1060050" cy="365125"/>
          </a:xfrm>
        </p:spPr>
        <p:txBody>
          <a:bodyPr/>
          <a:lstStyle/>
          <a:p>
            <a:r>
              <a:rPr lang="en-US" sz="2400"/>
              <a:t>30,000</a:t>
            </a:r>
            <a:endParaRPr lang="en-IN" sz="2400"/>
          </a:p>
        </p:txBody>
      </p:sp>
      <p:sp>
        <p:nvSpPr>
          <p:cNvPr id="16" name="Content Placeholder 15">
            <a:extLst>
              <a:ext uri="{FF2B5EF4-FFF2-40B4-BE49-F238E27FC236}">
                <a16:creationId xmlns:a16="http://schemas.microsoft.com/office/drawing/2014/main" id="{1E04B097-46E5-4C97-9125-F9A0C2D46F4A}"/>
              </a:ext>
            </a:extLst>
          </p:cNvPr>
          <p:cNvSpPr>
            <a:spLocks noGrp="1"/>
          </p:cNvSpPr>
          <p:nvPr>
            <p:ph sz="quarter" idx="30"/>
          </p:nvPr>
        </p:nvSpPr>
        <p:spPr>
          <a:xfrm>
            <a:off x="815050" y="5377363"/>
            <a:ext cx="4419600" cy="365125"/>
          </a:xfrm>
        </p:spPr>
        <p:txBody>
          <a:bodyPr/>
          <a:lstStyle/>
          <a:p>
            <a:r>
              <a:rPr lang="en-IN" sz="2400" dirty="0"/>
              <a:t>(To record sale of truck at a loss)</a:t>
            </a:r>
          </a:p>
        </p:txBody>
      </p:sp>
      <p:sp>
        <p:nvSpPr>
          <p:cNvPr id="23" name="Slide Number Placeholder 22">
            <a:extLst>
              <a:ext uri="{FF2B5EF4-FFF2-40B4-BE49-F238E27FC236}">
                <a16:creationId xmlns:a16="http://schemas.microsoft.com/office/drawing/2014/main" id="{AC8A6125-2434-4EE6-B84D-7ED42144BB76}"/>
              </a:ext>
            </a:extLst>
          </p:cNvPr>
          <p:cNvSpPr>
            <a:spLocks noGrp="1"/>
          </p:cNvSpPr>
          <p:nvPr>
            <p:ph type="sldNum" sz="quarter" idx="10"/>
          </p:nvPr>
        </p:nvSpPr>
        <p:spPr/>
        <p:txBody>
          <a:bodyPr/>
          <a:lstStyle/>
          <a:p>
            <a:fld id="{67B19427-F580-D146-B60E-4CADEE75497F}" type="slidenum">
              <a:rPr lang="en-US" smtClean="0"/>
              <a:pPr/>
              <a:t>20</a:t>
            </a:fld>
            <a:endParaRPr lang="en-US" dirty="0"/>
          </a:p>
        </p:txBody>
      </p:sp>
      <p:sp>
        <p:nvSpPr>
          <p:cNvPr id="24" name="Footer Placeholder 23">
            <a:extLst>
              <a:ext uri="{FF2B5EF4-FFF2-40B4-BE49-F238E27FC236}">
                <a16:creationId xmlns:a16="http://schemas.microsoft.com/office/drawing/2014/main" id="{2E410200-29FB-4587-B7EE-C4B2B83EAE3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46719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P spid="9" grpId="0" build="p"/>
      <p:bldP spid="10" grpId="0" build="p"/>
      <p:bldP spid="13" grpId="0" build="p"/>
      <p:bldP spid="15" grpId="0" build="p"/>
      <p:bldP spid="12" grpId="0" build="p"/>
      <p:bldP spid="11" grpId="0" build="p"/>
      <p:bldP spid="14" grpId="0" build="p"/>
      <p:bldP spid="1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B0D35-ADF8-4146-8902-16A30F5AC946}"/>
              </a:ext>
            </a:extLst>
          </p:cNvPr>
          <p:cNvSpPr>
            <a:spLocks noGrp="1"/>
          </p:cNvSpPr>
          <p:nvPr>
            <p:ph type="title"/>
          </p:nvPr>
        </p:nvSpPr>
        <p:spPr>
          <a:xfrm>
            <a:off x="23191" y="447156"/>
            <a:ext cx="8686800" cy="685799"/>
          </a:xfrm>
        </p:spPr>
        <p:txBody>
          <a:bodyPr>
            <a:noAutofit/>
          </a:bodyPr>
          <a:lstStyle/>
          <a:p>
            <a:r>
              <a:rPr lang="en-US" b="1" dirty="0">
                <a:latin typeface="Calibri" panose="020F0502020204030204" pitchFamily="34" charset="0"/>
                <a:ea typeface="Source Sans Pro" charset="0"/>
                <a:cs typeface="Calibri" panose="020F0502020204030204" pitchFamily="34" charset="0"/>
              </a:rPr>
              <a:t>Exchange of Plant Assets</a:t>
            </a:r>
            <a:endParaRPr lang="en-US" dirty="0"/>
          </a:p>
        </p:txBody>
      </p:sp>
      <p:sp>
        <p:nvSpPr>
          <p:cNvPr id="3" name="Content Placeholder 2">
            <a:extLst>
              <a:ext uri="{FF2B5EF4-FFF2-40B4-BE49-F238E27FC236}">
                <a16:creationId xmlns:a16="http://schemas.microsoft.com/office/drawing/2014/main" id="{F1B56C62-0BBA-4CBE-B2A4-D0902D0F921A}"/>
              </a:ext>
            </a:extLst>
          </p:cNvPr>
          <p:cNvSpPr>
            <a:spLocks noGrp="1"/>
          </p:cNvSpPr>
          <p:nvPr>
            <p:ph sz="quarter" idx="16"/>
          </p:nvPr>
        </p:nvSpPr>
        <p:spPr>
          <a:xfrm>
            <a:off x="175590" y="1752600"/>
            <a:ext cx="8816009" cy="4603750"/>
          </a:xfrm>
        </p:spPr>
        <p:txBody>
          <a:bodyPr/>
          <a:lstStyle/>
          <a:p>
            <a:pPr marL="292608" indent="-292608">
              <a:spcBef>
                <a:spcPts val="2000"/>
              </a:spcBef>
              <a:buClr>
                <a:srgbClr val="990000"/>
              </a:buClr>
              <a:buFont typeface="Arial" panose="020B0604020202020204" pitchFamily="34" charset="0"/>
              <a:buChar char="•"/>
            </a:pPr>
            <a:r>
              <a:rPr lang="en-US" altLang="en-US" sz="2500" dirty="0"/>
              <a:t>Companies record a gain or loss on exchange of plant assets because most exchanges have </a:t>
            </a:r>
            <a:r>
              <a:rPr lang="en-US" altLang="en-US" sz="2500" b="1" dirty="0"/>
              <a:t>commercial substance</a:t>
            </a:r>
            <a:r>
              <a:rPr lang="en-US" altLang="en-US" sz="2500" dirty="0"/>
              <a:t> (even when similar assets are exchanged)</a:t>
            </a:r>
            <a:r>
              <a:rPr lang="en-US" altLang="en-US" sz="2500" b="1" dirty="0"/>
              <a:t>.</a:t>
            </a:r>
          </a:p>
          <a:p>
            <a:pPr marL="292608" indent="-292608">
              <a:spcBef>
                <a:spcPts val="2000"/>
              </a:spcBef>
              <a:buClr>
                <a:srgbClr val="990000"/>
              </a:buClr>
              <a:buFont typeface="Arial" panose="020B0604020202020204" pitchFamily="34" charset="0"/>
              <a:buChar char="•"/>
            </a:pPr>
            <a:r>
              <a:rPr lang="en-US" altLang="en-US" sz="2500" dirty="0"/>
              <a:t>Commercial substance exists </a:t>
            </a:r>
            <a:r>
              <a:rPr lang="en-US" altLang="en-US" sz="2500" b="1" dirty="0"/>
              <a:t>if future cash flows change as a result of exchange</a:t>
            </a:r>
            <a:r>
              <a:rPr lang="en-US" altLang="en-US" sz="2500" dirty="0"/>
              <a:t>.</a:t>
            </a:r>
          </a:p>
          <a:p>
            <a:pPr marL="292608" indent="-292608">
              <a:buClr>
                <a:srgbClr val="990000"/>
              </a:buClr>
              <a:buFont typeface="Arial" panose="020B0604020202020204" pitchFamily="34" charset="0"/>
              <a:buChar char="•"/>
            </a:pPr>
            <a:r>
              <a:rPr lang="en-US" altLang="en-US" sz="2500" dirty="0"/>
              <a:t>To illustrate, Ramos Co. exchanges some of its equipment for land held by Brodhead Inc. It is likely that the timing and amount of the cash flows arising from the land will differ significantly from the cash flows arising from the equipment. As a result, both Ramos and Brodhead are in different economic positions. Therefore, the exchange has commercial substance, and the companies recognize a gain or loss in the exchange. </a:t>
            </a:r>
          </a:p>
        </p:txBody>
      </p:sp>
      <p:sp>
        <p:nvSpPr>
          <p:cNvPr id="4" name="Slide Number Placeholder 3">
            <a:extLst>
              <a:ext uri="{FF2B5EF4-FFF2-40B4-BE49-F238E27FC236}">
                <a16:creationId xmlns:a16="http://schemas.microsoft.com/office/drawing/2014/main" id="{48C3B690-560C-4871-94F9-6E62E5E1E288}"/>
              </a:ext>
            </a:extLst>
          </p:cNvPr>
          <p:cNvSpPr>
            <a:spLocks noGrp="1"/>
          </p:cNvSpPr>
          <p:nvPr>
            <p:ph type="sldNum" sz="quarter" idx="10"/>
          </p:nvPr>
        </p:nvSpPr>
        <p:spPr/>
        <p:txBody>
          <a:bodyPr/>
          <a:lstStyle/>
          <a:p>
            <a:fld id="{67B19427-F580-D146-B60E-4CADEE75497F}" type="slidenum">
              <a:rPr lang="en-US" smtClean="0"/>
              <a:pPr/>
              <a:t>21</a:t>
            </a:fld>
            <a:endParaRPr lang="en-US" dirty="0"/>
          </a:p>
        </p:txBody>
      </p:sp>
      <p:sp>
        <p:nvSpPr>
          <p:cNvPr id="5" name="Footer Placeholder 4">
            <a:extLst>
              <a:ext uri="{FF2B5EF4-FFF2-40B4-BE49-F238E27FC236}">
                <a16:creationId xmlns:a16="http://schemas.microsoft.com/office/drawing/2014/main" id="{A5EC74D2-EAA6-458C-BDA8-694D6C124054}"/>
              </a:ext>
            </a:extLst>
          </p:cNvPr>
          <p:cNvSpPr>
            <a:spLocks noGrp="1"/>
          </p:cNvSpPr>
          <p:nvPr>
            <p:ph type="ftr" sz="quarter" idx="11"/>
          </p:nvPr>
        </p:nvSpPr>
        <p:spPr/>
        <p:txBody>
          <a:bodyPr/>
          <a:lstStyle/>
          <a:p>
            <a:r>
              <a:rPr lang="en-US"/>
              <a:t>Copyright ©2018 John Wiley &amp; Sons, Inc. </a:t>
            </a:r>
            <a:endParaRPr lang="en-US" dirty="0"/>
          </a:p>
        </p:txBody>
      </p:sp>
      <p:pic>
        <p:nvPicPr>
          <p:cNvPr id="6" name="Picture 5">
            <a:extLst>
              <a:ext uri="{FF2B5EF4-FFF2-40B4-BE49-F238E27FC236}">
                <a16:creationId xmlns:a16="http://schemas.microsoft.com/office/drawing/2014/main" id="{E2959E6D-00A2-4E8D-BD03-D8C104843691}"/>
              </a:ext>
            </a:extLst>
          </p:cNvPr>
          <p:cNvPicPr>
            <a:picLocks noChangeAspect="1"/>
          </p:cNvPicPr>
          <p:nvPr/>
        </p:nvPicPr>
        <p:blipFill>
          <a:blip r:embed="rId3"/>
          <a:stretch>
            <a:fillRect/>
          </a:stretch>
        </p:blipFill>
        <p:spPr>
          <a:xfrm>
            <a:off x="6148180" y="480401"/>
            <a:ext cx="2943636" cy="1305107"/>
          </a:xfrm>
          <a:prstGeom prst="rect">
            <a:avLst/>
          </a:prstGeom>
        </p:spPr>
      </p:pic>
    </p:spTree>
    <p:extLst>
      <p:ext uri="{BB962C8B-B14F-4D97-AF65-F5344CB8AC3E}">
        <p14:creationId xmlns:p14="http://schemas.microsoft.com/office/powerpoint/2010/main" val="1068073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5416A-9951-4506-9F33-2A3A88DD0DBB}"/>
              </a:ext>
            </a:extLst>
          </p:cNvPr>
          <p:cNvSpPr>
            <a:spLocks noGrp="1"/>
          </p:cNvSpPr>
          <p:nvPr>
            <p:ph type="title"/>
          </p:nvPr>
        </p:nvSpPr>
        <p:spPr>
          <a:xfrm>
            <a:off x="95253" y="540294"/>
            <a:ext cx="8534400" cy="666650"/>
          </a:xfrm>
        </p:spPr>
        <p:txBody>
          <a:bodyPr>
            <a:normAutofit/>
          </a:bodyPr>
          <a:lstStyle/>
          <a:p>
            <a:r>
              <a:rPr lang="en-US" b="1" dirty="0">
                <a:ea typeface="Source Sans Pro" charset="0"/>
              </a:rPr>
              <a:t>Exchange of Plant Assets (l</a:t>
            </a:r>
            <a:r>
              <a:rPr lang="en-US" b="1" dirty="0"/>
              <a:t>oss)</a:t>
            </a:r>
            <a:endParaRPr lang="en-IN" dirty="0"/>
          </a:p>
        </p:txBody>
      </p:sp>
      <p:sp>
        <p:nvSpPr>
          <p:cNvPr id="5" name="Content Placeholder 4">
            <a:extLst>
              <a:ext uri="{FF2B5EF4-FFF2-40B4-BE49-F238E27FC236}">
                <a16:creationId xmlns:a16="http://schemas.microsoft.com/office/drawing/2014/main" id="{33184757-0C06-428C-838C-0F11A3DE4A2D}"/>
              </a:ext>
            </a:extLst>
          </p:cNvPr>
          <p:cNvSpPr>
            <a:spLocks noGrp="1"/>
          </p:cNvSpPr>
          <p:nvPr>
            <p:ph sz="quarter" idx="18"/>
          </p:nvPr>
        </p:nvSpPr>
        <p:spPr>
          <a:xfrm>
            <a:off x="95253" y="1295400"/>
            <a:ext cx="8534400" cy="1752600"/>
          </a:xfrm>
        </p:spPr>
        <p:txBody>
          <a:bodyPr/>
          <a:lstStyle/>
          <a:p>
            <a:r>
              <a:rPr lang="en-US" sz="2000" b="1" dirty="0"/>
              <a:t>Loss Treatment: </a:t>
            </a:r>
            <a:r>
              <a:rPr lang="en-US" sz="2000" dirty="0"/>
              <a:t>To illustrate an exchange that results in a loss, assume that Roland Company exchanged a set of used trucks plus cash for a new semi-truck. The used trucks have a combined book value of $42,000 (cost $64,000 less $22,000 accumulated depreciation). Roland’s purchasing agent, experienced in the secondhand market, indicates that the used trucks have a fair value of $26,000. In addition to the trucks, Roland must pay $17,000 for the semi-truck.</a:t>
            </a:r>
            <a:endParaRPr lang="en-IN" sz="2000" dirty="0"/>
          </a:p>
        </p:txBody>
      </p:sp>
      <p:sp>
        <p:nvSpPr>
          <p:cNvPr id="23" name="Slide Number Placeholder 22">
            <a:extLst>
              <a:ext uri="{FF2B5EF4-FFF2-40B4-BE49-F238E27FC236}">
                <a16:creationId xmlns:a16="http://schemas.microsoft.com/office/drawing/2014/main" id="{AC8A6125-2434-4EE6-B84D-7ED42144BB76}"/>
              </a:ext>
            </a:extLst>
          </p:cNvPr>
          <p:cNvSpPr>
            <a:spLocks noGrp="1"/>
          </p:cNvSpPr>
          <p:nvPr>
            <p:ph type="sldNum" sz="quarter" idx="10"/>
          </p:nvPr>
        </p:nvSpPr>
        <p:spPr/>
        <p:txBody>
          <a:bodyPr/>
          <a:lstStyle/>
          <a:p>
            <a:fld id="{67B19427-F580-D146-B60E-4CADEE75497F}" type="slidenum">
              <a:rPr lang="en-US" smtClean="0"/>
              <a:pPr/>
              <a:t>22</a:t>
            </a:fld>
            <a:endParaRPr lang="en-US" dirty="0"/>
          </a:p>
        </p:txBody>
      </p:sp>
      <p:sp>
        <p:nvSpPr>
          <p:cNvPr id="24" name="Footer Placeholder 23">
            <a:extLst>
              <a:ext uri="{FF2B5EF4-FFF2-40B4-BE49-F238E27FC236}">
                <a16:creationId xmlns:a16="http://schemas.microsoft.com/office/drawing/2014/main" id="{2E410200-29FB-4587-B7EE-C4B2B83EAE34}"/>
              </a:ext>
            </a:extLst>
          </p:cNvPr>
          <p:cNvSpPr>
            <a:spLocks noGrp="1"/>
          </p:cNvSpPr>
          <p:nvPr>
            <p:ph type="ftr" sz="quarter" idx="11"/>
          </p:nvPr>
        </p:nvSpPr>
        <p:spPr/>
        <p:txBody>
          <a:bodyPr/>
          <a:lstStyle/>
          <a:p>
            <a:r>
              <a:rPr lang="en-US"/>
              <a:t>Copyright ©2018 John Wiley &amp; Sons, Inc. </a:t>
            </a:r>
            <a:endParaRPr lang="en-US" dirty="0"/>
          </a:p>
        </p:txBody>
      </p:sp>
      <p:pic>
        <p:nvPicPr>
          <p:cNvPr id="39" name="Picture 38">
            <a:extLst>
              <a:ext uri="{FF2B5EF4-FFF2-40B4-BE49-F238E27FC236}">
                <a16:creationId xmlns:a16="http://schemas.microsoft.com/office/drawing/2014/main" id="{2808C5A1-E45E-42B2-A648-AC8073950417}"/>
              </a:ext>
            </a:extLst>
          </p:cNvPr>
          <p:cNvPicPr>
            <a:picLocks noChangeAspect="1"/>
          </p:cNvPicPr>
          <p:nvPr/>
        </p:nvPicPr>
        <p:blipFill>
          <a:blip r:embed="rId2"/>
          <a:stretch>
            <a:fillRect/>
          </a:stretch>
        </p:blipFill>
        <p:spPr>
          <a:xfrm>
            <a:off x="217833" y="3047962"/>
            <a:ext cx="6335367" cy="1166075"/>
          </a:xfrm>
          <a:prstGeom prst="rect">
            <a:avLst/>
          </a:prstGeom>
        </p:spPr>
      </p:pic>
      <p:grpSp>
        <p:nvGrpSpPr>
          <p:cNvPr id="41" name="Group 40">
            <a:extLst>
              <a:ext uri="{FF2B5EF4-FFF2-40B4-BE49-F238E27FC236}">
                <a16:creationId xmlns:a16="http://schemas.microsoft.com/office/drawing/2014/main" id="{6EE87336-BB36-40D5-8172-30F511013FF5}"/>
              </a:ext>
            </a:extLst>
          </p:cNvPr>
          <p:cNvGrpSpPr/>
          <p:nvPr/>
        </p:nvGrpSpPr>
        <p:grpSpPr>
          <a:xfrm>
            <a:off x="152400" y="4419600"/>
            <a:ext cx="8534400" cy="1768143"/>
            <a:chOff x="217833" y="4695837"/>
            <a:chExt cx="8534400" cy="1768143"/>
          </a:xfrm>
        </p:grpSpPr>
        <p:sp>
          <p:nvSpPr>
            <p:cNvPr id="38" name="Content Placeholder 4">
              <a:extLst>
                <a:ext uri="{FF2B5EF4-FFF2-40B4-BE49-F238E27FC236}">
                  <a16:creationId xmlns:a16="http://schemas.microsoft.com/office/drawing/2014/main" id="{FA8E3072-ADD2-4556-913C-AC0A5EA567E6}"/>
                </a:ext>
              </a:extLst>
            </p:cNvPr>
            <p:cNvSpPr txBox="1">
              <a:spLocks/>
            </p:cNvSpPr>
            <p:nvPr/>
          </p:nvSpPr>
          <p:spPr>
            <a:xfrm>
              <a:off x="217833" y="4695837"/>
              <a:ext cx="8534400" cy="666650"/>
            </a:xfrm>
            <a:prstGeom prst="rect">
              <a:avLst/>
            </a:prstGeom>
          </p:spPr>
          <p:txBody>
            <a:bodyPr/>
            <a:lstStyle>
              <a:lvl1pPr marL="0" indent="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800" dirty="0"/>
                <a:t>Roland incurs a loss on disposal of plant assets of $16,000 on this exchange. The reason is that the book value of the used trucks is greater than the fair value of these trucks. </a:t>
              </a:r>
            </a:p>
          </p:txBody>
        </p:sp>
        <p:pic>
          <p:nvPicPr>
            <p:cNvPr id="40" name="Picture 39">
              <a:extLst>
                <a:ext uri="{FF2B5EF4-FFF2-40B4-BE49-F238E27FC236}">
                  <a16:creationId xmlns:a16="http://schemas.microsoft.com/office/drawing/2014/main" id="{7CC96310-2455-419D-A5F6-F786A2DABE94}"/>
                </a:ext>
              </a:extLst>
            </p:cNvPr>
            <p:cNvPicPr>
              <a:picLocks noChangeAspect="1"/>
            </p:cNvPicPr>
            <p:nvPr/>
          </p:nvPicPr>
          <p:blipFill>
            <a:blip r:embed="rId3"/>
            <a:stretch>
              <a:fillRect/>
            </a:stretch>
          </p:blipFill>
          <p:spPr>
            <a:xfrm>
              <a:off x="274983" y="5301768"/>
              <a:ext cx="6592220" cy="1162212"/>
            </a:xfrm>
            <a:prstGeom prst="rect">
              <a:avLst/>
            </a:prstGeom>
          </p:spPr>
        </p:pic>
      </p:grpSp>
    </p:spTree>
    <p:extLst>
      <p:ext uri="{BB962C8B-B14F-4D97-AF65-F5344CB8AC3E}">
        <p14:creationId xmlns:p14="http://schemas.microsoft.com/office/powerpoint/2010/main" val="1487305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5416A-9951-4506-9F33-2A3A88DD0DBB}"/>
              </a:ext>
            </a:extLst>
          </p:cNvPr>
          <p:cNvSpPr>
            <a:spLocks noGrp="1"/>
          </p:cNvSpPr>
          <p:nvPr>
            <p:ph type="title"/>
          </p:nvPr>
        </p:nvSpPr>
        <p:spPr>
          <a:xfrm>
            <a:off x="304800" y="534329"/>
            <a:ext cx="8534400" cy="666650"/>
          </a:xfrm>
        </p:spPr>
        <p:txBody>
          <a:bodyPr>
            <a:normAutofit/>
          </a:bodyPr>
          <a:lstStyle/>
          <a:p>
            <a:r>
              <a:rPr lang="en-US" b="1" dirty="0">
                <a:ea typeface="Source Sans Pro" charset="0"/>
              </a:rPr>
              <a:t>Exchange of Plant Assets (l</a:t>
            </a:r>
            <a:r>
              <a:rPr lang="en-US" b="1" dirty="0"/>
              <a:t>oss)</a:t>
            </a:r>
            <a:endParaRPr lang="en-IN" dirty="0"/>
          </a:p>
        </p:txBody>
      </p:sp>
      <p:sp>
        <p:nvSpPr>
          <p:cNvPr id="23" name="Slide Number Placeholder 22">
            <a:extLst>
              <a:ext uri="{FF2B5EF4-FFF2-40B4-BE49-F238E27FC236}">
                <a16:creationId xmlns:a16="http://schemas.microsoft.com/office/drawing/2014/main" id="{AC8A6125-2434-4EE6-B84D-7ED42144BB76}"/>
              </a:ext>
            </a:extLst>
          </p:cNvPr>
          <p:cNvSpPr>
            <a:spLocks noGrp="1"/>
          </p:cNvSpPr>
          <p:nvPr>
            <p:ph type="sldNum" sz="quarter" idx="10"/>
          </p:nvPr>
        </p:nvSpPr>
        <p:spPr/>
        <p:txBody>
          <a:bodyPr/>
          <a:lstStyle/>
          <a:p>
            <a:fld id="{67B19427-F580-D146-B60E-4CADEE75497F}" type="slidenum">
              <a:rPr lang="en-US" smtClean="0"/>
              <a:pPr/>
              <a:t>23</a:t>
            </a:fld>
            <a:endParaRPr lang="en-US" dirty="0"/>
          </a:p>
        </p:txBody>
      </p:sp>
      <p:sp>
        <p:nvSpPr>
          <p:cNvPr id="24" name="Footer Placeholder 23">
            <a:extLst>
              <a:ext uri="{FF2B5EF4-FFF2-40B4-BE49-F238E27FC236}">
                <a16:creationId xmlns:a16="http://schemas.microsoft.com/office/drawing/2014/main" id="{2E410200-29FB-4587-B7EE-C4B2B83EAE34}"/>
              </a:ext>
            </a:extLst>
          </p:cNvPr>
          <p:cNvSpPr>
            <a:spLocks noGrp="1"/>
          </p:cNvSpPr>
          <p:nvPr>
            <p:ph type="ftr" sz="quarter" idx="11"/>
          </p:nvPr>
        </p:nvSpPr>
        <p:spPr/>
        <p:txBody>
          <a:bodyPr/>
          <a:lstStyle/>
          <a:p>
            <a:r>
              <a:rPr lang="en-US"/>
              <a:t>Copyright ©2018 John Wiley &amp; Sons, Inc. </a:t>
            </a:r>
            <a:endParaRPr lang="en-US" dirty="0"/>
          </a:p>
        </p:txBody>
      </p:sp>
      <p:sp>
        <p:nvSpPr>
          <p:cNvPr id="6" name="Content Placeholder 5">
            <a:extLst>
              <a:ext uri="{FF2B5EF4-FFF2-40B4-BE49-F238E27FC236}">
                <a16:creationId xmlns:a16="http://schemas.microsoft.com/office/drawing/2014/main" id="{80947FEB-79EC-4630-98D3-D8994CD7BA4D}"/>
              </a:ext>
            </a:extLst>
          </p:cNvPr>
          <p:cNvSpPr>
            <a:spLocks noGrp="1"/>
          </p:cNvSpPr>
          <p:nvPr>
            <p:ph sz="quarter" idx="18"/>
          </p:nvPr>
        </p:nvSpPr>
        <p:spPr>
          <a:xfrm>
            <a:off x="183874" y="1200979"/>
            <a:ext cx="8655326" cy="2380421"/>
          </a:xfrm>
        </p:spPr>
        <p:txBody>
          <a:bodyPr/>
          <a:lstStyle/>
          <a:p>
            <a:r>
              <a:rPr lang="en-US" sz="2000" dirty="0"/>
              <a:t>In recording an exchange at a loss, four steps are required: </a:t>
            </a:r>
          </a:p>
          <a:p>
            <a:pPr marL="457200" indent="-457200">
              <a:buAutoNum type="arabicParenBoth"/>
            </a:pPr>
            <a:r>
              <a:rPr lang="en-US" sz="2000" dirty="0"/>
              <a:t>eliminate the book value of the asset given up, </a:t>
            </a:r>
          </a:p>
          <a:p>
            <a:pPr marL="457200" indent="-457200">
              <a:buAutoNum type="arabicParenBoth"/>
            </a:pPr>
            <a:r>
              <a:rPr lang="en-US" sz="2000" dirty="0"/>
              <a:t>record the cost of the asset acquired, </a:t>
            </a:r>
          </a:p>
          <a:p>
            <a:pPr marL="457200" indent="-457200">
              <a:buAutoNum type="arabicParenBoth"/>
            </a:pPr>
            <a:r>
              <a:rPr lang="en-US" sz="2000" dirty="0"/>
              <a:t>recognize the loss on disposal of plant assets, and </a:t>
            </a:r>
          </a:p>
          <a:p>
            <a:pPr marL="457200" indent="-457200">
              <a:buAutoNum type="arabicParenBoth"/>
            </a:pPr>
            <a:r>
              <a:rPr lang="en-US" sz="2000" dirty="0"/>
              <a:t>record cash paid or received. </a:t>
            </a:r>
          </a:p>
          <a:p>
            <a:r>
              <a:rPr lang="en-US" sz="2000" dirty="0"/>
              <a:t>Roland Company thus records the exchange on the </a:t>
            </a:r>
            <a:r>
              <a:rPr lang="en-US" sz="2000" b="1" dirty="0"/>
              <a:t>loss</a:t>
            </a:r>
            <a:r>
              <a:rPr lang="en-US" sz="2000" dirty="0"/>
              <a:t> as follows.</a:t>
            </a:r>
          </a:p>
        </p:txBody>
      </p:sp>
      <p:pic>
        <p:nvPicPr>
          <p:cNvPr id="7" name="Picture 6">
            <a:extLst>
              <a:ext uri="{FF2B5EF4-FFF2-40B4-BE49-F238E27FC236}">
                <a16:creationId xmlns:a16="http://schemas.microsoft.com/office/drawing/2014/main" id="{36FBF3FB-1FF6-4FB3-9C7B-2F3D809E5EE6}"/>
              </a:ext>
            </a:extLst>
          </p:cNvPr>
          <p:cNvPicPr>
            <a:picLocks noChangeAspect="1"/>
          </p:cNvPicPr>
          <p:nvPr/>
        </p:nvPicPr>
        <p:blipFill>
          <a:blip r:embed="rId3"/>
          <a:stretch>
            <a:fillRect/>
          </a:stretch>
        </p:blipFill>
        <p:spPr>
          <a:xfrm>
            <a:off x="114300" y="3891964"/>
            <a:ext cx="8724900" cy="1765057"/>
          </a:xfrm>
          <a:prstGeom prst="rect">
            <a:avLst/>
          </a:prstGeom>
        </p:spPr>
      </p:pic>
      <p:sp>
        <p:nvSpPr>
          <p:cNvPr id="8" name="Rectangle 7">
            <a:extLst>
              <a:ext uri="{FF2B5EF4-FFF2-40B4-BE49-F238E27FC236}">
                <a16:creationId xmlns:a16="http://schemas.microsoft.com/office/drawing/2014/main" id="{29D34BAA-138B-463C-8339-063BD9EC77FE}"/>
              </a:ext>
            </a:extLst>
          </p:cNvPr>
          <p:cNvSpPr/>
          <p:nvPr/>
        </p:nvSpPr>
        <p:spPr>
          <a:xfrm>
            <a:off x="3733800" y="4248050"/>
            <a:ext cx="442750" cy="369332"/>
          </a:xfrm>
          <a:prstGeom prst="rect">
            <a:avLst/>
          </a:prstGeom>
        </p:spPr>
        <p:txBody>
          <a:bodyPr wrap="square">
            <a:spAutoFit/>
          </a:bodyPr>
          <a:lstStyle/>
          <a:p>
            <a:r>
              <a:rPr lang="en-US" dirty="0">
                <a:solidFill>
                  <a:srgbClr val="FF0000"/>
                </a:solidFill>
              </a:rPr>
              <a:t>(1)</a:t>
            </a:r>
          </a:p>
        </p:txBody>
      </p:sp>
      <p:sp>
        <p:nvSpPr>
          <p:cNvPr id="12" name="Rectangle 11">
            <a:extLst>
              <a:ext uri="{FF2B5EF4-FFF2-40B4-BE49-F238E27FC236}">
                <a16:creationId xmlns:a16="http://schemas.microsoft.com/office/drawing/2014/main" id="{5AE338DF-C8D2-4A3A-BF16-E7DCDD1A0E2B}"/>
              </a:ext>
            </a:extLst>
          </p:cNvPr>
          <p:cNvSpPr/>
          <p:nvPr/>
        </p:nvSpPr>
        <p:spPr>
          <a:xfrm>
            <a:off x="1767050" y="4812268"/>
            <a:ext cx="442750" cy="369332"/>
          </a:xfrm>
          <a:prstGeom prst="rect">
            <a:avLst/>
          </a:prstGeom>
        </p:spPr>
        <p:txBody>
          <a:bodyPr wrap="square">
            <a:spAutoFit/>
          </a:bodyPr>
          <a:lstStyle/>
          <a:p>
            <a:r>
              <a:rPr lang="en-US" dirty="0">
                <a:solidFill>
                  <a:srgbClr val="FF0000"/>
                </a:solidFill>
              </a:rPr>
              <a:t>(1)</a:t>
            </a:r>
          </a:p>
        </p:txBody>
      </p:sp>
      <p:sp>
        <p:nvSpPr>
          <p:cNvPr id="14" name="Rectangle 13">
            <a:extLst>
              <a:ext uri="{FF2B5EF4-FFF2-40B4-BE49-F238E27FC236}">
                <a16:creationId xmlns:a16="http://schemas.microsoft.com/office/drawing/2014/main" id="{F47093A8-030C-420D-9E23-46285117B743}"/>
              </a:ext>
            </a:extLst>
          </p:cNvPr>
          <p:cNvSpPr/>
          <p:nvPr/>
        </p:nvSpPr>
        <p:spPr>
          <a:xfrm>
            <a:off x="1690850" y="3962400"/>
            <a:ext cx="442750" cy="369332"/>
          </a:xfrm>
          <a:prstGeom prst="rect">
            <a:avLst/>
          </a:prstGeom>
        </p:spPr>
        <p:txBody>
          <a:bodyPr wrap="square">
            <a:spAutoFit/>
          </a:bodyPr>
          <a:lstStyle/>
          <a:p>
            <a:r>
              <a:rPr lang="en-US" dirty="0">
                <a:solidFill>
                  <a:srgbClr val="FF0000"/>
                </a:solidFill>
              </a:rPr>
              <a:t>(2)</a:t>
            </a:r>
          </a:p>
        </p:txBody>
      </p:sp>
      <p:sp>
        <p:nvSpPr>
          <p:cNvPr id="15" name="Rectangle 14">
            <a:extLst>
              <a:ext uri="{FF2B5EF4-FFF2-40B4-BE49-F238E27FC236}">
                <a16:creationId xmlns:a16="http://schemas.microsoft.com/office/drawing/2014/main" id="{F81B3D93-D30D-431D-AC00-EAD357992ACA}"/>
              </a:ext>
            </a:extLst>
          </p:cNvPr>
          <p:cNvSpPr/>
          <p:nvPr/>
        </p:nvSpPr>
        <p:spPr>
          <a:xfrm>
            <a:off x="3062450" y="4495800"/>
            <a:ext cx="442750" cy="369332"/>
          </a:xfrm>
          <a:prstGeom prst="rect">
            <a:avLst/>
          </a:prstGeom>
        </p:spPr>
        <p:txBody>
          <a:bodyPr wrap="square">
            <a:spAutoFit/>
          </a:bodyPr>
          <a:lstStyle/>
          <a:p>
            <a:r>
              <a:rPr lang="en-US" dirty="0">
                <a:solidFill>
                  <a:srgbClr val="FF0000"/>
                </a:solidFill>
              </a:rPr>
              <a:t>(3)</a:t>
            </a:r>
          </a:p>
        </p:txBody>
      </p:sp>
      <p:sp>
        <p:nvSpPr>
          <p:cNvPr id="16" name="Rectangle 15">
            <a:extLst>
              <a:ext uri="{FF2B5EF4-FFF2-40B4-BE49-F238E27FC236}">
                <a16:creationId xmlns:a16="http://schemas.microsoft.com/office/drawing/2014/main" id="{FD4F61F1-AD1F-4991-9D46-1E34F713000F}"/>
              </a:ext>
            </a:extLst>
          </p:cNvPr>
          <p:cNvSpPr/>
          <p:nvPr/>
        </p:nvSpPr>
        <p:spPr>
          <a:xfrm>
            <a:off x="776450" y="5029200"/>
            <a:ext cx="442750" cy="369332"/>
          </a:xfrm>
          <a:prstGeom prst="rect">
            <a:avLst/>
          </a:prstGeom>
        </p:spPr>
        <p:txBody>
          <a:bodyPr wrap="square">
            <a:spAutoFit/>
          </a:bodyPr>
          <a:lstStyle/>
          <a:p>
            <a:r>
              <a:rPr lang="en-US" dirty="0">
                <a:solidFill>
                  <a:srgbClr val="FF0000"/>
                </a:solidFill>
              </a:rPr>
              <a:t>(4)</a:t>
            </a:r>
          </a:p>
        </p:txBody>
      </p:sp>
    </p:spTree>
    <p:extLst>
      <p:ext uri="{BB962C8B-B14F-4D97-AF65-F5344CB8AC3E}">
        <p14:creationId xmlns:p14="http://schemas.microsoft.com/office/powerpoint/2010/main" val="1337076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5416A-9951-4506-9F33-2A3A88DD0DBB}"/>
              </a:ext>
            </a:extLst>
          </p:cNvPr>
          <p:cNvSpPr>
            <a:spLocks noGrp="1"/>
          </p:cNvSpPr>
          <p:nvPr>
            <p:ph type="title"/>
          </p:nvPr>
        </p:nvSpPr>
        <p:spPr>
          <a:xfrm>
            <a:off x="95253" y="540294"/>
            <a:ext cx="8534400" cy="666650"/>
          </a:xfrm>
        </p:spPr>
        <p:txBody>
          <a:bodyPr>
            <a:normAutofit/>
          </a:bodyPr>
          <a:lstStyle/>
          <a:p>
            <a:r>
              <a:rPr lang="en-US" b="1" dirty="0">
                <a:ea typeface="Source Sans Pro" charset="0"/>
              </a:rPr>
              <a:t>Exchange of Plant Assets (gain</a:t>
            </a:r>
            <a:r>
              <a:rPr lang="en-US" b="1" dirty="0"/>
              <a:t>)</a:t>
            </a:r>
            <a:endParaRPr lang="en-IN" dirty="0"/>
          </a:p>
        </p:txBody>
      </p:sp>
      <p:sp>
        <p:nvSpPr>
          <p:cNvPr id="5" name="Content Placeholder 4">
            <a:extLst>
              <a:ext uri="{FF2B5EF4-FFF2-40B4-BE49-F238E27FC236}">
                <a16:creationId xmlns:a16="http://schemas.microsoft.com/office/drawing/2014/main" id="{33184757-0C06-428C-838C-0F11A3DE4A2D}"/>
              </a:ext>
            </a:extLst>
          </p:cNvPr>
          <p:cNvSpPr>
            <a:spLocks noGrp="1"/>
          </p:cNvSpPr>
          <p:nvPr>
            <p:ph sz="quarter" idx="18"/>
          </p:nvPr>
        </p:nvSpPr>
        <p:spPr>
          <a:xfrm>
            <a:off x="95253" y="1524000"/>
            <a:ext cx="8534400" cy="1546999"/>
          </a:xfrm>
        </p:spPr>
        <p:txBody>
          <a:bodyPr/>
          <a:lstStyle/>
          <a:p>
            <a:r>
              <a:rPr lang="en-US" sz="2000" b="1" dirty="0"/>
              <a:t>Gain Treatment</a:t>
            </a:r>
            <a:r>
              <a:rPr lang="en-US" sz="2000" dirty="0"/>
              <a:t>: To illustrate a gain situation, assume that Mark Express Delivery decides to exchange its old delivery equipment plus cash of $3,000 for new delivery equipment. The book value of the old delivery equipment is $12,000 (cost $40,000 less accumulated depreciation $28,000). The fair value of the old delivery equipment is $19,000. </a:t>
            </a:r>
          </a:p>
        </p:txBody>
      </p:sp>
      <p:sp>
        <p:nvSpPr>
          <p:cNvPr id="23" name="Slide Number Placeholder 22">
            <a:extLst>
              <a:ext uri="{FF2B5EF4-FFF2-40B4-BE49-F238E27FC236}">
                <a16:creationId xmlns:a16="http://schemas.microsoft.com/office/drawing/2014/main" id="{AC8A6125-2434-4EE6-B84D-7ED42144BB76}"/>
              </a:ext>
            </a:extLst>
          </p:cNvPr>
          <p:cNvSpPr>
            <a:spLocks noGrp="1"/>
          </p:cNvSpPr>
          <p:nvPr>
            <p:ph type="sldNum" sz="quarter" idx="10"/>
          </p:nvPr>
        </p:nvSpPr>
        <p:spPr/>
        <p:txBody>
          <a:bodyPr/>
          <a:lstStyle/>
          <a:p>
            <a:fld id="{67B19427-F580-D146-B60E-4CADEE75497F}" type="slidenum">
              <a:rPr lang="en-US" smtClean="0"/>
              <a:pPr/>
              <a:t>24</a:t>
            </a:fld>
            <a:endParaRPr lang="en-US" dirty="0"/>
          </a:p>
        </p:txBody>
      </p:sp>
      <p:sp>
        <p:nvSpPr>
          <p:cNvPr id="24" name="Footer Placeholder 23">
            <a:extLst>
              <a:ext uri="{FF2B5EF4-FFF2-40B4-BE49-F238E27FC236}">
                <a16:creationId xmlns:a16="http://schemas.microsoft.com/office/drawing/2014/main" id="{2E410200-29FB-4587-B7EE-C4B2B83EAE34}"/>
              </a:ext>
            </a:extLst>
          </p:cNvPr>
          <p:cNvSpPr>
            <a:spLocks noGrp="1"/>
          </p:cNvSpPr>
          <p:nvPr>
            <p:ph type="ftr" sz="quarter" idx="11"/>
          </p:nvPr>
        </p:nvSpPr>
        <p:spPr/>
        <p:txBody>
          <a:bodyPr/>
          <a:lstStyle/>
          <a:p>
            <a:r>
              <a:rPr lang="en-US"/>
              <a:t>Copyright ©2018 John Wiley &amp; Sons, Inc. </a:t>
            </a:r>
            <a:endParaRPr lang="en-US" dirty="0"/>
          </a:p>
        </p:txBody>
      </p:sp>
      <p:pic>
        <p:nvPicPr>
          <p:cNvPr id="3" name="Picture 2">
            <a:extLst>
              <a:ext uri="{FF2B5EF4-FFF2-40B4-BE49-F238E27FC236}">
                <a16:creationId xmlns:a16="http://schemas.microsoft.com/office/drawing/2014/main" id="{12B5E390-22A3-4A2E-9331-F075FF194D98}"/>
              </a:ext>
            </a:extLst>
          </p:cNvPr>
          <p:cNvPicPr>
            <a:picLocks noChangeAspect="1"/>
          </p:cNvPicPr>
          <p:nvPr/>
        </p:nvPicPr>
        <p:blipFill>
          <a:blip r:embed="rId2"/>
          <a:stretch>
            <a:fillRect/>
          </a:stretch>
        </p:blipFill>
        <p:spPr>
          <a:xfrm>
            <a:off x="209550" y="2999611"/>
            <a:ext cx="6218583" cy="1112888"/>
          </a:xfrm>
          <a:prstGeom prst="rect">
            <a:avLst/>
          </a:prstGeom>
        </p:spPr>
      </p:pic>
      <p:grpSp>
        <p:nvGrpSpPr>
          <p:cNvPr id="6" name="Group 5">
            <a:extLst>
              <a:ext uri="{FF2B5EF4-FFF2-40B4-BE49-F238E27FC236}">
                <a16:creationId xmlns:a16="http://schemas.microsoft.com/office/drawing/2014/main" id="{7FD44B3D-024A-4F59-B6E0-1070BE702320}"/>
              </a:ext>
            </a:extLst>
          </p:cNvPr>
          <p:cNvGrpSpPr/>
          <p:nvPr/>
        </p:nvGrpSpPr>
        <p:grpSpPr>
          <a:xfrm>
            <a:off x="152400" y="4419600"/>
            <a:ext cx="8534400" cy="1699652"/>
            <a:chOff x="152400" y="4419600"/>
            <a:chExt cx="8534400" cy="1699652"/>
          </a:xfrm>
        </p:grpSpPr>
        <p:sp>
          <p:nvSpPr>
            <p:cNvPr id="38" name="Content Placeholder 4">
              <a:extLst>
                <a:ext uri="{FF2B5EF4-FFF2-40B4-BE49-F238E27FC236}">
                  <a16:creationId xmlns:a16="http://schemas.microsoft.com/office/drawing/2014/main" id="{FA8E3072-ADD2-4556-913C-AC0A5EA567E6}"/>
                </a:ext>
              </a:extLst>
            </p:cNvPr>
            <p:cNvSpPr txBox="1">
              <a:spLocks/>
            </p:cNvSpPr>
            <p:nvPr/>
          </p:nvSpPr>
          <p:spPr>
            <a:xfrm>
              <a:off x="152400" y="4419600"/>
              <a:ext cx="8534400" cy="666650"/>
            </a:xfrm>
            <a:prstGeom prst="rect">
              <a:avLst/>
            </a:prstGeom>
          </p:spPr>
          <p:txBody>
            <a:bodyPr/>
            <a:lstStyle>
              <a:lvl1pPr marL="0" indent="0" algn="l" defTabSz="914400" rtl="0" eaLnBrk="1" latinLnBrk="0" hangingPunct="1">
                <a:lnSpc>
                  <a:spcPct val="90000"/>
                </a:lnSpc>
                <a:spcBef>
                  <a:spcPts val="1000"/>
                </a:spcBef>
                <a:buFont typeface="Arial"/>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800" dirty="0"/>
                <a:t>A gain results when the fair value of the old delivery equipment is greater than its book value. For Mark Express, there is a gain of $7,000 on disposal of plant assets</a:t>
              </a:r>
            </a:p>
          </p:txBody>
        </p:sp>
        <p:pic>
          <p:nvPicPr>
            <p:cNvPr id="4" name="Picture 3">
              <a:extLst>
                <a:ext uri="{FF2B5EF4-FFF2-40B4-BE49-F238E27FC236}">
                  <a16:creationId xmlns:a16="http://schemas.microsoft.com/office/drawing/2014/main" id="{06151024-83C8-4034-A54D-FB39A392344B}"/>
                </a:ext>
              </a:extLst>
            </p:cNvPr>
            <p:cNvPicPr>
              <a:picLocks noChangeAspect="1"/>
            </p:cNvPicPr>
            <p:nvPr/>
          </p:nvPicPr>
          <p:blipFill>
            <a:blip r:embed="rId3"/>
            <a:stretch>
              <a:fillRect/>
            </a:stretch>
          </p:blipFill>
          <p:spPr>
            <a:xfrm>
              <a:off x="152401" y="4973499"/>
              <a:ext cx="7391400" cy="1145753"/>
            </a:xfrm>
            <a:prstGeom prst="rect">
              <a:avLst/>
            </a:prstGeom>
          </p:spPr>
        </p:pic>
      </p:grpSp>
    </p:spTree>
    <p:extLst>
      <p:ext uri="{BB962C8B-B14F-4D97-AF65-F5344CB8AC3E}">
        <p14:creationId xmlns:p14="http://schemas.microsoft.com/office/powerpoint/2010/main" val="71923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695959-A37B-4D8C-98B4-4DA24898B38F}"/>
              </a:ext>
            </a:extLst>
          </p:cNvPr>
          <p:cNvPicPr>
            <a:picLocks noChangeAspect="1"/>
          </p:cNvPicPr>
          <p:nvPr/>
        </p:nvPicPr>
        <p:blipFill>
          <a:blip r:embed="rId3"/>
          <a:stretch>
            <a:fillRect/>
          </a:stretch>
        </p:blipFill>
        <p:spPr>
          <a:xfrm>
            <a:off x="190499" y="3757282"/>
            <a:ext cx="8706033" cy="2033918"/>
          </a:xfrm>
          <a:prstGeom prst="rect">
            <a:avLst/>
          </a:prstGeom>
        </p:spPr>
      </p:pic>
      <p:sp>
        <p:nvSpPr>
          <p:cNvPr id="2" name="Title 1">
            <a:extLst>
              <a:ext uri="{FF2B5EF4-FFF2-40B4-BE49-F238E27FC236}">
                <a16:creationId xmlns:a16="http://schemas.microsoft.com/office/drawing/2014/main" id="{3875416A-9951-4506-9F33-2A3A88DD0DBB}"/>
              </a:ext>
            </a:extLst>
          </p:cNvPr>
          <p:cNvSpPr>
            <a:spLocks noGrp="1"/>
          </p:cNvSpPr>
          <p:nvPr>
            <p:ph type="title"/>
          </p:nvPr>
        </p:nvSpPr>
        <p:spPr>
          <a:xfrm>
            <a:off x="304800" y="534329"/>
            <a:ext cx="8534400" cy="666650"/>
          </a:xfrm>
        </p:spPr>
        <p:txBody>
          <a:bodyPr>
            <a:normAutofit/>
          </a:bodyPr>
          <a:lstStyle/>
          <a:p>
            <a:r>
              <a:rPr lang="en-US" b="1" dirty="0">
                <a:ea typeface="Source Sans Pro" charset="0"/>
              </a:rPr>
              <a:t>Exchange of Plant Assets (gain</a:t>
            </a:r>
            <a:r>
              <a:rPr lang="en-US" b="1" dirty="0"/>
              <a:t>)</a:t>
            </a:r>
            <a:endParaRPr lang="en-IN" dirty="0"/>
          </a:p>
        </p:txBody>
      </p:sp>
      <p:sp>
        <p:nvSpPr>
          <p:cNvPr id="23" name="Slide Number Placeholder 22">
            <a:extLst>
              <a:ext uri="{FF2B5EF4-FFF2-40B4-BE49-F238E27FC236}">
                <a16:creationId xmlns:a16="http://schemas.microsoft.com/office/drawing/2014/main" id="{AC8A6125-2434-4EE6-B84D-7ED42144BB76}"/>
              </a:ext>
            </a:extLst>
          </p:cNvPr>
          <p:cNvSpPr>
            <a:spLocks noGrp="1"/>
          </p:cNvSpPr>
          <p:nvPr>
            <p:ph type="sldNum" sz="quarter" idx="10"/>
          </p:nvPr>
        </p:nvSpPr>
        <p:spPr/>
        <p:txBody>
          <a:bodyPr/>
          <a:lstStyle/>
          <a:p>
            <a:fld id="{67B19427-F580-D146-B60E-4CADEE75497F}" type="slidenum">
              <a:rPr lang="en-US" smtClean="0"/>
              <a:pPr/>
              <a:t>25</a:t>
            </a:fld>
            <a:endParaRPr lang="en-US" dirty="0"/>
          </a:p>
        </p:txBody>
      </p:sp>
      <p:sp>
        <p:nvSpPr>
          <p:cNvPr id="24" name="Footer Placeholder 23">
            <a:extLst>
              <a:ext uri="{FF2B5EF4-FFF2-40B4-BE49-F238E27FC236}">
                <a16:creationId xmlns:a16="http://schemas.microsoft.com/office/drawing/2014/main" id="{2E410200-29FB-4587-B7EE-C4B2B83EAE34}"/>
              </a:ext>
            </a:extLst>
          </p:cNvPr>
          <p:cNvSpPr>
            <a:spLocks noGrp="1"/>
          </p:cNvSpPr>
          <p:nvPr>
            <p:ph type="ftr" sz="quarter" idx="11"/>
          </p:nvPr>
        </p:nvSpPr>
        <p:spPr/>
        <p:txBody>
          <a:bodyPr/>
          <a:lstStyle/>
          <a:p>
            <a:r>
              <a:rPr lang="en-US"/>
              <a:t>Copyright ©2018 John Wiley &amp; Sons, Inc. </a:t>
            </a:r>
            <a:endParaRPr lang="en-US" dirty="0"/>
          </a:p>
        </p:txBody>
      </p:sp>
      <p:sp>
        <p:nvSpPr>
          <p:cNvPr id="6" name="Content Placeholder 5">
            <a:extLst>
              <a:ext uri="{FF2B5EF4-FFF2-40B4-BE49-F238E27FC236}">
                <a16:creationId xmlns:a16="http://schemas.microsoft.com/office/drawing/2014/main" id="{80947FEB-79EC-4630-98D3-D8994CD7BA4D}"/>
              </a:ext>
            </a:extLst>
          </p:cNvPr>
          <p:cNvSpPr>
            <a:spLocks noGrp="1"/>
          </p:cNvSpPr>
          <p:nvPr>
            <p:ph sz="quarter" idx="18"/>
          </p:nvPr>
        </p:nvSpPr>
        <p:spPr>
          <a:xfrm>
            <a:off x="183874" y="1200979"/>
            <a:ext cx="8655326" cy="2380421"/>
          </a:xfrm>
        </p:spPr>
        <p:txBody>
          <a:bodyPr/>
          <a:lstStyle/>
          <a:p>
            <a:r>
              <a:rPr lang="en-US" sz="2000" dirty="0"/>
              <a:t>In recording an exchange at a gain, four steps are required: </a:t>
            </a:r>
          </a:p>
          <a:p>
            <a:pPr marL="457200" indent="-457200">
              <a:buAutoNum type="arabicParenBoth"/>
            </a:pPr>
            <a:r>
              <a:rPr lang="en-US" sz="2000" dirty="0"/>
              <a:t>eliminate the book value of the asset given up, </a:t>
            </a:r>
          </a:p>
          <a:p>
            <a:pPr marL="457200" indent="-457200">
              <a:buAutoNum type="arabicParenBoth"/>
            </a:pPr>
            <a:r>
              <a:rPr lang="en-US" sz="2000" dirty="0"/>
              <a:t>record the cost of the asset acquired, </a:t>
            </a:r>
          </a:p>
          <a:p>
            <a:pPr marL="457200" indent="-457200">
              <a:buAutoNum type="arabicParenBoth"/>
            </a:pPr>
            <a:r>
              <a:rPr lang="en-US" sz="2000" dirty="0"/>
              <a:t>recognize the gain on disposal of plant assets, and </a:t>
            </a:r>
          </a:p>
          <a:p>
            <a:pPr marL="457200" indent="-457200">
              <a:buAutoNum type="arabicParenBoth"/>
            </a:pPr>
            <a:r>
              <a:rPr lang="en-US" sz="2000" dirty="0"/>
              <a:t>record cash paid or received. </a:t>
            </a:r>
          </a:p>
          <a:p>
            <a:r>
              <a:rPr lang="en-US" sz="2000" dirty="0"/>
              <a:t>Mark Express Delivery thus records the exchange on the </a:t>
            </a:r>
            <a:r>
              <a:rPr lang="en-US" sz="2000" b="1" dirty="0"/>
              <a:t>gain</a:t>
            </a:r>
            <a:r>
              <a:rPr lang="en-US" sz="2000" dirty="0"/>
              <a:t> as follows.</a:t>
            </a:r>
          </a:p>
        </p:txBody>
      </p:sp>
      <p:sp>
        <p:nvSpPr>
          <p:cNvPr id="8" name="Rectangle 7">
            <a:extLst>
              <a:ext uri="{FF2B5EF4-FFF2-40B4-BE49-F238E27FC236}">
                <a16:creationId xmlns:a16="http://schemas.microsoft.com/office/drawing/2014/main" id="{29D34BAA-138B-463C-8339-063BD9EC77FE}"/>
              </a:ext>
            </a:extLst>
          </p:cNvPr>
          <p:cNvSpPr/>
          <p:nvPr/>
        </p:nvSpPr>
        <p:spPr>
          <a:xfrm>
            <a:off x="4290162" y="4063384"/>
            <a:ext cx="442750" cy="369332"/>
          </a:xfrm>
          <a:prstGeom prst="rect">
            <a:avLst/>
          </a:prstGeom>
        </p:spPr>
        <p:txBody>
          <a:bodyPr wrap="none">
            <a:spAutoFit/>
          </a:bodyPr>
          <a:lstStyle/>
          <a:p>
            <a:r>
              <a:rPr lang="en-US" dirty="0">
                <a:solidFill>
                  <a:srgbClr val="FF0000"/>
                </a:solidFill>
              </a:rPr>
              <a:t>(1)</a:t>
            </a:r>
          </a:p>
        </p:txBody>
      </p:sp>
      <p:sp>
        <p:nvSpPr>
          <p:cNvPr id="12" name="Rectangle 11">
            <a:extLst>
              <a:ext uri="{FF2B5EF4-FFF2-40B4-BE49-F238E27FC236}">
                <a16:creationId xmlns:a16="http://schemas.microsoft.com/office/drawing/2014/main" id="{5AE338DF-C8D2-4A3A-BF16-E7DCDD1A0E2B}"/>
              </a:ext>
            </a:extLst>
          </p:cNvPr>
          <p:cNvSpPr/>
          <p:nvPr/>
        </p:nvSpPr>
        <p:spPr>
          <a:xfrm>
            <a:off x="1826086" y="4329000"/>
            <a:ext cx="442750" cy="369332"/>
          </a:xfrm>
          <a:prstGeom prst="rect">
            <a:avLst/>
          </a:prstGeom>
        </p:spPr>
        <p:txBody>
          <a:bodyPr wrap="square">
            <a:spAutoFit/>
          </a:bodyPr>
          <a:lstStyle/>
          <a:p>
            <a:r>
              <a:rPr lang="en-US" dirty="0">
                <a:solidFill>
                  <a:srgbClr val="FF0000"/>
                </a:solidFill>
              </a:rPr>
              <a:t>(1)</a:t>
            </a:r>
          </a:p>
        </p:txBody>
      </p:sp>
      <p:sp>
        <p:nvSpPr>
          <p:cNvPr id="14" name="Rectangle 13">
            <a:extLst>
              <a:ext uri="{FF2B5EF4-FFF2-40B4-BE49-F238E27FC236}">
                <a16:creationId xmlns:a16="http://schemas.microsoft.com/office/drawing/2014/main" id="{F47093A8-030C-420D-9E23-46285117B743}"/>
              </a:ext>
            </a:extLst>
          </p:cNvPr>
          <p:cNvSpPr/>
          <p:nvPr/>
        </p:nvSpPr>
        <p:spPr>
          <a:xfrm>
            <a:off x="1767050" y="3783786"/>
            <a:ext cx="442750" cy="369332"/>
          </a:xfrm>
          <a:prstGeom prst="rect">
            <a:avLst/>
          </a:prstGeom>
        </p:spPr>
        <p:txBody>
          <a:bodyPr wrap="square">
            <a:spAutoFit/>
          </a:bodyPr>
          <a:lstStyle/>
          <a:p>
            <a:r>
              <a:rPr lang="en-US" dirty="0">
                <a:solidFill>
                  <a:srgbClr val="FF0000"/>
                </a:solidFill>
              </a:rPr>
              <a:t>(2)</a:t>
            </a:r>
          </a:p>
        </p:txBody>
      </p:sp>
      <p:sp>
        <p:nvSpPr>
          <p:cNvPr id="15" name="Rectangle 14">
            <a:extLst>
              <a:ext uri="{FF2B5EF4-FFF2-40B4-BE49-F238E27FC236}">
                <a16:creationId xmlns:a16="http://schemas.microsoft.com/office/drawing/2014/main" id="{F81B3D93-D30D-431D-AC00-EAD357992ACA}"/>
              </a:ext>
            </a:extLst>
          </p:cNvPr>
          <p:cNvSpPr/>
          <p:nvPr/>
        </p:nvSpPr>
        <p:spPr>
          <a:xfrm>
            <a:off x="3352800" y="4659868"/>
            <a:ext cx="442750" cy="369332"/>
          </a:xfrm>
          <a:prstGeom prst="rect">
            <a:avLst/>
          </a:prstGeom>
        </p:spPr>
        <p:txBody>
          <a:bodyPr wrap="square">
            <a:spAutoFit/>
          </a:bodyPr>
          <a:lstStyle/>
          <a:p>
            <a:r>
              <a:rPr lang="en-US" dirty="0">
                <a:solidFill>
                  <a:srgbClr val="FF0000"/>
                </a:solidFill>
              </a:rPr>
              <a:t>(3)</a:t>
            </a:r>
          </a:p>
        </p:txBody>
      </p:sp>
      <p:sp>
        <p:nvSpPr>
          <p:cNvPr id="16" name="Rectangle 15">
            <a:extLst>
              <a:ext uri="{FF2B5EF4-FFF2-40B4-BE49-F238E27FC236}">
                <a16:creationId xmlns:a16="http://schemas.microsoft.com/office/drawing/2014/main" id="{FD4F61F1-AD1F-4991-9D46-1E34F713000F}"/>
              </a:ext>
            </a:extLst>
          </p:cNvPr>
          <p:cNvSpPr/>
          <p:nvPr/>
        </p:nvSpPr>
        <p:spPr>
          <a:xfrm>
            <a:off x="914400" y="4894593"/>
            <a:ext cx="442750" cy="369332"/>
          </a:xfrm>
          <a:prstGeom prst="rect">
            <a:avLst/>
          </a:prstGeom>
        </p:spPr>
        <p:txBody>
          <a:bodyPr wrap="square">
            <a:spAutoFit/>
          </a:bodyPr>
          <a:lstStyle/>
          <a:p>
            <a:r>
              <a:rPr lang="en-US" dirty="0">
                <a:solidFill>
                  <a:srgbClr val="FF0000"/>
                </a:solidFill>
              </a:rPr>
              <a:t>(4)</a:t>
            </a:r>
          </a:p>
        </p:txBody>
      </p:sp>
    </p:spTree>
    <p:extLst>
      <p:ext uri="{BB962C8B-B14F-4D97-AF65-F5344CB8AC3E}">
        <p14:creationId xmlns:p14="http://schemas.microsoft.com/office/powerpoint/2010/main" val="235384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FC090-06A6-44EC-9C34-761E1B92C109}"/>
              </a:ext>
            </a:extLst>
          </p:cNvPr>
          <p:cNvSpPr>
            <a:spLocks noGrp="1"/>
          </p:cNvSpPr>
          <p:nvPr>
            <p:ph type="title"/>
          </p:nvPr>
        </p:nvSpPr>
        <p:spPr>
          <a:xfrm>
            <a:off x="285750" y="717550"/>
            <a:ext cx="6172200" cy="1339850"/>
          </a:xfrm>
        </p:spPr>
        <p:txBody>
          <a:bodyPr>
            <a:noAutofit/>
          </a:bodyPr>
          <a:lstStyle/>
          <a:p>
            <a:r>
              <a:rPr lang="en-US" sz="3600" b="1" dirty="0"/>
              <a:t>Determining Natural Resources and Intangible Assets</a:t>
            </a:r>
          </a:p>
        </p:txBody>
      </p:sp>
      <p:sp>
        <p:nvSpPr>
          <p:cNvPr id="3" name="Content Placeholder 2">
            <a:extLst>
              <a:ext uri="{FF2B5EF4-FFF2-40B4-BE49-F238E27FC236}">
                <a16:creationId xmlns:a16="http://schemas.microsoft.com/office/drawing/2014/main" id="{4F31456D-6BFE-42D3-84E0-33CB6B661B95}"/>
              </a:ext>
            </a:extLst>
          </p:cNvPr>
          <p:cNvSpPr>
            <a:spLocks noGrp="1"/>
          </p:cNvSpPr>
          <p:nvPr>
            <p:ph sz="quarter" idx="16"/>
          </p:nvPr>
        </p:nvSpPr>
        <p:spPr>
          <a:xfrm>
            <a:off x="304800" y="2057400"/>
            <a:ext cx="8763000" cy="4191000"/>
          </a:xfrm>
        </p:spPr>
        <p:txBody>
          <a:bodyPr/>
          <a:lstStyle/>
          <a:p>
            <a:pPr marL="0" lvl="2" indent="0">
              <a:spcBef>
                <a:spcPts val="1000"/>
              </a:spcBef>
              <a:spcAft>
                <a:spcPts val="800"/>
              </a:spcAft>
              <a:buClr>
                <a:srgbClr val="990000"/>
              </a:buClr>
              <a:buSzPct val="100000"/>
              <a:buNone/>
            </a:pPr>
            <a:r>
              <a:rPr lang="en-US" altLang="en-US" sz="2800" b="1" dirty="0">
                <a:solidFill>
                  <a:schemeClr val="accent4"/>
                </a:solidFill>
                <a:latin typeface="Calibri" panose="020F0502020204030204" pitchFamily="34" charset="0"/>
              </a:rPr>
              <a:t>Natural resources</a:t>
            </a:r>
            <a:r>
              <a:rPr lang="en-US" altLang="en-US" sz="2800" b="1" dirty="0">
                <a:solidFill>
                  <a:srgbClr val="0000CC"/>
                </a:solidFill>
                <a:latin typeface="Calibri" panose="020F0502020204030204" pitchFamily="34" charset="0"/>
              </a:rPr>
              <a:t> </a:t>
            </a:r>
            <a:r>
              <a:rPr lang="en-US" altLang="en-US" sz="2800" dirty="0">
                <a:latin typeface="Calibri" panose="020F0502020204030204" pitchFamily="34" charset="0"/>
              </a:rPr>
              <a:t>consist of standing timber and underground deposits of oil, gas, and minerals.</a:t>
            </a:r>
          </a:p>
          <a:p>
            <a:pPr marL="0" lvl="2" indent="0">
              <a:spcBef>
                <a:spcPts val="1000"/>
              </a:spcBef>
              <a:buClr>
                <a:srgbClr val="990000"/>
              </a:buClr>
              <a:buSzPct val="100000"/>
              <a:buNone/>
            </a:pPr>
            <a:r>
              <a:rPr lang="en-US" altLang="en-US" sz="2800" b="1" dirty="0">
                <a:latin typeface="Calibri" panose="020F0502020204030204" pitchFamily="34" charset="0"/>
              </a:rPr>
              <a:t>Distinguishing characteristics:</a:t>
            </a:r>
            <a:endParaRPr lang="en-US" sz="2800" b="1" dirty="0">
              <a:latin typeface="Calibri" panose="020F0502020204030204" pitchFamily="34" charset="0"/>
            </a:endParaRPr>
          </a:p>
          <a:p>
            <a:pPr marL="292608" indent="-292608">
              <a:buClr>
                <a:srgbClr val="990000"/>
              </a:buClr>
              <a:buFont typeface="Arial" panose="020B0604020202020204" pitchFamily="34" charset="0"/>
              <a:buChar char="•"/>
            </a:pPr>
            <a:r>
              <a:rPr lang="en-US" altLang="en-US" dirty="0">
                <a:latin typeface="Calibri" panose="020F0502020204030204" pitchFamily="34" charset="0"/>
              </a:rPr>
              <a:t>Physically extracted in operations (such as mining, cutting, or pumping), AND</a:t>
            </a:r>
          </a:p>
          <a:p>
            <a:pPr marL="292608" indent="-292608">
              <a:buClr>
                <a:srgbClr val="990000"/>
              </a:buClr>
              <a:buFont typeface="Arial" panose="020B0604020202020204" pitchFamily="34" charset="0"/>
              <a:buChar char="•"/>
            </a:pPr>
            <a:r>
              <a:rPr lang="en-US" altLang="en-US" dirty="0">
                <a:latin typeface="Calibri" panose="020F0502020204030204" pitchFamily="34" charset="0"/>
              </a:rPr>
              <a:t>Replaceable only by an act of nature</a:t>
            </a:r>
          </a:p>
          <a:p>
            <a:pPr marL="292608" indent="-292608">
              <a:buClr>
                <a:srgbClr val="990000"/>
              </a:buClr>
              <a:buFont typeface="Arial" panose="020B0604020202020204" pitchFamily="34" charset="0"/>
              <a:buChar char="•"/>
            </a:pPr>
            <a:endParaRPr lang="en-US" altLang="en-US" dirty="0">
              <a:latin typeface="Calibri" panose="020F0502020204030204" pitchFamily="34" charset="0"/>
            </a:endParaRPr>
          </a:p>
          <a:p>
            <a:pPr>
              <a:buClr>
                <a:srgbClr val="990000"/>
              </a:buClr>
            </a:pPr>
            <a:r>
              <a:rPr lang="en-US" altLang="en-US" dirty="0">
                <a:latin typeface="Calibri" panose="020F0502020204030204" pitchFamily="34" charset="0"/>
              </a:rPr>
              <a:t>Cost is the price needed to acquire the resource and prepare it for its intended use.</a:t>
            </a:r>
          </a:p>
        </p:txBody>
      </p:sp>
      <p:sp>
        <p:nvSpPr>
          <p:cNvPr id="4" name="Slide Number Placeholder 3">
            <a:extLst>
              <a:ext uri="{FF2B5EF4-FFF2-40B4-BE49-F238E27FC236}">
                <a16:creationId xmlns:a16="http://schemas.microsoft.com/office/drawing/2014/main" id="{FFB59A08-5BE5-47B4-A0E8-F065F0F4E6D6}"/>
              </a:ext>
            </a:extLst>
          </p:cNvPr>
          <p:cNvSpPr>
            <a:spLocks noGrp="1"/>
          </p:cNvSpPr>
          <p:nvPr>
            <p:ph type="sldNum" sz="quarter" idx="10"/>
          </p:nvPr>
        </p:nvSpPr>
        <p:spPr/>
        <p:txBody>
          <a:bodyPr/>
          <a:lstStyle/>
          <a:p>
            <a:fld id="{67B19427-F580-D146-B60E-4CADEE75497F}" type="slidenum">
              <a:rPr lang="en-US" smtClean="0"/>
              <a:pPr/>
              <a:t>26</a:t>
            </a:fld>
            <a:endParaRPr lang="en-US" dirty="0"/>
          </a:p>
        </p:txBody>
      </p:sp>
      <p:sp>
        <p:nvSpPr>
          <p:cNvPr id="5" name="Footer Placeholder 4">
            <a:extLst>
              <a:ext uri="{FF2B5EF4-FFF2-40B4-BE49-F238E27FC236}">
                <a16:creationId xmlns:a16="http://schemas.microsoft.com/office/drawing/2014/main" id="{15A9A4B6-3E26-4163-A88D-E9BB96755A08}"/>
              </a:ext>
            </a:extLst>
          </p:cNvPr>
          <p:cNvSpPr>
            <a:spLocks noGrp="1"/>
          </p:cNvSpPr>
          <p:nvPr>
            <p:ph type="ftr" sz="quarter" idx="11"/>
          </p:nvPr>
        </p:nvSpPr>
        <p:spPr/>
        <p:txBody>
          <a:bodyPr/>
          <a:lstStyle/>
          <a:p>
            <a:r>
              <a:rPr lang="en-US"/>
              <a:t>Copyright ©2018 John Wiley &amp; Sons, Inc. </a:t>
            </a:r>
            <a:endParaRPr lang="en-US" dirty="0"/>
          </a:p>
        </p:txBody>
      </p:sp>
      <p:pic>
        <p:nvPicPr>
          <p:cNvPr id="12290" name="Picture 2" descr="https://lattasburglumberworks.com/wp-content/uploads/standing-timber-300x200.jpg">
            <a:extLst>
              <a:ext uri="{FF2B5EF4-FFF2-40B4-BE49-F238E27FC236}">
                <a16:creationId xmlns:a16="http://schemas.microsoft.com/office/drawing/2014/main" id="{44100841-EEA8-492F-8733-8DC85148DD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5287" y="600075"/>
            <a:ext cx="2009775" cy="133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292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0430-6597-4409-AA90-FDFB6AB37047}"/>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Depletion </a:t>
            </a:r>
            <a:r>
              <a:rPr lang="en-US" sz="2400" dirty="0">
                <a:latin typeface="Calibri" panose="020F0502020204030204" pitchFamily="34" charset="0"/>
                <a:ea typeface="Source Sans Pro" charset="0"/>
                <a:cs typeface="Calibri" panose="020F0502020204030204" pitchFamily="34" charset="0"/>
              </a:rPr>
              <a:t>(1 of 3)</a:t>
            </a:r>
            <a:endParaRPr lang="en-US" dirty="0"/>
          </a:p>
        </p:txBody>
      </p:sp>
      <p:sp>
        <p:nvSpPr>
          <p:cNvPr id="3" name="Content Placeholder 2">
            <a:extLst>
              <a:ext uri="{FF2B5EF4-FFF2-40B4-BE49-F238E27FC236}">
                <a16:creationId xmlns:a16="http://schemas.microsoft.com/office/drawing/2014/main" id="{E256EDED-09E5-4DF2-A7CE-F67AE59B587B}"/>
              </a:ext>
            </a:extLst>
          </p:cNvPr>
          <p:cNvSpPr>
            <a:spLocks noGrp="1"/>
          </p:cNvSpPr>
          <p:nvPr>
            <p:ph sz="quarter" idx="16"/>
          </p:nvPr>
        </p:nvSpPr>
        <p:spPr>
          <a:xfrm>
            <a:off x="304800" y="1828800"/>
            <a:ext cx="8534400" cy="3124200"/>
          </a:xfrm>
        </p:spPr>
        <p:txBody>
          <a:bodyPr/>
          <a:lstStyle/>
          <a:p>
            <a:pPr marL="0" lvl="2" indent="0">
              <a:spcBef>
                <a:spcPts val="1000"/>
              </a:spcBef>
              <a:buClr>
                <a:srgbClr val="990000"/>
              </a:buClr>
              <a:buSzPct val="100000"/>
              <a:buNone/>
            </a:pPr>
            <a:r>
              <a:rPr lang="en-US" sz="2800" dirty="0"/>
              <a:t>The allocation of the cost </a:t>
            </a:r>
            <a:r>
              <a:rPr lang="en-IN" sz="2800" dirty="0"/>
              <a:t>of natural resources </a:t>
            </a:r>
            <a:r>
              <a:rPr lang="en-US" sz="2800" dirty="0"/>
              <a:t>to expense in a rational and systematic manner over the resource’s useful life is called </a:t>
            </a:r>
            <a:r>
              <a:rPr lang="en-US" sz="2800" b="1" dirty="0"/>
              <a:t>depletion</a:t>
            </a:r>
            <a:r>
              <a:rPr lang="en-US" sz="2800" dirty="0"/>
              <a:t>.</a:t>
            </a:r>
          </a:p>
          <a:p>
            <a:pPr marL="292608" indent="-292608">
              <a:buClr>
                <a:srgbClr val="990000"/>
              </a:buClr>
              <a:buFont typeface="Arial" panose="020B0604020202020204" pitchFamily="34" charset="0"/>
              <a:buChar char="•"/>
            </a:pPr>
            <a:r>
              <a:rPr lang="en-US" dirty="0"/>
              <a:t>Companies generally use </a:t>
            </a:r>
            <a:r>
              <a:rPr lang="en-US" b="1" dirty="0"/>
              <a:t>units-of-activity </a:t>
            </a:r>
            <a:r>
              <a:rPr lang="en-US" dirty="0"/>
              <a:t>method to compute depletion</a:t>
            </a:r>
          </a:p>
          <a:p>
            <a:pPr marL="292608" indent="-292608">
              <a:buClr>
                <a:srgbClr val="990000"/>
              </a:buClr>
              <a:buFont typeface="Arial" panose="020B0604020202020204" pitchFamily="34" charset="0"/>
              <a:buChar char="•"/>
            </a:pPr>
            <a:r>
              <a:rPr lang="en-US" dirty="0"/>
              <a:t>The reason is that depletion generally is a function of the </a:t>
            </a:r>
            <a:r>
              <a:rPr lang="en-US" b="1" dirty="0"/>
              <a:t>units extracted</a:t>
            </a:r>
            <a:endParaRPr lang="en-US" dirty="0"/>
          </a:p>
        </p:txBody>
      </p:sp>
      <p:graphicFrame>
        <p:nvGraphicFramePr>
          <p:cNvPr id="20" name="Content Placeholder 19" descr="A formula reads, total cost minus salvage value over total estimated units available = depletion cost per unit. &#10;">
            <a:extLst>
              <a:ext uri="{FF2B5EF4-FFF2-40B4-BE49-F238E27FC236}">
                <a16:creationId xmlns:a16="http://schemas.microsoft.com/office/drawing/2014/main" id="{E223DCF8-B4C1-405F-BA5C-D6F9DFEE78C0}"/>
              </a:ext>
            </a:extLst>
          </p:cNvPr>
          <p:cNvGraphicFramePr>
            <a:graphicFrameLocks noGrp="1" noChangeAspect="1"/>
          </p:cNvGraphicFramePr>
          <p:nvPr>
            <p:ph sz="quarter" idx="18"/>
            <p:extLst>
              <p:ext uri="{D42A27DB-BD31-4B8C-83A1-F6EECF244321}">
                <p14:modId xmlns:p14="http://schemas.microsoft.com/office/powerpoint/2010/main" val="550286316"/>
              </p:ext>
            </p:extLst>
          </p:nvPr>
        </p:nvGraphicFramePr>
        <p:xfrm>
          <a:off x="838200" y="5198058"/>
          <a:ext cx="6985886" cy="669342"/>
        </p:xfrm>
        <a:graphic>
          <a:graphicData uri="http://schemas.openxmlformats.org/presentationml/2006/ole">
            <mc:AlternateContent xmlns:mc="http://schemas.openxmlformats.org/markup-compatibility/2006">
              <mc:Choice xmlns:v="urn:schemas-microsoft-com:vml" Requires="v">
                <p:oleObj spid="_x0000_s8557" name="Equation" r:id="rId3" imgW="8076960" imgH="774360" progId="Equation.DSMT4">
                  <p:embed/>
                </p:oleObj>
              </mc:Choice>
              <mc:Fallback>
                <p:oleObj name="Equation" r:id="rId3" imgW="8076960" imgH="774360" progId="Equation.DSMT4">
                  <p:embed/>
                  <p:pic>
                    <p:nvPicPr>
                      <p:cNvPr id="20" name="Content Placeholder 19" descr="Image description is in table cell">
                        <a:extLst>
                          <a:ext uri="{FF2B5EF4-FFF2-40B4-BE49-F238E27FC236}">
                            <a16:creationId xmlns:a16="http://schemas.microsoft.com/office/drawing/2014/main" id="{E223DCF8-B4C1-405F-BA5C-D6F9DFEE78C0}"/>
                          </a:ext>
                        </a:extLst>
                      </p:cNvPr>
                      <p:cNvPicPr/>
                      <p:nvPr/>
                    </p:nvPicPr>
                    <p:blipFill>
                      <a:blip r:embed="rId4"/>
                      <a:stretch>
                        <a:fillRect/>
                      </a:stretch>
                    </p:blipFill>
                    <p:spPr>
                      <a:xfrm>
                        <a:off x="838200" y="5198058"/>
                        <a:ext cx="6985886" cy="669342"/>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1B7DEC89-A2BE-48D4-98DB-97CCD5B6A157}"/>
              </a:ext>
            </a:extLst>
          </p:cNvPr>
          <p:cNvSpPr>
            <a:spLocks noGrp="1"/>
          </p:cNvSpPr>
          <p:nvPr>
            <p:ph type="sldNum" sz="quarter" idx="10"/>
          </p:nvPr>
        </p:nvSpPr>
        <p:spPr/>
        <p:txBody>
          <a:bodyPr/>
          <a:lstStyle/>
          <a:p>
            <a:fld id="{67B19427-F580-D146-B60E-4CADEE75497F}" type="slidenum">
              <a:rPr lang="en-US" smtClean="0"/>
              <a:pPr/>
              <a:t>27</a:t>
            </a:fld>
            <a:endParaRPr lang="en-US" dirty="0"/>
          </a:p>
        </p:txBody>
      </p:sp>
      <p:sp>
        <p:nvSpPr>
          <p:cNvPr id="7" name="Footer Placeholder 6">
            <a:extLst>
              <a:ext uri="{FF2B5EF4-FFF2-40B4-BE49-F238E27FC236}">
                <a16:creationId xmlns:a16="http://schemas.microsoft.com/office/drawing/2014/main" id="{BA817180-F0C7-428F-9498-1B7520719950}"/>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29208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1348F-6ECB-467A-A7E6-48F23BFD284A}"/>
              </a:ext>
            </a:extLst>
          </p:cNvPr>
          <p:cNvSpPr>
            <a:spLocks noGrp="1"/>
          </p:cNvSpPr>
          <p:nvPr>
            <p:ph type="title"/>
          </p:nvPr>
        </p:nvSpPr>
        <p:spPr>
          <a:xfrm>
            <a:off x="0" y="457201"/>
            <a:ext cx="8534400" cy="533399"/>
          </a:xfrm>
        </p:spPr>
        <p:txBody>
          <a:bodyPr>
            <a:noAutofit/>
          </a:bodyPr>
          <a:lstStyle/>
          <a:p>
            <a:r>
              <a:rPr lang="en-US" sz="3200" b="1" dirty="0">
                <a:latin typeface="Calibri" panose="020F0502020204030204" pitchFamily="34" charset="0"/>
                <a:ea typeface="Source Sans Pro" charset="0"/>
                <a:cs typeface="Calibri" panose="020F0502020204030204" pitchFamily="34" charset="0"/>
              </a:rPr>
              <a:t>Depletion </a:t>
            </a:r>
            <a:r>
              <a:rPr lang="en-US" sz="2000" dirty="0">
                <a:latin typeface="Calibri" panose="020F0502020204030204" pitchFamily="34" charset="0"/>
                <a:ea typeface="Source Sans Pro" charset="0"/>
                <a:cs typeface="Calibri" panose="020F0502020204030204" pitchFamily="34" charset="0"/>
              </a:rPr>
              <a:t>(2 of 3)</a:t>
            </a:r>
            <a:endParaRPr lang="en-US" sz="3200" dirty="0"/>
          </a:p>
        </p:txBody>
      </p:sp>
      <p:sp>
        <p:nvSpPr>
          <p:cNvPr id="3" name="Content Placeholder 2">
            <a:extLst>
              <a:ext uri="{FF2B5EF4-FFF2-40B4-BE49-F238E27FC236}">
                <a16:creationId xmlns:a16="http://schemas.microsoft.com/office/drawing/2014/main" id="{032F244E-8799-43E9-8C66-FF9CF1ED369A}"/>
              </a:ext>
            </a:extLst>
          </p:cNvPr>
          <p:cNvSpPr>
            <a:spLocks noGrp="1"/>
          </p:cNvSpPr>
          <p:nvPr>
            <p:ph sz="quarter" idx="16"/>
          </p:nvPr>
        </p:nvSpPr>
        <p:spPr>
          <a:xfrm>
            <a:off x="76200" y="914400"/>
            <a:ext cx="8839200" cy="914399"/>
          </a:xfrm>
        </p:spPr>
        <p:txBody>
          <a:bodyPr/>
          <a:lstStyle/>
          <a:p>
            <a:pPr marL="0" lvl="2" indent="0">
              <a:spcBef>
                <a:spcPts val="1000"/>
              </a:spcBef>
              <a:buClr>
                <a:srgbClr val="990000"/>
              </a:buClr>
              <a:buSzPct val="100000"/>
              <a:buNone/>
            </a:pPr>
            <a:r>
              <a:rPr lang="en-US" altLang="en-US" b="1" dirty="0"/>
              <a:t>Illustration: </a:t>
            </a:r>
            <a:r>
              <a:rPr lang="en-US" altLang="en-US" dirty="0">
                <a:latin typeface="Calibri" panose="020F0502020204030204" pitchFamily="34" charset="0"/>
              </a:rPr>
              <a:t>Lane Coal Company invests $5 million in a mine estimated to have 1 million tons of coal and no salvage value. In the first year, Lane extracts and sells 250,000 tons of coal. Lane computes the depletion as follows. </a:t>
            </a:r>
            <a:endParaRPr lang="en-US" altLang="en-US" b="1" dirty="0">
              <a:latin typeface="Calibri" panose="020F0502020204030204" pitchFamily="34" charset="0"/>
            </a:endParaRPr>
          </a:p>
        </p:txBody>
      </p:sp>
      <p:graphicFrame>
        <p:nvGraphicFramePr>
          <p:cNvPr id="8" name="Content Placeholder 7" descr="Table is accessible to screenreaders">
            <a:extLst>
              <a:ext uri="{FF2B5EF4-FFF2-40B4-BE49-F238E27FC236}">
                <a16:creationId xmlns:a16="http://schemas.microsoft.com/office/drawing/2014/main" id="{291A86E4-243F-44A0-8165-37963846C9C3}"/>
              </a:ext>
            </a:extLst>
          </p:cNvPr>
          <p:cNvGraphicFramePr>
            <a:graphicFrameLocks noGrp="1"/>
          </p:cNvGraphicFramePr>
          <p:nvPr>
            <p:ph sz="quarter" idx="17"/>
            <p:extLst>
              <p:ext uri="{D42A27DB-BD31-4B8C-83A1-F6EECF244321}">
                <p14:modId xmlns:p14="http://schemas.microsoft.com/office/powerpoint/2010/main" val="1611737857"/>
              </p:ext>
            </p:extLst>
          </p:nvPr>
        </p:nvGraphicFramePr>
        <p:xfrm>
          <a:off x="114301" y="1847641"/>
          <a:ext cx="8801099" cy="2133600"/>
        </p:xfrm>
        <a:graphic>
          <a:graphicData uri="http://schemas.openxmlformats.org/drawingml/2006/table">
            <a:tbl>
              <a:tblPr firstRow="1" bandRow="1">
                <a:tableStyleId>{5C22544A-7EE6-4342-B048-85BDC9FD1C3A}</a:tableStyleId>
              </a:tblPr>
              <a:tblGrid>
                <a:gridCol w="4746195">
                  <a:extLst>
                    <a:ext uri="{9D8B030D-6E8A-4147-A177-3AD203B41FA5}">
                      <a16:colId xmlns:a16="http://schemas.microsoft.com/office/drawing/2014/main" val="1388771804"/>
                    </a:ext>
                  </a:extLst>
                </a:gridCol>
                <a:gridCol w="833072">
                  <a:extLst>
                    <a:ext uri="{9D8B030D-6E8A-4147-A177-3AD203B41FA5}">
                      <a16:colId xmlns:a16="http://schemas.microsoft.com/office/drawing/2014/main" val="1329694276"/>
                    </a:ext>
                  </a:extLst>
                </a:gridCol>
                <a:gridCol w="3221832">
                  <a:extLst>
                    <a:ext uri="{9D8B030D-6E8A-4147-A177-3AD203B41FA5}">
                      <a16:colId xmlns:a16="http://schemas.microsoft.com/office/drawing/2014/main" val="2978531654"/>
                    </a:ext>
                  </a:extLst>
                </a:gridCol>
              </a:tblGrid>
              <a:tr h="1066800">
                <a:tc>
                  <a:txBody>
                    <a:bodyPr/>
                    <a:lstStyle/>
                    <a:p>
                      <a:endParaRPr lang="en-US" sz="100" dirty="0">
                        <a:solidFill>
                          <a:schemeClr val="bg1"/>
                        </a:solidFill>
                      </a:endParaRPr>
                    </a:p>
                  </a:txBody>
                  <a:tcPr marL="94827" marR="9482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2600" b="0" i="0" u="none" strike="noStrike" dirty="0">
                          <a:solidFill>
                            <a:srgbClr val="000000"/>
                          </a:solidFill>
                          <a:effectLst/>
                          <a:latin typeface="Calibri" panose="020F0502020204030204" pitchFamily="34" charset="0"/>
                        </a:rPr>
                        <a:t>=</a:t>
                      </a:r>
                    </a:p>
                  </a:txBody>
                  <a:tcPr marL="4233" marR="4233"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2600" b="1" u="none" strike="noStrike" dirty="0">
                          <a:solidFill>
                            <a:srgbClr val="990000"/>
                          </a:solidFill>
                          <a:effectLst/>
                        </a:rPr>
                        <a:t>Depletion Cost </a:t>
                      </a:r>
                    </a:p>
                    <a:p>
                      <a:pPr algn="ctr" fontAlgn="b"/>
                      <a:r>
                        <a:rPr lang="en-US" sz="2600" b="1" u="none" strike="noStrike" dirty="0">
                          <a:solidFill>
                            <a:srgbClr val="990000"/>
                          </a:solidFill>
                          <a:effectLst/>
                        </a:rPr>
                        <a:t>per Unit</a:t>
                      </a:r>
                      <a:endParaRPr lang="en-US" sz="2600" b="1" i="0" u="none" strike="noStrike" dirty="0">
                        <a:solidFill>
                          <a:srgbClr val="990000"/>
                        </a:solidFill>
                        <a:effectLst/>
                        <a:latin typeface="Calibri" panose="020F0502020204030204" pitchFamily="34" charset="0"/>
                      </a:endParaRPr>
                    </a:p>
                  </a:txBody>
                  <a:tcPr marL="4233" marR="4233" marT="27432" marB="27432"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9187415"/>
                  </a:ext>
                </a:extLst>
              </a:tr>
              <a:tr h="1066800">
                <a:tc>
                  <a:txBody>
                    <a:bodyPr/>
                    <a:lstStyle/>
                    <a:p>
                      <a:r>
                        <a:rPr lang="en-US" sz="100" dirty="0">
                          <a:solidFill>
                            <a:schemeClr val="tx1"/>
                          </a:solidFill>
                        </a:rPr>
                        <a:t>.</a:t>
                      </a:r>
                    </a:p>
                  </a:txBody>
                  <a:tcPr marL="94827" marR="94827">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2600" b="0" i="0" u="none" strike="noStrike" dirty="0">
                          <a:solidFill>
                            <a:srgbClr val="000000"/>
                          </a:solidFill>
                          <a:effectLst/>
                          <a:latin typeface="Calibri" panose="020F0502020204030204" pitchFamily="34" charset="0"/>
                        </a:rPr>
                        <a:t>=</a:t>
                      </a:r>
                    </a:p>
                  </a:txBody>
                  <a:tcPr marL="4233" marR="4233"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b"/>
                      <a:r>
                        <a:rPr lang="en-US" sz="2600" b="1" i="0" u="none" strike="noStrike" dirty="0">
                          <a:solidFill>
                            <a:srgbClr val="990000"/>
                          </a:solidFill>
                          <a:effectLst/>
                          <a:latin typeface="Calibri" panose="020F0502020204030204" pitchFamily="34" charset="0"/>
                        </a:rPr>
                        <a:t>$5.00 per ton</a:t>
                      </a:r>
                    </a:p>
                  </a:txBody>
                  <a:tcPr marL="4233" marR="4233" marT="27432" marB="27432"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530338"/>
                  </a:ext>
                </a:extLst>
              </a:tr>
            </a:tbl>
          </a:graphicData>
        </a:graphic>
      </p:graphicFrame>
      <p:graphicFrame>
        <p:nvGraphicFramePr>
          <p:cNvPr id="10" name="Content Placeholder 9" descr="Total cost minus Salvage Value divided by Total Estimated units Available">
            <a:extLst>
              <a:ext uri="{FF2B5EF4-FFF2-40B4-BE49-F238E27FC236}">
                <a16:creationId xmlns:a16="http://schemas.microsoft.com/office/drawing/2014/main" id="{963B56B8-4B7F-40B0-AA77-483D7E8C81D2}"/>
              </a:ext>
            </a:extLst>
          </p:cNvPr>
          <p:cNvGraphicFramePr>
            <a:graphicFrameLocks noGrp="1" noChangeAspect="1"/>
          </p:cNvGraphicFramePr>
          <p:nvPr>
            <p:ph sz="quarter" idx="18"/>
            <p:extLst>
              <p:ext uri="{D42A27DB-BD31-4B8C-83A1-F6EECF244321}">
                <p14:modId xmlns:p14="http://schemas.microsoft.com/office/powerpoint/2010/main" val="606627034"/>
              </p:ext>
            </p:extLst>
          </p:nvPr>
        </p:nvGraphicFramePr>
        <p:xfrm>
          <a:off x="954088" y="2022266"/>
          <a:ext cx="3998912" cy="723900"/>
        </p:xfrm>
        <a:graphic>
          <a:graphicData uri="http://schemas.openxmlformats.org/presentationml/2006/ole">
            <mc:AlternateContent xmlns:mc="http://schemas.openxmlformats.org/markup-compatibility/2006">
              <mc:Choice xmlns:v="urn:schemas-microsoft-com:vml" Requires="v">
                <p:oleObj spid="_x0000_s9946" name="Equation" r:id="rId4" imgW="4279680" imgH="774360" progId="Equation.DSMT4">
                  <p:embed/>
                </p:oleObj>
              </mc:Choice>
              <mc:Fallback>
                <p:oleObj name="Equation" r:id="rId4" imgW="4279680" imgH="774360" progId="Equation.DSMT4">
                  <p:embed/>
                  <p:pic>
                    <p:nvPicPr>
                      <p:cNvPr id="10" name="Content Placeholder 9" descr="Image description is in table cell">
                        <a:extLst>
                          <a:ext uri="{FF2B5EF4-FFF2-40B4-BE49-F238E27FC236}">
                            <a16:creationId xmlns:a16="http://schemas.microsoft.com/office/drawing/2014/main" id="{963B56B8-4B7F-40B0-AA77-483D7E8C81D2}"/>
                          </a:ext>
                        </a:extLst>
                      </p:cNvPr>
                      <p:cNvPicPr/>
                      <p:nvPr/>
                    </p:nvPicPr>
                    <p:blipFill>
                      <a:blip r:embed="rId5"/>
                      <a:stretch>
                        <a:fillRect/>
                      </a:stretch>
                    </p:blipFill>
                    <p:spPr>
                      <a:xfrm>
                        <a:off x="954088" y="2022266"/>
                        <a:ext cx="3998912" cy="723900"/>
                      </a:xfrm>
                      <a:prstGeom prst="rect">
                        <a:avLst/>
                      </a:prstGeom>
                    </p:spPr>
                  </p:pic>
                </p:oleObj>
              </mc:Fallback>
            </mc:AlternateContent>
          </a:graphicData>
        </a:graphic>
      </p:graphicFrame>
      <p:graphicFrame>
        <p:nvGraphicFramePr>
          <p:cNvPr id="14" name="Content Placeholder 13" descr="$5,000,000 divided by 1,000,000">
            <a:extLst>
              <a:ext uri="{FF2B5EF4-FFF2-40B4-BE49-F238E27FC236}">
                <a16:creationId xmlns:a16="http://schemas.microsoft.com/office/drawing/2014/main" id="{305A11AB-AB90-44F5-861E-D3CD2D97D736}"/>
              </a:ext>
            </a:extLst>
          </p:cNvPr>
          <p:cNvGraphicFramePr>
            <a:graphicFrameLocks noGrp="1" noChangeAspect="1"/>
          </p:cNvGraphicFramePr>
          <p:nvPr>
            <p:ph sz="quarter" idx="19"/>
            <p:extLst>
              <p:ext uri="{D42A27DB-BD31-4B8C-83A1-F6EECF244321}">
                <p14:modId xmlns:p14="http://schemas.microsoft.com/office/powerpoint/2010/main" val="2441853135"/>
              </p:ext>
            </p:extLst>
          </p:nvPr>
        </p:nvGraphicFramePr>
        <p:xfrm>
          <a:off x="2292350" y="3001754"/>
          <a:ext cx="1493838" cy="741362"/>
        </p:xfrm>
        <a:graphic>
          <a:graphicData uri="http://schemas.openxmlformats.org/presentationml/2006/ole">
            <mc:AlternateContent xmlns:mc="http://schemas.openxmlformats.org/markup-compatibility/2006">
              <mc:Choice xmlns:v="urn:schemas-microsoft-com:vml" Requires="v">
                <p:oleObj spid="_x0000_s9947" name="Equation" r:id="rId6" imgW="1638000" imgH="812520" progId="Equation.DSMT4">
                  <p:embed/>
                </p:oleObj>
              </mc:Choice>
              <mc:Fallback>
                <p:oleObj name="Equation" r:id="rId6" imgW="1638000" imgH="812520" progId="Equation.DSMT4">
                  <p:embed/>
                  <p:pic>
                    <p:nvPicPr>
                      <p:cNvPr id="14" name="Content Placeholder 13" descr="Image description is in table cell">
                        <a:extLst>
                          <a:ext uri="{FF2B5EF4-FFF2-40B4-BE49-F238E27FC236}">
                            <a16:creationId xmlns:a16="http://schemas.microsoft.com/office/drawing/2014/main" id="{305A11AB-AB90-44F5-861E-D3CD2D97D736}"/>
                          </a:ext>
                        </a:extLst>
                      </p:cNvPr>
                      <p:cNvPicPr/>
                      <p:nvPr/>
                    </p:nvPicPr>
                    <p:blipFill>
                      <a:blip r:embed="rId7"/>
                      <a:stretch>
                        <a:fillRect/>
                      </a:stretch>
                    </p:blipFill>
                    <p:spPr>
                      <a:xfrm>
                        <a:off x="2292350" y="3001754"/>
                        <a:ext cx="1493838" cy="741362"/>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D4F33E1F-1ACA-4FE8-A785-F6044CD9C436}"/>
              </a:ext>
            </a:extLst>
          </p:cNvPr>
          <p:cNvSpPr>
            <a:spLocks noGrp="1"/>
          </p:cNvSpPr>
          <p:nvPr>
            <p:ph type="sldNum" sz="quarter" idx="10"/>
          </p:nvPr>
        </p:nvSpPr>
        <p:spPr/>
        <p:txBody>
          <a:bodyPr/>
          <a:lstStyle/>
          <a:p>
            <a:fld id="{67B19427-F580-D146-B60E-4CADEE75497F}" type="slidenum">
              <a:rPr lang="en-US" smtClean="0"/>
              <a:pPr/>
              <a:t>28</a:t>
            </a:fld>
            <a:endParaRPr lang="en-US" dirty="0"/>
          </a:p>
        </p:txBody>
      </p:sp>
      <p:sp>
        <p:nvSpPr>
          <p:cNvPr id="7" name="Footer Placeholder 6">
            <a:extLst>
              <a:ext uri="{FF2B5EF4-FFF2-40B4-BE49-F238E27FC236}">
                <a16:creationId xmlns:a16="http://schemas.microsoft.com/office/drawing/2014/main" id="{D83735CD-685B-4B8D-8ACD-7259F940C286}"/>
              </a:ext>
            </a:extLst>
          </p:cNvPr>
          <p:cNvSpPr>
            <a:spLocks noGrp="1"/>
          </p:cNvSpPr>
          <p:nvPr>
            <p:ph type="ftr" sz="quarter" idx="11"/>
          </p:nvPr>
        </p:nvSpPr>
        <p:spPr/>
        <p:txBody>
          <a:bodyPr/>
          <a:lstStyle/>
          <a:p>
            <a:r>
              <a:rPr lang="en-US" dirty="0"/>
              <a:t>Copyright ©2018 John Wiley &amp; Sons, Inc. </a:t>
            </a:r>
          </a:p>
        </p:txBody>
      </p:sp>
      <p:sp>
        <p:nvSpPr>
          <p:cNvPr id="11" name="Content Placeholder 2">
            <a:extLst>
              <a:ext uri="{FF2B5EF4-FFF2-40B4-BE49-F238E27FC236}">
                <a16:creationId xmlns:a16="http://schemas.microsoft.com/office/drawing/2014/main" id="{977BB6BD-63A9-4DDC-9366-041F8B010C87}"/>
              </a:ext>
            </a:extLst>
          </p:cNvPr>
          <p:cNvSpPr txBox="1">
            <a:spLocks/>
          </p:cNvSpPr>
          <p:nvPr/>
        </p:nvSpPr>
        <p:spPr>
          <a:xfrm>
            <a:off x="152400" y="4114800"/>
            <a:ext cx="8305800" cy="914399"/>
          </a:xfrm>
          <a:prstGeom prst="rect">
            <a:avLst/>
          </a:prstGeom>
        </p:spPr>
        <p:txBody>
          <a:bodyPr/>
          <a:lstStyle>
            <a:lvl1pPr marL="0" indent="0" algn="l" defTabSz="914400" rtl="0" eaLnBrk="1" latinLnBrk="0" hangingPunct="1">
              <a:lnSpc>
                <a:spcPct val="90000"/>
              </a:lnSpc>
              <a:spcBef>
                <a:spcPts val="1000"/>
              </a:spcBef>
              <a:buFont typeface="Arial"/>
              <a:buNone/>
              <a:defRPr sz="2800" b="0" i="0" kern="1200">
                <a:solidFill>
                  <a:schemeClr val="tx1"/>
                </a:solidFill>
                <a:latin typeface="Calibri" charset="0"/>
                <a:ea typeface="Calibri" charset="0"/>
                <a:cs typeface="Calibri"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457200"/>
            <a:r>
              <a:rPr lang="en-US" altLang="en-US" sz="2000" b="1" dirty="0">
                <a:solidFill>
                  <a:schemeClr val="accent1"/>
                </a:solidFill>
                <a:latin typeface="Calibri" panose="020F0502020204030204" pitchFamily="34" charset="0"/>
              </a:rPr>
              <a:t>Step 2:</a:t>
            </a:r>
            <a:r>
              <a:rPr lang="en-US" altLang="en-US" sz="2000" b="1" dirty="0">
                <a:latin typeface="Calibri" panose="020F0502020204030204" pitchFamily="34" charset="0"/>
              </a:rPr>
              <a:t> </a:t>
            </a:r>
            <a:r>
              <a:rPr lang="en-US" altLang="en-US" sz="2000" dirty="0">
                <a:latin typeface="Calibri" panose="020F0502020204030204" pitchFamily="34" charset="0"/>
              </a:rPr>
              <a:t>$5.00 × 250,000 = $1,250,000 annual depletion</a:t>
            </a:r>
          </a:p>
          <a:p>
            <a:pPr>
              <a:spcBef>
                <a:spcPts val="2000"/>
              </a:spcBef>
            </a:pPr>
            <a:r>
              <a:rPr lang="en-US" altLang="en-US" sz="2000" b="1" dirty="0">
                <a:latin typeface="Calibri" panose="020F0502020204030204" pitchFamily="34" charset="0"/>
              </a:rPr>
              <a:t>Journal entry:</a:t>
            </a:r>
            <a:endParaRPr lang="en-IN" sz="2000" dirty="0"/>
          </a:p>
        </p:txBody>
      </p:sp>
      <p:grpSp>
        <p:nvGrpSpPr>
          <p:cNvPr id="18" name="Group 17">
            <a:extLst>
              <a:ext uri="{FF2B5EF4-FFF2-40B4-BE49-F238E27FC236}">
                <a16:creationId xmlns:a16="http://schemas.microsoft.com/office/drawing/2014/main" id="{93CD8717-2355-4F94-B458-5E86CAB81CED}"/>
              </a:ext>
            </a:extLst>
          </p:cNvPr>
          <p:cNvGrpSpPr/>
          <p:nvPr/>
        </p:nvGrpSpPr>
        <p:grpSpPr>
          <a:xfrm>
            <a:off x="190500" y="5029200"/>
            <a:ext cx="6515100" cy="1172593"/>
            <a:chOff x="190500" y="5029200"/>
            <a:chExt cx="6515100" cy="1172593"/>
          </a:xfrm>
        </p:grpSpPr>
        <p:sp>
          <p:nvSpPr>
            <p:cNvPr id="12" name="Content Placeholder 12">
              <a:extLst>
                <a:ext uri="{FF2B5EF4-FFF2-40B4-BE49-F238E27FC236}">
                  <a16:creationId xmlns:a16="http://schemas.microsoft.com/office/drawing/2014/main" id="{C1F2B573-2DF2-41C8-A061-5F06AA03EFF9}"/>
                </a:ext>
              </a:extLst>
            </p:cNvPr>
            <p:cNvSpPr txBox="1">
              <a:spLocks/>
            </p:cNvSpPr>
            <p:nvPr/>
          </p:nvSpPr>
          <p:spPr>
            <a:xfrm>
              <a:off x="190500" y="5029200"/>
              <a:ext cx="4038600" cy="36512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000" dirty="0"/>
                <a:t>Inventory (coal)</a:t>
              </a:r>
              <a:endParaRPr lang="en-IN" sz="2000" dirty="0"/>
            </a:p>
          </p:txBody>
        </p:sp>
        <p:sp>
          <p:nvSpPr>
            <p:cNvPr id="13" name="Content Placeholder 13">
              <a:extLst>
                <a:ext uri="{FF2B5EF4-FFF2-40B4-BE49-F238E27FC236}">
                  <a16:creationId xmlns:a16="http://schemas.microsoft.com/office/drawing/2014/main" id="{B5D2141E-64CE-49C4-B1FF-9BEC4DE14D10}"/>
                </a:ext>
              </a:extLst>
            </p:cNvPr>
            <p:cNvSpPr txBox="1">
              <a:spLocks/>
            </p:cNvSpPr>
            <p:nvPr/>
          </p:nvSpPr>
          <p:spPr>
            <a:xfrm>
              <a:off x="3101348" y="5029200"/>
              <a:ext cx="1695450" cy="36512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000" dirty="0"/>
                <a:t>1,250,000</a:t>
              </a:r>
              <a:endParaRPr lang="en-IN" sz="2000" dirty="0"/>
            </a:p>
          </p:txBody>
        </p:sp>
        <p:sp>
          <p:nvSpPr>
            <p:cNvPr id="15" name="Content Placeholder 14">
              <a:extLst>
                <a:ext uri="{FF2B5EF4-FFF2-40B4-BE49-F238E27FC236}">
                  <a16:creationId xmlns:a16="http://schemas.microsoft.com/office/drawing/2014/main" id="{81C178DA-7217-47AE-9972-E7FA02F6FFE5}"/>
                </a:ext>
              </a:extLst>
            </p:cNvPr>
            <p:cNvSpPr txBox="1">
              <a:spLocks/>
            </p:cNvSpPr>
            <p:nvPr/>
          </p:nvSpPr>
          <p:spPr>
            <a:xfrm>
              <a:off x="482456" y="5433860"/>
              <a:ext cx="4038600" cy="36512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000" dirty="0"/>
                <a:t>Accumulated Depletion</a:t>
              </a:r>
              <a:endParaRPr lang="en-IN" sz="2000" dirty="0"/>
            </a:p>
          </p:txBody>
        </p:sp>
        <p:sp>
          <p:nvSpPr>
            <p:cNvPr id="16" name="Content Placeholder 15">
              <a:extLst>
                <a:ext uri="{FF2B5EF4-FFF2-40B4-BE49-F238E27FC236}">
                  <a16:creationId xmlns:a16="http://schemas.microsoft.com/office/drawing/2014/main" id="{D19B753C-6905-41F9-B0C5-65676296228A}"/>
                </a:ext>
              </a:extLst>
            </p:cNvPr>
            <p:cNvSpPr txBox="1">
              <a:spLocks/>
            </p:cNvSpPr>
            <p:nvPr/>
          </p:nvSpPr>
          <p:spPr>
            <a:xfrm>
              <a:off x="5124450" y="5433860"/>
              <a:ext cx="1581150" cy="36512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000" dirty="0"/>
                <a:t>1,250,000</a:t>
              </a:r>
              <a:endParaRPr lang="en-IN" sz="2000" dirty="0"/>
            </a:p>
          </p:txBody>
        </p:sp>
        <p:sp>
          <p:nvSpPr>
            <p:cNvPr id="17" name="Content Placeholder 16">
              <a:extLst>
                <a:ext uri="{FF2B5EF4-FFF2-40B4-BE49-F238E27FC236}">
                  <a16:creationId xmlns:a16="http://schemas.microsoft.com/office/drawing/2014/main" id="{AFE24BFF-6BAD-4F51-9628-0ECECE1B4FC2}"/>
                </a:ext>
              </a:extLst>
            </p:cNvPr>
            <p:cNvSpPr txBox="1">
              <a:spLocks/>
            </p:cNvSpPr>
            <p:nvPr/>
          </p:nvSpPr>
          <p:spPr>
            <a:xfrm>
              <a:off x="228600" y="5836668"/>
              <a:ext cx="4735975" cy="36512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IN" sz="2000" dirty="0"/>
                <a:t>(To record depletion of coal mine)</a:t>
              </a:r>
            </a:p>
          </p:txBody>
        </p:sp>
      </p:grpSp>
      <p:sp>
        <p:nvSpPr>
          <p:cNvPr id="9" name="Rectangle 8">
            <a:extLst>
              <a:ext uri="{FF2B5EF4-FFF2-40B4-BE49-F238E27FC236}">
                <a16:creationId xmlns:a16="http://schemas.microsoft.com/office/drawing/2014/main" id="{1CA6ECE3-9EF3-417A-8365-ACF466920A5E}"/>
              </a:ext>
            </a:extLst>
          </p:cNvPr>
          <p:cNvSpPr/>
          <p:nvPr/>
        </p:nvSpPr>
        <p:spPr>
          <a:xfrm>
            <a:off x="67137" y="1837600"/>
            <a:ext cx="999663" cy="400110"/>
          </a:xfrm>
          <a:prstGeom prst="rect">
            <a:avLst/>
          </a:prstGeom>
        </p:spPr>
        <p:txBody>
          <a:bodyPr wrap="square">
            <a:spAutoFit/>
          </a:bodyPr>
          <a:lstStyle/>
          <a:p>
            <a:r>
              <a:rPr lang="en-US" altLang="en-US" sz="2000" b="1" dirty="0">
                <a:solidFill>
                  <a:schemeClr val="accent1"/>
                </a:solidFill>
                <a:latin typeface="Calibri" panose="020F0502020204030204" pitchFamily="34" charset="0"/>
              </a:rPr>
              <a:t>Step 1:</a:t>
            </a:r>
            <a:endParaRPr lang="en-US" sz="2000" dirty="0">
              <a:solidFill>
                <a:schemeClr val="accent1"/>
              </a:solidFill>
            </a:endParaRPr>
          </a:p>
        </p:txBody>
      </p:sp>
    </p:spTree>
    <p:extLst>
      <p:ext uri="{BB962C8B-B14F-4D97-AF65-F5344CB8AC3E}">
        <p14:creationId xmlns:p14="http://schemas.microsoft.com/office/powerpoint/2010/main" val="491206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120C6-3334-4F09-B2BA-3CC8F48EB6C2}"/>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Intangible Assets</a:t>
            </a:r>
            <a:endParaRPr lang="en-US" dirty="0"/>
          </a:p>
        </p:txBody>
      </p:sp>
      <p:sp>
        <p:nvSpPr>
          <p:cNvPr id="3" name="Content Placeholder 2">
            <a:extLst>
              <a:ext uri="{FF2B5EF4-FFF2-40B4-BE49-F238E27FC236}">
                <a16:creationId xmlns:a16="http://schemas.microsoft.com/office/drawing/2014/main" id="{259DA071-1E40-4972-8B1F-3F6F5E5B64A2}"/>
              </a:ext>
            </a:extLst>
          </p:cNvPr>
          <p:cNvSpPr>
            <a:spLocks noGrp="1"/>
          </p:cNvSpPr>
          <p:nvPr>
            <p:ph sz="quarter" idx="16"/>
          </p:nvPr>
        </p:nvSpPr>
        <p:spPr>
          <a:xfrm>
            <a:off x="292100" y="1860071"/>
            <a:ext cx="8534400" cy="4351338"/>
          </a:xfrm>
        </p:spPr>
        <p:txBody>
          <a:bodyPr/>
          <a:lstStyle/>
          <a:p>
            <a:pPr marL="0" lvl="2" indent="0">
              <a:spcBef>
                <a:spcPts val="1000"/>
              </a:spcBef>
              <a:buClr>
                <a:srgbClr val="990000"/>
              </a:buClr>
              <a:buSzPct val="100000"/>
              <a:buNone/>
            </a:pPr>
            <a:r>
              <a:rPr lang="en-US" altLang="en-US" sz="2400" b="1" dirty="0">
                <a:latin typeface="Calibri" panose="020F0502020204030204" pitchFamily="34" charset="0"/>
              </a:rPr>
              <a:t>Intangible assets </a:t>
            </a:r>
            <a:r>
              <a:rPr lang="en-US" altLang="en-US" sz="2400" dirty="0">
                <a:latin typeface="Calibri" panose="020F0502020204030204" pitchFamily="34" charset="0"/>
              </a:rPr>
              <a:t>are rights, privileges, and competitive advantages that result from ownership of long-lived assets </a:t>
            </a:r>
            <a:r>
              <a:rPr lang="en-US" altLang="en-US" sz="2400" i="1" dirty="0">
                <a:latin typeface="Calibri" panose="020F0502020204030204" pitchFamily="34" charset="0"/>
              </a:rPr>
              <a:t>(Property, Plant, and Equipment)</a:t>
            </a:r>
            <a:r>
              <a:rPr lang="en-US" altLang="en-US" sz="2400" dirty="0">
                <a:latin typeface="Calibri" panose="020F0502020204030204" pitchFamily="34" charset="0"/>
              </a:rPr>
              <a:t> that do not possess physical substance.</a:t>
            </a:r>
          </a:p>
          <a:p>
            <a:pPr marL="0" lvl="2" indent="0">
              <a:spcBef>
                <a:spcPts val="1000"/>
              </a:spcBef>
              <a:buClr>
                <a:srgbClr val="990000"/>
              </a:buClr>
              <a:buSzPct val="100000"/>
              <a:buNone/>
            </a:pPr>
            <a:r>
              <a:rPr lang="en-US" altLang="en-US" sz="2400" dirty="0">
                <a:latin typeface="Calibri" panose="020F0502020204030204" pitchFamily="34" charset="0"/>
              </a:rPr>
              <a:t>Evidence of intangibles may exist in the form of contracts or licenses. Intangibles may arise from the following sources:</a:t>
            </a:r>
          </a:p>
          <a:p>
            <a:pPr marL="457200" indent="-457200">
              <a:buFont typeface="+mj-lt"/>
              <a:buAutoNum type="arabicPeriod"/>
            </a:pPr>
            <a:r>
              <a:rPr lang="en-US" altLang="en-US" sz="2400" dirty="0">
                <a:latin typeface="Calibri" panose="020F0502020204030204" pitchFamily="34" charset="0"/>
              </a:rPr>
              <a:t>Government grants, such as </a:t>
            </a:r>
            <a:r>
              <a:rPr lang="en-US" altLang="en-US" sz="2400" b="1" dirty="0">
                <a:latin typeface="Calibri" panose="020F0502020204030204" pitchFamily="34" charset="0"/>
              </a:rPr>
              <a:t>patents</a:t>
            </a:r>
            <a:r>
              <a:rPr lang="en-US" altLang="en-US" sz="2400" dirty="0">
                <a:latin typeface="Calibri" panose="020F0502020204030204" pitchFamily="34" charset="0"/>
              </a:rPr>
              <a:t>, </a:t>
            </a:r>
            <a:r>
              <a:rPr lang="en-US" altLang="en-US" sz="2400" b="1" dirty="0">
                <a:latin typeface="Calibri" panose="020F0502020204030204" pitchFamily="34" charset="0"/>
              </a:rPr>
              <a:t>copyrights</a:t>
            </a:r>
            <a:r>
              <a:rPr lang="en-US" altLang="en-US" sz="2400" dirty="0">
                <a:latin typeface="Calibri" panose="020F0502020204030204" pitchFamily="34" charset="0"/>
              </a:rPr>
              <a:t>, </a:t>
            </a:r>
            <a:r>
              <a:rPr lang="en-US" altLang="en-US" sz="2400" b="1" dirty="0">
                <a:latin typeface="Calibri" panose="020F0502020204030204" pitchFamily="34" charset="0"/>
              </a:rPr>
              <a:t>licenses</a:t>
            </a:r>
            <a:r>
              <a:rPr lang="en-US" altLang="en-US" sz="2400" dirty="0">
                <a:latin typeface="Calibri" panose="020F0502020204030204" pitchFamily="34" charset="0"/>
              </a:rPr>
              <a:t>, </a:t>
            </a:r>
            <a:r>
              <a:rPr lang="en-US" altLang="en-US" sz="2400" b="1" dirty="0">
                <a:latin typeface="Calibri" panose="020F0502020204030204" pitchFamily="34" charset="0"/>
              </a:rPr>
              <a:t>trademarks</a:t>
            </a:r>
            <a:r>
              <a:rPr lang="en-US" altLang="en-US" sz="2400" dirty="0">
                <a:latin typeface="Calibri" panose="020F0502020204030204" pitchFamily="34" charset="0"/>
              </a:rPr>
              <a:t>, and </a:t>
            </a:r>
            <a:r>
              <a:rPr lang="en-US" altLang="en-US" sz="2400" b="1" dirty="0">
                <a:latin typeface="Calibri" panose="020F0502020204030204" pitchFamily="34" charset="0"/>
              </a:rPr>
              <a:t>trade names</a:t>
            </a:r>
            <a:r>
              <a:rPr lang="en-US" altLang="en-US" sz="2400" dirty="0">
                <a:latin typeface="Calibri" panose="020F0502020204030204" pitchFamily="34" charset="0"/>
              </a:rPr>
              <a:t>.</a:t>
            </a:r>
          </a:p>
          <a:p>
            <a:pPr marL="457200" indent="-457200">
              <a:buFont typeface="+mj-lt"/>
              <a:buAutoNum type="arabicPeriod"/>
            </a:pPr>
            <a:r>
              <a:rPr lang="en-US" altLang="en-US" sz="2400" dirty="0">
                <a:latin typeface="Calibri" panose="020F0502020204030204" pitchFamily="34" charset="0"/>
              </a:rPr>
              <a:t>Acquisition of another business, in which the purchase price includes a payment for </a:t>
            </a:r>
            <a:r>
              <a:rPr lang="en-US" altLang="en-US" sz="2400" b="1" dirty="0">
                <a:latin typeface="Calibri" panose="020F0502020204030204" pitchFamily="34" charset="0"/>
              </a:rPr>
              <a:t>goodwill</a:t>
            </a:r>
            <a:r>
              <a:rPr lang="en-US" altLang="en-US" sz="2400" dirty="0">
                <a:latin typeface="Calibri" panose="020F0502020204030204" pitchFamily="34" charset="0"/>
              </a:rPr>
              <a:t>.</a:t>
            </a:r>
          </a:p>
          <a:p>
            <a:pPr marL="457200" indent="-457200">
              <a:buFont typeface="+mj-lt"/>
              <a:buAutoNum type="arabicPeriod"/>
            </a:pPr>
            <a:r>
              <a:rPr lang="en-US" altLang="en-US" sz="2400" dirty="0">
                <a:latin typeface="Calibri" panose="020F0502020204030204" pitchFamily="34" charset="0"/>
              </a:rPr>
              <a:t>Private monopolistic arrangements arising from contractual agreements, such as </a:t>
            </a:r>
            <a:r>
              <a:rPr lang="en-US" altLang="en-US" sz="2400" b="1" dirty="0">
                <a:latin typeface="Calibri" panose="020F0502020204030204" pitchFamily="34" charset="0"/>
              </a:rPr>
              <a:t>franchises</a:t>
            </a:r>
            <a:r>
              <a:rPr lang="en-US" altLang="en-US" sz="2400" dirty="0">
                <a:latin typeface="Calibri" panose="020F0502020204030204" pitchFamily="34" charset="0"/>
              </a:rPr>
              <a:t> and </a:t>
            </a:r>
            <a:r>
              <a:rPr lang="en-US" altLang="en-US" sz="2400" b="1" dirty="0">
                <a:latin typeface="Calibri" panose="020F0502020204030204" pitchFamily="34" charset="0"/>
              </a:rPr>
              <a:t>leases</a:t>
            </a:r>
            <a:r>
              <a:rPr lang="en-US" altLang="en-US" sz="2400" dirty="0">
                <a:latin typeface="Calibri" panose="020F0502020204030204" pitchFamily="34" charset="0"/>
              </a:rPr>
              <a:t>.</a:t>
            </a:r>
          </a:p>
        </p:txBody>
      </p:sp>
      <p:sp>
        <p:nvSpPr>
          <p:cNvPr id="4" name="Slide Number Placeholder 3">
            <a:extLst>
              <a:ext uri="{FF2B5EF4-FFF2-40B4-BE49-F238E27FC236}">
                <a16:creationId xmlns:a16="http://schemas.microsoft.com/office/drawing/2014/main" id="{3E52DC08-BACE-4D44-9230-915C16FE8C85}"/>
              </a:ext>
            </a:extLst>
          </p:cNvPr>
          <p:cNvSpPr>
            <a:spLocks noGrp="1"/>
          </p:cNvSpPr>
          <p:nvPr>
            <p:ph type="sldNum" sz="quarter" idx="10"/>
          </p:nvPr>
        </p:nvSpPr>
        <p:spPr/>
        <p:txBody>
          <a:bodyPr/>
          <a:lstStyle/>
          <a:p>
            <a:fld id="{67B19427-F580-D146-B60E-4CADEE75497F}" type="slidenum">
              <a:rPr lang="en-US" smtClean="0"/>
              <a:pPr/>
              <a:t>29</a:t>
            </a:fld>
            <a:endParaRPr lang="en-US" dirty="0"/>
          </a:p>
        </p:txBody>
      </p:sp>
      <p:sp>
        <p:nvSpPr>
          <p:cNvPr id="5" name="Footer Placeholder 4">
            <a:extLst>
              <a:ext uri="{FF2B5EF4-FFF2-40B4-BE49-F238E27FC236}">
                <a16:creationId xmlns:a16="http://schemas.microsoft.com/office/drawing/2014/main" id="{72243F42-FD53-44B1-A701-1FD4AFF6A09B}"/>
              </a:ext>
            </a:extLst>
          </p:cNvPr>
          <p:cNvSpPr>
            <a:spLocks noGrp="1"/>
          </p:cNvSpPr>
          <p:nvPr>
            <p:ph type="ftr" sz="quarter" idx="11"/>
          </p:nvPr>
        </p:nvSpPr>
        <p:spPr/>
        <p:txBody>
          <a:bodyPr/>
          <a:lstStyle/>
          <a:p>
            <a:r>
              <a:rPr lang="en-US"/>
              <a:t>Copyright ©2018 John Wiley &amp; Sons, Inc. </a:t>
            </a:r>
            <a:endParaRPr lang="en-US" dirty="0"/>
          </a:p>
        </p:txBody>
      </p:sp>
      <p:grpSp>
        <p:nvGrpSpPr>
          <p:cNvPr id="7" name="Group 6">
            <a:extLst>
              <a:ext uri="{FF2B5EF4-FFF2-40B4-BE49-F238E27FC236}">
                <a16:creationId xmlns:a16="http://schemas.microsoft.com/office/drawing/2014/main" id="{8D78B3A4-1BFB-4FF7-8F78-F572340E1D85}"/>
              </a:ext>
            </a:extLst>
          </p:cNvPr>
          <p:cNvGrpSpPr/>
          <p:nvPr/>
        </p:nvGrpSpPr>
        <p:grpSpPr>
          <a:xfrm>
            <a:off x="6115050" y="533401"/>
            <a:ext cx="2374186" cy="1140618"/>
            <a:chOff x="6019800" y="5087937"/>
            <a:chExt cx="2374186" cy="1138237"/>
          </a:xfrm>
        </p:grpSpPr>
        <p:pic>
          <p:nvPicPr>
            <p:cNvPr id="13314" name="Picture 2" descr="BjEQGnDo2WJtGg55hLV373xf2sefqP50JlvBKUTo8uRqhVePAvBxCkfFajKIs5QHmzf0pbCP0hJN1yXbPOrAAAAAElFTkSuQmCC (218×77)">
              <a:extLst>
                <a:ext uri="{FF2B5EF4-FFF2-40B4-BE49-F238E27FC236}">
                  <a16:creationId xmlns:a16="http://schemas.microsoft.com/office/drawing/2014/main" id="{C44597EB-B7AD-4DA1-9968-3636B04775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5087937"/>
              <a:ext cx="2076450" cy="7334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1118A66-F437-482F-81A3-09C68505B97B}"/>
                </a:ext>
              </a:extLst>
            </p:cNvPr>
            <p:cNvSpPr/>
            <p:nvPr/>
          </p:nvSpPr>
          <p:spPr>
            <a:xfrm>
              <a:off x="6629400" y="5856842"/>
              <a:ext cx="1764586" cy="369332"/>
            </a:xfrm>
            <a:prstGeom prst="rect">
              <a:avLst/>
            </a:prstGeom>
          </p:spPr>
          <p:txBody>
            <a:bodyPr wrap="none">
              <a:spAutoFit/>
            </a:bodyPr>
            <a:lstStyle/>
            <a:p>
              <a:r>
                <a:rPr lang="en-US" i="1" dirty="0"/>
                <a:t>Nike’s trademark</a:t>
              </a:r>
            </a:p>
          </p:txBody>
        </p:sp>
      </p:grpSp>
    </p:spTree>
    <p:extLst>
      <p:ext uri="{BB962C8B-B14F-4D97-AF65-F5344CB8AC3E}">
        <p14:creationId xmlns:p14="http://schemas.microsoft.com/office/powerpoint/2010/main" val="18268193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173C-2435-4418-8BA5-4DEB7A90CF42}"/>
              </a:ext>
            </a:extLst>
          </p:cNvPr>
          <p:cNvSpPr>
            <a:spLocks noGrp="1"/>
          </p:cNvSpPr>
          <p:nvPr>
            <p:ph type="title"/>
          </p:nvPr>
        </p:nvSpPr>
        <p:spPr>
          <a:xfrm>
            <a:off x="152400" y="457200"/>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(1 of 7)</a:t>
            </a:r>
            <a:endParaRPr lang="en-US" sz="2400" dirty="0"/>
          </a:p>
        </p:txBody>
      </p:sp>
      <p:sp>
        <p:nvSpPr>
          <p:cNvPr id="3" name="Content Placeholder 2">
            <a:extLst>
              <a:ext uri="{FF2B5EF4-FFF2-40B4-BE49-F238E27FC236}">
                <a16:creationId xmlns:a16="http://schemas.microsoft.com/office/drawing/2014/main" id="{543CB996-E02E-4398-A7CD-3507903D2EEF}"/>
              </a:ext>
            </a:extLst>
          </p:cNvPr>
          <p:cNvSpPr>
            <a:spLocks noGrp="1"/>
          </p:cNvSpPr>
          <p:nvPr>
            <p:ph sz="quarter" idx="16"/>
          </p:nvPr>
        </p:nvSpPr>
        <p:spPr>
          <a:xfrm>
            <a:off x="495300" y="4690854"/>
            <a:ext cx="8153400" cy="1557546"/>
          </a:xfrm>
        </p:spPr>
        <p:txBody>
          <a:bodyPr/>
          <a:lstStyle/>
          <a:p>
            <a:r>
              <a:rPr lang="en-US" altLang="en-US" sz="2000" b="1" dirty="0">
                <a:latin typeface="Calibri" panose="020F0502020204030204" pitchFamily="34" charset="0"/>
                <a:ea typeface="Calibri" panose="020F0502020204030204" pitchFamily="34" charset="0"/>
                <a:cs typeface="Calibri" panose="020F0502020204030204" pitchFamily="34" charset="0"/>
              </a:rPr>
              <a:t>Limited-Life</a:t>
            </a:r>
            <a:r>
              <a:rPr lang="en-US" altLang="en-US" sz="2000" dirty="0">
                <a:latin typeface="Calibri" panose="020F0502020204030204" pitchFamily="34" charset="0"/>
                <a:ea typeface="Calibri" panose="020F0502020204030204" pitchFamily="34" charset="0"/>
                <a:cs typeface="Calibri" panose="020F0502020204030204" pitchFamily="34" charset="0"/>
              </a:rPr>
              <a:t> intangibles: To record amortization of an intangible asset, a company</a:t>
            </a:r>
          </a:p>
          <a:p>
            <a:pPr marL="292608" indent="-292608">
              <a:buClr>
                <a:srgbClr val="990000"/>
              </a:buClr>
              <a:buFont typeface="Arial" panose="020B0604020202020204" pitchFamily="34" charset="0"/>
              <a:buChar char="•"/>
            </a:pPr>
            <a:r>
              <a:rPr lang="en-US" altLang="en-US" sz="2000" dirty="0">
                <a:latin typeface="Calibri" panose="020F0502020204030204" pitchFamily="34" charset="0"/>
                <a:ea typeface="Calibri" panose="020F0502020204030204" pitchFamily="34" charset="0"/>
                <a:cs typeface="Calibri" panose="020F0502020204030204" pitchFamily="34" charset="0"/>
              </a:rPr>
              <a:t>increases (debits) Amortization Expense, and </a:t>
            </a:r>
          </a:p>
          <a:p>
            <a:pPr marL="292608" indent="-292608">
              <a:buClr>
                <a:srgbClr val="990000"/>
              </a:buClr>
              <a:buFont typeface="Arial" panose="020B0604020202020204" pitchFamily="34" charset="0"/>
              <a:buChar char="•"/>
            </a:pPr>
            <a:r>
              <a:rPr lang="en-US" altLang="en-US" sz="2000" dirty="0">
                <a:latin typeface="Calibri" panose="020F0502020204030204" pitchFamily="34" charset="0"/>
                <a:ea typeface="Calibri" panose="020F0502020204030204" pitchFamily="34" charset="0"/>
                <a:cs typeface="Calibri" panose="020F0502020204030204" pitchFamily="34" charset="0"/>
              </a:rPr>
              <a:t>decreases (credits) the specific intangible asset</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A0064188-E254-45BF-81B6-7011D35E404E}"/>
              </a:ext>
            </a:extLst>
          </p:cNvPr>
          <p:cNvSpPr>
            <a:spLocks noGrp="1"/>
          </p:cNvSpPr>
          <p:nvPr>
            <p:ph type="sldNum" sz="quarter" idx="10"/>
          </p:nvPr>
        </p:nvSpPr>
        <p:spPr/>
        <p:txBody>
          <a:bodyPr/>
          <a:lstStyle/>
          <a:p>
            <a:fld id="{67B19427-F580-D146-B60E-4CADEE75497F}" type="slidenum">
              <a:rPr lang="en-US" smtClean="0"/>
              <a:pPr/>
              <a:t>30</a:t>
            </a:fld>
            <a:endParaRPr lang="en-US" dirty="0"/>
          </a:p>
        </p:txBody>
      </p:sp>
      <p:sp>
        <p:nvSpPr>
          <p:cNvPr id="7" name="Footer Placeholder 6">
            <a:extLst>
              <a:ext uri="{FF2B5EF4-FFF2-40B4-BE49-F238E27FC236}">
                <a16:creationId xmlns:a16="http://schemas.microsoft.com/office/drawing/2014/main" id="{48DCBB75-5258-4AFE-B3FF-CD475B9F1AD8}"/>
              </a:ext>
            </a:extLst>
          </p:cNvPr>
          <p:cNvSpPr>
            <a:spLocks noGrp="1"/>
          </p:cNvSpPr>
          <p:nvPr>
            <p:ph type="ftr" sz="quarter" idx="11"/>
          </p:nvPr>
        </p:nvSpPr>
        <p:spPr/>
        <p:txBody>
          <a:bodyPr/>
          <a:lstStyle/>
          <a:p>
            <a:r>
              <a:rPr lang="en-US"/>
              <a:t>Copyright ©2018 John Wiley &amp; Sons, Inc. </a:t>
            </a:r>
            <a:endParaRPr lang="en-US" dirty="0"/>
          </a:p>
        </p:txBody>
      </p:sp>
      <p:sp>
        <p:nvSpPr>
          <p:cNvPr id="9" name="Rectangle 8">
            <a:extLst>
              <a:ext uri="{FF2B5EF4-FFF2-40B4-BE49-F238E27FC236}">
                <a16:creationId xmlns:a16="http://schemas.microsoft.com/office/drawing/2014/main" id="{E8C2E084-EA1C-41BF-99C8-269F1FB7A893}"/>
              </a:ext>
            </a:extLst>
          </p:cNvPr>
          <p:cNvSpPr/>
          <p:nvPr/>
        </p:nvSpPr>
        <p:spPr>
          <a:xfrm>
            <a:off x="152400" y="1105029"/>
            <a:ext cx="8686800" cy="3477875"/>
          </a:xfrm>
          <a:prstGeom prst="rect">
            <a:avLst/>
          </a:prstGeom>
        </p:spPr>
        <p:txBody>
          <a:bodyPr wrap="square">
            <a:spAutoFit/>
          </a:bodyPr>
          <a:lstStyle/>
          <a:p>
            <a:pPr marL="285750" indent="-285750">
              <a:buFont typeface="Arial" panose="020B0604020202020204" pitchFamily="34" charset="0"/>
              <a:buChar char="•"/>
            </a:pPr>
            <a:r>
              <a:rPr lang="en-US" sz="2200" dirty="0"/>
              <a:t>Companies record intangible assets at cost. </a:t>
            </a:r>
          </a:p>
          <a:p>
            <a:pPr marL="285750" indent="-285750">
              <a:buFont typeface="Arial" panose="020B0604020202020204" pitchFamily="34" charset="0"/>
              <a:buChar char="•"/>
            </a:pPr>
            <a:r>
              <a:rPr lang="en-US" sz="2200" dirty="0"/>
              <a:t>Intangibles are categorized as having either a </a:t>
            </a:r>
            <a:r>
              <a:rPr lang="en-US" sz="2200" b="1" dirty="0"/>
              <a:t>limited</a:t>
            </a:r>
            <a:r>
              <a:rPr lang="en-US" sz="2200" dirty="0"/>
              <a:t> life or an </a:t>
            </a:r>
            <a:r>
              <a:rPr lang="en-US" sz="2200" b="1" dirty="0"/>
              <a:t>indefinite</a:t>
            </a:r>
            <a:r>
              <a:rPr lang="en-US" sz="2200" dirty="0"/>
              <a:t> life. </a:t>
            </a:r>
          </a:p>
          <a:p>
            <a:pPr marL="742950" lvl="1" indent="-285750">
              <a:buFont typeface="Courier New" panose="02070309020205020404" pitchFamily="49" charset="0"/>
              <a:buChar char="o"/>
            </a:pPr>
            <a:r>
              <a:rPr lang="en-US" sz="2200" dirty="0"/>
              <a:t>If an intangible has a </a:t>
            </a:r>
            <a:r>
              <a:rPr lang="en-US" sz="2200" b="1" dirty="0"/>
              <a:t>limited</a:t>
            </a:r>
            <a:r>
              <a:rPr lang="en-US" sz="2200" dirty="0"/>
              <a:t> life, the company allocates its cost over the asset’s useful life using a process called </a:t>
            </a:r>
            <a:r>
              <a:rPr lang="en-US" sz="2200" b="1" dirty="0"/>
              <a:t>amortization</a:t>
            </a:r>
            <a:r>
              <a:rPr lang="en-US" sz="2200" dirty="0"/>
              <a:t> </a:t>
            </a:r>
            <a:r>
              <a:rPr lang="en-US" sz="2200" i="1" dirty="0"/>
              <a:t>(similar to depreciation)</a:t>
            </a:r>
            <a:r>
              <a:rPr lang="en-US" sz="2200" dirty="0"/>
              <a:t>.</a:t>
            </a:r>
          </a:p>
          <a:p>
            <a:pPr marL="742950" lvl="1" indent="-285750">
              <a:buFont typeface="Courier New" panose="02070309020205020404" pitchFamily="49" charset="0"/>
              <a:buChar char="o"/>
            </a:pPr>
            <a:r>
              <a:rPr lang="en-US" sz="2200" dirty="0"/>
              <a:t>The cost of intangible assets with </a:t>
            </a:r>
            <a:r>
              <a:rPr lang="en-US" sz="2200" b="1" dirty="0"/>
              <a:t>indefinite</a:t>
            </a:r>
            <a:r>
              <a:rPr lang="en-US" sz="2200" dirty="0"/>
              <a:t> lives </a:t>
            </a:r>
            <a:r>
              <a:rPr lang="en-US" sz="2200" b="1" dirty="0"/>
              <a:t>should not be amortized </a:t>
            </a:r>
            <a:r>
              <a:rPr lang="en-US" sz="2200" dirty="0"/>
              <a:t>because they are expected to provide economic benefits forever, or at least for a very, very long time with no foreseeable end.</a:t>
            </a:r>
          </a:p>
        </p:txBody>
      </p:sp>
    </p:spTree>
    <p:extLst>
      <p:ext uri="{BB962C8B-B14F-4D97-AF65-F5344CB8AC3E}">
        <p14:creationId xmlns:p14="http://schemas.microsoft.com/office/powerpoint/2010/main" val="3514991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9723B-7352-4BC8-8639-F3DA0AA47D96}"/>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(2 of 7)</a:t>
            </a:r>
            <a:endParaRPr lang="en-US" dirty="0"/>
          </a:p>
        </p:txBody>
      </p:sp>
      <p:sp>
        <p:nvSpPr>
          <p:cNvPr id="3" name="Content Placeholder 2">
            <a:extLst>
              <a:ext uri="{FF2B5EF4-FFF2-40B4-BE49-F238E27FC236}">
                <a16:creationId xmlns:a16="http://schemas.microsoft.com/office/drawing/2014/main" id="{A2541931-4F9A-47E0-802D-9E1D0D236E00}"/>
              </a:ext>
            </a:extLst>
          </p:cNvPr>
          <p:cNvSpPr>
            <a:spLocks noGrp="1"/>
          </p:cNvSpPr>
          <p:nvPr>
            <p:ph sz="quarter" idx="16"/>
          </p:nvPr>
        </p:nvSpPr>
        <p:spPr>
          <a:xfrm>
            <a:off x="304800" y="1828800"/>
            <a:ext cx="8534400" cy="4267200"/>
          </a:xfrm>
        </p:spPr>
        <p:txBody>
          <a:bodyPr/>
          <a:lstStyle/>
          <a:p>
            <a:r>
              <a:rPr lang="en-US" altLang="en-US" sz="3200" b="1" dirty="0"/>
              <a:t>Patents</a:t>
            </a:r>
            <a:endParaRPr lang="en-US" altLang="en-US" sz="3200" dirty="0"/>
          </a:p>
          <a:p>
            <a:pPr marL="292608" indent="-292608">
              <a:buClr>
                <a:srgbClr val="990000"/>
              </a:buClr>
              <a:buFont typeface="Arial" panose="020B0604020202020204" pitchFamily="34" charset="0"/>
              <a:buChar char="•"/>
            </a:pPr>
            <a:r>
              <a:rPr lang="en-US" altLang="en-US" dirty="0"/>
              <a:t>Amortize to expense</a:t>
            </a:r>
          </a:p>
          <a:p>
            <a:pPr marL="292608" indent="-292608">
              <a:buClr>
                <a:srgbClr val="990000"/>
              </a:buClr>
              <a:buFont typeface="Arial" panose="020B0604020202020204" pitchFamily="34" charset="0"/>
              <a:buChar char="•"/>
            </a:pPr>
            <a:r>
              <a:rPr lang="en-US" altLang="en-US" dirty="0"/>
              <a:t>Exclusive right to manufacture, sell, or otherwise control an invention for </a:t>
            </a:r>
            <a:r>
              <a:rPr lang="en-US" altLang="en-US" b="1" dirty="0"/>
              <a:t>20 years </a:t>
            </a:r>
            <a:r>
              <a:rPr lang="en-US" altLang="en-US" dirty="0"/>
              <a:t>from date of grant</a:t>
            </a:r>
          </a:p>
          <a:p>
            <a:pPr marL="292608" indent="-292608">
              <a:buClr>
                <a:srgbClr val="990000"/>
              </a:buClr>
              <a:buFont typeface="Arial" panose="020B0604020202020204" pitchFamily="34" charset="0"/>
              <a:buChar char="•"/>
            </a:pPr>
            <a:r>
              <a:rPr lang="en-US" altLang="en-US" b="1" dirty="0"/>
              <a:t>Capitalize costs of purchasing </a:t>
            </a:r>
            <a:r>
              <a:rPr lang="en-US" altLang="en-US" dirty="0"/>
              <a:t>a patent and amortize over 20-year life or its useful life, whichever is shorter</a:t>
            </a:r>
          </a:p>
          <a:p>
            <a:pPr marL="292608" indent="-292608">
              <a:buClr>
                <a:srgbClr val="990000"/>
              </a:buClr>
              <a:buFont typeface="Arial" panose="020B0604020202020204" pitchFamily="34" charset="0"/>
              <a:buChar char="•"/>
            </a:pPr>
            <a:r>
              <a:rPr lang="en-US" altLang="en-US" b="1" dirty="0"/>
              <a:t>Expense any R&amp;D </a:t>
            </a:r>
            <a:r>
              <a:rPr lang="en-US" altLang="en-US" dirty="0"/>
              <a:t>costs in developing a patent</a:t>
            </a:r>
          </a:p>
          <a:p>
            <a:pPr marL="292608" indent="-292608">
              <a:buClr>
                <a:srgbClr val="990000"/>
              </a:buClr>
              <a:buFont typeface="Arial" panose="020B0604020202020204" pitchFamily="34" charset="0"/>
              <a:buChar char="•"/>
            </a:pPr>
            <a:r>
              <a:rPr lang="en-US" altLang="en-US" b="1" dirty="0"/>
              <a:t>Legal fees </a:t>
            </a:r>
            <a:r>
              <a:rPr lang="en-US" altLang="en-US" dirty="0"/>
              <a:t>incurred successfully defending a patent are capitalized to Patent account</a:t>
            </a:r>
          </a:p>
        </p:txBody>
      </p:sp>
      <p:sp>
        <p:nvSpPr>
          <p:cNvPr id="4" name="Slide Number Placeholder 3">
            <a:extLst>
              <a:ext uri="{FF2B5EF4-FFF2-40B4-BE49-F238E27FC236}">
                <a16:creationId xmlns:a16="http://schemas.microsoft.com/office/drawing/2014/main" id="{02C379F3-B25F-40C4-8508-D892A5E1B61A}"/>
              </a:ext>
            </a:extLst>
          </p:cNvPr>
          <p:cNvSpPr>
            <a:spLocks noGrp="1"/>
          </p:cNvSpPr>
          <p:nvPr>
            <p:ph type="sldNum" sz="quarter" idx="10"/>
          </p:nvPr>
        </p:nvSpPr>
        <p:spPr/>
        <p:txBody>
          <a:bodyPr/>
          <a:lstStyle/>
          <a:p>
            <a:fld id="{67B19427-F580-D146-B60E-4CADEE75497F}" type="slidenum">
              <a:rPr lang="en-US" smtClean="0"/>
              <a:pPr/>
              <a:t>31</a:t>
            </a:fld>
            <a:endParaRPr lang="en-US" dirty="0"/>
          </a:p>
        </p:txBody>
      </p:sp>
      <p:sp>
        <p:nvSpPr>
          <p:cNvPr id="5" name="Footer Placeholder 4">
            <a:extLst>
              <a:ext uri="{FF2B5EF4-FFF2-40B4-BE49-F238E27FC236}">
                <a16:creationId xmlns:a16="http://schemas.microsoft.com/office/drawing/2014/main" id="{5D17BAD7-AEC1-405E-BBDB-4E9E2B5C475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9813860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C7CA9-71F9-4595-B257-D46AD200F8E6}"/>
              </a:ext>
            </a:extLst>
          </p:cNvPr>
          <p:cNvSpPr>
            <a:spLocks noGrp="1"/>
          </p:cNvSpPr>
          <p:nvPr>
            <p:ph type="title"/>
          </p:nvPr>
        </p:nvSpPr>
        <p:spPr>
          <a:xfrm>
            <a:off x="304800" y="762001"/>
            <a:ext cx="8534400" cy="689802"/>
          </a:xfrm>
        </p:spPr>
        <p:txBody>
          <a:bodyPr/>
          <a:lstStyle/>
          <a:p>
            <a:r>
              <a:rPr lang="en-US" b="1" dirty="0">
                <a:latin typeface="Calibri" panose="020F0502020204030204" pitchFamily="34" charset="0"/>
                <a:ea typeface="Source Sans Pro" charset="0"/>
                <a:cs typeface="Calibri" panose="020F0502020204030204" pitchFamily="34" charset="0"/>
              </a:rPr>
              <a:t>Patent </a:t>
            </a:r>
            <a:r>
              <a:rPr lang="en-US" sz="2400" dirty="0">
                <a:latin typeface="Calibri" panose="020F0502020204030204" pitchFamily="34" charset="0"/>
                <a:ea typeface="Source Sans Pro" charset="0"/>
                <a:cs typeface="Calibri" panose="020F0502020204030204" pitchFamily="34" charset="0"/>
              </a:rPr>
              <a:t>(3 of 7)</a:t>
            </a:r>
            <a:endParaRPr lang="en-IN" sz="2400" dirty="0"/>
          </a:p>
        </p:txBody>
      </p:sp>
      <p:sp>
        <p:nvSpPr>
          <p:cNvPr id="3" name="Content Placeholder 2">
            <a:extLst>
              <a:ext uri="{FF2B5EF4-FFF2-40B4-BE49-F238E27FC236}">
                <a16:creationId xmlns:a16="http://schemas.microsoft.com/office/drawing/2014/main" id="{1347C065-8B32-4955-A9AB-669451C46DE9}"/>
              </a:ext>
            </a:extLst>
          </p:cNvPr>
          <p:cNvSpPr>
            <a:spLocks noGrp="1"/>
          </p:cNvSpPr>
          <p:nvPr>
            <p:ph sz="quarter" idx="16"/>
          </p:nvPr>
        </p:nvSpPr>
        <p:spPr>
          <a:xfrm>
            <a:off x="304800" y="1828800"/>
            <a:ext cx="8458200" cy="1371600"/>
          </a:xfrm>
        </p:spPr>
        <p:txBody>
          <a:bodyPr/>
          <a:lstStyle/>
          <a:p>
            <a:r>
              <a:rPr lang="en-US" altLang="en-US" sz="2400" b="1" dirty="0"/>
              <a:t>Illustration: </a:t>
            </a:r>
            <a:r>
              <a:rPr lang="en-US" sz="2400" dirty="0"/>
              <a:t>Assume that National Labs purchases a patent at a cost of $60,000. National estimates the useful life of the patent to be eight years. National calculates the annual amortization expense as follows.</a:t>
            </a:r>
            <a:endParaRPr lang="en-IN" sz="2400" dirty="0"/>
          </a:p>
        </p:txBody>
      </p:sp>
      <p:sp>
        <p:nvSpPr>
          <p:cNvPr id="9" name="Content Placeholder 8">
            <a:extLst>
              <a:ext uri="{FF2B5EF4-FFF2-40B4-BE49-F238E27FC236}">
                <a16:creationId xmlns:a16="http://schemas.microsoft.com/office/drawing/2014/main" id="{3F9D20F3-DA95-4AC0-83FF-4EF7D4622EEE}"/>
              </a:ext>
            </a:extLst>
          </p:cNvPr>
          <p:cNvSpPr>
            <a:spLocks noGrp="1"/>
          </p:cNvSpPr>
          <p:nvPr>
            <p:ph sz="quarter" idx="23"/>
          </p:nvPr>
        </p:nvSpPr>
        <p:spPr>
          <a:xfrm>
            <a:off x="2181225" y="3352800"/>
            <a:ext cx="4781550" cy="365125"/>
          </a:xfrm>
        </p:spPr>
        <p:txBody>
          <a:bodyPr/>
          <a:lstStyle/>
          <a:p>
            <a:r>
              <a:rPr lang="en-US" sz="2400" dirty="0"/>
              <a:t>$60,000 cost ÷ 8 years = $7,500</a:t>
            </a:r>
            <a:endParaRPr lang="en-IN" sz="2400" dirty="0"/>
          </a:p>
        </p:txBody>
      </p:sp>
      <p:sp>
        <p:nvSpPr>
          <p:cNvPr id="11" name="Content Placeholder 10">
            <a:extLst>
              <a:ext uri="{FF2B5EF4-FFF2-40B4-BE49-F238E27FC236}">
                <a16:creationId xmlns:a16="http://schemas.microsoft.com/office/drawing/2014/main" id="{10877819-1A32-4F5D-9471-44EB20C8DD9F}"/>
              </a:ext>
            </a:extLst>
          </p:cNvPr>
          <p:cNvSpPr>
            <a:spLocks noGrp="1"/>
          </p:cNvSpPr>
          <p:nvPr>
            <p:ph sz="quarter" idx="25"/>
          </p:nvPr>
        </p:nvSpPr>
        <p:spPr>
          <a:xfrm>
            <a:off x="304800" y="3914174"/>
            <a:ext cx="8458200" cy="449264"/>
          </a:xfrm>
        </p:spPr>
        <p:txBody>
          <a:bodyPr/>
          <a:lstStyle/>
          <a:p>
            <a:r>
              <a:rPr lang="en-US" sz="2400" dirty="0"/>
              <a:t>National records the annual amortization as follows.</a:t>
            </a:r>
            <a:endParaRPr lang="en-IN" sz="2400" dirty="0"/>
          </a:p>
        </p:txBody>
      </p:sp>
      <p:sp>
        <p:nvSpPr>
          <p:cNvPr id="13" name="Content Placeholder 12">
            <a:extLst>
              <a:ext uri="{FF2B5EF4-FFF2-40B4-BE49-F238E27FC236}">
                <a16:creationId xmlns:a16="http://schemas.microsoft.com/office/drawing/2014/main" id="{B190C7A1-23CC-453B-8B98-FF1399A8B243}"/>
              </a:ext>
            </a:extLst>
          </p:cNvPr>
          <p:cNvSpPr>
            <a:spLocks noGrp="1"/>
          </p:cNvSpPr>
          <p:nvPr>
            <p:ph sz="quarter" idx="27"/>
          </p:nvPr>
        </p:nvSpPr>
        <p:spPr>
          <a:xfrm>
            <a:off x="304800" y="4572000"/>
            <a:ext cx="1295400" cy="365125"/>
          </a:xfrm>
        </p:spPr>
        <p:txBody>
          <a:bodyPr/>
          <a:lstStyle/>
          <a:p>
            <a:r>
              <a:rPr lang="en-US" sz="2400"/>
              <a:t>Dec. 31</a:t>
            </a:r>
            <a:endParaRPr lang="en-IN" sz="2400"/>
          </a:p>
        </p:txBody>
      </p:sp>
      <p:sp>
        <p:nvSpPr>
          <p:cNvPr id="14" name="Content Placeholder 13">
            <a:extLst>
              <a:ext uri="{FF2B5EF4-FFF2-40B4-BE49-F238E27FC236}">
                <a16:creationId xmlns:a16="http://schemas.microsoft.com/office/drawing/2014/main" id="{52DE9A5C-4D46-46F6-A911-4F6A0C7F4F91}"/>
              </a:ext>
            </a:extLst>
          </p:cNvPr>
          <p:cNvSpPr>
            <a:spLocks noGrp="1"/>
          </p:cNvSpPr>
          <p:nvPr>
            <p:ph sz="quarter" idx="28"/>
          </p:nvPr>
        </p:nvSpPr>
        <p:spPr>
          <a:xfrm>
            <a:off x="1752600" y="4572000"/>
            <a:ext cx="2971800" cy="365125"/>
          </a:xfrm>
        </p:spPr>
        <p:txBody>
          <a:bodyPr/>
          <a:lstStyle/>
          <a:p>
            <a:r>
              <a:rPr lang="en-US" sz="2400"/>
              <a:t>Amortization Expense</a:t>
            </a:r>
            <a:endParaRPr lang="en-IN" sz="2400"/>
          </a:p>
        </p:txBody>
      </p:sp>
      <p:sp>
        <p:nvSpPr>
          <p:cNvPr id="16" name="Content Placeholder 15">
            <a:extLst>
              <a:ext uri="{FF2B5EF4-FFF2-40B4-BE49-F238E27FC236}">
                <a16:creationId xmlns:a16="http://schemas.microsoft.com/office/drawing/2014/main" id="{56056487-5253-4F67-8AC0-43CA285237E5}"/>
              </a:ext>
            </a:extLst>
          </p:cNvPr>
          <p:cNvSpPr>
            <a:spLocks noGrp="1"/>
          </p:cNvSpPr>
          <p:nvPr>
            <p:ph sz="quarter" idx="30"/>
          </p:nvPr>
        </p:nvSpPr>
        <p:spPr>
          <a:xfrm>
            <a:off x="6629400" y="4619626"/>
            <a:ext cx="914400" cy="410090"/>
          </a:xfrm>
        </p:spPr>
        <p:txBody>
          <a:bodyPr/>
          <a:lstStyle/>
          <a:p>
            <a:r>
              <a:rPr lang="en-US" sz="2400" dirty="0"/>
              <a:t>7,500</a:t>
            </a:r>
            <a:endParaRPr lang="en-IN" sz="2400" dirty="0"/>
          </a:p>
        </p:txBody>
      </p:sp>
      <p:sp>
        <p:nvSpPr>
          <p:cNvPr id="17" name="Content Placeholder 16">
            <a:extLst>
              <a:ext uri="{FF2B5EF4-FFF2-40B4-BE49-F238E27FC236}">
                <a16:creationId xmlns:a16="http://schemas.microsoft.com/office/drawing/2014/main" id="{6F2E4ABF-2E6A-423D-BAD4-0AE116C83AC0}"/>
              </a:ext>
            </a:extLst>
          </p:cNvPr>
          <p:cNvSpPr>
            <a:spLocks noGrp="1"/>
          </p:cNvSpPr>
          <p:nvPr>
            <p:ph sz="quarter" idx="31"/>
          </p:nvPr>
        </p:nvSpPr>
        <p:spPr>
          <a:xfrm>
            <a:off x="2034665" y="4955584"/>
            <a:ext cx="1295400" cy="365125"/>
          </a:xfrm>
        </p:spPr>
        <p:txBody>
          <a:bodyPr/>
          <a:lstStyle/>
          <a:p>
            <a:r>
              <a:rPr lang="en-US" sz="2400" dirty="0"/>
              <a:t>Patents</a:t>
            </a:r>
            <a:endParaRPr lang="en-IN" sz="2400" dirty="0"/>
          </a:p>
        </p:txBody>
      </p:sp>
      <p:sp>
        <p:nvSpPr>
          <p:cNvPr id="18" name="Content Placeholder 17">
            <a:extLst>
              <a:ext uri="{FF2B5EF4-FFF2-40B4-BE49-F238E27FC236}">
                <a16:creationId xmlns:a16="http://schemas.microsoft.com/office/drawing/2014/main" id="{561CDE59-D6F5-4AEF-9ED6-A7110D7C7EA6}"/>
              </a:ext>
            </a:extLst>
          </p:cNvPr>
          <p:cNvSpPr>
            <a:spLocks noGrp="1"/>
          </p:cNvSpPr>
          <p:nvPr>
            <p:ph sz="quarter" idx="32"/>
          </p:nvPr>
        </p:nvSpPr>
        <p:spPr>
          <a:xfrm>
            <a:off x="7772400" y="4964559"/>
            <a:ext cx="914400" cy="365125"/>
          </a:xfrm>
        </p:spPr>
        <p:txBody>
          <a:bodyPr/>
          <a:lstStyle/>
          <a:p>
            <a:r>
              <a:rPr lang="en-US" sz="2400"/>
              <a:t>7,500</a:t>
            </a:r>
            <a:endParaRPr lang="en-IN" sz="2400"/>
          </a:p>
        </p:txBody>
      </p:sp>
      <p:sp>
        <p:nvSpPr>
          <p:cNvPr id="19" name="Content Placeholder 18">
            <a:extLst>
              <a:ext uri="{FF2B5EF4-FFF2-40B4-BE49-F238E27FC236}">
                <a16:creationId xmlns:a16="http://schemas.microsoft.com/office/drawing/2014/main" id="{EFD8874C-9562-440B-8B6F-F7FDAAFAA261}"/>
              </a:ext>
            </a:extLst>
          </p:cNvPr>
          <p:cNvSpPr>
            <a:spLocks noGrp="1"/>
          </p:cNvSpPr>
          <p:nvPr>
            <p:ph sz="quarter" idx="33"/>
          </p:nvPr>
        </p:nvSpPr>
        <p:spPr>
          <a:xfrm>
            <a:off x="2277581" y="5324947"/>
            <a:ext cx="4175325" cy="365125"/>
          </a:xfrm>
        </p:spPr>
        <p:txBody>
          <a:bodyPr/>
          <a:lstStyle/>
          <a:p>
            <a:r>
              <a:rPr lang="en-US" sz="2400" dirty="0"/>
              <a:t>(To record patent amortization)</a:t>
            </a:r>
            <a:endParaRPr lang="en-IN" sz="2400" dirty="0"/>
          </a:p>
        </p:txBody>
      </p:sp>
      <p:sp>
        <p:nvSpPr>
          <p:cNvPr id="23" name="Slide Number Placeholder 22">
            <a:extLst>
              <a:ext uri="{FF2B5EF4-FFF2-40B4-BE49-F238E27FC236}">
                <a16:creationId xmlns:a16="http://schemas.microsoft.com/office/drawing/2014/main" id="{285B7A0D-BD42-4258-BC42-C8EC79D6191B}"/>
              </a:ext>
            </a:extLst>
          </p:cNvPr>
          <p:cNvSpPr>
            <a:spLocks noGrp="1"/>
          </p:cNvSpPr>
          <p:nvPr>
            <p:ph type="sldNum" sz="quarter" idx="10"/>
          </p:nvPr>
        </p:nvSpPr>
        <p:spPr/>
        <p:txBody>
          <a:bodyPr/>
          <a:lstStyle/>
          <a:p>
            <a:fld id="{67B19427-F580-D146-B60E-4CADEE75497F}" type="slidenum">
              <a:rPr lang="en-US" smtClean="0"/>
              <a:pPr/>
              <a:t>32</a:t>
            </a:fld>
            <a:endParaRPr lang="en-US" dirty="0"/>
          </a:p>
        </p:txBody>
      </p:sp>
      <p:sp>
        <p:nvSpPr>
          <p:cNvPr id="24" name="Footer Placeholder 23">
            <a:extLst>
              <a:ext uri="{FF2B5EF4-FFF2-40B4-BE49-F238E27FC236}">
                <a16:creationId xmlns:a16="http://schemas.microsoft.com/office/drawing/2014/main" id="{8A07ECFC-09C0-47B6-B1E2-7839D983CC46}"/>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60646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3" grpId="0" build="p"/>
      <p:bldP spid="14" grpId="0" build="p"/>
      <p:bldP spid="16" grpId="0" build="p"/>
      <p:bldP spid="17" grpId="0" build="p"/>
      <p:bldP spid="18" grpId="0" build="p"/>
      <p:bldP spid="19"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46A3-1632-48AF-9490-9293228177F0}"/>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(4 of 7)</a:t>
            </a:r>
            <a:endParaRPr lang="en-US" sz="2400" dirty="0"/>
          </a:p>
        </p:txBody>
      </p:sp>
      <p:sp>
        <p:nvSpPr>
          <p:cNvPr id="3" name="Content Placeholder 2">
            <a:extLst>
              <a:ext uri="{FF2B5EF4-FFF2-40B4-BE49-F238E27FC236}">
                <a16:creationId xmlns:a16="http://schemas.microsoft.com/office/drawing/2014/main" id="{EE60DB6A-D008-4360-B4DA-1BC9D9AEC0F5}"/>
              </a:ext>
            </a:extLst>
          </p:cNvPr>
          <p:cNvSpPr>
            <a:spLocks noGrp="1"/>
          </p:cNvSpPr>
          <p:nvPr>
            <p:ph sz="quarter" idx="16"/>
          </p:nvPr>
        </p:nvSpPr>
        <p:spPr>
          <a:xfrm>
            <a:off x="304800" y="1828799"/>
            <a:ext cx="8686800" cy="4267199"/>
          </a:xfrm>
        </p:spPr>
        <p:txBody>
          <a:bodyPr/>
          <a:lstStyle/>
          <a:p>
            <a:r>
              <a:rPr lang="en-US" altLang="en-US" sz="2600" b="1" dirty="0"/>
              <a:t>Copyrights</a:t>
            </a:r>
            <a:endParaRPr lang="en-US" altLang="en-US" sz="2600" dirty="0"/>
          </a:p>
          <a:p>
            <a:pPr marL="292608" indent="-292608">
              <a:buClr>
                <a:srgbClr val="990000"/>
              </a:buClr>
              <a:buFont typeface="Arial" panose="020B0604020202020204" pitchFamily="34" charset="0"/>
              <a:buChar char="•"/>
            </a:pPr>
            <a:r>
              <a:rPr lang="en-US" altLang="en-US" sz="2600" dirty="0"/>
              <a:t>Copyright gives the creator (or whoever they transfer the copyright to) the legal power to reproduce and sell an artistic or published work </a:t>
            </a:r>
            <a:r>
              <a:rPr lang="en-US" altLang="en-US" sz="2600" i="1" dirty="0"/>
              <a:t>(e.g. a song)</a:t>
            </a:r>
          </a:p>
          <a:p>
            <a:pPr marL="292608" indent="-292608">
              <a:buClr>
                <a:srgbClr val="990000"/>
              </a:buClr>
              <a:buFont typeface="Arial" panose="020B0604020202020204" pitchFamily="34" charset="0"/>
              <a:buChar char="•"/>
            </a:pPr>
            <a:r>
              <a:rPr lang="en-US" altLang="en-US" sz="2600" dirty="0"/>
              <a:t>Copyrights extend for the life of the creator plus 70 years </a:t>
            </a:r>
            <a:r>
              <a:rPr lang="en-US" altLang="en-US" sz="2600" i="1" dirty="0"/>
              <a:t>(if you create something original, like a song, you own the copyright; that ownership lasts for your entire life, and then for 70 years after you die)</a:t>
            </a:r>
          </a:p>
          <a:p>
            <a:pPr marL="292608" indent="-292608">
              <a:buClr>
                <a:srgbClr val="990000"/>
              </a:buClr>
              <a:buFont typeface="Arial" panose="020B0604020202020204" pitchFamily="34" charset="0"/>
              <a:buChar char="•"/>
            </a:pPr>
            <a:r>
              <a:rPr lang="en-US" altLang="en-US" sz="2600" dirty="0"/>
              <a:t>Cost of copyright is cost of acquiring and defending it</a:t>
            </a:r>
          </a:p>
          <a:p>
            <a:pPr marL="292608" indent="-292608">
              <a:buClr>
                <a:srgbClr val="990000"/>
              </a:buClr>
              <a:buFont typeface="Arial" panose="020B0604020202020204" pitchFamily="34" charset="0"/>
              <a:buChar char="•"/>
            </a:pPr>
            <a:r>
              <a:rPr lang="en-US" altLang="en-US" sz="2600" dirty="0"/>
              <a:t>Amortized to expense over useful life</a:t>
            </a:r>
          </a:p>
        </p:txBody>
      </p:sp>
      <p:sp>
        <p:nvSpPr>
          <p:cNvPr id="4" name="Slide Number Placeholder 3">
            <a:extLst>
              <a:ext uri="{FF2B5EF4-FFF2-40B4-BE49-F238E27FC236}">
                <a16:creationId xmlns:a16="http://schemas.microsoft.com/office/drawing/2014/main" id="{D557E811-C96D-4009-8D8D-A3B0764C2CC6}"/>
              </a:ext>
            </a:extLst>
          </p:cNvPr>
          <p:cNvSpPr>
            <a:spLocks noGrp="1"/>
          </p:cNvSpPr>
          <p:nvPr>
            <p:ph type="sldNum" sz="quarter" idx="10"/>
          </p:nvPr>
        </p:nvSpPr>
        <p:spPr/>
        <p:txBody>
          <a:bodyPr/>
          <a:lstStyle/>
          <a:p>
            <a:fld id="{67B19427-F580-D146-B60E-4CADEE75497F}" type="slidenum">
              <a:rPr lang="en-US" smtClean="0"/>
              <a:pPr/>
              <a:t>33</a:t>
            </a:fld>
            <a:endParaRPr lang="en-US" dirty="0"/>
          </a:p>
        </p:txBody>
      </p:sp>
      <p:sp>
        <p:nvSpPr>
          <p:cNvPr id="5" name="Footer Placeholder 4">
            <a:extLst>
              <a:ext uri="{FF2B5EF4-FFF2-40B4-BE49-F238E27FC236}">
                <a16:creationId xmlns:a16="http://schemas.microsoft.com/office/drawing/2014/main" id="{5424B0FA-0456-4C2D-816B-1FC4D3A68B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133975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46A3-1632-48AF-9490-9293228177F0}"/>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(5 of 7)</a:t>
            </a:r>
            <a:endParaRPr lang="en-US" sz="2400" dirty="0"/>
          </a:p>
        </p:txBody>
      </p:sp>
      <p:sp>
        <p:nvSpPr>
          <p:cNvPr id="3" name="Content Placeholder 2">
            <a:extLst>
              <a:ext uri="{FF2B5EF4-FFF2-40B4-BE49-F238E27FC236}">
                <a16:creationId xmlns:a16="http://schemas.microsoft.com/office/drawing/2014/main" id="{EE60DB6A-D008-4360-B4DA-1BC9D9AEC0F5}"/>
              </a:ext>
            </a:extLst>
          </p:cNvPr>
          <p:cNvSpPr>
            <a:spLocks noGrp="1"/>
          </p:cNvSpPr>
          <p:nvPr>
            <p:ph sz="quarter" idx="16"/>
          </p:nvPr>
        </p:nvSpPr>
        <p:spPr>
          <a:xfrm>
            <a:off x="304800" y="1828799"/>
            <a:ext cx="8610600" cy="4267199"/>
          </a:xfrm>
        </p:spPr>
        <p:txBody>
          <a:bodyPr/>
          <a:lstStyle/>
          <a:p>
            <a:r>
              <a:rPr lang="en-US" altLang="en-US" sz="2600" b="1" dirty="0"/>
              <a:t>Trademarks and Trade Names</a:t>
            </a:r>
            <a:endParaRPr lang="en-US" altLang="en-US" sz="2600" dirty="0"/>
          </a:p>
          <a:p>
            <a:pPr marL="292608" indent="-292608">
              <a:buClr>
                <a:srgbClr val="990000"/>
              </a:buClr>
              <a:buFont typeface="Arial" panose="020B0604020202020204" pitchFamily="34" charset="0"/>
              <a:buChar char="•"/>
            </a:pPr>
            <a:r>
              <a:rPr lang="en-US" altLang="en-US" sz="2600" dirty="0"/>
              <a:t>Word, phrase, jingle, or symbol that identifies a particular enterprise or product</a:t>
            </a:r>
          </a:p>
          <a:p>
            <a:pPr marL="621792" indent="-320040">
              <a:spcBef>
                <a:spcPts val="500"/>
              </a:spcBef>
              <a:buClr>
                <a:srgbClr val="990000"/>
              </a:buClr>
              <a:buSzPct val="80000"/>
              <a:buFont typeface="Courier New" panose="02070309020205020404" pitchFamily="49" charset="0"/>
              <a:buChar char="o"/>
            </a:pPr>
            <a:r>
              <a:rPr lang="en-US" altLang="en-US" sz="2400" dirty="0"/>
              <a:t>Monopoly, Coca-Cola, Big Mac, and Jeep</a:t>
            </a:r>
          </a:p>
          <a:p>
            <a:pPr marL="292608" indent="-292608">
              <a:buClr>
                <a:srgbClr val="990000"/>
              </a:buClr>
              <a:buFont typeface="Arial" panose="020B0604020202020204" pitchFamily="34" charset="0"/>
              <a:buChar char="•"/>
            </a:pPr>
            <a:r>
              <a:rPr lang="en-US" altLang="en-US" sz="2600" dirty="0"/>
              <a:t>Legal protection for indefinite number of </a:t>
            </a:r>
            <a:r>
              <a:rPr lang="en-US" altLang="en-US" sz="2600" b="1" dirty="0"/>
              <a:t>20 year renewal periods</a:t>
            </a:r>
          </a:p>
          <a:p>
            <a:pPr marL="292608" indent="-292608">
              <a:buClr>
                <a:srgbClr val="990000"/>
              </a:buClr>
              <a:buFont typeface="Arial" panose="020B0604020202020204" pitchFamily="34" charset="0"/>
              <a:buChar char="•"/>
            </a:pPr>
            <a:r>
              <a:rPr lang="en-US" altLang="en-US" sz="2600" dirty="0"/>
              <a:t>Capitalize acquisition costs</a:t>
            </a:r>
          </a:p>
          <a:p>
            <a:pPr marL="292608" indent="-292608">
              <a:buClr>
                <a:srgbClr val="990000"/>
              </a:buClr>
              <a:buFont typeface="Arial" panose="020B0604020202020204" pitchFamily="34" charset="0"/>
              <a:buChar char="•"/>
            </a:pPr>
            <a:r>
              <a:rPr lang="en-US" altLang="en-US" sz="2600" dirty="0"/>
              <a:t>No amortization (because trademarks and trade names have indefinite lives)</a:t>
            </a:r>
          </a:p>
        </p:txBody>
      </p:sp>
      <p:sp>
        <p:nvSpPr>
          <p:cNvPr id="4" name="Slide Number Placeholder 3">
            <a:extLst>
              <a:ext uri="{FF2B5EF4-FFF2-40B4-BE49-F238E27FC236}">
                <a16:creationId xmlns:a16="http://schemas.microsoft.com/office/drawing/2014/main" id="{D557E811-C96D-4009-8D8D-A3B0764C2CC6}"/>
              </a:ext>
            </a:extLst>
          </p:cNvPr>
          <p:cNvSpPr>
            <a:spLocks noGrp="1"/>
          </p:cNvSpPr>
          <p:nvPr>
            <p:ph type="sldNum" sz="quarter" idx="10"/>
          </p:nvPr>
        </p:nvSpPr>
        <p:spPr/>
        <p:txBody>
          <a:bodyPr/>
          <a:lstStyle/>
          <a:p>
            <a:fld id="{67B19427-F580-D146-B60E-4CADEE75497F}" type="slidenum">
              <a:rPr lang="en-US" smtClean="0"/>
              <a:pPr/>
              <a:t>34</a:t>
            </a:fld>
            <a:endParaRPr lang="en-US" dirty="0"/>
          </a:p>
        </p:txBody>
      </p:sp>
      <p:sp>
        <p:nvSpPr>
          <p:cNvPr id="5" name="Footer Placeholder 4">
            <a:extLst>
              <a:ext uri="{FF2B5EF4-FFF2-40B4-BE49-F238E27FC236}">
                <a16:creationId xmlns:a16="http://schemas.microsoft.com/office/drawing/2014/main" id="{5424B0FA-0456-4C2D-816B-1FC4D3A68B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4115507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46A3-1632-48AF-9490-9293228177F0}"/>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(6 of 7)</a:t>
            </a:r>
            <a:endParaRPr lang="en-US" sz="2400" dirty="0"/>
          </a:p>
        </p:txBody>
      </p:sp>
      <p:sp>
        <p:nvSpPr>
          <p:cNvPr id="3" name="Content Placeholder 2">
            <a:extLst>
              <a:ext uri="{FF2B5EF4-FFF2-40B4-BE49-F238E27FC236}">
                <a16:creationId xmlns:a16="http://schemas.microsoft.com/office/drawing/2014/main" id="{EE60DB6A-D008-4360-B4DA-1BC9D9AEC0F5}"/>
              </a:ext>
            </a:extLst>
          </p:cNvPr>
          <p:cNvSpPr>
            <a:spLocks noGrp="1"/>
          </p:cNvSpPr>
          <p:nvPr>
            <p:ph sz="quarter" idx="16"/>
          </p:nvPr>
        </p:nvSpPr>
        <p:spPr>
          <a:xfrm>
            <a:off x="304800" y="1447800"/>
            <a:ext cx="8534400" cy="4419600"/>
          </a:xfrm>
        </p:spPr>
        <p:txBody>
          <a:bodyPr/>
          <a:lstStyle/>
          <a:p>
            <a:r>
              <a:rPr lang="en-US" altLang="en-US" sz="2600" b="1" dirty="0"/>
              <a:t>Franchises</a:t>
            </a:r>
            <a:endParaRPr lang="en-US" altLang="en-US" sz="2600" dirty="0"/>
          </a:p>
          <a:p>
            <a:pPr marL="292608" indent="-292608">
              <a:buClr>
                <a:srgbClr val="990000"/>
              </a:buClr>
              <a:buFont typeface="Arial" panose="020B0604020202020204" pitchFamily="34" charset="0"/>
              <a:buChar char="•"/>
            </a:pPr>
            <a:r>
              <a:rPr lang="en-US" altLang="en-US" sz="2600" dirty="0"/>
              <a:t>Contractual arrangement between a franchisor and a franchisee</a:t>
            </a:r>
          </a:p>
          <a:p>
            <a:pPr marL="978408" lvl="1" indent="-292608">
              <a:buClr>
                <a:srgbClr val="990000"/>
              </a:buClr>
              <a:buFont typeface="Arial" panose="020B0604020202020204" pitchFamily="34" charset="0"/>
              <a:buChar char="•"/>
            </a:pPr>
            <a:r>
              <a:rPr lang="en-US" altLang="en-US" sz="2200" dirty="0"/>
              <a:t>The franchisor grants the franchisee the right to sell certain products, perform specific services, or use certain trademarks or trade names, usually within a designated geographic area.</a:t>
            </a:r>
          </a:p>
          <a:p>
            <a:pPr marL="621792" indent="-320040">
              <a:spcBef>
                <a:spcPts val="500"/>
              </a:spcBef>
              <a:buClr>
                <a:srgbClr val="990000"/>
              </a:buClr>
              <a:buSzPct val="80000"/>
              <a:buFont typeface="Courier New" panose="02070309020205020404" pitchFamily="49" charset="0"/>
              <a:buChar char="o"/>
            </a:pPr>
            <a:r>
              <a:rPr lang="en-US" altLang="en-US" sz="2400" dirty="0"/>
              <a:t>KFC and McDonald’s are franchises</a:t>
            </a:r>
          </a:p>
          <a:p>
            <a:pPr marL="292608" indent="-292608">
              <a:buClr>
                <a:srgbClr val="990000"/>
              </a:buClr>
              <a:buFont typeface="Arial" panose="020B0604020202020204" pitchFamily="34" charset="0"/>
              <a:buChar char="•"/>
            </a:pPr>
            <a:r>
              <a:rPr lang="en-US" altLang="en-US" sz="2600" dirty="0"/>
              <a:t>Franchise or license </a:t>
            </a:r>
            <a:r>
              <a:rPr lang="en-US" altLang="en-US" sz="2600" i="1" dirty="0"/>
              <a:t>(another type of franchise)</a:t>
            </a:r>
            <a:r>
              <a:rPr lang="en-US" altLang="en-US" sz="2600" dirty="0"/>
              <a:t> with a limited life should be amortized to expense over its useful life</a:t>
            </a:r>
          </a:p>
          <a:p>
            <a:pPr marL="292608" indent="-292608">
              <a:buClr>
                <a:srgbClr val="990000"/>
              </a:buClr>
              <a:buFont typeface="Arial" panose="020B0604020202020204" pitchFamily="34" charset="0"/>
              <a:buChar char="•"/>
            </a:pPr>
            <a:r>
              <a:rPr lang="en-US" altLang="en-US" sz="2600" dirty="0"/>
              <a:t>If life is indefinite, cost is not amortized</a:t>
            </a:r>
          </a:p>
        </p:txBody>
      </p:sp>
      <p:sp>
        <p:nvSpPr>
          <p:cNvPr id="4" name="Slide Number Placeholder 3">
            <a:extLst>
              <a:ext uri="{FF2B5EF4-FFF2-40B4-BE49-F238E27FC236}">
                <a16:creationId xmlns:a16="http://schemas.microsoft.com/office/drawing/2014/main" id="{D557E811-C96D-4009-8D8D-A3B0764C2CC6}"/>
              </a:ext>
            </a:extLst>
          </p:cNvPr>
          <p:cNvSpPr>
            <a:spLocks noGrp="1"/>
          </p:cNvSpPr>
          <p:nvPr>
            <p:ph type="sldNum" sz="quarter" idx="10"/>
          </p:nvPr>
        </p:nvSpPr>
        <p:spPr/>
        <p:txBody>
          <a:bodyPr/>
          <a:lstStyle/>
          <a:p>
            <a:fld id="{67B19427-F580-D146-B60E-4CADEE75497F}" type="slidenum">
              <a:rPr lang="en-US" smtClean="0"/>
              <a:pPr/>
              <a:t>35</a:t>
            </a:fld>
            <a:endParaRPr lang="en-US" dirty="0"/>
          </a:p>
        </p:txBody>
      </p:sp>
      <p:sp>
        <p:nvSpPr>
          <p:cNvPr id="5" name="Footer Placeholder 4">
            <a:extLst>
              <a:ext uri="{FF2B5EF4-FFF2-40B4-BE49-F238E27FC236}">
                <a16:creationId xmlns:a16="http://schemas.microsoft.com/office/drawing/2014/main" id="{5424B0FA-0456-4C2D-816B-1FC4D3A68B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148991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46A3-1632-48AF-9490-9293228177F0}"/>
              </a:ext>
            </a:extLst>
          </p:cNvPr>
          <p:cNvSpPr>
            <a:spLocks noGrp="1"/>
          </p:cNvSpPr>
          <p:nvPr>
            <p:ph type="title"/>
          </p:nvPr>
        </p:nvSpPr>
        <p:spPr/>
        <p:txBody>
          <a:bodyPr>
            <a:normAutofit fontScale="90000"/>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a:t>
            </a:r>
            <a:r>
              <a:rPr lang="en-US" altLang="en-US" sz="2400" b="1" dirty="0"/>
              <a:t>Franchises</a:t>
            </a:r>
            <a:r>
              <a:rPr lang="en-US" sz="2400" dirty="0">
                <a:latin typeface="Calibri" panose="020F0502020204030204" pitchFamily="34" charset="0"/>
                <a:ea typeface="Source Sans Pro" charset="0"/>
                <a:cs typeface="Calibri" panose="020F0502020204030204" pitchFamily="34" charset="0"/>
              </a:rPr>
              <a:t>)</a:t>
            </a:r>
            <a:endParaRPr lang="en-US" sz="2400" dirty="0"/>
          </a:p>
        </p:txBody>
      </p:sp>
      <p:sp>
        <p:nvSpPr>
          <p:cNvPr id="4" name="Slide Number Placeholder 3">
            <a:extLst>
              <a:ext uri="{FF2B5EF4-FFF2-40B4-BE49-F238E27FC236}">
                <a16:creationId xmlns:a16="http://schemas.microsoft.com/office/drawing/2014/main" id="{D557E811-C96D-4009-8D8D-A3B0764C2CC6}"/>
              </a:ext>
            </a:extLst>
          </p:cNvPr>
          <p:cNvSpPr>
            <a:spLocks noGrp="1"/>
          </p:cNvSpPr>
          <p:nvPr>
            <p:ph type="sldNum" sz="quarter" idx="10"/>
          </p:nvPr>
        </p:nvSpPr>
        <p:spPr/>
        <p:txBody>
          <a:bodyPr/>
          <a:lstStyle/>
          <a:p>
            <a:fld id="{67B19427-F580-D146-B60E-4CADEE75497F}" type="slidenum">
              <a:rPr lang="en-US" smtClean="0"/>
              <a:pPr/>
              <a:t>36</a:t>
            </a:fld>
            <a:endParaRPr lang="en-US" dirty="0"/>
          </a:p>
        </p:txBody>
      </p:sp>
      <p:sp>
        <p:nvSpPr>
          <p:cNvPr id="5" name="Footer Placeholder 4">
            <a:extLst>
              <a:ext uri="{FF2B5EF4-FFF2-40B4-BE49-F238E27FC236}">
                <a16:creationId xmlns:a16="http://schemas.microsoft.com/office/drawing/2014/main" id="{5424B0FA-0456-4C2D-816B-1FC4D3A68B81}"/>
              </a:ext>
            </a:extLst>
          </p:cNvPr>
          <p:cNvSpPr>
            <a:spLocks noGrp="1"/>
          </p:cNvSpPr>
          <p:nvPr>
            <p:ph type="ftr" sz="quarter" idx="11"/>
          </p:nvPr>
        </p:nvSpPr>
        <p:spPr/>
        <p:txBody>
          <a:bodyPr/>
          <a:lstStyle/>
          <a:p>
            <a:r>
              <a:rPr lang="en-US"/>
              <a:t>Copyright ©2018 John Wiley &amp; Sons, Inc. </a:t>
            </a:r>
            <a:endParaRPr lang="en-US" dirty="0"/>
          </a:p>
        </p:txBody>
      </p:sp>
      <p:pic>
        <p:nvPicPr>
          <p:cNvPr id="8" name="Picture 7">
            <a:extLst>
              <a:ext uri="{FF2B5EF4-FFF2-40B4-BE49-F238E27FC236}">
                <a16:creationId xmlns:a16="http://schemas.microsoft.com/office/drawing/2014/main" id="{C9EE7C1A-1CD8-4EF4-9EE6-A3B62AB59984}"/>
              </a:ext>
            </a:extLst>
          </p:cNvPr>
          <p:cNvPicPr>
            <a:picLocks noChangeAspect="1"/>
          </p:cNvPicPr>
          <p:nvPr/>
        </p:nvPicPr>
        <p:blipFill>
          <a:blip r:embed="rId3"/>
          <a:stretch>
            <a:fillRect/>
          </a:stretch>
        </p:blipFill>
        <p:spPr>
          <a:xfrm>
            <a:off x="152400" y="1814855"/>
            <a:ext cx="8888671" cy="3138145"/>
          </a:xfrm>
          <a:prstGeom prst="rect">
            <a:avLst/>
          </a:prstGeom>
        </p:spPr>
      </p:pic>
    </p:spTree>
    <p:extLst>
      <p:ext uri="{BB962C8B-B14F-4D97-AF65-F5344CB8AC3E}">
        <p14:creationId xmlns:p14="http://schemas.microsoft.com/office/powerpoint/2010/main" val="30647469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46A3-1632-48AF-9490-9293228177F0}"/>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Intangible Assets </a:t>
            </a:r>
            <a:r>
              <a:rPr lang="en-US" sz="2400" dirty="0">
                <a:latin typeface="Calibri" panose="020F0502020204030204" pitchFamily="34" charset="0"/>
                <a:ea typeface="Source Sans Pro" charset="0"/>
                <a:cs typeface="Calibri" panose="020F0502020204030204" pitchFamily="34" charset="0"/>
              </a:rPr>
              <a:t>(7 of 7)</a:t>
            </a:r>
            <a:endParaRPr lang="en-US" sz="2400" dirty="0"/>
          </a:p>
        </p:txBody>
      </p:sp>
      <p:sp>
        <p:nvSpPr>
          <p:cNvPr id="3" name="Content Placeholder 2">
            <a:extLst>
              <a:ext uri="{FF2B5EF4-FFF2-40B4-BE49-F238E27FC236}">
                <a16:creationId xmlns:a16="http://schemas.microsoft.com/office/drawing/2014/main" id="{EE60DB6A-D008-4360-B4DA-1BC9D9AEC0F5}"/>
              </a:ext>
            </a:extLst>
          </p:cNvPr>
          <p:cNvSpPr>
            <a:spLocks noGrp="1"/>
          </p:cNvSpPr>
          <p:nvPr>
            <p:ph sz="quarter" idx="16"/>
          </p:nvPr>
        </p:nvSpPr>
        <p:spPr>
          <a:xfrm>
            <a:off x="304800" y="1828800"/>
            <a:ext cx="8534400" cy="3581400"/>
          </a:xfrm>
        </p:spPr>
        <p:txBody>
          <a:bodyPr/>
          <a:lstStyle/>
          <a:p>
            <a:r>
              <a:rPr lang="en-US" altLang="en-US" sz="2400" b="1" dirty="0"/>
              <a:t>Goodwill</a:t>
            </a:r>
            <a:endParaRPr lang="en-US" altLang="en-US" sz="2400" dirty="0"/>
          </a:p>
          <a:p>
            <a:pPr marL="292608" indent="-292608">
              <a:buClr>
                <a:srgbClr val="990000"/>
              </a:buClr>
              <a:buFont typeface="Arial" panose="020B0604020202020204" pitchFamily="34" charset="0"/>
              <a:buChar char="•"/>
            </a:pPr>
            <a:r>
              <a:rPr lang="en-US" altLang="en-US" sz="2400" dirty="0"/>
              <a:t>represents the value of all favorable attributes that relate to a company that are not attributable to any other specific asset. These include exceptional management, desirable location, good customer relations, skilled employees, high-quality products, etc.</a:t>
            </a:r>
          </a:p>
          <a:p>
            <a:pPr marL="292608" indent="-292608">
              <a:buClr>
                <a:srgbClr val="990000"/>
              </a:buClr>
              <a:buFont typeface="Arial" panose="020B0604020202020204" pitchFamily="34" charset="0"/>
              <a:buChar char="•"/>
            </a:pPr>
            <a:r>
              <a:rPr lang="en-US" altLang="en-US" sz="2400" b="1" dirty="0"/>
              <a:t>Only recorded</a:t>
            </a:r>
            <a:r>
              <a:rPr lang="en-US" altLang="en-US" sz="2400" dirty="0"/>
              <a:t> when an </a:t>
            </a:r>
            <a:r>
              <a:rPr lang="en-US" altLang="en-US" sz="2400" b="1" dirty="0"/>
              <a:t>entire business is purchased</a:t>
            </a:r>
          </a:p>
          <a:p>
            <a:pPr marL="292608" indent="-292608">
              <a:buClr>
                <a:srgbClr val="990000"/>
              </a:buClr>
              <a:buFont typeface="Arial" panose="020B0604020202020204" pitchFamily="34" charset="0"/>
              <a:buChar char="•"/>
            </a:pPr>
            <a:r>
              <a:rPr lang="en-US" altLang="en-US" sz="2400" dirty="0"/>
              <a:t>Goodwill is recorded as excess of </a:t>
            </a:r>
            <a:r>
              <a:rPr lang="en-US" altLang="en-US" sz="2400" b="1" dirty="0">
                <a:solidFill>
                  <a:schemeClr val="accent2"/>
                </a:solidFill>
              </a:rPr>
              <a:t>purchase price over fair value of net assets</a:t>
            </a:r>
            <a:r>
              <a:rPr lang="en-US" altLang="en-US" sz="2400" dirty="0"/>
              <a:t> acquired</a:t>
            </a:r>
          </a:p>
          <a:p>
            <a:pPr marL="292608" indent="-292608">
              <a:buClr>
                <a:srgbClr val="990000"/>
              </a:buClr>
              <a:buFont typeface="Arial" panose="020B0604020202020204" pitchFamily="34" charset="0"/>
              <a:buChar char="•"/>
            </a:pPr>
            <a:r>
              <a:rPr lang="en-US" altLang="en-US" sz="2400" dirty="0"/>
              <a:t>Not amortized (because it is considered to have an indefinite life)</a:t>
            </a:r>
          </a:p>
        </p:txBody>
      </p:sp>
      <p:sp>
        <p:nvSpPr>
          <p:cNvPr id="4" name="Slide Number Placeholder 3">
            <a:extLst>
              <a:ext uri="{FF2B5EF4-FFF2-40B4-BE49-F238E27FC236}">
                <a16:creationId xmlns:a16="http://schemas.microsoft.com/office/drawing/2014/main" id="{D557E811-C96D-4009-8D8D-A3B0764C2CC6}"/>
              </a:ext>
            </a:extLst>
          </p:cNvPr>
          <p:cNvSpPr>
            <a:spLocks noGrp="1"/>
          </p:cNvSpPr>
          <p:nvPr>
            <p:ph type="sldNum" sz="quarter" idx="10"/>
          </p:nvPr>
        </p:nvSpPr>
        <p:spPr/>
        <p:txBody>
          <a:bodyPr/>
          <a:lstStyle/>
          <a:p>
            <a:fld id="{67B19427-F580-D146-B60E-4CADEE75497F}" type="slidenum">
              <a:rPr lang="en-US" smtClean="0"/>
              <a:pPr/>
              <a:t>37</a:t>
            </a:fld>
            <a:endParaRPr lang="en-US" dirty="0"/>
          </a:p>
        </p:txBody>
      </p:sp>
      <p:sp>
        <p:nvSpPr>
          <p:cNvPr id="5" name="Footer Placeholder 4">
            <a:extLst>
              <a:ext uri="{FF2B5EF4-FFF2-40B4-BE49-F238E27FC236}">
                <a16:creationId xmlns:a16="http://schemas.microsoft.com/office/drawing/2014/main" id="{5424B0FA-0456-4C2D-816B-1FC4D3A68B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7126050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46A3-1632-48AF-9490-9293228177F0}"/>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Research and Development Costs</a:t>
            </a:r>
            <a:endParaRPr lang="en-US" sz="2400" dirty="0"/>
          </a:p>
        </p:txBody>
      </p:sp>
      <p:sp>
        <p:nvSpPr>
          <p:cNvPr id="3" name="Content Placeholder 2">
            <a:extLst>
              <a:ext uri="{FF2B5EF4-FFF2-40B4-BE49-F238E27FC236}">
                <a16:creationId xmlns:a16="http://schemas.microsoft.com/office/drawing/2014/main" id="{EE60DB6A-D008-4360-B4DA-1BC9D9AEC0F5}"/>
              </a:ext>
            </a:extLst>
          </p:cNvPr>
          <p:cNvSpPr>
            <a:spLocks noGrp="1"/>
          </p:cNvSpPr>
          <p:nvPr>
            <p:ph sz="quarter" idx="16"/>
          </p:nvPr>
        </p:nvSpPr>
        <p:spPr>
          <a:xfrm>
            <a:off x="304800" y="1828800"/>
            <a:ext cx="8534400" cy="4038600"/>
          </a:xfrm>
        </p:spPr>
        <p:txBody>
          <a:bodyPr/>
          <a:lstStyle/>
          <a:p>
            <a:pPr marL="457200" indent="-457200">
              <a:buClr>
                <a:srgbClr val="990000"/>
              </a:buClr>
              <a:buFont typeface="Arial" panose="020B0604020202020204" pitchFamily="34" charset="0"/>
              <a:buChar char="•"/>
            </a:pPr>
            <a:r>
              <a:rPr lang="en-US" altLang="en-US" dirty="0"/>
              <a:t>Research and development costs are expenditures that may lead to patents, copyrights, new processes, and new products.</a:t>
            </a:r>
          </a:p>
          <a:p>
            <a:pPr marL="457200" indent="-457200">
              <a:buClr>
                <a:srgbClr val="990000"/>
              </a:buClr>
              <a:buFont typeface="Arial" panose="020B0604020202020204" pitchFamily="34" charset="0"/>
              <a:buChar char="•"/>
            </a:pPr>
            <a:r>
              <a:rPr lang="en-US" altLang="en-US" dirty="0"/>
              <a:t>R&amp;D costs present accounting problems. For one thing, it is sometimes difficult to assign the costs to specific projects. Also, there are uncertainties in identifying the extent and timing of future benefits. </a:t>
            </a:r>
          </a:p>
          <a:p>
            <a:pPr marL="1143000" lvl="1" indent="-457200">
              <a:buClr>
                <a:srgbClr val="990000"/>
              </a:buClr>
              <a:buFont typeface="Arial" panose="020B0604020202020204" pitchFamily="34" charset="0"/>
              <a:buChar char="•"/>
            </a:pPr>
            <a:r>
              <a:rPr lang="en-US" altLang="en-US" dirty="0"/>
              <a:t>As a result, companies usually record R&amp;D costs as an </a:t>
            </a:r>
            <a:r>
              <a:rPr lang="en-US" altLang="en-US" b="1" dirty="0"/>
              <a:t>expense</a:t>
            </a:r>
            <a:r>
              <a:rPr lang="en-US" altLang="en-US" dirty="0"/>
              <a:t> when incurred, whether the research and development is successful or not.</a:t>
            </a:r>
          </a:p>
        </p:txBody>
      </p:sp>
      <p:sp>
        <p:nvSpPr>
          <p:cNvPr id="4" name="Slide Number Placeholder 3">
            <a:extLst>
              <a:ext uri="{FF2B5EF4-FFF2-40B4-BE49-F238E27FC236}">
                <a16:creationId xmlns:a16="http://schemas.microsoft.com/office/drawing/2014/main" id="{D557E811-C96D-4009-8D8D-A3B0764C2CC6}"/>
              </a:ext>
            </a:extLst>
          </p:cNvPr>
          <p:cNvSpPr>
            <a:spLocks noGrp="1"/>
          </p:cNvSpPr>
          <p:nvPr>
            <p:ph type="sldNum" sz="quarter" idx="10"/>
          </p:nvPr>
        </p:nvSpPr>
        <p:spPr/>
        <p:txBody>
          <a:bodyPr/>
          <a:lstStyle/>
          <a:p>
            <a:fld id="{67B19427-F580-D146-B60E-4CADEE75497F}" type="slidenum">
              <a:rPr lang="en-US" smtClean="0"/>
              <a:pPr/>
              <a:t>38</a:t>
            </a:fld>
            <a:endParaRPr lang="en-US" dirty="0"/>
          </a:p>
        </p:txBody>
      </p:sp>
      <p:sp>
        <p:nvSpPr>
          <p:cNvPr id="5" name="Footer Placeholder 4">
            <a:extLst>
              <a:ext uri="{FF2B5EF4-FFF2-40B4-BE49-F238E27FC236}">
                <a16:creationId xmlns:a16="http://schemas.microsoft.com/office/drawing/2014/main" id="{5424B0FA-0456-4C2D-816B-1FC4D3A68B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8646120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D42D-CB24-4CC4-BA32-62B10E9D8B8A}"/>
              </a:ext>
            </a:extLst>
          </p:cNvPr>
          <p:cNvSpPr>
            <a:spLocks noGrp="1"/>
          </p:cNvSpPr>
          <p:nvPr>
            <p:ph type="title"/>
          </p:nvPr>
        </p:nvSpPr>
        <p:spPr>
          <a:xfrm>
            <a:off x="304800" y="762001"/>
            <a:ext cx="8534400" cy="794330"/>
          </a:xfrm>
        </p:spPr>
        <p:txBody>
          <a:bodyPr>
            <a:normAutofit fontScale="90000"/>
          </a:bodyPr>
          <a:lstStyle/>
          <a:p>
            <a:r>
              <a:rPr lang="en-US" b="1" dirty="0">
                <a:ea typeface="Source Sans Pro" charset="0"/>
              </a:rPr>
              <a:t>Do It </a:t>
            </a:r>
            <a:r>
              <a:rPr lang="en-US" b="1" dirty="0">
                <a:solidFill>
                  <a:srgbClr val="FF0000"/>
                </a:solidFill>
                <a:ea typeface="Source Sans Pro" charset="0"/>
              </a:rPr>
              <a:t>AT HOME</a:t>
            </a:r>
            <a:r>
              <a:rPr lang="en-US" b="1" dirty="0">
                <a:ea typeface="Source Sans Pro" charset="0"/>
              </a:rPr>
              <a:t>! 4: </a:t>
            </a:r>
            <a:r>
              <a:rPr lang="en-US" b="1" dirty="0">
                <a:solidFill>
                  <a:srgbClr val="196E78"/>
                </a:solidFill>
                <a:ea typeface="Source Sans Pro" charset="0"/>
              </a:rPr>
              <a:t>Classification Concepts </a:t>
            </a:r>
            <a:r>
              <a:rPr lang="en-US" sz="2400" dirty="0">
                <a:solidFill>
                  <a:srgbClr val="196E78"/>
                </a:solidFill>
                <a:ea typeface="Source Sans Pro" charset="0"/>
              </a:rPr>
              <a:t>(1 of 4)</a:t>
            </a:r>
            <a:endParaRPr lang="en-US" sz="2400" dirty="0"/>
          </a:p>
        </p:txBody>
      </p:sp>
      <p:sp>
        <p:nvSpPr>
          <p:cNvPr id="3" name="Content Placeholder 2">
            <a:extLst>
              <a:ext uri="{FF2B5EF4-FFF2-40B4-BE49-F238E27FC236}">
                <a16:creationId xmlns:a16="http://schemas.microsoft.com/office/drawing/2014/main" id="{A8038711-5FF5-4A2C-A6C7-1B308F930650}"/>
              </a:ext>
            </a:extLst>
          </p:cNvPr>
          <p:cNvSpPr>
            <a:spLocks noGrp="1"/>
          </p:cNvSpPr>
          <p:nvPr>
            <p:ph sz="quarter" idx="16"/>
          </p:nvPr>
        </p:nvSpPr>
        <p:spPr>
          <a:xfrm>
            <a:off x="304800" y="1828800"/>
            <a:ext cx="8534400" cy="3200400"/>
          </a:xfrm>
        </p:spPr>
        <p:txBody>
          <a:bodyPr/>
          <a:lstStyle/>
          <a:p>
            <a:r>
              <a:rPr lang="en-US" sz="2400" dirty="0"/>
              <a:t>Identify the term most directly associated with each statement.</a:t>
            </a:r>
          </a:p>
          <a:p>
            <a:pPr marL="402336" indent="-402336">
              <a:buClr>
                <a:schemeClr val="accent2"/>
              </a:buClr>
              <a:buFont typeface="+mj-lt"/>
              <a:buAutoNum type="arabicPeriod"/>
            </a:pPr>
            <a:r>
              <a:rPr lang="en-US" sz="2400" dirty="0"/>
              <a:t>The allocation of the cost of a natural resource to expense in a rational and systematic manner.</a:t>
            </a:r>
          </a:p>
          <a:p>
            <a:pPr marL="402336" indent="-402336">
              <a:buClr>
                <a:schemeClr val="accent2"/>
              </a:buClr>
              <a:buFont typeface="+mj-lt"/>
              <a:buAutoNum type="arabicPeriod"/>
            </a:pPr>
            <a:r>
              <a:rPr lang="en-US" sz="2400" dirty="0"/>
              <a:t>Rights, privileges, and competitive advantages that result from the ownership of long-lived assets that do not possess physical substance.</a:t>
            </a:r>
          </a:p>
          <a:p>
            <a:pPr marL="402336" indent="-402336">
              <a:buClr>
                <a:schemeClr val="accent2"/>
              </a:buClr>
              <a:buFont typeface="+mj-lt"/>
              <a:buAutoNum type="arabicPeriod"/>
            </a:pPr>
            <a:r>
              <a:rPr lang="en-US" sz="2400" dirty="0"/>
              <a:t>An exclusive right granted by the federal government to reproduce and sell an artistic or published work.</a:t>
            </a:r>
            <a:endParaRPr lang="en-US" altLang="en-US" sz="2400" b="1" dirty="0"/>
          </a:p>
        </p:txBody>
      </p:sp>
      <p:sp>
        <p:nvSpPr>
          <p:cNvPr id="5" name="Content Placeholder 4">
            <a:extLst>
              <a:ext uri="{FF2B5EF4-FFF2-40B4-BE49-F238E27FC236}">
                <a16:creationId xmlns:a16="http://schemas.microsoft.com/office/drawing/2014/main" id="{41069E57-5A5A-4FAC-A224-F7701D0DD4ED}"/>
              </a:ext>
            </a:extLst>
          </p:cNvPr>
          <p:cNvSpPr>
            <a:spLocks noGrp="1"/>
          </p:cNvSpPr>
          <p:nvPr>
            <p:ph sz="quarter" idx="18"/>
          </p:nvPr>
        </p:nvSpPr>
        <p:spPr>
          <a:xfrm>
            <a:off x="304800" y="5361993"/>
            <a:ext cx="457200" cy="365124"/>
          </a:xfrm>
        </p:spPr>
        <p:txBody>
          <a:bodyPr/>
          <a:lstStyle/>
          <a:p>
            <a:r>
              <a:rPr lang="en-US" altLang="en-US" sz="2400" dirty="0"/>
              <a:t>1.</a:t>
            </a:r>
            <a:endParaRPr lang="en-US" sz="2400" dirty="0"/>
          </a:p>
        </p:txBody>
      </p:sp>
      <p:sp>
        <p:nvSpPr>
          <p:cNvPr id="6" name="Content Placeholder 5">
            <a:extLst>
              <a:ext uri="{FF2B5EF4-FFF2-40B4-BE49-F238E27FC236}">
                <a16:creationId xmlns:a16="http://schemas.microsoft.com/office/drawing/2014/main" id="{24F229E6-C24F-428B-9373-64181AA83DF3}"/>
              </a:ext>
            </a:extLst>
          </p:cNvPr>
          <p:cNvSpPr>
            <a:spLocks noGrp="1"/>
          </p:cNvSpPr>
          <p:nvPr>
            <p:ph sz="quarter" idx="19"/>
          </p:nvPr>
        </p:nvSpPr>
        <p:spPr>
          <a:xfrm>
            <a:off x="2438400" y="5377869"/>
            <a:ext cx="514350" cy="365124"/>
          </a:xfrm>
        </p:spPr>
        <p:txBody>
          <a:bodyPr/>
          <a:lstStyle/>
          <a:p>
            <a:r>
              <a:rPr lang="en-US" sz="2400" dirty="0"/>
              <a:t>2.</a:t>
            </a:r>
          </a:p>
        </p:txBody>
      </p:sp>
      <p:sp>
        <p:nvSpPr>
          <p:cNvPr id="7" name="Content Placeholder 6">
            <a:extLst>
              <a:ext uri="{FF2B5EF4-FFF2-40B4-BE49-F238E27FC236}">
                <a16:creationId xmlns:a16="http://schemas.microsoft.com/office/drawing/2014/main" id="{C42A40C6-9ED8-4533-A4E5-DC3FF8B436F9}"/>
              </a:ext>
            </a:extLst>
          </p:cNvPr>
          <p:cNvSpPr>
            <a:spLocks noGrp="1"/>
          </p:cNvSpPr>
          <p:nvPr>
            <p:ph sz="quarter" idx="21"/>
          </p:nvPr>
        </p:nvSpPr>
        <p:spPr>
          <a:xfrm>
            <a:off x="5410200" y="5361994"/>
            <a:ext cx="457200" cy="380999"/>
          </a:xfrm>
        </p:spPr>
        <p:txBody>
          <a:bodyPr/>
          <a:lstStyle/>
          <a:p>
            <a:r>
              <a:rPr lang="en-US" altLang="en-US" sz="2400" dirty="0"/>
              <a:t>3.</a:t>
            </a:r>
            <a:endParaRPr lang="en-US" sz="2400" dirty="0"/>
          </a:p>
        </p:txBody>
      </p:sp>
      <p:sp>
        <p:nvSpPr>
          <p:cNvPr id="23" name="Slide Number Placeholder 22">
            <a:extLst>
              <a:ext uri="{FF2B5EF4-FFF2-40B4-BE49-F238E27FC236}">
                <a16:creationId xmlns:a16="http://schemas.microsoft.com/office/drawing/2014/main" id="{6EE6A733-4A3F-4896-84D0-0C14B085C6ED}"/>
              </a:ext>
            </a:extLst>
          </p:cNvPr>
          <p:cNvSpPr>
            <a:spLocks noGrp="1"/>
          </p:cNvSpPr>
          <p:nvPr>
            <p:ph type="sldNum" sz="quarter" idx="10"/>
          </p:nvPr>
        </p:nvSpPr>
        <p:spPr/>
        <p:txBody>
          <a:bodyPr/>
          <a:lstStyle/>
          <a:p>
            <a:fld id="{67B19427-F580-D146-B60E-4CADEE75497F}" type="slidenum">
              <a:rPr lang="en-US" smtClean="0"/>
              <a:pPr/>
              <a:t>39</a:t>
            </a:fld>
            <a:endParaRPr lang="en-US" dirty="0"/>
          </a:p>
        </p:txBody>
      </p:sp>
      <p:sp>
        <p:nvSpPr>
          <p:cNvPr id="24" name="Footer Placeholder 23">
            <a:extLst>
              <a:ext uri="{FF2B5EF4-FFF2-40B4-BE49-F238E27FC236}">
                <a16:creationId xmlns:a16="http://schemas.microsoft.com/office/drawing/2014/main" id="{01E8F17F-BE92-401A-9FE1-A18C0A646541}"/>
              </a:ext>
            </a:extLst>
          </p:cNvP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20882425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D42D-CB24-4CC4-BA32-62B10E9D8B8A}"/>
              </a:ext>
            </a:extLst>
          </p:cNvPr>
          <p:cNvSpPr>
            <a:spLocks noGrp="1"/>
          </p:cNvSpPr>
          <p:nvPr>
            <p:ph type="title"/>
          </p:nvPr>
        </p:nvSpPr>
        <p:spPr>
          <a:xfrm>
            <a:off x="304800" y="762001"/>
            <a:ext cx="8534400" cy="761999"/>
          </a:xfrm>
        </p:spPr>
        <p:txBody>
          <a:bodyPr>
            <a:normAutofit fontScale="90000"/>
          </a:bodyPr>
          <a:lstStyle/>
          <a:p>
            <a:r>
              <a:rPr lang="en-US" b="1" dirty="0">
                <a:ea typeface="Source Sans Pro" charset="0"/>
              </a:rPr>
              <a:t>Do It </a:t>
            </a:r>
            <a:r>
              <a:rPr lang="en-US" b="1" dirty="0">
                <a:solidFill>
                  <a:srgbClr val="FF0000"/>
                </a:solidFill>
                <a:ea typeface="Source Sans Pro" charset="0"/>
              </a:rPr>
              <a:t>AT HOME</a:t>
            </a:r>
            <a:r>
              <a:rPr lang="en-US" b="1" dirty="0">
                <a:ea typeface="Source Sans Pro" charset="0"/>
              </a:rPr>
              <a:t>! 4: </a:t>
            </a:r>
            <a:r>
              <a:rPr lang="en-US" b="1" dirty="0">
                <a:solidFill>
                  <a:srgbClr val="196E78"/>
                </a:solidFill>
                <a:ea typeface="Source Sans Pro" charset="0"/>
              </a:rPr>
              <a:t>Classification Concepts </a:t>
            </a:r>
            <a:r>
              <a:rPr lang="en-US" sz="2400" dirty="0">
                <a:solidFill>
                  <a:srgbClr val="196E78"/>
                </a:solidFill>
                <a:ea typeface="Source Sans Pro" charset="0"/>
              </a:rPr>
              <a:t>(2 of 4)</a:t>
            </a:r>
            <a:endParaRPr lang="en-US" sz="2400" dirty="0"/>
          </a:p>
        </p:txBody>
      </p:sp>
      <p:sp>
        <p:nvSpPr>
          <p:cNvPr id="3" name="Content Placeholder 2">
            <a:extLst>
              <a:ext uri="{FF2B5EF4-FFF2-40B4-BE49-F238E27FC236}">
                <a16:creationId xmlns:a16="http://schemas.microsoft.com/office/drawing/2014/main" id="{A8038711-5FF5-4A2C-A6C7-1B308F930650}"/>
              </a:ext>
            </a:extLst>
          </p:cNvPr>
          <p:cNvSpPr>
            <a:spLocks noGrp="1"/>
          </p:cNvSpPr>
          <p:nvPr>
            <p:ph sz="quarter" idx="16"/>
          </p:nvPr>
        </p:nvSpPr>
        <p:spPr>
          <a:xfrm>
            <a:off x="304800" y="1828800"/>
            <a:ext cx="8534400" cy="3124200"/>
          </a:xfrm>
        </p:spPr>
        <p:txBody>
          <a:bodyPr/>
          <a:lstStyle/>
          <a:p>
            <a:r>
              <a:rPr lang="en-US" sz="2400" dirty="0"/>
              <a:t>Identify the term most directly associated with each statement.</a:t>
            </a:r>
          </a:p>
          <a:p>
            <a:pPr marL="402336" indent="-402336">
              <a:buClr>
                <a:schemeClr val="accent2"/>
              </a:buClr>
              <a:buFont typeface="+mj-lt"/>
              <a:buAutoNum type="arabicPeriod"/>
            </a:pPr>
            <a:r>
              <a:rPr lang="en-US" sz="2400" dirty="0"/>
              <a:t>The allocation of the cost of a natural resource to expense in a rational and systematic manner.</a:t>
            </a:r>
          </a:p>
          <a:p>
            <a:pPr marL="402336" indent="-402336">
              <a:buClr>
                <a:schemeClr val="accent2"/>
              </a:buClr>
              <a:buFont typeface="+mj-lt"/>
              <a:buAutoNum type="arabicPeriod"/>
            </a:pPr>
            <a:r>
              <a:rPr lang="en-US" sz="2400" dirty="0"/>
              <a:t>Rights, privileges, and competitive advantages that result from the ownership of long-lived assets that do not possess physical substance.</a:t>
            </a:r>
          </a:p>
          <a:p>
            <a:pPr marL="402336" indent="-402336">
              <a:buClr>
                <a:schemeClr val="accent2"/>
              </a:buClr>
              <a:buFont typeface="+mj-lt"/>
              <a:buAutoNum type="arabicPeriod"/>
            </a:pPr>
            <a:r>
              <a:rPr lang="en-US" sz="2400" dirty="0"/>
              <a:t>An exclusive right granted by the federal government to reproduce and sell an artistic or published work.</a:t>
            </a:r>
            <a:endParaRPr lang="en-US" altLang="en-US" sz="2400" b="1" dirty="0"/>
          </a:p>
        </p:txBody>
      </p:sp>
      <p:sp>
        <p:nvSpPr>
          <p:cNvPr id="5" name="Content Placeholder 4">
            <a:extLst>
              <a:ext uri="{FF2B5EF4-FFF2-40B4-BE49-F238E27FC236}">
                <a16:creationId xmlns:a16="http://schemas.microsoft.com/office/drawing/2014/main" id="{41069E57-5A5A-4FAC-A224-F7701D0DD4ED}"/>
              </a:ext>
            </a:extLst>
          </p:cNvPr>
          <p:cNvSpPr>
            <a:spLocks noGrp="1"/>
          </p:cNvSpPr>
          <p:nvPr>
            <p:ph sz="quarter" idx="18"/>
          </p:nvPr>
        </p:nvSpPr>
        <p:spPr>
          <a:xfrm>
            <a:off x="304800" y="5361993"/>
            <a:ext cx="1752600" cy="365124"/>
          </a:xfrm>
        </p:spPr>
        <p:txBody>
          <a:bodyPr/>
          <a:lstStyle/>
          <a:p>
            <a:r>
              <a:rPr lang="en-US" altLang="en-US" sz="2400" dirty="0"/>
              <a:t>1. Depletion</a:t>
            </a:r>
            <a:endParaRPr lang="en-US" sz="2400" dirty="0"/>
          </a:p>
        </p:txBody>
      </p:sp>
      <p:sp>
        <p:nvSpPr>
          <p:cNvPr id="6" name="Content Placeholder 5">
            <a:extLst>
              <a:ext uri="{FF2B5EF4-FFF2-40B4-BE49-F238E27FC236}">
                <a16:creationId xmlns:a16="http://schemas.microsoft.com/office/drawing/2014/main" id="{24F229E6-C24F-428B-9373-64181AA83DF3}"/>
              </a:ext>
            </a:extLst>
          </p:cNvPr>
          <p:cNvSpPr>
            <a:spLocks noGrp="1"/>
          </p:cNvSpPr>
          <p:nvPr>
            <p:ph sz="quarter" idx="19"/>
          </p:nvPr>
        </p:nvSpPr>
        <p:spPr>
          <a:xfrm>
            <a:off x="2438400" y="5377869"/>
            <a:ext cx="2590800" cy="365124"/>
          </a:xfrm>
        </p:spPr>
        <p:txBody>
          <a:bodyPr/>
          <a:lstStyle/>
          <a:p>
            <a:r>
              <a:rPr lang="en-US" sz="2400" dirty="0"/>
              <a:t>2. Intangible assets</a:t>
            </a:r>
          </a:p>
        </p:txBody>
      </p:sp>
      <p:sp>
        <p:nvSpPr>
          <p:cNvPr id="7" name="Content Placeholder 6">
            <a:extLst>
              <a:ext uri="{FF2B5EF4-FFF2-40B4-BE49-F238E27FC236}">
                <a16:creationId xmlns:a16="http://schemas.microsoft.com/office/drawing/2014/main" id="{C42A40C6-9ED8-4533-A4E5-DC3FF8B436F9}"/>
              </a:ext>
            </a:extLst>
          </p:cNvPr>
          <p:cNvSpPr>
            <a:spLocks noGrp="1"/>
          </p:cNvSpPr>
          <p:nvPr>
            <p:ph sz="quarter" idx="21"/>
          </p:nvPr>
        </p:nvSpPr>
        <p:spPr>
          <a:xfrm>
            <a:off x="5410200" y="5361994"/>
            <a:ext cx="1828800" cy="380999"/>
          </a:xfrm>
        </p:spPr>
        <p:txBody>
          <a:bodyPr/>
          <a:lstStyle/>
          <a:p>
            <a:r>
              <a:rPr lang="en-US" altLang="en-US" sz="2400" dirty="0"/>
              <a:t>3. </a:t>
            </a:r>
            <a:r>
              <a:rPr lang="en-US" sz="2400" dirty="0"/>
              <a:t>Copyrights</a:t>
            </a:r>
          </a:p>
        </p:txBody>
      </p:sp>
      <p:sp>
        <p:nvSpPr>
          <p:cNvPr id="23" name="Slide Number Placeholder 22">
            <a:extLst>
              <a:ext uri="{FF2B5EF4-FFF2-40B4-BE49-F238E27FC236}">
                <a16:creationId xmlns:a16="http://schemas.microsoft.com/office/drawing/2014/main" id="{6EE6A733-4A3F-4896-84D0-0C14B085C6ED}"/>
              </a:ext>
            </a:extLst>
          </p:cNvPr>
          <p:cNvSpPr>
            <a:spLocks noGrp="1"/>
          </p:cNvSpPr>
          <p:nvPr>
            <p:ph type="sldNum" sz="quarter" idx="10"/>
          </p:nvPr>
        </p:nvSpPr>
        <p:spPr/>
        <p:txBody>
          <a:bodyPr/>
          <a:lstStyle/>
          <a:p>
            <a:fld id="{67B19427-F580-D146-B60E-4CADEE75497F}" type="slidenum">
              <a:rPr lang="en-US" smtClean="0"/>
              <a:pPr/>
              <a:t>40</a:t>
            </a:fld>
            <a:endParaRPr lang="en-US" dirty="0"/>
          </a:p>
        </p:txBody>
      </p:sp>
      <p:sp>
        <p:nvSpPr>
          <p:cNvPr id="24" name="Footer Placeholder 23">
            <a:extLst>
              <a:ext uri="{FF2B5EF4-FFF2-40B4-BE49-F238E27FC236}">
                <a16:creationId xmlns:a16="http://schemas.microsoft.com/office/drawing/2014/main" id="{01E8F17F-BE92-401A-9FE1-A18C0A646541}"/>
              </a:ext>
            </a:extLst>
          </p:cNvP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37900508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D42D-CB24-4CC4-BA32-62B10E9D8B8A}"/>
              </a:ext>
            </a:extLst>
          </p:cNvPr>
          <p:cNvSpPr>
            <a:spLocks noGrp="1"/>
          </p:cNvSpPr>
          <p:nvPr>
            <p:ph type="title"/>
          </p:nvPr>
        </p:nvSpPr>
        <p:spPr>
          <a:xfrm>
            <a:off x="304800" y="762001"/>
            <a:ext cx="8534400" cy="761999"/>
          </a:xfrm>
        </p:spPr>
        <p:txBody>
          <a:bodyPr>
            <a:normAutofit fontScale="90000"/>
          </a:bodyPr>
          <a:lstStyle/>
          <a:p>
            <a:r>
              <a:rPr lang="en-US" b="1" dirty="0">
                <a:ea typeface="Source Sans Pro" charset="0"/>
              </a:rPr>
              <a:t>Do It </a:t>
            </a:r>
            <a:r>
              <a:rPr lang="en-US" b="1" dirty="0">
                <a:solidFill>
                  <a:srgbClr val="FF0000"/>
                </a:solidFill>
                <a:ea typeface="Source Sans Pro" charset="0"/>
              </a:rPr>
              <a:t>AT HOME</a:t>
            </a:r>
            <a:r>
              <a:rPr lang="en-US" b="1" dirty="0">
                <a:ea typeface="Source Sans Pro" charset="0"/>
              </a:rPr>
              <a:t>! 4: </a:t>
            </a:r>
            <a:r>
              <a:rPr lang="en-US" b="1" dirty="0">
                <a:solidFill>
                  <a:srgbClr val="196E78"/>
                </a:solidFill>
                <a:ea typeface="Source Sans Pro" charset="0"/>
              </a:rPr>
              <a:t>Classification Concepts </a:t>
            </a:r>
            <a:r>
              <a:rPr lang="en-US" sz="2400" dirty="0">
                <a:solidFill>
                  <a:srgbClr val="196E78"/>
                </a:solidFill>
                <a:ea typeface="Source Sans Pro" charset="0"/>
              </a:rPr>
              <a:t>(3 of 4)</a:t>
            </a:r>
            <a:endParaRPr lang="en-US" sz="2400" dirty="0"/>
          </a:p>
        </p:txBody>
      </p:sp>
      <p:sp>
        <p:nvSpPr>
          <p:cNvPr id="3" name="Content Placeholder 2">
            <a:extLst>
              <a:ext uri="{FF2B5EF4-FFF2-40B4-BE49-F238E27FC236}">
                <a16:creationId xmlns:a16="http://schemas.microsoft.com/office/drawing/2014/main" id="{A8038711-5FF5-4A2C-A6C7-1B308F930650}"/>
              </a:ext>
            </a:extLst>
          </p:cNvPr>
          <p:cNvSpPr>
            <a:spLocks noGrp="1"/>
          </p:cNvSpPr>
          <p:nvPr>
            <p:ph sz="quarter" idx="16"/>
          </p:nvPr>
        </p:nvSpPr>
        <p:spPr>
          <a:xfrm>
            <a:off x="304800" y="1828800"/>
            <a:ext cx="8534400" cy="2362200"/>
          </a:xfrm>
        </p:spPr>
        <p:txBody>
          <a:bodyPr/>
          <a:lstStyle/>
          <a:p>
            <a:r>
              <a:rPr lang="en-US" sz="2400" dirty="0"/>
              <a:t>Identify the term most directly associated with each statement.</a:t>
            </a:r>
          </a:p>
          <a:p>
            <a:pPr marL="402336" indent="-402336">
              <a:buClr>
                <a:schemeClr val="accent2"/>
              </a:buClr>
              <a:buFont typeface="+mj-lt"/>
              <a:buAutoNum type="arabicPeriod" startAt="4"/>
            </a:pPr>
            <a:r>
              <a:rPr lang="en-US" sz="2400" dirty="0"/>
              <a:t>A right to sell certain products or services or to use certain trademarks or trade names within a designated geographic area.</a:t>
            </a:r>
          </a:p>
          <a:p>
            <a:pPr marL="402336" indent="-402336">
              <a:buClr>
                <a:schemeClr val="accent2"/>
              </a:buClr>
              <a:buFont typeface="+mj-lt"/>
              <a:buAutoNum type="arabicPeriod" startAt="4"/>
            </a:pPr>
            <a:r>
              <a:rPr lang="en-US" sz="2400" dirty="0"/>
              <a:t>Costs incurred by a company that often lead to patents or new products. These costs must be expensed as incurred.</a:t>
            </a:r>
            <a:endParaRPr lang="en-US" altLang="en-US" sz="2400" b="1" dirty="0"/>
          </a:p>
        </p:txBody>
      </p:sp>
      <p:sp>
        <p:nvSpPr>
          <p:cNvPr id="5" name="Content Placeholder 4">
            <a:extLst>
              <a:ext uri="{FF2B5EF4-FFF2-40B4-BE49-F238E27FC236}">
                <a16:creationId xmlns:a16="http://schemas.microsoft.com/office/drawing/2014/main" id="{41069E57-5A5A-4FAC-A224-F7701D0DD4ED}"/>
              </a:ext>
            </a:extLst>
          </p:cNvPr>
          <p:cNvSpPr>
            <a:spLocks noGrp="1"/>
          </p:cNvSpPr>
          <p:nvPr>
            <p:ph sz="quarter" idx="18"/>
          </p:nvPr>
        </p:nvSpPr>
        <p:spPr>
          <a:xfrm>
            <a:off x="304800" y="5361993"/>
            <a:ext cx="457200" cy="365124"/>
          </a:xfrm>
        </p:spPr>
        <p:txBody>
          <a:bodyPr/>
          <a:lstStyle/>
          <a:p>
            <a:r>
              <a:rPr lang="en-US" altLang="en-US" sz="2400" dirty="0"/>
              <a:t>4.</a:t>
            </a:r>
            <a:endParaRPr lang="en-US" sz="2400" dirty="0"/>
          </a:p>
        </p:txBody>
      </p:sp>
      <p:sp>
        <p:nvSpPr>
          <p:cNvPr id="6" name="Content Placeholder 5">
            <a:extLst>
              <a:ext uri="{FF2B5EF4-FFF2-40B4-BE49-F238E27FC236}">
                <a16:creationId xmlns:a16="http://schemas.microsoft.com/office/drawing/2014/main" id="{24F229E6-C24F-428B-9373-64181AA83DF3}"/>
              </a:ext>
            </a:extLst>
          </p:cNvPr>
          <p:cNvSpPr>
            <a:spLocks noGrp="1"/>
          </p:cNvSpPr>
          <p:nvPr>
            <p:ph sz="quarter" idx="19"/>
          </p:nvPr>
        </p:nvSpPr>
        <p:spPr>
          <a:xfrm>
            <a:off x="2514600" y="5377869"/>
            <a:ext cx="514350" cy="365124"/>
          </a:xfrm>
        </p:spPr>
        <p:txBody>
          <a:bodyPr/>
          <a:lstStyle/>
          <a:p>
            <a:r>
              <a:rPr lang="en-US" sz="2400" dirty="0"/>
              <a:t>5.</a:t>
            </a:r>
          </a:p>
        </p:txBody>
      </p:sp>
      <p:sp>
        <p:nvSpPr>
          <p:cNvPr id="23" name="Slide Number Placeholder 22">
            <a:extLst>
              <a:ext uri="{FF2B5EF4-FFF2-40B4-BE49-F238E27FC236}">
                <a16:creationId xmlns:a16="http://schemas.microsoft.com/office/drawing/2014/main" id="{6EE6A733-4A3F-4896-84D0-0C14B085C6ED}"/>
              </a:ext>
            </a:extLst>
          </p:cNvPr>
          <p:cNvSpPr>
            <a:spLocks noGrp="1"/>
          </p:cNvSpPr>
          <p:nvPr>
            <p:ph type="sldNum" sz="quarter" idx="10"/>
          </p:nvPr>
        </p:nvSpPr>
        <p:spPr/>
        <p:txBody>
          <a:bodyPr/>
          <a:lstStyle/>
          <a:p>
            <a:fld id="{67B19427-F580-D146-B60E-4CADEE75497F}" type="slidenum">
              <a:rPr lang="en-US" smtClean="0"/>
              <a:pPr/>
              <a:t>41</a:t>
            </a:fld>
            <a:endParaRPr lang="en-US" dirty="0"/>
          </a:p>
        </p:txBody>
      </p:sp>
      <p:sp>
        <p:nvSpPr>
          <p:cNvPr id="24" name="Footer Placeholder 23">
            <a:extLst>
              <a:ext uri="{FF2B5EF4-FFF2-40B4-BE49-F238E27FC236}">
                <a16:creationId xmlns:a16="http://schemas.microsoft.com/office/drawing/2014/main" id="{01E8F17F-BE92-401A-9FE1-A18C0A646541}"/>
              </a:ext>
            </a:extLst>
          </p:cNvP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15683824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D42D-CB24-4CC4-BA32-62B10E9D8B8A}"/>
              </a:ext>
            </a:extLst>
          </p:cNvPr>
          <p:cNvSpPr>
            <a:spLocks noGrp="1"/>
          </p:cNvSpPr>
          <p:nvPr>
            <p:ph type="title"/>
          </p:nvPr>
        </p:nvSpPr>
        <p:spPr>
          <a:xfrm>
            <a:off x="304800" y="762001"/>
            <a:ext cx="8534400" cy="761999"/>
          </a:xfrm>
        </p:spPr>
        <p:txBody>
          <a:bodyPr>
            <a:normAutofit fontScale="90000"/>
          </a:bodyPr>
          <a:lstStyle/>
          <a:p>
            <a:r>
              <a:rPr lang="en-US" b="1" dirty="0">
                <a:ea typeface="Source Sans Pro" charset="0"/>
              </a:rPr>
              <a:t>Do It </a:t>
            </a:r>
            <a:r>
              <a:rPr lang="en-US" b="1" dirty="0">
                <a:solidFill>
                  <a:srgbClr val="FF0000"/>
                </a:solidFill>
                <a:ea typeface="Source Sans Pro" charset="0"/>
              </a:rPr>
              <a:t>AT HOME</a:t>
            </a:r>
            <a:r>
              <a:rPr lang="en-US" b="1" dirty="0">
                <a:ea typeface="Source Sans Pro" charset="0"/>
              </a:rPr>
              <a:t>! 4: </a:t>
            </a:r>
            <a:r>
              <a:rPr lang="en-US" b="1" dirty="0">
                <a:solidFill>
                  <a:srgbClr val="196E78"/>
                </a:solidFill>
                <a:ea typeface="Source Sans Pro" charset="0"/>
              </a:rPr>
              <a:t>Classification Concepts </a:t>
            </a:r>
            <a:r>
              <a:rPr lang="en-US" sz="2400" dirty="0">
                <a:solidFill>
                  <a:srgbClr val="196E78"/>
                </a:solidFill>
                <a:ea typeface="Source Sans Pro" charset="0"/>
              </a:rPr>
              <a:t>(4 of 4)</a:t>
            </a:r>
            <a:endParaRPr lang="en-US" sz="2400" dirty="0"/>
          </a:p>
        </p:txBody>
      </p:sp>
      <p:sp>
        <p:nvSpPr>
          <p:cNvPr id="3" name="Content Placeholder 2">
            <a:extLst>
              <a:ext uri="{FF2B5EF4-FFF2-40B4-BE49-F238E27FC236}">
                <a16:creationId xmlns:a16="http://schemas.microsoft.com/office/drawing/2014/main" id="{A8038711-5FF5-4A2C-A6C7-1B308F930650}"/>
              </a:ext>
            </a:extLst>
          </p:cNvPr>
          <p:cNvSpPr>
            <a:spLocks noGrp="1"/>
          </p:cNvSpPr>
          <p:nvPr>
            <p:ph sz="quarter" idx="16"/>
          </p:nvPr>
        </p:nvSpPr>
        <p:spPr>
          <a:xfrm>
            <a:off x="304800" y="1828800"/>
            <a:ext cx="8534400" cy="2362200"/>
          </a:xfrm>
        </p:spPr>
        <p:txBody>
          <a:bodyPr/>
          <a:lstStyle/>
          <a:p>
            <a:r>
              <a:rPr lang="en-US" sz="2400" dirty="0"/>
              <a:t>Identify the term most directly associated with each statement.</a:t>
            </a:r>
          </a:p>
          <a:p>
            <a:pPr marL="402336" indent="-402336">
              <a:buClr>
                <a:schemeClr val="accent2"/>
              </a:buClr>
              <a:buFont typeface="+mj-lt"/>
              <a:buAutoNum type="arabicPeriod" startAt="4"/>
            </a:pPr>
            <a:r>
              <a:rPr lang="en-US" sz="2400" dirty="0"/>
              <a:t>A right to sell certain products or services or to use certain trademarks or trade names within a designated geographic area.</a:t>
            </a:r>
          </a:p>
          <a:p>
            <a:pPr marL="402336" indent="-402336">
              <a:buClr>
                <a:schemeClr val="accent2"/>
              </a:buClr>
              <a:buFont typeface="+mj-lt"/>
              <a:buAutoNum type="arabicPeriod" startAt="4"/>
            </a:pPr>
            <a:r>
              <a:rPr lang="en-US" sz="2400" dirty="0"/>
              <a:t>Costs incurred by a company that often lead to patents or new products. These costs must be expensed as incurred.</a:t>
            </a:r>
            <a:endParaRPr lang="en-US" altLang="en-US" sz="2400" b="1" dirty="0"/>
          </a:p>
        </p:txBody>
      </p:sp>
      <p:sp>
        <p:nvSpPr>
          <p:cNvPr id="5" name="Content Placeholder 4">
            <a:extLst>
              <a:ext uri="{FF2B5EF4-FFF2-40B4-BE49-F238E27FC236}">
                <a16:creationId xmlns:a16="http://schemas.microsoft.com/office/drawing/2014/main" id="{41069E57-5A5A-4FAC-A224-F7701D0DD4ED}"/>
              </a:ext>
            </a:extLst>
          </p:cNvPr>
          <p:cNvSpPr>
            <a:spLocks noGrp="1"/>
          </p:cNvSpPr>
          <p:nvPr>
            <p:ph sz="quarter" idx="18"/>
          </p:nvPr>
        </p:nvSpPr>
        <p:spPr>
          <a:xfrm>
            <a:off x="304800" y="5361993"/>
            <a:ext cx="1828800" cy="365124"/>
          </a:xfrm>
        </p:spPr>
        <p:txBody>
          <a:bodyPr/>
          <a:lstStyle/>
          <a:p>
            <a:r>
              <a:rPr lang="en-US" altLang="en-US" sz="2400" dirty="0"/>
              <a:t>4. </a:t>
            </a:r>
            <a:r>
              <a:rPr lang="en-US" sz="2400" dirty="0"/>
              <a:t>Franchises</a:t>
            </a:r>
          </a:p>
        </p:txBody>
      </p:sp>
      <p:sp>
        <p:nvSpPr>
          <p:cNvPr id="6" name="Content Placeholder 5">
            <a:extLst>
              <a:ext uri="{FF2B5EF4-FFF2-40B4-BE49-F238E27FC236}">
                <a16:creationId xmlns:a16="http://schemas.microsoft.com/office/drawing/2014/main" id="{24F229E6-C24F-428B-9373-64181AA83DF3}"/>
              </a:ext>
            </a:extLst>
          </p:cNvPr>
          <p:cNvSpPr>
            <a:spLocks noGrp="1"/>
          </p:cNvSpPr>
          <p:nvPr>
            <p:ph sz="quarter" idx="19"/>
          </p:nvPr>
        </p:nvSpPr>
        <p:spPr>
          <a:xfrm>
            <a:off x="2514600" y="5377869"/>
            <a:ext cx="4572000" cy="365124"/>
          </a:xfrm>
        </p:spPr>
        <p:txBody>
          <a:bodyPr/>
          <a:lstStyle/>
          <a:p>
            <a:r>
              <a:rPr lang="en-US" sz="2400" dirty="0"/>
              <a:t>5. Research and development costs</a:t>
            </a:r>
          </a:p>
        </p:txBody>
      </p:sp>
      <p:sp>
        <p:nvSpPr>
          <p:cNvPr id="23" name="Slide Number Placeholder 22">
            <a:extLst>
              <a:ext uri="{FF2B5EF4-FFF2-40B4-BE49-F238E27FC236}">
                <a16:creationId xmlns:a16="http://schemas.microsoft.com/office/drawing/2014/main" id="{6EE6A733-4A3F-4896-84D0-0C14B085C6ED}"/>
              </a:ext>
            </a:extLst>
          </p:cNvPr>
          <p:cNvSpPr>
            <a:spLocks noGrp="1"/>
          </p:cNvSpPr>
          <p:nvPr>
            <p:ph type="sldNum" sz="quarter" idx="10"/>
          </p:nvPr>
        </p:nvSpPr>
        <p:spPr/>
        <p:txBody>
          <a:bodyPr/>
          <a:lstStyle/>
          <a:p>
            <a:fld id="{67B19427-F580-D146-B60E-4CADEE75497F}" type="slidenum">
              <a:rPr lang="en-US" smtClean="0"/>
              <a:pPr/>
              <a:t>42</a:t>
            </a:fld>
            <a:endParaRPr lang="en-US" dirty="0"/>
          </a:p>
        </p:txBody>
      </p:sp>
      <p:sp>
        <p:nvSpPr>
          <p:cNvPr id="24" name="Footer Placeholder 23">
            <a:extLst>
              <a:ext uri="{FF2B5EF4-FFF2-40B4-BE49-F238E27FC236}">
                <a16:creationId xmlns:a16="http://schemas.microsoft.com/office/drawing/2014/main" id="{01E8F17F-BE92-401A-9FE1-A18C0A646541}"/>
              </a:ext>
            </a:extLst>
          </p:cNvP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32588260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aaa55a3e99ac6efd0801d35ef11e338d8de408a"/>
</p:tagLst>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078D6520EA68A49865606D3C9534DA1" ma:contentTypeVersion="13" ma:contentTypeDescription="Create a new document." ma:contentTypeScope="" ma:versionID="70035eb3428c3adc80d38ad743135323">
  <xsd:schema xmlns:xsd="http://www.w3.org/2001/XMLSchema" xmlns:xs="http://www.w3.org/2001/XMLSchema" xmlns:p="http://schemas.microsoft.com/office/2006/metadata/properties" xmlns:ns2="991c6ba3-1c6f-40a9-b60d-1b3170aa9e50" xmlns:ns3="7a71b9a5-dc42-4723-8d0f-e8d6ba5fbeb6" targetNamespace="http://schemas.microsoft.com/office/2006/metadata/properties" ma:root="true" ma:fieldsID="bd7354960e2e8c08eb9a78d1f0de2318" ns2:_="" ns3:_="">
    <xsd:import namespace="991c6ba3-1c6f-40a9-b60d-1b3170aa9e50"/>
    <xsd:import namespace="7a71b9a5-dc42-4723-8d0f-e8d6ba5fbeb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Fil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c6ba3-1c6f-40a9-b60d-1b3170aa9e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Files" ma:index="20" nillable="true" ma:displayName="Files" ma:format="Dropdown" ma:internalName="Files"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7a71b9a5-dc42-4723-8d0f-e8d6ba5fbeb6"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Files xmlns="991c6ba3-1c6f-40a9-b60d-1b3170aa9e50" xsi:nil="true"/>
  </documentManagement>
</p:properties>
</file>

<file path=customXml/itemProps1.xml><?xml version="1.0" encoding="utf-8"?>
<ds:datastoreItem xmlns:ds="http://schemas.openxmlformats.org/officeDocument/2006/customXml" ds:itemID="{288F1D47-4251-47E8-ACDB-2528FF86B6CA}">
  <ds:schemaRefs>
    <ds:schemaRef ds:uri="http://schemas.microsoft.com/sharepoint/v3/contenttype/forms"/>
  </ds:schemaRefs>
</ds:datastoreItem>
</file>

<file path=customXml/itemProps2.xml><?xml version="1.0" encoding="utf-8"?>
<ds:datastoreItem xmlns:ds="http://schemas.openxmlformats.org/officeDocument/2006/customXml" ds:itemID="{FAF750BE-DCE8-4923-BCA2-6C6382748E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1c6ba3-1c6f-40a9-b60d-1b3170aa9e50"/>
    <ds:schemaRef ds:uri="7a71b9a5-dc42-4723-8d0f-e8d6ba5fbe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1C71EB-81EB-430C-AADD-7391148CA650}">
  <ds:schemaRefs>
    <ds:schemaRef ds:uri="http://purl.org/dc/terms/"/>
    <ds:schemaRef ds:uri="http://purl.org/dc/dcmitype/"/>
    <ds:schemaRef ds:uri="991c6ba3-1c6f-40a9-b60d-1b3170aa9e50"/>
    <ds:schemaRef ds:uri="http://schemas.microsoft.com/office/2006/metadata/properties"/>
    <ds:schemaRef ds:uri="http://schemas.openxmlformats.org/package/2006/metadata/core-properties"/>
    <ds:schemaRef ds:uri="http://schemas.microsoft.com/office/2006/documentManagement/types"/>
    <ds:schemaRef ds:uri="http://schemas.microsoft.com/office/infopath/2007/PartnerControls"/>
    <ds:schemaRef ds:uri="7a71b9a5-dc42-4723-8d0f-e8d6ba5fbeb6"/>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18273</TotalTime>
  <Words>5973</Words>
  <Application>Microsoft Office PowerPoint</Application>
  <PresentationFormat>On-screen Show (4:3)</PresentationFormat>
  <Paragraphs>561</Paragraphs>
  <Slides>42</Slides>
  <Notes>18</Notes>
  <HiddenSlides>0</HiddenSlides>
  <MMClips>0</MMClips>
  <ScaleCrop>false</ScaleCrop>
  <HeadingPairs>
    <vt:vector size="8" baseType="variant">
      <vt:variant>
        <vt:lpstr>Fonts Used</vt:lpstr>
      </vt:variant>
      <vt:variant>
        <vt:i4>6</vt:i4>
      </vt:variant>
      <vt:variant>
        <vt:lpstr>Theme</vt:lpstr>
      </vt:variant>
      <vt:variant>
        <vt:i4>7</vt:i4>
      </vt:variant>
      <vt:variant>
        <vt:lpstr>Embedded OLE Servers</vt:lpstr>
      </vt:variant>
      <vt:variant>
        <vt:i4>1</vt:i4>
      </vt:variant>
      <vt:variant>
        <vt:lpstr>Slide Titles</vt:lpstr>
      </vt:variant>
      <vt:variant>
        <vt:i4>42</vt:i4>
      </vt:variant>
    </vt:vector>
  </HeadingPairs>
  <TitlesOfParts>
    <vt:vector size="56" baseType="lpstr">
      <vt:lpstr>Arial</vt:lpstr>
      <vt:lpstr>Calibri</vt:lpstr>
      <vt:lpstr>Calibri Light</vt:lpstr>
      <vt:lpstr>Courier New</vt:lpstr>
      <vt:lpstr>Source Sans Pro</vt:lpstr>
      <vt:lpstr>STIX</vt:lpstr>
      <vt:lpstr>Opener</vt:lpstr>
      <vt:lpstr>Chapter Outline</vt:lpstr>
      <vt:lpstr>Learning Objectives</vt:lpstr>
      <vt:lpstr>Concept Check Question</vt:lpstr>
      <vt:lpstr>Key Term</vt:lpstr>
      <vt:lpstr>Section</vt:lpstr>
      <vt:lpstr>Image Slide Master</vt:lpstr>
      <vt:lpstr>Equation</vt:lpstr>
      <vt:lpstr>Accounting Principles</vt:lpstr>
      <vt:lpstr>Comparison of Depreciation Methods</vt:lpstr>
      <vt:lpstr>Depreciation and Income Taxes</vt:lpstr>
      <vt:lpstr>Revising Periodic Depreciation (1 of 3)</vt:lpstr>
      <vt:lpstr>Revising Periodic Depreciation (2 of 3)</vt:lpstr>
      <vt:lpstr>Revising Periodic Depreciation (3 of 3)</vt:lpstr>
      <vt:lpstr>DO IT AT HOME! 2b Revised Depreciation (1 of 2)</vt:lpstr>
      <vt:lpstr>DO IT AT HOME! 2b Revised Depreciation (2 of 2)</vt:lpstr>
      <vt:lpstr>Difference between book value and fair value  (supplementary notes by TBR) </vt:lpstr>
      <vt:lpstr>Impairments - what happens when fair value &lt; book value?</vt:lpstr>
      <vt:lpstr>Plant Asset Disposals</vt:lpstr>
      <vt:lpstr>Retirement of Plant Asset (1 of 3)</vt:lpstr>
      <vt:lpstr>Retirement of Plant Asset (2 of 3)</vt:lpstr>
      <vt:lpstr>Retirement of Plant Asset (3 of 3)</vt:lpstr>
      <vt:lpstr>Sale of Plant Asset (1 of 2)</vt:lpstr>
      <vt:lpstr>Sale of Plant Asset (2 of 2)</vt:lpstr>
      <vt:lpstr>Gain on Sale</vt:lpstr>
      <vt:lpstr>Loss on Sale</vt:lpstr>
      <vt:lpstr>Do It AT HOME! 3: Plant Asset Disposal (1 of 2)</vt:lpstr>
      <vt:lpstr>Do It AT HOME! 3: Plant Asset Disposal (2 of 2)</vt:lpstr>
      <vt:lpstr>Exchange of Plant Assets</vt:lpstr>
      <vt:lpstr>Exchange of Plant Assets (loss)</vt:lpstr>
      <vt:lpstr>Exchange of Plant Assets (loss)</vt:lpstr>
      <vt:lpstr>Exchange of Plant Assets (gain)</vt:lpstr>
      <vt:lpstr>Exchange of Plant Assets (gain)</vt:lpstr>
      <vt:lpstr>Determining Natural Resources and Intangible Assets</vt:lpstr>
      <vt:lpstr>Depletion (1 of 3)</vt:lpstr>
      <vt:lpstr>Depletion (2 of 3)</vt:lpstr>
      <vt:lpstr>Intangible Assets</vt:lpstr>
      <vt:lpstr>Accounting for Intangible Assets (1 of 7)</vt:lpstr>
      <vt:lpstr>Accounting for Intangible Assets (2 of 7)</vt:lpstr>
      <vt:lpstr>Patent (3 of 7)</vt:lpstr>
      <vt:lpstr>Accounting for Intangible Assets (4 of 7)</vt:lpstr>
      <vt:lpstr>Accounting for Intangible Assets (5 of 7)</vt:lpstr>
      <vt:lpstr>Accounting for Intangible Assets (6 of 7)</vt:lpstr>
      <vt:lpstr>Accounting for Intangible Assets (Franchises)</vt:lpstr>
      <vt:lpstr>Accounting for Intangible Assets (7 of 7)</vt:lpstr>
      <vt:lpstr>Research and Development Costs</vt:lpstr>
      <vt:lpstr>Do It AT HOME! 4: Classification Concepts (1 of 4)</vt:lpstr>
      <vt:lpstr>Do It AT HOME! 4: Classification Concepts (2 of 4)</vt:lpstr>
      <vt:lpstr>Do It AT HOME! 4: Classification Concepts (3 of 4)</vt:lpstr>
      <vt:lpstr>Do It AT HOME! 4: Classification Concepts (4 of 4)</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Principles, 13e</dc:title>
  <dc:subject>Accounts</dc:subject>
  <dc:creator>Weygandt/Kimmel/Kieso</dc:creator>
  <cp:lastModifiedBy>USER</cp:lastModifiedBy>
  <cp:revision>1856</cp:revision>
  <cp:lastPrinted>2017-04-26T13:25:47Z</cp:lastPrinted>
  <dcterms:created xsi:type="dcterms:W3CDTF">2017-04-21T14:49:46Z</dcterms:created>
  <dcterms:modified xsi:type="dcterms:W3CDTF">2025-04-05T14:47:35Z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0x0101004078D6520EA68A49865606D3C9534DA1</vt:lpwstr>
  </property>
</Properties>
</file>