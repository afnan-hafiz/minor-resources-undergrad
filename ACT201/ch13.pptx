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3.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4.xml" ContentType="application/vnd.openxmlformats-officedocument.theme+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5.xml" ContentType="application/vnd.openxmlformats-officedocument.theme+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6.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39" r:id="rId4"/>
    <p:sldMasterId id="2147483936" r:id="rId5"/>
    <p:sldMasterId id="2147483943" r:id="rId6"/>
    <p:sldMasterId id="2147483965" r:id="rId7"/>
    <p:sldMasterId id="2147483968" r:id="rId8"/>
    <p:sldMasterId id="2147483971" r:id="rId9"/>
    <p:sldMasterId id="2147483976" r:id="rId10"/>
  </p:sldMasterIdLst>
  <p:notesMasterIdLst>
    <p:notesMasterId r:id="rId75"/>
  </p:notesMasterIdLst>
  <p:sldIdLst>
    <p:sldId id="393" r:id="rId11"/>
    <p:sldId id="674" r:id="rId12"/>
    <p:sldId id="613" r:id="rId13"/>
    <p:sldId id="673" r:id="rId14"/>
    <p:sldId id="670" r:id="rId15"/>
    <p:sldId id="623" r:id="rId16"/>
    <p:sldId id="624" r:id="rId17"/>
    <p:sldId id="625" r:id="rId18"/>
    <p:sldId id="626" r:id="rId19"/>
    <p:sldId id="675" r:id="rId20"/>
    <p:sldId id="628" r:id="rId21"/>
    <p:sldId id="633" r:id="rId22"/>
    <p:sldId id="634" r:id="rId23"/>
    <p:sldId id="635" r:id="rId24"/>
    <p:sldId id="636" r:id="rId25"/>
    <p:sldId id="637" r:id="rId26"/>
    <p:sldId id="638" r:id="rId27"/>
    <p:sldId id="639" r:id="rId28"/>
    <p:sldId id="676" r:id="rId29"/>
    <p:sldId id="641" r:id="rId30"/>
    <p:sldId id="642" r:id="rId31"/>
    <p:sldId id="643" r:id="rId32"/>
    <p:sldId id="644" r:id="rId33"/>
    <p:sldId id="645" r:id="rId34"/>
    <p:sldId id="646" r:id="rId35"/>
    <p:sldId id="677" r:id="rId36"/>
    <p:sldId id="651" r:id="rId37"/>
    <p:sldId id="652" r:id="rId38"/>
    <p:sldId id="653" r:id="rId39"/>
    <p:sldId id="654" r:id="rId40"/>
    <p:sldId id="655" r:id="rId41"/>
    <p:sldId id="656" r:id="rId42"/>
    <p:sldId id="657" r:id="rId43"/>
    <p:sldId id="659" r:id="rId44"/>
    <p:sldId id="660" r:id="rId45"/>
    <p:sldId id="682" r:id="rId46"/>
    <p:sldId id="394" r:id="rId47"/>
    <p:sldId id="683" r:id="rId48"/>
    <p:sldId id="684" r:id="rId49"/>
    <p:sldId id="697" r:id="rId50"/>
    <p:sldId id="698" r:id="rId51"/>
    <p:sldId id="397" r:id="rId52"/>
    <p:sldId id="687" r:id="rId53"/>
    <p:sldId id="688" r:id="rId54"/>
    <p:sldId id="690" r:id="rId55"/>
    <p:sldId id="699" r:id="rId56"/>
    <p:sldId id="692" r:id="rId57"/>
    <p:sldId id="693" r:id="rId58"/>
    <p:sldId id="696" r:id="rId59"/>
    <p:sldId id="694" r:id="rId60"/>
    <p:sldId id="695" r:id="rId61"/>
    <p:sldId id="700" r:id="rId62"/>
    <p:sldId id="701" r:id="rId63"/>
    <p:sldId id="619" r:id="rId64"/>
    <p:sldId id="620" r:id="rId65"/>
    <p:sldId id="680" r:id="rId66"/>
    <p:sldId id="621" r:id="rId67"/>
    <p:sldId id="622" r:id="rId68"/>
    <p:sldId id="702" r:id="rId69"/>
    <p:sldId id="703" r:id="rId70"/>
    <p:sldId id="704" r:id="rId71"/>
    <p:sldId id="705" r:id="rId72"/>
    <p:sldId id="706" r:id="rId73"/>
    <p:sldId id="679" r:id="rId74"/>
  </p:sldIdLst>
  <p:sldSz cx="9144000" cy="6858000" type="screen4x3"/>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Garvin, Megan - Hoboken" initials="MG" lastIdx="38" clrIdx="0"/>
  <p:cmAuthor id="1" name="Michael, Leah - Indianapolis" initials="LM" lastIdx="9" clrIdx="1"/>
  <p:cmAuthor id="2" name="Heaney, Barbara - Hoboken" initials="BH" lastIdx="3" clrIdx="2"/>
  <p:cmAuthor id="3" name="Perry, Nancy - Hoboken" initials="NP" lastIdx="21"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A3"/>
    <a:srgbClr val="000010"/>
    <a:srgbClr val="EAEAE9"/>
    <a:srgbClr val="E4E5E3"/>
    <a:srgbClr val="F2F2F1"/>
    <a:srgbClr val="EB97E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764" autoAdjust="0"/>
    <p:restoredTop sz="86443" autoAdjust="0"/>
  </p:normalViewPr>
  <p:slideViewPr>
    <p:cSldViewPr>
      <p:cViewPr varScale="1">
        <p:scale>
          <a:sx n="57" d="100"/>
          <a:sy n="57" d="100"/>
        </p:scale>
        <p:origin x="1456" y="52"/>
      </p:cViewPr>
      <p:guideLst>
        <p:guide orient="horz" pos="2160"/>
        <p:guide pos="2880"/>
      </p:guideLst>
    </p:cSldViewPr>
  </p:slideViewPr>
  <p:outlineViewPr>
    <p:cViewPr>
      <p:scale>
        <a:sx n="33" d="100"/>
        <a:sy n="33" d="100"/>
      </p:scale>
      <p:origin x="0" y="-47448"/>
    </p:cViewPr>
  </p:outlineViewPr>
  <p:notesTextViewPr>
    <p:cViewPr>
      <p:scale>
        <a:sx n="125" d="100"/>
        <a:sy n="125" d="100"/>
      </p:scale>
      <p:origin x="0" y="0"/>
    </p:cViewPr>
  </p:notesTextViewPr>
  <p:sorterViewPr>
    <p:cViewPr>
      <p:scale>
        <a:sx n="70" d="100"/>
        <a:sy n="70" d="100"/>
      </p:scale>
      <p:origin x="0" y="6254"/>
    </p:cViewPr>
  </p:sorterViewPr>
  <p:notesViewPr>
    <p:cSldViewPr>
      <p:cViewPr varScale="1">
        <p:scale>
          <a:sx n="134" d="100"/>
          <a:sy n="134" d="100"/>
        </p:scale>
        <p:origin x="3184" y="200"/>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16.xml"/><Relationship Id="rId21" Type="http://schemas.openxmlformats.org/officeDocument/2006/relationships/slide" Target="slides/slide11.xml"/><Relationship Id="rId42" Type="http://schemas.openxmlformats.org/officeDocument/2006/relationships/slide" Target="slides/slide32.xml"/><Relationship Id="rId47" Type="http://schemas.openxmlformats.org/officeDocument/2006/relationships/slide" Target="slides/slide37.xml"/><Relationship Id="rId63" Type="http://schemas.openxmlformats.org/officeDocument/2006/relationships/slide" Target="slides/slide53.xml"/><Relationship Id="rId68" Type="http://schemas.openxmlformats.org/officeDocument/2006/relationships/slide" Target="slides/slide58.xml"/><Relationship Id="rId16" Type="http://schemas.openxmlformats.org/officeDocument/2006/relationships/slide" Target="slides/slide6.xml"/><Relationship Id="rId11" Type="http://schemas.openxmlformats.org/officeDocument/2006/relationships/slide" Target="slides/slide1.xml"/><Relationship Id="rId24" Type="http://schemas.openxmlformats.org/officeDocument/2006/relationships/slide" Target="slides/slide14.xml"/><Relationship Id="rId32" Type="http://schemas.openxmlformats.org/officeDocument/2006/relationships/slide" Target="slides/slide22.xml"/><Relationship Id="rId37" Type="http://schemas.openxmlformats.org/officeDocument/2006/relationships/slide" Target="slides/slide27.xml"/><Relationship Id="rId40" Type="http://schemas.openxmlformats.org/officeDocument/2006/relationships/slide" Target="slides/slide30.xml"/><Relationship Id="rId45" Type="http://schemas.openxmlformats.org/officeDocument/2006/relationships/slide" Target="slides/slide35.xml"/><Relationship Id="rId53" Type="http://schemas.openxmlformats.org/officeDocument/2006/relationships/slide" Target="slides/slide43.xml"/><Relationship Id="rId58" Type="http://schemas.openxmlformats.org/officeDocument/2006/relationships/slide" Target="slides/slide48.xml"/><Relationship Id="rId66" Type="http://schemas.openxmlformats.org/officeDocument/2006/relationships/slide" Target="slides/slide56.xml"/><Relationship Id="rId74" Type="http://schemas.openxmlformats.org/officeDocument/2006/relationships/slide" Target="slides/slide64.xml"/><Relationship Id="rId79" Type="http://schemas.openxmlformats.org/officeDocument/2006/relationships/theme" Target="theme/theme1.xml"/><Relationship Id="rId5" Type="http://schemas.openxmlformats.org/officeDocument/2006/relationships/slideMaster" Target="slideMasters/slideMaster2.xml"/><Relationship Id="rId61" Type="http://schemas.openxmlformats.org/officeDocument/2006/relationships/slide" Target="slides/slide51.xml"/><Relationship Id="rId19" Type="http://schemas.openxmlformats.org/officeDocument/2006/relationships/slide" Target="slides/slide9.xml"/><Relationship Id="rId14" Type="http://schemas.openxmlformats.org/officeDocument/2006/relationships/slide" Target="slides/slide4.xml"/><Relationship Id="rId22" Type="http://schemas.openxmlformats.org/officeDocument/2006/relationships/slide" Target="slides/slide12.xml"/><Relationship Id="rId27" Type="http://schemas.openxmlformats.org/officeDocument/2006/relationships/slide" Target="slides/slide17.xml"/><Relationship Id="rId30" Type="http://schemas.openxmlformats.org/officeDocument/2006/relationships/slide" Target="slides/slide20.xml"/><Relationship Id="rId35" Type="http://schemas.openxmlformats.org/officeDocument/2006/relationships/slide" Target="slides/slide25.xml"/><Relationship Id="rId43" Type="http://schemas.openxmlformats.org/officeDocument/2006/relationships/slide" Target="slides/slide33.xml"/><Relationship Id="rId48" Type="http://schemas.openxmlformats.org/officeDocument/2006/relationships/slide" Target="slides/slide38.xml"/><Relationship Id="rId56" Type="http://schemas.openxmlformats.org/officeDocument/2006/relationships/slide" Target="slides/slide46.xml"/><Relationship Id="rId64" Type="http://schemas.openxmlformats.org/officeDocument/2006/relationships/slide" Target="slides/slide54.xml"/><Relationship Id="rId69" Type="http://schemas.openxmlformats.org/officeDocument/2006/relationships/slide" Target="slides/slide59.xml"/><Relationship Id="rId77" Type="http://schemas.openxmlformats.org/officeDocument/2006/relationships/presProps" Target="presProps.xml"/><Relationship Id="rId8" Type="http://schemas.openxmlformats.org/officeDocument/2006/relationships/slideMaster" Target="slideMasters/slideMaster5.xml"/><Relationship Id="rId51" Type="http://schemas.openxmlformats.org/officeDocument/2006/relationships/slide" Target="slides/slide41.xml"/><Relationship Id="rId72" Type="http://schemas.openxmlformats.org/officeDocument/2006/relationships/slide" Target="slides/slide62.xml"/><Relationship Id="rId80"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 Target="slides/slide2.xml"/><Relationship Id="rId17" Type="http://schemas.openxmlformats.org/officeDocument/2006/relationships/slide" Target="slides/slide7.xml"/><Relationship Id="rId25" Type="http://schemas.openxmlformats.org/officeDocument/2006/relationships/slide" Target="slides/slide15.xml"/><Relationship Id="rId33" Type="http://schemas.openxmlformats.org/officeDocument/2006/relationships/slide" Target="slides/slide23.xml"/><Relationship Id="rId38" Type="http://schemas.openxmlformats.org/officeDocument/2006/relationships/slide" Target="slides/slide28.xml"/><Relationship Id="rId46" Type="http://schemas.openxmlformats.org/officeDocument/2006/relationships/slide" Target="slides/slide36.xml"/><Relationship Id="rId59" Type="http://schemas.openxmlformats.org/officeDocument/2006/relationships/slide" Target="slides/slide49.xml"/><Relationship Id="rId67" Type="http://schemas.openxmlformats.org/officeDocument/2006/relationships/slide" Target="slides/slide57.xml"/><Relationship Id="rId20" Type="http://schemas.openxmlformats.org/officeDocument/2006/relationships/slide" Target="slides/slide10.xml"/><Relationship Id="rId41" Type="http://schemas.openxmlformats.org/officeDocument/2006/relationships/slide" Target="slides/slide31.xml"/><Relationship Id="rId54" Type="http://schemas.openxmlformats.org/officeDocument/2006/relationships/slide" Target="slides/slide44.xml"/><Relationship Id="rId62" Type="http://schemas.openxmlformats.org/officeDocument/2006/relationships/slide" Target="slides/slide52.xml"/><Relationship Id="rId70" Type="http://schemas.openxmlformats.org/officeDocument/2006/relationships/slide" Target="slides/slide60.xml"/><Relationship Id="rId75"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5.xml"/><Relationship Id="rId23" Type="http://schemas.openxmlformats.org/officeDocument/2006/relationships/slide" Target="slides/slide13.xml"/><Relationship Id="rId28" Type="http://schemas.openxmlformats.org/officeDocument/2006/relationships/slide" Target="slides/slide18.xml"/><Relationship Id="rId36" Type="http://schemas.openxmlformats.org/officeDocument/2006/relationships/slide" Target="slides/slide26.xml"/><Relationship Id="rId49" Type="http://schemas.openxmlformats.org/officeDocument/2006/relationships/slide" Target="slides/slide39.xml"/><Relationship Id="rId57" Type="http://schemas.openxmlformats.org/officeDocument/2006/relationships/slide" Target="slides/slide47.xml"/><Relationship Id="rId10" Type="http://schemas.openxmlformats.org/officeDocument/2006/relationships/slideMaster" Target="slideMasters/slideMaster7.xml"/><Relationship Id="rId31" Type="http://schemas.openxmlformats.org/officeDocument/2006/relationships/slide" Target="slides/slide21.xml"/><Relationship Id="rId44" Type="http://schemas.openxmlformats.org/officeDocument/2006/relationships/slide" Target="slides/slide34.xml"/><Relationship Id="rId52" Type="http://schemas.openxmlformats.org/officeDocument/2006/relationships/slide" Target="slides/slide42.xml"/><Relationship Id="rId60" Type="http://schemas.openxmlformats.org/officeDocument/2006/relationships/slide" Target="slides/slide50.xml"/><Relationship Id="rId65" Type="http://schemas.openxmlformats.org/officeDocument/2006/relationships/slide" Target="slides/slide55.xml"/><Relationship Id="rId73" Type="http://schemas.openxmlformats.org/officeDocument/2006/relationships/slide" Target="slides/slide63.xml"/><Relationship Id="rId78"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Master" Target="slideMasters/slideMaster6.xml"/><Relationship Id="rId13" Type="http://schemas.openxmlformats.org/officeDocument/2006/relationships/slide" Target="slides/slide3.xml"/><Relationship Id="rId18" Type="http://schemas.openxmlformats.org/officeDocument/2006/relationships/slide" Target="slides/slide8.xml"/><Relationship Id="rId39" Type="http://schemas.openxmlformats.org/officeDocument/2006/relationships/slide" Target="slides/slide29.xml"/><Relationship Id="rId34" Type="http://schemas.openxmlformats.org/officeDocument/2006/relationships/slide" Target="slides/slide24.xml"/><Relationship Id="rId50" Type="http://schemas.openxmlformats.org/officeDocument/2006/relationships/slide" Target="slides/slide40.xml"/><Relationship Id="rId55" Type="http://schemas.openxmlformats.org/officeDocument/2006/relationships/slide" Target="slides/slide45.xml"/><Relationship Id="rId76" Type="http://schemas.openxmlformats.org/officeDocument/2006/relationships/commentAuthors" Target="commentAuthors.xml"/><Relationship Id="rId7" Type="http://schemas.openxmlformats.org/officeDocument/2006/relationships/slideMaster" Target="slideMasters/slideMaster4.xml"/><Relationship Id="rId71" Type="http://schemas.openxmlformats.org/officeDocument/2006/relationships/slide" Target="slides/slide61.xml"/><Relationship Id="rId2" Type="http://schemas.openxmlformats.org/officeDocument/2006/relationships/customXml" Target="../customXml/item2.xml"/><Relationship Id="rId29" Type="http://schemas.openxmlformats.org/officeDocument/2006/relationships/slide" Target="slides/slide19.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6.wmf"/><Relationship Id="rId1" Type="http://schemas.openxmlformats.org/officeDocument/2006/relationships/image" Target="../media/image5.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image" Target="../media/image18.wmf"/><Relationship Id="rId1" Type="http://schemas.openxmlformats.org/officeDocument/2006/relationships/image" Target="../media/image17.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21.wmf"/><Relationship Id="rId1" Type="http://schemas.openxmlformats.org/officeDocument/2006/relationships/image" Target="../media/image20.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3.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26.wmf"/><Relationship Id="rId1" Type="http://schemas.openxmlformats.org/officeDocument/2006/relationships/image" Target="../media/image25.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lstStyle>
          <a:p>
            <a:endParaRPr lang="en-US" dirty="0"/>
          </a:p>
        </p:txBody>
      </p:sp>
      <p:sp>
        <p:nvSpPr>
          <p:cNvPr id="3" name="Date Placeholder 2"/>
          <p:cNvSpPr>
            <a:spLocks noGrp="1"/>
          </p:cNvSpPr>
          <p:nvPr>
            <p:ph type="dt" idx="1"/>
          </p:nvPr>
        </p:nvSpPr>
        <p:spPr>
          <a:xfrm>
            <a:off x="4143587" y="0"/>
            <a:ext cx="3169920" cy="480060"/>
          </a:xfrm>
          <a:prstGeom prst="rect">
            <a:avLst/>
          </a:prstGeom>
        </p:spPr>
        <p:txBody>
          <a:bodyPr vert="horz" lIns="96661" tIns="48331" rIns="96661" bIns="48331" rtlCol="0"/>
          <a:lstStyle>
            <a:lvl1pPr algn="r">
              <a:defRPr sz="1300"/>
            </a:lvl1pPr>
          </a:lstStyle>
          <a:p>
            <a:fld id="{E194C1A8-DC4B-4329-AF88-FD913597DE85}" type="datetimeFigureOut">
              <a:rPr lang="en-US" smtClean="0"/>
              <a:t>4/17/2025</a:t>
            </a:fld>
            <a:endParaRPr lang="en-US" dirty="0"/>
          </a:p>
        </p:txBody>
      </p:sp>
      <p:sp>
        <p:nvSpPr>
          <p:cNvPr id="4" name="Slide Image Placeholder 3"/>
          <p:cNvSpPr>
            <a:spLocks noGrp="1" noRot="1" noChangeAspect="1"/>
          </p:cNvSpPr>
          <p:nvPr>
            <p:ph type="sldImg" idx="2"/>
          </p:nvPr>
        </p:nvSpPr>
        <p:spPr>
          <a:xfrm>
            <a:off x="1257300" y="720725"/>
            <a:ext cx="4800600" cy="3600450"/>
          </a:xfrm>
          <a:prstGeom prst="rect">
            <a:avLst/>
          </a:prstGeom>
          <a:noFill/>
          <a:ln w="12700">
            <a:solidFill>
              <a:prstClr val="black"/>
            </a:solidFill>
          </a:ln>
        </p:spPr>
        <p:txBody>
          <a:bodyPr vert="horz" lIns="96661" tIns="48331" rIns="96661" bIns="48331" rtlCol="0" anchor="ctr"/>
          <a:lstStyle/>
          <a:p>
            <a:endParaRPr lang="en-US" dirty="0"/>
          </a:p>
        </p:txBody>
      </p:sp>
      <p:sp>
        <p:nvSpPr>
          <p:cNvPr id="5" name="Notes Placeholder 4"/>
          <p:cNvSpPr>
            <a:spLocks noGrp="1"/>
          </p:cNvSpPr>
          <p:nvPr>
            <p:ph type="body" sz="quarter" idx="3"/>
          </p:nvPr>
        </p:nvSpPr>
        <p:spPr>
          <a:xfrm>
            <a:off x="731520" y="4560570"/>
            <a:ext cx="5852160" cy="4320540"/>
          </a:xfrm>
          <a:prstGeom prst="rect">
            <a:avLst/>
          </a:prstGeom>
        </p:spPr>
        <p:txBody>
          <a:bodyPr vert="horz" lIns="96661" tIns="48331" rIns="96661" bIns="48331"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4"/>
            <a:ext cx="3169920" cy="480060"/>
          </a:xfrm>
          <a:prstGeom prst="rect">
            <a:avLst/>
          </a:prstGeom>
        </p:spPr>
        <p:txBody>
          <a:bodyPr vert="horz" lIns="96661" tIns="48331" rIns="96661" bIns="48331" rtlCol="0" anchor="b"/>
          <a:lstStyle>
            <a:lvl1pPr algn="l">
              <a:defRPr sz="1300"/>
            </a:lvl1pPr>
          </a:lstStyle>
          <a:p>
            <a:endParaRPr lang="en-US" dirty="0"/>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61" tIns="48331" rIns="96661" bIns="48331" rtlCol="0" anchor="b"/>
          <a:lstStyle>
            <a:lvl1pPr algn="r">
              <a:defRPr sz="1300"/>
            </a:lvl1pPr>
          </a:lstStyle>
          <a:p>
            <a:fld id="{A8073E54-D085-4E2E-B9A5-A53D7E51940E}" type="slidenum">
              <a:rPr lang="en-US" smtClean="0"/>
              <a:t>‹#›</a:t>
            </a:fld>
            <a:endParaRPr lang="en-US" dirty="0"/>
          </a:p>
        </p:txBody>
      </p:sp>
    </p:spTree>
    <p:extLst>
      <p:ext uri="{BB962C8B-B14F-4D97-AF65-F5344CB8AC3E}">
        <p14:creationId xmlns:p14="http://schemas.microsoft.com/office/powerpoint/2010/main" val="2630752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073E54-D085-4E2E-B9A5-A53D7E51940E}" type="slidenum">
              <a:rPr lang="en-US" smtClean="0"/>
              <a:t>2</a:t>
            </a:fld>
            <a:endParaRPr lang="en-US" dirty="0"/>
          </a:p>
        </p:txBody>
      </p:sp>
    </p:spTree>
    <p:extLst>
      <p:ext uri="{BB962C8B-B14F-4D97-AF65-F5344CB8AC3E}">
        <p14:creationId xmlns:p14="http://schemas.microsoft.com/office/powerpoint/2010/main" val="12809930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073E54-D085-4E2E-B9A5-A53D7E51940E}" type="slidenum">
              <a:rPr lang="en-US" smtClean="0"/>
              <a:t>6</a:t>
            </a:fld>
            <a:endParaRPr lang="en-US" dirty="0"/>
          </a:p>
        </p:txBody>
      </p:sp>
    </p:spTree>
    <p:extLst>
      <p:ext uri="{BB962C8B-B14F-4D97-AF65-F5344CB8AC3E}">
        <p14:creationId xmlns:p14="http://schemas.microsoft.com/office/powerpoint/2010/main" val="41725186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Supplementary notes by TBR:</a:t>
            </a:r>
          </a:p>
          <a:p>
            <a:endParaRPr lang="en-US" dirty="0"/>
          </a:p>
          <a:p>
            <a:pPr marL="403200" marR="0" lvl="0" indent="-403200" algn="l" defTabSz="914400" rtl="0" eaLnBrk="1" fontAlgn="auto" latinLnBrk="0" hangingPunct="1">
              <a:lnSpc>
                <a:spcPct val="100000"/>
              </a:lnSpc>
              <a:spcBef>
                <a:spcPts val="0"/>
              </a:spcBef>
              <a:spcAft>
                <a:spcPts val="0"/>
              </a:spcAft>
              <a:buClr>
                <a:schemeClr val="accent2"/>
              </a:buClr>
              <a:buSzTx/>
              <a:buFont typeface="+mj-lt"/>
              <a:buAutoNum type="arabicPeriod"/>
              <a:tabLst/>
              <a:defRPr/>
            </a:pPr>
            <a:r>
              <a:rPr lang="en-US" noProof="0" dirty="0"/>
              <a:t>Maintain agreements with creditors - </a:t>
            </a:r>
            <a:r>
              <a:rPr lang="en-US" dirty="0"/>
              <a:t>Creditors want to ensure that the company has enough cash flow to repay its debts, so they may impose limits on dividend payouts. These agreements are legal contracts that the company must abide by.</a:t>
            </a:r>
            <a:endParaRPr lang="en-US" noProof="0" dirty="0"/>
          </a:p>
          <a:p>
            <a:pPr marL="403200" indent="-403200">
              <a:lnSpc>
                <a:spcPct val="100000"/>
              </a:lnSpc>
              <a:buClr>
                <a:schemeClr val="accent2"/>
              </a:buClr>
              <a:buFont typeface="+mj-lt"/>
              <a:buAutoNum type="arabicPeriod"/>
            </a:pPr>
            <a:r>
              <a:rPr lang="en-US" noProof="0" dirty="0"/>
              <a:t>Meet state incorporation requirements - </a:t>
            </a:r>
            <a:r>
              <a:rPr lang="en-US" dirty="0"/>
              <a:t>Some states have laws that restrict the amount of dividends a company can pay. These laws are designed to protect creditors and ensure that the company remains solvent.</a:t>
            </a:r>
            <a:endParaRPr lang="en-US" noProof="0" dirty="0"/>
          </a:p>
          <a:p>
            <a:pPr marL="403200" indent="-403200">
              <a:lnSpc>
                <a:spcPct val="100000"/>
              </a:lnSpc>
              <a:buClr>
                <a:schemeClr val="accent2"/>
              </a:buClr>
              <a:buFont typeface="+mj-lt"/>
              <a:buAutoNum type="arabicPeriod"/>
            </a:pPr>
            <a:r>
              <a:rPr lang="en-US" noProof="0" dirty="0"/>
              <a:t>To finance growth or expansion - </a:t>
            </a:r>
            <a:r>
              <a:rPr lang="en-US" dirty="0"/>
              <a:t>Retained earnings are a primary source of funding for capital expenditures, research and development, and other growth initiatives.	</a:t>
            </a:r>
            <a:endParaRPr lang="en-US" noProof="0" dirty="0"/>
          </a:p>
          <a:p>
            <a:pPr marL="403200" indent="-403200">
              <a:lnSpc>
                <a:spcPct val="100000"/>
              </a:lnSpc>
              <a:buClr>
                <a:schemeClr val="accent2"/>
              </a:buClr>
              <a:buFont typeface="+mj-lt"/>
              <a:buAutoNum type="arabicPeriod"/>
            </a:pPr>
            <a:r>
              <a:rPr lang="en-US" noProof="0" dirty="0"/>
              <a:t>To smooth out dividend payments - Many companies aim to provide stable and predictable dividend payments to their shareholders. To do this, they may retain earnings during periods of high profitability to ensure they can maintain dividend payouts during periods of lower earnings.</a:t>
            </a:r>
          </a:p>
          <a:p>
            <a:pPr marL="403200" marR="0" lvl="0" indent="-403200" algn="l" defTabSz="914400" rtl="0" eaLnBrk="1" fontAlgn="auto" latinLnBrk="0" hangingPunct="1">
              <a:lnSpc>
                <a:spcPct val="100000"/>
              </a:lnSpc>
              <a:spcBef>
                <a:spcPts val="0"/>
              </a:spcBef>
              <a:spcAft>
                <a:spcPts val="0"/>
              </a:spcAft>
              <a:buClr>
                <a:schemeClr val="accent2"/>
              </a:buClr>
              <a:buSzTx/>
              <a:buFont typeface="+mj-lt"/>
              <a:buAutoNum type="arabicPeriod"/>
              <a:tabLst/>
              <a:defRPr/>
            </a:pPr>
            <a:r>
              <a:rPr lang="en-US" noProof="0" dirty="0"/>
              <a:t>To build up a cushion against possible losses - </a:t>
            </a:r>
            <a:r>
              <a:rPr lang="en-US" dirty="0"/>
              <a:t>Companies need to have a financial buffer to protect themselves against unexpected losses or economic downturns. Retaining earnings allows them to build up a cash reserve that can be used to weather financial storms. This protects the company, and therefore the investors, from unexpected events.</a:t>
            </a:r>
          </a:p>
        </p:txBody>
      </p:sp>
      <p:sp>
        <p:nvSpPr>
          <p:cNvPr id="4" name="Slide Number Placeholder 3"/>
          <p:cNvSpPr>
            <a:spLocks noGrp="1"/>
          </p:cNvSpPr>
          <p:nvPr>
            <p:ph type="sldNum" sz="quarter" idx="5"/>
          </p:nvPr>
        </p:nvSpPr>
        <p:spPr/>
        <p:txBody>
          <a:bodyPr/>
          <a:lstStyle/>
          <a:p>
            <a:fld id="{A8073E54-D085-4E2E-B9A5-A53D7E51940E}" type="slidenum">
              <a:rPr lang="en-US" smtClean="0"/>
              <a:t>38</a:t>
            </a:fld>
            <a:endParaRPr lang="en-US" dirty="0"/>
          </a:p>
        </p:txBody>
      </p:sp>
    </p:spTree>
    <p:extLst>
      <p:ext uri="{BB962C8B-B14F-4D97-AF65-F5344CB8AC3E}">
        <p14:creationId xmlns:p14="http://schemas.microsoft.com/office/powerpoint/2010/main" val="35449763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Supplementary notes by TBR:</a:t>
            </a:r>
          </a:p>
          <a:p>
            <a:endParaRPr lang="en-US" b="1" dirty="0"/>
          </a:p>
          <a:p>
            <a:r>
              <a:rPr lang="en-US" b="1" dirty="0"/>
              <a:t>Present Financial Position:</a:t>
            </a:r>
            <a:r>
              <a:rPr lang="en-US" dirty="0"/>
              <a:t> The company must have sufficient current cash flow and profitability to cover the dividend payment without jeopardizing its short-term financial stability. This means having enough cash to meet its immediate obligations.</a:t>
            </a:r>
          </a:p>
          <a:p>
            <a:endParaRPr lang="en-US" b="1" dirty="0"/>
          </a:p>
          <a:p>
            <a:r>
              <a:rPr lang="en-US" b="1" dirty="0"/>
              <a:t>Future Financial Position:</a:t>
            </a:r>
            <a:r>
              <a:rPr lang="en-US" dirty="0"/>
              <a:t> The company must also consider its long-term financial prospects. It should only pay dividends if it anticipates generating enough future profits to sustain those payments and continue its operations.</a:t>
            </a:r>
          </a:p>
          <a:p>
            <a:endParaRPr lang="en-US" dirty="0"/>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noProof="0" dirty="0"/>
              <a:t>“have earnings but fail to pay dividends”: </a:t>
            </a:r>
            <a:r>
              <a:rPr lang="en-US" dirty="0"/>
              <a:t>When a company generates profits but doesn't pay dividends, investors may be curious or concerned about the reasons. This allows investors to understand if the company is choosing to reinvest all profits, or if there is a more concerning reason that dividends are not being paid.</a:t>
            </a:r>
          </a:p>
          <a:p>
            <a:endParaRPr lang="en-US" dirty="0"/>
          </a:p>
          <a:p>
            <a:endParaRPr lang="en-US" dirty="0"/>
          </a:p>
          <a:p>
            <a:r>
              <a:rPr lang="en-US" dirty="0"/>
              <a:t>“</a:t>
            </a:r>
            <a:r>
              <a:rPr lang="en-US" noProof="0" dirty="0"/>
              <a:t>do not expect to pay dividends in the foreseeable future”: </a:t>
            </a:r>
            <a:r>
              <a:rPr lang="en-US" dirty="0"/>
              <a:t>It's crucial for investors to know if a company has no plans to pay dividends, especially if they are seeking income from their investments. This disclosure helps investors avoid investing in companies that don't align with their investment goals.</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noProof="0" dirty="0">
                <a:latin typeface="Calibri" panose="020F0502020204030204" pitchFamily="34" charset="0"/>
                <a:cs typeface="Calibri" panose="020F0502020204030204" pitchFamily="34" charset="0"/>
              </a:rPr>
              <a:t>“The S</a:t>
            </a:r>
            <a:r>
              <a:rPr lang="en-US" sz="100" noProof="0" dirty="0">
                <a:latin typeface="Calibri" panose="020F0502020204030204" pitchFamily="34" charset="0"/>
                <a:cs typeface="Calibri" panose="020F0502020204030204" pitchFamily="34" charset="0"/>
              </a:rPr>
              <a:t> </a:t>
            </a:r>
            <a:r>
              <a:rPr lang="en-US" noProof="0" dirty="0">
                <a:latin typeface="Calibri" panose="020F0502020204030204" pitchFamily="34" charset="0"/>
                <a:cs typeface="Calibri" panose="020F0502020204030204" pitchFamily="34" charset="0"/>
              </a:rPr>
              <a:t>E</a:t>
            </a:r>
            <a:r>
              <a:rPr lang="en-US" sz="100" noProof="0" dirty="0">
                <a:latin typeface="Calibri" panose="020F0502020204030204" pitchFamily="34" charset="0"/>
                <a:cs typeface="Calibri" panose="020F0502020204030204" pitchFamily="34" charset="0"/>
              </a:rPr>
              <a:t> </a:t>
            </a:r>
            <a:r>
              <a:rPr lang="en-US" noProof="0" dirty="0">
                <a:latin typeface="Calibri" panose="020F0502020204030204" pitchFamily="34" charset="0"/>
                <a:cs typeface="Calibri" panose="020F0502020204030204" pitchFamily="34" charset="0"/>
              </a:rPr>
              <a:t>C encourages companies that consistently pay dividends to indicate whether they intend to continue this practice in the future”: </a:t>
            </a:r>
            <a:r>
              <a:rPr lang="en-US" dirty="0"/>
              <a:t>Knowing a company's intention to continue its dividend practice provides predictability and stability for investors.</a:t>
            </a:r>
          </a:p>
        </p:txBody>
      </p:sp>
      <p:sp>
        <p:nvSpPr>
          <p:cNvPr id="4" name="Slide Number Placeholder 3"/>
          <p:cNvSpPr>
            <a:spLocks noGrp="1"/>
          </p:cNvSpPr>
          <p:nvPr>
            <p:ph type="sldNum" sz="quarter" idx="5"/>
          </p:nvPr>
        </p:nvSpPr>
        <p:spPr/>
        <p:txBody>
          <a:bodyPr/>
          <a:lstStyle/>
          <a:p>
            <a:fld id="{A8073E54-D085-4E2E-B9A5-A53D7E51940E}" type="slidenum">
              <a:rPr lang="en-US" smtClean="0"/>
              <a:t>39</a:t>
            </a:fld>
            <a:endParaRPr lang="en-US" dirty="0"/>
          </a:p>
        </p:txBody>
      </p:sp>
    </p:spTree>
    <p:extLst>
      <p:ext uri="{BB962C8B-B14F-4D97-AF65-F5344CB8AC3E}">
        <p14:creationId xmlns:p14="http://schemas.microsoft.com/office/powerpoint/2010/main" val="14159990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073E54-D085-4E2E-B9A5-A53D7E51940E}" type="slidenum">
              <a:rPr lang="en-US" smtClean="0"/>
              <a:t>41</a:t>
            </a:fld>
            <a:endParaRPr lang="en-US" dirty="0"/>
          </a:p>
        </p:txBody>
      </p:sp>
    </p:spTree>
    <p:extLst>
      <p:ext uri="{BB962C8B-B14F-4D97-AF65-F5344CB8AC3E}">
        <p14:creationId xmlns:p14="http://schemas.microsoft.com/office/powerpoint/2010/main" val="26440150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Supplementary notes by TBR:</a:t>
            </a:r>
          </a:p>
          <a:p>
            <a:endParaRPr lang="en-US" dirty="0"/>
          </a:p>
          <a:p>
            <a:r>
              <a:rPr lang="en-US" dirty="0"/>
              <a:t>Why debit "</a:t>
            </a:r>
            <a:r>
              <a:rPr lang="en-US" sz="1200" dirty="0"/>
              <a:t>Paid-in Capital in Excess of Par—Common Stock”?</a:t>
            </a:r>
            <a:endParaRPr lang="en-US" dirty="0"/>
          </a:p>
          <a:p>
            <a:pPr marL="171450" indent="-171450">
              <a:buFont typeface="Arial" panose="020B0604020202020204" pitchFamily="34" charset="0"/>
              <a:buChar char="•"/>
            </a:pPr>
            <a:r>
              <a:rPr lang="en-US" dirty="0"/>
              <a:t>In many cases, especially in modern accounting, the par value of stock is very low.</a:t>
            </a:r>
          </a:p>
          <a:p>
            <a:pPr marL="171450" indent="-171450">
              <a:buFont typeface="Arial" panose="020B0604020202020204" pitchFamily="34" charset="0"/>
              <a:buChar char="•"/>
            </a:pPr>
            <a:r>
              <a:rPr lang="en-US" dirty="0"/>
              <a:t>"Excess of par" represents the premium investors paid for the stock beyond its par value.</a:t>
            </a:r>
          </a:p>
          <a:p>
            <a:pPr marL="171450" indent="-171450">
              <a:buFont typeface="Arial" panose="020B0604020202020204" pitchFamily="34" charset="0"/>
              <a:buChar char="•"/>
            </a:pPr>
            <a:r>
              <a:rPr lang="en-US" dirty="0"/>
              <a:t>Because liquidating dividends are returning a portion of the investors' original investment, it's logical that this "excess" amount would be affected.</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Therefore, in the journal entry we will debit "</a:t>
            </a:r>
            <a:r>
              <a:rPr lang="en-US" sz="1200" dirty="0"/>
              <a:t>Paid-in Capital in Excess of Par—Common Stock” for </a:t>
            </a:r>
            <a:r>
              <a:rPr lang="en-US" dirty="0"/>
              <a:t>$300,000.</a:t>
            </a:r>
          </a:p>
          <a:p>
            <a:endParaRPr lang="en-US" dirty="0"/>
          </a:p>
        </p:txBody>
      </p:sp>
      <p:sp>
        <p:nvSpPr>
          <p:cNvPr id="4" name="Slide Number Placeholder 3"/>
          <p:cNvSpPr>
            <a:spLocks noGrp="1"/>
          </p:cNvSpPr>
          <p:nvPr>
            <p:ph type="sldNum" sz="quarter" idx="5"/>
          </p:nvPr>
        </p:nvSpPr>
        <p:spPr/>
        <p:txBody>
          <a:bodyPr/>
          <a:lstStyle/>
          <a:p>
            <a:fld id="{A8073E54-D085-4E2E-B9A5-A53D7E51940E}" type="slidenum">
              <a:rPr lang="en-US" smtClean="0"/>
              <a:t>46</a:t>
            </a:fld>
            <a:endParaRPr lang="en-US" dirty="0"/>
          </a:p>
        </p:txBody>
      </p:sp>
    </p:spTree>
    <p:extLst>
      <p:ext uri="{BB962C8B-B14F-4D97-AF65-F5344CB8AC3E}">
        <p14:creationId xmlns:p14="http://schemas.microsoft.com/office/powerpoint/2010/main" val="16723333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Supplementary notes by TBR:</a:t>
            </a:r>
          </a:p>
          <a:p>
            <a:endParaRPr lang="en-US" dirty="0"/>
          </a:p>
          <a:p>
            <a:r>
              <a:rPr lang="en-US" i="1" dirty="0"/>
              <a:t>(continuation of above example)</a:t>
            </a:r>
          </a:p>
          <a:p>
            <a:r>
              <a:rPr lang="en-US" sz="1200" b="0" i="0" u="none" strike="noStrike" kern="1200" baseline="0" dirty="0">
                <a:solidFill>
                  <a:schemeClr val="tx1"/>
                </a:solidFill>
                <a:latin typeface="+mn-lt"/>
                <a:ea typeface="+mn-ea"/>
                <a:cs typeface="+mn-cs"/>
              </a:rPr>
              <a:t>Cetus has disbursed no cash and has assumed no liabilities. What, then, are the purposes and benefits of a stock dividend? Corporations issue stock dividends generally for one or more of the following reasons.</a:t>
            </a:r>
          </a:p>
          <a:p>
            <a:pPr marL="228600" indent="-228600">
              <a:buFont typeface="+mj-lt"/>
              <a:buAutoNum type="arabicPeriod"/>
            </a:pPr>
            <a:r>
              <a:rPr lang="en-US" sz="1200" b="0" i="0" u="none" strike="noStrike" kern="1200" baseline="0" dirty="0">
                <a:solidFill>
                  <a:schemeClr val="tx1"/>
                </a:solidFill>
                <a:latin typeface="+mn-lt"/>
                <a:ea typeface="+mn-ea"/>
                <a:cs typeface="+mn-cs"/>
              </a:rPr>
              <a:t>To satisfy stockholders’ dividend expectations without spending cash.</a:t>
            </a:r>
          </a:p>
          <a:p>
            <a:pPr marL="228600" indent="-228600">
              <a:buFont typeface="+mj-lt"/>
              <a:buAutoNum type="arabicPeriod"/>
            </a:pPr>
            <a:r>
              <a:rPr lang="en-US" sz="1200" b="0" i="0" u="none" strike="noStrike" kern="1200" baseline="0" dirty="0">
                <a:solidFill>
                  <a:schemeClr val="tx1"/>
                </a:solidFill>
                <a:latin typeface="+mn-lt"/>
                <a:ea typeface="+mn-ea"/>
                <a:cs typeface="+mn-cs"/>
              </a:rPr>
              <a:t>To increase the marketability of the corporation’s stock. When the number of shares outstanding increases </a:t>
            </a:r>
            <a:r>
              <a:rPr lang="en-US" sz="1200" b="0" i="1" u="none" strike="noStrike" kern="1200" baseline="0" dirty="0">
                <a:solidFill>
                  <a:schemeClr val="tx1"/>
                </a:solidFill>
                <a:latin typeface="+mn-lt"/>
                <a:ea typeface="+mn-ea"/>
                <a:cs typeface="+mn-cs"/>
              </a:rPr>
              <a:t>(and because the company's value stays the same)</a:t>
            </a:r>
            <a:r>
              <a:rPr lang="en-US" sz="1200" b="0" i="0" u="none" strike="noStrike" kern="1200" baseline="0" dirty="0">
                <a:solidFill>
                  <a:schemeClr val="tx1"/>
                </a:solidFill>
                <a:latin typeface="+mn-lt"/>
                <a:ea typeface="+mn-ea"/>
                <a:cs typeface="+mn-cs"/>
              </a:rPr>
              <a:t>, the market price per share decreases. </a:t>
            </a:r>
            <a:r>
              <a:rPr lang="en-US" sz="1200" b="0" i="1" u="none" strike="noStrike" kern="1200" baseline="0" dirty="0">
                <a:solidFill>
                  <a:schemeClr val="tx1"/>
                </a:solidFill>
                <a:latin typeface="+mn-lt"/>
                <a:ea typeface="+mn-ea"/>
                <a:cs typeface="+mn-cs"/>
              </a:rPr>
              <a:t>(Imagine a pizza. If you cut that pizza into more slices, each slice will have a smaller size/value.)</a:t>
            </a:r>
            <a:r>
              <a:rPr lang="en-US" sz="1200" b="0" i="0" u="none" strike="noStrike" kern="1200" baseline="0" dirty="0">
                <a:solidFill>
                  <a:schemeClr val="tx1"/>
                </a:solidFill>
                <a:latin typeface="+mn-lt"/>
                <a:ea typeface="+mn-ea"/>
                <a:cs typeface="+mn-cs"/>
              </a:rPr>
              <a:t> Decreasing the market price of the stock makes it easier for smaller investors to purchase the shares.</a:t>
            </a:r>
          </a:p>
          <a:p>
            <a:pPr marL="228600" indent="-228600">
              <a:buFont typeface="+mj-lt"/>
              <a:buAutoNum type="arabicPeriod"/>
            </a:pPr>
            <a:r>
              <a:rPr lang="en-US" sz="1200" b="0" i="0" u="none" strike="noStrike" kern="1200" baseline="0" dirty="0">
                <a:solidFill>
                  <a:schemeClr val="tx1"/>
                </a:solidFill>
                <a:latin typeface="+mn-lt"/>
                <a:ea typeface="+mn-ea"/>
                <a:cs typeface="+mn-cs"/>
              </a:rPr>
              <a:t>To emphasize that a company has permanently reinvested in the business a portion of stockholders’ equity, which therefore is unavailable for cash dividends.</a:t>
            </a:r>
          </a:p>
          <a:p>
            <a:pPr marL="228600" indent="-228600">
              <a:buFont typeface="+mj-lt"/>
              <a:buAutoNum type="arabicPeriod"/>
            </a:pPr>
            <a:endParaRPr lang="en-US" sz="1200" b="0" i="0" u="none" strike="noStrike" kern="1200" baseline="0" dirty="0">
              <a:solidFill>
                <a:schemeClr val="tx1"/>
              </a:solidFill>
              <a:latin typeface="+mn-lt"/>
              <a:ea typeface="+mn-ea"/>
              <a:cs typeface="+mn-cs"/>
            </a:endParaRPr>
          </a:p>
          <a:p>
            <a:pPr marL="228600" indent="-228600">
              <a:buFont typeface="+mj-lt"/>
              <a:buAutoNum type="arabicPeriod"/>
            </a:pPr>
            <a:endParaRPr lang="en-US" sz="1200" b="0" i="0" u="none" strike="noStrike" kern="1200" baseline="0" dirty="0">
              <a:solidFill>
                <a:schemeClr val="tx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200" b="0" i="0" u="none" strike="noStrike" kern="1200" baseline="0" dirty="0">
                <a:solidFill>
                  <a:schemeClr val="tx1"/>
                </a:solidFill>
                <a:latin typeface="+mn-lt"/>
                <a:ea typeface="+mn-ea"/>
                <a:cs typeface="+mn-cs"/>
              </a:rPr>
              <a:t>“</a:t>
            </a:r>
            <a:r>
              <a:rPr lang="en-US" dirty="0"/>
              <a:t>Used when management wishes to “capitalize” part of earnings.”; it means: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When a company issues a stock dividend, it increases the number of outstanding shares.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To properly account for this, the company transfers an amount from retained earnings to paid-in capital.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This transfer "capitalizes" a portion of the earnings, meaning it converts a portion of the earnings into permanent capital.</a:t>
            </a:r>
          </a:p>
        </p:txBody>
      </p:sp>
      <p:sp>
        <p:nvSpPr>
          <p:cNvPr id="4" name="Slide Number Placeholder 3"/>
          <p:cNvSpPr>
            <a:spLocks noGrp="1"/>
          </p:cNvSpPr>
          <p:nvPr>
            <p:ph type="sldNum" sz="quarter" idx="5"/>
          </p:nvPr>
        </p:nvSpPr>
        <p:spPr/>
        <p:txBody>
          <a:bodyPr/>
          <a:lstStyle/>
          <a:p>
            <a:fld id="{A8073E54-D085-4E2E-B9A5-A53D7E51940E}" type="slidenum">
              <a:rPr lang="en-US" smtClean="0"/>
              <a:t>47</a:t>
            </a:fld>
            <a:endParaRPr lang="en-US" dirty="0"/>
          </a:p>
        </p:txBody>
      </p:sp>
    </p:spTree>
    <p:extLst>
      <p:ext uri="{BB962C8B-B14F-4D97-AF65-F5344CB8AC3E}">
        <p14:creationId xmlns:p14="http://schemas.microsoft.com/office/powerpoint/2010/main" val="438746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Supplementary notes by TBR:</a:t>
            </a:r>
          </a:p>
          <a:p>
            <a:endParaRPr lang="en-US" b="0" dirty="0"/>
          </a:p>
          <a:p>
            <a:r>
              <a:rPr lang="en-US" b="0" dirty="0"/>
              <a:t>Understanding the Scenario</a:t>
            </a:r>
          </a:p>
          <a:p>
            <a:pPr marL="171450" indent="-171450">
              <a:buFont typeface="Arial" panose="020B0604020202020204" pitchFamily="34" charset="0"/>
              <a:buChar char="•"/>
            </a:pPr>
            <a:r>
              <a:rPr lang="en-US" b="0" dirty="0"/>
              <a:t>Outstanding Shares: 1,000 shares</a:t>
            </a:r>
          </a:p>
          <a:p>
            <a:pPr marL="171450" indent="-171450">
              <a:buFont typeface="Arial" panose="020B0604020202020204" pitchFamily="34" charset="0"/>
              <a:buChar char="•"/>
            </a:pPr>
            <a:r>
              <a:rPr lang="en-US" b="0" dirty="0"/>
              <a:t>Par Value: $100 per share</a:t>
            </a:r>
          </a:p>
          <a:p>
            <a:pPr marL="171450" indent="-171450">
              <a:buFont typeface="Arial" panose="020B0604020202020204" pitchFamily="34" charset="0"/>
              <a:buChar char="•"/>
            </a:pPr>
            <a:r>
              <a:rPr lang="en-US" b="0" dirty="0"/>
              <a:t>Retained Earnings: $50,000</a:t>
            </a:r>
          </a:p>
          <a:p>
            <a:pPr marL="171450" indent="-171450">
              <a:buFont typeface="Arial" panose="020B0604020202020204" pitchFamily="34" charset="0"/>
              <a:buChar char="•"/>
            </a:pPr>
            <a:r>
              <a:rPr lang="en-US" b="0" dirty="0"/>
              <a:t>Stock Dividend: 10%</a:t>
            </a:r>
          </a:p>
          <a:p>
            <a:pPr marL="171450" indent="-171450">
              <a:buFont typeface="Arial" panose="020B0604020202020204" pitchFamily="34" charset="0"/>
              <a:buChar char="•"/>
            </a:pPr>
            <a:r>
              <a:rPr lang="en-US" b="0" dirty="0"/>
              <a:t>Fair Value: $130 per share</a:t>
            </a:r>
          </a:p>
          <a:p>
            <a:endParaRPr lang="en-US" b="1" dirty="0"/>
          </a:p>
          <a:p>
            <a:r>
              <a:rPr lang="en-US" b="0" dirty="0"/>
              <a:t>Calculations</a:t>
            </a:r>
          </a:p>
          <a:p>
            <a:pPr marL="171450" indent="-171450">
              <a:buFont typeface="Arial" panose="020B0604020202020204" pitchFamily="34" charset="0"/>
              <a:buChar char="•"/>
            </a:pPr>
            <a:r>
              <a:rPr lang="en-US" b="0" dirty="0"/>
              <a:t>Number of New Shares: 1,000 shares × 10% = 100 shares</a:t>
            </a:r>
          </a:p>
          <a:p>
            <a:pPr marL="171450" indent="-171450">
              <a:buFont typeface="Arial" panose="020B0604020202020204" pitchFamily="34" charset="0"/>
              <a:buChar char="•"/>
            </a:pPr>
            <a:r>
              <a:rPr lang="en-US" b="0" dirty="0"/>
              <a:t>Total Par Value of New Shares: 100 shares × $100 par value = $10,000</a:t>
            </a:r>
          </a:p>
          <a:p>
            <a:pPr marL="171450" indent="-171450">
              <a:buFont typeface="Arial" panose="020B0604020202020204" pitchFamily="34" charset="0"/>
              <a:buChar char="•"/>
            </a:pPr>
            <a:r>
              <a:rPr lang="en-US" b="0" dirty="0"/>
              <a:t>Total Fair Value of New Shares: 100 shares × $130 fair value = $13,000</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noProof="0" dirty="0"/>
              <a:t>Paid-in Capital in Excess of Par—Common Stock</a:t>
            </a:r>
            <a:r>
              <a:rPr lang="en-US" b="0" dirty="0"/>
              <a:t>: $13,000 (fair value) - $10,000 (par value) = $3,000</a:t>
            </a:r>
          </a:p>
          <a:p>
            <a:endParaRPr lang="en-US" b="0" dirty="0"/>
          </a:p>
          <a:p>
            <a:r>
              <a:rPr lang="en-US" b="0" dirty="0"/>
              <a:t>Explanation</a:t>
            </a:r>
          </a:p>
          <a:p>
            <a:r>
              <a:rPr lang="en-US" b="0" dirty="0"/>
              <a:t>Date of Declaration: </a:t>
            </a:r>
          </a:p>
          <a:p>
            <a:pPr marL="171450" lvl="0" indent="-171450">
              <a:buFont typeface="Arial" panose="020B0604020202020204" pitchFamily="34" charset="0"/>
              <a:buChar char="•"/>
            </a:pPr>
            <a:r>
              <a:rPr lang="en-US" b="0" dirty="0"/>
              <a:t>Retained Earnings (Debit $13,000): This reduces the retained earnings by the fair market value of the shares being distributed. This is the amount of the company's equity that is now being moved to the common stock accounts.</a:t>
            </a:r>
          </a:p>
          <a:p>
            <a:pPr marL="171450" lvl="0" indent="-171450">
              <a:buFont typeface="Arial" panose="020B0604020202020204" pitchFamily="34" charset="0"/>
              <a:buChar char="•"/>
            </a:pPr>
            <a:r>
              <a:rPr lang="en-US" b="0" dirty="0"/>
              <a:t>Common Stock Dividend Distributable (Credit $10,000): This is a temporary equity account that represents the par value of the shares to be distributed.</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noProof="0" dirty="0"/>
              <a:t>Paid-in Capital in Excess of Par—Common Stock </a:t>
            </a:r>
            <a:r>
              <a:rPr lang="en-US" b="0" dirty="0"/>
              <a:t>(Credit $3,000): This account captures the excess of the fair market value over the par value of the shares.</a:t>
            </a:r>
          </a:p>
          <a:p>
            <a:endParaRPr lang="en-US" b="0" dirty="0"/>
          </a:p>
          <a:p>
            <a:r>
              <a:rPr lang="en-US" b="0" dirty="0"/>
              <a:t>Date of Distribution: </a:t>
            </a:r>
          </a:p>
          <a:p>
            <a:pPr marL="171450" lvl="0" indent="-171450">
              <a:buFont typeface="Arial" panose="020B0604020202020204" pitchFamily="34" charset="0"/>
              <a:buChar char="•"/>
            </a:pPr>
            <a:r>
              <a:rPr lang="en-US" b="0" dirty="0"/>
              <a:t>Common Stock Dividend Distributable (Debit $10,000): This closes out the temporary account.</a:t>
            </a:r>
          </a:p>
          <a:p>
            <a:pPr marL="171450" lvl="0" indent="-171450">
              <a:buFont typeface="Arial" panose="020B0604020202020204" pitchFamily="34" charset="0"/>
              <a:buChar char="•"/>
            </a:pPr>
            <a:r>
              <a:rPr lang="en-US" b="0" dirty="0"/>
              <a:t>Common Stock (Credit $10,000): This increases the common stock account by the par value of the shares issued.</a:t>
            </a:r>
          </a:p>
        </p:txBody>
      </p:sp>
      <p:sp>
        <p:nvSpPr>
          <p:cNvPr id="4" name="Slide Number Placeholder 3"/>
          <p:cNvSpPr>
            <a:spLocks noGrp="1"/>
          </p:cNvSpPr>
          <p:nvPr>
            <p:ph type="sldNum" sz="quarter" idx="5"/>
          </p:nvPr>
        </p:nvSpPr>
        <p:spPr/>
        <p:txBody>
          <a:bodyPr/>
          <a:lstStyle/>
          <a:p>
            <a:fld id="{A8073E54-D085-4E2E-B9A5-A53D7E51940E}" type="slidenum">
              <a:rPr lang="en-US" smtClean="0"/>
              <a:t>48</a:t>
            </a:fld>
            <a:endParaRPr lang="en-US" dirty="0"/>
          </a:p>
        </p:txBody>
      </p:sp>
    </p:spTree>
    <p:extLst>
      <p:ext uri="{BB962C8B-B14F-4D97-AF65-F5344CB8AC3E}">
        <p14:creationId xmlns:p14="http://schemas.microsoft.com/office/powerpoint/2010/main" val="30684663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Supplementary notes by TBR:</a:t>
            </a:r>
          </a:p>
          <a:p>
            <a:endParaRPr lang="en-US" dirty="0"/>
          </a:p>
          <a:p>
            <a:r>
              <a:rPr lang="en-US" dirty="0"/>
              <a:t>The decrease in the market price of a stock after a stock split is a direct result of increasing the number of outstanding shares without changing the company's overall market capitalization. </a:t>
            </a:r>
          </a:p>
          <a:p>
            <a:pPr marL="171450" indent="-171450">
              <a:buFont typeface="Arial" panose="020B0604020202020204" pitchFamily="34" charset="0"/>
              <a:buChar char="•"/>
            </a:pPr>
            <a:r>
              <a:rPr lang="en-US" b="1" dirty="0"/>
              <a:t>Market Capitalization:</a:t>
            </a:r>
            <a:r>
              <a:rPr lang="en-US" dirty="0"/>
              <a:t> This is the total value of a company's outstanding shares. It's calculated by multiplying the current share price by the total number of outstanding shares.   </a:t>
            </a:r>
          </a:p>
          <a:p>
            <a:pPr marL="171450" indent="-171450">
              <a:buFont typeface="Arial" panose="020B0604020202020204" pitchFamily="34" charset="0"/>
              <a:buChar char="•"/>
            </a:pPr>
            <a:r>
              <a:rPr lang="en-US" b="1" dirty="0"/>
              <a:t>Stock Split's Goal:</a:t>
            </a:r>
            <a:r>
              <a:rPr lang="en-US" dirty="0"/>
              <a:t> A stock split aims to increase the number of shares while keeping the company's market capitalization constant.</a:t>
            </a:r>
          </a:p>
          <a:p>
            <a:endParaRPr lang="en-US" b="1" dirty="0"/>
          </a:p>
          <a:p>
            <a:r>
              <a:rPr lang="en-US" b="1" dirty="0"/>
              <a:t>Example: 2-for-1 Split:</a:t>
            </a:r>
            <a:r>
              <a:rPr lang="en-US" dirty="0"/>
              <a:t> If you own one share of stock before a 2-for-1 split, you'll own two shares after the split. To maintain the same market capitalization, the price of each individual share must be halved. So, if the stock was trading at $100 per share before the split, it will trade at $50 per share after the split.   </a:t>
            </a:r>
          </a:p>
          <a:p>
            <a:endParaRPr lang="en-US" dirty="0"/>
          </a:p>
          <a:p>
            <a:r>
              <a:rPr lang="en-US" b="1" dirty="0"/>
              <a:t>The Logic:</a:t>
            </a:r>
            <a:r>
              <a:rPr lang="en-US" dirty="0"/>
              <a:t> The company is essentially dividing its existing ownership into more, smaller pieces. Since the company's overall value hasn't changed, the value of each individual piece must decrease proportionally. Imagine a pizza. If you cut that pizza into twice as many slices, each slice will be half the size (or have half the value). </a:t>
            </a:r>
          </a:p>
          <a:p>
            <a:endParaRPr lang="en-US" dirty="0"/>
          </a:p>
          <a:p>
            <a:endParaRPr lang="en-US" dirty="0"/>
          </a:p>
        </p:txBody>
      </p:sp>
      <p:sp>
        <p:nvSpPr>
          <p:cNvPr id="4" name="Slide Number Placeholder 3"/>
          <p:cNvSpPr>
            <a:spLocks noGrp="1"/>
          </p:cNvSpPr>
          <p:nvPr>
            <p:ph type="sldNum" sz="quarter" idx="5"/>
          </p:nvPr>
        </p:nvSpPr>
        <p:spPr/>
        <p:txBody>
          <a:bodyPr/>
          <a:lstStyle/>
          <a:p>
            <a:fld id="{A8073E54-D085-4E2E-B9A5-A53D7E51940E}" type="slidenum">
              <a:rPr lang="en-US" smtClean="0"/>
              <a:t>50</a:t>
            </a:fld>
            <a:endParaRPr lang="en-US" dirty="0"/>
          </a:p>
        </p:txBody>
      </p:sp>
    </p:spTree>
    <p:extLst>
      <p:ext uri="{BB962C8B-B14F-4D97-AF65-F5344CB8AC3E}">
        <p14:creationId xmlns:p14="http://schemas.microsoft.com/office/powerpoint/2010/main" val="7354093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Supplementary notes by TBR:</a:t>
            </a:r>
            <a:endParaRPr lang="en-US" sz="1200" kern="1200" dirty="0">
              <a:solidFill>
                <a:schemeClr val="tx1"/>
              </a:solidFill>
              <a:latin typeface="+mn-lt"/>
              <a:ea typeface="+mn-ea"/>
              <a:cs typeface="+mn-cs"/>
            </a:endParaRPr>
          </a:p>
          <a:p>
            <a:endParaRPr lang="en-US" sz="1200" kern="1200" dirty="0">
              <a:solidFill>
                <a:schemeClr val="tx1"/>
              </a:solidFill>
              <a:latin typeface="+mn-lt"/>
              <a:ea typeface="+mn-ea"/>
              <a:cs typeface="+mn-cs"/>
            </a:endParaRPr>
          </a:p>
          <a:p>
            <a:r>
              <a:rPr lang="en-US" sz="1200" kern="1200" dirty="0">
                <a:solidFill>
                  <a:schemeClr val="tx1"/>
                </a:solidFill>
                <a:latin typeface="+mn-lt"/>
                <a:ea typeface="+mn-ea"/>
                <a:cs typeface="+mn-cs"/>
              </a:rPr>
              <a:t>Under Stockholders' equity:</a:t>
            </a:r>
          </a:p>
          <a:p>
            <a:pPr marL="228600" indent="-228600">
              <a:buFont typeface="+mj-lt"/>
              <a:buAutoNum type="arabicPeriod"/>
            </a:pPr>
            <a:r>
              <a:rPr lang="en-US" sz="1200" kern="1200" dirty="0">
                <a:solidFill>
                  <a:schemeClr val="tx1"/>
                </a:solidFill>
                <a:latin typeface="+mn-lt"/>
                <a:ea typeface="+mn-ea"/>
                <a:cs typeface="+mn-cs"/>
              </a:rPr>
              <a:t>Paid-in capital</a:t>
            </a:r>
          </a:p>
          <a:p>
            <a:pPr marL="685800" lvl="1" indent="-228600">
              <a:buFont typeface="+mj-lt"/>
              <a:buAutoNum type="alphaLcParenR"/>
            </a:pPr>
            <a:r>
              <a:rPr lang="en-US" sz="1200" kern="1200" dirty="0">
                <a:solidFill>
                  <a:schemeClr val="tx1"/>
                </a:solidFill>
                <a:latin typeface="+mn-lt"/>
                <a:ea typeface="+mn-ea"/>
                <a:cs typeface="+mn-cs"/>
              </a:rPr>
              <a:t>Capital stock (at par/stated value)</a:t>
            </a:r>
          </a:p>
          <a:p>
            <a:pPr marL="1200150" lvl="2" indent="-285750">
              <a:buFont typeface="+mj-lt"/>
              <a:buAutoNum type="romanLcPeriod"/>
            </a:pPr>
            <a:r>
              <a:rPr lang="en-US" sz="1200" kern="1200" dirty="0">
                <a:solidFill>
                  <a:schemeClr val="tx1"/>
                </a:solidFill>
                <a:latin typeface="+mn-lt"/>
                <a:ea typeface="+mn-ea"/>
                <a:cs typeface="+mn-cs"/>
              </a:rPr>
              <a:t>Preferred stock: </a:t>
            </a:r>
            <a:r>
              <a:rPr lang="en-US" sz="1200" b="1" kern="1200" dirty="0">
                <a:solidFill>
                  <a:schemeClr val="tx1"/>
                </a:solidFill>
                <a:latin typeface="+mn-lt"/>
                <a:ea typeface="+mn-ea"/>
                <a:cs typeface="+mn-cs"/>
              </a:rPr>
              <a:t>9%</a:t>
            </a:r>
            <a:r>
              <a:rPr lang="en-US" sz="1200" kern="1200" dirty="0">
                <a:solidFill>
                  <a:schemeClr val="tx1"/>
                </a:solidFill>
                <a:latin typeface="+mn-lt"/>
                <a:ea typeface="+mn-ea"/>
                <a:cs typeface="+mn-cs"/>
              </a:rPr>
              <a:t> = fixed annual dividend of $9 per share {9% of $100 par value}; </a:t>
            </a:r>
            <a:r>
              <a:rPr lang="en-US" sz="1200" b="1" kern="1200" dirty="0">
                <a:solidFill>
                  <a:schemeClr val="tx1"/>
                </a:solidFill>
                <a:latin typeface="+mn-lt"/>
                <a:ea typeface="+mn-ea"/>
                <a:cs typeface="+mn-cs"/>
              </a:rPr>
              <a:t>cumulative</a:t>
            </a:r>
            <a:r>
              <a:rPr lang="en-US" sz="1200" kern="1200" dirty="0">
                <a:solidFill>
                  <a:schemeClr val="tx1"/>
                </a:solidFill>
                <a:latin typeface="+mn-lt"/>
                <a:ea typeface="+mn-ea"/>
                <a:cs typeface="+mn-cs"/>
              </a:rPr>
              <a:t> = if corporation cannot pay dividend in year 1 due to losses, they will pay in year 2, and so on, meaning any unpaid dividend will be carried forward to the following year; </a:t>
            </a:r>
            <a:r>
              <a:rPr lang="en-US" sz="1200" b="1" kern="1200" dirty="0">
                <a:solidFill>
                  <a:schemeClr val="tx1"/>
                </a:solidFill>
                <a:latin typeface="+mn-lt"/>
                <a:ea typeface="+mn-ea"/>
                <a:cs typeface="+mn-cs"/>
              </a:rPr>
              <a:t>callable at $120</a:t>
            </a:r>
            <a:r>
              <a:rPr lang="en-US" sz="1200" b="0" kern="1200" dirty="0">
                <a:solidFill>
                  <a:schemeClr val="tx1"/>
                </a:solidFill>
                <a:latin typeface="+mn-lt"/>
                <a:ea typeface="+mn-ea"/>
                <a:cs typeface="+mn-cs"/>
              </a:rPr>
              <a:t> = the corporation has the right, but not the obligation, to repurchase or "call back" the preferred stock from its shareholders at a price of $120 per share ;</a:t>
            </a:r>
            <a:r>
              <a:rPr lang="en-US" sz="1200" b="1" kern="1200" dirty="0">
                <a:solidFill>
                  <a:schemeClr val="tx1"/>
                </a:solidFill>
                <a:latin typeface="+mn-lt"/>
                <a:ea typeface="+mn-ea"/>
                <a:cs typeface="+mn-cs"/>
              </a:rPr>
              <a:t> 6000 shares issued and outstanding </a:t>
            </a:r>
            <a:r>
              <a:rPr lang="en-US" sz="1200" kern="1200" dirty="0">
                <a:solidFill>
                  <a:schemeClr val="tx1"/>
                </a:solidFill>
                <a:latin typeface="+mn-lt"/>
                <a:ea typeface="+mn-ea"/>
                <a:cs typeface="+mn-cs"/>
              </a:rPr>
              <a:t>meaning no preferred shares was bought back by the company</a:t>
            </a:r>
          </a:p>
          <a:p>
            <a:pPr marL="1200150" lvl="2" indent="-285750">
              <a:buFont typeface="+mj-lt"/>
              <a:buAutoNum type="romanLcPeriod"/>
            </a:pPr>
            <a:r>
              <a:rPr lang="en-US" sz="1200" kern="1200" dirty="0">
                <a:solidFill>
                  <a:schemeClr val="tx1"/>
                </a:solidFill>
                <a:latin typeface="+mn-lt"/>
                <a:ea typeface="+mn-ea"/>
                <a:cs typeface="+mn-cs"/>
              </a:rPr>
              <a:t>Common stock: </a:t>
            </a:r>
            <a:r>
              <a:rPr lang="en-US" sz="1200" b="1" kern="1200" dirty="0">
                <a:solidFill>
                  <a:schemeClr val="tx1"/>
                </a:solidFill>
                <a:latin typeface="+mn-lt"/>
                <a:ea typeface="+mn-ea"/>
                <a:cs typeface="+mn-cs"/>
              </a:rPr>
              <a:t>400,000 shares issued, and 390,000 outstanding</a:t>
            </a:r>
            <a:r>
              <a:rPr lang="en-US" sz="1200" kern="1200" dirty="0">
                <a:solidFill>
                  <a:schemeClr val="tx1"/>
                </a:solidFill>
                <a:latin typeface="+mn-lt"/>
                <a:ea typeface="+mn-ea"/>
                <a:cs typeface="+mn-cs"/>
              </a:rPr>
              <a:t> meaning 10,000 common shares bought back by the company (treasury stock)</a:t>
            </a:r>
          </a:p>
          <a:p>
            <a:pPr marL="1200150" lvl="2" indent="-285750">
              <a:buFont typeface="+mj-lt"/>
              <a:buAutoNum type="romanLcPeriod"/>
            </a:pPr>
            <a:r>
              <a:rPr lang="en-AU" sz="1200" kern="1200" dirty="0">
                <a:solidFill>
                  <a:schemeClr val="tx1"/>
                </a:solidFill>
                <a:effectLst/>
                <a:latin typeface="+mn-lt"/>
                <a:ea typeface="+mn-ea"/>
                <a:cs typeface="+mn-cs"/>
              </a:rPr>
              <a:t>Issued shares are the shares that a company issues/sells. Its shareholders hold these shares. The company issues these to the people in the company or the general public and some large investment institutions.</a:t>
            </a:r>
            <a:endParaRPr lang="en-US" sz="1200" kern="1200" dirty="0">
              <a:solidFill>
                <a:schemeClr val="tx1"/>
              </a:solidFill>
              <a:effectLst/>
              <a:latin typeface="+mn-lt"/>
              <a:ea typeface="+mn-ea"/>
              <a:cs typeface="+mn-cs"/>
            </a:endParaRPr>
          </a:p>
          <a:p>
            <a:pPr marL="1200150" lvl="2" indent="-285750">
              <a:buFont typeface="+mj-lt"/>
              <a:buAutoNum type="romanLcPeriod"/>
            </a:pPr>
            <a:r>
              <a:rPr lang="en-AU" sz="1200" kern="1200" dirty="0">
                <a:solidFill>
                  <a:schemeClr val="tx1"/>
                </a:solidFill>
                <a:effectLst/>
                <a:latin typeface="+mn-lt"/>
                <a:ea typeface="+mn-ea"/>
                <a:cs typeface="+mn-cs"/>
              </a:rPr>
              <a:t>Outstanding shares are Issued shares minus the stock in the treasury. When a company buys back its shares and does not retire them, they are said to place in the treasury. Thus, after subtracting such shares in the treasury, the remaining are said to be outstanding shares.</a:t>
            </a:r>
            <a:endParaRPr lang="en-US" sz="1200" b="0" kern="1200" dirty="0">
              <a:solidFill>
                <a:schemeClr val="tx1"/>
              </a:solidFill>
              <a:latin typeface="+mn-lt"/>
              <a:ea typeface="+mn-ea"/>
              <a:cs typeface="+mn-cs"/>
            </a:endParaRPr>
          </a:p>
          <a:p>
            <a:pPr marL="742950" lvl="1" indent="-285750">
              <a:buFont typeface="+mj-lt"/>
              <a:buAutoNum type="alphaLcParenR"/>
            </a:pPr>
            <a:r>
              <a:rPr lang="en-US" sz="1200" kern="1200" dirty="0">
                <a:solidFill>
                  <a:schemeClr val="tx1"/>
                </a:solidFill>
                <a:latin typeface="+mn-lt"/>
                <a:ea typeface="+mn-ea"/>
                <a:cs typeface="+mn-cs"/>
              </a:rPr>
              <a:t>Total capital stock (summation of </a:t>
            </a:r>
            <a:r>
              <a:rPr lang="en-US" sz="1200" kern="1200" dirty="0" err="1">
                <a:solidFill>
                  <a:schemeClr val="tx1"/>
                </a:solidFill>
                <a:latin typeface="+mn-lt"/>
                <a:ea typeface="+mn-ea"/>
                <a:cs typeface="+mn-cs"/>
              </a:rPr>
              <a:t>i</a:t>
            </a:r>
            <a:r>
              <a:rPr lang="en-US" sz="1200" kern="1200" dirty="0">
                <a:solidFill>
                  <a:schemeClr val="tx1"/>
                </a:solidFill>
                <a:latin typeface="+mn-lt"/>
                <a:ea typeface="+mn-ea"/>
                <a:cs typeface="+mn-cs"/>
              </a:rPr>
              <a:t> and ii)</a:t>
            </a:r>
          </a:p>
          <a:p>
            <a:pPr marL="285750" lvl="0" indent="-285750">
              <a:buFont typeface="+mj-lt"/>
              <a:buAutoNum type="arabicPeriod"/>
            </a:pPr>
            <a:r>
              <a:rPr lang="en-US" sz="1200" kern="1200" dirty="0">
                <a:solidFill>
                  <a:schemeClr val="tx1"/>
                </a:solidFill>
                <a:latin typeface="+mn-lt"/>
                <a:ea typeface="+mn-ea"/>
                <a:cs typeface="+mn-cs"/>
              </a:rPr>
              <a:t>Additional paid-in capital</a:t>
            </a:r>
          </a:p>
          <a:p>
            <a:pPr marL="742950" lvl="1" indent="-285750">
              <a:buFont typeface="+mj-lt"/>
              <a:buAutoNum type="alphaLcParenR"/>
            </a:pPr>
            <a:r>
              <a:rPr lang="en-US" sz="1200" kern="1200" dirty="0">
                <a:solidFill>
                  <a:schemeClr val="tx1"/>
                </a:solidFill>
                <a:latin typeface="+mn-lt"/>
                <a:ea typeface="+mn-ea"/>
                <a:cs typeface="+mn-cs"/>
              </a:rPr>
              <a:t>mention "Preferred stock“</a:t>
            </a:r>
          </a:p>
          <a:p>
            <a:pPr marL="742950" lvl="1" indent="-285750">
              <a:buFont typeface="+mj-lt"/>
              <a:buAutoNum type="alphaLcParenR"/>
            </a:pPr>
            <a:r>
              <a:rPr lang="en-US" sz="1200" kern="1200" dirty="0">
                <a:solidFill>
                  <a:schemeClr val="tx1"/>
                </a:solidFill>
                <a:latin typeface="+mn-lt"/>
                <a:ea typeface="+mn-ea"/>
                <a:cs typeface="+mn-cs"/>
              </a:rPr>
              <a:t>mention "Common stock“</a:t>
            </a:r>
          </a:p>
          <a:p>
            <a:pPr marL="742950" lvl="1" indent="-285750">
              <a:buFont typeface="+mj-lt"/>
              <a:buAutoNum type="alphaLcParenR"/>
            </a:pPr>
            <a:r>
              <a:rPr lang="en-US" sz="1200" kern="1200" dirty="0">
                <a:solidFill>
                  <a:schemeClr val="tx1"/>
                </a:solidFill>
                <a:latin typeface="+mn-lt"/>
                <a:ea typeface="+mn-ea"/>
                <a:cs typeface="+mn-cs"/>
              </a:rPr>
              <a:t>Total additional paid-in capital (summation of a and b)</a:t>
            </a:r>
          </a:p>
          <a:p>
            <a:pPr marL="285750" lvl="0" indent="-285750">
              <a:buFont typeface="+mj-lt"/>
              <a:buAutoNum type="arabicPeriod"/>
            </a:pPr>
            <a:r>
              <a:rPr lang="en-US" sz="1200" kern="1200" dirty="0">
                <a:solidFill>
                  <a:schemeClr val="tx1"/>
                </a:solidFill>
                <a:latin typeface="+mn-lt"/>
                <a:ea typeface="+mn-ea"/>
                <a:cs typeface="+mn-cs"/>
              </a:rPr>
              <a:t>Total paid-in capital (summation of 1 and 2)</a:t>
            </a:r>
          </a:p>
          <a:p>
            <a:pPr marL="285750" lvl="0" indent="-285750">
              <a:buFont typeface="+mj-lt"/>
              <a:buAutoNum type="arabicPeriod"/>
            </a:pPr>
            <a:r>
              <a:rPr lang="en-US" sz="1200" kern="1200" dirty="0">
                <a:solidFill>
                  <a:schemeClr val="tx1"/>
                </a:solidFill>
                <a:latin typeface="+mn-lt"/>
                <a:ea typeface="+mn-ea"/>
                <a:cs typeface="+mn-cs"/>
              </a:rPr>
              <a:t>Retained Earnings</a:t>
            </a:r>
          </a:p>
          <a:p>
            <a:pPr marL="285750" lvl="0" indent="-285750">
              <a:buFont typeface="+mj-lt"/>
              <a:buAutoNum type="arabicPeriod"/>
            </a:pPr>
            <a:r>
              <a:rPr lang="en-US" sz="1200" kern="1200" dirty="0">
                <a:solidFill>
                  <a:schemeClr val="tx1"/>
                </a:solidFill>
                <a:latin typeface="+mn-lt"/>
                <a:ea typeface="+mn-ea"/>
                <a:cs typeface="+mn-cs"/>
              </a:rPr>
              <a:t>Total paid-in capital and retained earnings (summation of 3 and 4)</a:t>
            </a:r>
          </a:p>
          <a:p>
            <a:pPr marL="285750" lvl="0" indent="-285750">
              <a:buFont typeface="+mj-lt"/>
              <a:buAutoNum type="arabicPeriod"/>
            </a:pPr>
            <a:r>
              <a:rPr lang="en-US" sz="1200" kern="1200" dirty="0">
                <a:solidFill>
                  <a:schemeClr val="tx1"/>
                </a:solidFill>
                <a:latin typeface="+mn-lt"/>
                <a:ea typeface="+mn-ea"/>
                <a:cs typeface="+mn-cs"/>
              </a:rPr>
              <a:t>Treasury stock [</a:t>
            </a:r>
            <a:r>
              <a:rPr lang="en-US" sz="1200" b="1" kern="1200" dirty="0">
                <a:solidFill>
                  <a:schemeClr val="tx1"/>
                </a:solidFill>
                <a:latin typeface="+mn-lt"/>
                <a:ea typeface="+mn-ea"/>
                <a:cs typeface="+mn-cs"/>
              </a:rPr>
              <a:t>has to be deducted</a:t>
            </a:r>
            <a:r>
              <a:rPr lang="en-US" sz="1200" b="0" kern="1200" dirty="0">
                <a:solidFill>
                  <a:schemeClr val="tx1"/>
                </a:solidFill>
                <a:latin typeface="+mn-lt"/>
                <a:ea typeface="+mn-ea"/>
                <a:cs typeface="+mn-cs"/>
              </a:rPr>
              <a:t>] (when corporation issues shares of common stock, sometimes it buys back certain portion of the issue in order to keep it with the corporation because they want to keep some stock in their hand so that they can pay for other transactions such as employee bonus/attorney fees, and sometimes these stocks are retained in order to have higher demand in the stock market)</a:t>
            </a:r>
          </a:p>
          <a:p>
            <a:pPr marL="285750" lvl="0" indent="-285750">
              <a:buFont typeface="+mj-lt"/>
              <a:buAutoNum type="arabicPeriod"/>
            </a:pPr>
            <a:r>
              <a:rPr lang="en-US" sz="1200" b="0" kern="1200" dirty="0">
                <a:solidFill>
                  <a:schemeClr val="tx1"/>
                </a:solidFill>
                <a:latin typeface="+mn-lt"/>
                <a:ea typeface="+mn-ea"/>
                <a:cs typeface="+mn-cs"/>
              </a:rPr>
              <a:t>Total stockholders' equity (5 - 7)</a:t>
            </a:r>
          </a:p>
        </p:txBody>
      </p:sp>
      <p:sp>
        <p:nvSpPr>
          <p:cNvPr id="4" name="Slide Number Placeholder 3"/>
          <p:cNvSpPr>
            <a:spLocks noGrp="1"/>
          </p:cNvSpPr>
          <p:nvPr>
            <p:ph type="sldNum" sz="quarter" idx="5"/>
          </p:nvPr>
        </p:nvSpPr>
        <p:spPr/>
        <p:txBody>
          <a:bodyPr/>
          <a:lstStyle/>
          <a:p>
            <a:fld id="{A8073E54-D085-4E2E-B9A5-A53D7E51940E}" type="slidenum">
              <a:rPr lang="en-US" smtClean="0"/>
              <a:t>53</a:t>
            </a:fld>
            <a:endParaRPr lang="en-US" dirty="0"/>
          </a:p>
        </p:txBody>
      </p:sp>
    </p:spTree>
    <p:extLst>
      <p:ext uri="{BB962C8B-B14F-4D97-AF65-F5344CB8AC3E}">
        <p14:creationId xmlns:p14="http://schemas.microsoft.com/office/powerpoint/2010/main" val="106640035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Supplementary notes by TBR:</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Companies attempt to set their dividend rate at a level that will be sustainable. Companies that have high growth rates are characterized by low payout ratios because they reinvest most of their net income in the business. Thus, a low payout ratio is not necessarily bad news. Companies that believe they have many good opportunities for growth, such as </a:t>
            </a:r>
            <a:r>
              <a:rPr lang="en-US" sz="1200" b="1" i="0" u="none" strike="noStrike" kern="1200" baseline="0" dirty="0">
                <a:solidFill>
                  <a:schemeClr val="tx1"/>
                </a:solidFill>
                <a:latin typeface="+mn-lt"/>
                <a:ea typeface="+mn-ea"/>
                <a:cs typeface="+mn-cs"/>
              </a:rPr>
              <a:t>Facebook</a:t>
            </a:r>
            <a:r>
              <a:rPr lang="en-US" sz="1200" b="0" i="0" u="none" strike="noStrike" kern="1200" baseline="0" dirty="0">
                <a:solidFill>
                  <a:schemeClr val="tx1"/>
                </a:solidFill>
                <a:latin typeface="+mn-lt"/>
                <a:ea typeface="+mn-ea"/>
                <a:cs typeface="+mn-cs"/>
              </a:rPr>
              <a:t>, will reinvest those funds in the company rather than pay dividends. However, low dividend payments,</a:t>
            </a:r>
          </a:p>
          <a:p>
            <a:r>
              <a:rPr lang="en-US" sz="1200" b="0" i="0" u="none" strike="noStrike" kern="1200" baseline="0" dirty="0">
                <a:solidFill>
                  <a:schemeClr val="tx1"/>
                </a:solidFill>
                <a:latin typeface="+mn-lt"/>
                <a:ea typeface="+mn-ea"/>
                <a:cs typeface="+mn-cs"/>
              </a:rPr>
              <a:t>or a cut in dividend payments, might signal that a company has liquidity or solvency problems and is trying to conserve cash by not paying dividends. Thus, investors and analysts should investigate the reason for low dividend payments.</a:t>
            </a:r>
            <a:endParaRPr lang="en-US" dirty="0"/>
          </a:p>
        </p:txBody>
      </p:sp>
      <p:sp>
        <p:nvSpPr>
          <p:cNvPr id="4" name="Slide Number Placeholder 3"/>
          <p:cNvSpPr>
            <a:spLocks noGrp="1"/>
          </p:cNvSpPr>
          <p:nvPr>
            <p:ph type="sldNum" sz="quarter" idx="5"/>
          </p:nvPr>
        </p:nvSpPr>
        <p:spPr/>
        <p:txBody>
          <a:bodyPr/>
          <a:lstStyle/>
          <a:p>
            <a:fld id="{A8073E54-D085-4E2E-B9A5-A53D7E51940E}" type="slidenum">
              <a:rPr lang="en-US" smtClean="0"/>
              <a:t>54</a:t>
            </a:fld>
            <a:endParaRPr lang="en-US" dirty="0"/>
          </a:p>
        </p:txBody>
      </p:sp>
    </p:spTree>
    <p:extLst>
      <p:ext uri="{BB962C8B-B14F-4D97-AF65-F5344CB8AC3E}">
        <p14:creationId xmlns:p14="http://schemas.microsoft.com/office/powerpoint/2010/main" val="313905405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073E54-D085-4E2E-B9A5-A53D7E51940E}" type="slidenum">
              <a:rPr lang="en-US" smtClean="0"/>
              <a:t>55</a:t>
            </a:fld>
            <a:endParaRPr lang="en-US" dirty="0"/>
          </a:p>
        </p:txBody>
      </p:sp>
    </p:spTree>
    <p:extLst>
      <p:ext uri="{BB962C8B-B14F-4D97-AF65-F5344CB8AC3E}">
        <p14:creationId xmlns:p14="http://schemas.microsoft.com/office/powerpoint/2010/main" val="719108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Opener: Version A">
    <p:spTree>
      <p:nvGrpSpPr>
        <p:cNvPr id="1" name=""/>
        <p:cNvGrpSpPr/>
        <p:nvPr/>
      </p:nvGrpSpPr>
      <p:grpSpPr>
        <a:xfrm>
          <a:off x="0" y="0"/>
          <a:ext cx="0" cy="0"/>
          <a:chOff x="0" y="0"/>
          <a:chExt cx="0" cy="0"/>
        </a:xfrm>
      </p:grpSpPr>
      <p:sp>
        <p:nvSpPr>
          <p:cNvPr id="8" name="Title "/>
          <p:cNvSpPr>
            <a:spLocks noGrp="1"/>
          </p:cNvSpPr>
          <p:nvPr>
            <p:ph type="title" hasCustomPrompt="1"/>
          </p:nvPr>
        </p:nvSpPr>
        <p:spPr>
          <a:xfrm>
            <a:off x="152400" y="365125"/>
            <a:ext cx="8839200" cy="1387475"/>
          </a:xfrm>
          <a:prstGeom prst="rect">
            <a:avLst/>
          </a:prstGeom>
        </p:spPr>
        <p:txBody>
          <a:bodyPr anchor="b"/>
          <a:lstStyle>
            <a:lvl1pPr>
              <a:defRPr sz="6200" b="0" i="0" baseline="0">
                <a:latin typeface="Calibri Light" charset="0"/>
                <a:ea typeface="Calibri Light" charset="0"/>
                <a:cs typeface="Calibri Light" charset="0"/>
              </a:defRPr>
            </a:lvl1pPr>
          </a:lstStyle>
          <a:p>
            <a:r>
              <a:rPr lang="en-US" dirty="0"/>
              <a:t>Click to Edit Book Title</a:t>
            </a:r>
          </a:p>
        </p:txBody>
      </p:sp>
      <p:sp>
        <p:nvSpPr>
          <p:cNvPr id="25" name="Edition"/>
          <p:cNvSpPr>
            <a:spLocks noGrp="1"/>
          </p:cNvSpPr>
          <p:nvPr>
            <p:ph sz="quarter" idx="17" hasCustomPrompt="1"/>
          </p:nvPr>
        </p:nvSpPr>
        <p:spPr>
          <a:xfrm>
            <a:off x="152400" y="1752600"/>
            <a:ext cx="8839200" cy="609600"/>
          </a:xfrm>
          <a:prstGeom prst="rect">
            <a:avLst/>
          </a:prstGeom>
        </p:spPr>
        <p:txBody>
          <a:bodyPr/>
          <a:lstStyle>
            <a:lvl1pPr marL="0" indent="0" algn="ctr">
              <a:buNone/>
              <a:defRPr sz="2900" b="1" i="0" baseline="0">
                <a:latin typeface="Calibri" charset="0"/>
                <a:ea typeface="Calibri" charset="0"/>
                <a:cs typeface="Calibri" charset="0"/>
              </a:defRPr>
            </a:lvl1pPr>
          </a:lstStyle>
          <a:p>
            <a:pPr lvl="0"/>
            <a:r>
              <a:rPr lang="en-US" sz="2900" b="1" i="0" dirty="0">
                <a:latin typeface="Source Sans Pro" charset="0"/>
                <a:ea typeface="Source Sans Pro" charset="0"/>
                <a:cs typeface="Source Sans Pro" charset="0"/>
              </a:rPr>
              <a:t>Third Edition</a:t>
            </a:r>
            <a:endParaRPr lang="en-US" dirty="0"/>
          </a:p>
        </p:txBody>
      </p:sp>
      <p:sp>
        <p:nvSpPr>
          <p:cNvPr id="27" name="Author"/>
          <p:cNvSpPr>
            <a:spLocks noGrp="1"/>
          </p:cNvSpPr>
          <p:nvPr>
            <p:ph sz="quarter" idx="18" hasCustomPrompt="1"/>
          </p:nvPr>
        </p:nvSpPr>
        <p:spPr>
          <a:xfrm>
            <a:off x="152400" y="2362200"/>
            <a:ext cx="8839200" cy="685800"/>
          </a:xfrm>
          <a:prstGeom prst="rect">
            <a:avLst/>
          </a:prstGeom>
        </p:spPr>
        <p:txBody>
          <a:bodyPr/>
          <a:lstStyle>
            <a:lvl1pPr marL="0" indent="0" algn="ctr">
              <a:buNone/>
              <a:defRPr b="0" i="0" baseline="0">
                <a:solidFill>
                  <a:schemeClr val="accent2"/>
                </a:solidFill>
                <a:latin typeface="Calibri" charset="0"/>
                <a:ea typeface="Calibri" charset="0"/>
                <a:cs typeface="Calibri" charset="0"/>
              </a:defRPr>
            </a:lvl1pPr>
          </a:lstStyle>
          <a:p>
            <a:pPr lvl="0"/>
            <a:r>
              <a:rPr lang="en-US" b="0" i="0" dirty="0">
                <a:latin typeface="Source Sans Pro" charset="0"/>
                <a:ea typeface="Source Sans Pro" charset="0"/>
                <a:cs typeface="Source Sans Pro" charset="0"/>
              </a:rPr>
              <a:t>David Klein</a:t>
            </a:r>
            <a:endParaRPr lang="en-US" dirty="0"/>
          </a:p>
        </p:txBody>
      </p:sp>
      <p:sp>
        <p:nvSpPr>
          <p:cNvPr id="29" name="CN"/>
          <p:cNvSpPr>
            <a:spLocks noGrp="1"/>
          </p:cNvSpPr>
          <p:nvPr>
            <p:ph sz="quarter" idx="19" hasCustomPrompt="1"/>
          </p:nvPr>
        </p:nvSpPr>
        <p:spPr>
          <a:xfrm>
            <a:off x="152400" y="3733800"/>
            <a:ext cx="8839200" cy="533400"/>
          </a:xfrm>
          <a:prstGeom prst="rect">
            <a:avLst/>
          </a:prstGeom>
        </p:spPr>
        <p:txBody>
          <a:bodyPr/>
          <a:lstStyle>
            <a:lvl1pPr marL="0" indent="0" algn="ctr">
              <a:buNone/>
              <a:defRPr sz="4000" b="1" i="0" baseline="0">
                <a:solidFill>
                  <a:schemeClr val="accent1"/>
                </a:solidFill>
                <a:latin typeface="Calibri" charset="0"/>
                <a:ea typeface="Calibri" charset="0"/>
                <a:cs typeface="Calibri" charset="0"/>
              </a:defRPr>
            </a:lvl1pPr>
          </a:lstStyle>
          <a:p>
            <a:pPr lvl="0"/>
            <a:r>
              <a:rPr lang="en-US" dirty="0"/>
              <a:t>Chapter 1</a:t>
            </a:r>
          </a:p>
        </p:txBody>
      </p:sp>
      <p:sp>
        <p:nvSpPr>
          <p:cNvPr id="31" name="CT"/>
          <p:cNvSpPr>
            <a:spLocks noGrp="1"/>
          </p:cNvSpPr>
          <p:nvPr>
            <p:ph sz="quarter" idx="20" hasCustomPrompt="1"/>
          </p:nvPr>
        </p:nvSpPr>
        <p:spPr>
          <a:xfrm>
            <a:off x="152400" y="5133241"/>
            <a:ext cx="8839200" cy="706318"/>
          </a:xfrm>
          <a:prstGeom prst="rect">
            <a:avLst/>
          </a:prstGeom>
        </p:spPr>
        <p:txBody>
          <a:bodyPr anchor="ctr"/>
          <a:lstStyle>
            <a:lvl1pPr marL="0" indent="0" algn="ctr">
              <a:buNone/>
              <a:defRPr sz="3800" b="0" i="0">
                <a:latin typeface="Calibri" charset="0"/>
                <a:ea typeface="Calibri" charset="0"/>
                <a:cs typeface="Calibri" charset="0"/>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Chapter Title</a:t>
            </a:r>
          </a:p>
        </p:txBody>
      </p:sp>
      <p:sp>
        <p:nvSpPr>
          <p:cNvPr id="3" name="Content Placeholder 2"/>
          <p:cNvSpPr>
            <a:spLocks noGrp="1"/>
          </p:cNvSpPr>
          <p:nvPr>
            <p:ph sz="quarter" idx="21" hasCustomPrompt="1"/>
          </p:nvPr>
        </p:nvSpPr>
        <p:spPr>
          <a:xfrm>
            <a:off x="381000" y="6096000"/>
            <a:ext cx="8458200" cy="533400"/>
          </a:xfrm>
          <a:prstGeom prst="rect">
            <a:avLst/>
          </a:prstGeom>
        </p:spPr>
        <p:txBody>
          <a:bodyPr/>
          <a:lstStyle>
            <a:lvl1pPr marL="0" indent="0">
              <a:buNone/>
              <a:defRPr/>
            </a:lvl1pPr>
          </a:lstStyle>
          <a:p>
            <a:pPr lvl="0"/>
            <a:r>
              <a:rPr lang="en-IN" dirty="0"/>
              <a:t>Text</a:t>
            </a:r>
          </a:p>
        </p:txBody>
      </p:sp>
    </p:spTree>
    <p:extLst>
      <p:ext uri="{BB962C8B-B14F-4D97-AF65-F5344CB8AC3E}">
        <p14:creationId xmlns:p14="http://schemas.microsoft.com/office/powerpoint/2010/main" val="8263724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Opener: Version B">
    <p:spTree>
      <p:nvGrpSpPr>
        <p:cNvPr id="1" name=""/>
        <p:cNvGrpSpPr/>
        <p:nvPr/>
      </p:nvGrpSpPr>
      <p:grpSpPr>
        <a:xfrm>
          <a:off x="0" y="0"/>
          <a:ext cx="0" cy="0"/>
          <a:chOff x="0" y="0"/>
          <a:chExt cx="0" cy="0"/>
        </a:xfrm>
      </p:grpSpPr>
      <p:sp>
        <p:nvSpPr>
          <p:cNvPr id="13" name="CN"/>
          <p:cNvSpPr>
            <a:spLocks noGrp="1"/>
          </p:cNvSpPr>
          <p:nvPr>
            <p:ph sz="quarter" idx="19" hasCustomPrompt="1"/>
          </p:nvPr>
        </p:nvSpPr>
        <p:spPr>
          <a:xfrm>
            <a:off x="152400" y="228600"/>
            <a:ext cx="8839200" cy="533400"/>
          </a:xfrm>
          <a:prstGeom prst="rect">
            <a:avLst/>
          </a:prstGeom>
        </p:spPr>
        <p:txBody>
          <a:bodyPr/>
          <a:lstStyle>
            <a:lvl1pPr marL="0" indent="0" algn="ctr">
              <a:buNone/>
              <a:defRPr sz="4000" b="1" i="0" baseline="0">
                <a:solidFill>
                  <a:schemeClr val="accent1"/>
                </a:solidFill>
                <a:latin typeface="Calibri" charset="0"/>
                <a:ea typeface="Calibri" charset="0"/>
                <a:cs typeface="Calibri" charset="0"/>
              </a:defRPr>
            </a:lvl1pPr>
          </a:lstStyle>
          <a:p>
            <a:pPr lvl="0"/>
            <a:r>
              <a:rPr lang="en-US" dirty="0"/>
              <a:t>Chapter 1</a:t>
            </a:r>
          </a:p>
        </p:txBody>
      </p:sp>
      <p:sp>
        <p:nvSpPr>
          <p:cNvPr id="14" name="CT"/>
          <p:cNvSpPr>
            <a:spLocks noGrp="1"/>
          </p:cNvSpPr>
          <p:nvPr>
            <p:ph sz="quarter" idx="20" hasCustomPrompt="1"/>
          </p:nvPr>
        </p:nvSpPr>
        <p:spPr>
          <a:xfrm>
            <a:off x="152400" y="762000"/>
            <a:ext cx="8839200" cy="2286000"/>
          </a:xfrm>
          <a:prstGeom prst="rect">
            <a:avLst/>
          </a:prstGeom>
        </p:spPr>
        <p:txBody>
          <a:bodyPr anchor="ctr"/>
          <a:lstStyle>
            <a:lvl1pPr marL="0" indent="0" algn="ctr">
              <a:buNone/>
              <a:defRPr sz="3800" b="0" i="0">
                <a:latin typeface="Calibri" charset="0"/>
                <a:ea typeface="Calibri" charset="0"/>
                <a:cs typeface="Calibri" charset="0"/>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Chapter Title</a:t>
            </a:r>
          </a:p>
        </p:txBody>
      </p:sp>
      <p:sp>
        <p:nvSpPr>
          <p:cNvPr id="8" name="Title "/>
          <p:cNvSpPr>
            <a:spLocks noGrp="1"/>
          </p:cNvSpPr>
          <p:nvPr>
            <p:ph type="title" hasCustomPrompt="1"/>
          </p:nvPr>
        </p:nvSpPr>
        <p:spPr>
          <a:xfrm>
            <a:off x="152400" y="3505200"/>
            <a:ext cx="8839200" cy="1524000"/>
          </a:xfrm>
          <a:prstGeom prst="rect">
            <a:avLst/>
          </a:prstGeom>
        </p:spPr>
        <p:txBody>
          <a:bodyPr anchor="b"/>
          <a:lstStyle>
            <a:lvl1pPr>
              <a:defRPr sz="6200" b="0" i="0" baseline="0">
                <a:latin typeface="Calibri Light" charset="0"/>
                <a:ea typeface="Calibri Light" charset="0"/>
                <a:cs typeface="Calibri Light" charset="0"/>
              </a:defRPr>
            </a:lvl1pPr>
          </a:lstStyle>
          <a:p>
            <a:r>
              <a:rPr lang="en-US" dirty="0"/>
              <a:t>Click to Edit Book Title</a:t>
            </a:r>
          </a:p>
        </p:txBody>
      </p:sp>
      <p:sp>
        <p:nvSpPr>
          <p:cNvPr id="15" name="Edition"/>
          <p:cNvSpPr>
            <a:spLocks noGrp="1"/>
          </p:cNvSpPr>
          <p:nvPr>
            <p:ph sz="quarter" idx="17" hasCustomPrompt="1"/>
          </p:nvPr>
        </p:nvSpPr>
        <p:spPr>
          <a:xfrm>
            <a:off x="152400" y="5029200"/>
            <a:ext cx="8839200" cy="762000"/>
          </a:xfrm>
          <a:prstGeom prst="rect">
            <a:avLst/>
          </a:prstGeom>
        </p:spPr>
        <p:txBody>
          <a:bodyPr/>
          <a:lstStyle>
            <a:lvl1pPr marL="0" indent="0" algn="ctr">
              <a:buNone/>
              <a:defRPr sz="2900" b="1" i="0" baseline="0">
                <a:latin typeface="Calibri" charset="0"/>
                <a:ea typeface="Calibri" charset="0"/>
                <a:cs typeface="Calibri" charset="0"/>
              </a:defRPr>
            </a:lvl1pPr>
          </a:lstStyle>
          <a:p>
            <a:pPr lvl="0"/>
            <a:r>
              <a:rPr lang="en-US" sz="2900" b="1" i="0" dirty="0">
                <a:latin typeface="Source Sans Pro" charset="0"/>
                <a:ea typeface="Source Sans Pro" charset="0"/>
                <a:cs typeface="Source Sans Pro" charset="0"/>
              </a:rPr>
              <a:t>Third Edition</a:t>
            </a:r>
            <a:endParaRPr lang="en-US" dirty="0"/>
          </a:p>
        </p:txBody>
      </p:sp>
      <p:sp>
        <p:nvSpPr>
          <p:cNvPr id="16" name="Author"/>
          <p:cNvSpPr>
            <a:spLocks noGrp="1"/>
          </p:cNvSpPr>
          <p:nvPr>
            <p:ph sz="quarter" idx="18" hasCustomPrompt="1"/>
          </p:nvPr>
        </p:nvSpPr>
        <p:spPr>
          <a:xfrm>
            <a:off x="152400" y="6096000"/>
            <a:ext cx="8839200" cy="533400"/>
          </a:xfrm>
          <a:prstGeom prst="rect">
            <a:avLst/>
          </a:prstGeom>
        </p:spPr>
        <p:txBody>
          <a:bodyPr/>
          <a:lstStyle>
            <a:lvl1pPr marL="0" indent="0" algn="ctr">
              <a:buNone/>
              <a:defRPr b="0" i="0" baseline="0">
                <a:solidFill>
                  <a:schemeClr val="accent2"/>
                </a:solidFill>
                <a:latin typeface="Calibri" charset="0"/>
                <a:ea typeface="Calibri" charset="0"/>
                <a:cs typeface="Calibri" charset="0"/>
              </a:defRPr>
            </a:lvl1pPr>
          </a:lstStyle>
          <a:p>
            <a:pPr lvl="0"/>
            <a:r>
              <a:rPr lang="en-US" b="0" i="0" dirty="0">
                <a:latin typeface="Source Sans Pro" charset="0"/>
                <a:ea typeface="Source Sans Pro" charset="0"/>
                <a:cs typeface="Source Sans Pro" charset="0"/>
              </a:rPr>
              <a:t>David Klein</a:t>
            </a:r>
            <a:endParaRPr lang="en-US" dirty="0"/>
          </a:p>
        </p:txBody>
      </p:sp>
    </p:spTree>
    <p:extLst>
      <p:ext uri="{BB962C8B-B14F-4D97-AF65-F5344CB8AC3E}">
        <p14:creationId xmlns:p14="http://schemas.microsoft.com/office/powerpoint/2010/main" val="10642320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hapter Outline: Version A">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95274" y="777241"/>
            <a:ext cx="8543926" cy="97536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Chapter Outline</a:t>
            </a:r>
          </a:p>
        </p:txBody>
      </p:sp>
      <p:sp>
        <p:nvSpPr>
          <p:cNvPr id="13" name="COBBL"/>
          <p:cNvSpPr>
            <a:spLocks noGrp="1"/>
          </p:cNvSpPr>
          <p:nvPr>
            <p:ph sz="quarter" idx="10" hasCustomPrompt="1"/>
          </p:nvPr>
        </p:nvSpPr>
        <p:spPr>
          <a:xfrm>
            <a:off x="304800" y="1752600"/>
            <a:ext cx="8534400" cy="4495800"/>
          </a:xfrm>
          <a:prstGeom prst="rect">
            <a:avLst/>
          </a:prstGeom>
        </p:spPr>
        <p:txBody>
          <a:bodyPr/>
          <a:lstStyle>
            <a:lvl1pPr marL="295275" indent="-295275">
              <a:buClr>
                <a:schemeClr val="accent2"/>
              </a:buClr>
              <a:tabLst/>
              <a:defRPr sz="2800" b="0" i="0" baseline="0">
                <a:latin typeface="Calibri" charset="0"/>
                <a:ea typeface="Calibri" charset="0"/>
                <a:cs typeface="Calibri" charset="0"/>
              </a:defRPr>
            </a:lvl1pPr>
            <a:lvl2pPr>
              <a:defRPr sz="2800" b="0" i="0">
                <a:latin typeface="Source Sans Pro" charset="0"/>
                <a:ea typeface="Source Sans Pro" charset="0"/>
                <a:cs typeface="Source Sans Pro" charset="0"/>
              </a:defRPr>
            </a:lvl2pPr>
            <a:lvl3pPr>
              <a:defRPr sz="2800" b="0" i="0">
                <a:latin typeface="Source Sans Pro" charset="0"/>
                <a:ea typeface="Source Sans Pro" charset="0"/>
                <a:cs typeface="Source Sans Pro" charset="0"/>
              </a:defRPr>
            </a:lvl3pPr>
            <a:lvl4pPr>
              <a:defRPr sz="2800" b="0" i="0">
                <a:latin typeface="Source Sans Pro" charset="0"/>
                <a:ea typeface="Source Sans Pro" charset="0"/>
                <a:cs typeface="Source Sans Pro" charset="0"/>
              </a:defRPr>
            </a:lvl4pPr>
            <a:lvl5pPr>
              <a:defRPr sz="2800" b="0" i="0">
                <a:latin typeface="Source Sans Pro" charset="0"/>
                <a:ea typeface="Source Sans Pro" charset="0"/>
                <a:cs typeface="Source Sans Pro" charset="0"/>
              </a:defRPr>
            </a:lvl5pPr>
          </a:lstStyle>
          <a:p>
            <a:pPr lvl="0"/>
            <a:r>
              <a:rPr lang="en-US" dirty="0"/>
              <a:t>This Is a Sample Outline for One-Column</a:t>
            </a:r>
          </a:p>
          <a:p>
            <a:pPr lvl="0"/>
            <a:r>
              <a:rPr lang="en-US" dirty="0"/>
              <a:t>It Is One-Column Only</a:t>
            </a:r>
          </a:p>
          <a:p>
            <a:pPr lvl="0"/>
            <a:r>
              <a:rPr lang="en-US" dirty="0"/>
              <a:t>This Outline Has H1 Headings Only</a:t>
            </a:r>
          </a:p>
          <a:p>
            <a:pPr lvl="0"/>
            <a:r>
              <a:rPr lang="en-US" dirty="0"/>
              <a:t>The Headings Are in Title Case, Matching the </a:t>
            </a:r>
            <a:r>
              <a:rPr lang="en-US" dirty="0" err="1"/>
              <a:t>eText</a:t>
            </a:r>
            <a:r>
              <a:rPr lang="en-US" dirty="0"/>
              <a:t>; This Can Vary by Title</a:t>
            </a:r>
          </a:p>
          <a:p>
            <a:pPr lvl="0"/>
            <a:r>
              <a:rPr lang="en-US" dirty="0"/>
              <a:t>This List Is Bulleted</a:t>
            </a:r>
          </a:p>
          <a:p>
            <a:pPr lvl="0"/>
            <a:r>
              <a:rPr lang="en-US" dirty="0"/>
              <a:t>The Outline Slide Has a Footer</a:t>
            </a:r>
          </a:p>
          <a:p>
            <a:pPr lvl="0"/>
            <a:r>
              <a:rPr lang="en-US" dirty="0"/>
              <a:t>Outline Items Usually Have No Ending Punctuation</a:t>
            </a:r>
          </a:p>
        </p:txBody>
      </p:sp>
      <p:sp>
        <p:nvSpPr>
          <p:cNvPr id="4" name="Slide Number Placeholder 3"/>
          <p:cNvSpPr>
            <a:spLocks noGrp="1"/>
          </p:cNvSpPr>
          <p:nvPr>
            <p:ph type="sldNum" sz="quarter" idx="12"/>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3" name="Footer Placeholder 2"/>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18669360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hapter Outline: Version B">
    <p:spTree>
      <p:nvGrpSpPr>
        <p:cNvPr id="1" name=""/>
        <p:cNvGrpSpPr/>
        <p:nvPr/>
      </p:nvGrpSpPr>
      <p:grpSpPr>
        <a:xfrm>
          <a:off x="0" y="0"/>
          <a:ext cx="0" cy="0"/>
          <a:chOff x="0" y="0"/>
          <a:chExt cx="0" cy="0"/>
        </a:xfrm>
      </p:grpSpPr>
      <p:sp>
        <p:nvSpPr>
          <p:cNvPr id="8" name="Title 1"/>
          <p:cNvSpPr>
            <a:spLocks noGrp="1"/>
          </p:cNvSpPr>
          <p:nvPr>
            <p:ph type="title" hasCustomPrompt="1"/>
          </p:nvPr>
        </p:nvSpPr>
        <p:spPr>
          <a:xfrm>
            <a:off x="304800" y="777241"/>
            <a:ext cx="8534400" cy="97536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Chapter Outline</a:t>
            </a:r>
          </a:p>
        </p:txBody>
      </p:sp>
      <p:sp>
        <p:nvSpPr>
          <p:cNvPr id="6" name="COBBL 2-col"/>
          <p:cNvSpPr>
            <a:spLocks noGrp="1"/>
          </p:cNvSpPr>
          <p:nvPr>
            <p:ph sz="quarter" idx="12" hasCustomPrompt="1"/>
          </p:nvPr>
        </p:nvSpPr>
        <p:spPr>
          <a:xfrm>
            <a:off x="304800" y="1752600"/>
            <a:ext cx="8534400" cy="4603750"/>
          </a:xfrm>
          <a:prstGeom prst="rect">
            <a:avLst/>
          </a:prstGeom>
        </p:spPr>
        <p:txBody>
          <a:bodyPr numCol="2" spcCol="548640"/>
          <a:lstStyle>
            <a:lvl1pPr marL="292608" marR="0" indent="-292608" algn="l" defTabSz="914400" rtl="0" eaLnBrk="1" fontAlgn="auto" latinLnBrk="0" hangingPunct="1">
              <a:lnSpc>
                <a:spcPct val="90000"/>
              </a:lnSpc>
              <a:spcBef>
                <a:spcPts val="1000"/>
              </a:spcBef>
              <a:spcAft>
                <a:spcPts val="0"/>
              </a:spcAft>
              <a:buClr>
                <a:schemeClr val="accent2"/>
              </a:buClr>
              <a:buSzTx/>
              <a:buFont typeface="Arial"/>
              <a:buChar char="•"/>
              <a:tabLst/>
              <a:defRPr sz="2800" b="0" i="0" baseline="0">
                <a:latin typeface="Calibri" charset="0"/>
                <a:ea typeface="Calibri" charset="0"/>
                <a:cs typeface="Calibri" charset="0"/>
              </a:defRPr>
            </a:lvl1pPr>
            <a:lvl2pPr>
              <a:defRPr sz="2800" b="0" i="0">
                <a:latin typeface="Source Sans Pro" charset="0"/>
                <a:ea typeface="Source Sans Pro" charset="0"/>
                <a:cs typeface="Source Sans Pro" charset="0"/>
              </a:defRPr>
            </a:lvl2pPr>
            <a:lvl3pPr>
              <a:defRPr sz="2800" b="0" i="0">
                <a:latin typeface="Source Sans Pro" charset="0"/>
                <a:ea typeface="Source Sans Pro" charset="0"/>
                <a:cs typeface="Source Sans Pro" charset="0"/>
              </a:defRPr>
            </a:lvl3pPr>
            <a:lvl4pPr>
              <a:defRPr sz="2800" b="0" i="0">
                <a:latin typeface="Source Sans Pro" charset="0"/>
                <a:ea typeface="Source Sans Pro" charset="0"/>
                <a:cs typeface="Source Sans Pro" charset="0"/>
              </a:defRPr>
            </a:lvl4pPr>
            <a:lvl5pPr>
              <a:defRPr sz="2800" b="0" i="0">
                <a:latin typeface="Source Sans Pro" charset="0"/>
                <a:ea typeface="Source Sans Pro" charset="0"/>
                <a:cs typeface="Source Sans Pro" charset="0"/>
              </a:defRPr>
            </a:lvl5pPr>
          </a:lstStyle>
          <a:p>
            <a:pPr lvl="0"/>
            <a:r>
              <a:rPr lang="en-US" dirty="0"/>
              <a:t>This Is a Sample Outline For Two-Column</a:t>
            </a:r>
          </a:p>
          <a:p>
            <a:pPr lvl="0"/>
            <a:r>
              <a:rPr lang="en-US" dirty="0"/>
              <a:t>This Outline Has No Sub-lists</a:t>
            </a:r>
          </a:p>
          <a:p>
            <a:pPr lvl="0"/>
            <a:r>
              <a:rPr lang="en-US" dirty="0"/>
              <a:t>This List Is Bulleted</a:t>
            </a:r>
          </a:p>
          <a:p>
            <a:pPr lvl="0"/>
            <a:r>
              <a:rPr lang="en-US" dirty="0"/>
              <a:t>The Outline Slide Has A Footer</a:t>
            </a:r>
          </a:p>
          <a:p>
            <a:pPr lvl="0"/>
            <a:r>
              <a:rPr lang="en-US" dirty="0"/>
              <a:t>Outline Items Usually Have No Ending Punctuation</a:t>
            </a:r>
          </a:p>
          <a:p>
            <a:pPr lvl="0"/>
            <a:r>
              <a:rPr lang="en-US" dirty="0"/>
              <a:t>This is Another Heading</a:t>
            </a:r>
          </a:p>
          <a:p>
            <a:pPr lvl="0"/>
            <a:r>
              <a:rPr lang="en-US" dirty="0"/>
              <a:t>This is Another Heading</a:t>
            </a:r>
          </a:p>
          <a:p>
            <a:pPr marL="292608" marR="0" lvl="0" indent="-292608" algn="l" defTabSz="914400" rtl="0" eaLnBrk="1" fontAlgn="auto" latinLnBrk="0" hangingPunct="1">
              <a:lnSpc>
                <a:spcPct val="90000"/>
              </a:lnSpc>
              <a:spcBef>
                <a:spcPts val="1000"/>
              </a:spcBef>
              <a:spcAft>
                <a:spcPts val="0"/>
              </a:spcAft>
              <a:buClr>
                <a:schemeClr val="accent2"/>
              </a:buClr>
              <a:buSzTx/>
              <a:buFont typeface="Arial"/>
              <a:buChar char="•"/>
              <a:tabLst/>
              <a:defRPr/>
            </a:pPr>
            <a:r>
              <a:rPr lang="en-US" dirty="0"/>
              <a:t>This is Another Heading</a:t>
            </a:r>
          </a:p>
          <a:p>
            <a:pPr marL="292608" marR="0" lvl="0" indent="-292608" algn="l" defTabSz="914400" rtl="0" eaLnBrk="1" fontAlgn="auto" latinLnBrk="0" hangingPunct="1">
              <a:lnSpc>
                <a:spcPct val="90000"/>
              </a:lnSpc>
              <a:spcBef>
                <a:spcPts val="1000"/>
              </a:spcBef>
              <a:spcAft>
                <a:spcPts val="0"/>
              </a:spcAft>
              <a:buClr>
                <a:schemeClr val="accent2"/>
              </a:buClr>
              <a:buSzTx/>
              <a:buFont typeface="Arial"/>
              <a:buChar char="•"/>
              <a:tabLst/>
              <a:defRPr/>
            </a:pPr>
            <a:r>
              <a:rPr lang="en-US" dirty="0"/>
              <a:t>This is Another Heading</a:t>
            </a:r>
          </a:p>
          <a:p>
            <a:pPr marL="292608" marR="0" lvl="0" indent="-292608" algn="l" defTabSz="914400" rtl="0" eaLnBrk="1" fontAlgn="auto" latinLnBrk="0" hangingPunct="1">
              <a:lnSpc>
                <a:spcPct val="90000"/>
              </a:lnSpc>
              <a:spcBef>
                <a:spcPts val="1000"/>
              </a:spcBef>
              <a:spcAft>
                <a:spcPts val="0"/>
              </a:spcAft>
              <a:buClr>
                <a:schemeClr val="accent2"/>
              </a:buClr>
              <a:buSzTx/>
              <a:buFont typeface="Arial"/>
              <a:buChar char="•"/>
              <a:tabLst/>
              <a:defRPr/>
            </a:pPr>
            <a:r>
              <a:rPr lang="en-US" dirty="0"/>
              <a:t>This is Another Heading</a:t>
            </a:r>
          </a:p>
          <a:p>
            <a:pPr marL="292608" marR="0" lvl="0" indent="-292608" algn="l" defTabSz="914400" rtl="0" eaLnBrk="1" fontAlgn="auto" latinLnBrk="0" hangingPunct="1">
              <a:lnSpc>
                <a:spcPct val="90000"/>
              </a:lnSpc>
              <a:spcBef>
                <a:spcPts val="1000"/>
              </a:spcBef>
              <a:spcAft>
                <a:spcPts val="0"/>
              </a:spcAft>
              <a:buClr>
                <a:schemeClr val="accent2"/>
              </a:buClr>
              <a:buSzTx/>
              <a:buFont typeface="Arial"/>
              <a:buChar char="•"/>
              <a:tabLst/>
              <a:defRPr/>
            </a:pPr>
            <a:r>
              <a:rPr lang="en-US" dirty="0"/>
              <a:t>This is Another Heading</a:t>
            </a:r>
          </a:p>
          <a:p>
            <a:pPr marL="292608" marR="0" lvl="0" indent="-292608" algn="l" defTabSz="914400" rtl="0" eaLnBrk="1" fontAlgn="auto" latinLnBrk="0" hangingPunct="1">
              <a:lnSpc>
                <a:spcPct val="90000"/>
              </a:lnSpc>
              <a:spcBef>
                <a:spcPts val="1000"/>
              </a:spcBef>
              <a:spcAft>
                <a:spcPts val="0"/>
              </a:spcAft>
              <a:buClr>
                <a:schemeClr val="accent2"/>
              </a:buClr>
              <a:buSzTx/>
              <a:buFont typeface="Arial"/>
              <a:buChar char="•"/>
              <a:tabLst/>
              <a:defRPr/>
            </a:pPr>
            <a:r>
              <a:rPr lang="en-US" dirty="0"/>
              <a:t>This is Another Heading</a:t>
            </a:r>
          </a:p>
          <a:p>
            <a:pPr marL="292608" marR="0" lvl="0" indent="-292608" algn="l" defTabSz="914400" rtl="0" eaLnBrk="1" fontAlgn="auto" latinLnBrk="0" hangingPunct="1">
              <a:lnSpc>
                <a:spcPct val="90000"/>
              </a:lnSpc>
              <a:spcBef>
                <a:spcPts val="1000"/>
              </a:spcBef>
              <a:spcAft>
                <a:spcPts val="0"/>
              </a:spcAft>
              <a:buClr>
                <a:schemeClr val="accent2"/>
              </a:buClr>
              <a:buSzTx/>
              <a:buFont typeface="Arial"/>
              <a:buChar char="•"/>
              <a:tabLst/>
              <a:defRPr/>
            </a:pPr>
            <a:r>
              <a:rPr lang="en-US" dirty="0"/>
              <a:t>This is Another Heading</a:t>
            </a:r>
          </a:p>
          <a:p>
            <a:pPr lvl="0"/>
            <a:endParaRPr lang="en-US" dirty="0"/>
          </a:p>
        </p:txBody>
      </p:sp>
      <p:sp>
        <p:nvSpPr>
          <p:cNvPr id="7" name="Slide Number Placeholder 6"/>
          <p:cNvSpPr>
            <a:spLocks noGrp="1"/>
          </p:cNvSpPr>
          <p:nvPr>
            <p:ph type="sldNum" sz="quarter" idx="14"/>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2" name="Footer Placeholder 1"/>
          <p:cNvSpPr>
            <a:spLocks noGrp="1"/>
          </p:cNvSpPr>
          <p:nvPr>
            <p:ph type="ftr" sz="quarter" idx="13"/>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9936007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hapter Outline: Version C1 (single#)">
    <p:spTree>
      <p:nvGrpSpPr>
        <p:cNvPr id="1" name=""/>
        <p:cNvGrpSpPr/>
        <p:nvPr/>
      </p:nvGrpSpPr>
      <p:grpSpPr>
        <a:xfrm>
          <a:off x="0" y="0"/>
          <a:ext cx="0" cy="0"/>
          <a:chOff x="0" y="0"/>
          <a:chExt cx="0" cy="0"/>
        </a:xfrm>
      </p:grpSpPr>
      <p:sp>
        <p:nvSpPr>
          <p:cNvPr id="8" name="Title 1"/>
          <p:cNvSpPr>
            <a:spLocks noGrp="1"/>
          </p:cNvSpPr>
          <p:nvPr>
            <p:ph type="title" hasCustomPrompt="1"/>
          </p:nvPr>
        </p:nvSpPr>
        <p:spPr>
          <a:xfrm>
            <a:off x="304800" y="777241"/>
            <a:ext cx="8534400" cy="97536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Chapter Outline</a:t>
            </a:r>
          </a:p>
        </p:txBody>
      </p:sp>
      <p:sp>
        <p:nvSpPr>
          <p:cNvPr id="6" name="COBNL"/>
          <p:cNvSpPr>
            <a:spLocks noGrp="1"/>
          </p:cNvSpPr>
          <p:nvPr>
            <p:ph sz="quarter" idx="12" hasCustomPrompt="1"/>
          </p:nvPr>
        </p:nvSpPr>
        <p:spPr>
          <a:xfrm>
            <a:off x="304800" y="1752600"/>
            <a:ext cx="8534400" cy="4495800"/>
          </a:xfrm>
          <a:prstGeom prst="rect">
            <a:avLst/>
          </a:prstGeom>
        </p:spPr>
        <p:txBody>
          <a:bodyPr/>
          <a:lstStyle>
            <a:lvl1pPr marL="514350" indent="-514350">
              <a:buClr>
                <a:schemeClr val="accent2"/>
              </a:buClr>
              <a:buFont typeface="+mj-lt"/>
              <a:buAutoNum type="arabicPeriod"/>
              <a:defRPr sz="2800" b="0" i="0" baseline="0">
                <a:latin typeface="Calibri" charset="0"/>
                <a:ea typeface="Calibri" charset="0"/>
                <a:cs typeface="Calibri" charset="0"/>
              </a:defRPr>
            </a:lvl1pPr>
            <a:lvl2pPr>
              <a:defRPr sz="2800" b="0" i="0">
                <a:latin typeface="Source Sans Pro" charset="0"/>
                <a:ea typeface="Source Sans Pro" charset="0"/>
                <a:cs typeface="Source Sans Pro" charset="0"/>
              </a:defRPr>
            </a:lvl2pPr>
            <a:lvl3pPr>
              <a:defRPr sz="2800" b="0" i="0">
                <a:latin typeface="Source Sans Pro" charset="0"/>
                <a:ea typeface="Source Sans Pro" charset="0"/>
                <a:cs typeface="Source Sans Pro" charset="0"/>
              </a:defRPr>
            </a:lvl3pPr>
            <a:lvl4pPr>
              <a:defRPr sz="2800" b="0" i="0">
                <a:latin typeface="Source Sans Pro" charset="0"/>
                <a:ea typeface="Source Sans Pro" charset="0"/>
                <a:cs typeface="Source Sans Pro" charset="0"/>
              </a:defRPr>
            </a:lvl4pPr>
            <a:lvl5pPr>
              <a:defRPr sz="2800" b="0" i="0">
                <a:latin typeface="Source Sans Pro" charset="0"/>
                <a:ea typeface="Source Sans Pro" charset="0"/>
                <a:cs typeface="Source Sans Pro" charset="0"/>
              </a:defRPr>
            </a:lvl5pPr>
          </a:lstStyle>
          <a:p>
            <a:pPr lvl="0"/>
            <a:r>
              <a:rPr lang="en-US" dirty="0"/>
              <a:t>This Is a Sample Outline for One-Column</a:t>
            </a:r>
          </a:p>
          <a:p>
            <a:pPr lvl="0"/>
            <a:r>
              <a:rPr lang="en-US" dirty="0"/>
              <a:t>It Is One-Column Only</a:t>
            </a:r>
          </a:p>
          <a:p>
            <a:pPr lvl="0"/>
            <a:r>
              <a:rPr lang="en-US" dirty="0"/>
              <a:t>This Outline Has H1 Headings Only</a:t>
            </a:r>
          </a:p>
          <a:p>
            <a:pPr lvl="0"/>
            <a:r>
              <a:rPr lang="en-US" dirty="0"/>
              <a:t>The Headings Are in Title Case, Matching the </a:t>
            </a:r>
            <a:r>
              <a:rPr lang="en-US" dirty="0" err="1"/>
              <a:t>eText</a:t>
            </a:r>
            <a:r>
              <a:rPr lang="en-US" dirty="0"/>
              <a:t>; This Can Vary by Title</a:t>
            </a:r>
          </a:p>
          <a:p>
            <a:pPr lvl="0"/>
            <a:r>
              <a:rPr lang="en-US" dirty="0"/>
              <a:t>This List Is Numbered</a:t>
            </a:r>
          </a:p>
          <a:p>
            <a:pPr lvl="0"/>
            <a:r>
              <a:rPr lang="en-US" dirty="0"/>
              <a:t>The Outline Slide Has a Footer</a:t>
            </a:r>
          </a:p>
          <a:p>
            <a:pPr lvl="0"/>
            <a:r>
              <a:rPr lang="en-US" dirty="0"/>
              <a:t>Outline Items Usually Have No Ending Punctuation</a:t>
            </a:r>
          </a:p>
        </p:txBody>
      </p:sp>
      <p:sp>
        <p:nvSpPr>
          <p:cNvPr id="7" name="Slide Number Placeholder 6"/>
          <p:cNvSpPr>
            <a:spLocks noGrp="1"/>
          </p:cNvSpPr>
          <p:nvPr>
            <p:ph type="sldNum" sz="quarter" idx="14"/>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2" name="Footer Placeholder 1"/>
          <p:cNvSpPr>
            <a:spLocks noGrp="1"/>
          </p:cNvSpPr>
          <p:nvPr>
            <p:ph type="ftr" sz="quarter" idx="13"/>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17864276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hapter Outline: Version C2 (double#)">
    <p:spTree>
      <p:nvGrpSpPr>
        <p:cNvPr id="1" name=""/>
        <p:cNvGrpSpPr/>
        <p:nvPr/>
      </p:nvGrpSpPr>
      <p:grpSpPr>
        <a:xfrm>
          <a:off x="0" y="0"/>
          <a:ext cx="0" cy="0"/>
          <a:chOff x="0" y="0"/>
          <a:chExt cx="0" cy="0"/>
        </a:xfrm>
      </p:grpSpPr>
      <p:sp>
        <p:nvSpPr>
          <p:cNvPr id="6" name="Title 1"/>
          <p:cNvSpPr>
            <a:spLocks noGrp="1"/>
          </p:cNvSpPr>
          <p:nvPr>
            <p:ph type="title" hasCustomPrompt="1"/>
          </p:nvPr>
        </p:nvSpPr>
        <p:spPr>
          <a:xfrm>
            <a:off x="304800" y="777241"/>
            <a:ext cx="8534400" cy="97536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Chapter Outline</a:t>
            </a:r>
          </a:p>
        </p:txBody>
      </p:sp>
      <p:sp>
        <p:nvSpPr>
          <p:cNvPr id="10" name="COBNL"/>
          <p:cNvSpPr>
            <a:spLocks noGrp="1"/>
          </p:cNvSpPr>
          <p:nvPr>
            <p:ph sz="quarter" idx="14" hasCustomPrompt="1"/>
          </p:nvPr>
        </p:nvSpPr>
        <p:spPr>
          <a:xfrm>
            <a:off x="304800" y="1752600"/>
            <a:ext cx="8534400" cy="4114800"/>
          </a:xfrm>
          <a:prstGeom prst="rect">
            <a:avLst/>
          </a:prstGeom>
        </p:spPr>
        <p:txBody>
          <a:bodyPr/>
          <a:lstStyle>
            <a:lvl1pPr marL="803275" indent="-803275">
              <a:buNone/>
              <a:tabLst/>
              <a:defRPr sz="2800" b="0" i="0" baseline="0">
                <a:latin typeface="Calibri" charset="0"/>
                <a:ea typeface="Calibri" charset="0"/>
                <a:cs typeface="Calibri" charset="0"/>
              </a:defRPr>
            </a:lvl1pPr>
          </a:lstStyle>
          <a:p>
            <a:pPr lvl="0"/>
            <a:r>
              <a:rPr lang="en-US" dirty="0"/>
              <a:t>1.1	This Is a Sample Outline for One-Column and Double-numbered</a:t>
            </a:r>
          </a:p>
          <a:p>
            <a:pPr lvl="0"/>
            <a:r>
              <a:rPr lang="en-US" dirty="0"/>
              <a:t>1.2	It is One-column Only</a:t>
            </a:r>
          </a:p>
          <a:p>
            <a:pPr lvl="0"/>
            <a:r>
              <a:rPr lang="en-US" dirty="0"/>
              <a:t>1.3	This Outline Has No Sub-lists</a:t>
            </a:r>
          </a:p>
          <a:p>
            <a:pPr lvl="0"/>
            <a:r>
              <a:rPr lang="en-US" dirty="0"/>
              <a:t>1.4	This List Is Double-numbered</a:t>
            </a:r>
          </a:p>
          <a:p>
            <a:pPr lvl="0"/>
            <a:r>
              <a:rPr lang="en-US" dirty="0"/>
              <a:t>1.5	The Outline Slide Has a Footer</a:t>
            </a:r>
          </a:p>
          <a:p>
            <a:pPr lvl="0"/>
            <a:r>
              <a:rPr lang="en-US" dirty="0"/>
              <a:t>10.6	Outline Items Usually Have No Ending Punctuation</a:t>
            </a:r>
          </a:p>
        </p:txBody>
      </p:sp>
      <p:sp>
        <p:nvSpPr>
          <p:cNvPr id="8" name="Slide Number Placeholder 7"/>
          <p:cNvSpPr>
            <a:spLocks noGrp="1"/>
          </p:cNvSpPr>
          <p:nvPr>
            <p:ph type="sldNum" sz="quarter" idx="16"/>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2" name="Footer Placeholder 1"/>
          <p:cNvSpPr>
            <a:spLocks noGrp="1"/>
          </p:cNvSpPr>
          <p:nvPr>
            <p:ph type="ftr" sz="quarter" idx="15"/>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11235725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hapter Outline: Version D">
    <p:spTree>
      <p:nvGrpSpPr>
        <p:cNvPr id="1" name=""/>
        <p:cNvGrpSpPr/>
        <p:nvPr/>
      </p:nvGrpSpPr>
      <p:grpSpPr>
        <a:xfrm>
          <a:off x="0" y="0"/>
          <a:ext cx="0" cy="0"/>
          <a:chOff x="0" y="0"/>
          <a:chExt cx="0" cy="0"/>
        </a:xfrm>
      </p:grpSpPr>
      <p:sp>
        <p:nvSpPr>
          <p:cNvPr id="6" name="Title 1"/>
          <p:cNvSpPr>
            <a:spLocks noGrp="1"/>
          </p:cNvSpPr>
          <p:nvPr>
            <p:ph type="title" hasCustomPrompt="1"/>
          </p:nvPr>
        </p:nvSpPr>
        <p:spPr>
          <a:xfrm>
            <a:off x="304800" y="777241"/>
            <a:ext cx="8534400" cy="97536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Chapter Outline</a:t>
            </a:r>
          </a:p>
        </p:txBody>
      </p:sp>
      <p:sp>
        <p:nvSpPr>
          <p:cNvPr id="8" name="COBBL"/>
          <p:cNvSpPr>
            <a:spLocks noGrp="1"/>
          </p:cNvSpPr>
          <p:nvPr>
            <p:ph sz="quarter" idx="12" hasCustomPrompt="1"/>
          </p:nvPr>
        </p:nvSpPr>
        <p:spPr>
          <a:xfrm>
            <a:off x="304800" y="1752600"/>
            <a:ext cx="8534400" cy="4495800"/>
          </a:xfrm>
          <a:prstGeom prst="rect">
            <a:avLst/>
          </a:prstGeom>
        </p:spPr>
        <p:txBody>
          <a:bodyPr/>
          <a:lstStyle>
            <a:lvl1pPr marL="292608" marR="0" indent="-292608" algn="l" defTabSz="914400" rtl="0" eaLnBrk="1" fontAlgn="auto" latinLnBrk="0" hangingPunct="1">
              <a:lnSpc>
                <a:spcPct val="90000"/>
              </a:lnSpc>
              <a:spcBef>
                <a:spcPts val="1000"/>
              </a:spcBef>
              <a:spcAft>
                <a:spcPts val="0"/>
              </a:spcAft>
              <a:buClr>
                <a:schemeClr val="accent2"/>
              </a:buClr>
              <a:buSzTx/>
              <a:buFont typeface="Arial"/>
              <a:buChar char="•"/>
              <a:tabLst/>
              <a:defRPr sz="2800" b="0" i="0" baseline="0">
                <a:latin typeface="Calibri" charset="0"/>
                <a:ea typeface="Calibri" charset="0"/>
                <a:cs typeface="Calibri" charset="0"/>
              </a:defRPr>
            </a:lvl1pPr>
            <a:lvl2pPr marL="621792" marR="0" indent="-320040" algn="l" defTabSz="914400" rtl="0" eaLnBrk="1" fontAlgn="auto" latinLnBrk="0" hangingPunct="1">
              <a:lnSpc>
                <a:spcPct val="90000"/>
              </a:lnSpc>
              <a:spcBef>
                <a:spcPts val="500"/>
              </a:spcBef>
              <a:spcAft>
                <a:spcPts val="0"/>
              </a:spcAft>
              <a:buClr>
                <a:schemeClr val="accent2"/>
              </a:buClr>
              <a:buSzPct val="80000"/>
              <a:buFont typeface="Courier New" charset="0"/>
              <a:buChar char="o"/>
              <a:tabLst/>
              <a:defRPr sz="2400" b="0" i="0" baseline="0">
                <a:latin typeface="Calibri" charset="0"/>
                <a:ea typeface="Calibri" charset="0"/>
                <a:cs typeface="Calibri" charset="0"/>
              </a:defRPr>
            </a:lvl2pPr>
            <a:lvl3pPr>
              <a:defRPr sz="2800" b="0" i="0">
                <a:latin typeface="Source Sans Pro" charset="0"/>
                <a:ea typeface="Source Sans Pro" charset="0"/>
                <a:cs typeface="Source Sans Pro" charset="0"/>
              </a:defRPr>
            </a:lvl3pPr>
            <a:lvl4pPr>
              <a:defRPr sz="2800" b="0" i="0">
                <a:latin typeface="Source Sans Pro" charset="0"/>
                <a:ea typeface="Source Sans Pro" charset="0"/>
                <a:cs typeface="Source Sans Pro" charset="0"/>
              </a:defRPr>
            </a:lvl4pPr>
            <a:lvl5pPr>
              <a:defRPr sz="2800" b="0" i="0">
                <a:latin typeface="Source Sans Pro" charset="0"/>
                <a:ea typeface="Source Sans Pro" charset="0"/>
                <a:cs typeface="Source Sans Pro" charset="0"/>
              </a:defRPr>
            </a:lvl5pPr>
          </a:lstStyle>
          <a:p>
            <a:pPr lvl="0"/>
            <a:r>
              <a:rPr lang="en-US" dirty="0"/>
              <a:t>This Is a Sample Outline for 1-Column </a:t>
            </a:r>
          </a:p>
          <a:p>
            <a:pPr lvl="1"/>
            <a:r>
              <a:rPr lang="en-US" dirty="0"/>
              <a:t>It Has H2s</a:t>
            </a:r>
          </a:p>
          <a:p>
            <a:pPr lvl="0"/>
            <a:r>
              <a:rPr lang="en-US" dirty="0"/>
              <a:t>It Is One-column Only</a:t>
            </a:r>
          </a:p>
          <a:p>
            <a:pPr lvl="1"/>
            <a:r>
              <a:rPr lang="en-US" dirty="0"/>
              <a:t>It Will Probably Not Have Art</a:t>
            </a:r>
          </a:p>
          <a:p>
            <a:pPr lvl="0"/>
            <a:r>
              <a:rPr lang="en-US" dirty="0"/>
              <a:t>This Is a Bulleted List</a:t>
            </a:r>
          </a:p>
          <a:p>
            <a:pPr lvl="1"/>
            <a:r>
              <a:rPr lang="en-US" dirty="0"/>
              <a:t>Make Sure That Any Links Included Here, for Any Reason, Have Descriptive Hyperlinks</a:t>
            </a:r>
          </a:p>
          <a:p>
            <a:pPr lvl="0"/>
            <a:r>
              <a:rPr lang="en-US" dirty="0"/>
              <a:t>Outline Items Usually Have No Ending Punctuation</a:t>
            </a:r>
          </a:p>
          <a:p>
            <a:pPr lvl="1"/>
            <a:r>
              <a:rPr lang="en-US" dirty="0"/>
              <a:t>There is a Footer</a:t>
            </a:r>
          </a:p>
        </p:txBody>
      </p:sp>
      <p:sp>
        <p:nvSpPr>
          <p:cNvPr id="4" name="Slide Number Placeholder 3"/>
          <p:cNvSpPr>
            <a:spLocks noGrp="1"/>
          </p:cNvSpPr>
          <p:nvPr>
            <p:ph type="sldNum" sz="quarter" idx="11"/>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3" name="Footer Placeholder 2"/>
          <p:cNvSpPr>
            <a:spLocks noGrp="1"/>
          </p:cNvSpPr>
          <p:nvPr>
            <p:ph type="ftr" sz="quarter" idx="10"/>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8379093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pter Outline: Version E1 (single#)">
    <p:spTree>
      <p:nvGrpSpPr>
        <p:cNvPr id="1" name=""/>
        <p:cNvGrpSpPr/>
        <p:nvPr/>
      </p:nvGrpSpPr>
      <p:grpSpPr>
        <a:xfrm>
          <a:off x="0" y="0"/>
          <a:ext cx="0" cy="0"/>
          <a:chOff x="0" y="0"/>
          <a:chExt cx="0" cy="0"/>
        </a:xfrm>
      </p:grpSpPr>
      <p:sp>
        <p:nvSpPr>
          <p:cNvPr id="7" name="Title 1"/>
          <p:cNvSpPr>
            <a:spLocks noGrp="1"/>
          </p:cNvSpPr>
          <p:nvPr>
            <p:ph type="title" hasCustomPrompt="1"/>
          </p:nvPr>
        </p:nvSpPr>
        <p:spPr>
          <a:xfrm>
            <a:off x="304800" y="777241"/>
            <a:ext cx="8534400" cy="97536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Chapter Outline</a:t>
            </a:r>
          </a:p>
        </p:txBody>
      </p:sp>
      <p:sp>
        <p:nvSpPr>
          <p:cNvPr id="6" name="COBNL"/>
          <p:cNvSpPr>
            <a:spLocks noGrp="1"/>
          </p:cNvSpPr>
          <p:nvPr>
            <p:ph sz="quarter" idx="14" hasCustomPrompt="1"/>
          </p:nvPr>
        </p:nvSpPr>
        <p:spPr>
          <a:xfrm>
            <a:off x="304800" y="1752600"/>
            <a:ext cx="8534400" cy="4419600"/>
          </a:xfrm>
          <a:prstGeom prst="rect">
            <a:avLst/>
          </a:prstGeom>
        </p:spPr>
        <p:txBody>
          <a:bodyPr/>
          <a:lstStyle>
            <a:lvl1pPr marL="465138" indent="-465138">
              <a:buClr>
                <a:schemeClr val="accent2"/>
              </a:buClr>
              <a:buFont typeface="+mj-lt"/>
              <a:buAutoNum type="arabicPeriod"/>
              <a:tabLst/>
              <a:defRPr sz="2800" b="0" i="0" baseline="0">
                <a:latin typeface="Calibri" charset="0"/>
                <a:ea typeface="Calibri" charset="0"/>
                <a:cs typeface="Calibri" charset="0"/>
              </a:defRPr>
            </a:lvl1pPr>
            <a:lvl2pPr marL="803275" indent="-282575">
              <a:buClr>
                <a:schemeClr val="accent2"/>
              </a:buClr>
              <a:tabLst/>
              <a:defRPr sz="2400" b="0" i="0" baseline="0">
                <a:latin typeface="Calibri" charset="0"/>
                <a:ea typeface="Calibri" charset="0"/>
                <a:cs typeface="Calibri" charset="0"/>
              </a:defRPr>
            </a:lvl2pPr>
            <a:lvl3pPr marL="803275" marR="0" indent="-282575" algn="l" defTabSz="914400" rtl="0" eaLnBrk="1" fontAlgn="auto" latinLnBrk="0" hangingPunct="1">
              <a:lnSpc>
                <a:spcPct val="90000"/>
              </a:lnSpc>
              <a:spcBef>
                <a:spcPts val="500"/>
              </a:spcBef>
              <a:spcAft>
                <a:spcPts val="0"/>
              </a:spcAft>
              <a:buClrTx/>
              <a:buSzTx/>
              <a:buFont typeface="Arial"/>
              <a:buChar char="•"/>
              <a:tabLst/>
              <a:defRPr sz="2400" b="0" i="0">
                <a:solidFill>
                  <a:schemeClr val="accent2"/>
                </a:solidFill>
                <a:latin typeface="Calibri" charset="0"/>
                <a:ea typeface="Calibri" charset="0"/>
                <a:cs typeface="Calibri" charset="0"/>
              </a:defRPr>
            </a:lvl3pPr>
          </a:lstStyle>
          <a:p>
            <a:pPr lvl="0"/>
            <a:r>
              <a:rPr lang="en-US" dirty="0"/>
              <a:t>This Is a Sample Outline for One-Column and single number</a:t>
            </a:r>
          </a:p>
          <a:p>
            <a:pPr lvl="1"/>
            <a:r>
              <a:rPr lang="en-US" dirty="0"/>
              <a:t>The H2 Level Does Not Have a Number</a:t>
            </a:r>
          </a:p>
          <a:p>
            <a:pPr lvl="2"/>
            <a:r>
              <a:rPr lang="en-US" dirty="0"/>
              <a:t>One of the Subheadings May Be a Special Feature  </a:t>
            </a:r>
          </a:p>
          <a:p>
            <a:pPr lvl="0"/>
            <a:r>
              <a:rPr lang="en-US" dirty="0"/>
              <a:t>This Outline Has Two Levels</a:t>
            </a:r>
          </a:p>
          <a:p>
            <a:pPr lvl="1"/>
            <a:r>
              <a:rPr lang="en-US" dirty="0"/>
              <a:t>Outline Items Usually Have No Ending Punctuation</a:t>
            </a:r>
          </a:p>
          <a:p>
            <a:pPr marL="803275" marR="0" lvl="2" indent="-282575" algn="l" defTabSz="914400" rtl="0" eaLnBrk="1" fontAlgn="auto" latinLnBrk="0" hangingPunct="1">
              <a:lnSpc>
                <a:spcPct val="90000"/>
              </a:lnSpc>
              <a:spcBef>
                <a:spcPts val="500"/>
              </a:spcBef>
              <a:spcAft>
                <a:spcPts val="0"/>
              </a:spcAft>
              <a:buClrTx/>
              <a:buSzTx/>
              <a:buFont typeface="Arial"/>
              <a:buChar char="•"/>
              <a:tabLst/>
              <a:defRPr/>
            </a:pPr>
            <a:r>
              <a:rPr lang="en-US" dirty="0"/>
              <a:t>Special Feature</a:t>
            </a:r>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12634322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hapter Outline: Version E2 (double#)">
    <p:spTree>
      <p:nvGrpSpPr>
        <p:cNvPr id="1" name=""/>
        <p:cNvGrpSpPr/>
        <p:nvPr/>
      </p:nvGrpSpPr>
      <p:grpSpPr>
        <a:xfrm>
          <a:off x="0" y="0"/>
          <a:ext cx="0" cy="0"/>
          <a:chOff x="0" y="0"/>
          <a:chExt cx="0" cy="0"/>
        </a:xfrm>
      </p:grpSpPr>
      <p:sp>
        <p:nvSpPr>
          <p:cNvPr id="7" name="Title 1"/>
          <p:cNvSpPr>
            <a:spLocks noGrp="1"/>
          </p:cNvSpPr>
          <p:nvPr>
            <p:ph type="title" hasCustomPrompt="1"/>
          </p:nvPr>
        </p:nvSpPr>
        <p:spPr>
          <a:xfrm>
            <a:off x="304800" y="777241"/>
            <a:ext cx="8534400" cy="97536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Chapter Outline</a:t>
            </a:r>
          </a:p>
        </p:txBody>
      </p:sp>
      <p:sp>
        <p:nvSpPr>
          <p:cNvPr id="6" name="COBNL"/>
          <p:cNvSpPr>
            <a:spLocks noGrp="1"/>
          </p:cNvSpPr>
          <p:nvPr>
            <p:ph sz="quarter" idx="14" hasCustomPrompt="1"/>
          </p:nvPr>
        </p:nvSpPr>
        <p:spPr>
          <a:xfrm>
            <a:off x="304800" y="1752600"/>
            <a:ext cx="8534400" cy="4343400"/>
          </a:xfrm>
          <a:prstGeom prst="rect">
            <a:avLst/>
          </a:prstGeom>
        </p:spPr>
        <p:txBody>
          <a:bodyPr/>
          <a:lstStyle>
            <a:lvl1pPr marL="803275" indent="-803275">
              <a:buNone/>
              <a:tabLst/>
              <a:defRPr sz="2800" b="0" i="0" baseline="0">
                <a:latin typeface="Calibri" charset="0"/>
                <a:ea typeface="Calibri" charset="0"/>
                <a:cs typeface="Calibri" charset="0"/>
              </a:defRPr>
            </a:lvl1pPr>
            <a:lvl2pPr marL="1143000" indent="-292608">
              <a:buClr>
                <a:schemeClr val="accent2"/>
              </a:buClr>
              <a:defRPr sz="2400" b="0" i="0" baseline="0">
                <a:latin typeface="Calibri" charset="0"/>
                <a:ea typeface="Calibri" charset="0"/>
                <a:cs typeface="Calibri" charset="0"/>
              </a:defRPr>
            </a:lvl2pPr>
            <a:lvl3pPr marL="1143000" marR="0" indent="-292608" algn="l" defTabSz="914400" rtl="0" eaLnBrk="1" fontAlgn="auto" latinLnBrk="0" hangingPunct="1">
              <a:lnSpc>
                <a:spcPct val="90000"/>
              </a:lnSpc>
              <a:spcBef>
                <a:spcPts val="500"/>
              </a:spcBef>
              <a:spcAft>
                <a:spcPts val="0"/>
              </a:spcAft>
              <a:buClrTx/>
              <a:buSzTx/>
              <a:buFont typeface="Arial"/>
              <a:buChar char="•"/>
              <a:tabLst/>
              <a:defRPr sz="2400" b="0" i="0">
                <a:solidFill>
                  <a:schemeClr val="accent2"/>
                </a:solidFill>
                <a:latin typeface="Calibri" charset="0"/>
                <a:ea typeface="Calibri" charset="0"/>
                <a:cs typeface="Calibri" charset="0"/>
              </a:defRPr>
            </a:lvl3pPr>
          </a:lstStyle>
          <a:p>
            <a:pPr lvl="0"/>
            <a:r>
              <a:rPr lang="en-US" dirty="0"/>
              <a:t>1.1	This Is a Sample Outline for One-Column and Double-numbered</a:t>
            </a:r>
          </a:p>
          <a:p>
            <a:pPr lvl="1"/>
            <a:r>
              <a:rPr lang="en-US" dirty="0"/>
              <a:t>The H2 Level Does Not Have a Number</a:t>
            </a:r>
          </a:p>
          <a:p>
            <a:pPr lvl="2"/>
            <a:r>
              <a:rPr lang="en-US" dirty="0"/>
              <a:t>One of the Subheadings May Be a Special Feature </a:t>
            </a:r>
          </a:p>
          <a:p>
            <a:pPr lvl="0"/>
            <a:r>
              <a:rPr lang="en-US" dirty="0"/>
              <a:t>10.2	This Outline Has Two Levels</a:t>
            </a:r>
          </a:p>
          <a:p>
            <a:pPr lvl="1"/>
            <a:r>
              <a:rPr lang="en-US" dirty="0"/>
              <a:t>Outline Items Usually Have No Ending Punctuation</a:t>
            </a:r>
          </a:p>
          <a:p>
            <a:pPr lvl="2"/>
            <a:r>
              <a:rPr lang="en-US" dirty="0"/>
              <a:t>Special Feature </a:t>
            </a:r>
          </a:p>
        </p:txBody>
      </p:sp>
      <p:sp>
        <p:nvSpPr>
          <p:cNvPr id="4" name="Slide Number Placeholder 3"/>
          <p:cNvSpPr>
            <a:spLocks noGrp="1"/>
          </p:cNvSpPr>
          <p:nvPr>
            <p:ph type="sldNum" sz="quarter" idx="11"/>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3" name="Footer Placeholder 2"/>
          <p:cNvSpPr>
            <a:spLocks noGrp="1"/>
          </p:cNvSpPr>
          <p:nvPr>
            <p:ph type="ftr" sz="quarter" idx="10"/>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1042655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hapter Outline: Version E1">
    <p:spTree>
      <p:nvGrpSpPr>
        <p:cNvPr id="1" name=""/>
        <p:cNvGrpSpPr/>
        <p:nvPr/>
      </p:nvGrpSpPr>
      <p:grpSpPr>
        <a:xfrm>
          <a:off x="0" y="0"/>
          <a:ext cx="0" cy="0"/>
          <a:chOff x="0" y="0"/>
          <a:chExt cx="0" cy="0"/>
        </a:xfrm>
      </p:grpSpPr>
      <p:sp>
        <p:nvSpPr>
          <p:cNvPr id="7" name="Title 1"/>
          <p:cNvSpPr>
            <a:spLocks noGrp="1"/>
          </p:cNvSpPr>
          <p:nvPr>
            <p:ph type="title" hasCustomPrompt="1"/>
          </p:nvPr>
        </p:nvSpPr>
        <p:spPr>
          <a:xfrm>
            <a:off x="304800" y="777241"/>
            <a:ext cx="8534400" cy="97536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Chapter Outline</a:t>
            </a:r>
          </a:p>
        </p:txBody>
      </p:sp>
      <p:sp>
        <p:nvSpPr>
          <p:cNvPr id="6" name="COB"/>
          <p:cNvSpPr>
            <a:spLocks noGrp="1"/>
          </p:cNvSpPr>
          <p:nvPr>
            <p:ph sz="quarter" idx="14" hasCustomPrompt="1"/>
          </p:nvPr>
        </p:nvSpPr>
        <p:spPr>
          <a:xfrm>
            <a:off x="304800" y="1752600"/>
            <a:ext cx="8534400" cy="4495800"/>
          </a:xfrm>
          <a:prstGeom prst="rect">
            <a:avLst/>
          </a:prstGeom>
        </p:spPr>
        <p:txBody>
          <a:bodyPr/>
          <a:lstStyle>
            <a:lvl1pPr marL="0" indent="0">
              <a:buFont typeface="+mj-lt"/>
              <a:buNone/>
              <a:tabLst/>
              <a:defRPr sz="2800" b="0" i="0" baseline="0">
                <a:latin typeface="Calibri" charset="0"/>
                <a:ea typeface="Calibri" charset="0"/>
                <a:cs typeface="Calibri" charset="0"/>
              </a:defRPr>
            </a:lvl1pPr>
            <a:lvl2pPr marL="803275" indent="-282575">
              <a:tabLst/>
              <a:defRPr sz="2400" b="0" i="0" baseline="0">
                <a:latin typeface="Calibri" charset="0"/>
                <a:ea typeface="Calibri" charset="0"/>
                <a:cs typeface="Calibri" charset="0"/>
              </a:defRPr>
            </a:lvl2pPr>
            <a:lvl3pPr marL="803275" marR="0" indent="-282575" algn="l" defTabSz="914400" rtl="0" eaLnBrk="1" fontAlgn="auto" latinLnBrk="0" hangingPunct="1">
              <a:lnSpc>
                <a:spcPct val="90000"/>
              </a:lnSpc>
              <a:spcBef>
                <a:spcPts val="500"/>
              </a:spcBef>
              <a:spcAft>
                <a:spcPts val="0"/>
              </a:spcAft>
              <a:buClrTx/>
              <a:buSzTx/>
              <a:buFont typeface="Arial"/>
              <a:buChar char="•"/>
              <a:tabLst/>
              <a:defRPr sz="2400" b="0" i="0">
                <a:solidFill>
                  <a:schemeClr val="accent2"/>
                </a:solidFill>
                <a:latin typeface="Calibri" charset="0"/>
                <a:ea typeface="Calibri" charset="0"/>
                <a:cs typeface="Calibri" charset="0"/>
              </a:defRPr>
            </a:lvl3pPr>
          </a:lstStyle>
          <a:p>
            <a:pPr lvl="0"/>
            <a:r>
              <a:rPr lang="en-US" dirty="0"/>
              <a:t>This Is a Sample Outline with No Numbers and One-column</a:t>
            </a:r>
          </a:p>
          <a:p>
            <a:pPr lvl="1"/>
            <a:r>
              <a:rPr lang="en-US" dirty="0"/>
              <a:t>The H2 Level Does Not Have a Number</a:t>
            </a:r>
          </a:p>
          <a:p>
            <a:pPr lvl="2"/>
            <a:r>
              <a:rPr lang="en-US" dirty="0"/>
              <a:t>One of the Subheadings May Be a Special Feature  </a:t>
            </a:r>
          </a:p>
          <a:p>
            <a:pPr lvl="0"/>
            <a:r>
              <a:rPr lang="en-US" dirty="0"/>
              <a:t>This Outline Has Two Levels</a:t>
            </a:r>
          </a:p>
          <a:p>
            <a:pPr lvl="1"/>
            <a:r>
              <a:rPr lang="en-US" dirty="0"/>
              <a:t>Outline Items Usually Have No Ending Punctuation</a:t>
            </a:r>
          </a:p>
          <a:p>
            <a:pPr marL="803275" marR="0" lvl="2" indent="-282575" algn="l" defTabSz="914400" rtl="0" eaLnBrk="1" fontAlgn="auto" latinLnBrk="0" hangingPunct="1">
              <a:lnSpc>
                <a:spcPct val="90000"/>
              </a:lnSpc>
              <a:spcBef>
                <a:spcPts val="500"/>
              </a:spcBef>
              <a:spcAft>
                <a:spcPts val="0"/>
              </a:spcAft>
              <a:buClrTx/>
              <a:buSzTx/>
              <a:buFont typeface="Arial"/>
              <a:buChar char="•"/>
              <a:tabLst/>
              <a:defRPr/>
            </a:pPr>
            <a:r>
              <a:rPr lang="en-US" dirty="0"/>
              <a:t>Special Feature</a:t>
            </a:r>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3403783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hapter Outline: Version F1">
    <p:spTree>
      <p:nvGrpSpPr>
        <p:cNvPr id="1" name=""/>
        <p:cNvGrpSpPr/>
        <p:nvPr/>
      </p:nvGrpSpPr>
      <p:grpSpPr>
        <a:xfrm>
          <a:off x="0" y="0"/>
          <a:ext cx="0" cy="0"/>
          <a:chOff x="0" y="0"/>
          <a:chExt cx="0" cy="0"/>
        </a:xfrm>
      </p:grpSpPr>
      <p:sp>
        <p:nvSpPr>
          <p:cNvPr id="7" name="Title 1"/>
          <p:cNvSpPr>
            <a:spLocks noGrp="1"/>
          </p:cNvSpPr>
          <p:nvPr>
            <p:ph type="title" hasCustomPrompt="1"/>
          </p:nvPr>
        </p:nvSpPr>
        <p:spPr>
          <a:xfrm>
            <a:off x="304800" y="777241"/>
            <a:ext cx="8534400" cy="97536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Chapter Outline</a:t>
            </a:r>
          </a:p>
        </p:txBody>
      </p:sp>
      <p:sp>
        <p:nvSpPr>
          <p:cNvPr id="6" name="COBNL"/>
          <p:cNvSpPr>
            <a:spLocks noGrp="1"/>
          </p:cNvSpPr>
          <p:nvPr>
            <p:ph sz="quarter" idx="14" hasCustomPrompt="1"/>
          </p:nvPr>
        </p:nvSpPr>
        <p:spPr>
          <a:xfrm>
            <a:off x="304800" y="1752600"/>
            <a:ext cx="8534400" cy="4419600"/>
          </a:xfrm>
          <a:prstGeom prst="rect">
            <a:avLst/>
          </a:prstGeom>
        </p:spPr>
        <p:txBody>
          <a:bodyPr numCol="2" spcCol="548640"/>
          <a:lstStyle>
            <a:lvl1pPr marL="803275" marR="0" indent="-803275" algn="l" defTabSz="914400" rtl="0" eaLnBrk="1" fontAlgn="auto" latinLnBrk="0" hangingPunct="1">
              <a:lnSpc>
                <a:spcPct val="90000"/>
              </a:lnSpc>
              <a:spcBef>
                <a:spcPts val="1000"/>
              </a:spcBef>
              <a:spcAft>
                <a:spcPts val="0"/>
              </a:spcAft>
              <a:buClrTx/>
              <a:buSzTx/>
              <a:buFont typeface="Arial"/>
              <a:buNone/>
              <a:tabLst/>
              <a:defRPr sz="2800" b="0" i="0" baseline="0">
                <a:latin typeface="Calibri" charset="0"/>
                <a:ea typeface="Calibri" charset="0"/>
                <a:cs typeface="Calibri" charset="0"/>
              </a:defRPr>
            </a:lvl1pPr>
          </a:lstStyle>
          <a:p>
            <a:pPr lvl="0"/>
            <a:r>
              <a:rPr lang="en-US" dirty="0"/>
              <a:t>1.1	This Is a Sample Outline for Two-Column and Double-numbered</a:t>
            </a:r>
          </a:p>
          <a:p>
            <a:pPr lvl="0"/>
            <a:r>
              <a:rPr lang="en-US" dirty="0"/>
              <a:t>1.2	It is Two-column </a:t>
            </a:r>
          </a:p>
          <a:p>
            <a:pPr lvl="0"/>
            <a:r>
              <a:rPr lang="en-US" dirty="0"/>
              <a:t>1.3	This Outline Has No Sub-lists</a:t>
            </a:r>
          </a:p>
          <a:p>
            <a:pPr lvl="0"/>
            <a:r>
              <a:rPr lang="en-US" dirty="0"/>
              <a:t>1.4	This List Is Double-numbered</a:t>
            </a:r>
          </a:p>
          <a:p>
            <a:pPr lvl="0"/>
            <a:r>
              <a:rPr lang="en-US" dirty="0"/>
              <a:t>1.5	The Outline Slide Has a Footer</a:t>
            </a:r>
          </a:p>
          <a:p>
            <a:pPr lvl="0"/>
            <a:r>
              <a:rPr lang="en-US" dirty="0"/>
              <a:t>1.6	Outline Items Usually Have No Ending Punctuation</a:t>
            </a:r>
          </a:p>
          <a:p>
            <a:pPr marL="803275" marR="0" lvl="0" indent="-803275" algn="l" defTabSz="914400" rtl="0" eaLnBrk="1" fontAlgn="auto" latinLnBrk="0" hangingPunct="1">
              <a:lnSpc>
                <a:spcPct val="90000"/>
              </a:lnSpc>
              <a:spcBef>
                <a:spcPts val="1000"/>
              </a:spcBef>
              <a:spcAft>
                <a:spcPts val="0"/>
              </a:spcAft>
              <a:buClrTx/>
              <a:buSzTx/>
              <a:buFont typeface="Arial"/>
              <a:buNone/>
              <a:tabLst/>
              <a:defRPr/>
            </a:pPr>
            <a:r>
              <a:rPr lang="en-US" dirty="0"/>
              <a:t>1.7	Another Heading</a:t>
            </a:r>
          </a:p>
          <a:p>
            <a:pPr marL="803275" marR="0" lvl="0" indent="-803275" algn="l" defTabSz="914400" rtl="0" eaLnBrk="1" fontAlgn="auto" latinLnBrk="0" hangingPunct="1">
              <a:lnSpc>
                <a:spcPct val="90000"/>
              </a:lnSpc>
              <a:spcBef>
                <a:spcPts val="1000"/>
              </a:spcBef>
              <a:spcAft>
                <a:spcPts val="0"/>
              </a:spcAft>
              <a:buClrTx/>
              <a:buSzTx/>
              <a:buFont typeface="Arial"/>
              <a:buNone/>
              <a:tabLst/>
              <a:defRPr/>
            </a:pPr>
            <a:r>
              <a:rPr lang="en-US" dirty="0"/>
              <a:t>1.8	Another Heading</a:t>
            </a:r>
          </a:p>
          <a:p>
            <a:pPr marL="803275" marR="0" lvl="0" indent="-803275" algn="l" defTabSz="914400" rtl="0" eaLnBrk="1" fontAlgn="auto" latinLnBrk="0" hangingPunct="1">
              <a:lnSpc>
                <a:spcPct val="90000"/>
              </a:lnSpc>
              <a:spcBef>
                <a:spcPts val="1000"/>
              </a:spcBef>
              <a:spcAft>
                <a:spcPts val="0"/>
              </a:spcAft>
              <a:buClrTx/>
              <a:buSzTx/>
              <a:buFont typeface="Arial"/>
              <a:buNone/>
              <a:tabLst/>
              <a:defRPr/>
            </a:pPr>
            <a:r>
              <a:rPr lang="en-US" dirty="0"/>
              <a:t>1.10	Another Heading</a:t>
            </a:r>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20518789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hapter Outline: Version F2 (2 text boxes)">
    <p:spTree>
      <p:nvGrpSpPr>
        <p:cNvPr id="1" name=""/>
        <p:cNvGrpSpPr/>
        <p:nvPr/>
      </p:nvGrpSpPr>
      <p:grpSpPr>
        <a:xfrm>
          <a:off x="0" y="0"/>
          <a:ext cx="0" cy="0"/>
          <a:chOff x="0" y="0"/>
          <a:chExt cx="0" cy="0"/>
        </a:xfrm>
      </p:grpSpPr>
      <p:sp>
        <p:nvSpPr>
          <p:cNvPr id="8" name="Title 1"/>
          <p:cNvSpPr>
            <a:spLocks noGrp="1"/>
          </p:cNvSpPr>
          <p:nvPr>
            <p:ph type="title" hasCustomPrompt="1"/>
          </p:nvPr>
        </p:nvSpPr>
        <p:spPr>
          <a:xfrm>
            <a:off x="304800" y="777241"/>
            <a:ext cx="8534400" cy="97536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Chapter Outline</a:t>
            </a:r>
          </a:p>
        </p:txBody>
      </p:sp>
      <p:sp>
        <p:nvSpPr>
          <p:cNvPr id="6" name="COBNL1"/>
          <p:cNvSpPr>
            <a:spLocks noGrp="1"/>
          </p:cNvSpPr>
          <p:nvPr>
            <p:ph sz="quarter" idx="14" hasCustomPrompt="1"/>
          </p:nvPr>
        </p:nvSpPr>
        <p:spPr>
          <a:xfrm>
            <a:off x="304800" y="1752600"/>
            <a:ext cx="4038600" cy="4419600"/>
          </a:xfrm>
          <a:prstGeom prst="rect">
            <a:avLst/>
          </a:prstGeom>
        </p:spPr>
        <p:txBody>
          <a:bodyPr numCol="1" spcCol="548640"/>
          <a:lstStyle>
            <a:lvl1pPr marL="803275" marR="0" indent="-803275" algn="l" defTabSz="914400" rtl="0" eaLnBrk="1" fontAlgn="auto" latinLnBrk="0" hangingPunct="1">
              <a:lnSpc>
                <a:spcPct val="90000"/>
              </a:lnSpc>
              <a:spcBef>
                <a:spcPts val="1000"/>
              </a:spcBef>
              <a:spcAft>
                <a:spcPts val="0"/>
              </a:spcAft>
              <a:buClrTx/>
              <a:buSzTx/>
              <a:buFont typeface="Arial"/>
              <a:buNone/>
              <a:tabLst/>
              <a:defRPr sz="2800" b="0" i="0" baseline="0">
                <a:latin typeface="Calibri" charset="0"/>
                <a:ea typeface="Calibri" charset="0"/>
                <a:cs typeface="Calibri" charset="0"/>
              </a:defRPr>
            </a:lvl1pPr>
          </a:lstStyle>
          <a:p>
            <a:pPr lvl="0"/>
            <a:r>
              <a:rPr lang="en-US" dirty="0"/>
              <a:t>1.1	This Is a Sample Outline for Two-Column (2 Boxes) and Double-numbered</a:t>
            </a:r>
          </a:p>
          <a:p>
            <a:pPr lvl="0"/>
            <a:r>
              <a:rPr lang="en-US" dirty="0"/>
              <a:t>1.2	It is Two-column </a:t>
            </a:r>
          </a:p>
          <a:p>
            <a:pPr lvl="0"/>
            <a:r>
              <a:rPr lang="en-US" dirty="0"/>
              <a:t>1.3	This Outline Has No Sub-lists</a:t>
            </a:r>
          </a:p>
          <a:p>
            <a:pPr lvl="0"/>
            <a:r>
              <a:rPr lang="en-US" dirty="0"/>
              <a:t>1.4	This List Is Double-numbered</a:t>
            </a:r>
          </a:p>
        </p:txBody>
      </p:sp>
      <p:sp>
        <p:nvSpPr>
          <p:cNvPr id="7" name="COBNL2"/>
          <p:cNvSpPr>
            <a:spLocks noGrp="1"/>
          </p:cNvSpPr>
          <p:nvPr>
            <p:ph sz="quarter" idx="15" hasCustomPrompt="1"/>
          </p:nvPr>
        </p:nvSpPr>
        <p:spPr>
          <a:xfrm>
            <a:off x="4767262" y="1752600"/>
            <a:ext cx="4038600" cy="4419600"/>
          </a:xfrm>
          <a:prstGeom prst="rect">
            <a:avLst/>
          </a:prstGeom>
        </p:spPr>
        <p:txBody>
          <a:bodyPr numCol="1" spcCol="548640"/>
          <a:lstStyle>
            <a:lvl1pPr marL="803275" marR="0" indent="-803275" algn="l" defTabSz="914400" rtl="0" eaLnBrk="1" fontAlgn="auto" latinLnBrk="0" hangingPunct="1">
              <a:lnSpc>
                <a:spcPct val="90000"/>
              </a:lnSpc>
              <a:spcBef>
                <a:spcPts val="1000"/>
              </a:spcBef>
              <a:spcAft>
                <a:spcPts val="0"/>
              </a:spcAft>
              <a:buClrTx/>
              <a:buSzTx/>
              <a:buFont typeface="Arial"/>
              <a:buNone/>
              <a:tabLst/>
              <a:defRPr sz="2800" b="0" i="0" baseline="0">
                <a:latin typeface="Calibri" charset="0"/>
                <a:ea typeface="Calibri" charset="0"/>
                <a:cs typeface="Calibri" charset="0"/>
              </a:defRPr>
            </a:lvl1pPr>
          </a:lstStyle>
          <a:p>
            <a:pPr lvl="0"/>
            <a:r>
              <a:rPr lang="en-US" dirty="0"/>
              <a:t>1.5	The Outline Slide Has a Footer</a:t>
            </a:r>
          </a:p>
          <a:p>
            <a:pPr lvl="0"/>
            <a:r>
              <a:rPr lang="en-US" dirty="0"/>
              <a:t>1.6	Outline Items Usually Have No Ending Punctuation</a:t>
            </a:r>
          </a:p>
          <a:p>
            <a:pPr marL="803275" marR="0" lvl="0" indent="-803275" algn="l" defTabSz="914400" rtl="0" eaLnBrk="1" fontAlgn="auto" latinLnBrk="0" hangingPunct="1">
              <a:lnSpc>
                <a:spcPct val="90000"/>
              </a:lnSpc>
              <a:spcBef>
                <a:spcPts val="1000"/>
              </a:spcBef>
              <a:spcAft>
                <a:spcPts val="0"/>
              </a:spcAft>
              <a:buClrTx/>
              <a:buSzTx/>
              <a:buFont typeface="Arial"/>
              <a:buNone/>
              <a:tabLst/>
              <a:defRPr/>
            </a:pPr>
            <a:r>
              <a:rPr lang="en-US" dirty="0"/>
              <a:t>1.7	Another Heading</a:t>
            </a:r>
          </a:p>
          <a:p>
            <a:pPr marL="803275" marR="0" lvl="0" indent="-803275" algn="l" defTabSz="914400" rtl="0" eaLnBrk="1" fontAlgn="auto" latinLnBrk="0" hangingPunct="1">
              <a:lnSpc>
                <a:spcPct val="90000"/>
              </a:lnSpc>
              <a:spcBef>
                <a:spcPts val="1000"/>
              </a:spcBef>
              <a:spcAft>
                <a:spcPts val="0"/>
              </a:spcAft>
              <a:buClrTx/>
              <a:buSzTx/>
              <a:buFont typeface="Arial"/>
              <a:buNone/>
              <a:tabLst/>
              <a:defRPr/>
            </a:pPr>
            <a:r>
              <a:rPr lang="en-US" dirty="0"/>
              <a:t>1.8	Another Heading</a:t>
            </a:r>
          </a:p>
          <a:p>
            <a:pPr marL="803275" marR="0" lvl="0" indent="-803275" algn="l" defTabSz="914400" rtl="0" eaLnBrk="1" fontAlgn="auto" latinLnBrk="0" hangingPunct="1">
              <a:lnSpc>
                <a:spcPct val="90000"/>
              </a:lnSpc>
              <a:spcBef>
                <a:spcPts val="1000"/>
              </a:spcBef>
              <a:spcAft>
                <a:spcPts val="0"/>
              </a:spcAft>
              <a:buClrTx/>
              <a:buSzTx/>
              <a:buFont typeface="Arial"/>
              <a:buNone/>
              <a:tabLst/>
              <a:defRPr/>
            </a:pPr>
            <a:r>
              <a:rPr lang="en-US" dirty="0"/>
              <a:t>1.9	Another Heading</a:t>
            </a:r>
          </a:p>
          <a:p>
            <a:pPr marL="803275" marR="0" lvl="0" indent="-803275" algn="l" defTabSz="914400" rtl="0" eaLnBrk="1" fontAlgn="auto" latinLnBrk="0" hangingPunct="1">
              <a:lnSpc>
                <a:spcPct val="90000"/>
              </a:lnSpc>
              <a:spcBef>
                <a:spcPts val="1000"/>
              </a:spcBef>
              <a:spcAft>
                <a:spcPts val="0"/>
              </a:spcAft>
              <a:buClrTx/>
              <a:buSzTx/>
              <a:buFont typeface="Arial"/>
              <a:buNone/>
              <a:tabLst/>
              <a:defRPr/>
            </a:pPr>
            <a:r>
              <a:rPr lang="en-US" dirty="0"/>
              <a:t>1.10	Another Heading</a:t>
            </a:r>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141006041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hapter Outline: Version G">
    <p:spTree>
      <p:nvGrpSpPr>
        <p:cNvPr id="1" name=""/>
        <p:cNvGrpSpPr/>
        <p:nvPr/>
      </p:nvGrpSpPr>
      <p:grpSpPr>
        <a:xfrm>
          <a:off x="0" y="0"/>
          <a:ext cx="0" cy="0"/>
          <a:chOff x="0" y="0"/>
          <a:chExt cx="0" cy="0"/>
        </a:xfrm>
      </p:grpSpPr>
      <p:sp>
        <p:nvSpPr>
          <p:cNvPr id="6" name="Title 1"/>
          <p:cNvSpPr>
            <a:spLocks noGrp="1"/>
          </p:cNvSpPr>
          <p:nvPr>
            <p:ph type="title" hasCustomPrompt="1"/>
          </p:nvPr>
        </p:nvSpPr>
        <p:spPr>
          <a:xfrm>
            <a:off x="304800" y="777241"/>
            <a:ext cx="8534400" cy="97536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Chapter Outline</a:t>
            </a:r>
          </a:p>
        </p:txBody>
      </p:sp>
      <p:sp>
        <p:nvSpPr>
          <p:cNvPr id="5" name="Content Placeholder 4"/>
          <p:cNvSpPr>
            <a:spLocks noGrp="1"/>
          </p:cNvSpPr>
          <p:nvPr>
            <p:ph sz="quarter" idx="15" hasCustomPrompt="1"/>
          </p:nvPr>
        </p:nvSpPr>
        <p:spPr>
          <a:xfrm>
            <a:off x="304800" y="1752600"/>
            <a:ext cx="8534400" cy="4419600"/>
          </a:xfrm>
          <a:prstGeom prst="rect">
            <a:avLst/>
          </a:prstGeom>
        </p:spPr>
        <p:txBody>
          <a:bodyPr/>
          <a:lstStyle>
            <a:lvl1pPr marL="0" indent="0">
              <a:buNone/>
              <a:defRPr sz="2800" baseline="0"/>
            </a:lvl1pPr>
            <a:lvl2pPr marL="457200" indent="-446088">
              <a:spcBef>
                <a:spcPts val="2000"/>
              </a:spcBef>
              <a:buFont typeface="+mj-lt"/>
              <a:buNone/>
              <a:tabLst/>
              <a:defRPr sz="2800">
                <a:solidFill>
                  <a:schemeClr val="accent2"/>
                </a:solidFill>
              </a:defRPr>
            </a:lvl2pPr>
            <a:lvl3pPr marL="688975" indent="-400050">
              <a:spcBef>
                <a:spcPts val="1000"/>
              </a:spcBef>
              <a:buClr>
                <a:schemeClr val="accent2"/>
              </a:buClr>
              <a:buFont typeface="+mj-lt"/>
              <a:buAutoNum type="arabicPeriod"/>
              <a:tabLst/>
              <a:defRPr sz="2800"/>
            </a:lvl3pPr>
            <a:lvl4pPr marL="1371600" indent="0">
              <a:buNone/>
              <a:defRPr sz="2800"/>
            </a:lvl4pPr>
            <a:lvl5pPr marL="1828800" indent="0">
              <a:buNone/>
              <a:defRPr sz="2800"/>
            </a:lvl5pPr>
          </a:lstStyle>
          <a:p>
            <a:pPr lvl="0"/>
            <a:r>
              <a:rPr lang="en-US" dirty="0"/>
              <a:t>This Is a Sample Outline with No Numbers</a:t>
            </a:r>
          </a:p>
          <a:p>
            <a:pPr lvl="1"/>
            <a:r>
              <a:rPr lang="en-US" dirty="0"/>
              <a:t>Learning Objective</a:t>
            </a:r>
          </a:p>
          <a:p>
            <a:pPr lvl="2"/>
            <a:r>
              <a:rPr lang="en-US" dirty="0"/>
              <a:t>Describe what racial &amp; ethnic group make up Latin America.</a:t>
            </a:r>
          </a:p>
          <a:p>
            <a:pPr lvl="2"/>
            <a:r>
              <a:rPr lang="en-US" dirty="0"/>
              <a:t>Explain Latin American agricultural systems.</a:t>
            </a:r>
          </a:p>
          <a:p>
            <a:pPr lvl="2"/>
            <a:r>
              <a:rPr lang="en-US" dirty="0"/>
              <a:t>Critically evaluate models of biodiversity conservation in the Latin American context.</a:t>
            </a:r>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©2017 John Wiley &amp; Son, Inc. </a:t>
            </a:r>
          </a:p>
        </p:txBody>
      </p:sp>
    </p:spTree>
    <p:extLst>
      <p:ext uri="{BB962C8B-B14F-4D97-AF65-F5344CB8AC3E}">
        <p14:creationId xmlns:p14="http://schemas.microsoft.com/office/powerpoint/2010/main" val="19563380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Learning Objectives: Version A">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304800" y="743712"/>
            <a:ext cx="8534400" cy="990600"/>
          </a:xfrm>
          <a:prstGeom prst="rect">
            <a:avLst/>
          </a:prstGeom>
        </p:spPr>
        <p:txBody>
          <a:bodyPr/>
          <a:lstStyle>
            <a:lvl1pPr>
              <a:defRPr sz="4000" b="0" i="0">
                <a:solidFill>
                  <a:schemeClr val="accent2"/>
                </a:solidFill>
                <a:latin typeface="Calibri" charset="0"/>
                <a:ea typeface="Calibri" charset="0"/>
                <a:cs typeface="Calibri" charset="0"/>
              </a:defRPr>
            </a:lvl1pPr>
          </a:lstStyle>
          <a:p>
            <a:r>
              <a:rPr lang="en-US" dirty="0"/>
              <a:t>Learning Objectives</a:t>
            </a:r>
          </a:p>
        </p:txBody>
      </p:sp>
      <p:sp>
        <p:nvSpPr>
          <p:cNvPr id="9" name="LONL"/>
          <p:cNvSpPr>
            <a:spLocks noGrp="1"/>
          </p:cNvSpPr>
          <p:nvPr>
            <p:ph sz="quarter" idx="16" hasCustomPrompt="1"/>
          </p:nvPr>
        </p:nvSpPr>
        <p:spPr>
          <a:xfrm>
            <a:off x="304800" y="1752600"/>
            <a:ext cx="8534400" cy="4495800"/>
          </a:xfrm>
          <a:prstGeom prst="rect">
            <a:avLst/>
          </a:prstGeom>
        </p:spPr>
        <p:txBody>
          <a:bodyPr/>
          <a:lstStyle>
            <a:lvl1pPr marL="514350" indent="-514350">
              <a:buClr>
                <a:schemeClr val="accent2"/>
              </a:buClr>
              <a:buFont typeface="+mj-lt"/>
              <a:buAutoNum type="arabicPeriod"/>
              <a:defRPr sz="2800" b="0" i="0" baseline="0">
                <a:latin typeface="Calibri" charset="0"/>
                <a:ea typeface="Calibri" charset="0"/>
                <a:cs typeface="Calibri" charset="0"/>
              </a:defRPr>
            </a:lvl1pPr>
            <a:lvl2pPr>
              <a:defRPr sz="2800" b="0" i="0">
                <a:latin typeface="Source Sans Pro" charset="0"/>
                <a:ea typeface="Source Sans Pro" charset="0"/>
                <a:cs typeface="Source Sans Pro" charset="0"/>
              </a:defRPr>
            </a:lvl2pPr>
            <a:lvl3pPr>
              <a:defRPr sz="2800" b="0" i="0">
                <a:latin typeface="Source Sans Pro" charset="0"/>
                <a:ea typeface="Source Sans Pro" charset="0"/>
                <a:cs typeface="Source Sans Pro" charset="0"/>
              </a:defRPr>
            </a:lvl3pPr>
            <a:lvl4pPr>
              <a:defRPr sz="2800" b="0" i="0">
                <a:latin typeface="Source Sans Pro" charset="0"/>
                <a:ea typeface="Source Sans Pro" charset="0"/>
                <a:cs typeface="Source Sans Pro" charset="0"/>
              </a:defRPr>
            </a:lvl4pPr>
            <a:lvl5pPr>
              <a:defRPr sz="2800" b="0" i="0">
                <a:latin typeface="Source Sans Pro" charset="0"/>
                <a:ea typeface="Source Sans Pro" charset="0"/>
                <a:cs typeface="Source Sans Pro" charset="0"/>
              </a:defRPr>
            </a:lvl5pPr>
          </a:lstStyle>
          <a:p>
            <a:pPr lvl="0"/>
            <a:r>
              <a:rPr lang="en-US" dirty="0"/>
              <a:t>Explain the time value of money and why it is so important in the field of finance.</a:t>
            </a:r>
          </a:p>
          <a:p>
            <a:pPr lvl="0"/>
            <a:r>
              <a:rPr lang="en-US" dirty="0"/>
              <a:t>Explain the concept of future value, including the meaning of the terms principal, simple interest, and compound interest.</a:t>
            </a:r>
          </a:p>
          <a:p>
            <a:pPr lvl="0"/>
            <a:r>
              <a:rPr lang="en-US" dirty="0"/>
              <a:t>Explain the concept of present value, how it relates to future value, and is used to make business decisions.</a:t>
            </a:r>
          </a:p>
        </p:txBody>
      </p:sp>
      <p:sp>
        <p:nvSpPr>
          <p:cNvPr id="6" name="Slide Number Placeholder 5"/>
          <p:cNvSpPr>
            <a:spLocks noGrp="1"/>
          </p:cNvSpPr>
          <p:nvPr>
            <p:ph type="sldNum" sz="quarter" idx="12"/>
          </p:nvPr>
        </p:nvSpPr>
        <p:spPr>
          <a:xfrm>
            <a:off x="6457950" y="6356350"/>
            <a:ext cx="2381250" cy="365125"/>
          </a:xfrm>
          <a:prstGeom prst="rect">
            <a:avLst/>
          </a:prstGeom>
        </p:spPr>
        <p:txBody>
          <a:bodyPr/>
          <a:lstStyle>
            <a:lvl1pPr>
              <a:defRPr b="0" i="0">
                <a:latin typeface="Calibri" charset="0"/>
                <a:ea typeface="Calibri" charset="0"/>
                <a:cs typeface="Calibri" charset="0"/>
              </a:defRPr>
            </a:lvl1pPr>
          </a:lstStyle>
          <a:p>
            <a:fld id="{957104EA-F2AF-1046-9253-EE8D978719B5}" type="slidenum">
              <a:rPr lang="en-US" smtClean="0"/>
              <a:pPr/>
              <a:t>‹#›</a:t>
            </a:fld>
            <a:endParaRPr lang="en-US" dirty="0"/>
          </a:p>
        </p:txBody>
      </p:sp>
      <p:sp>
        <p:nvSpPr>
          <p:cNvPr id="5" name="Footer Placeholder 4"/>
          <p:cNvSpPr>
            <a:spLocks noGrp="1"/>
          </p:cNvSpPr>
          <p:nvPr>
            <p:ph type="ftr" sz="quarter" idx="11"/>
          </p:nvPr>
        </p:nvSpPr>
        <p:spPr>
          <a:xfrm>
            <a:off x="3028950" y="6356350"/>
            <a:ext cx="3086100" cy="365125"/>
          </a:xfrm>
          <a:prstGeom prst="rect">
            <a:avLst/>
          </a:prstGeom>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188232144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Learning Objectives: Version B">
    <p:spTree>
      <p:nvGrpSpPr>
        <p:cNvPr id="1" name=""/>
        <p:cNvGrpSpPr/>
        <p:nvPr/>
      </p:nvGrpSpPr>
      <p:grpSpPr>
        <a:xfrm>
          <a:off x="0" y="0"/>
          <a:ext cx="0" cy="0"/>
          <a:chOff x="0" y="0"/>
          <a:chExt cx="0" cy="0"/>
        </a:xfrm>
      </p:grpSpPr>
      <p:sp>
        <p:nvSpPr>
          <p:cNvPr id="6" name="Title"/>
          <p:cNvSpPr>
            <a:spLocks noGrp="1"/>
          </p:cNvSpPr>
          <p:nvPr>
            <p:ph type="title" hasCustomPrompt="1"/>
          </p:nvPr>
        </p:nvSpPr>
        <p:spPr>
          <a:xfrm>
            <a:off x="304800" y="743712"/>
            <a:ext cx="8534400" cy="990600"/>
          </a:xfrm>
          <a:prstGeom prst="rect">
            <a:avLst/>
          </a:prstGeom>
        </p:spPr>
        <p:txBody>
          <a:bodyPr/>
          <a:lstStyle>
            <a:lvl1pPr>
              <a:defRPr sz="4000" b="0" i="0">
                <a:solidFill>
                  <a:schemeClr val="accent2"/>
                </a:solidFill>
                <a:latin typeface="Calibri" charset="0"/>
                <a:ea typeface="Calibri" charset="0"/>
                <a:cs typeface="Calibri" charset="0"/>
              </a:defRPr>
            </a:lvl1pPr>
          </a:lstStyle>
          <a:p>
            <a:r>
              <a:rPr lang="en-US" dirty="0"/>
              <a:t>Learning Objectives</a:t>
            </a:r>
          </a:p>
        </p:txBody>
      </p:sp>
      <p:sp>
        <p:nvSpPr>
          <p:cNvPr id="7" name="LOBL"/>
          <p:cNvSpPr>
            <a:spLocks noGrp="1"/>
          </p:cNvSpPr>
          <p:nvPr>
            <p:ph sz="quarter" idx="16" hasCustomPrompt="1"/>
          </p:nvPr>
        </p:nvSpPr>
        <p:spPr>
          <a:xfrm>
            <a:off x="304800" y="1752600"/>
            <a:ext cx="8534400" cy="4495800"/>
          </a:xfrm>
          <a:prstGeom prst="rect">
            <a:avLst/>
          </a:prstGeom>
        </p:spPr>
        <p:txBody>
          <a:bodyPr/>
          <a:lstStyle>
            <a:lvl1pPr marL="292608" indent="-292608">
              <a:buClr>
                <a:schemeClr val="accent2"/>
              </a:buClr>
              <a:buFont typeface="Arial" charset="0"/>
              <a:buChar char="•"/>
              <a:defRPr sz="2800" b="0" i="0" baseline="0">
                <a:latin typeface="Calibri" charset="0"/>
                <a:ea typeface="Calibri" charset="0"/>
                <a:cs typeface="Calibri" charset="0"/>
              </a:defRPr>
            </a:lvl1pPr>
            <a:lvl2pPr>
              <a:defRPr sz="2800" b="0" i="0">
                <a:latin typeface="Source Sans Pro" charset="0"/>
                <a:ea typeface="Source Sans Pro" charset="0"/>
                <a:cs typeface="Source Sans Pro" charset="0"/>
              </a:defRPr>
            </a:lvl2pPr>
            <a:lvl3pPr>
              <a:defRPr sz="2800" b="0" i="0">
                <a:latin typeface="Source Sans Pro" charset="0"/>
                <a:ea typeface="Source Sans Pro" charset="0"/>
                <a:cs typeface="Source Sans Pro" charset="0"/>
              </a:defRPr>
            </a:lvl3pPr>
            <a:lvl4pPr>
              <a:defRPr sz="2800" b="0" i="0">
                <a:latin typeface="Source Sans Pro" charset="0"/>
                <a:ea typeface="Source Sans Pro" charset="0"/>
                <a:cs typeface="Source Sans Pro" charset="0"/>
              </a:defRPr>
            </a:lvl4pPr>
            <a:lvl5pPr>
              <a:defRPr sz="2800" b="0" i="0">
                <a:latin typeface="Source Sans Pro" charset="0"/>
                <a:ea typeface="Source Sans Pro" charset="0"/>
                <a:cs typeface="Source Sans Pro" charset="0"/>
              </a:defRPr>
            </a:lvl5pPr>
          </a:lstStyle>
          <a:p>
            <a:pPr lvl="0"/>
            <a:r>
              <a:rPr lang="en-US" dirty="0"/>
              <a:t>Explain the time value of money and why it is so important in the field of finance.</a:t>
            </a:r>
          </a:p>
          <a:p>
            <a:pPr lvl="0"/>
            <a:r>
              <a:rPr lang="en-US" dirty="0"/>
              <a:t>Explain the concept of future value, including the meaning of the terms principal, simple interest, and compound interest.</a:t>
            </a:r>
          </a:p>
          <a:p>
            <a:pPr lvl="0"/>
            <a:r>
              <a:rPr lang="en-US" dirty="0"/>
              <a:t>Explain the concept of present value, how it relates to future value, and is used to make business decisions.</a:t>
            </a:r>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81771821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cept Check Question (1of 2)">
    <p:spTree>
      <p:nvGrpSpPr>
        <p:cNvPr id="1" name=""/>
        <p:cNvGrpSpPr/>
        <p:nvPr/>
      </p:nvGrpSpPr>
      <p:grpSpPr>
        <a:xfrm>
          <a:off x="0" y="0"/>
          <a:ext cx="0" cy="0"/>
          <a:chOff x="0" y="0"/>
          <a:chExt cx="0" cy="0"/>
        </a:xfrm>
      </p:grpSpPr>
      <p:sp>
        <p:nvSpPr>
          <p:cNvPr id="14" name="Title 13"/>
          <p:cNvSpPr>
            <a:spLocks noGrp="1"/>
          </p:cNvSpPr>
          <p:nvPr>
            <p:ph type="title" hasCustomPrompt="1"/>
          </p:nvPr>
        </p:nvSpPr>
        <p:spPr>
          <a:xfrm>
            <a:off x="304800" y="762001"/>
            <a:ext cx="8534400" cy="990600"/>
          </a:xfrm>
          <a:prstGeom prst="rect">
            <a:avLst/>
          </a:prstGeom>
        </p:spPr>
        <p:txBody>
          <a:bodyPr/>
          <a:lstStyle>
            <a:lvl1pPr>
              <a:defRPr sz="4000" b="0" i="0">
                <a:solidFill>
                  <a:schemeClr val="accent1"/>
                </a:solidFill>
                <a:latin typeface="Calibri" charset="0"/>
                <a:ea typeface="Calibri" charset="0"/>
                <a:cs typeface="Calibri" charset="0"/>
              </a:defRPr>
            </a:lvl1pPr>
          </a:lstStyle>
          <a:p>
            <a:pPr lvl="0"/>
            <a:r>
              <a:rPr lang="en-US" dirty="0"/>
              <a:t>1.1 Periodicity Assumption</a:t>
            </a:r>
          </a:p>
        </p:txBody>
      </p:sp>
      <p:sp>
        <p:nvSpPr>
          <p:cNvPr id="5" name="Content Placeholder 4"/>
          <p:cNvSpPr>
            <a:spLocks noGrp="1"/>
          </p:cNvSpPr>
          <p:nvPr>
            <p:ph sz="quarter" idx="16" hasCustomPrompt="1"/>
          </p:nvPr>
        </p:nvSpPr>
        <p:spPr>
          <a:xfrm>
            <a:off x="304800" y="1752600"/>
            <a:ext cx="8534400" cy="4419600"/>
          </a:xfrm>
          <a:prstGeom prst="rect">
            <a:avLst/>
          </a:prstGeom>
        </p:spPr>
        <p:txBody>
          <a:bodyPr/>
          <a:lstStyle>
            <a:lvl1pPr marL="0" indent="0">
              <a:spcBef>
                <a:spcPts val="1000"/>
              </a:spcBef>
              <a:buNone/>
              <a:defRPr sz="2800" baseline="0"/>
            </a:lvl1pPr>
            <a:lvl2pPr marL="809625" indent="-460375">
              <a:spcBef>
                <a:spcPts val="1000"/>
              </a:spcBef>
              <a:buClr>
                <a:schemeClr val="accent2"/>
              </a:buClr>
              <a:buFont typeface="+mj-lt"/>
              <a:buAutoNum type="alphaLcPeriod"/>
              <a:tabLst/>
              <a:defRPr sz="2800"/>
            </a:lvl2pPr>
            <a:lvl3pPr marL="914400" indent="0">
              <a:buNone/>
              <a:defRPr sz="2800"/>
            </a:lvl3pPr>
            <a:lvl4pPr marL="1371600" indent="0">
              <a:buNone/>
              <a:defRPr sz="2800"/>
            </a:lvl4pPr>
            <a:lvl5pPr marL="1828800" indent="0">
              <a:buNone/>
              <a:defRPr sz="2800"/>
            </a:lvl5pPr>
          </a:lstStyle>
          <a:p>
            <a:pPr lvl="0"/>
            <a:r>
              <a:rPr lang="en-US" dirty="0"/>
              <a:t>Which one of these statements about the accrual basis of accounting is false?</a:t>
            </a:r>
          </a:p>
          <a:p>
            <a:pPr lvl="1"/>
            <a:r>
              <a:rPr lang="en-US" dirty="0"/>
              <a:t>Companies record events that change their financial statements in the period in which events occur, even if cash was not exchanged.</a:t>
            </a:r>
          </a:p>
          <a:p>
            <a:pPr lvl="1"/>
            <a:r>
              <a:rPr lang="en-US" dirty="0"/>
              <a:t>Companies recognize revenue in the period in which the performance obligation is satisfied.</a:t>
            </a:r>
          </a:p>
          <a:p>
            <a:pPr lvl="1"/>
            <a:r>
              <a:rPr lang="en-US" dirty="0"/>
              <a:t>This basis is accord with generally accepted accounting principles.</a:t>
            </a:r>
          </a:p>
          <a:p>
            <a:pPr lvl="1"/>
            <a:endParaRPr lang="en-US" dirty="0"/>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81243813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cept Check Question (2of 2)">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1.1 Periodicity Assumption</a:t>
            </a:r>
          </a:p>
        </p:txBody>
      </p:sp>
      <p:sp>
        <p:nvSpPr>
          <p:cNvPr id="12" name="Question"/>
          <p:cNvSpPr>
            <a:spLocks noGrp="1"/>
          </p:cNvSpPr>
          <p:nvPr>
            <p:ph sz="quarter" idx="15" hasCustomPrompt="1"/>
          </p:nvPr>
        </p:nvSpPr>
        <p:spPr>
          <a:xfrm>
            <a:off x="304800" y="1752600"/>
            <a:ext cx="8534400" cy="4419600"/>
          </a:xfrm>
          <a:prstGeom prst="rect">
            <a:avLst/>
          </a:prstGeom>
        </p:spPr>
        <p:txBody>
          <a:bodyPr/>
          <a:lstStyle>
            <a:lvl1pPr marL="12700" indent="0">
              <a:spcBef>
                <a:spcPts val="1000"/>
              </a:spcBef>
              <a:buNone/>
              <a:tabLst/>
              <a:defRPr sz="2800" b="0" i="0" baseline="0">
                <a:solidFill>
                  <a:schemeClr val="tx1"/>
                </a:solidFill>
                <a:latin typeface="Calibri" charset="0"/>
                <a:ea typeface="Calibri" charset="0"/>
                <a:cs typeface="Calibri" charset="0"/>
              </a:defRPr>
            </a:lvl1pPr>
            <a:lvl2pPr marL="803275" indent="-450850">
              <a:spcBef>
                <a:spcPts val="1000"/>
              </a:spcBef>
              <a:buFont typeface="+mj-lt"/>
              <a:buNone/>
              <a:tabLst/>
              <a:defRPr sz="2800" b="0" i="0" baseline="0">
                <a:solidFill>
                  <a:schemeClr val="tx1"/>
                </a:solidFill>
                <a:latin typeface="Calibri" charset="0"/>
                <a:ea typeface="Calibri" charset="0"/>
                <a:cs typeface="Calibri" charset="0"/>
              </a:defRPr>
            </a:lvl2pPr>
            <a:lvl3pPr marL="803275" indent="-790575">
              <a:buNone/>
              <a:tabLst/>
              <a:defRPr sz="2800" b="0" i="0">
                <a:latin typeface="Calibri" charset="0"/>
                <a:ea typeface="Calibri" charset="0"/>
                <a:cs typeface="Calibri" charset="0"/>
              </a:defRPr>
            </a:lvl3pPr>
          </a:lstStyle>
          <a:p>
            <a:pPr lvl="0"/>
            <a:r>
              <a:rPr lang="en-US" dirty="0"/>
              <a:t>Which one of these statements about the accrual basis of accounting is false?</a:t>
            </a:r>
          </a:p>
          <a:p>
            <a:pPr lvl="1"/>
            <a:r>
              <a:rPr lang="en-US" dirty="0"/>
              <a:t>a.	Companies record events that change their financial statements in the period in which events occur, even if cash was not exchanged.</a:t>
            </a:r>
          </a:p>
          <a:p>
            <a:pPr lvl="2"/>
            <a:r>
              <a:rPr lang="en-US" dirty="0"/>
              <a:t>✔️b.	Companies recognize revenue in the period in which the performance obligation is satisfied.</a:t>
            </a:r>
          </a:p>
          <a:p>
            <a:pPr lvl="1"/>
            <a:r>
              <a:rPr lang="en-US" dirty="0"/>
              <a:t>c.	This basis is accord with generally accepted accounting principles.</a:t>
            </a:r>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85239354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Key Term: Version A">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04800" y="768350"/>
            <a:ext cx="8534400" cy="990599"/>
          </a:xfrm>
        </p:spPr>
        <p:txBody>
          <a:bodyPr/>
          <a:lstStyle/>
          <a:p>
            <a:r>
              <a:rPr lang="en-US"/>
              <a:t>Language</a:t>
            </a:r>
            <a:endParaRPr lang="en-US" dirty="0"/>
          </a:p>
        </p:txBody>
      </p:sp>
      <p:sp>
        <p:nvSpPr>
          <p:cNvPr id="7" name="Definition of Key Term"/>
          <p:cNvSpPr>
            <a:spLocks noGrp="1"/>
          </p:cNvSpPr>
          <p:nvPr>
            <p:ph sz="quarter" idx="15" hasCustomPrompt="1"/>
          </p:nvPr>
        </p:nvSpPr>
        <p:spPr>
          <a:xfrm>
            <a:off x="304800" y="1752600"/>
            <a:ext cx="8534400" cy="4114800"/>
          </a:xfrm>
          <a:prstGeom prst="rect">
            <a:avLst/>
          </a:prstGeom>
        </p:spPr>
        <p:txBody>
          <a:bodyPr/>
          <a:lstStyle>
            <a:lvl1pPr marL="292608" indent="-292608">
              <a:spcBef>
                <a:spcPts val="1000"/>
              </a:spcBef>
              <a:buFont typeface="Arial" charset="0"/>
              <a:buChar char="•"/>
              <a:defRPr sz="3000" b="0" i="0" baseline="0">
                <a:solidFill>
                  <a:schemeClr val="tx1"/>
                </a:solidFill>
                <a:latin typeface="Calibri" charset="0"/>
                <a:ea typeface="Calibri" charset="0"/>
                <a:cs typeface="Calibri" charset="0"/>
              </a:defRPr>
            </a:lvl1pPr>
            <a:lvl2pPr marL="803275" indent="-450850">
              <a:spcBef>
                <a:spcPts val="1000"/>
              </a:spcBef>
              <a:buFont typeface="+mj-lt"/>
              <a:buAutoNum type="alphaLcPeriod"/>
              <a:tabLst/>
              <a:defRPr sz="2800" b="0" i="0" baseline="0">
                <a:solidFill>
                  <a:schemeClr val="tx1"/>
                </a:solidFill>
                <a:latin typeface="Source Sans Pro" charset="0"/>
                <a:ea typeface="Source Sans Pro" charset="0"/>
                <a:cs typeface="Source Sans Pro" charset="0"/>
              </a:defRPr>
            </a:lvl2pPr>
          </a:lstStyle>
          <a:p>
            <a:pPr lvl="0"/>
            <a:r>
              <a:rPr lang="en-US" dirty="0"/>
              <a:t>Form of communication using sounds and symbols combined according to specified rules</a:t>
            </a:r>
          </a:p>
        </p:txBody>
      </p:sp>
      <p:sp>
        <p:nvSpPr>
          <p:cNvPr id="9" name="Media LInk"/>
          <p:cNvSpPr>
            <a:spLocks noGrp="1"/>
          </p:cNvSpPr>
          <p:nvPr>
            <p:ph sz="quarter" idx="16" hasCustomPrompt="1"/>
          </p:nvPr>
        </p:nvSpPr>
        <p:spPr>
          <a:xfrm>
            <a:off x="304800" y="5867400"/>
            <a:ext cx="8534400" cy="609600"/>
          </a:xfrm>
          <a:prstGeom prst="rect">
            <a:avLst/>
          </a:prstGeom>
        </p:spPr>
        <p:txBody>
          <a:bodyPr/>
          <a:lstStyle>
            <a:lvl1pPr marL="0" indent="0" algn="r">
              <a:buNone/>
              <a:defRPr sz="2200" b="0" i="0" baseline="0">
                <a:latin typeface="Calibri" charset="0"/>
                <a:ea typeface="Calibri" charset="0"/>
                <a:cs typeface="Calibri" charset="0"/>
              </a:defRPr>
            </a:lvl1pPr>
            <a:lvl2pPr algn="r">
              <a:defRPr/>
            </a:lvl2pPr>
            <a:lvl3pPr algn="r">
              <a:defRPr/>
            </a:lvl3pPr>
            <a:lvl4pPr algn="r">
              <a:defRPr/>
            </a:lvl4pPr>
            <a:lvl5pPr algn="r">
              <a:defRPr/>
            </a:lvl5pPr>
          </a:lstStyle>
          <a:p>
            <a:pPr lvl="0"/>
            <a:r>
              <a:rPr lang="en-US" dirty="0"/>
              <a:t>Media link placeholder</a:t>
            </a:r>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70060934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Key Term: Version B">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04800" y="914401"/>
            <a:ext cx="8534400" cy="990599"/>
          </a:xfrm>
        </p:spPr>
        <p:txBody>
          <a:bodyPr/>
          <a:lstStyle>
            <a:lvl1pPr>
              <a:defRPr baseline="0"/>
            </a:lvl1pPr>
          </a:lstStyle>
          <a:p>
            <a:r>
              <a:rPr lang="en-US" dirty="0"/>
              <a:t>Anatomy and Physiology Defined</a:t>
            </a:r>
          </a:p>
        </p:txBody>
      </p:sp>
      <p:sp>
        <p:nvSpPr>
          <p:cNvPr id="7" name="Definition of Key Term"/>
          <p:cNvSpPr>
            <a:spLocks noGrp="1"/>
          </p:cNvSpPr>
          <p:nvPr>
            <p:ph sz="quarter" idx="15" hasCustomPrompt="1"/>
          </p:nvPr>
        </p:nvSpPr>
        <p:spPr>
          <a:xfrm>
            <a:off x="304800" y="1905000"/>
            <a:ext cx="8534400" cy="3962400"/>
          </a:xfrm>
          <a:prstGeom prst="rect">
            <a:avLst/>
          </a:prstGeom>
        </p:spPr>
        <p:txBody>
          <a:bodyPr/>
          <a:lstStyle>
            <a:lvl1pPr marL="292608" indent="-292608">
              <a:spcBef>
                <a:spcPts val="1000"/>
              </a:spcBef>
              <a:buClr>
                <a:schemeClr val="accent2"/>
              </a:buClr>
              <a:buFont typeface="Arial" charset="0"/>
              <a:buChar char="•"/>
              <a:defRPr sz="3000" b="0" i="0" baseline="0">
                <a:solidFill>
                  <a:schemeClr val="tx1"/>
                </a:solidFill>
                <a:latin typeface="Calibri" charset="0"/>
                <a:ea typeface="Calibri" charset="0"/>
                <a:cs typeface="Calibri" charset="0"/>
              </a:defRPr>
            </a:lvl1pPr>
            <a:lvl2pPr marL="803275" indent="-450850">
              <a:spcBef>
                <a:spcPts val="1000"/>
              </a:spcBef>
              <a:buFont typeface="+mj-lt"/>
              <a:buAutoNum type="alphaLcPeriod"/>
              <a:tabLst/>
              <a:defRPr sz="2800" b="0" i="0" baseline="0">
                <a:solidFill>
                  <a:schemeClr val="tx1"/>
                </a:solidFill>
                <a:latin typeface="Source Sans Pro" charset="0"/>
                <a:ea typeface="Source Sans Pro" charset="0"/>
                <a:cs typeface="Source Sans Pro" charset="0"/>
              </a:defRPr>
            </a:lvl2pPr>
          </a:lstStyle>
          <a:p>
            <a:pPr lvl="0"/>
            <a:r>
              <a:rPr lang="en-US" dirty="0"/>
              <a:t>Anatomy is the science of structure and the relationships among structures.</a:t>
            </a:r>
          </a:p>
          <a:p>
            <a:pPr lvl="0"/>
            <a:r>
              <a:rPr lang="en-US" dirty="0"/>
              <a:t>Physiology is the science of body functions, that is, how the body parts work.</a:t>
            </a:r>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6622711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ection for Figure">
    <p:spTree>
      <p:nvGrpSpPr>
        <p:cNvPr id="1" name=""/>
        <p:cNvGrpSpPr/>
        <p:nvPr/>
      </p:nvGrpSpPr>
      <p:grpSpPr>
        <a:xfrm>
          <a:off x="0" y="0"/>
          <a:ext cx="0" cy="0"/>
          <a:chOff x="0" y="0"/>
          <a:chExt cx="0" cy="0"/>
        </a:xfrm>
      </p:grpSpPr>
      <p:sp>
        <p:nvSpPr>
          <p:cNvPr id="8" name="Title "/>
          <p:cNvSpPr>
            <a:spLocks noGrp="1"/>
          </p:cNvSpPr>
          <p:nvPr>
            <p:ph type="title" hasCustomPrompt="1"/>
          </p:nvPr>
        </p:nvSpPr>
        <p:spPr>
          <a:xfrm>
            <a:off x="304800" y="762001"/>
            <a:ext cx="8534400" cy="99060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Section or Topic Heading</a:t>
            </a:r>
          </a:p>
        </p:txBody>
      </p:sp>
      <p:sp>
        <p:nvSpPr>
          <p:cNvPr id="11" name="Content Placeholder 10"/>
          <p:cNvSpPr>
            <a:spLocks noGrp="1"/>
          </p:cNvSpPr>
          <p:nvPr>
            <p:ph sz="quarter" idx="16"/>
          </p:nvPr>
        </p:nvSpPr>
        <p:spPr>
          <a:xfrm>
            <a:off x="304800" y="1752600"/>
            <a:ext cx="8534400" cy="32766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7" name="Figure caption"/>
          <p:cNvSpPr>
            <a:spLocks noGrp="1"/>
          </p:cNvSpPr>
          <p:nvPr>
            <p:ph sz="quarter" idx="15" hasCustomPrompt="1"/>
          </p:nvPr>
        </p:nvSpPr>
        <p:spPr>
          <a:xfrm>
            <a:off x="304800" y="5029200"/>
            <a:ext cx="8534400" cy="1143000"/>
          </a:xfrm>
          <a:prstGeom prst="rect">
            <a:avLst/>
          </a:prstGeom>
        </p:spPr>
        <p:txBody>
          <a:bodyPr/>
          <a:lstStyle>
            <a:lvl1pPr marL="0" indent="0">
              <a:spcBef>
                <a:spcPts val="1000"/>
              </a:spcBef>
              <a:buFont typeface="Arial" charset="0"/>
              <a:buNone/>
              <a:defRPr sz="2000" b="0" i="0" baseline="0">
                <a:solidFill>
                  <a:schemeClr val="tx1"/>
                </a:solidFill>
                <a:latin typeface="Calibri" charset="0"/>
                <a:ea typeface="Calibri" charset="0"/>
                <a:cs typeface="Calibri" charset="0"/>
              </a:defRPr>
            </a:lvl1pPr>
            <a:lvl2pPr marL="803275" indent="-450850">
              <a:spcBef>
                <a:spcPts val="1000"/>
              </a:spcBef>
              <a:buFont typeface="+mj-lt"/>
              <a:buAutoNum type="alphaLcPeriod"/>
              <a:tabLst/>
              <a:defRPr sz="2800" b="0" i="0" baseline="0">
                <a:solidFill>
                  <a:schemeClr val="tx1"/>
                </a:solidFill>
                <a:latin typeface="Source Sans Pro" charset="0"/>
                <a:ea typeface="Source Sans Pro" charset="0"/>
                <a:cs typeface="Source Sans Pro" charset="0"/>
              </a:defRPr>
            </a:lvl2pPr>
          </a:lstStyle>
          <a:p>
            <a:pPr lvl="0"/>
            <a:r>
              <a:rPr lang="en-US" sz="2000" dirty="0"/>
              <a:t>Figure 4.5 Figure title placeholder</a:t>
            </a:r>
          </a:p>
          <a:p>
            <a:pPr lvl="0"/>
            <a:endParaRPr lang="en-US" dirty="0"/>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97710304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ection">
    <p:spTree>
      <p:nvGrpSpPr>
        <p:cNvPr id="1" name=""/>
        <p:cNvGrpSpPr/>
        <p:nvPr/>
      </p:nvGrpSpPr>
      <p:grpSpPr>
        <a:xfrm>
          <a:off x="0" y="0"/>
          <a:ext cx="0" cy="0"/>
          <a:chOff x="0" y="0"/>
          <a:chExt cx="0" cy="0"/>
        </a:xfrm>
      </p:grpSpPr>
      <p:sp>
        <p:nvSpPr>
          <p:cNvPr id="2" name="Title "/>
          <p:cNvSpPr>
            <a:spLocks noGrp="1"/>
          </p:cNvSpPr>
          <p:nvPr>
            <p:ph type="title" hasCustomPrompt="1"/>
          </p:nvPr>
        </p:nvSpPr>
        <p:spPr>
          <a:xfrm>
            <a:off x="304800" y="762001"/>
            <a:ext cx="8534400" cy="99060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Section or Topic Heading</a:t>
            </a:r>
          </a:p>
        </p:txBody>
      </p:sp>
      <p:sp>
        <p:nvSpPr>
          <p:cNvPr id="6" name="Content Placeholder"/>
          <p:cNvSpPr>
            <a:spLocks noGrp="1"/>
          </p:cNvSpPr>
          <p:nvPr>
            <p:ph sz="quarter" idx="16"/>
          </p:nvPr>
        </p:nvSpPr>
        <p:spPr>
          <a:xfrm>
            <a:off x="304800" y="1828800"/>
            <a:ext cx="8534400" cy="44196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3" name="Slide Number Placeholder"/>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25397916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5_Section">
    <p:spTree>
      <p:nvGrpSpPr>
        <p:cNvPr id="1" name=""/>
        <p:cNvGrpSpPr/>
        <p:nvPr/>
      </p:nvGrpSpPr>
      <p:grpSpPr>
        <a:xfrm>
          <a:off x="0" y="0"/>
          <a:ext cx="0" cy="0"/>
          <a:chOff x="0" y="0"/>
          <a:chExt cx="0" cy="0"/>
        </a:xfrm>
      </p:grpSpPr>
      <p:sp>
        <p:nvSpPr>
          <p:cNvPr id="2" name="Title "/>
          <p:cNvSpPr>
            <a:spLocks noGrp="1"/>
          </p:cNvSpPr>
          <p:nvPr>
            <p:ph type="title" hasCustomPrompt="1"/>
          </p:nvPr>
        </p:nvSpPr>
        <p:spPr>
          <a:xfrm>
            <a:off x="304800" y="762001"/>
            <a:ext cx="8534400" cy="99060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Section or Topic Heading</a:t>
            </a:r>
          </a:p>
        </p:txBody>
      </p:sp>
      <p:sp>
        <p:nvSpPr>
          <p:cNvPr id="6" name="Content Placeholder"/>
          <p:cNvSpPr>
            <a:spLocks noGrp="1"/>
          </p:cNvSpPr>
          <p:nvPr>
            <p:ph sz="quarter" idx="16"/>
          </p:nvPr>
        </p:nvSpPr>
        <p:spPr>
          <a:xfrm>
            <a:off x="304800" y="1828800"/>
            <a:ext cx="8534400" cy="380999"/>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7" name="Content Placeholder 6">
            <a:extLst>
              <a:ext uri="{FF2B5EF4-FFF2-40B4-BE49-F238E27FC236}">
                <a16:creationId xmlns:a16="http://schemas.microsoft.com/office/drawing/2014/main" id="{FFD5900F-AA13-417D-AD3D-4C905926EE31}"/>
              </a:ext>
            </a:extLst>
          </p:cNvPr>
          <p:cNvSpPr>
            <a:spLocks noGrp="1"/>
          </p:cNvSpPr>
          <p:nvPr>
            <p:ph sz="quarter" idx="17"/>
          </p:nvPr>
        </p:nvSpPr>
        <p:spPr>
          <a:xfrm>
            <a:off x="304800" y="2286000"/>
            <a:ext cx="8534400" cy="457200"/>
          </a:xfrm>
          <a:prstGeom prst="rect">
            <a:avLst/>
          </a:prstGeom>
        </p:spPr>
        <p:txBody>
          <a:bodyPr/>
          <a:lstStyle>
            <a:lvl1pPr marL="0" indent="0">
              <a:buNone/>
              <a:defRPr/>
            </a:lvl1pPr>
          </a:lstStyle>
          <a:p>
            <a:pPr lvl="0"/>
            <a:endParaRPr lang="en-US" dirty="0"/>
          </a:p>
        </p:txBody>
      </p:sp>
      <p:sp>
        <p:nvSpPr>
          <p:cNvPr id="9" name="Content Placeholder 8">
            <a:extLst>
              <a:ext uri="{FF2B5EF4-FFF2-40B4-BE49-F238E27FC236}">
                <a16:creationId xmlns:a16="http://schemas.microsoft.com/office/drawing/2014/main" id="{84848AF1-D576-4FBF-A712-1BEB82131A85}"/>
              </a:ext>
            </a:extLst>
          </p:cNvPr>
          <p:cNvSpPr>
            <a:spLocks noGrp="1"/>
          </p:cNvSpPr>
          <p:nvPr>
            <p:ph sz="quarter" idx="18"/>
          </p:nvPr>
        </p:nvSpPr>
        <p:spPr>
          <a:xfrm>
            <a:off x="304800" y="2819400"/>
            <a:ext cx="8534400" cy="457200"/>
          </a:xfrm>
          <a:prstGeom prst="rect">
            <a:avLst/>
          </a:prstGeom>
        </p:spPr>
        <p:txBody>
          <a:bodyPr/>
          <a:lstStyle>
            <a:lvl1pPr marL="0" indent="0">
              <a:buNone/>
              <a:defRPr/>
            </a:lvl1pPr>
          </a:lstStyle>
          <a:p>
            <a:pPr lvl="0"/>
            <a:endParaRPr lang="en-US" dirty="0"/>
          </a:p>
        </p:txBody>
      </p:sp>
      <p:sp>
        <p:nvSpPr>
          <p:cNvPr id="11" name="Content Placeholder 10">
            <a:extLst>
              <a:ext uri="{FF2B5EF4-FFF2-40B4-BE49-F238E27FC236}">
                <a16:creationId xmlns:a16="http://schemas.microsoft.com/office/drawing/2014/main" id="{676B27F5-3B5F-44A3-B7D9-7B2B6279EB48}"/>
              </a:ext>
            </a:extLst>
          </p:cNvPr>
          <p:cNvSpPr>
            <a:spLocks noGrp="1"/>
          </p:cNvSpPr>
          <p:nvPr>
            <p:ph sz="quarter" idx="19"/>
          </p:nvPr>
        </p:nvSpPr>
        <p:spPr>
          <a:xfrm>
            <a:off x="304800" y="3352800"/>
            <a:ext cx="8534400" cy="457200"/>
          </a:xfrm>
          <a:prstGeom prst="rect">
            <a:avLst/>
          </a:prstGeom>
        </p:spPr>
        <p:txBody>
          <a:bodyPr/>
          <a:lstStyle>
            <a:lvl1pPr marL="0" indent="0">
              <a:buNone/>
              <a:defRPr/>
            </a:lvl1pPr>
          </a:lstStyle>
          <a:p>
            <a:pPr lvl="0"/>
            <a:endParaRPr lang="en-US" dirty="0"/>
          </a:p>
        </p:txBody>
      </p:sp>
      <p:sp>
        <p:nvSpPr>
          <p:cNvPr id="13" name="Content Placeholder 12">
            <a:extLst>
              <a:ext uri="{FF2B5EF4-FFF2-40B4-BE49-F238E27FC236}">
                <a16:creationId xmlns:a16="http://schemas.microsoft.com/office/drawing/2014/main" id="{AADC81E7-C60E-481D-B9D5-72B7F6F78DDF}"/>
              </a:ext>
            </a:extLst>
          </p:cNvPr>
          <p:cNvSpPr>
            <a:spLocks noGrp="1"/>
          </p:cNvSpPr>
          <p:nvPr>
            <p:ph sz="quarter" idx="20"/>
          </p:nvPr>
        </p:nvSpPr>
        <p:spPr>
          <a:xfrm>
            <a:off x="304800" y="3886200"/>
            <a:ext cx="8534400" cy="336550"/>
          </a:xfrm>
          <a:prstGeom prst="rect">
            <a:avLst/>
          </a:prstGeom>
        </p:spPr>
        <p:txBody>
          <a:bodyPr/>
          <a:lstStyle>
            <a:lvl1pPr marL="0" indent="0">
              <a:buNone/>
              <a:defRPr/>
            </a:lvl1pPr>
          </a:lstStyle>
          <a:p>
            <a:pPr lvl="0"/>
            <a:endParaRPr lang="en-US" dirty="0"/>
          </a:p>
        </p:txBody>
      </p:sp>
      <p:sp>
        <p:nvSpPr>
          <p:cNvPr id="15" name="Content Placeholder 14">
            <a:extLst>
              <a:ext uri="{FF2B5EF4-FFF2-40B4-BE49-F238E27FC236}">
                <a16:creationId xmlns:a16="http://schemas.microsoft.com/office/drawing/2014/main" id="{230C320A-51A3-4C9B-8ABF-11B3737D593B}"/>
              </a:ext>
            </a:extLst>
          </p:cNvPr>
          <p:cNvSpPr>
            <a:spLocks noGrp="1"/>
          </p:cNvSpPr>
          <p:nvPr>
            <p:ph sz="quarter" idx="21"/>
          </p:nvPr>
        </p:nvSpPr>
        <p:spPr>
          <a:xfrm>
            <a:off x="304800" y="4343400"/>
            <a:ext cx="8534400" cy="336550"/>
          </a:xfrm>
          <a:prstGeom prst="rect">
            <a:avLst/>
          </a:prstGeom>
        </p:spPr>
        <p:txBody>
          <a:bodyPr/>
          <a:lstStyle>
            <a:lvl1pPr marL="0" indent="0">
              <a:buNone/>
              <a:defRPr/>
            </a:lvl1pPr>
          </a:lstStyle>
          <a:p>
            <a:pPr lvl="0"/>
            <a:endParaRPr lang="en-US" dirty="0"/>
          </a:p>
        </p:txBody>
      </p:sp>
      <p:sp>
        <p:nvSpPr>
          <p:cNvPr id="17" name="Content Placeholder 16">
            <a:extLst>
              <a:ext uri="{FF2B5EF4-FFF2-40B4-BE49-F238E27FC236}">
                <a16:creationId xmlns:a16="http://schemas.microsoft.com/office/drawing/2014/main" id="{F9E37B07-0547-4324-8991-4A4CF789436D}"/>
              </a:ext>
            </a:extLst>
          </p:cNvPr>
          <p:cNvSpPr>
            <a:spLocks noGrp="1"/>
          </p:cNvSpPr>
          <p:nvPr>
            <p:ph sz="quarter" idx="22"/>
          </p:nvPr>
        </p:nvSpPr>
        <p:spPr>
          <a:xfrm>
            <a:off x="304800" y="4724400"/>
            <a:ext cx="8534400" cy="457200"/>
          </a:xfrm>
          <a:prstGeom prst="rect">
            <a:avLst/>
          </a:prstGeom>
        </p:spPr>
        <p:txBody>
          <a:bodyPr/>
          <a:lstStyle>
            <a:lvl1pPr marL="0" indent="0">
              <a:buNone/>
              <a:defRPr/>
            </a:lvl1pPr>
          </a:lstStyle>
          <a:p>
            <a:pPr lvl="0"/>
            <a:endParaRPr lang="en-US" dirty="0"/>
          </a:p>
        </p:txBody>
      </p:sp>
      <p:sp>
        <p:nvSpPr>
          <p:cNvPr id="19" name="Content Placeholder 18">
            <a:extLst>
              <a:ext uri="{FF2B5EF4-FFF2-40B4-BE49-F238E27FC236}">
                <a16:creationId xmlns:a16="http://schemas.microsoft.com/office/drawing/2014/main" id="{1B671F7A-E290-479A-9245-1B0D5F72CCE5}"/>
              </a:ext>
            </a:extLst>
          </p:cNvPr>
          <p:cNvSpPr>
            <a:spLocks noGrp="1"/>
          </p:cNvSpPr>
          <p:nvPr>
            <p:ph sz="quarter" idx="23"/>
          </p:nvPr>
        </p:nvSpPr>
        <p:spPr>
          <a:xfrm>
            <a:off x="304800" y="5257800"/>
            <a:ext cx="8534400" cy="457200"/>
          </a:xfrm>
          <a:prstGeom prst="rect">
            <a:avLst/>
          </a:prstGeom>
        </p:spPr>
        <p:txBody>
          <a:bodyPr/>
          <a:lstStyle>
            <a:lvl1pPr marL="0" indent="0">
              <a:buNone/>
              <a:defRPr/>
            </a:lvl1pPr>
          </a:lstStyle>
          <a:p>
            <a:pPr lvl="0"/>
            <a:endParaRPr lang="en-US" dirty="0"/>
          </a:p>
        </p:txBody>
      </p:sp>
      <p:sp>
        <p:nvSpPr>
          <p:cNvPr id="21" name="Content Placeholder 20">
            <a:extLst>
              <a:ext uri="{FF2B5EF4-FFF2-40B4-BE49-F238E27FC236}">
                <a16:creationId xmlns:a16="http://schemas.microsoft.com/office/drawing/2014/main" id="{97D65446-BE50-4693-A967-2E866104DFF6}"/>
              </a:ext>
            </a:extLst>
          </p:cNvPr>
          <p:cNvSpPr>
            <a:spLocks noGrp="1"/>
          </p:cNvSpPr>
          <p:nvPr>
            <p:ph sz="quarter" idx="24"/>
          </p:nvPr>
        </p:nvSpPr>
        <p:spPr>
          <a:xfrm>
            <a:off x="304800" y="5822950"/>
            <a:ext cx="8534400" cy="349250"/>
          </a:xfrm>
          <a:prstGeom prst="rect">
            <a:avLst/>
          </a:prstGeom>
        </p:spPr>
        <p:txBody>
          <a:bodyPr/>
          <a:lstStyle>
            <a:lvl1pPr marL="0" indent="0">
              <a:buNone/>
              <a:defRPr/>
            </a:lvl1pPr>
          </a:lstStyle>
          <a:p>
            <a:pPr lvl="0"/>
            <a:endParaRPr lang="en-US" dirty="0"/>
          </a:p>
        </p:txBody>
      </p:sp>
      <p:sp>
        <p:nvSpPr>
          <p:cNvPr id="3" name="Slide Number Placeholder"/>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107275839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6_Section">
    <p:spTree>
      <p:nvGrpSpPr>
        <p:cNvPr id="1" name=""/>
        <p:cNvGrpSpPr/>
        <p:nvPr/>
      </p:nvGrpSpPr>
      <p:grpSpPr>
        <a:xfrm>
          <a:off x="0" y="0"/>
          <a:ext cx="0" cy="0"/>
          <a:chOff x="0" y="0"/>
          <a:chExt cx="0" cy="0"/>
        </a:xfrm>
      </p:grpSpPr>
      <p:sp>
        <p:nvSpPr>
          <p:cNvPr id="2" name="Title "/>
          <p:cNvSpPr>
            <a:spLocks noGrp="1"/>
          </p:cNvSpPr>
          <p:nvPr>
            <p:ph type="title" hasCustomPrompt="1"/>
          </p:nvPr>
        </p:nvSpPr>
        <p:spPr>
          <a:xfrm>
            <a:off x="304800" y="762001"/>
            <a:ext cx="8534400" cy="99060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Section or Topic Heading</a:t>
            </a:r>
          </a:p>
        </p:txBody>
      </p:sp>
      <p:sp>
        <p:nvSpPr>
          <p:cNvPr id="6" name="Content Placeholder"/>
          <p:cNvSpPr>
            <a:spLocks noGrp="1"/>
          </p:cNvSpPr>
          <p:nvPr>
            <p:ph sz="quarter" idx="16"/>
          </p:nvPr>
        </p:nvSpPr>
        <p:spPr>
          <a:xfrm>
            <a:off x="304800" y="1828800"/>
            <a:ext cx="4038600" cy="365125"/>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7" name="Content Placeholder 6">
            <a:extLst>
              <a:ext uri="{FF2B5EF4-FFF2-40B4-BE49-F238E27FC236}">
                <a16:creationId xmlns:a16="http://schemas.microsoft.com/office/drawing/2014/main" id="{08AEA028-BD17-4ECF-82B5-ECB2A3466362}"/>
              </a:ext>
            </a:extLst>
          </p:cNvPr>
          <p:cNvSpPr>
            <a:spLocks noGrp="1"/>
          </p:cNvSpPr>
          <p:nvPr>
            <p:ph sz="quarter" idx="17"/>
          </p:nvPr>
        </p:nvSpPr>
        <p:spPr>
          <a:xfrm>
            <a:off x="4419600" y="1828800"/>
            <a:ext cx="4419600" cy="365125"/>
          </a:xfrm>
          <a:prstGeom prst="rect">
            <a:avLst/>
          </a:prstGeom>
        </p:spPr>
        <p:txBody>
          <a:bodyPr/>
          <a:lstStyle>
            <a:lvl1pPr marL="0" indent="0">
              <a:buNone/>
              <a:defRPr/>
            </a:lvl1pPr>
          </a:lstStyle>
          <a:p>
            <a:pPr lvl="0"/>
            <a:endParaRPr lang="en-US" dirty="0"/>
          </a:p>
        </p:txBody>
      </p:sp>
      <p:sp>
        <p:nvSpPr>
          <p:cNvPr id="9" name="Content Placeholder 8">
            <a:extLst>
              <a:ext uri="{FF2B5EF4-FFF2-40B4-BE49-F238E27FC236}">
                <a16:creationId xmlns:a16="http://schemas.microsoft.com/office/drawing/2014/main" id="{D539518F-A4FA-4BE6-9B8E-E6329B43B944}"/>
              </a:ext>
            </a:extLst>
          </p:cNvPr>
          <p:cNvSpPr>
            <a:spLocks noGrp="1"/>
          </p:cNvSpPr>
          <p:nvPr>
            <p:ph sz="quarter" idx="18"/>
          </p:nvPr>
        </p:nvSpPr>
        <p:spPr>
          <a:xfrm>
            <a:off x="304800" y="2225675"/>
            <a:ext cx="4038600" cy="365125"/>
          </a:xfrm>
          <a:prstGeom prst="rect">
            <a:avLst/>
          </a:prstGeom>
        </p:spPr>
        <p:txBody>
          <a:bodyPr/>
          <a:lstStyle>
            <a:lvl1pPr marL="0" indent="0">
              <a:buNone/>
              <a:defRPr/>
            </a:lvl1pPr>
          </a:lstStyle>
          <a:p>
            <a:pPr lvl="0"/>
            <a:endParaRPr lang="en-US" dirty="0"/>
          </a:p>
        </p:txBody>
      </p:sp>
      <p:sp>
        <p:nvSpPr>
          <p:cNvPr id="11" name="Content Placeholder 10">
            <a:extLst>
              <a:ext uri="{FF2B5EF4-FFF2-40B4-BE49-F238E27FC236}">
                <a16:creationId xmlns:a16="http://schemas.microsoft.com/office/drawing/2014/main" id="{ECF92A28-BADD-49BA-AD73-AD609D2F6738}"/>
              </a:ext>
            </a:extLst>
          </p:cNvPr>
          <p:cNvSpPr>
            <a:spLocks noGrp="1"/>
          </p:cNvSpPr>
          <p:nvPr>
            <p:ph sz="quarter" idx="19"/>
          </p:nvPr>
        </p:nvSpPr>
        <p:spPr>
          <a:xfrm>
            <a:off x="4419600" y="2225675"/>
            <a:ext cx="4419600" cy="365125"/>
          </a:xfrm>
          <a:prstGeom prst="rect">
            <a:avLst/>
          </a:prstGeom>
        </p:spPr>
        <p:txBody>
          <a:bodyPr/>
          <a:lstStyle>
            <a:lvl1pPr marL="0" indent="0">
              <a:buNone/>
              <a:defRPr/>
            </a:lvl1pPr>
          </a:lstStyle>
          <a:p>
            <a:pPr lvl="0"/>
            <a:endParaRPr lang="en-US" dirty="0"/>
          </a:p>
        </p:txBody>
      </p:sp>
      <p:sp>
        <p:nvSpPr>
          <p:cNvPr id="15" name="Content Placeholder 14">
            <a:extLst>
              <a:ext uri="{FF2B5EF4-FFF2-40B4-BE49-F238E27FC236}">
                <a16:creationId xmlns:a16="http://schemas.microsoft.com/office/drawing/2014/main" id="{1B664998-83E5-4220-9835-1C5536CF389A}"/>
              </a:ext>
            </a:extLst>
          </p:cNvPr>
          <p:cNvSpPr>
            <a:spLocks noGrp="1"/>
          </p:cNvSpPr>
          <p:nvPr>
            <p:ph sz="quarter" idx="21"/>
          </p:nvPr>
        </p:nvSpPr>
        <p:spPr>
          <a:xfrm>
            <a:off x="304800" y="2667000"/>
            <a:ext cx="4038600" cy="365125"/>
          </a:xfrm>
          <a:prstGeom prst="rect">
            <a:avLst/>
          </a:prstGeom>
        </p:spPr>
        <p:txBody>
          <a:bodyPr/>
          <a:lstStyle>
            <a:lvl1pPr marL="0" indent="0">
              <a:buNone/>
              <a:defRPr/>
            </a:lvl1pPr>
          </a:lstStyle>
          <a:p>
            <a:pPr lvl="0"/>
            <a:endParaRPr lang="en-US" dirty="0"/>
          </a:p>
        </p:txBody>
      </p:sp>
      <p:sp>
        <p:nvSpPr>
          <p:cNvPr id="17" name="Content Placeholder 16">
            <a:extLst>
              <a:ext uri="{FF2B5EF4-FFF2-40B4-BE49-F238E27FC236}">
                <a16:creationId xmlns:a16="http://schemas.microsoft.com/office/drawing/2014/main" id="{064DC7D0-4EEC-48B5-8518-1EA8B867A73B}"/>
              </a:ext>
            </a:extLst>
          </p:cNvPr>
          <p:cNvSpPr>
            <a:spLocks noGrp="1"/>
          </p:cNvSpPr>
          <p:nvPr>
            <p:ph sz="quarter" idx="22"/>
          </p:nvPr>
        </p:nvSpPr>
        <p:spPr>
          <a:xfrm>
            <a:off x="4419600" y="2667000"/>
            <a:ext cx="4419600" cy="365125"/>
          </a:xfrm>
          <a:prstGeom prst="rect">
            <a:avLst/>
          </a:prstGeom>
        </p:spPr>
        <p:txBody>
          <a:bodyPr/>
          <a:lstStyle>
            <a:lvl1pPr marL="0" indent="0">
              <a:buNone/>
              <a:defRPr/>
            </a:lvl1pPr>
          </a:lstStyle>
          <a:p>
            <a:pPr lvl="0"/>
            <a:endParaRPr lang="en-US" dirty="0"/>
          </a:p>
        </p:txBody>
      </p:sp>
      <p:sp>
        <p:nvSpPr>
          <p:cNvPr id="19" name="Content Placeholder 18">
            <a:extLst>
              <a:ext uri="{FF2B5EF4-FFF2-40B4-BE49-F238E27FC236}">
                <a16:creationId xmlns:a16="http://schemas.microsoft.com/office/drawing/2014/main" id="{7B4BDA8F-D4C1-47AA-8C60-0937596C4F76}"/>
              </a:ext>
            </a:extLst>
          </p:cNvPr>
          <p:cNvSpPr>
            <a:spLocks noGrp="1"/>
          </p:cNvSpPr>
          <p:nvPr>
            <p:ph sz="quarter" idx="23"/>
          </p:nvPr>
        </p:nvSpPr>
        <p:spPr>
          <a:xfrm>
            <a:off x="304800" y="3124200"/>
            <a:ext cx="4038600" cy="365125"/>
          </a:xfrm>
          <a:prstGeom prst="rect">
            <a:avLst/>
          </a:prstGeom>
        </p:spPr>
        <p:txBody>
          <a:bodyPr/>
          <a:lstStyle>
            <a:lvl1pPr marL="0" indent="0">
              <a:buNone/>
              <a:defRPr/>
            </a:lvl1pPr>
          </a:lstStyle>
          <a:p>
            <a:pPr lvl="0"/>
            <a:endParaRPr lang="en-US" dirty="0"/>
          </a:p>
        </p:txBody>
      </p:sp>
      <p:sp>
        <p:nvSpPr>
          <p:cNvPr id="21" name="Content Placeholder 20">
            <a:extLst>
              <a:ext uri="{FF2B5EF4-FFF2-40B4-BE49-F238E27FC236}">
                <a16:creationId xmlns:a16="http://schemas.microsoft.com/office/drawing/2014/main" id="{3DA7099D-A1F8-48D8-B397-2BF5A3E8F84D}"/>
              </a:ext>
            </a:extLst>
          </p:cNvPr>
          <p:cNvSpPr>
            <a:spLocks noGrp="1"/>
          </p:cNvSpPr>
          <p:nvPr>
            <p:ph sz="quarter" idx="24"/>
          </p:nvPr>
        </p:nvSpPr>
        <p:spPr>
          <a:xfrm>
            <a:off x="4419600" y="3124200"/>
            <a:ext cx="4419600" cy="365125"/>
          </a:xfrm>
          <a:prstGeom prst="rect">
            <a:avLst/>
          </a:prstGeom>
        </p:spPr>
        <p:txBody>
          <a:bodyPr/>
          <a:lstStyle>
            <a:lvl1pPr marL="0" indent="0">
              <a:buNone/>
              <a:defRPr/>
            </a:lvl1pPr>
          </a:lstStyle>
          <a:p>
            <a:pPr lvl="0"/>
            <a:endParaRPr lang="en-US" dirty="0"/>
          </a:p>
        </p:txBody>
      </p:sp>
      <p:sp>
        <p:nvSpPr>
          <p:cNvPr id="23" name="Content Placeholder 22">
            <a:extLst>
              <a:ext uri="{FF2B5EF4-FFF2-40B4-BE49-F238E27FC236}">
                <a16:creationId xmlns:a16="http://schemas.microsoft.com/office/drawing/2014/main" id="{77261062-0158-40E4-A1CA-B2E0CAB19B2F}"/>
              </a:ext>
            </a:extLst>
          </p:cNvPr>
          <p:cNvSpPr>
            <a:spLocks noGrp="1"/>
          </p:cNvSpPr>
          <p:nvPr>
            <p:ph sz="quarter" idx="25"/>
          </p:nvPr>
        </p:nvSpPr>
        <p:spPr>
          <a:xfrm>
            <a:off x="304800" y="3581400"/>
            <a:ext cx="4038600" cy="365125"/>
          </a:xfrm>
          <a:prstGeom prst="rect">
            <a:avLst/>
          </a:prstGeom>
        </p:spPr>
        <p:txBody>
          <a:bodyPr/>
          <a:lstStyle>
            <a:lvl1pPr marL="0" indent="0">
              <a:buNone/>
              <a:defRPr/>
            </a:lvl1pPr>
          </a:lstStyle>
          <a:p>
            <a:pPr lvl="0"/>
            <a:endParaRPr lang="en-US" dirty="0"/>
          </a:p>
        </p:txBody>
      </p:sp>
      <p:sp>
        <p:nvSpPr>
          <p:cNvPr id="25" name="Content Placeholder 24">
            <a:extLst>
              <a:ext uri="{FF2B5EF4-FFF2-40B4-BE49-F238E27FC236}">
                <a16:creationId xmlns:a16="http://schemas.microsoft.com/office/drawing/2014/main" id="{E47747E0-D00B-41BD-93B5-8BC61DA916F9}"/>
              </a:ext>
            </a:extLst>
          </p:cNvPr>
          <p:cNvSpPr>
            <a:spLocks noGrp="1"/>
          </p:cNvSpPr>
          <p:nvPr>
            <p:ph sz="quarter" idx="26"/>
          </p:nvPr>
        </p:nvSpPr>
        <p:spPr>
          <a:xfrm>
            <a:off x="4419600" y="3581400"/>
            <a:ext cx="4419600" cy="365125"/>
          </a:xfrm>
          <a:prstGeom prst="rect">
            <a:avLst/>
          </a:prstGeom>
        </p:spPr>
        <p:txBody>
          <a:bodyPr/>
          <a:lstStyle>
            <a:lvl1pPr marL="0" indent="0">
              <a:buNone/>
              <a:defRPr/>
            </a:lvl1pPr>
          </a:lstStyle>
          <a:p>
            <a:pPr lvl="0"/>
            <a:endParaRPr lang="en-US" dirty="0"/>
          </a:p>
        </p:txBody>
      </p:sp>
      <p:sp>
        <p:nvSpPr>
          <p:cNvPr id="27" name="Content Placeholder 26">
            <a:extLst>
              <a:ext uri="{FF2B5EF4-FFF2-40B4-BE49-F238E27FC236}">
                <a16:creationId xmlns:a16="http://schemas.microsoft.com/office/drawing/2014/main" id="{87796A9F-9F2E-4385-823C-3D4A62F64819}"/>
              </a:ext>
            </a:extLst>
          </p:cNvPr>
          <p:cNvSpPr>
            <a:spLocks noGrp="1"/>
          </p:cNvSpPr>
          <p:nvPr>
            <p:ph sz="quarter" idx="27"/>
          </p:nvPr>
        </p:nvSpPr>
        <p:spPr>
          <a:xfrm>
            <a:off x="304800" y="4038600"/>
            <a:ext cx="4038600" cy="365125"/>
          </a:xfrm>
          <a:prstGeom prst="rect">
            <a:avLst/>
          </a:prstGeom>
        </p:spPr>
        <p:txBody>
          <a:bodyPr/>
          <a:lstStyle>
            <a:lvl1pPr marL="0" indent="0">
              <a:buNone/>
              <a:defRPr/>
            </a:lvl1pPr>
          </a:lstStyle>
          <a:p>
            <a:pPr lvl="0"/>
            <a:endParaRPr lang="en-US" dirty="0"/>
          </a:p>
        </p:txBody>
      </p:sp>
      <p:sp>
        <p:nvSpPr>
          <p:cNvPr id="29" name="Content Placeholder 28">
            <a:extLst>
              <a:ext uri="{FF2B5EF4-FFF2-40B4-BE49-F238E27FC236}">
                <a16:creationId xmlns:a16="http://schemas.microsoft.com/office/drawing/2014/main" id="{11A73B4E-7DA4-4299-A91F-FF7464B543E5}"/>
              </a:ext>
            </a:extLst>
          </p:cNvPr>
          <p:cNvSpPr>
            <a:spLocks noGrp="1"/>
          </p:cNvSpPr>
          <p:nvPr>
            <p:ph sz="quarter" idx="28"/>
          </p:nvPr>
        </p:nvSpPr>
        <p:spPr>
          <a:xfrm>
            <a:off x="4419600" y="4038600"/>
            <a:ext cx="4419600" cy="365125"/>
          </a:xfrm>
          <a:prstGeom prst="rect">
            <a:avLst/>
          </a:prstGeom>
        </p:spPr>
        <p:txBody>
          <a:bodyPr/>
          <a:lstStyle>
            <a:lvl1pPr marL="0" indent="0">
              <a:buNone/>
              <a:defRPr/>
            </a:lvl1pPr>
          </a:lstStyle>
          <a:p>
            <a:pPr lvl="0"/>
            <a:endParaRPr lang="en-US" dirty="0"/>
          </a:p>
        </p:txBody>
      </p:sp>
      <p:sp>
        <p:nvSpPr>
          <p:cNvPr id="31" name="Content Placeholder 30">
            <a:extLst>
              <a:ext uri="{FF2B5EF4-FFF2-40B4-BE49-F238E27FC236}">
                <a16:creationId xmlns:a16="http://schemas.microsoft.com/office/drawing/2014/main" id="{02C60366-269A-47CE-95CC-AAF3A8431B42}"/>
              </a:ext>
            </a:extLst>
          </p:cNvPr>
          <p:cNvSpPr>
            <a:spLocks noGrp="1"/>
          </p:cNvSpPr>
          <p:nvPr>
            <p:ph sz="quarter" idx="29"/>
          </p:nvPr>
        </p:nvSpPr>
        <p:spPr>
          <a:xfrm>
            <a:off x="304800" y="4495800"/>
            <a:ext cx="4038600" cy="365125"/>
          </a:xfrm>
          <a:prstGeom prst="rect">
            <a:avLst/>
          </a:prstGeom>
        </p:spPr>
        <p:txBody>
          <a:bodyPr/>
          <a:lstStyle>
            <a:lvl1pPr marL="0" indent="0">
              <a:buNone/>
              <a:defRPr/>
            </a:lvl1pPr>
          </a:lstStyle>
          <a:p>
            <a:pPr lvl="0"/>
            <a:endParaRPr lang="en-US" dirty="0"/>
          </a:p>
        </p:txBody>
      </p:sp>
      <p:sp>
        <p:nvSpPr>
          <p:cNvPr id="33" name="Content Placeholder 32">
            <a:extLst>
              <a:ext uri="{FF2B5EF4-FFF2-40B4-BE49-F238E27FC236}">
                <a16:creationId xmlns:a16="http://schemas.microsoft.com/office/drawing/2014/main" id="{8648E9CD-8615-4506-B88C-B7A06C509713}"/>
              </a:ext>
            </a:extLst>
          </p:cNvPr>
          <p:cNvSpPr>
            <a:spLocks noGrp="1"/>
          </p:cNvSpPr>
          <p:nvPr>
            <p:ph sz="quarter" idx="30"/>
          </p:nvPr>
        </p:nvSpPr>
        <p:spPr>
          <a:xfrm>
            <a:off x="4419600" y="4495800"/>
            <a:ext cx="4419600" cy="365125"/>
          </a:xfrm>
          <a:prstGeom prst="rect">
            <a:avLst/>
          </a:prstGeom>
        </p:spPr>
        <p:txBody>
          <a:bodyPr/>
          <a:lstStyle>
            <a:lvl1pPr marL="0" indent="0">
              <a:buNone/>
              <a:defRPr/>
            </a:lvl1pPr>
          </a:lstStyle>
          <a:p>
            <a:pPr lvl="0"/>
            <a:endParaRPr lang="en-US" dirty="0"/>
          </a:p>
        </p:txBody>
      </p:sp>
      <p:sp>
        <p:nvSpPr>
          <p:cNvPr id="35" name="Content Placeholder 34">
            <a:extLst>
              <a:ext uri="{FF2B5EF4-FFF2-40B4-BE49-F238E27FC236}">
                <a16:creationId xmlns:a16="http://schemas.microsoft.com/office/drawing/2014/main" id="{CE2DE845-64F9-47A6-AFDD-342063D5463E}"/>
              </a:ext>
            </a:extLst>
          </p:cNvPr>
          <p:cNvSpPr>
            <a:spLocks noGrp="1"/>
          </p:cNvSpPr>
          <p:nvPr>
            <p:ph sz="quarter" idx="31"/>
          </p:nvPr>
        </p:nvSpPr>
        <p:spPr>
          <a:xfrm>
            <a:off x="304800" y="4953000"/>
            <a:ext cx="4038600" cy="365125"/>
          </a:xfrm>
          <a:prstGeom prst="rect">
            <a:avLst/>
          </a:prstGeom>
        </p:spPr>
        <p:txBody>
          <a:bodyPr/>
          <a:lstStyle>
            <a:lvl1pPr marL="0" indent="0">
              <a:buNone/>
              <a:defRPr/>
            </a:lvl1pPr>
          </a:lstStyle>
          <a:p>
            <a:pPr lvl="0"/>
            <a:endParaRPr lang="en-US" dirty="0"/>
          </a:p>
        </p:txBody>
      </p:sp>
      <p:sp>
        <p:nvSpPr>
          <p:cNvPr id="37" name="Content Placeholder 36">
            <a:extLst>
              <a:ext uri="{FF2B5EF4-FFF2-40B4-BE49-F238E27FC236}">
                <a16:creationId xmlns:a16="http://schemas.microsoft.com/office/drawing/2014/main" id="{3597B8C4-A351-467F-A6DE-DA35689BC9B6}"/>
              </a:ext>
            </a:extLst>
          </p:cNvPr>
          <p:cNvSpPr>
            <a:spLocks noGrp="1"/>
          </p:cNvSpPr>
          <p:nvPr>
            <p:ph sz="quarter" idx="32"/>
          </p:nvPr>
        </p:nvSpPr>
        <p:spPr>
          <a:xfrm>
            <a:off x="4419600" y="4953000"/>
            <a:ext cx="4419600" cy="365125"/>
          </a:xfrm>
          <a:prstGeom prst="rect">
            <a:avLst/>
          </a:prstGeom>
        </p:spPr>
        <p:txBody>
          <a:bodyPr/>
          <a:lstStyle>
            <a:lvl1pPr marL="0" indent="0">
              <a:buNone/>
              <a:defRPr/>
            </a:lvl1pPr>
          </a:lstStyle>
          <a:p>
            <a:pPr lvl="0"/>
            <a:endParaRPr lang="en-US" dirty="0"/>
          </a:p>
        </p:txBody>
      </p:sp>
      <p:sp>
        <p:nvSpPr>
          <p:cNvPr id="39" name="Content Placeholder 38">
            <a:extLst>
              <a:ext uri="{FF2B5EF4-FFF2-40B4-BE49-F238E27FC236}">
                <a16:creationId xmlns:a16="http://schemas.microsoft.com/office/drawing/2014/main" id="{C719C597-84DC-42E6-9578-4E5764A52767}"/>
              </a:ext>
            </a:extLst>
          </p:cNvPr>
          <p:cNvSpPr>
            <a:spLocks noGrp="1"/>
          </p:cNvSpPr>
          <p:nvPr>
            <p:ph sz="quarter" idx="33"/>
          </p:nvPr>
        </p:nvSpPr>
        <p:spPr>
          <a:xfrm>
            <a:off x="304800" y="5410200"/>
            <a:ext cx="4038600" cy="365125"/>
          </a:xfrm>
          <a:prstGeom prst="rect">
            <a:avLst/>
          </a:prstGeom>
        </p:spPr>
        <p:txBody>
          <a:bodyPr/>
          <a:lstStyle>
            <a:lvl1pPr marL="0" indent="0">
              <a:buNone/>
              <a:defRPr/>
            </a:lvl1pPr>
          </a:lstStyle>
          <a:p>
            <a:pPr lvl="0"/>
            <a:endParaRPr lang="en-US" dirty="0"/>
          </a:p>
        </p:txBody>
      </p:sp>
      <p:sp>
        <p:nvSpPr>
          <p:cNvPr id="41" name="Content Placeholder 40">
            <a:extLst>
              <a:ext uri="{FF2B5EF4-FFF2-40B4-BE49-F238E27FC236}">
                <a16:creationId xmlns:a16="http://schemas.microsoft.com/office/drawing/2014/main" id="{602C790C-25A6-4AED-B96A-2273C76B90FF}"/>
              </a:ext>
            </a:extLst>
          </p:cNvPr>
          <p:cNvSpPr>
            <a:spLocks noGrp="1"/>
          </p:cNvSpPr>
          <p:nvPr>
            <p:ph sz="quarter" idx="34"/>
          </p:nvPr>
        </p:nvSpPr>
        <p:spPr>
          <a:xfrm>
            <a:off x="4419600" y="5410200"/>
            <a:ext cx="4419600" cy="365125"/>
          </a:xfrm>
          <a:prstGeom prst="rect">
            <a:avLst/>
          </a:prstGeom>
        </p:spPr>
        <p:txBody>
          <a:bodyPr/>
          <a:lstStyle>
            <a:lvl1pPr marL="0" indent="0">
              <a:buNone/>
              <a:defRPr/>
            </a:lvl1pPr>
          </a:lstStyle>
          <a:p>
            <a:pPr lvl="0"/>
            <a:endParaRPr lang="en-US" dirty="0"/>
          </a:p>
        </p:txBody>
      </p:sp>
      <p:sp>
        <p:nvSpPr>
          <p:cNvPr id="43" name="Content Placeholder 42">
            <a:extLst>
              <a:ext uri="{FF2B5EF4-FFF2-40B4-BE49-F238E27FC236}">
                <a16:creationId xmlns:a16="http://schemas.microsoft.com/office/drawing/2014/main" id="{01ADFC3A-CC86-4C35-AD6C-692CC02FCACF}"/>
              </a:ext>
            </a:extLst>
          </p:cNvPr>
          <p:cNvSpPr>
            <a:spLocks noGrp="1"/>
          </p:cNvSpPr>
          <p:nvPr>
            <p:ph sz="quarter" idx="35"/>
          </p:nvPr>
        </p:nvSpPr>
        <p:spPr>
          <a:xfrm>
            <a:off x="304800" y="5807075"/>
            <a:ext cx="4038600" cy="365125"/>
          </a:xfrm>
          <a:prstGeom prst="rect">
            <a:avLst/>
          </a:prstGeom>
        </p:spPr>
        <p:txBody>
          <a:bodyPr/>
          <a:lstStyle>
            <a:lvl1pPr marL="0" indent="0">
              <a:buNone/>
              <a:defRPr/>
            </a:lvl1pPr>
          </a:lstStyle>
          <a:p>
            <a:pPr lvl="0"/>
            <a:endParaRPr lang="en-US" dirty="0"/>
          </a:p>
        </p:txBody>
      </p:sp>
      <p:sp>
        <p:nvSpPr>
          <p:cNvPr id="45" name="Content Placeholder 44">
            <a:extLst>
              <a:ext uri="{FF2B5EF4-FFF2-40B4-BE49-F238E27FC236}">
                <a16:creationId xmlns:a16="http://schemas.microsoft.com/office/drawing/2014/main" id="{45E8B718-38EC-47F6-87EA-0F0A0846611D}"/>
              </a:ext>
            </a:extLst>
          </p:cNvPr>
          <p:cNvSpPr>
            <a:spLocks noGrp="1"/>
          </p:cNvSpPr>
          <p:nvPr>
            <p:ph sz="quarter" idx="36"/>
          </p:nvPr>
        </p:nvSpPr>
        <p:spPr>
          <a:xfrm>
            <a:off x="4419600" y="5807075"/>
            <a:ext cx="4419600" cy="365125"/>
          </a:xfrm>
          <a:prstGeom prst="rect">
            <a:avLst/>
          </a:prstGeom>
        </p:spPr>
        <p:txBody>
          <a:bodyPr/>
          <a:lstStyle>
            <a:lvl1pPr marL="0" indent="0">
              <a:buNone/>
              <a:defRPr/>
            </a:lvl1pPr>
          </a:lstStyle>
          <a:p>
            <a:pPr lvl="0"/>
            <a:endParaRPr lang="en-US" dirty="0"/>
          </a:p>
        </p:txBody>
      </p:sp>
      <p:sp>
        <p:nvSpPr>
          <p:cNvPr id="3" name="Slide Number Placeholder"/>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61527699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Section">
    <p:spTree>
      <p:nvGrpSpPr>
        <p:cNvPr id="1" name=""/>
        <p:cNvGrpSpPr/>
        <p:nvPr/>
      </p:nvGrpSpPr>
      <p:grpSpPr>
        <a:xfrm>
          <a:off x="0" y="0"/>
          <a:ext cx="0" cy="0"/>
          <a:chOff x="0" y="0"/>
          <a:chExt cx="0" cy="0"/>
        </a:xfrm>
      </p:grpSpPr>
      <p:sp>
        <p:nvSpPr>
          <p:cNvPr id="2" name="Title "/>
          <p:cNvSpPr>
            <a:spLocks noGrp="1"/>
          </p:cNvSpPr>
          <p:nvPr>
            <p:ph type="title" hasCustomPrompt="1"/>
          </p:nvPr>
        </p:nvSpPr>
        <p:spPr>
          <a:xfrm>
            <a:off x="304800" y="762001"/>
            <a:ext cx="8534400" cy="99060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Section or Topic Heading</a:t>
            </a:r>
          </a:p>
        </p:txBody>
      </p:sp>
      <p:sp>
        <p:nvSpPr>
          <p:cNvPr id="6" name="Content Placeholder"/>
          <p:cNvSpPr>
            <a:spLocks noGrp="1"/>
          </p:cNvSpPr>
          <p:nvPr>
            <p:ph sz="quarter" idx="16"/>
          </p:nvPr>
        </p:nvSpPr>
        <p:spPr>
          <a:xfrm>
            <a:off x="304800" y="1828800"/>
            <a:ext cx="8534400" cy="9144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7" name="Content Placeholder"/>
          <p:cNvSpPr>
            <a:spLocks noGrp="1"/>
          </p:cNvSpPr>
          <p:nvPr>
            <p:ph sz="quarter" idx="17"/>
          </p:nvPr>
        </p:nvSpPr>
        <p:spPr>
          <a:xfrm>
            <a:off x="304800" y="3046942"/>
            <a:ext cx="8534400" cy="9906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8" name="Content Placeholder"/>
          <p:cNvSpPr>
            <a:spLocks noGrp="1"/>
          </p:cNvSpPr>
          <p:nvPr>
            <p:ph sz="quarter" idx="18"/>
          </p:nvPr>
        </p:nvSpPr>
        <p:spPr>
          <a:xfrm>
            <a:off x="313267" y="4341284"/>
            <a:ext cx="8534400" cy="9906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3" name="Slide Number Placeholder"/>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126599563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_Section">
    <p:spTree>
      <p:nvGrpSpPr>
        <p:cNvPr id="1" name=""/>
        <p:cNvGrpSpPr/>
        <p:nvPr/>
      </p:nvGrpSpPr>
      <p:grpSpPr>
        <a:xfrm>
          <a:off x="0" y="0"/>
          <a:ext cx="0" cy="0"/>
          <a:chOff x="0" y="0"/>
          <a:chExt cx="0" cy="0"/>
        </a:xfrm>
      </p:grpSpPr>
      <p:sp>
        <p:nvSpPr>
          <p:cNvPr id="2" name="Title "/>
          <p:cNvSpPr>
            <a:spLocks noGrp="1"/>
          </p:cNvSpPr>
          <p:nvPr>
            <p:ph type="title" hasCustomPrompt="1"/>
          </p:nvPr>
        </p:nvSpPr>
        <p:spPr>
          <a:xfrm>
            <a:off x="304800" y="762001"/>
            <a:ext cx="8534400" cy="99060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Section or Topic Heading</a:t>
            </a:r>
          </a:p>
        </p:txBody>
      </p:sp>
      <p:sp>
        <p:nvSpPr>
          <p:cNvPr id="6" name="Content Placeholder"/>
          <p:cNvSpPr>
            <a:spLocks noGrp="1"/>
          </p:cNvSpPr>
          <p:nvPr>
            <p:ph sz="quarter" idx="16"/>
          </p:nvPr>
        </p:nvSpPr>
        <p:spPr>
          <a:xfrm>
            <a:off x="304800" y="1828800"/>
            <a:ext cx="8534400" cy="9144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7" name="Content Placeholder"/>
          <p:cNvSpPr>
            <a:spLocks noGrp="1"/>
          </p:cNvSpPr>
          <p:nvPr>
            <p:ph sz="quarter" idx="17"/>
          </p:nvPr>
        </p:nvSpPr>
        <p:spPr>
          <a:xfrm>
            <a:off x="304800" y="3046942"/>
            <a:ext cx="8534400" cy="9906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8" name="Content Placeholder"/>
          <p:cNvSpPr>
            <a:spLocks noGrp="1"/>
          </p:cNvSpPr>
          <p:nvPr>
            <p:ph sz="quarter" idx="18"/>
          </p:nvPr>
        </p:nvSpPr>
        <p:spPr>
          <a:xfrm>
            <a:off x="313267" y="4038600"/>
            <a:ext cx="8534400" cy="6096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9" name="Content Placeholder"/>
          <p:cNvSpPr>
            <a:spLocks noGrp="1"/>
          </p:cNvSpPr>
          <p:nvPr>
            <p:ph sz="quarter" idx="19"/>
          </p:nvPr>
        </p:nvSpPr>
        <p:spPr>
          <a:xfrm>
            <a:off x="304800" y="4800600"/>
            <a:ext cx="8534400" cy="574674"/>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10" name="Content Placeholder"/>
          <p:cNvSpPr>
            <a:spLocks noGrp="1"/>
          </p:cNvSpPr>
          <p:nvPr>
            <p:ph sz="quarter" idx="20"/>
          </p:nvPr>
        </p:nvSpPr>
        <p:spPr>
          <a:xfrm>
            <a:off x="304800" y="5527674"/>
            <a:ext cx="8534400" cy="574674"/>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3" name="Slide Number Placeholder"/>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211968598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3_Section">
    <p:spTree>
      <p:nvGrpSpPr>
        <p:cNvPr id="1" name=""/>
        <p:cNvGrpSpPr/>
        <p:nvPr/>
      </p:nvGrpSpPr>
      <p:grpSpPr>
        <a:xfrm>
          <a:off x="0" y="0"/>
          <a:ext cx="0" cy="0"/>
          <a:chOff x="0" y="0"/>
          <a:chExt cx="0" cy="0"/>
        </a:xfrm>
      </p:grpSpPr>
      <p:sp>
        <p:nvSpPr>
          <p:cNvPr id="2" name="Title "/>
          <p:cNvSpPr>
            <a:spLocks noGrp="1"/>
          </p:cNvSpPr>
          <p:nvPr>
            <p:ph type="title" hasCustomPrompt="1"/>
          </p:nvPr>
        </p:nvSpPr>
        <p:spPr>
          <a:xfrm>
            <a:off x="304800" y="762001"/>
            <a:ext cx="8534400" cy="99060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Section or Topic Heading</a:t>
            </a:r>
          </a:p>
        </p:txBody>
      </p:sp>
      <p:sp>
        <p:nvSpPr>
          <p:cNvPr id="6" name="Content Placeholder"/>
          <p:cNvSpPr>
            <a:spLocks noGrp="1"/>
          </p:cNvSpPr>
          <p:nvPr>
            <p:ph sz="quarter" idx="16"/>
          </p:nvPr>
        </p:nvSpPr>
        <p:spPr>
          <a:xfrm>
            <a:off x="304800" y="1830998"/>
            <a:ext cx="8534400" cy="507997"/>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7" name="Content Placeholder"/>
          <p:cNvSpPr>
            <a:spLocks noGrp="1"/>
          </p:cNvSpPr>
          <p:nvPr>
            <p:ph sz="quarter" idx="17"/>
          </p:nvPr>
        </p:nvSpPr>
        <p:spPr>
          <a:xfrm>
            <a:off x="304800" y="2438400"/>
            <a:ext cx="8534400" cy="610658"/>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8" name="Content Placeholder"/>
          <p:cNvSpPr>
            <a:spLocks noGrp="1"/>
          </p:cNvSpPr>
          <p:nvPr>
            <p:ph sz="quarter" idx="18"/>
          </p:nvPr>
        </p:nvSpPr>
        <p:spPr>
          <a:xfrm>
            <a:off x="313267" y="3200400"/>
            <a:ext cx="8534400" cy="6096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9" name="Content Placeholder"/>
          <p:cNvSpPr>
            <a:spLocks noGrp="1"/>
          </p:cNvSpPr>
          <p:nvPr>
            <p:ph sz="quarter" idx="19"/>
          </p:nvPr>
        </p:nvSpPr>
        <p:spPr>
          <a:xfrm>
            <a:off x="304800" y="3962400"/>
            <a:ext cx="8534400" cy="574674"/>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10" name="Content Placeholder"/>
          <p:cNvSpPr>
            <a:spLocks noGrp="1"/>
          </p:cNvSpPr>
          <p:nvPr>
            <p:ph sz="quarter" idx="20"/>
          </p:nvPr>
        </p:nvSpPr>
        <p:spPr>
          <a:xfrm>
            <a:off x="304800" y="4689474"/>
            <a:ext cx="8534400" cy="574674"/>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11" name="Content Placeholder"/>
          <p:cNvSpPr>
            <a:spLocks noGrp="1"/>
          </p:cNvSpPr>
          <p:nvPr>
            <p:ph sz="quarter" idx="21"/>
          </p:nvPr>
        </p:nvSpPr>
        <p:spPr>
          <a:xfrm>
            <a:off x="313267" y="5334000"/>
            <a:ext cx="8534400" cy="4572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12" name="Content Placeholder"/>
          <p:cNvSpPr>
            <a:spLocks noGrp="1"/>
          </p:cNvSpPr>
          <p:nvPr>
            <p:ph sz="quarter" idx="22"/>
          </p:nvPr>
        </p:nvSpPr>
        <p:spPr>
          <a:xfrm>
            <a:off x="313267" y="5811308"/>
            <a:ext cx="8534400" cy="4572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3" name="Slide Number Placeholder"/>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89888198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4_Section">
    <p:spTree>
      <p:nvGrpSpPr>
        <p:cNvPr id="1" name=""/>
        <p:cNvGrpSpPr/>
        <p:nvPr/>
      </p:nvGrpSpPr>
      <p:grpSpPr>
        <a:xfrm>
          <a:off x="0" y="0"/>
          <a:ext cx="0" cy="0"/>
          <a:chOff x="0" y="0"/>
          <a:chExt cx="0" cy="0"/>
        </a:xfrm>
      </p:grpSpPr>
      <p:sp>
        <p:nvSpPr>
          <p:cNvPr id="2" name="Title "/>
          <p:cNvSpPr>
            <a:spLocks noGrp="1"/>
          </p:cNvSpPr>
          <p:nvPr>
            <p:ph type="title" hasCustomPrompt="1"/>
          </p:nvPr>
        </p:nvSpPr>
        <p:spPr>
          <a:xfrm>
            <a:off x="304800" y="762001"/>
            <a:ext cx="8534400" cy="99060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Section or Topic Heading</a:t>
            </a:r>
          </a:p>
        </p:txBody>
      </p:sp>
      <p:sp>
        <p:nvSpPr>
          <p:cNvPr id="6" name="Content Placeholder"/>
          <p:cNvSpPr>
            <a:spLocks noGrp="1"/>
          </p:cNvSpPr>
          <p:nvPr>
            <p:ph sz="quarter" idx="16"/>
          </p:nvPr>
        </p:nvSpPr>
        <p:spPr>
          <a:xfrm>
            <a:off x="304800" y="1831896"/>
            <a:ext cx="8534400" cy="490008"/>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7" name="Content Placeholder"/>
          <p:cNvSpPr>
            <a:spLocks noGrp="1"/>
          </p:cNvSpPr>
          <p:nvPr>
            <p:ph sz="quarter" idx="17"/>
          </p:nvPr>
        </p:nvSpPr>
        <p:spPr>
          <a:xfrm>
            <a:off x="304800" y="2438400"/>
            <a:ext cx="8534400" cy="610658"/>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8" name="Content Placeholder"/>
          <p:cNvSpPr>
            <a:spLocks noGrp="1"/>
          </p:cNvSpPr>
          <p:nvPr>
            <p:ph sz="quarter" idx="18"/>
          </p:nvPr>
        </p:nvSpPr>
        <p:spPr>
          <a:xfrm>
            <a:off x="313267" y="3200400"/>
            <a:ext cx="8534400" cy="6096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9" name="Content Placeholder"/>
          <p:cNvSpPr>
            <a:spLocks noGrp="1"/>
          </p:cNvSpPr>
          <p:nvPr>
            <p:ph sz="quarter" idx="19"/>
          </p:nvPr>
        </p:nvSpPr>
        <p:spPr>
          <a:xfrm>
            <a:off x="304800" y="3962400"/>
            <a:ext cx="8534400" cy="574674"/>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10" name="Content Placeholder"/>
          <p:cNvSpPr>
            <a:spLocks noGrp="1"/>
          </p:cNvSpPr>
          <p:nvPr>
            <p:ph sz="quarter" idx="20"/>
          </p:nvPr>
        </p:nvSpPr>
        <p:spPr>
          <a:xfrm>
            <a:off x="304800" y="4689474"/>
            <a:ext cx="2724150" cy="574674"/>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11" name="Content Placeholder"/>
          <p:cNvSpPr>
            <a:spLocks noGrp="1"/>
          </p:cNvSpPr>
          <p:nvPr>
            <p:ph sz="quarter" idx="21"/>
          </p:nvPr>
        </p:nvSpPr>
        <p:spPr>
          <a:xfrm>
            <a:off x="313267" y="5334000"/>
            <a:ext cx="2724150" cy="4572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12" name="Content Placeholder"/>
          <p:cNvSpPr>
            <a:spLocks noGrp="1"/>
          </p:cNvSpPr>
          <p:nvPr>
            <p:ph sz="quarter" idx="22"/>
          </p:nvPr>
        </p:nvSpPr>
        <p:spPr>
          <a:xfrm>
            <a:off x="313267" y="5811308"/>
            <a:ext cx="2724150" cy="4572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13" name="Content Placeholder"/>
          <p:cNvSpPr>
            <a:spLocks noGrp="1"/>
          </p:cNvSpPr>
          <p:nvPr>
            <p:ph sz="quarter" idx="23"/>
          </p:nvPr>
        </p:nvSpPr>
        <p:spPr>
          <a:xfrm>
            <a:off x="3276600" y="4689474"/>
            <a:ext cx="2724150" cy="574674"/>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14" name="Content Placeholder"/>
          <p:cNvSpPr>
            <a:spLocks noGrp="1"/>
          </p:cNvSpPr>
          <p:nvPr>
            <p:ph sz="quarter" idx="24"/>
          </p:nvPr>
        </p:nvSpPr>
        <p:spPr>
          <a:xfrm>
            <a:off x="3285067" y="5334000"/>
            <a:ext cx="2724150" cy="4572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15" name="Content Placeholder"/>
          <p:cNvSpPr>
            <a:spLocks noGrp="1"/>
          </p:cNvSpPr>
          <p:nvPr>
            <p:ph sz="quarter" idx="25"/>
          </p:nvPr>
        </p:nvSpPr>
        <p:spPr>
          <a:xfrm>
            <a:off x="3285067" y="5811308"/>
            <a:ext cx="2724150" cy="4572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16" name="Content Placeholder"/>
          <p:cNvSpPr>
            <a:spLocks noGrp="1"/>
          </p:cNvSpPr>
          <p:nvPr>
            <p:ph sz="quarter" idx="26"/>
          </p:nvPr>
        </p:nvSpPr>
        <p:spPr>
          <a:xfrm>
            <a:off x="6123517" y="4689475"/>
            <a:ext cx="2724150" cy="574674"/>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17" name="Content Placeholder"/>
          <p:cNvSpPr>
            <a:spLocks noGrp="1"/>
          </p:cNvSpPr>
          <p:nvPr>
            <p:ph sz="quarter" idx="27"/>
          </p:nvPr>
        </p:nvSpPr>
        <p:spPr>
          <a:xfrm>
            <a:off x="6131984" y="5334001"/>
            <a:ext cx="2724150" cy="4572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18" name="Content Placeholder"/>
          <p:cNvSpPr>
            <a:spLocks noGrp="1"/>
          </p:cNvSpPr>
          <p:nvPr>
            <p:ph sz="quarter" idx="28"/>
          </p:nvPr>
        </p:nvSpPr>
        <p:spPr>
          <a:xfrm>
            <a:off x="6131984" y="5811309"/>
            <a:ext cx="2724150" cy="4572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3" name="Slide Number Placeholder"/>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243286525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5" name="Title "/>
          <p:cNvSpPr>
            <a:spLocks noGrp="1"/>
          </p:cNvSpPr>
          <p:nvPr>
            <p:ph type="title" hasCustomPrompt="1"/>
          </p:nvPr>
        </p:nvSpPr>
        <p:spPr>
          <a:xfrm>
            <a:off x="304800" y="762001"/>
            <a:ext cx="8534400" cy="99060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Section or Topic Heading</a:t>
            </a:r>
          </a:p>
        </p:txBody>
      </p:sp>
      <p:sp>
        <p:nvSpPr>
          <p:cNvPr id="6" name="Content Placeholder 1"/>
          <p:cNvSpPr>
            <a:spLocks noGrp="1"/>
          </p:cNvSpPr>
          <p:nvPr>
            <p:ph sz="quarter" idx="16"/>
          </p:nvPr>
        </p:nvSpPr>
        <p:spPr>
          <a:xfrm>
            <a:off x="304800" y="1828800"/>
            <a:ext cx="4114800" cy="43434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7" name="Content Placeholder 2"/>
          <p:cNvSpPr>
            <a:spLocks noGrp="1"/>
          </p:cNvSpPr>
          <p:nvPr>
            <p:ph sz="quarter" idx="17"/>
          </p:nvPr>
        </p:nvSpPr>
        <p:spPr>
          <a:xfrm>
            <a:off x="4724400" y="1828800"/>
            <a:ext cx="4114800" cy="43434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3" name="Slide Number Placeholder "/>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126476041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5" name="Title "/>
          <p:cNvSpPr>
            <a:spLocks noGrp="1"/>
          </p:cNvSpPr>
          <p:nvPr>
            <p:ph type="title" hasCustomPrompt="1"/>
          </p:nvPr>
        </p:nvSpPr>
        <p:spPr>
          <a:xfrm>
            <a:off x="304800" y="762001"/>
            <a:ext cx="8534400" cy="99060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Section or Topic Heading</a:t>
            </a:r>
          </a:p>
        </p:txBody>
      </p:sp>
      <p:sp>
        <p:nvSpPr>
          <p:cNvPr id="6" name="Content Placeholder 1"/>
          <p:cNvSpPr>
            <a:spLocks noGrp="1"/>
          </p:cNvSpPr>
          <p:nvPr>
            <p:ph sz="quarter" idx="16"/>
          </p:nvPr>
        </p:nvSpPr>
        <p:spPr>
          <a:xfrm>
            <a:off x="304800" y="1828800"/>
            <a:ext cx="4114800" cy="27432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7" name="Content Placeholder 2"/>
          <p:cNvSpPr>
            <a:spLocks noGrp="1"/>
          </p:cNvSpPr>
          <p:nvPr>
            <p:ph sz="quarter" idx="17"/>
          </p:nvPr>
        </p:nvSpPr>
        <p:spPr>
          <a:xfrm>
            <a:off x="4724400" y="1828800"/>
            <a:ext cx="4114800" cy="27432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9" name="Content Placeholder 8"/>
          <p:cNvSpPr>
            <a:spLocks noGrp="1"/>
          </p:cNvSpPr>
          <p:nvPr>
            <p:ph sz="quarter" idx="18"/>
          </p:nvPr>
        </p:nvSpPr>
        <p:spPr>
          <a:xfrm>
            <a:off x="2286000" y="4724400"/>
            <a:ext cx="4572000" cy="1489075"/>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61329841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5" name="Title "/>
          <p:cNvSpPr>
            <a:spLocks noGrp="1"/>
          </p:cNvSpPr>
          <p:nvPr>
            <p:ph type="title" hasCustomPrompt="1"/>
          </p:nvPr>
        </p:nvSpPr>
        <p:spPr>
          <a:xfrm>
            <a:off x="304800" y="762001"/>
            <a:ext cx="8534400" cy="99060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Section or Topic Heading</a:t>
            </a:r>
          </a:p>
        </p:txBody>
      </p:sp>
      <p:sp>
        <p:nvSpPr>
          <p:cNvPr id="6" name="Content Placeholder 1"/>
          <p:cNvSpPr>
            <a:spLocks noGrp="1"/>
          </p:cNvSpPr>
          <p:nvPr>
            <p:ph sz="quarter" idx="16"/>
          </p:nvPr>
        </p:nvSpPr>
        <p:spPr>
          <a:xfrm>
            <a:off x="304800" y="1828800"/>
            <a:ext cx="4267200" cy="365125"/>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7" name="Content Placeholder 2"/>
          <p:cNvSpPr>
            <a:spLocks noGrp="1"/>
          </p:cNvSpPr>
          <p:nvPr>
            <p:ph sz="quarter" idx="17"/>
          </p:nvPr>
        </p:nvSpPr>
        <p:spPr>
          <a:xfrm>
            <a:off x="4724400" y="1828800"/>
            <a:ext cx="4114800" cy="365125"/>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8" name="Content Placeholder 7">
            <a:extLst>
              <a:ext uri="{FF2B5EF4-FFF2-40B4-BE49-F238E27FC236}">
                <a16:creationId xmlns:a16="http://schemas.microsoft.com/office/drawing/2014/main" id="{D6C02995-1E5E-48F3-90EA-30A67DD6E930}"/>
              </a:ext>
            </a:extLst>
          </p:cNvPr>
          <p:cNvSpPr>
            <a:spLocks noGrp="1"/>
          </p:cNvSpPr>
          <p:nvPr>
            <p:ph sz="quarter" idx="18"/>
          </p:nvPr>
        </p:nvSpPr>
        <p:spPr>
          <a:xfrm>
            <a:off x="304800" y="2228109"/>
            <a:ext cx="4267200" cy="365125"/>
          </a:xfrm>
          <a:prstGeom prst="rect">
            <a:avLst/>
          </a:prstGeom>
        </p:spPr>
        <p:txBody>
          <a:bodyPr/>
          <a:lstStyle>
            <a:lvl1pPr marL="0" indent="0">
              <a:buNone/>
              <a:defRPr/>
            </a:lvl1pPr>
          </a:lstStyle>
          <a:p>
            <a:pPr lvl="0"/>
            <a:endParaRPr lang="en-US" dirty="0"/>
          </a:p>
        </p:txBody>
      </p:sp>
      <p:sp>
        <p:nvSpPr>
          <p:cNvPr id="10" name="Content Placeholder 9">
            <a:extLst>
              <a:ext uri="{FF2B5EF4-FFF2-40B4-BE49-F238E27FC236}">
                <a16:creationId xmlns:a16="http://schemas.microsoft.com/office/drawing/2014/main" id="{A97483CB-9142-40B0-AC19-8745028A19E9}"/>
              </a:ext>
            </a:extLst>
          </p:cNvPr>
          <p:cNvSpPr>
            <a:spLocks noGrp="1"/>
          </p:cNvSpPr>
          <p:nvPr>
            <p:ph sz="quarter" idx="19"/>
          </p:nvPr>
        </p:nvSpPr>
        <p:spPr>
          <a:xfrm>
            <a:off x="4724400" y="2228850"/>
            <a:ext cx="4114800" cy="365125"/>
          </a:xfrm>
          <a:prstGeom prst="rect">
            <a:avLst/>
          </a:prstGeom>
        </p:spPr>
        <p:txBody>
          <a:bodyPr/>
          <a:lstStyle>
            <a:lvl1pPr marL="0" indent="0">
              <a:buNone/>
              <a:defRPr/>
            </a:lvl1pPr>
          </a:lstStyle>
          <a:p>
            <a:pPr lvl="0"/>
            <a:endParaRPr lang="en-US" dirty="0"/>
          </a:p>
        </p:txBody>
      </p:sp>
      <p:sp>
        <p:nvSpPr>
          <p:cNvPr id="12" name="Content Placeholder 11">
            <a:extLst>
              <a:ext uri="{FF2B5EF4-FFF2-40B4-BE49-F238E27FC236}">
                <a16:creationId xmlns:a16="http://schemas.microsoft.com/office/drawing/2014/main" id="{697EDCB5-8A43-4F4F-81C5-8AA3A49E8940}"/>
              </a:ext>
            </a:extLst>
          </p:cNvPr>
          <p:cNvSpPr>
            <a:spLocks noGrp="1"/>
          </p:cNvSpPr>
          <p:nvPr>
            <p:ph sz="quarter" idx="20"/>
          </p:nvPr>
        </p:nvSpPr>
        <p:spPr>
          <a:xfrm>
            <a:off x="304800" y="2667000"/>
            <a:ext cx="4267200" cy="365125"/>
          </a:xfrm>
          <a:prstGeom prst="rect">
            <a:avLst/>
          </a:prstGeom>
        </p:spPr>
        <p:txBody>
          <a:bodyPr/>
          <a:lstStyle>
            <a:lvl1pPr marL="0" indent="0">
              <a:buNone/>
              <a:defRPr/>
            </a:lvl1pPr>
          </a:lstStyle>
          <a:p>
            <a:pPr lvl="0"/>
            <a:endParaRPr lang="en-US" dirty="0"/>
          </a:p>
        </p:txBody>
      </p:sp>
      <p:sp>
        <p:nvSpPr>
          <p:cNvPr id="14" name="Content Placeholder 13">
            <a:extLst>
              <a:ext uri="{FF2B5EF4-FFF2-40B4-BE49-F238E27FC236}">
                <a16:creationId xmlns:a16="http://schemas.microsoft.com/office/drawing/2014/main" id="{7FEA43A7-2626-4401-B078-5122780BC0F8}"/>
              </a:ext>
            </a:extLst>
          </p:cNvPr>
          <p:cNvSpPr>
            <a:spLocks noGrp="1"/>
          </p:cNvSpPr>
          <p:nvPr>
            <p:ph sz="quarter" idx="21"/>
          </p:nvPr>
        </p:nvSpPr>
        <p:spPr>
          <a:xfrm>
            <a:off x="4724400" y="2667000"/>
            <a:ext cx="4114800" cy="365125"/>
          </a:xfrm>
          <a:prstGeom prst="rect">
            <a:avLst/>
          </a:prstGeom>
        </p:spPr>
        <p:txBody>
          <a:bodyPr/>
          <a:lstStyle>
            <a:lvl1pPr marL="0" indent="0">
              <a:buNone/>
              <a:defRPr/>
            </a:lvl1pPr>
          </a:lstStyle>
          <a:p>
            <a:pPr lvl="0"/>
            <a:endParaRPr lang="en-US" dirty="0"/>
          </a:p>
        </p:txBody>
      </p:sp>
      <p:sp>
        <p:nvSpPr>
          <p:cNvPr id="16" name="Content Placeholder 15">
            <a:extLst>
              <a:ext uri="{FF2B5EF4-FFF2-40B4-BE49-F238E27FC236}">
                <a16:creationId xmlns:a16="http://schemas.microsoft.com/office/drawing/2014/main" id="{FEED7A6C-A1D8-4D89-9C0C-B1C824C59692}"/>
              </a:ext>
            </a:extLst>
          </p:cNvPr>
          <p:cNvSpPr>
            <a:spLocks noGrp="1"/>
          </p:cNvSpPr>
          <p:nvPr>
            <p:ph sz="quarter" idx="22"/>
          </p:nvPr>
        </p:nvSpPr>
        <p:spPr>
          <a:xfrm>
            <a:off x="304800" y="3124200"/>
            <a:ext cx="4267200" cy="365125"/>
          </a:xfrm>
          <a:prstGeom prst="rect">
            <a:avLst/>
          </a:prstGeom>
        </p:spPr>
        <p:txBody>
          <a:bodyPr/>
          <a:lstStyle>
            <a:lvl1pPr marL="0" indent="0">
              <a:buNone/>
              <a:defRPr/>
            </a:lvl1pPr>
          </a:lstStyle>
          <a:p>
            <a:pPr lvl="0"/>
            <a:endParaRPr lang="en-US" dirty="0"/>
          </a:p>
        </p:txBody>
      </p:sp>
      <p:sp>
        <p:nvSpPr>
          <p:cNvPr id="18" name="Content Placeholder 17">
            <a:extLst>
              <a:ext uri="{FF2B5EF4-FFF2-40B4-BE49-F238E27FC236}">
                <a16:creationId xmlns:a16="http://schemas.microsoft.com/office/drawing/2014/main" id="{543D2732-3A9F-406C-98CA-6DF1647EC031}"/>
              </a:ext>
            </a:extLst>
          </p:cNvPr>
          <p:cNvSpPr>
            <a:spLocks noGrp="1"/>
          </p:cNvSpPr>
          <p:nvPr>
            <p:ph sz="quarter" idx="23"/>
          </p:nvPr>
        </p:nvSpPr>
        <p:spPr>
          <a:xfrm>
            <a:off x="4724400" y="3124200"/>
            <a:ext cx="4114800" cy="365125"/>
          </a:xfrm>
          <a:prstGeom prst="rect">
            <a:avLst/>
          </a:prstGeom>
        </p:spPr>
        <p:txBody>
          <a:bodyPr/>
          <a:lstStyle>
            <a:lvl1pPr marL="0" indent="0">
              <a:buNone/>
              <a:defRPr/>
            </a:lvl1pPr>
          </a:lstStyle>
          <a:p>
            <a:pPr lvl="0"/>
            <a:endParaRPr lang="en-US" dirty="0"/>
          </a:p>
        </p:txBody>
      </p:sp>
      <p:sp>
        <p:nvSpPr>
          <p:cNvPr id="20" name="Content Placeholder 19">
            <a:extLst>
              <a:ext uri="{FF2B5EF4-FFF2-40B4-BE49-F238E27FC236}">
                <a16:creationId xmlns:a16="http://schemas.microsoft.com/office/drawing/2014/main" id="{F01F2447-776E-45D7-8D0A-E79277C539EF}"/>
              </a:ext>
            </a:extLst>
          </p:cNvPr>
          <p:cNvSpPr>
            <a:spLocks noGrp="1"/>
          </p:cNvSpPr>
          <p:nvPr>
            <p:ph sz="quarter" idx="24"/>
          </p:nvPr>
        </p:nvSpPr>
        <p:spPr>
          <a:xfrm>
            <a:off x="304800" y="3581400"/>
            <a:ext cx="4267200" cy="457200"/>
          </a:xfrm>
          <a:prstGeom prst="rect">
            <a:avLst/>
          </a:prstGeom>
        </p:spPr>
        <p:txBody>
          <a:bodyPr/>
          <a:lstStyle>
            <a:lvl1pPr marL="0" indent="0">
              <a:buNone/>
              <a:defRPr/>
            </a:lvl1pPr>
          </a:lstStyle>
          <a:p>
            <a:pPr lvl="0"/>
            <a:endParaRPr lang="en-US" dirty="0"/>
          </a:p>
        </p:txBody>
      </p:sp>
      <p:sp>
        <p:nvSpPr>
          <p:cNvPr id="22" name="Content Placeholder 21">
            <a:extLst>
              <a:ext uri="{FF2B5EF4-FFF2-40B4-BE49-F238E27FC236}">
                <a16:creationId xmlns:a16="http://schemas.microsoft.com/office/drawing/2014/main" id="{9CA587B7-AF27-4DA0-BF89-AEBB9D0B0C6A}"/>
              </a:ext>
            </a:extLst>
          </p:cNvPr>
          <p:cNvSpPr>
            <a:spLocks noGrp="1"/>
          </p:cNvSpPr>
          <p:nvPr>
            <p:ph sz="quarter" idx="25"/>
          </p:nvPr>
        </p:nvSpPr>
        <p:spPr>
          <a:xfrm>
            <a:off x="4724400" y="3581400"/>
            <a:ext cx="4114800" cy="457200"/>
          </a:xfrm>
          <a:prstGeom prst="rect">
            <a:avLst/>
          </a:prstGeom>
        </p:spPr>
        <p:txBody>
          <a:bodyPr/>
          <a:lstStyle>
            <a:lvl1pPr marL="0" indent="0">
              <a:buNone/>
              <a:defRPr/>
            </a:lvl1pPr>
          </a:lstStyle>
          <a:p>
            <a:pPr lvl="0"/>
            <a:endParaRPr lang="en-US" dirty="0"/>
          </a:p>
        </p:txBody>
      </p:sp>
      <p:sp>
        <p:nvSpPr>
          <p:cNvPr id="24" name="Content Placeholder 23">
            <a:extLst>
              <a:ext uri="{FF2B5EF4-FFF2-40B4-BE49-F238E27FC236}">
                <a16:creationId xmlns:a16="http://schemas.microsoft.com/office/drawing/2014/main" id="{B8C06814-D6BE-49EB-91F9-65609ABBCE93}"/>
              </a:ext>
            </a:extLst>
          </p:cNvPr>
          <p:cNvSpPr>
            <a:spLocks noGrp="1"/>
          </p:cNvSpPr>
          <p:nvPr>
            <p:ph sz="quarter" idx="26"/>
          </p:nvPr>
        </p:nvSpPr>
        <p:spPr>
          <a:xfrm>
            <a:off x="304800" y="4114800"/>
            <a:ext cx="4267200" cy="396875"/>
          </a:xfrm>
          <a:prstGeom prst="rect">
            <a:avLst/>
          </a:prstGeom>
        </p:spPr>
        <p:txBody>
          <a:bodyPr/>
          <a:lstStyle>
            <a:lvl1pPr marL="0" indent="0">
              <a:buNone/>
              <a:defRPr/>
            </a:lvl1pPr>
          </a:lstStyle>
          <a:p>
            <a:pPr lvl="0"/>
            <a:endParaRPr lang="en-US" dirty="0"/>
          </a:p>
        </p:txBody>
      </p:sp>
      <p:sp>
        <p:nvSpPr>
          <p:cNvPr id="26" name="Content Placeholder 25">
            <a:extLst>
              <a:ext uri="{FF2B5EF4-FFF2-40B4-BE49-F238E27FC236}">
                <a16:creationId xmlns:a16="http://schemas.microsoft.com/office/drawing/2014/main" id="{C30DE4D4-57AC-4CD5-B7CD-5EC4216BC72F}"/>
              </a:ext>
            </a:extLst>
          </p:cNvPr>
          <p:cNvSpPr>
            <a:spLocks noGrp="1"/>
          </p:cNvSpPr>
          <p:nvPr>
            <p:ph sz="quarter" idx="27"/>
          </p:nvPr>
        </p:nvSpPr>
        <p:spPr>
          <a:xfrm>
            <a:off x="4724400" y="4114800"/>
            <a:ext cx="4114800" cy="396875"/>
          </a:xfrm>
          <a:prstGeom prst="rect">
            <a:avLst/>
          </a:prstGeom>
        </p:spPr>
        <p:txBody>
          <a:bodyPr/>
          <a:lstStyle>
            <a:lvl1pPr marL="0" indent="0">
              <a:buNone/>
              <a:defRPr/>
            </a:lvl1pPr>
          </a:lstStyle>
          <a:p>
            <a:pPr lvl="0"/>
            <a:endParaRPr lang="en-US" dirty="0"/>
          </a:p>
        </p:txBody>
      </p:sp>
      <p:sp>
        <p:nvSpPr>
          <p:cNvPr id="28" name="Content Placeholder 27">
            <a:extLst>
              <a:ext uri="{FF2B5EF4-FFF2-40B4-BE49-F238E27FC236}">
                <a16:creationId xmlns:a16="http://schemas.microsoft.com/office/drawing/2014/main" id="{E7B81DE7-2CFB-4EF3-B694-A5E0B2622CF2}"/>
              </a:ext>
            </a:extLst>
          </p:cNvPr>
          <p:cNvSpPr>
            <a:spLocks noGrp="1"/>
          </p:cNvSpPr>
          <p:nvPr>
            <p:ph sz="quarter" idx="28"/>
          </p:nvPr>
        </p:nvSpPr>
        <p:spPr>
          <a:xfrm>
            <a:off x="304800" y="4572000"/>
            <a:ext cx="4267200" cy="304800"/>
          </a:xfrm>
          <a:prstGeom prst="rect">
            <a:avLst/>
          </a:prstGeom>
        </p:spPr>
        <p:txBody>
          <a:bodyPr/>
          <a:lstStyle>
            <a:lvl1pPr marL="0" indent="0">
              <a:buNone/>
              <a:defRPr/>
            </a:lvl1pPr>
          </a:lstStyle>
          <a:p>
            <a:pPr lvl="0"/>
            <a:endParaRPr lang="en-US" dirty="0"/>
          </a:p>
        </p:txBody>
      </p:sp>
      <p:sp>
        <p:nvSpPr>
          <p:cNvPr id="30" name="Content Placeholder 29">
            <a:extLst>
              <a:ext uri="{FF2B5EF4-FFF2-40B4-BE49-F238E27FC236}">
                <a16:creationId xmlns:a16="http://schemas.microsoft.com/office/drawing/2014/main" id="{00FAAFD7-3BF8-4817-B2E7-F4BF8BC460E2}"/>
              </a:ext>
            </a:extLst>
          </p:cNvPr>
          <p:cNvSpPr>
            <a:spLocks noGrp="1"/>
          </p:cNvSpPr>
          <p:nvPr>
            <p:ph sz="quarter" idx="29"/>
          </p:nvPr>
        </p:nvSpPr>
        <p:spPr>
          <a:xfrm>
            <a:off x="4724400" y="4572001"/>
            <a:ext cx="4114800" cy="304799"/>
          </a:xfrm>
          <a:prstGeom prst="rect">
            <a:avLst/>
          </a:prstGeom>
        </p:spPr>
        <p:txBody>
          <a:bodyPr/>
          <a:lstStyle>
            <a:lvl1pPr marL="0" indent="0">
              <a:buNone/>
              <a:defRPr/>
            </a:lvl1pPr>
          </a:lstStyle>
          <a:p>
            <a:pPr lvl="0"/>
            <a:endParaRPr lang="en-US" dirty="0"/>
          </a:p>
        </p:txBody>
      </p:sp>
      <p:sp>
        <p:nvSpPr>
          <p:cNvPr id="32" name="Content Placeholder 31">
            <a:extLst>
              <a:ext uri="{FF2B5EF4-FFF2-40B4-BE49-F238E27FC236}">
                <a16:creationId xmlns:a16="http://schemas.microsoft.com/office/drawing/2014/main" id="{E0D49398-7F51-4317-B17A-DBCFC82109F7}"/>
              </a:ext>
            </a:extLst>
          </p:cNvPr>
          <p:cNvSpPr>
            <a:spLocks noGrp="1"/>
          </p:cNvSpPr>
          <p:nvPr>
            <p:ph sz="quarter" idx="30"/>
          </p:nvPr>
        </p:nvSpPr>
        <p:spPr>
          <a:xfrm>
            <a:off x="304800" y="4953001"/>
            <a:ext cx="4267200" cy="381000"/>
          </a:xfrm>
          <a:prstGeom prst="rect">
            <a:avLst/>
          </a:prstGeom>
        </p:spPr>
        <p:txBody>
          <a:bodyPr/>
          <a:lstStyle>
            <a:lvl1pPr marL="0" indent="0">
              <a:buNone/>
              <a:defRPr/>
            </a:lvl1pPr>
          </a:lstStyle>
          <a:p>
            <a:pPr lvl="0"/>
            <a:endParaRPr lang="en-US" dirty="0"/>
          </a:p>
        </p:txBody>
      </p:sp>
      <p:sp>
        <p:nvSpPr>
          <p:cNvPr id="34" name="Content Placeholder 33">
            <a:extLst>
              <a:ext uri="{FF2B5EF4-FFF2-40B4-BE49-F238E27FC236}">
                <a16:creationId xmlns:a16="http://schemas.microsoft.com/office/drawing/2014/main" id="{7F70BB82-7130-4437-91C1-5D4AAC7AA6F0}"/>
              </a:ext>
            </a:extLst>
          </p:cNvPr>
          <p:cNvSpPr>
            <a:spLocks noGrp="1"/>
          </p:cNvSpPr>
          <p:nvPr>
            <p:ph sz="quarter" idx="31"/>
          </p:nvPr>
        </p:nvSpPr>
        <p:spPr>
          <a:xfrm>
            <a:off x="4724400" y="4953000"/>
            <a:ext cx="4114800" cy="381000"/>
          </a:xfrm>
          <a:prstGeom prst="rect">
            <a:avLst/>
          </a:prstGeom>
        </p:spPr>
        <p:txBody>
          <a:bodyPr/>
          <a:lstStyle>
            <a:lvl1pPr marL="0" indent="0">
              <a:buNone/>
              <a:defRPr/>
            </a:lvl1pPr>
          </a:lstStyle>
          <a:p>
            <a:pPr lvl="0"/>
            <a:endParaRPr lang="en-US" dirty="0"/>
          </a:p>
        </p:txBody>
      </p:sp>
      <p:sp>
        <p:nvSpPr>
          <p:cNvPr id="36" name="Content Placeholder 35">
            <a:extLst>
              <a:ext uri="{FF2B5EF4-FFF2-40B4-BE49-F238E27FC236}">
                <a16:creationId xmlns:a16="http://schemas.microsoft.com/office/drawing/2014/main" id="{78B55E74-A183-4F7C-97DC-E41ED4AFE2F0}"/>
              </a:ext>
            </a:extLst>
          </p:cNvPr>
          <p:cNvSpPr>
            <a:spLocks noGrp="1"/>
          </p:cNvSpPr>
          <p:nvPr>
            <p:ph sz="quarter" idx="32"/>
          </p:nvPr>
        </p:nvSpPr>
        <p:spPr>
          <a:xfrm>
            <a:off x="304800" y="5376730"/>
            <a:ext cx="4267200" cy="381000"/>
          </a:xfrm>
          <a:prstGeom prst="rect">
            <a:avLst/>
          </a:prstGeom>
        </p:spPr>
        <p:txBody>
          <a:bodyPr/>
          <a:lstStyle>
            <a:lvl1pPr marL="0" indent="0">
              <a:buNone/>
              <a:defRPr/>
            </a:lvl1pPr>
          </a:lstStyle>
          <a:p>
            <a:pPr lvl="0"/>
            <a:endParaRPr lang="en-US" dirty="0"/>
          </a:p>
        </p:txBody>
      </p:sp>
      <p:sp>
        <p:nvSpPr>
          <p:cNvPr id="38" name="Content Placeholder 37">
            <a:extLst>
              <a:ext uri="{FF2B5EF4-FFF2-40B4-BE49-F238E27FC236}">
                <a16:creationId xmlns:a16="http://schemas.microsoft.com/office/drawing/2014/main" id="{1DFFC32A-D015-4E75-8F48-0680EC4D2EB0}"/>
              </a:ext>
            </a:extLst>
          </p:cNvPr>
          <p:cNvSpPr>
            <a:spLocks noGrp="1"/>
          </p:cNvSpPr>
          <p:nvPr>
            <p:ph sz="quarter" idx="33"/>
          </p:nvPr>
        </p:nvSpPr>
        <p:spPr>
          <a:xfrm>
            <a:off x="4724400" y="5392738"/>
            <a:ext cx="4114800" cy="365125"/>
          </a:xfrm>
          <a:prstGeom prst="rect">
            <a:avLst/>
          </a:prstGeom>
        </p:spPr>
        <p:txBody>
          <a:bodyPr/>
          <a:lstStyle>
            <a:lvl1pPr marL="0" indent="0">
              <a:buNone/>
              <a:defRPr/>
            </a:lvl1pPr>
          </a:lstStyle>
          <a:p>
            <a:pPr lvl="0"/>
            <a:endParaRPr lang="en-US" dirty="0"/>
          </a:p>
        </p:txBody>
      </p:sp>
      <p:sp>
        <p:nvSpPr>
          <p:cNvPr id="40" name="Content Placeholder 39">
            <a:extLst>
              <a:ext uri="{FF2B5EF4-FFF2-40B4-BE49-F238E27FC236}">
                <a16:creationId xmlns:a16="http://schemas.microsoft.com/office/drawing/2014/main" id="{FC4643E0-42A6-49E8-9F03-3C26CB9D6497}"/>
              </a:ext>
            </a:extLst>
          </p:cNvPr>
          <p:cNvSpPr>
            <a:spLocks noGrp="1"/>
          </p:cNvSpPr>
          <p:nvPr>
            <p:ph sz="quarter" idx="34"/>
          </p:nvPr>
        </p:nvSpPr>
        <p:spPr>
          <a:xfrm>
            <a:off x="304800" y="5791200"/>
            <a:ext cx="4267200" cy="365125"/>
          </a:xfrm>
          <a:prstGeom prst="rect">
            <a:avLst/>
          </a:prstGeom>
        </p:spPr>
        <p:txBody>
          <a:bodyPr/>
          <a:lstStyle>
            <a:lvl1pPr marL="0" indent="0">
              <a:buNone/>
              <a:defRPr/>
            </a:lvl1pPr>
          </a:lstStyle>
          <a:p>
            <a:pPr lvl="0"/>
            <a:endParaRPr lang="en-US" dirty="0"/>
          </a:p>
        </p:txBody>
      </p:sp>
      <p:sp>
        <p:nvSpPr>
          <p:cNvPr id="42" name="Content Placeholder 41">
            <a:extLst>
              <a:ext uri="{FF2B5EF4-FFF2-40B4-BE49-F238E27FC236}">
                <a16:creationId xmlns:a16="http://schemas.microsoft.com/office/drawing/2014/main" id="{34298EB3-92EF-4C89-B045-581BE7F6E4C8}"/>
              </a:ext>
            </a:extLst>
          </p:cNvPr>
          <p:cNvSpPr>
            <a:spLocks noGrp="1"/>
          </p:cNvSpPr>
          <p:nvPr>
            <p:ph sz="quarter" idx="35"/>
          </p:nvPr>
        </p:nvSpPr>
        <p:spPr>
          <a:xfrm>
            <a:off x="4724400" y="5791200"/>
            <a:ext cx="4114800" cy="365125"/>
          </a:xfrm>
          <a:prstGeom prst="rect">
            <a:avLst/>
          </a:prstGeom>
        </p:spPr>
        <p:txBody>
          <a:bodyPr/>
          <a:lstStyle>
            <a:lvl1pPr marL="0" indent="0">
              <a:buNone/>
              <a:defRPr/>
            </a:lvl1pPr>
          </a:lstStyle>
          <a:p>
            <a:pPr lvl="0"/>
            <a:endParaRPr lang="en-US" dirty="0"/>
          </a:p>
        </p:txBody>
      </p:sp>
      <p:sp>
        <p:nvSpPr>
          <p:cNvPr id="3" name="Slide Number Placeholder "/>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367407939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Learning Objectives: Version A">
    <p:spTree>
      <p:nvGrpSpPr>
        <p:cNvPr id="1" name=""/>
        <p:cNvGrpSpPr/>
        <p:nvPr/>
      </p:nvGrpSpPr>
      <p:grpSpPr>
        <a:xfrm>
          <a:off x="0" y="0"/>
          <a:ext cx="0" cy="0"/>
          <a:chOff x="0" y="0"/>
          <a:chExt cx="0" cy="0"/>
        </a:xfrm>
      </p:grpSpPr>
      <p:sp>
        <p:nvSpPr>
          <p:cNvPr id="2" name="Title "/>
          <p:cNvSpPr>
            <a:spLocks noGrp="1"/>
          </p:cNvSpPr>
          <p:nvPr>
            <p:ph type="title"/>
          </p:nvPr>
        </p:nvSpPr>
        <p:spPr>
          <a:xfrm>
            <a:off x="304800" y="762001"/>
            <a:ext cx="8534400" cy="838199"/>
          </a:xfrm>
          <a:prstGeom prst="rect">
            <a:avLst/>
          </a:prstGeom>
        </p:spPr>
        <p:txBody>
          <a:bodyPr/>
          <a:lstStyle>
            <a:lvl1pPr>
              <a:defRPr sz="4000">
                <a:solidFill>
                  <a:schemeClr val="accent2"/>
                </a:solidFill>
                <a:latin typeface="Calibri" panose="020F0502020204030204" pitchFamily="34" charset="0"/>
                <a:ea typeface="Calibri" panose="020F0502020204030204" pitchFamily="34" charset="0"/>
                <a:cs typeface="Calibri" panose="020F0502020204030204" pitchFamily="34" charset="0"/>
              </a:defRPr>
            </a:lvl1pPr>
          </a:lstStyle>
          <a:p>
            <a:r>
              <a:rPr lang="en-US" dirty="0"/>
              <a:t>Click to edit Master title style</a:t>
            </a:r>
          </a:p>
        </p:txBody>
      </p:sp>
      <p:sp>
        <p:nvSpPr>
          <p:cNvPr id="9" name="LONL"/>
          <p:cNvSpPr>
            <a:spLocks noGrp="1"/>
          </p:cNvSpPr>
          <p:nvPr>
            <p:ph sz="quarter" idx="16" hasCustomPrompt="1"/>
          </p:nvPr>
        </p:nvSpPr>
        <p:spPr>
          <a:xfrm>
            <a:off x="304800" y="1752600"/>
            <a:ext cx="8534400" cy="4495800"/>
          </a:xfrm>
          <a:prstGeom prst="rect">
            <a:avLst/>
          </a:prstGeom>
        </p:spPr>
        <p:txBody>
          <a:bodyPr/>
          <a:lstStyle>
            <a:lvl1pPr marL="514350" indent="-514350">
              <a:buClr>
                <a:schemeClr val="accent2"/>
              </a:buClr>
              <a:buFont typeface="+mj-lt"/>
              <a:buAutoNum type="arabicPeriod"/>
              <a:defRPr sz="2800" b="0" i="0" baseline="0">
                <a:latin typeface="Calibri" panose="020F0502020204030204" pitchFamily="34" charset="0"/>
                <a:ea typeface="Calibri" panose="020F0502020204030204" pitchFamily="34" charset="0"/>
                <a:cs typeface="Calibri" panose="020F0502020204030204" pitchFamily="34" charset="0"/>
              </a:defRPr>
            </a:lvl1pPr>
            <a:lvl2pPr>
              <a:defRPr sz="2800" b="0" i="0">
                <a:latin typeface="Source Sans Pro" charset="0"/>
                <a:ea typeface="Source Sans Pro" charset="0"/>
                <a:cs typeface="Source Sans Pro" charset="0"/>
              </a:defRPr>
            </a:lvl2pPr>
            <a:lvl3pPr>
              <a:defRPr sz="2800" b="0" i="0">
                <a:latin typeface="Source Sans Pro" charset="0"/>
                <a:ea typeface="Source Sans Pro" charset="0"/>
                <a:cs typeface="Source Sans Pro" charset="0"/>
              </a:defRPr>
            </a:lvl3pPr>
            <a:lvl4pPr>
              <a:defRPr sz="2800" b="0" i="0">
                <a:latin typeface="Source Sans Pro" charset="0"/>
                <a:ea typeface="Source Sans Pro" charset="0"/>
                <a:cs typeface="Source Sans Pro" charset="0"/>
              </a:defRPr>
            </a:lvl4pPr>
            <a:lvl5pPr>
              <a:defRPr sz="2800" b="0" i="0">
                <a:latin typeface="Source Sans Pro" charset="0"/>
                <a:ea typeface="Source Sans Pro" charset="0"/>
                <a:cs typeface="Source Sans Pro" charset="0"/>
              </a:defRPr>
            </a:lvl5pPr>
          </a:lstStyle>
          <a:p>
            <a:pPr lvl="0"/>
            <a:r>
              <a:rPr lang="en-US" dirty="0"/>
              <a:t>Explain the time value of money and why it is so important in the field of finance.</a:t>
            </a:r>
          </a:p>
          <a:p>
            <a:pPr lvl="0"/>
            <a:r>
              <a:rPr lang="en-US" dirty="0"/>
              <a:t>Explain the concept of future value, including the meaning of the terms principal, simple interest, and compound interest.</a:t>
            </a:r>
          </a:p>
          <a:p>
            <a:pPr lvl="0"/>
            <a:r>
              <a:rPr lang="en-US" dirty="0"/>
              <a:t>Explain the concept of present value, how it relates to future value, and is used to make business decisions.</a:t>
            </a:r>
          </a:p>
        </p:txBody>
      </p:sp>
      <p:sp>
        <p:nvSpPr>
          <p:cNvPr id="6" name="Slide Number Placeholder 5"/>
          <p:cNvSpPr>
            <a:spLocks noGrp="1"/>
          </p:cNvSpPr>
          <p:nvPr>
            <p:ph type="sldNum" sz="quarter" idx="12"/>
          </p:nvPr>
        </p:nvSpPr>
        <p:spPr>
          <a:xfrm>
            <a:off x="6457950" y="6356350"/>
            <a:ext cx="2381250" cy="365125"/>
          </a:xfrm>
          <a:prstGeom prst="rect">
            <a:avLst/>
          </a:prstGeom>
        </p:spPr>
        <p:txBody>
          <a:bodyPr/>
          <a:lstStyle/>
          <a:p>
            <a:fld id="{957104EA-F2AF-1046-9253-EE8D978719B5}" type="slidenum">
              <a:rPr lang="en-US" smtClean="0"/>
              <a:t>‹#›</a:t>
            </a:fld>
            <a:endParaRPr lang="en-US" dirty="0"/>
          </a:p>
        </p:txBody>
      </p:sp>
      <p:sp>
        <p:nvSpPr>
          <p:cNvPr id="5" name="Footer Placeholder 4"/>
          <p:cNvSpPr>
            <a:spLocks noGrp="1"/>
          </p:cNvSpPr>
          <p:nvPr>
            <p:ph type="ftr" sz="quarter" idx="11"/>
          </p:nvPr>
        </p:nvSpPr>
        <p:spPr>
          <a:xfrm>
            <a:off x="3028950" y="6356350"/>
            <a:ext cx="3086100" cy="365125"/>
          </a:xfrm>
          <a:prstGeom prst="rect">
            <a:avLst/>
          </a:prstGeom>
        </p:spPr>
        <p:txBody>
          <a:bodyPr/>
          <a:lstStyle/>
          <a:p>
            <a:r>
              <a:rPr lang="en-US" dirty="0"/>
              <a:t>Copyright ©2019 John Wiley &amp; Sons, Inc. </a:t>
            </a:r>
          </a:p>
        </p:txBody>
      </p:sp>
      <p:sp>
        <p:nvSpPr>
          <p:cNvPr id="7" name="LON">
            <a:extLst>
              <a:ext uri="{FF2B5EF4-FFF2-40B4-BE49-F238E27FC236}">
                <a16:creationId xmlns:a16="http://schemas.microsoft.com/office/drawing/2014/main" id="{DBC62EF4-2972-4484-A114-752BFF062C71}"/>
              </a:ext>
            </a:extLst>
          </p:cNvPr>
          <p:cNvSpPr>
            <a:spLocks noGrp="1"/>
          </p:cNvSpPr>
          <p:nvPr>
            <p:ph sz="quarter" idx="15" hasCustomPrompt="1"/>
          </p:nvPr>
        </p:nvSpPr>
        <p:spPr>
          <a:xfrm>
            <a:off x="331788" y="6356351"/>
            <a:ext cx="749300" cy="365125"/>
          </a:xfrm>
          <a:prstGeom prst="rect">
            <a:avLst/>
          </a:prstGeom>
        </p:spPr>
        <p:txBody>
          <a:bodyPr anchor="ctr">
            <a:normAutofit/>
          </a:bodyPr>
          <a:lstStyle>
            <a:lvl1pPr marL="0" indent="0">
              <a:buNone/>
              <a:defRPr sz="1200">
                <a:solidFill>
                  <a:schemeClr val="bg1">
                    <a:lumMod val="50000"/>
                  </a:schemeClr>
                </a:solidFill>
              </a:defRPr>
            </a:lvl1pPr>
          </a:lstStyle>
          <a:p>
            <a:pPr lvl="0"/>
            <a:r>
              <a:rPr lang="en-US" dirty="0"/>
              <a:t>LO #</a:t>
            </a:r>
          </a:p>
        </p:txBody>
      </p:sp>
    </p:spTree>
    <p:extLst>
      <p:ext uri="{BB962C8B-B14F-4D97-AF65-F5344CB8AC3E}">
        <p14:creationId xmlns:p14="http://schemas.microsoft.com/office/powerpoint/2010/main" val="7344976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7_Section">
    <p:spTree>
      <p:nvGrpSpPr>
        <p:cNvPr id="1" name=""/>
        <p:cNvGrpSpPr/>
        <p:nvPr/>
      </p:nvGrpSpPr>
      <p:grpSpPr>
        <a:xfrm>
          <a:off x="0" y="0"/>
          <a:ext cx="0" cy="0"/>
          <a:chOff x="0" y="0"/>
          <a:chExt cx="0" cy="0"/>
        </a:xfrm>
      </p:grpSpPr>
      <p:sp>
        <p:nvSpPr>
          <p:cNvPr id="2" name="Title "/>
          <p:cNvSpPr>
            <a:spLocks noGrp="1"/>
          </p:cNvSpPr>
          <p:nvPr>
            <p:ph type="title" hasCustomPrompt="1"/>
          </p:nvPr>
        </p:nvSpPr>
        <p:spPr>
          <a:xfrm>
            <a:off x="304800" y="762001"/>
            <a:ext cx="8534400" cy="838199"/>
          </a:xfrm>
          <a:prstGeom prst="rect">
            <a:avLst/>
          </a:prstGeom>
        </p:spPr>
        <p:txBody>
          <a:bodyPr/>
          <a:lstStyle>
            <a:lvl1pPr>
              <a:defRPr sz="4000" b="1" i="0">
                <a:solidFill>
                  <a:schemeClr val="accent1"/>
                </a:solidFill>
                <a:latin typeface="Calibri" panose="020F0502020204030204" pitchFamily="34" charset="0"/>
                <a:ea typeface="Calibri" panose="020F0502020204030204" pitchFamily="34" charset="0"/>
                <a:cs typeface="Calibri" panose="020F0502020204030204" pitchFamily="34" charset="0"/>
              </a:defRPr>
            </a:lvl1pPr>
          </a:lstStyle>
          <a:p>
            <a:r>
              <a:rPr lang="en-US" dirty="0"/>
              <a:t>Section or Topic Heading</a:t>
            </a:r>
          </a:p>
        </p:txBody>
      </p:sp>
      <p:sp>
        <p:nvSpPr>
          <p:cNvPr id="6" name="Content Placeholder"/>
          <p:cNvSpPr>
            <a:spLocks noGrp="1"/>
          </p:cNvSpPr>
          <p:nvPr>
            <p:ph sz="quarter" idx="16"/>
          </p:nvPr>
        </p:nvSpPr>
        <p:spPr>
          <a:xfrm>
            <a:off x="304800" y="1752600"/>
            <a:ext cx="8534400" cy="1524000"/>
          </a:xfrm>
          <a:prstGeom prst="rect">
            <a:avLst/>
          </a:prstGeom>
        </p:spPr>
        <p:txBody>
          <a:bodyPr/>
          <a:lstStyle>
            <a:lvl1pPr marL="0" indent="0">
              <a:buNone/>
              <a:defRPr sz="2800" b="0" i="0">
                <a:latin typeface="Calibri" panose="020F0502020204030204" pitchFamily="34" charset="0"/>
                <a:ea typeface="Calibri" panose="020F0502020204030204" pitchFamily="34" charset="0"/>
                <a:cs typeface="Calibri" panose="020F0502020204030204" pitchFamily="34" charset="0"/>
              </a:defRPr>
            </a:lvl1pPr>
          </a:lstStyle>
          <a:p>
            <a:pPr lvl="0"/>
            <a:endParaRPr lang="en-US" dirty="0"/>
          </a:p>
        </p:txBody>
      </p:sp>
      <p:sp>
        <p:nvSpPr>
          <p:cNvPr id="3" name="Slide Number Placeholder"/>
          <p:cNvSpPr>
            <a:spLocks noGrp="1"/>
          </p:cNvSpPr>
          <p:nvPr>
            <p:ph type="sldNum" sz="quarter" idx="10"/>
          </p:nvPr>
        </p:nvSpPr>
        <p:spPr/>
        <p:txBody>
          <a:body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p>
            <a:r>
              <a:rPr lang="en-US" dirty="0"/>
              <a:t>Copyright ©2019 John Wiley &amp; Sons, Inc. </a:t>
            </a:r>
          </a:p>
        </p:txBody>
      </p:sp>
      <p:sp>
        <p:nvSpPr>
          <p:cNvPr id="7" name="Content Placeholder 6">
            <a:extLst>
              <a:ext uri="{FF2B5EF4-FFF2-40B4-BE49-F238E27FC236}">
                <a16:creationId xmlns:a16="http://schemas.microsoft.com/office/drawing/2014/main" id="{9C45D28D-E050-4820-AFD5-BCEEE93DFAD9}"/>
              </a:ext>
            </a:extLst>
          </p:cNvPr>
          <p:cNvSpPr>
            <a:spLocks noGrp="1"/>
          </p:cNvSpPr>
          <p:nvPr>
            <p:ph sz="quarter" idx="17"/>
          </p:nvPr>
        </p:nvSpPr>
        <p:spPr>
          <a:xfrm>
            <a:off x="304800" y="3429000"/>
            <a:ext cx="8534400" cy="1524000"/>
          </a:xfrm>
          <a:prstGeom prst="rect">
            <a:avLst/>
          </a:prstGeom>
        </p:spPr>
        <p:txBody>
          <a:bodyPr/>
          <a:lstStyle>
            <a:lvl1pPr marL="0" indent="0">
              <a:buNone/>
              <a:defRPr/>
            </a:lvl1pPr>
          </a:lstStyle>
          <a:p>
            <a:pPr lvl="0"/>
            <a:endParaRPr lang="en-US" dirty="0"/>
          </a:p>
        </p:txBody>
      </p:sp>
      <p:sp>
        <p:nvSpPr>
          <p:cNvPr id="9" name="Content Placeholder 8">
            <a:extLst>
              <a:ext uri="{FF2B5EF4-FFF2-40B4-BE49-F238E27FC236}">
                <a16:creationId xmlns:a16="http://schemas.microsoft.com/office/drawing/2014/main" id="{F641CCC3-3BAF-49BA-81A2-3696342DF5C5}"/>
              </a:ext>
            </a:extLst>
          </p:cNvPr>
          <p:cNvSpPr>
            <a:spLocks noGrp="1"/>
          </p:cNvSpPr>
          <p:nvPr>
            <p:ph sz="quarter" idx="18"/>
          </p:nvPr>
        </p:nvSpPr>
        <p:spPr>
          <a:xfrm>
            <a:off x="304800" y="5029200"/>
            <a:ext cx="8534400" cy="990600"/>
          </a:xfrm>
          <a:prstGeom prst="rect">
            <a:avLst/>
          </a:prstGeom>
        </p:spPr>
        <p:txBody>
          <a:bodyPr/>
          <a:lstStyle>
            <a:lvl1pPr marL="0" indent="0">
              <a:buNone/>
              <a:defRPr/>
            </a:lvl1pPr>
          </a:lstStyle>
          <a:p>
            <a:pPr lvl="0"/>
            <a:endParaRPr lang="en-US" dirty="0"/>
          </a:p>
        </p:txBody>
      </p:sp>
      <p:sp>
        <p:nvSpPr>
          <p:cNvPr id="8" name="LON">
            <a:extLst>
              <a:ext uri="{FF2B5EF4-FFF2-40B4-BE49-F238E27FC236}">
                <a16:creationId xmlns:a16="http://schemas.microsoft.com/office/drawing/2014/main" id="{00E25674-8754-427E-955C-E619C6E5008C}"/>
              </a:ext>
            </a:extLst>
          </p:cNvPr>
          <p:cNvSpPr>
            <a:spLocks noGrp="1"/>
          </p:cNvSpPr>
          <p:nvPr>
            <p:ph sz="quarter" idx="15" hasCustomPrompt="1"/>
          </p:nvPr>
        </p:nvSpPr>
        <p:spPr>
          <a:xfrm>
            <a:off x="331788" y="6356351"/>
            <a:ext cx="749300" cy="365125"/>
          </a:xfrm>
          <a:prstGeom prst="rect">
            <a:avLst/>
          </a:prstGeom>
        </p:spPr>
        <p:txBody>
          <a:bodyPr anchor="ctr">
            <a:normAutofit/>
          </a:bodyPr>
          <a:lstStyle>
            <a:lvl1pPr marL="0" indent="0">
              <a:buNone/>
              <a:defRPr sz="1200">
                <a:solidFill>
                  <a:schemeClr val="bg1">
                    <a:lumMod val="50000"/>
                  </a:schemeClr>
                </a:solidFill>
              </a:defRPr>
            </a:lvl1pPr>
          </a:lstStyle>
          <a:p>
            <a:pPr lvl="0"/>
            <a:r>
              <a:rPr lang="en-US" dirty="0"/>
              <a:t>LO #</a:t>
            </a:r>
          </a:p>
        </p:txBody>
      </p:sp>
      <p:sp>
        <p:nvSpPr>
          <p:cNvPr id="10" name="Content Placeholder 8">
            <a:extLst>
              <a:ext uri="{FF2B5EF4-FFF2-40B4-BE49-F238E27FC236}">
                <a16:creationId xmlns:a16="http://schemas.microsoft.com/office/drawing/2014/main" id="{B96800FA-0E94-40F2-858D-7BF7F09A2767}"/>
              </a:ext>
            </a:extLst>
          </p:cNvPr>
          <p:cNvSpPr>
            <a:spLocks noGrp="1"/>
          </p:cNvSpPr>
          <p:nvPr>
            <p:ph sz="quarter" idx="19"/>
          </p:nvPr>
        </p:nvSpPr>
        <p:spPr>
          <a:xfrm>
            <a:off x="278717" y="5029200"/>
            <a:ext cx="8534400" cy="990600"/>
          </a:xfrm>
          <a:prstGeom prst="rect">
            <a:avLst/>
          </a:prstGeom>
        </p:spPr>
        <p:txBody>
          <a:bodyPr/>
          <a:lstStyle>
            <a:lvl1pPr marL="0" indent="0">
              <a:buNone/>
              <a:defRPr/>
            </a:lvl1pPr>
          </a:lstStyle>
          <a:p>
            <a:pPr lvl="0"/>
            <a:endParaRPr lang="en-US" dirty="0"/>
          </a:p>
        </p:txBody>
      </p:sp>
    </p:spTree>
    <p:extLst>
      <p:ext uri="{BB962C8B-B14F-4D97-AF65-F5344CB8AC3E}">
        <p14:creationId xmlns:p14="http://schemas.microsoft.com/office/powerpoint/2010/main" val="424891961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8_Section">
    <p:spTree>
      <p:nvGrpSpPr>
        <p:cNvPr id="1" name=""/>
        <p:cNvGrpSpPr/>
        <p:nvPr/>
      </p:nvGrpSpPr>
      <p:grpSpPr>
        <a:xfrm>
          <a:off x="0" y="0"/>
          <a:ext cx="0" cy="0"/>
          <a:chOff x="0" y="0"/>
          <a:chExt cx="0" cy="0"/>
        </a:xfrm>
      </p:grpSpPr>
      <p:sp>
        <p:nvSpPr>
          <p:cNvPr id="2" name="Title "/>
          <p:cNvSpPr>
            <a:spLocks noGrp="1"/>
          </p:cNvSpPr>
          <p:nvPr>
            <p:ph type="title" hasCustomPrompt="1"/>
          </p:nvPr>
        </p:nvSpPr>
        <p:spPr>
          <a:xfrm>
            <a:off x="304800" y="762001"/>
            <a:ext cx="8534400" cy="838199"/>
          </a:xfrm>
          <a:prstGeom prst="rect">
            <a:avLst/>
          </a:prstGeom>
        </p:spPr>
        <p:txBody>
          <a:bodyPr/>
          <a:lstStyle>
            <a:lvl1pPr>
              <a:defRPr sz="4000" b="1" i="0">
                <a:solidFill>
                  <a:schemeClr val="accent1"/>
                </a:solidFill>
                <a:latin typeface="Calibri" panose="020F0502020204030204" pitchFamily="34" charset="0"/>
                <a:ea typeface="Calibri" panose="020F0502020204030204" pitchFamily="34" charset="0"/>
                <a:cs typeface="Calibri" panose="020F0502020204030204" pitchFamily="34" charset="0"/>
              </a:defRPr>
            </a:lvl1pPr>
          </a:lstStyle>
          <a:p>
            <a:r>
              <a:rPr lang="en-US" dirty="0"/>
              <a:t>Section or Topic Heading</a:t>
            </a:r>
          </a:p>
        </p:txBody>
      </p:sp>
      <p:sp>
        <p:nvSpPr>
          <p:cNvPr id="6" name="Content Placeholder"/>
          <p:cNvSpPr>
            <a:spLocks noGrp="1"/>
          </p:cNvSpPr>
          <p:nvPr>
            <p:ph sz="quarter" idx="16"/>
          </p:nvPr>
        </p:nvSpPr>
        <p:spPr>
          <a:xfrm>
            <a:off x="304800" y="1752600"/>
            <a:ext cx="3429000" cy="304800"/>
          </a:xfrm>
          <a:prstGeom prst="rect">
            <a:avLst/>
          </a:prstGeom>
        </p:spPr>
        <p:txBody>
          <a:bodyPr/>
          <a:lstStyle>
            <a:lvl1pPr marL="0" indent="0">
              <a:buNone/>
              <a:defRPr sz="2800" b="0" i="0">
                <a:latin typeface="Calibri" panose="020F0502020204030204" pitchFamily="34" charset="0"/>
                <a:ea typeface="Calibri" panose="020F0502020204030204" pitchFamily="34" charset="0"/>
                <a:cs typeface="Calibri" panose="020F0502020204030204" pitchFamily="34" charset="0"/>
              </a:defRPr>
            </a:lvl1pPr>
          </a:lstStyle>
          <a:p>
            <a:pPr lvl="0"/>
            <a:endParaRPr lang="en-US" dirty="0"/>
          </a:p>
        </p:txBody>
      </p:sp>
      <p:sp>
        <p:nvSpPr>
          <p:cNvPr id="3" name="Slide Number Placeholder"/>
          <p:cNvSpPr>
            <a:spLocks noGrp="1"/>
          </p:cNvSpPr>
          <p:nvPr>
            <p:ph type="sldNum" sz="quarter" idx="10"/>
          </p:nvPr>
        </p:nvSpPr>
        <p:spPr/>
        <p:txBody>
          <a:body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p>
            <a:r>
              <a:rPr lang="en-US" dirty="0"/>
              <a:t>Copyright ©2019 John Wiley &amp; Sons, Inc. </a:t>
            </a:r>
          </a:p>
        </p:txBody>
      </p:sp>
      <p:sp>
        <p:nvSpPr>
          <p:cNvPr id="10" name="Content Placeholder 9"/>
          <p:cNvSpPr>
            <a:spLocks noGrp="1"/>
          </p:cNvSpPr>
          <p:nvPr>
            <p:ph sz="quarter" idx="17"/>
          </p:nvPr>
        </p:nvSpPr>
        <p:spPr>
          <a:xfrm>
            <a:off x="304800" y="2152650"/>
            <a:ext cx="3505200" cy="304800"/>
          </a:xfrm>
          <a:prstGeom prst="rect">
            <a:avLst/>
          </a:prstGeom>
        </p:spPr>
        <p:txBody>
          <a:bodyPr/>
          <a:lstStyle>
            <a:lvl1pPr>
              <a:buNone/>
              <a:defRPr/>
            </a:lvl1pPr>
          </a:lstStyle>
          <a:p>
            <a:pPr lvl="0"/>
            <a:endParaRPr lang="en-US" dirty="0"/>
          </a:p>
        </p:txBody>
      </p:sp>
      <p:sp>
        <p:nvSpPr>
          <p:cNvPr id="12" name="Content Placeholder 11"/>
          <p:cNvSpPr>
            <a:spLocks noGrp="1"/>
          </p:cNvSpPr>
          <p:nvPr>
            <p:ph sz="quarter" idx="18"/>
          </p:nvPr>
        </p:nvSpPr>
        <p:spPr>
          <a:xfrm>
            <a:off x="304800" y="2533650"/>
            <a:ext cx="3429000" cy="228600"/>
          </a:xfrm>
          <a:prstGeom prst="rect">
            <a:avLst/>
          </a:prstGeom>
        </p:spPr>
        <p:txBody>
          <a:bodyPr/>
          <a:lstStyle>
            <a:lvl1pPr>
              <a:buNone/>
              <a:defRPr/>
            </a:lvl1pPr>
          </a:lstStyle>
          <a:p>
            <a:pPr lvl="0"/>
            <a:endParaRPr lang="en-US" dirty="0"/>
          </a:p>
        </p:txBody>
      </p:sp>
      <p:sp>
        <p:nvSpPr>
          <p:cNvPr id="14" name="Content Placeholder 13"/>
          <p:cNvSpPr>
            <a:spLocks noGrp="1"/>
          </p:cNvSpPr>
          <p:nvPr>
            <p:ph sz="quarter" idx="19"/>
          </p:nvPr>
        </p:nvSpPr>
        <p:spPr>
          <a:xfrm>
            <a:off x="304800" y="2914650"/>
            <a:ext cx="3505200" cy="304800"/>
          </a:xfrm>
          <a:prstGeom prst="rect">
            <a:avLst/>
          </a:prstGeom>
        </p:spPr>
        <p:txBody>
          <a:bodyPr/>
          <a:lstStyle>
            <a:lvl1pPr>
              <a:buNone/>
              <a:defRPr/>
            </a:lvl1pPr>
          </a:lstStyle>
          <a:p>
            <a:pPr lvl="0"/>
            <a:endParaRPr lang="en-US" dirty="0"/>
          </a:p>
        </p:txBody>
      </p:sp>
      <p:sp>
        <p:nvSpPr>
          <p:cNvPr id="16" name="Content Placeholder 15"/>
          <p:cNvSpPr>
            <a:spLocks noGrp="1"/>
          </p:cNvSpPr>
          <p:nvPr>
            <p:ph sz="quarter" idx="20"/>
          </p:nvPr>
        </p:nvSpPr>
        <p:spPr>
          <a:xfrm>
            <a:off x="304800" y="3295650"/>
            <a:ext cx="3505200" cy="228600"/>
          </a:xfrm>
          <a:prstGeom prst="rect">
            <a:avLst/>
          </a:prstGeom>
        </p:spPr>
        <p:txBody>
          <a:bodyPr/>
          <a:lstStyle>
            <a:lvl1pPr>
              <a:buNone/>
              <a:defRPr/>
            </a:lvl1pPr>
          </a:lstStyle>
          <a:p>
            <a:pPr lvl="0"/>
            <a:endParaRPr lang="en-US" dirty="0"/>
          </a:p>
        </p:txBody>
      </p:sp>
      <p:sp>
        <p:nvSpPr>
          <p:cNvPr id="18" name="Content Placeholder 17"/>
          <p:cNvSpPr>
            <a:spLocks noGrp="1"/>
          </p:cNvSpPr>
          <p:nvPr>
            <p:ph sz="quarter" idx="21"/>
          </p:nvPr>
        </p:nvSpPr>
        <p:spPr>
          <a:xfrm>
            <a:off x="304800" y="3676650"/>
            <a:ext cx="3505200" cy="228600"/>
          </a:xfrm>
          <a:prstGeom prst="rect">
            <a:avLst/>
          </a:prstGeom>
        </p:spPr>
        <p:txBody>
          <a:bodyPr/>
          <a:lstStyle>
            <a:lvl1pPr>
              <a:buNone/>
              <a:defRPr/>
            </a:lvl1pPr>
          </a:lstStyle>
          <a:p>
            <a:pPr lvl="0"/>
            <a:endParaRPr lang="en-US" dirty="0"/>
          </a:p>
        </p:txBody>
      </p:sp>
      <p:sp>
        <p:nvSpPr>
          <p:cNvPr id="20" name="Content Placeholder 19"/>
          <p:cNvSpPr>
            <a:spLocks noGrp="1"/>
          </p:cNvSpPr>
          <p:nvPr>
            <p:ph sz="quarter" idx="22"/>
          </p:nvPr>
        </p:nvSpPr>
        <p:spPr>
          <a:xfrm>
            <a:off x="304800" y="3962400"/>
            <a:ext cx="3505200" cy="304800"/>
          </a:xfrm>
          <a:prstGeom prst="rect">
            <a:avLst/>
          </a:prstGeom>
        </p:spPr>
        <p:txBody>
          <a:bodyPr/>
          <a:lstStyle>
            <a:lvl1pPr>
              <a:buNone/>
              <a:defRPr/>
            </a:lvl1pPr>
          </a:lstStyle>
          <a:p>
            <a:pPr lvl="0"/>
            <a:endParaRPr lang="en-US" dirty="0"/>
          </a:p>
        </p:txBody>
      </p:sp>
      <p:sp>
        <p:nvSpPr>
          <p:cNvPr id="22" name="Content Placeholder 21"/>
          <p:cNvSpPr>
            <a:spLocks noGrp="1"/>
          </p:cNvSpPr>
          <p:nvPr>
            <p:ph sz="quarter" idx="23"/>
          </p:nvPr>
        </p:nvSpPr>
        <p:spPr>
          <a:xfrm>
            <a:off x="304800" y="4343400"/>
            <a:ext cx="3581400" cy="304800"/>
          </a:xfrm>
          <a:prstGeom prst="rect">
            <a:avLst/>
          </a:prstGeom>
        </p:spPr>
        <p:txBody>
          <a:bodyPr/>
          <a:lstStyle>
            <a:lvl1pPr>
              <a:buNone/>
              <a:defRPr/>
            </a:lvl1pPr>
          </a:lstStyle>
          <a:p>
            <a:pPr lvl="0"/>
            <a:endParaRPr lang="en-US" dirty="0"/>
          </a:p>
        </p:txBody>
      </p:sp>
      <p:sp>
        <p:nvSpPr>
          <p:cNvPr id="24" name="Content Placeholder 23"/>
          <p:cNvSpPr>
            <a:spLocks noGrp="1"/>
          </p:cNvSpPr>
          <p:nvPr>
            <p:ph sz="quarter" idx="24"/>
          </p:nvPr>
        </p:nvSpPr>
        <p:spPr>
          <a:xfrm>
            <a:off x="304800" y="4724400"/>
            <a:ext cx="3505200" cy="304800"/>
          </a:xfrm>
          <a:prstGeom prst="rect">
            <a:avLst/>
          </a:prstGeom>
        </p:spPr>
        <p:txBody>
          <a:bodyPr/>
          <a:lstStyle>
            <a:lvl1pPr>
              <a:buNone/>
              <a:defRPr/>
            </a:lvl1pPr>
          </a:lstStyle>
          <a:p>
            <a:pPr lvl="0"/>
            <a:endParaRPr lang="en-US" dirty="0"/>
          </a:p>
        </p:txBody>
      </p:sp>
      <p:sp>
        <p:nvSpPr>
          <p:cNvPr id="26" name="Content Placeholder 25"/>
          <p:cNvSpPr>
            <a:spLocks noGrp="1"/>
          </p:cNvSpPr>
          <p:nvPr>
            <p:ph sz="quarter" idx="25"/>
          </p:nvPr>
        </p:nvSpPr>
        <p:spPr>
          <a:xfrm>
            <a:off x="304800" y="5105400"/>
            <a:ext cx="3505200" cy="304800"/>
          </a:xfrm>
          <a:prstGeom prst="rect">
            <a:avLst/>
          </a:prstGeom>
        </p:spPr>
        <p:txBody>
          <a:bodyPr/>
          <a:lstStyle>
            <a:lvl1pPr>
              <a:buNone/>
              <a:defRPr/>
            </a:lvl1pPr>
          </a:lstStyle>
          <a:p>
            <a:pPr lvl="0"/>
            <a:endParaRPr lang="en-US" dirty="0"/>
          </a:p>
        </p:txBody>
      </p:sp>
      <p:sp>
        <p:nvSpPr>
          <p:cNvPr id="28" name="Content Placeholder 27"/>
          <p:cNvSpPr>
            <a:spLocks noGrp="1"/>
          </p:cNvSpPr>
          <p:nvPr>
            <p:ph sz="quarter" idx="26"/>
          </p:nvPr>
        </p:nvSpPr>
        <p:spPr>
          <a:xfrm>
            <a:off x="304800" y="5486400"/>
            <a:ext cx="3581400" cy="304800"/>
          </a:xfrm>
          <a:prstGeom prst="rect">
            <a:avLst/>
          </a:prstGeom>
        </p:spPr>
        <p:txBody>
          <a:bodyPr/>
          <a:lstStyle>
            <a:lvl1pPr>
              <a:buNone/>
              <a:defRPr/>
            </a:lvl1pPr>
          </a:lstStyle>
          <a:p>
            <a:pPr lvl="0"/>
            <a:endParaRPr lang="en-US" dirty="0"/>
          </a:p>
        </p:txBody>
      </p:sp>
      <p:sp>
        <p:nvSpPr>
          <p:cNvPr id="30" name="Content Placeholder 29"/>
          <p:cNvSpPr>
            <a:spLocks noGrp="1"/>
          </p:cNvSpPr>
          <p:nvPr>
            <p:ph sz="quarter" idx="27"/>
          </p:nvPr>
        </p:nvSpPr>
        <p:spPr>
          <a:xfrm>
            <a:off x="304800" y="5867400"/>
            <a:ext cx="3581400" cy="304800"/>
          </a:xfrm>
          <a:prstGeom prst="rect">
            <a:avLst/>
          </a:prstGeom>
        </p:spPr>
        <p:txBody>
          <a:bodyPr/>
          <a:lstStyle>
            <a:lvl1pPr>
              <a:buNone/>
              <a:defRPr/>
            </a:lvl1pPr>
          </a:lstStyle>
          <a:p>
            <a:pPr lvl="0"/>
            <a:endParaRPr lang="en-US" dirty="0"/>
          </a:p>
        </p:txBody>
      </p:sp>
      <p:sp>
        <p:nvSpPr>
          <p:cNvPr id="32" name="Content Placeholder 31"/>
          <p:cNvSpPr>
            <a:spLocks noGrp="1"/>
          </p:cNvSpPr>
          <p:nvPr>
            <p:ph sz="quarter" idx="28"/>
          </p:nvPr>
        </p:nvSpPr>
        <p:spPr>
          <a:xfrm>
            <a:off x="304800" y="6248400"/>
            <a:ext cx="3505200" cy="304800"/>
          </a:xfrm>
          <a:prstGeom prst="rect">
            <a:avLst/>
          </a:prstGeom>
        </p:spPr>
        <p:txBody>
          <a:bodyPr/>
          <a:lstStyle>
            <a:lvl1pPr>
              <a:buNone/>
              <a:defRPr/>
            </a:lvl1pPr>
          </a:lstStyle>
          <a:p>
            <a:pPr lvl="0"/>
            <a:endParaRPr lang="en-US" dirty="0"/>
          </a:p>
        </p:txBody>
      </p:sp>
      <p:sp>
        <p:nvSpPr>
          <p:cNvPr id="34" name="Content Placeholder 33"/>
          <p:cNvSpPr>
            <a:spLocks noGrp="1"/>
          </p:cNvSpPr>
          <p:nvPr>
            <p:ph sz="quarter" idx="29"/>
          </p:nvPr>
        </p:nvSpPr>
        <p:spPr>
          <a:xfrm>
            <a:off x="4343400" y="1752600"/>
            <a:ext cx="2756747" cy="381000"/>
          </a:xfrm>
          <a:prstGeom prst="rect">
            <a:avLst/>
          </a:prstGeom>
        </p:spPr>
        <p:txBody>
          <a:bodyPr/>
          <a:lstStyle>
            <a:lvl1pPr>
              <a:buNone/>
              <a:defRPr/>
            </a:lvl1pPr>
          </a:lstStyle>
          <a:p>
            <a:pPr lvl="0"/>
            <a:endParaRPr lang="en-US" dirty="0"/>
          </a:p>
        </p:txBody>
      </p:sp>
      <p:sp>
        <p:nvSpPr>
          <p:cNvPr id="36" name="Content Placeholder 35"/>
          <p:cNvSpPr>
            <a:spLocks noGrp="1"/>
          </p:cNvSpPr>
          <p:nvPr>
            <p:ph sz="quarter" idx="30"/>
          </p:nvPr>
        </p:nvSpPr>
        <p:spPr>
          <a:xfrm>
            <a:off x="4343400" y="2209800"/>
            <a:ext cx="2756747" cy="381000"/>
          </a:xfrm>
          <a:prstGeom prst="rect">
            <a:avLst/>
          </a:prstGeom>
        </p:spPr>
        <p:txBody>
          <a:bodyPr/>
          <a:lstStyle>
            <a:lvl1pPr>
              <a:buNone/>
              <a:defRPr/>
            </a:lvl1pPr>
          </a:lstStyle>
          <a:p>
            <a:pPr lvl="0"/>
            <a:endParaRPr lang="en-US" dirty="0"/>
          </a:p>
        </p:txBody>
      </p:sp>
      <p:sp>
        <p:nvSpPr>
          <p:cNvPr id="38" name="Content Placeholder 37"/>
          <p:cNvSpPr>
            <a:spLocks noGrp="1"/>
          </p:cNvSpPr>
          <p:nvPr>
            <p:ph sz="quarter" idx="31"/>
          </p:nvPr>
        </p:nvSpPr>
        <p:spPr>
          <a:xfrm>
            <a:off x="4343400" y="2590800"/>
            <a:ext cx="2819400" cy="381000"/>
          </a:xfrm>
          <a:prstGeom prst="rect">
            <a:avLst/>
          </a:prstGeom>
        </p:spPr>
        <p:txBody>
          <a:bodyPr/>
          <a:lstStyle>
            <a:lvl1pPr>
              <a:buNone/>
              <a:defRPr/>
            </a:lvl1pPr>
          </a:lstStyle>
          <a:p>
            <a:pPr lvl="0"/>
            <a:endParaRPr lang="en-US" dirty="0"/>
          </a:p>
        </p:txBody>
      </p:sp>
      <p:sp>
        <p:nvSpPr>
          <p:cNvPr id="40" name="Content Placeholder 39"/>
          <p:cNvSpPr>
            <a:spLocks noGrp="1"/>
          </p:cNvSpPr>
          <p:nvPr>
            <p:ph sz="quarter" idx="32"/>
          </p:nvPr>
        </p:nvSpPr>
        <p:spPr>
          <a:xfrm>
            <a:off x="4343400" y="2971800"/>
            <a:ext cx="2819400" cy="381000"/>
          </a:xfrm>
          <a:prstGeom prst="rect">
            <a:avLst/>
          </a:prstGeom>
        </p:spPr>
        <p:txBody>
          <a:bodyPr/>
          <a:lstStyle>
            <a:lvl1pPr>
              <a:buNone/>
              <a:defRPr/>
            </a:lvl1pPr>
          </a:lstStyle>
          <a:p>
            <a:pPr lvl="0"/>
            <a:endParaRPr lang="en-US" dirty="0"/>
          </a:p>
        </p:txBody>
      </p:sp>
      <p:sp>
        <p:nvSpPr>
          <p:cNvPr id="42" name="Content Placeholder 41"/>
          <p:cNvSpPr>
            <a:spLocks noGrp="1"/>
          </p:cNvSpPr>
          <p:nvPr>
            <p:ph sz="quarter" idx="33"/>
          </p:nvPr>
        </p:nvSpPr>
        <p:spPr>
          <a:xfrm>
            <a:off x="4343400" y="3429000"/>
            <a:ext cx="2819400" cy="285750"/>
          </a:xfrm>
          <a:prstGeom prst="rect">
            <a:avLst/>
          </a:prstGeom>
        </p:spPr>
        <p:txBody>
          <a:bodyPr/>
          <a:lstStyle>
            <a:lvl1pPr>
              <a:buNone/>
              <a:defRPr/>
            </a:lvl1pPr>
          </a:lstStyle>
          <a:p>
            <a:pPr lvl="0"/>
            <a:endParaRPr lang="en-US" dirty="0"/>
          </a:p>
        </p:txBody>
      </p:sp>
      <p:sp>
        <p:nvSpPr>
          <p:cNvPr id="44" name="Content Placeholder 43"/>
          <p:cNvSpPr>
            <a:spLocks noGrp="1"/>
          </p:cNvSpPr>
          <p:nvPr>
            <p:ph sz="quarter" idx="34"/>
          </p:nvPr>
        </p:nvSpPr>
        <p:spPr>
          <a:xfrm>
            <a:off x="4343400" y="3810000"/>
            <a:ext cx="2819400" cy="381000"/>
          </a:xfrm>
          <a:prstGeom prst="rect">
            <a:avLst/>
          </a:prstGeom>
        </p:spPr>
        <p:txBody>
          <a:bodyPr/>
          <a:lstStyle>
            <a:lvl1pPr>
              <a:buNone/>
              <a:defRPr/>
            </a:lvl1pPr>
          </a:lstStyle>
          <a:p>
            <a:pPr lvl="0"/>
            <a:endParaRPr lang="en-US" dirty="0"/>
          </a:p>
        </p:txBody>
      </p:sp>
      <p:sp>
        <p:nvSpPr>
          <p:cNvPr id="46" name="Content Placeholder 45"/>
          <p:cNvSpPr>
            <a:spLocks noGrp="1"/>
          </p:cNvSpPr>
          <p:nvPr>
            <p:ph sz="quarter" idx="35"/>
          </p:nvPr>
        </p:nvSpPr>
        <p:spPr>
          <a:xfrm>
            <a:off x="4343400" y="4191000"/>
            <a:ext cx="2819400" cy="476250"/>
          </a:xfrm>
          <a:prstGeom prst="rect">
            <a:avLst/>
          </a:prstGeom>
        </p:spPr>
        <p:txBody>
          <a:bodyPr/>
          <a:lstStyle>
            <a:lvl1pPr>
              <a:buNone/>
              <a:defRPr/>
            </a:lvl1pPr>
          </a:lstStyle>
          <a:p>
            <a:pPr lvl="0"/>
            <a:endParaRPr lang="en-US" dirty="0"/>
          </a:p>
        </p:txBody>
      </p:sp>
      <p:sp>
        <p:nvSpPr>
          <p:cNvPr id="48" name="Content Placeholder 47"/>
          <p:cNvSpPr>
            <a:spLocks noGrp="1"/>
          </p:cNvSpPr>
          <p:nvPr>
            <p:ph sz="quarter" idx="36"/>
          </p:nvPr>
        </p:nvSpPr>
        <p:spPr>
          <a:xfrm>
            <a:off x="4343400" y="4648200"/>
            <a:ext cx="2882053" cy="381000"/>
          </a:xfrm>
          <a:prstGeom prst="rect">
            <a:avLst/>
          </a:prstGeom>
        </p:spPr>
        <p:txBody>
          <a:bodyPr/>
          <a:lstStyle>
            <a:lvl1pPr>
              <a:buNone/>
              <a:defRPr/>
            </a:lvl1pPr>
          </a:lstStyle>
          <a:p>
            <a:pPr lvl="0"/>
            <a:endParaRPr lang="en-US" dirty="0"/>
          </a:p>
        </p:txBody>
      </p:sp>
      <p:sp>
        <p:nvSpPr>
          <p:cNvPr id="50" name="Content Placeholder 49"/>
          <p:cNvSpPr>
            <a:spLocks noGrp="1"/>
          </p:cNvSpPr>
          <p:nvPr>
            <p:ph sz="quarter" idx="37"/>
          </p:nvPr>
        </p:nvSpPr>
        <p:spPr>
          <a:xfrm>
            <a:off x="4343400" y="5029200"/>
            <a:ext cx="2819400" cy="381000"/>
          </a:xfrm>
          <a:prstGeom prst="rect">
            <a:avLst/>
          </a:prstGeom>
        </p:spPr>
        <p:txBody>
          <a:bodyPr/>
          <a:lstStyle>
            <a:lvl1pPr>
              <a:buNone/>
              <a:defRPr/>
            </a:lvl1pPr>
          </a:lstStyle>
          <a:p>
            <a:pPr lvl="0"/>
            <a:endParaRPr lang="en-US" dirty="0"/>
          </a:p>
        </p:txBody>
      </p:sp>
      <p:sp>
        <p:nvSpPr>
          <p:cNvPr id="52" name="Content Placeholder 51"/>
          <p:cNvSpPr>
            <a:spLocks noGrp="1"/>
          </p:cNvSpPr>
          <p:nvPr>
            <p:ph sz="quarter" idx="38"/>
          </p:nvPr>
        </p:nvSpPr>
        <p:spPr>
          <a:xfrm>
            <a:off x="4343400" y="5410200"/>
            <a:ext cx="2882053" cy="381000"/>
          </a:xfrm>
          <a:prstGeom prst="rect">
            <a:avLst/>
          </a:prstGeom>
        </p:spPr>
        <p:txBody>
          <a:bodyPr/>
          <a:lstStyle>
            <a:lvl1pPr>
              <a:buNone/>
              <a:defRPr/>
            </a:lvl1pPr>
          </a:lstStyle>
          <a:p>
            <a:pPr lvl="0"/>
            <a:endParaRPr lang="en-US" dirty="0"/>
          </a:p>
        </p:txBody>
      </p:sp>
      <p:sp>
        <p:nvSpPr>
          <p:cNvPr id="54" name="Content Placeholder 53"/>
          <p:cNvSpPr>
            <a:spLocks noGrp="1"/>
          </p:cNvSpPr>
          <p:nvPr>
            <p:ph sz="quarter" idx="39"/>
          </p:nvPr>
        </p:nvSpPr>
        <p:spPr>
          <a:xfrm>
            <a:off x="4343400" y="5791200"/>
            <a:ext cx="2882053" cy="381000"/>
          </a:xfrm>
          <a:prstGeom prst="rect">
            <a:avLst/>
          </a:prstGeom>
        </p:spPr>
        <p:txBody>
          <a:bodyPr/>
          <a:lstStyle>
            <a:lvl1pPr>
              <a:buNone/>
              <a:defRPr/>
            </a:lvl1pPr>
          </a:lstStyle>
          <a:p>
            <a:pPr lvl="0"/>
            <a:endParaRPr lang="en-US" dirty="0"/>
          </a:p>
        </p:txBody>
      </p:sp>
      <p:sp>
        <p:nvSpPr>
          <p:cNvPr id="56" name="Content Placeholder 55"/>
          <p:cNvSpPr>
            <a:spLocks noGrp="1"/>
          </p:cNvSpPr>
          <p:nvPr>
            <p:ph sz="quarter" idx="40"/>
          </p:nvPr>
        </p:nvSpPr>
        <p:spPr>
          <a:xfrm>
            <a:off x="7543800" y="1828800"/>
            <a:ext cx="1295400" cy="304800"/>
          </a:xfrm>
          <a:prstGeom prst="rect">
            <a:avLst/>
          </a:prstGeom>
        </p:spPr>
        <p:txBody>
          <a:bodyPr/>
          <a:lstStyle>
            <a:lvl1pPr>
              <a:buNone/>
              <a:defRPr/>
            </a:lvl1pPr>
          </a:lstStyle>
          <a:p>
            <a:pPr lvl="0"/>
            <a:endParaRPr lang="en-US" dirty="0"/>
          </a:p>
        </p:txBody>
      </p:sp>
      <p:sp>
        <p:nvSpPr>
          <p:cNvPr id="58" name="Content Placeholder 57"/>
          <p:cNvSpPr>
            <a:spLocks noGrp="1"/>
          </p:cNvSpPr>
          <p:nvPr>
            <p:ph sz="quarter" idx="41"/>
          </p:nvPr>
        </p:nvSpPr>
        <p:spPr>
          <a:xfrm>
            <a:off x="7543800" y="2286000"/>
            <a:ext cx="1295400" cy="381000"/>
          </a:xfrm>
          <a:prstGeom prst="rect">
            <a:avLst/>
          </a:prstGeom>
        </p:spPr>
        <p:txBody>
          <a:bodyPr/>
          <a:lstStyle>
            <a:lvl1pPr>
              <a:buNone/>
              <a:defRPr/>
            </a:lvl1pPr>
          </a:lstStyle>
          <a:p>
            <a:pPr lvl="0"/>
            <a:endParaRPr lang="en-US" dirty="0"/>
          </a:p>
        </p:txBody>
      </p:sp>
      <p:sp>
        <p:nvSpPr>
          <p:cNvPr id="60" name="Content Placeholder 59"/>
          <p:cNvSpPr>
            <a:spLocks noGrp="1"/>
          </p:cNvSpPr>
          <p:nvPr>
            <p:ph sz="quarter" idx="42"/>
          </p:nvPr>
        </p:nvSpPr>
        <p:spPr>
          <a:xfrm>
            <a:off x="7543800" y="2895600"/>
            <a:ext cx="1371600" cy="381000"/>
          </a:xfrm>
          <a:prstGeom prst="rect">
            <a:avLst/>
          </a:prstGeom>
        </p:spPr>
        <p:txBody>
          <a:bodyPr/>
          <a:lstStyle>
            <a:lvl1pPr>
              <a:buNone/>
              <a:defRPr/>
            </a:lvl1pPr>
          </a:lstStyle>
          <a:p>
            <a:pPr lvl="0"/>
            <a:endParaRPr lang="en-US" dirty="0"/>
          </a:p>
        </p:txBody>
      </p:sp>
      <p:sp>
        <p:nvSpPr>
          <p:cNvPr id="62" name="Content Placeholder 61"/>
          <p:cNvSpPr>
            <a:spLocks noGrp="1"/>
          </p:cNvSpPr>
          <p:nvPr>
            <p:ph sz="quarter" idx="43"/>
          </p:nvPr>
        </p:nvSpPr>
        <p:spPr>
          <a:xfrm>
            <a:off x="7543800" y="3505200"/>
            <a:ext cx="1371600" cy="381000"/>
          </a:xfrm>
          <a:prstGeom prst="rect">
            <a:avLst/>
          </a:prstGeom>
        </p:spPr>
        <p:txBody>
          <a:bodyPr/>
          <a:lstStyle>
            <a:lvl1pPr>
              <a:buNone/>
              <a:defRPr/>
            </a:lvl1pPr>
          </a:lstStyle>
          <a:p>
            <a:pPr lvl="0"/>
            <a:endParaRPr lang="en-US" dirty="0"/>
          </a:p>
        </p:txBody>
      </p:sp>
      <p:sp>
        <p:nvSpPr>
          <p:cNvPr id="33" name="LON">
            <a:extLst>
              <a:ext uri="{FF2B5EF4-FFF2-40B4-BE49-F238E27FC236}">
                <a16:creationId xmlns:a16="http://schemas.microsoft.com/office/drawing/2014/main" id="{62ADFE7E-5FD0-45E3-8E21-C57D05F59C2B}"/>
              </a:ext>
            </a:extLst>
          </p:cNvPr>
          <p:cNvSpPr>
            <a:spLocks noGrp="1"/>
          </p:cNvSpPr>
          <p:nvPr>
            <p:ph sz="quarter" idx="44" hasCustomPrompt="1"/>
          </p:nvPr>
        </p:nvSpPr>
        <p:spPr>
          <a:xfrm>
            <a:off x="331788" y="6403255"/>
            <a:ext cx="749300" cy="365125"/>
          </a:xfrm>
          <a:prstGeom prst="rect">
            <a:avLst/>
          </a:prstGeom>
        </p:spPr>
        <p:txBody>
          <a:bodyPr anchor="ctr">
            <a:normAutofit/>
          </a:bodyPr>
          <a:lstStyle>
            <a:lvl1pPr marL="0" indent="0">
              <a:buNone/>
              <a:defRPr sz="1200">
                <a:solidFill>
                  <a:schemeClr val="bg1">
                    <a:lumMod val="50000"/>
                  </a:schemeClr>
                </a:solidFill>
              </a:defRPr>
            </a:lvl1pPr>
          </a:lstStyle>
          <a:p>
            <a:pPr lvl="0"/>
            <a:r>
              <a:rPr lang="en-US" dirty="0"/>
              <a:t>LO #</a:t>
            </a:r>
          </a:p>
        </p:txBody>
      </p:sp>
    </p:spTree>
    <p:extLst>
      <p:ext uri="{BB962C8B-B14F-4D97-AF65-F5344CB8AC3E}">
        <p14:creationId xmlns:p14="http://schemas.microsoft.com/office/powerpoint/2010/main" val="310998150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Image Slide: Version A">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04800" y="5350050"/>
            <a:ext cx="8534400" cy="309975"/>
          </a:xfrm>
          <a:prstGeom prst="rect">
            <a:avLst/>
          </a:prstGeom>
        </p:spPr>
        <p:txBody>
          <a:bodyPr/>
          <a:lstStyle>
            <a:lvl1pPr>
              <a:defRPr sz="2000" b="0" i="0">
                <a:latin typeface="Calibri" charset="0"/>
                <a:ea typeface="Calibri" charset="0"/>
                <a:cs typeface="Calibri" charset="0"/>
              </a:defRPr>
            </a:lvl1pPr>
          </a:lstStyle>
          <a:p>
            <a:pPr lvl="0"/>
            <a:r>
              <a:rPr lang="en-US" sz="2000" dirty="0"/>
              <a:t>Figure Title</a:t>
            </a:r>
          </a:p>
        </p:txBody>
      </p:sp>
      <p:sp>
        <p:nvSpPr>
          <p:cNvPr id="3" name="Content Placeholder 2"/>
          <p:cNvSpPr>
            <a:spLocks noGrp="1"/>
          </p:cNvSpPr>
          <p:nvPr>
            <p:ph idx="1"/>
          </p:nvPr>
        </p:nvSpPr>
        <p:spPr>
          <a:xfrm>
            <a:off x="304800" y="820738"/>
            <a:ext cx="8534400" cy="4452937"/>
          </a:xfrm>
          <a:prstGeom prst="rect">
            <a:avLst/>
          </a:prstGeom>
        </p:spPr>
        <p:txBody>
          <a:bodyPr/>
          <a:lstStyle>
            <a:lvl1pPr marL="0" indent="0">
              <a:buNone/>
              <a:defRPr b="0" i="0">
                <a:latin typeface="Calibri" charset="0"/>
                <a:ea typeface="Calibri" charset="0"/>
                <a:cs typeface="Calibri" charset="0"/>
              </a:defRPr>
            </a:lvl1pPr>
          </a:lstStyle>
          <a:p>
            <a:pPr lvl="0"/>
            <a:endParaRPr lang="en-US" dirty="0"/>
          </a:p>
        </p:txBody>
      </p:sp>
      <p:sp>
        <p:nvSpPr>
          <p:cNvPr id="8" name="Content Placeholder 7"/>
          <p:cNvSpPr>
            <a:spLocks noGrp="1"/>
          </p:cNvSpPr>
          <p:nvPr>
            <p:ph sz="quarter" idx="13" hasCustomPrompt="1"/>
          </p:nvPr>
        </p:nvSpPr>
        <p:spPr>
          <a:xfrm>
            <a:off x="304800" y="5780675"/>
            <a:ext cx="8534400" cy="467725"/>
          </a:xfrm>
          <a:prstGeom prst="rect">
            <a:avLst/>
          </a:prstGeom>
        </p:spPr>
        <p:txBody>
          <a:bodyPr/>
          <a:lstStyle>
            <a:lvl1pPr marL="0" indent="0">
              <a:buNone/>
              <a:defRPr sz="2000" b="0" i="0">
                <a:latin typeface="Calibri" charset="0"/>
                <a:ea typeface="Calibri" charset="0"/>
                <a:cs typeface="Calibri" charset="0"/>
              </a:defRPr>
            </a:lvl1pPr>
          </a:lstStyle>
          <a:p>
            <a:pPr lvl="0"/>
            <a:r>
              <a:rPr lang="en-US" sz="2000" dirty="0"/>
              <a:t>Figure 4.5 Figure title placeholder</a:t>
            </a:r>
          </a:p>
        </p:txBody>
      </p:sp>
      <p:sp>
        <p:nvSpPr>
          <p:cNvPr id="6" name="Slide Number Placeholder 5"/>
          <p:cNvSpPr>
            <a:spLocks noGrp="1"/>
          </p:cNvSpPr>
          <p:nvPr>
            <p:ph type="sldNum" sz="quarter" idx="12"/>
          </p:nvPr>
        </p:nvSpPr>
        <p:spPr>
          <a:xfrm>
            <a:off x="6457950" y="6356350"/>
            <a:ext cx="2381250" cy="365125"/>
          </a:xfrm>
        </p:spPr>
        <p:txBody>
          <a:bodyPr/>
          <a:lstStyle>
            <a:lvl1pPr>
              <a:defRPr b="0" i="0">
                <a:latin typeface="Calibri" charset="0"/>
                <a:ea typeface="Calibri" charset="0"/>
                <a:cs typeface="Calibri" charset="0"/>
              </a:defRPr>
            </a:lvl1pPr>
          </a:lstStyle>
          <a:p>
            <a:fld id="{42181430-7FCB-BA4C-90CE-EB7ACCC9EC50}" type="slidenum">
              <a:rPr lang="en-US" smtClean="0"/>
              <a:pPr/>
              <a:t>‹#›</a:t>
            </a:fld>
            <a:endParaRPr lang="en-US" dirty="0"/>
          </a:p>
        </p:txBody>
      </p:sp>
      <p:sp>
        <p:nvSpPr>
          <p:cNvPr id="5" name="Footer Placeholder 4"/>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126673764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Image Slide: Version B">
    <p:spTree>
      <p:nvGrpSpPr>
        <p:cNvPr id="1" name=""/>
        <p:cNvGrpSpPr/>
        <p:nvPr/>
      </p:nvGrpSpPr>
      <p:grpSpPr>
        <a:xfrm>
          <a:off x="0" y="0"/>
          <a:ext cx="0" cy="0"/>
          <a:chOff x="0" y="0"/>
          <a:chExt cx="0" cy="0"/>
        </a:xfrm>
      </p:grpSpPr>
      <p:sp>
        <p:nvSpPr>
          <p:cNvPr id="4" name="Title 3"/>
          <p:cNvSpPr>
            <a:spLocks noGrp="1"/>
          </p:cNvSpPr>
          <p:nvPr>
            <p:ph type="title" hasCustomPrompt="1"/>
          </p:nvPr>
        </p:nvSpPr>
        <p:spPr>
          <a:xfrm>
            <a:off x="304800" y="5920581"/>
            <a:ext cx="8534400" cy="435770"/>
          </a:xfrm>
          <a:prstGeom prst="rect">
            <a:avLst/>
          </a:prstGeom>
        </p:spPr>
        <p:txBody>
          <a:bodyPr/>
          <a:lstStyle>
            <a:lvl1pPr algn="ctr">
              <a:defRPr b="0" i="0">
                <a:latin typeface="Calibri" charset="0"/>
                <a:ea typeface="Calibri" charset="0"/>
                <a:cs typeface="Calibri" charset="0"/>
              </a:defRPr>
            </a:lvl1pPr>
          </a:lstStyle>
          <a:p>
            <a:r>
              <a:rPr lang="en-US" dirty="0"/>
              <a:t>Image Title</a:t>
            </a:r>
          </a:p>
        </p:txBody>
      </p:sp>
      <p:sp>
        <p:nvSpPr>
          <p:cNvPr id="3" name="Content Placeholder 2"/>
          <p:cNvSpPr>
            <a:spLocks noGrp="1"/>
          </p:cNvSpPr>
          <p:nvPr>
            <p:ph idx="1"/>
          </p:nvPr>
        </p:nvSpPr>
        <p:spPr>
          <a:xfrm>
            <a:off x="304800" y="820738"/>
            <a:ext cx="8534400" cy="4970462"/>
          </a:xfrm>
          <a:prstGeom prst="rect">
            <a:avLst/>
          </a:prstGeom>
        </p:spPr>
        <p:txBody>
          <a:bodyPr/>
          <a:lstStyle>
            <a:lvl1pPr marL="0" indent="0">
              <a:buNone/>
              <a:defRPr b="0" i="0">
                <a:latin typeface="Calibri" charset="0"/>
                <a:ea typeface="Calibri" charset="0"/>
                <a:cs typeface="Calibri" charset="0"/>
              </a:defRPr>
            </a:lvl1pPr>
          </a:lstStyle>
          <a:p>
            <a:pPr lvl="0"/>
            <a:endParaRPr lang="en-US" dirty="0"/>
          </a:p>
        </p:txBody>
      </p:sp>
      <p:sp>
        <p:nvSpPr>
          <p:cNvPr id="6" name="Slide Number Placeholder 5"/>
          <p:cNvSpPr>
            <a:spLocks noGrp="1"/>
          </p:cNvSpPr>
          <p:nvPr>
            <p:ph type="sldNum" sz="quarter" idx="12"/>
          </p:nvPr>
        </p:nvSpPr>
        <p:spPr>
          <a:xfrm>
            <a:off x="6457950" y="6356350"/>
            <a:ext cx="2381250" cy="365125"/>
          </a:xfrm>
        </p:spPr>
        <p:txBody>
          <a:bodyPr/>
          <a:lstStyle>
            <a:lvl1pPr>
              <a:defRPr b="0" i="0">
                <a:latin typeface="Calibri" charset="0"/>
                <a:ea typeface="Calibri" charset="0"/>
                <a:cs typeface="Calibri" charset="0"/>
              </a:defRPr>
            </a:lvl1pPr>
          </a:lstStyle>
          <a:p>
            <a:fld id="{42181430-7FCB-BA4C-90CE-EB7ACCC9EC50}" type="slidenum">
              <a:rPr lang="en-US" smtClean="0"/>
              <a:pPr/>
              <a:t>‹#›</a:t>
            </a:fld>
            <a:endParaRPr lang="en-US" dirty="0"/>
          </a:p>
        </p:txBody>
      </p:sp>
      <p:sp>
        <p:nvSpPr>
          <p:cNvPr id="5" name="Footer Placeholder 4"/>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15.xml"/><Relationship Id="rId1" Type="http://schemas.openxmlformats.org/officeDocument/2006/relationships/slideLayout" Target="../slideLayouts/slideLayout14.xml"/></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17.xml"/><Relationship Id="rId1" Type="http://schemas.openxmlformats.org/officeDocument/2006/relationships/slideLayout" Target="../slideLayouts/slideLayout16.xml"/></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19.xml"/><Relationship Id="rId1" Type="http://schemas.openxmlformats.org/officeDocument/2006/relationships/slideLayout" Target="../slideLayouts/slideLayout18.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27.xml"/><Relationship Id="rId13" Type="http://schemas.openxmlformats.org/officeDocument/2006/relationships/slideLayout" Target="../slideLayouts/slideLayout32.xml"/><Relationship Id="rId3" Type="http://schemas.openxmlformats.org/officeDocument/2006/relationships/slideLayout" Target="../slideLayouts/slideLayout22.xml"/><Relationship Id="rId7" Type="http://schemas.openxmlformats.org/officeDocument/2006/relationships/slideLayout" Target="../slideLayouts/slideLayout26.xml"/><Relationship Id="rId12" Type="http://schemas.openxmlformats.org/officeDocument/2006/relationships/slideLayout" Target="../slideLayouts/slideLayout31.xml"/><Relationship Id="rId2" Type="http://schemas.openxmlformats.org/officeDocument/2006/relationships/slideLayout" Target="../slideLayouts/slideLayout21.xml"/><Relationship Id="rId1" Type="http://schemas.openxmlformats.org/officeDocument/2006/relationships/slideLayout" Target="../slideLayouts/slideLayout20.xml"/><Relationship Id="rId6" Type="http://schemas.openxmlformats.org/officeDocument/2006/relationships/slideLayout" Target="../slideLayouts/slideLayout25.xml"/><Relationship Id="rId11" Type="http://schemas.openxmlformats.org/officeDocument/2006/relationships/slideLayout" Target="../slideLayouts/slideLayout30.xml"/><Relationship Id="rId5" Type="http://schemas.openxmlformats.org/officeDocument/2006/relationships/slideLayout" Target="../slideLayouts/slideLayout24.xml"/><Relationship Id="rId15" Type="http://schemas.openxmlformats.org/officeDocument/2006/relationships/theme" Target="../theme/theme6.xml"/><Relationship Id="rId10" Type="http://schemas.openxmlformats.org/officeDocument/2006/relationships/slideLayout" Target="../slideLayouts/slideLayout29.xml"/><Relationship Id="rId4" Type="http://schemas.openxmlformats.org/officeDocument/2006/relationships/slideLayout" Target="../slideLayouts/slideLayout23.xml"/><Relationship Id="rId9" Type="http://schemas.openxmlformats.org/officeDocument/2006/relationships/slideLayout" Target="../slideLayouts/slideLayout28.xml"/><Relationship Id="rId14" Type="http://schemas.openxmlformats.org/officeDocument/2006/relationships/slideLayout" Target="../slideLayouts/slideLayout33.xml"/></Relationships>
</file>

<file path=ppt/slideMasters/_rels/slideMaster7.xml.rels><?xml version="1.0" encoding="UTF-8" standalone="yes"?>
<Relationships xmlns="http://schemas.openxmlformats.org/package/2006/relationships"><Relationship Id="rId3" Type="http://schemas.openxmlformats.org/officeDocument/2006/relationships/theme" Target="../theme/theme7.xml"/><Relationship Id="rId2" Type="http://schemas.openxmlformats.org/officeDocument/2006/relationships/slideLayout" Target="../slideLayouts/slideLayout35.xml"/><Relationship Id="rId1" Type="http://schemas.openxmlformats.org/officeDocument/2006/relationships/slideLayout" Target="../slideLayouts/slideLayout3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p:cNvSpPr/>
          <p:nvPr userDrawn="1"/>
        </p:nvSpPr>
        <p:spPr>
          <a:xfrm>
            <a:off x="0" y="3048000"/>
            <a:ext cx="9144000" cy="45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93880275"/>
      </p:ext>
    </p:extLst>
  </p:cSld>
  <p:clrMap bg1="lt1" tx1="dk1" bg2="lt2" tx2="dk2" accent1="accent1" accent2="accent2" accent3="accent3" accent4="accent4" accent5="accent5" accent6="accent6" hlink="hlink" folHlink="folHlink"/>
  <p:sldLayoutIdLst>
    <p:sldLayoutId id="2147483940" r:id="rId1"/>
    <p:sldLayoutId id="2147483941" r:id="rId2"/>
  </p:sldLayoutIdLst>
  <p:hf hdr="0" dt="0"/>
  <p:txStyles>
    <p:titleStyle>
      <a:lvl1pPr algn="ctr" defTabSz="914400" rtl="0" eaLnBrk="1" latinLnBrk="0" hangingPunct="1">
        <a:lnSpc>
          <a:spcPct val="90000"/>
        </a:lnSpc>
        <a:spcBef>
          <a:spcPct val="0"/>
        </a:spcBef>
        <a:buNone/>
        <a:defRPr sz="1100" kern="1200">
          <a:solidFill>
            <a:schemeClr val="tx1"/>
          </a:solidFill>
          <a:latin typeface="Source Sans Pro" charset="0"/>
          <a:ea typeface="Source Sans Pro" charset="0"/>
          <a:cs typeface="Source Sans Pro" charset="0"/>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itle Placeholder 2"/>
          <p:cNvSpPr>
            <a:spLocks noGrp="1"/>
          </p:cNvSpPr>
          <p:nvPr>
            <p:ph type="title"/>
          </p:nvPr>
        </p:nvSpPr>
        <p:spPr>
          <a:xfrm>
            <a:off x="295274" y="777242"/>
            <a:ext cx="8543926" cy="975360"/>
          </a:xfrm>
          <a:prstGeom prst="rect">
            <a:avLst/>
          </a:prstGeom>
        </p:spPr>
        <p:txBody>
          <a:bodyPr vert="horz" lIns="91440" tIns="45720" rIns="91440" bIns="45720" rtlCol="0" anchor="t">
            <a:normAutofit/>
          </a:bodyPr>
          <a:lstStyle/>
          <a:p>
            <a:r>
              <a:rPr lang="en-US" dirty="0"/>
              <a:t>Click to edit Master title style</a:t>
            </a:r>
          </a:p>
        </p:txBody>
      </p:sp>
      <p:sp>
        <p:nvSpPr>
          <p:cNvPr id="16" name="Rectangle 15"/>
          <p:cNvSpPr/>
          <p:nvPr userDrawn="1"/>
        </p:nvSpPr>
        <p:spPr>
          <a:xfrm>
            <a:off x="0" y="0"/>
            <a:ext cx="9144000" cy="45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 name="Straight Connector 16"/>
          <p:cNvCxnSpPr/>
          <p:nvPr userDrawn="1"/>
        </p:nvCxnSpPr>
        <p:spPr>
          <a:xfrm>
            <a:off x="0" y="6324600"/>
            <a:ext cx="914400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6" name="Slide Number Placeholder 5"/>
          <p:cNvSpPr>
            <a:spLocks noGrp="1"/>
          </p:cNvSpPr>
          <p:nvPr>
            <p:ph type="sldNum" sz="quarter" idx="4"/>
          </p:nvPr>
        </p:nvSpPr>
        <p:spPr>
          <a:xfrm>
            <a:off x="6457950" y="6356350"/>
            <a:ext cx="2381250" cy="365125"/>
          </a:xfrm>
          <a:prstGeom prst="rect">
            <a:avLst/>
          </a:prstGeom>
        </p:spPr>
        <p:txBody>
          <a:bodyPr vert="horz" lIns="91440" tIns="45720" rIns="91440" bIns="45720" rtlCol="0" anchor="ctr"/>
          <a:lstStyle>
            <a:lvl1pPr algn="r">
              <a:defRPr sz="1200" b="0" i="0">
                <a:solidFill>
                  <a:schemeClr val="tx1"/>
                </a:solidFill>
                <a:latin typeface="Source Sans Pro" charset="0"/>
                <a:ea typeface="Source Sans Pro" charset="0"/>
                <a:cs typeface="Source Sans Pro" charset="0"/>
              </a:defRPr>
            </a:lvl1pPr>
          </a:lstStyle>
          <a:p>
            <a:fld id="{67B19427-F580-D146-B60E-4CADEE75497F}" type="slidenum">
              <a:rPr lang="en-US" smtClean="0"/>
              <a:pPr/>
              <a:t>‹#›</a:t>
            </a:fld>
            <a:endParaRPr lang="en-US" dirty="0"/>
          </a:p>
        </p:txBody>
      </p:sp>
      <p:sp>
        <p:nvSpPr>
          <p:cNvPr id="5"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b="0" i="0">
                <a:solidFill>
                  <a:schemeClr val="tx1"/>
                </a:solidFill>
                <a:latin typeface="Source Sans Pro" charset="0"/>
                <a:ea typeface="Source Sans Pro" charset="0"/>
                <a:cs typeface="Source Sans Pro" charset="0"/>
              </a:defRPr>
            </a:lvl1pPr>
          </a:lstStyle>
          <a:p>
            <a:r>
              <a:rPr lang="en-US"/>
              <a:t>Copyright ©2018 John Wiley &amp; Sons, Inc. </a:t>
            </a:r>
            <a:endParaRPr lang="en-US" dirty="0"/>
          </a:p>
        </p:txBody>
      </p:sp>
    </p:spTree>
    <p:extLst>
      <p:ext uri="{BB962C8B-B14F-4D97-AF65-F5344CB8AC3E}">
        <p14:creationId xmlns:p14="http://schemas.microsoft.com/office/powerpoint/2010/main" val="1611586285"/>
      </p:ext>
    </p:extLst>
  </p:cSld>
  <p:clrMap bg1="lt1" tx1="dk1" bg2="lt2" tx2="dk2" accent1="accent1" accent2="accent2" accent3="accent3" accent4="accent4" accent5="accent5" accent6="accent6" hlink="hlink" folHlink="folHlink"/>
  <p:sldLayoutIdLst>
    <p:sldLayoutId id="2147483937" r:id="rId1"/>
    <p:sldLayoutId id="2147483942" r:id="rId2"/>
    <p:sldLayoutId id="2147483956" r:id="rId3"/>
    <p:sldLayoutId id="2147483955" r:id="rId4"/>
    <p:sldLayoutId id="2147483957" r:id="rId5"/>
    <p:sldLayoutId id="2147483959" r:id="rId6"/>
    <p:sldLayoutId id="2147483958" r:id="rId7"/>
    <p:sldLayoutId id="2147483960" r:id="rId8"/>
    <p:sldLayoutId id="2147483961" r:id="rId9"/>
    <p:sldLayoutId id="2147483962" r:id="rId10"/>
    <p:sldLayoutId id="2147483963" r:id="rId11"/>
  </p:sldLayoutIdLst>
  <p:hf hdr="0" dt="0"/>
  <p:txStyles>
    <p:titleStyle>
      <a:lvl1pPr algn="l" defTabSz="914400" rtl="0" eaLnBrk="1" latinLnBrk="0" hangingPunct="1">
        <a:lnSpc>
          <a:spcPct val="90000"/>
        </a:lnSpc>
        <a:spcBef>
          <a:spcPct val="0"/>
        </a:spcBef>
        <a:buNone/>
        <a:defRPr sz="4000" kern="1200">
          <a:solidFill>
            <a:schemeClr val="accent1"/>
          </a:solidFill>
          <a:latin typeface="Calibri" charset="0"/>
          <a:ea typeface="Calibri" charset="0"/>
          <a:cs typeface="Calibri" charset="0"/>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4800" y="743713"/>
            <a:ext cx="8534400" cy="990599"/>
          </a:xfrm>
          <a:prstGeom prst="rect">
            <a:avLst/>
          </a:prstGeom>
        </p:spPr>
        <p:txBody>
          <a:bodyPr vert="horz" lIns="91440" tIns="45720" rIns="91440" bIns="45720" rtlCol="0" anchor="t">
            <a:normAutofit/>
          </a:bodyPr>
          <a:lstStyle/>
          <a:p>
            <a:r>
              <a:rPr lang="en-US" dirty="0"/>
              <a:t>Click to edit Master title style</a:t>
            </a:r>
          </a:p>
        </p:txBody>
      </p:sp>
      <p:sp>
        <p:nvSpPr>
          <p:cNvPr id="7" name="Rectangle 6"/>
          <p:cNvSpPr/>
          <p:nvPr userDrawn="1"/>
        </p:nvSpPr>
        <p:spPr>
          <a:xfrm>
            <a:off x="0" y="0"/>
            <a:ext cx="9144000" cy="45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Connector 7"/>
          <p:cNvCxnSpPr/>
          <p:nvPr userDrawn="1"/>
        </p:nvCxnSpPr>
        <p:spPr>
          <a:xfrm>
            <a:off x="0" y="6324600"/>
            <a:ext cx="914400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9" name="Slide Number Placeholder 5"/>
          <p:cNvSpPr>
            <a:spLocks noGrp="1"/>
          </p:cNvSpPr>
          <p:nvPr>
            <p:ph type="sldNum" sz="quarter" idx="4"/>
          </p:nvPr>
        </p:nvSpPr>
        <p:spPr>
          <a:xfrm>
            <a:off x="6457950" y="6356350"/>
            <a:ext cx="2381250" cy="365125"/>
          </a:xfrm>
          <a:prstGeom prst="rect">
            <a:avLst/>
          </a:prstGeom>
        </p:spPr>
        <p:txBody>
          <a:bodyPr vert="horz" lIns="91440" tIns="45720" rIns="91440" bIns="45720" rtlCol="0" anchor="ctr"/>
          <a:lstStyle>
            <a:lvl1pPr algn="r">
              <a:defRPr sz="1200" b="0" i="0">
                <a:solidFill>
                  <a:schemeClr val="tx1"/>
                </a:solidFill>
                <a:latin typeface="Source Sans Pro" charset="0"/>
                <a:ea typeface="Source Sans Pro" charset="0"/>
                <a:cs typeface="Source Sans Pro" charset="0"/>
              </a:defRPr>
            </a:lvl1pPr>
          </a:lstStyle>
          <a:p>
            <a:fld id="{67B19427-F580-D146-B60E-4CADEE75497F}" type="slidenum">
              <a:rPr lang="en-US" smtClean="0"/>
              <a:pPr/>
              <a:t>‹#›</a:t>
            </a:fld>
            <a:endParaRPr lang="en-US" dirty="0"/>
          </a:p>
        </p:txBody>
      </p:sp>
      <p:sp>
        <p:nvSpPr>
          <p:cNvPr id="10"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b="0" i="0">
                <a:solidFill>
                  <a:schemeClr val="tx1"/>
                </a:solidFill>
                <a:latin typeface="Source Sans Pro" charset="0"/>
                <a:ea typeface="Source Sans Pro" charset="0"/>
                <a:cs typeface="Source Sans Pro" charset="0"/>
              </a:defRPr>
            </a:lvl1pPr>
          </a:lstStyle>
          <a:p>
            <a:r>
              <a:rPr lang="en-US"/>
              <a:t>Copyright ©2018 John Wiley &amp; Sons, Inc. </a:t>
            </a:r>
            <a:endParaRPr lang="en-US" dirty="0"/>
          </a:p>
        </p:txBody>
      </p:sp>
    </p:spTree>
    <p:extLst>
      <p:ext uri="{BB962C8B-B14F-4D97-AF65-F5344CB8AC3E}">
        <p14:creationId xmlns:p14="http://schemas.microsoft.com/office/powerpoint/2010/main" val="1811935529"/>
      </p:ext>
    </p:extLst>
  </p:cSld>
  <p:clrMap bg1="lt1" tx1="dk1" bg2="lt2" tx2="dk2" accent1="accent1" accent2="accent2" accent3="accent3" accent4="accent4" accent5="accent5" accent6="accent6" hlink="hlink" folHlink="folHlink"/>
  <p:sldLayoutIdLst>
    <p:sldLayoutId id="2147483944" r:id="rId1"/>
    <p:sldLayoutId id="2147483964" r:id="rId2"/>
  </p:sldLayoutIdLst>
  <p:hf hdr="0" dt="0"/>
  <p:txStyles>
    <p:titleStyle>
      <a:lvl1pPr algn="l" defTabSz="914400" rtl="0" eaLnBrk="1" latinLnBrk="0" hangingPunct="1">
        <a:lnSpc>
          <a:spcPct val="90000"/>
        </a:lnSpc>
        <a:spcBef>
          <a:spcPct val="0"/>
        </a:spcBef>
        <a:buNone/>
        <a:defRPr sz="4000" kern="1200">
          <a:solidFill>
            <a:schemeClr val="accent2"/>
          </a:solidFill>
          <a:latin typeface="Calibri" charset="0"/>
          <a:ea typeface="Calibri" charset="0"/>
          <a:cs typeface="Calibri" charset="0"/>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98704" y="762002"/>
            <a:ext cx="8540496" cy="990600"/>
          </a:xfrm>
          <a:prstGeom prst="rect">
            <a:avLst/>
          </a:prstGeom>
        </p:spPr>
        <p:txBody>
          <a:bodyPr vert="horz" lIns="91440" tIns="45720" rIns="91440" bIns="45720" rtlCol="0" anchor="t">
            <a:normAutofit/>
          </a:bodyPr>
          <a:lstStyle/>
          <a:p>
            <a:r>
              <a:rPr lang="en-US" dirty="0"/>
              <a:t>Click to edit Master title style</a:t>
            </a:r>
          </a:p>
        </p:txBody>
      </p:sp>
      <p:sp>
        <p:nvSpPr>
          <p:cNvPr id="7" name="Rectangle 6"/>
          <p:cNvSpPr/>
          <p:nvPr userDrawn="1"/>
        </p:nvSpPr>
        <p:spPr>
          <a:xfrm>
            <a:off x="0" y="0"/>
            <a:ext cx="9144000" cy="45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Connector 7"/>
          <p:cNvCxnSpPr/>
          <p:nvPr userDrawn="1"/>
        </p:nvCxnSpPr>
        <p:spPr>
          <a:xfrm>
            <a:off x="0" y="6324600"/>
            <a:ext cx="914400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9" name="Slide Number Placeholder 5"/>
          <p:cNvSpPr>
            <a:spLocks noGrp="1"/>
          </p:cNvSpPr>
          <p:nvPr>
            <p:ph type="sldNum" sz="quarter" idx="4"/>
          </p:nvPr>
        </p:nvSpPr>
        <p:spPr>
          <a:xfrm>
            <a:off x="6457950" y="6356350"/>
            <a:ext cx="2381250" cy="365125"/>
          </a:xfrm>
          <a:prstGeom prst="rect">
            <a:avLst/>
          </a:prstGeom>
        </p:spPr>
        <p:txBody>
          <a:bodyPr vert="horz" lIns="91440" tIns="45720" rIns="91440" bIns="45720" rtlCol="0" anchor="ctr"/>
          <a:lstStyle>
            <a:lvl1pPr algn="r">
              <a:defRPr sz="1200" b="0" i="0">
                <a:solidFill>
                  <a:schemeClr val="tx1"/>
                </a:solidFill>
                <a:latin typeface="Source Sans Pro" charset="0"/>
                <a:ea typeface="Source Sans Pro" charset="0"/>
                <a:cs typeface="Source Sans Pro" charset="0"/>
              </a:defRPr>
            </a:lvl1pPr>
          </a:lstStyle>
          <a:p>
            <a:fld id="{67B19427-F580-D146-B60E-4CADEE75497F}" type="slidenum">
              <a:rPr lang="en-US" smtClean="0"/>
              <a:pPr/>
              <a:t>‹#›</a:t>
            </a:fld>
            <a:endParaRPr lang="en-US" dirty="0"/>
          </a:p>
        </p:txBody>
      </p:sp>
      <p:sp>
        <p:nvSpPr>
          <p:cNvPr id="10"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b="0" i="0">
                <a:solidFill>
                  <a:schemeClr val="tx1"/>
                </a:solidFill>
                <a:latin typeface="Source Sans Pro" charset="0"/>
                <a:ea typeface="Source Sans Pro" charset="0"/>
                <a:cs typeface="Source Sans Pro" charset="0"/>
              </a:defRPr>
            </a:lvl1pPr>
          </a:lstStyle>
          <a:p>
            <a:r>
              <a:rPr lang="en-US"/>
              <a:t>Copyright ©2018 John Wiley &amp; Sons, Inc. </a:t>
            </a:r>
            <a:endParaRPr lang="en-US" dirty="0"/>
          </a:p>
        </p:txBody>
      </p:sp>
    </p:spTree>
    <p:extLst>
      <p:ext uri="{BB962C8B-B14F-4D97-AF65-F5344CB8AC3E}">
        <p14:creationId xmlns:p14="http://schemas.microsoft.com/office/powerpoint/2010/main" val="332194706"/>
      </p:ext>
    </p:extLst>
  </p:cSld>
  <p:clrMap bg1="lt1" tx1="dk1" bg2="lt2" tx2="dk2" accent1="accent1" accent2="accent2" accent3="accent3" accent4="accent4" accent5="accent5" accent6="accent6" hlink="hlink" folHlink="folHlink"/>
  <p:sldLayoutIdLst>
    <p:sldLayoutId id="2147483966" r:id="rId1"/>
    <p:sldLayoutId id="2147483967" r:id="rId2"/>
  </p:sldLayoutIdLst>
  <p:hf hdr="0" dt="0"/>
  <p:txStyles>
    <p:titleStyle>
      <a:lvl1pPr algn="l" defTabSz="914400" rtl="0" eaLnBrk="1" latinLnBrk="0" hangingPunct="1">
        <a:lnSpc>
          <a:spcPct val="90000"/>
        </a:lnSpc>
        <a:spcBef>
          <a:spcPct val="0"/>
        </a:spcBef>
        <a:buNone/>
        <a:defRPr sz="4000" kern="1200">
          <a:solidFill>
            <a:schemeClr val="accent1"/>
          </a:solidFill>
          <a:latin typeface="Calibri" charset="0"/>
          <a:ea typeface="Calibri" charset="0"/>
          <a:cs typeface="Calibri" charset="0"/>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4800" y="762000"/>
            <a:ext cx="8534400" cy="990599"/>
          </a:xfrm>
          <a:prstGeom prst="rect">
            <a:avLst/>
          </a:prstGeom>
        </p:spPr>
        <p:txBody>
          <a:bodyPr vert="horz" lIns="91440" tIns="45720" rIns="91440" bIns="45720" rtlCol="0" anchor="t">
            <a:normAutofit/>
          </a:bodyPr>
          <a:lstStyle/>
          <a:p>
            <a:r>
              <a:rPr lang="en-US" dirty="0"/>
              <a:t>Click to edit Master title style</a:t>
            </a:r>
          </a:p>
        </p:txBody>
      </p:sp>
      <p:sp>
        <p:nvSpPr>
          <p:cNvPr id="7" name="Rectangle 6"/>
          <p:cNvSpPr/>
          <p:nvPr userDrawn="1"/>
        </p:nvSpPr>
        <p:spPr>
          <a:xfrm>
            <a:off x="0" y="0"/>
            <a:ext cx="9144000" cy="45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Connector 7"/>
          <p:cNvCxnSpPr/>
          <p:nvPr userDrawn="1"/>
        </p:nvCxnSpPr>
        <p:spPr>
          <a:xfrm>
            <a:off x="0" y="6324600"/>
            <a:ext cx="914400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9" name="Slide Number Placeholder 5"/>
          <p:cNvSpPr>
            <a:spLocks noGrp="1"/>
          </p:cNvSpPr>
          <p:nvPr>
            <p:ph type="sldNum" sz="quarter" idx="4"/>
          </p:nvPr>
        </p:nvSpPr>
        <p:spPr>
          <a:xfrm>
            <a:off x="6457950" y="6356350"/>
            <a:ext cx="2381250" cy="365125"/>
          </a:xfrm>
          <a:prstGeom prst="rect">
            <a:avLst/>
          </a:prstGeom>
        </p:spPr>
        <p:txBody>
          <a:bodyPr vert="horz" lIns="91440" tIns="45720" rIns="91440" bIns="45720" rtlCol="0" anchor="ctr"/>
          <a:lstStyle>
            <a:lvl1pPr algn="r">
              <a:defRPr sz="1200" b="0" i="0">
                <a:solidFill>
                  <a:schemeClr val="tx1"/>
                </a:solidFill>
                <a:latin typeface="Source Sans Pro" charset="0"/>
                <a:ea typeface="Source Sans Pro" charset="0"/>
                <a:cs typeface="Source Sans Pro" charset="0"/>
              </a:defRPr>
            </a:lvl1pPr>
          </a:lstStyle>
          <a:p>
            <a:fld id="{67B19427-F580-D146-B60E-4CADEE75497F}" type="slidenum">
              <a:rPr lang="en-US" smtClean="0"/>
              <a:pPr/>
              <a:t>‹#›</a:t>
            </a:fld>
            <a:endParaRPr lang="en-US" dirty="0"/>
          </a:p>
        </p:txBody>
      </p:sp>
      <p:sp>
        <p:nvSpPr>
          <p:cNvPr id="10"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b="0" i="0">
                <a:solidFill>
                  <a:schemeClr val="tx1"/>
                </a:solidFill>
                <a:latin typeface="Source Sans Pro" charset="0"/>
                <a:ea typeface="Source Sans Pro" charset="0"/>
                <a:cs typeface="Source Sans Pro" charset="0"/>
              </a:defRPr>
            </a:lvl1pPr>
          </a:lstStyle>
          <a:p>
            <a:r>
              <a:rPr lang="en-US"/>
              <a:t>Copyright ©2018 John Wiley &amp; Sons, Inc. </a:t>
            </a:r>
            <a:endParaRPr lang="en-US" dirty="0"/>
          </a:p>
        </p:txBody>
      </p:sp>
    </p:spTree>
    <p:extLst>
      <p:ext uri="{BB962C8B-B14F-4D97-AF65-F5344CB8AC3E}">
        <p14:creationId xmlns:p14="http://schemas.microsoft.com/office/powerpoint/2010/main" val="1616953850"/>
      </p:ext>
    </p:extLst>
  </p:cSld>
  <p:clrMap bg1="lt1" tx1="dk1" bg2="lt2" tx2="dk2" accent1="accent1" accent2="accent2" accent3="accent3" accent4="accent4" accent5="accent5" accent6="accent6" hlink="hlink" folHlink="folHlink"/>
  <p:sldLayoutIdLst>
    <p:sldLayoutId id="2147483969" r:id="rId1"/>
    <p:sldLayoutId id="2147483970" r:id="rId2"/>
  </p:sldLayoutIdLst>
  <p:hf hdr="0" dt="0"/>
  <p:txStyles>
    <p:titleStyle>
      <a:lvl1pPr algn="l" defTabSz="914400" rtl="0" eaLnBrk="1" latinLnBrk="0" hangingPunct="1">
        <a:lnSpc>
          <a:spcPct val="90000"/>
        </a:lnSpc>
        <a:spcBef>
          <a:spcPct val="0"/>
        </a:spcBef>
        <a:buNone/>
        <a:defRPr sz="4000" kern="1200">
          <a:solidFill>
            <a:schemeClr val="accent1"/>
          </a:solidFill>
          <a:latin typeface="Calibri" charset="0"/>
          <a:ea typeface="Calibri" charset="0"/>
          <a:cs typeface="Calibri" charset="0"/>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86512" y="762000"/>
            <a:ext cx="8534400" cy="990599"/>
          </a:xfrm>
          <a:prstGeom prst="rect">
            <a:avLst/>
          </a:prstGeom>
        </p:spPr>
        <p:txBody>
          <a:bodyPr vert="horz" lIns="91440" tIns="45720" rIns="91440" bIns="45720" rtlCol="0" anchor="t">
            <a:normAutofit/>
          </a:bodyPr>
          <a:lstStyle/>
          <a:p>
            <a:r>
              <a:rPr lang="en-US" dirty="0"/>
              <a:t>Click to edit Master title style</a:t>
            </a:r>
          </a:p>
        </p:txBody>
      </p:sp>
      <p:sp>
        <p:nvSpPr>
          <p:cNvPr id="7" name="Rectangle 6"/>
          <p:cNvSpPr/>
          <p:nvPr userDrawn="1"/>
        </p:nvSpPr>
        <p:spPr>
          <a:xfrm>
            <a:off x="0" y="0"/>
            <a:ext cx="9144000" cy="45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Connector 7"/>
          <p:cNvCxnSpPr/>
          <p:nvPr userDrawn="1"/>
        </p:nvCxnSpPr>
        <p:spPr>
          <a:xfrm>
            <a:off x="0" y="6324600"/>
            <a:ext cx="914400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9" name="Slide Number Placeholder 5"/>
          <p:cNvSpPr>
            <a:spLocks noGrp="1"/>
          </p:cNvSpPr>
          <p:nvPr>
            <p:ph type="sldNum" sz="quarter" idx="4"/>
          </p:nvPr>
        </p:nvSpPr>
        <p:spPr>
          <a:xfrm>
            <a:off x="6457950" y="6356350"/>
            <a:ext cx="2381250" cy="365125"/>
          </a:xfrm>
          <a:prstGeom prst="rect">
            <a:avLst/>
          </a:prstGeom>
        </p:spPr>
        <p:txBody>
          <a:bodyPr vert="horz" lIns="91440" tIns="45720" rIns="91440" bIns="45720" rtlCol="0" anchor="ctr"/>
          <a:lstStyle>
            <a:lvl1pPr algn="r">
              <a:defRPr sz="1200" b="0" i="0">
                <a:solidFill>
                  <a:schemeClr val="tx1"/>
                </a:solidFill>
                <a:latin typeface="Source Sans Pro" charset="0"/>
                <a:ea typeface="Source Sans Pro" charset="0"/>
                <a:cs typeface="Source Sans Pro" charset="0"/>
              </a:defRPr>
            </a:lvl1pPr>
          </a:lstStyle>
          <a:p>
            <a:fld id="{67B19427-F580-D146-B60E-4CADEE75497F}" type="slidenum">
              <a:rPr lang="en-US" smtClean="0"/>
              <a:pPr/>
              <a:t>‹#›</a:t>
            </a:fld>
            <a:endParaRPr lang="en-US" dirty="0"/>
          </a:p>
        </p:txBody>
      </p:sp>
      <p:sp>
        <p:nvSpPr>
          <p:cNvPr id="10"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b="0" i="0">
                <a:solidFill>
                  <a:schemeClr val="tx1"/>
                </a:solidFill>
                <a:latin typeface="Source Sans Pro" charset="0"/>
                <a:ea typeface="Source Sans Pro" charset="0"/>
                <a:cs typeface="Source Sans Pro" charset="0"/>
              </a:defRPr>
            </a:lvl1pPr>
          </a:lstStyle>
          <a:p>
            <a:r>
              <a:rPr lang="en-US"/>
              <a:t>Copyright ©2018 John Wiley &amp; Sons, Inc. </a:t>
            </a:r>
            <a:endParaRPr lang="en-US" dirty="0"/>
          </a:p>
        </p:txBody>
      </p:sp>
    </p:spTree>
    <p:extLst>
      <p:ext uri="{BB962C8B-B14F-4D97-AF65-F5344CB8AC3E}">
        <p14:creationId xmlns:p14="http://schemas.microsoft.com/office/powerpoint/2010/main" val="302625734"/>
      </p:ext>
    </p:extLst>
  </p:cSld>
  <p:clrMap bg1="lt1" tx1="dk1" bg2="lt2" tx2="dk2" accent1="accent1" accent2="accent2" accent3="accent3" accent4="accent4" accent5="accent5" accent6="accent6" hlink="hlink" folHlink="folHlink"/>
  <p:sldLayoutIdLst>
    <p:sldLayoutId id="2147483972" r:id="rId1"/>
    <p:sldLayoutId id="2147483973" r:id="rId2"/>
    <p:sldLayoutId id="2147483984" r:id="rId3"/>
    <p:sldLayoutId id="2147483985" r:id="rId4"/>
    <p:sldLayoutId id="2147483980" r:id="rId5"/>
    <p:sldLayoutId id="2147483981" r:id="rId6"/>
    <p:sldLayoutId id="2147483982" r:id="rId7"/>
    <p:sldLayoutId id="2147483983" r:id="rId8"/>
    <p:sldLayoutId id="2147483974" r:id="rId9"/>
    <p:sldLayoutId id="2147483975" r:id="rId10"/>
    <p:sldLayoutId id="2147483986" r:id="rId11"/>
    <p:sldLayoutId id="2147483987" r:id="rId12"/>
    <p:sldLayoutId id="2147483988" r:id="rId13"/>
    <p:sldLayoutId id="2147483989" r:id="rId14"/>
  </p:sldLayoutIdLst>
  <p:hf hdr="0" dt="0"/>
  <p:txStyles>
    <p:titleStyle>
      <a:lvl1pPr algn="l" defTabSz="914400" rtl="0" eaLnBrk="1" latinLnBrk="0" hangingPunct="1">
        <a:lnSpc>
          <a:spcPct val="90000"/>
        </a:lnSpc>
        <a:spcBef>
          <a:spcPct val="0"/>
        </a:spcBef>
        <a:buNone/>
        <a:defRPr sz="4000" kern="1200">
          <a:solidFill>
            <a:schemeClr val="accent1"/>
          </a:solidFill>
          <a:latin typeface="Calibri" charset="0"/>
          <a:ea typeface="Calibri" charset="0"/>
          <a:cs typeface="Calibri" charset="0"/>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Footer Placeholder 4"/>
          <p:cNvSpPr>
            <a:spLocks noGrp="1"/>
          </p:cNvSpPr>
          <p:nvPr>
            <p:ph type="ftr" sz="quarter" idx="3"/>
          </p:nvPr>
        </p:nvSpPr>
        <p:spPr>
          <a:xfrm>
            <a:off x="3028950" y="6400800"/>
            <a:ext cx="3086100" cy="365125"/>
          </a:xfrm>
          <a:prstGeom prst="rect">
            <a:avLst/>
          </a:prstGeom>
        </p:spPr>
        <p:txBody>
          <a:bodyPr vert="horz" lIns="91440" tIns="45720" rIns="91440" bIns="45720" rtlCol="0" anchor="ctr"/>
          <a:lstStyle>
            <a:lvl1pPr algn="ctr">
              <a:defRPr sz="1200">
                <a:solidFill>
                  <a:schemeClr val="tx1"/>
                </a:solidFill>
              </a:defRPr>
            </a:lvl1pPr>
          </a:lstStyle>
          <a:p>
            <a:r>
              <a:rPr lang="en-US"/>
              <a:t>Copyright ©2018 John Wiley &amp; Sons, Inc. </a:t>
            </a:r>
            <a:endParaRPr lang="en-US" dirty="0"/>
          </a:p>
        </p:txBody>
      </p:sp>
      <p:sp>
        <p:nvSpPr>
          <p:cNvPr id="6" name="Slide Number Placeholder 5"/>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solidFill>
              </a:defRPr>
            </a:lvl1pPr>
          </a:lstStyle>
          <a:p>
            <a:fld id="{42181430-7FCB-BA4C-90CE-EB7ACCC9EC50}" type="slidenum">
              <a:rPr lang="en-US" smtClean="0"/>
              <a:pPr/>
              <a:t>‹#›</a:t>
            </a:fld>
            <a:endParaRPr lang="en-US"/>
          </a:p>
        </p:txBody>
      </p:sp>
      <p:sp>
        <p:nvSpPr>
          <p:cNvPr id="7" name="Rectangle 6"/>
          <p:cNvSpPr/>
          <p:nvPr userDrawn="1"/>
        </p:nvSpPr>
        <p:spPr>
          <a:xfrm>
            <a:off x="0" y="0"/>
            <a:ext cx="9144000" cy="45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Connector 7"/>
          <p:cNvCxnSpPr/>
          <p:nvPr userDrawn="1"/>
        </p:nvCxnSpPr>
        <p:spPr>
          <a:xfrm>
            <a:off x="0" y="6324600"/>
            <a:ext cx="9144000" cy="0"/>
          </a:xfrm>
          <a:prstGeom prst="line">
            <a:avLst/>
          </a:prstGeom>
          <a:ln w="127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5216900"/>
      </p:ext>
    </p:extLst>
  </p:cSld>
  <p:clrMap bg1="lt1" tx1="dk1" bg2="lt2" tx2="dk2" accent1="accent1" accent2="accent2" accent3="accent3" accent4="accent4" accent5="accent5" accent6="accent6" hlink="hlink" folHlink="folHlink"/>
  <p:sldLayoutIdLst>
    <p:sldLayoutId id="2147483978" r:id="rId1"/>
    <p:sldLayoutId id="2147483979" r:id="rId2"/>
  </p:sldLayoutIdLst>
  <p:hf hdr="0" dt="0"/>
  <p:txStyles>
    <p:titleStyle>
      <a:lvl1pPr algn="l" defTabSz="914400" rtl="0" eaLnBrk="1" latinLnBrk="0" hangingPunct="1">
        <a:lnSpc>
          <a:spcPct val="90000"/>
        </a:lnSpc>
        <a:spcBef>
          <a:spcPct val="0"/>
        </a:spcBef>
        <a:buNone/>
        <a:defRPr sz="1600" b="0" i="0" kern="1200">
          <a:solidFill>
            <a:schemeClr val="tx1"/>
          </a:solidFill>
          <a:latin typeface="Source Sans Pro" charset="0"/>
          <a:ea typeface="Source Sans Pro" charset="0"/>
          <a:cs typeface="Source Sans Pro" charset="0"/>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8.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8.xml"/></Relationships>
</file>

<file path=ppt/slides/_rels/slide1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8.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8.xml"/></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3.xml"/><Relationship Id="rId1" Type="http://schemas.openxmlformats.org/officeDocument/2006/relationships/vmlDrawing" Target="../drawings/vmlDrawing1.vml"/><Relationship Id="rId6" Type="http://schemas.openxmlformats.org/officeDocument/2006/relationships/image" Target="../media/image6.wmf"/><Relationship Id="rId5" Type="http://schemas.openxmlformats.org/officeDocument/2006/relationships/oleObject" Target="../embeddings/oleObject2.bin"/><Relationship Id="rId4" Type="http://schemas.openxmlformats.org/officeDocument/2006/relationships/image" Target="../media/image5.wmf"/></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3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3.xml"/></Relationships>
</file>

<file path=ppt/slides/_rels/slide3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3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5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32.xml"/></Relationships>
</file>

<file path=ppt/slides/_rels/slide5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53.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0.xml"/><Relationship Id="rId1" Type="http://schemas.openxmlformats.org/officeDocument/2006/relationships/slideLayout" Target="../slideLayouts/slideLayout20.xml"/></Relationships>
</file>

<file path=ppt/slides/_rels/slide5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25.xml"/></Relationships>
</file>

<file path=ppt/slides/_rels/slide5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25.xml"/></Relationships>
</file>

<file path=ppt/slides/_rels/slide56.xml.rels><?xml version="1.0" encoding="UTF-8" standalone="yes"?>
<Relationships xmlns="http://schemas.openxmlformats.org/package/2006/relationships"><Relationship Id="rId8" Type="http://schemas.openxmlformats.org/officeDocument/2006/relationships/image" Target="../media/image19.wmf"/><Relationship Id="rId3" Type="http://schemas.openxmlformats.org/officeDocument/2006/relationships/oleObject" Target="../embeddings/oleObject3.bin"/><Relationship Id="rId7" Type="http://schemas.openxmlformats.org/officeDocument/2006/relationships/oleObject" Target="../embeddings/oleObject5.bin"/><Relationship Id="rId2" Type="http://schemas.openxmlformats.org/officeDocument/2006/relationships/slideLayout" Target="../slideLayouts/slideLayout32.xml"/><Relationship Id="rId1" Type="http://schemas.openxmlformats.org/officeDocument/2006/relationships/vmlDrawing" Target="../drawings/vmlDrawing2.vml"/><Relationship Id="rId6" Type="http://schemas.openxmlformats.org/officeDocument/2006/relationships/image" Target="../media/image18.wmf"/><Relationship Id="rId5" Type="http://schemas.openxmlformats.org/officeDocument/2006/relationships/oleObject" Target="../embeddings/oleObject4.bin"/><Relationship Id="rId4" Type="http://schemas.openxmlformats.org/officeDocument/2006/relationships/image" Target="../media/image17.wmf"/></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58.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22.xml"/><Relationship Id="rId1" Type="http://schemas.openxmlformats.org/officeDocument/2006/relationships/vmlDrawing" Target="../drawings/vmlDrawing3.vml"/><Relationship Id="rId6" Type="http://schemas.openxmlformats.org/officeDocument/2006/relationships/image" Target="../media/image21.wmf"/><Relationship Id="rId5" Type="http://schemas.openxmlformats.org/officeDocument/2006/relationships/oleObject" Target="../embeddings/oleObject7.bin"/><Relationship Id="rId4" Type="http://schemas.openxmlformats.org/officeDocument/2006/relationships/image" Target="../media/image20.wmf"/></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60.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20.xml"/></Relationships>
</file>

<file path=ppt/slides/_rels/slide6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slideLayout" Target="../slideLayouts/slideLayout24.xml"/><Relationship Id="rId1" Type="http://schemas.openxmlformats.org/officeDocument/2006/relationships/vmlDrawing" Target="../drawings/vmlDrawing4.vml"/><Relationship Id="rId5" Type="http://schemas.openxmlformats.org/officeDocument/2006/relationships/image" Target="../media/image23.wmf"/><Relationship Id="rId4" Type="http://schemas.openxmlformats.org/officeDocument/2006/relationships/oleObject" Target="../embeddings/oleObject8.bin"/></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63.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22.xml"/><Relationship Id="rId1" Type="http://schemas.openxmlformats.org/officeDocument/2006/relationships/vmlDrawing" Target="../drawings/vmlDrawing5.vml"/><Relationship Id="rId6" Type="http://schemas.openxmlformats.org/officeDocument/2006/relationships/image" Target="../media/image26.wmf"/><Relationship Id="rId5" Type="http://schemas.openxmlformats.org/officeDocument/2006/relationships/oleObject" Target="../embeddings/oleObject10.bin"/><Relationship Id="rId4" Type="http://schemas.openxmlformats.org/officeDocument/2006/relationships/image" Target="../media/image25.wmf"/></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152400" y="301126"/>
            <a:ext cx="8839200" cy="1146674"/>
          </a:xfrm>
        </p:spPr>
        <p:txBody>
          <a:bodyPr/>
          <a:lstStyle/>
          <a:p>
            <a:r>
              <a:rPr lang="en-US" dirty="0">
                <a:latin typeface="Calibri" panose="020F0502020204030204" pitchFamily="34" charset="0"/>
              </a:rPr>
              <a:t>Accounting Principles</a:t>
            </a:r>
          </a:p>
        </p:txBody>
      </p:sp>
      <p:sp>
        <p:nvSpPr>
          <p:cNvPr id="3" name="Edition"/>
          <p:cNvSpPr>
            <a:spLocks noGrp="1"/>
          </p:cNvSpPr>
          <p:nvPr>
            <p:ph sz="quarter" idx="17"/>
          </p:nvPr>
        </p:nvSpPr>
        <p:spPr>
          <a:xfrm>
            <a:off x="152400" y="1669054"/>
            <a:ext cx="8839200" cy="503802"/>
          </a:xfrm>
        </p:spPr>
        <p:txBody>
          <a:bodyPr/>
          <a:lstStyle/>
          <a:p>
            <a:r>
              <a:rPr lang="en-US" dirty="0"/>
              <a:t>Thirteenth Edition</a:t>
            </a:r>
          </a:p>
        </p:txBody>
      </p:sp>
      <p:sp>
        <p:nvSpPr>
          <p:cNvPr id="4" name="Author"/>
          <p:cNvSpPr>
            <a:spLocks noGrp="1"/>
          </p:cNvSpPr>
          <p:nvPr>
            <p:ph sz="quarter" idx="18"/>
          </p:nvPr>
        </p:nvSpPr>
        <p:spPr>
          <a:xfrm>
            <a:off x="152400" y="2364849"/>
            <a:ext cx="8839200" cy="468411"/>
          </a:xfrm>
        </p:spPr>
        <p:txBody>
          <a:bodyPr/>
          <a:lstStyle/>
          <a:p>
            <a:r>
              <a:rPr lang="en-US" dirty="0"/>
              <a:t>Weygandt </a:t>
            </a:r>
            <a:r>
              <a:rPr lang="en-US" dirty="0">
                <a:ea typeface="STIX" charset="0"/>
                <a:cs typeface="STIX" charset="0"/>
              </a:rPr>
              <a:t>● </a:t>
            </a:r>
            <a:r>
              <a:rPr lang="en-US" dirty="0"/>
              <a:t>Kimmel </a:t>
            </a:r>
            <a:r>
              <a:rPr lang="en-US" dirty="0">
                <a:ea typeface="STIX" charset="0"/>
                <a:cs typeface="STIX" charset="0"/>
              </a:rPr>
              <a:t>● </a:t>
            </a:r>
            <a:r>
              <a:rPr lang="en-US" dirty="0"/>
              <a:t>Kieso</a:t>
            </a:r>
          </a:p>
        </p:txBody>
      </p:sp>
      <p:sp>
        <p:nvSpPr>
          <p:cNvPr id="5" name="CN"/>
          <p:cNvSpPr>
            <a:spLocks noGrp="1"/>
          </p:cNvSpPr>
          <p:nvPr>
            <p:ph sz="quarter" idx="19"/>
          </p:nvPr>
        </p:nvSpPr>
        <p:spPr>
          <a:xfrm>
            <a:off x="152400" y="3728006"/>
            <a:ext cx="8839200" cy="645414"/>
          </a:xfrm>
        </p:spPr>
        <p:txBody>
          <a:bodyPr/>
          <a:lstStyle/>
          <a:p>
            <a:r>
              <a:rPr lang="en-US" b="1" dirty="0"/>
              <a:t>Chapter 13</a:t>
            </a:r>
          </a:p>
        </p:txBody>
      </p:sp>
      <p:sp>
        <p:nvSpPr>
          <p:cNvPr id="6" name="CT"/>
          <p:cNvSpPr>
            <a:spLocks noGrp="1"/>
          </p:cNvSpPr>
          <p:nvPr>
            <p:ph sz="quarter" idx="20"/>
          </p:nvPr>
        </p:nvSpPr>
        <p:spPr>
          <a:xfrm>
            <a:off x="152400" y="4572000"/>
            <a:ext cx="8839200" cy="990600"/>
          </a:xfrm>
        </p:spPr>
        <p:txBody>
          <a:bodyPr/>
          <a:lstStyle/>
          <a:p>
            <a:r>
              <a:rPr lang="en-US" sz="4000" dirty="0"/>
              <a:t>Corporations: Organization and Capital Stock Transactions</a:t>
            </a:r>
          </a:p>
        </p:txBody>
      </p:sp>
      <p:sp>
        <p:nvSpPr>
          <p:cNvPr id="7" name="Content Placeholder 6"/>
          <p:cNvSpPr>
            <a:spLocks noGrp="1"/>
          </p:cNvSpPr>
          <p:nvPr>
            <p:ph sz="quarter" idx="21"/>
          </p:nvPr>
        </p:nvSpPr>
        <p:spPr>
          <a:xfrm>
            <a:off x="152400" y="5715000"/>
            <a:ext cx="8839200" cy="533400"/>
          </a:xfrm>
        </p:spPr>
        <p:txBody>
          <a:bodyPr/>
          <a:lstStyle/>
          <a:p>
            <a:r>
              <a:rPr lang="en-IN" sz="1600" dirty="0">
                <a:solidFill>
                  <a:schemeClr val="bg1"/>
                </a:solidFill>
                <a:latin typeface="Calibri" panose="020F0502020204030204" pitchFamily="34" charset="0"/>
              </a:rPr>
              <a:t>This slide deck contains animations. Please disable animations if they cause issues with your device.</a:t>
            </a:r>
          </a:p>
        </p:txBody>
      </p:sp>
    </p:spTree>
    <p:extLst>
      <p:ext uri="{BB962C8B-B14F-4D97-AF65-F5344CB8AC3E}">
        <p14:creationId xmlns:p14="http://schemas.microsoft.com/office/powerpoint/2010/main" val="28705651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0D2AD4-D339-4D90-8D48-5695A27B0073}"/>
              </a:ext>
            </a:extLst>
          </p:cNvPr>
          <p:cNvSpPr>
            <a:spLocks noGrp="1"/>
          </p:cNvSpPr>
          <p:nvPr>
            <p:ph type="title"/>
          </p:nvPr>
        </p:nvSpPr>
        <p:spPr/>
        <p:txBody>
          <a:bodyPr/>
          <a:lstStyle/>
          <a:p>
            <a:r>
              <a:rPr lang="en-US" b="1" dirty="0">
                <a:latin typeface="Calibri" panose="020F0502020204030204" pitchFamily="34" charset="0"/>
                <a:ea typeface="Source Sans Pro" charset="0"/>
                <a:cs typeface="Calibri" panose="020F0502020204030204" pitchFamily="34" charset="0"/>
              </a:rPr>
              <a:t>Corporate Form of Organization</a:t>
            </a:r>
            <a:endParaRPr lang="en-US" dirty="0"/>
          </a:p>
        </p:txBody>
      </p:sp>
      <p:sp>
        <p:nvSpPr>
          <p:cNvPr id="3" name="Content Placeholder 2">
            <a:extLst>
              <a:ext uri="{FF2B5EF4-FFF2-40B4-BE49-F238E27FC236}">
                <a16:creationId xmlns:a16="http://schemas.microsoft.com/office/drawing/2014/main" id="{4A26108D-CBFF-4190-9FE4-3A9B6D477203}"/>
              </a:ext>
            </a:extLst>
          </p:cNvPr>
          <p:cNvSpPr>
            <a:spLocks noGrp="1"/>
          </p:cNvSpPr>
          <p:nvPr>
            <p:ph sz="quarter" idx="16"/>
          </p:nvPr>
        </p:nvSpPr>
        <p:spPr>
          <a:xfrm>
            <a:off x="304800" y="1524000"/>
            <a:ext cx="8534400" cy="762000"/>
          </a:xfrm>
        </p:spPr>
        <p:txBody>
          <a:bodyPr/>
          <a:lstStyle/>
          <a:p>
            <a:r>
              <a:rPr lang="en-US" altLang="en-US" sz="2600" b="1" dirty="0"/>
              <a:t>An entity separate and distinct from its owners. </a:t>
            </a:r>
            <a:r>
              <a:rPr lang="en-US" dirty="0"/>
              <a:t>2 ways to classify corporations:</a:t>
            </a:r>
          </a:p>
          <a:p>
            <a:endParaRPr lang="en-US" sz="2600" dirty="0"/>
          </a:p>
        </p:txBody>
      </p:sp>
      <p:pic>
        <p:nvPicPr>
          <p:cNvPr id="7" name="Content Placeholder 6" descr="Entities can be of two types: classified by purpose which contain, not for profit and for profit. Classified by ownership which contain, publicly held and privately held. Examples of not for profit organizations: Salvation Army and American cancer society. Examples of for profit and publicly held organizations: Mc Donald’s, Nike, Pepsi Co, and Google. Examples of privately held organizations: Cargill Inc. ">
            <a:extLst>
              <a:ext uri="{FF2B5EF4-FFF2-40B4-BE49-F238E27FC236}">
                <a16:creationId xmlns:a16="http://schemas.microsoft.com/office/drawing/2014/main" id="{9BD4625B-6355-4C9D-90D5-A13EB3412152}"/>
              </a:ext>
            </a:extLst>
          </p:cNvPr>
          <p:cNvPicPr>
            <a:picLocks noGrp="1" noChangeAspect="1"/>
          </p:cNvPicPr>
          <p:nvPr>
            <p:ph sz="quarter" idx="17"/>
          </p:nvPr>
        </p:nvPicPr>
        <p:blipFill>
          <a:blip r:embed="rId3"/>
          <a:stretch>
            <a:fillRect/>
          </a:stretch>
        </p:blipFill>
        <p:spPr>
          <a:xfrm>
            <a:off x="685800" y="2510184"/>
            <a:ext cx="7510502" cy="3639332"/>
          </a:xfrm>
          <a:prstGeom prst="rect">
            <a:avLst/>
          </a:prstGeom>
        </p:spPr>
      </p:pic>
      <p:sp>
        <p:nvSpPr>
          <p:cNvPr id="5" name="Slide Number Placeholder 4">
            <a:extLst>
              <a:ext uri="{FF2B5EF4-FFF2-40B4-BE49-F238E27FC236}">
                <a16:creationId xmlns:a16="http://schemas.microsoft.com/office/drawing/2014/main" id="{EC3B1F0C-3D14-4445-99C3-F2B0BB16DD06}"/>
              </a:ext>
            </a:extLst>
          </p:cNvPr>
          <p:cNvSpPr>
            <a:spLocks noGrp="1"/>
          </p:cNvSpPr>
          <p:nvPr>
            <p:ph type="sldNum" sz="quarter" idx="10"/>
          </p:nvPr>
        </p:nvSpPr>
        <p:spPr/>
        <p:txBody>
          <a:bodyPr/>
          <a:lstStyle/>
          <a:p>
            <a:fld id="{67B19427-F580-D146-B60E-4CADEE75497F}" type="slidenum">
              <a:rPr lang="en-US" smtClean="0"/>
              <a:pPr/>
              <a:t>2</a:t>
            </a:fld>
            <a:endParaRPr lang="en-US" dirty="0"/>
          </a:p>
        </p:txBody>
      </p:sp>
      <p:sp>
        <p:nvSpPr>
          <p:cNvPr id="6" name="Footer Placeholder 5">
            <a:extLst>
              <a:ext uri="{FF2B5EF4-FFF2-40B4-BE49-F238E27FC236}">
                <a16:creationId xmlns:a16="http://schemas.microsoft.com/office/drawing/2014/main" id="{23A7B95F-389E-409C-BA8E-598AA15E15C4}"/>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19060131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D81E25-C006-4763-AC3F-BB4306B27DB7}"/>
              </a:ext>
            </a:extLst>
          </p:cNvPr>
          <p:cNvSpPr>
            <a:spLocks noGrp="1"/>
          </p:cNvSpPr>
          <p:nvPr>
            <p:ph type="title"/>
          </p:nvPr>
        </p:nvSpPr>
        <p:spPr>
          <a:xfrm>
            <a:off x="304800" y="762001"/>
            <a:ext cx="8534400" cy="731836"/>
          </a:xfrm>
        </p:spPr>
        <p:txBody>
          <a:bodyPr/>
          <a:lstStyle/>
          <a:p>
            <a:r>
              <a:rPr lang="en-US" b="1" dirty="0">
                <a:latin typeface="Calibri" panose="020F0502020204030204" pitchFamily="34" charset="0"/>
                <a:ea typeface="Source Sans Pro" charset="0"/>
                <a:cs typeface="Calibri" panose="020F0502020204030204" pitchFamily="34" charset="0"/>
              </a:rPr>
              <a:t>Characteristics of Corporation</a:t>
            </a:r>
            <a:endParaRPr lang="en-US" sz="2400" dirty="0"/>
          </a:p>
        </p:txBody>
      </p:sp>
      <p:sp>
        <p:nvSpPr>
          <p:cNvPr id="3" name="Content Placeholder 2">
            <a:extLst>
              <a:ext uri="{FF2B5EF4-FFF2-40B4-BE49-F238E27FC236}">
                <a16:creationId xmlns:a16="http://schemas.microsoft.com/office/drawing/2014/main" id="{2DC42F61-913A-4CF9-8263-97D24006ACF6}"/>
              </a:ext>
            </a:extLst>
          </p:cNvPr>
          <p:cNvSpPr>
            <a:spLocks noGrp="1"/>
          </p:cNvSpPr>
          <p:nvPr>
            <p:ph sz="quarter" idx="16"/>
          </p:nvPr>
        </p:nvSpPr>
        <p:spPr>
          <a:xfrm>
            <a:off x="304800" y="1828800"/>
            <a:ext cx="8534400" cy="731836"/>
          </a:xfrm>
        </p:spPr>
        <p:txBody>
          <a:bodyPr/>
          <a:lstStyle/>
          <a:p>
            <a:r>
              <a:rPr lang="en-US" altLang="en-US" sz="2400" dirty="0">
                <a:latin typeface="Calibri" panose="020F0502020204030204" pitchFamily="34" charset="0"/>
              </a:rPr>
              <a:t>Characteristics that distinguish corporations from proprietorships and partnerships.</a:t>
            </a:r>
            <a:endParaRPr lang="en-US" sz="2400" dirty="0">
              <a:latin typeface="Calibri" panose="020F0502020204030204" pitchFamily="34" charset="0"/>
            </a:endParaRPr>
          </a:p>
        </p:txBody>
      </p:sp>
      <p:sp>
        <p:nvSpPr>
          <p:cNvPr id="4" name="Content Placeholder 3">
            <a:extLst>
              <a:ext uri="{FF2B5EF4-FFF2-40B4-BE49-F238E27FC236}">
                <a16:creationId xmlns:a16="http://schemas.microsoft.com/office/drawing/2014/main" id="{F56D9DCE-B4F1-46C3-9B63-645A0E4BE00D}"/>
              </a:ext>
            </a:extLst>
          </p:cNvPr>
          <p:cNvSpPr>
            <a:spLocks noGrp="1"/>
          </p:cNvSpPr>
          <p:nvPr>
            <p:ph sz="quarter" idx="17"/>
          </p:nvPr>
        </p:nvSpPr>
        <p:spPr>
          <a:xfrm>
            <a:off x="304800" y="2743200"/>
            <a:ext cx="4343400" cy="3430586"/>
          </a:xfrm>
        </p:spPr>
        <p:txBody>
          <a:bodyPr/>
          <a:lstStyle/>
          <a:p>
            <a:r>
              <a:rPr lang="en-US" altLang="en-US" sz="2400" b="1" dirty="0">
                <a:latin typeface="Calibri" panose="020F0502020204030204" pitchFamily="34" charset="0"/>
              </a:rPr>
              <a:t>Advantages</a:t>
            </a:r>
          </a:p>
          <a:p>
            <a:pPr marL="292608" indent="-292608">
              <a:buClr>
                <a:srgbClr val="990000"/>
              </a:buClr>
              <a:buFont typeface="Arial" panose="020B0604020202020204" pitchFamily="34" charset="0"/>
              <a:buChar char="•"/>
            </a:pPr>
            <a:r>
              <a:rPr lang="en-US" altLang="en-US" sz="2400" dirty="0">
                <a:solidFill>
                  <a:srgbClr val="000000"/>
                </a:solidFill>
                <a:latin typeface="Calibri" panose="020F0502020204030204" pitchFamily="34" charset="0"/>
              </a:rPr>
              <a:t>Separate Legal Existence</a:t>
            </a:r>
          </a:p>
          <a:p>
            <a:pPr marL="292608" indent="-292608">
              <a:buClr>
                <a:srgbClr val="990000"/>
              </a:buClr>
              <a:buFont typeface="Arial" panose="020B0604020202020204" pitchFamily="34" charset="0"/>
              <a:buChar char="•"/>
            </a:pPr>
            <a:r>
              <a:rPr lang="en-US" altLang="en-US" sz="2400" dirty="0">
                <a:solidFill>
                  <a:srgbClr val="000000"/>
                </a:solidFill>
                <a:latin typeface="Calibri" panose="020F0502020204030204" pitchFamily="34" charset="0"/>
              </a:rPr>
              <a:t>Limited Liability of Stockholders</a:t>
            </a:r>
          </a:p>
          <a:p>
            <a:pPr marL="292608" indent="-292608">
              <a:buClr>
                <a:srgbClr val="990000"/>
              </a:buClr>
              <a:buFont typeface="Arial" panose="020B0604020202020204" pitchFamily="34" charset="0"/>
              <a:buChar char="•"/>
            </a:pPr>
            <a:r>
              <a:rPr lang="en-US" altLang="en-US" sz="2400" dirty="0">
                <a:solidFill>
                  <a:srgbClr val="000000"/>
                </a:solidFill>
                <a:latin typeface="Calibri" panose="020F0502020204030204" pitchFamily="34" charset="0"/>
              </a:rPr>
              <a:t>Transferable Ownership Rights</a:t>
            </a:r>
          </a:p>
          <a:p>
            <a:pPr marL="292608" indent="-292608">
              <a:buClr>
                <a:srgbClr val="990000"/>
              </a:buClr>
              <a:buFont typeface="Arial" panose="020B0604020202020204" pitchFamily="34" charset="0"/>
              <a:buChar char="•"/>
            </a:pPr>
            <a:r>
              <a:rPr lang="en-US" altLang="en-US" sz="2400" dirty="0">
                <a:solidFill>
                  <a:srgbClr val="000000"/>
                </a:solidFill>
                <a:latin typeface="Calibri" panose="020F0502020204030204" pitchFamily="34" charset="0"/>
              </a:rPr>
              <a:t>Ability to Acquire Capital</a:t>
            </a:r>
          </a:p>
          <a:p>
            <a:pPr marL="292608" indent="-292608">
              <a:buClr>
                <a:srgbClr val="990000"/>
              </a:buClr>
              <a:buFont typeface="Arial" panose="020B0604020202020204" pitchFamily="34" charset="0"/>
              <a:buChar char="•"/>
            </a:pPr>
            <a:r>
              <a:rPr lang="en-US" altLang="en-US" sz="2400" dirty="0">
                <a:solidFill>
                  <a:srgbClr val="000000"/>
                </a:solidFill>
                <a:latin typeface="Calibri" panose="020F0502020204030204" pitchFamily="34" charset="0"/>
              </a:rPr>
              <a:t>Continuous Life</a:t>
            </a:r>
          </a:p>
          <a:p>
            <a:pPr marL="292608" indent="-292608">
              <a:buClr>
                <a:srgbClr val="990000"/>
              </a:buClr>
              <a:buFont typeface="Arial" panose="020B0604020202020204" pitchFamily="34" charset="0"/>
              <a:buChar char="•"/>
            </a:pPr>
            <a:r>
              <a:rPr lang="en-US" altLang="en-US" sz="2400" dirty="0">
                <a:solidFill>
                  <a:srgbClr val="000000"/>
                </a:solidFill>
                <a:latin typeface="Calibri" panose="020F0502020204030204" pitchFamily="34" charset="0"/>
              </a:rPr>
              <a:t>Corporate Management</a:t>
            </a:r>
          </a:p>
        </p:txBody>
      </p:sp>
      <p:sp>
        <p:nvSpPr>
          <p:cNvPr id="5" name="Content Placeholder 4">
            <a:extLst>
              <a:ext uri="{FF2B5EF4-FFF2-40B4-BE49-F238E27FC236}">
                <a16:creationId xmlns:a16="http://schemas.microsoft.com/office/drawing/2014/main" id="{A653A712-631A-4700-8A29-7380EFAE53C2}"/>
              </a:ext>
            </a:extLst>
          </p:cNvPr>
          <p:cNvSpPr>
            <a:spLocks noGrp="1"/>
          </p:cNvSpPr>
          <p:nvPr>
            <p:ph sz="quarter" idx="18"/>
          </p:nvPr>
        </p:nvSpPr>
        <p:spPr>
          <a:xfrm>
            <a:off x="4800601" y="2743200"/>
            <a:ext cx="4057260" cy="1981200"/>
          </a:xfrm>
        </p:spPr>
        <p:txBody>
          <a:bodyPr/>
          <a:lstStyle/>
          <a:p>
            <a:r>
              <a:rPr lang="en-US" altLang="en-US" sz="2400" b="1" dirty="0">
                <a:latin typeface="Calibri" panose="020F0502020204030204" pitchFamily="34" charset="0"/>
              </a:rPr>
              <a:t>Disadvantages</a:t>
            </a:r>
          </a:p>
          <a:p>
            <a:pPr marL="292608" indent="-292608">
              <a:buClr>
                <a:srgbClr val="990000"/>
              </a:buClr>
              <a:buFont typeface="Arial" panose="020B0604020202020204" pitchFamily="34" charset="0"/>
              <a:buChar char="•"/>
            </a:pPr>
            <a:r>
              <a:rPr lang="en-US" altLang="en-US" sz="2400" dirty="0">
                <a:solidFill>
                  <a:srgbClr val="000000"/>
                </a:solidFill>
                <a:latin typeface="Calibri" panose="020F0502020204030204" pitchFamily="34" charset="0"/>
              </a:rPr>
              <a:t>Corporate Management</a:t>
            </a:r>
          </a:p>
          <a:p>
            <a:pPr marL="292608" indent="-292608">
              <a:buClr>
                <a:srgbClr val="990000"/>
              </a:buClr>
              <a:buFont typeface="Arial" panose="020B0604020202020204" pitchFamily="34" charset="0"/>
              <a:buChar char="•"/>
            </a:pPr>
            <a:r>
              <a:rPr lang="en-US" altLang="en-US" sz="2400" dirty="0">
                <a:solidFill>
                  <a:srgbClr val="000000"/>
                </a:solidFill>
                <a:latin typeface="Calibri" panose="020F0502020204030204" pitchFamily="34" charset="0"/>
              </a:rPr>
              <a:t>Government Regulations</a:t>
            </a:r>
          </a:p>
          <a:p>
            <a:pPr marL="292608" indent="-292608">
              <a:buClr>
                <a:srgbClr val="990000"/>
              </a:buClr>
              <a:buFont typeface="Arial" panose="020B0604020202020204" pitchFamily="34" charset="0"/>
              <a:buChar char="•"/>
            </a:pPr>
            <a:r>
              <a:rPr lang="en-US" altLang="en-US" sz="2400" dirty="0">
                <a:solidFill>
                  <a:srgbClr val="000000"/>
                </a:solidFill>
                <a:latin typeface="Calibri" panose="020F0502020204030204" pitchFamily="34" charset="0"/>
              </a:rPr>
              <a:t>Additional Taxes</a:t>
            </a:r>
          </a:p>
        </p:txBody>
      </p:sp>
      <p:sp>
        <p:nvSpPr>
          <p:cNvPr id="12" name="Slide Number Placeholder 11">
            <a:extLst>
              <a:ext uri="{FF2B5EF4-FFF2-40B4-BE49-F238E27FC236}">
                <a16:creationId xmlns:a16="http://schemas.microsoft.com/office/drawing/2014/main" id="{30B6987F-BA41-4BBE-BD10-B5FF2DE378DF}"/>
              </a:ext>
            </a:extLst>
          </p:cNvPr>
          <p:cNvSpPr>
            <a:spLocks noGrp="1"/>
          </p:cNvSpPr>
          <p:nvPr>
            <p:ph type="sldNum" sz="quarter" idx="10"/>
          </p:nvPr>
        </p:nvSpPr>
        <p:spPr/>
        <p:txBody>
          <a:bodyPr/>
          <a:lstStyle/>
          <a:p>
            <a:fld id="{67B19427-F580-D146-B60E-4CADEE75497F}" type="slidenum">
              <a:rPr lang="en-US" smtClean="0"/>
              <a:pPr/>
              <a:t>3</a:t>
            </a:fld>
            <a:endParaRPr lang="en-US" dirty="0"/>
          </a:p>
        </p:txBody>
      </p:sp>
      <p:sp>
        <p:nvSpPr>
          <p:cNvPr id="13" name="Footer Placeholder 12">
            <a:extLst>
              <a:ext uri="{FF2B5EF4-FFF2-40B4-BE49-F238E27FC236}">
                <a16:creationId xmlns:a16="http://schemas.microsoft.com/office/drawing/2014/main" id="{1180CCFD-91C6-4B82-8A10-E7308E18349A}"/>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38996837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54D4B01-0FA1-4547-B133-A5D107F90603}"/>
              </a:ext>
            </a:extLst>
          </p:cNvPr>
          <p:cNvSpPr>
            <a:spLocks noGrp="1"/>
          </p:cNvSpPr>
          <p:nvPr>
            <p:ph sz="quarter" idx="16"/>
          </p:nvPr>
        </p:nvSpPr>
        <p:spPr>
          <a:xfrm>
            <a:off x="304800" y="1828800"/>
            <a:ext cx="8534400" cy="3810000"/>
          </a:xfrm>
        </p:spPr>
        <p:txBody>
          <a:bodyPr/>
          <a:lstStyle/>
          <a:p>
            <a:pPr>
              <a:buClr>
                <a:srgbClr val="990000"/>
              </a:buClr>
            </a:pPr>
            <a:r>
              <a:rPr lang="en-US" altLang="en-US" sz="2400" dirty="0">
                <a:latin typeface="Calibri" panose="020F0502020204030204" pitchFamily="34" charset="0"/>
              </a:rPr>
              <a:t>Characteristics that distinguish corporations from proprietorships and partnerships.</a:t>
            </a:r>
            <a:endParaRPr lang="en-US" altLang="en-US" sz="2400" b="1" dirty="0">
              <a:latin typeface="Calibri" panose="020F0502020204030204" pitchFamily="34" charset="0"/>
            </a:endParaRPr>
          </a:p>
          <a:p>
            <a:pPr marL="292608" indent="-292608">
              <a:buClr>
                <a:srgbClr val="990000"/>
              </a:buClr>
              <a:buFont typeface="Arial" panose="020B0604020202020204" pitchFamily="34" charset="0"/>
              <a:buChar char="•"/>
            </a:pPr>
            <a:r>
              <a:rPr lang="en-US" altLang="en-US" sz="2400" dirty="0">
                <a:solidFill>
                  <a:srgbClr val="000000"/>
                </a:solidFill>
                <a:latin typeface="Calibri" panose="020F0502020204030204" pitchFamily="34" charset="0"/>
              </a:rPr>
              <a:t>Separate Legal Existence </a:t>
            </a:r>
            <a:r>
              <a:rPr lang="en-US" altLang="en-US" sz="2400" dirty="0">
                <a:solidFill>
                  <a:srgbClr val="000000"/>
                </a:solidFill>
                <a:latin typeface="Calibri" panose="020F0502020204030204" pitchFamily="34" charset="0"/>
                <a:cs typeface="Times New Roman" panose="02020603050405020304" pitchFamily="18" charset="0"/>
              </a:rPr>
              <a:t>→ </a:t>
            </a:r>
            <a:r>
              <a:rPr lang="en-US" altLang="en-US" sz="2400" dirty="0">
                <a:solidFill>
                  <a:schemeClr val="accent2"/>
                </a:solidFill>
                <a:latin typeface="Calibri" panose="020F0502020204030204" pitchFamily="34" charset="0"/>
              </a:rPr>
              <a:t>Corporation acts under its own name rather than in the name of its stockholders.</a:t>
            </a:r>
          </a:p>
          <a:p>
            <a:pPr marL="292608" indent="-292608">
              <a:buClr>
                <a:srgbClr val="990000"/>
              </a:buClr>
              <a:buFont typeface="Arial" panose="020B0604020202020204" pitchFamily="34" charset="0"/>
              <a:buChar char="•"/>
            </a:pPr>
            <a:r>
              <a:rPr lang="en-US" altLang="en-US" sz="2400" dirty="0">
                <a:solidFill>
                  <a:srgbClr val="000000"/>
                </a:solidFill>
                <a:latin typeface="Calibri" panose="020F0502020204030204" pitchFamily="34" charset="0"/>
              </a:rPr>
              <a:t>Limited Liability of Stockholders </a:t>
            </a:r>
            <a:r>
              <a:rPr lang="en-US" altLang="en-US" sz="2400" dirty="0">
                <a:solidFill>
                  <a:srgbClr val="000000"/>
                </a:solidFill>
                <a:latin typeface="Calibri" panose="020F0502020204030204" pitchFamily="34" charset="0"/>
                <a:cs typeface="Times New Roman" panose="02020603050405020304" pitchFamily="18" charset="0"/>
              </a:rPr>
              <a:t>→ </a:t>
            </a:r>
            <a:r>
              <a:rPr lang="en-US" altLang="en-US" sz="2400" dirty="0">
                <a:solidFill>
                  <a:schemeClr val="accent2"/>
                </a:solidFill>
                <a:latin typeface="Calibri" panose="020F0502020204030204" pitchFamily="34" charset="0"/>
              </a:rPr>
              <a:t>Limited to their investment.</a:t>
            </a:r>
          </a:p>
          <a:p>
            <a:pPr marL="292608" indent="-292608">
              <a:buClr>
                <a:srgbClr val="990000"/>
              </a:buClr>
              <a:buFont typeface="Arial" panose="020B0604020202020204" pitchFamily="34" charset="0"/>
              <a:buChar char="•"/>
            </a:pPr>
            <a:r>
              <a:rPr lang="en-US" altLang="en-US" sz="2400" dirty="0">
                <a:solidFill>
                  <a:srgbClr val="000000"/>
                </a:solidFill>
                <a:latin typeface="Calibri" panose="020F0502020204030204" pitchFamily="34" charset="0"/>
              </a:rPr>
              <a:t>Transferable Ownership </a:t>
            </a:r>
            <a:r>
              <a:rPr lang="en-US" altLang="en-US" sz="2400" dirty="0">
                <a:solidFill>
                  <a:srgbClr val="000000"/>
                </a:solidFill>
                <a:latin typeface="Calibri" panose="020F0502020204030204" pitchFamily="34" charset="0"/>
                <a:cs typeface="Times New Roman" panose="02020603050405020304" pitchFamily="18" charset="0"/>
              </a:rPr>
              <a:t>→ </a:t>
            </a:r>
            <a:r>
              <a:rPr lang="en-US" altLang="en-US" sz="2400" dirty="0">
                <a:solidFill>
                  <a:schemeClr val="accent2"/>
                </a:solidFill>
                <a:latin typeface="Calibri" panose="020F0502020204030204" pitchFamily="34" charset="0"/>
              </a:rPr>
              <a:t>Stockholders may sell their stock.</a:t>
            </a:r>
          </a:p>
          <a:p>
            <a:pPr marL="292608" indent="-292608">
              <a:buClr>
                <a:srgbClr val="990000"/>
              </a:buClr>
              <a:buFont typeface="Arial" panose="020B0604020202020204" pitchFamily="34" charset="0"/>
              <a:buChar char="•"/>
            </a:pPr>
            <a:r>
              <a:rPr lang="en-US" altLang="en-US" sz="2400" dirty="0">
                <a:solidFill>
                  <a:srgbClr val="000000"/>
                </a:solidFill>
                <a:latin typeface="Calibri" panose="020F0502020204030204" pitchFamily="34" charset="0"/>
              </a:rPr>
              <a:t>Ability to Acquire Capital </a:t>
            </a:r>
            <a:r>
              <a:rPr lang="en-US" altLang="en-US" sz="2400" dirty="0">
                <a:solidFill>
                  <a:srgbClr val="000000"/>
                </a:solidFill>
                <a:latin typeface="Calibri" panose="020F0502020204030204" pitchFamily="34" charset="0"/>
                <a:cs typeface="Times New Roman" panose="02020603050405020304" pitchFamily="18" charset="0"/>
              </a:rPr>
              <a:t>→ </a:t>
            </a:r>
            <a:r>
              <a:rPr lang="en-US" altLang="en-US" sz="2400" dirty="0">
                <a:solidFill>
                  <a:schemeClr val="accent2"/>
                </a:solidFill>
                <a:latin typeface="Calibri" panose="020F0502020204030204" pitchFamily="34" charset="0"/>
              </a:rPr>
              <a:t>Corporation can obtain capital through the issuance of stock.</a:t>
            </a:r>
          </a:p>
        </p:txBody>
      </p:sp>
      <p:sp>
        <p:nvSpPr>
          <p:cNvPr id="4" name="Slide Number Placeholder 3">
            <a:extLst>
              <a:ext uri="{FF2B5EF4-FFF2-40B4-BE49-F238E27FC236}">
                <a16:creationId xmlns:a16="http://schemas.microsoft.com/office/drawing/2014/main" id="{FEF846EB-D87A-4159-9401-97EDD9CEAC04}"/>
              </a:ext>
            </a:extLst>
          </p:cNvPr>
          <p:cNvSpPr>
            <a:spLocks noGrp="1"/>
          </p:cNvSpPr>
          <p:nvPr>
            <p:ph type="sldNum" sz="quarter" idx="10"/>
          </p:nvPr>
        </p:nvSpPr>
        <p:spPr/>
        <p:txBody>
          <a:bodyPr/>
          <a:lstStyle/>
          <a:p>
            <a:fld id="{67B19427-F580-D146-B60E-4CADEE75497F}" type="slidenum">
              <a:rPr lang="en-US" smtClean="0"/>
              <a:pPr/>
              <a:t>4</a:t>
            </a:fld>
            <a:endParaRPr lang="en-US" dirty="0"/>
          </a:p>
        </p:txBody>
      </p:sp>
      <p:sp>
        <p:nvSpPr>
          <p:cNvPr id="5" name="Footer Placeholder 4">
            <a:extLst>
              <a:ext uri="{FF2B5EF4-FFF2-40B4-BE49-F238E27FC236}">
                <a16:creationId xmlns:a16="http://schemas.microsoft.com/office/drawing/2014/main" id="{15A66007-C725-45A8-B2B3-026CF24A6598}"/>
              </a:ext>
            </a:extLst>
          </p:cNvPr>
          <p:cNvSpPr>
            <a:spLocks noGrp="1"/>
          </p:cNvSpPr>
          <p:nvPr>
            <p:ph type="ftr" sz="quarter" idx="11"/>
          </p:nvPr>
        </p:nvSpPr>
        <p:spPr/>
        <p:txBody>
          <a:bodyPr/>
          <a:lstStyle/>
          <a:p>
            <a:r>
              <a:rPr lang="en-US"/>
              <a:t>Copyright ©2018 John Wiley &amp; Sons, Inc. </a:t>
            </a:r>
            <a:endParaRPr lang="en-US" dirty="0"/>
          </a:p>
        </p:txBody>
      </p:sp>
      <p:sp>
        <p:nvSpPr>
          <p:cNvPr id="11" name="Title 1">
            <a:extLst>
              <a:ext uri="{FF2B5EF4-FFF2-40B4-BE49-F238E27FC236}">
                <a16:creationId xmlns:a16="http://schemas.microsoft.com/office/drawing/2014/main" id="{CECA95B7-2180-4914-943F-8F5DD81840B9}"/>
              </a:ext>
            </a:extLst>
          </p:cNvPr>
          <p:cNvSpPr>
            <a:spLocks noGrp="1"/>
          </p:cNvSpPr>
          <p:nvPr>
            <p:ph type="title"/>
          </p:nvPr>
        </p:nvSpPr>
        <p:spPr>
          <a:xfrm>
            <a:off x="304800" y="762001"/>
            <a:ext cx="8534400" cy="731836"/>
          </a:xfrm>
        </p:spPr>
        <p:txBody>
          <a:bodyPr/>
          <a:lstStyle/>
          <a:p>
            <a:r>
              <a:rPr lang="en-US" b="1" dirty="0">
                <a:latin typeface="Calibri" panose="020F0502020204030204" pitchFamily="34" charset="0"/>
                <a:ea typeface="Source Sans Pro" charset="0"/>
                <a:cs typeface="Calibri" panose="020F0502020204030204" pitchFamily="34" charset="0"/>
              </a:rPr>
              <a:t>Characteristics of Corporation</a:t>
            </a:r>
            <a:endParaRPr lang="en-US" sz="2400" dirty="0"/>
          </a:p>
        </p:txBody>
      </p:sp>
    </p:spTree>
    <p:extLst>
      <p:ext uri="{BB962C8B-B14F-4D97-AF65-F5344CB8AC3E}">
        <p14:creationId xmlns:p14="http://schemas.microsoft.com/office/powerpoint/2010/main" val="7203409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54D4B01-0FA1-4547-B133-A5D107F90603}"/>
              </a:ext>
            </a:extLst>
          </p:cNvPr>
          <p:cNvSpPr>
            <a:spLocks noGrp="1"/>
          </p:cNvSpPr>
          <p:nvPr>
            <p:ph sz="quarter" idx="16"/>
          </p:nvPr>
        </p:nvSpPr>
        <p:spPr>
          <a:xfrm>
            <a:off x="304800" y="1523999"/>
            <a:ext cx="8686800" cy="4571999"/>
          </a:xfrm>
        </p:spPr>
        <p:txBody>
          <a:bodyPr/>
          <a:lstStyle/>
          <a:p>
            <a:pPr>
              <a:buClr>
                <a:srgbClr val="990000"/>
              </a:buClr>
            </a:pPr>
            <a:r>
              <a:rPr lang="en-US" altLang="en-US" sz="2400" dirty="0">
                <a:latin typeface="Calibri" panose="020F0502020204030204" pitchFamily="34" charset="0"/>
              </a:rPr>
              <a:t>Characteristics that distinguish corporations from proprietorships and partnerships.</a:t>
            </a:r>
            <a:endParaRPr lang="en-US" altLang="en-US" sz="2400" dirty="0">
              <a:solidFill>
                <a:schemeClr val="accent2"/>
              </a:solidFill>
              <a:latin typeface="Calibri" panose="020F0502020204030204" pitchFamily="34" charset="0"/>
            </a:endParaRPr>
          </a:p>
          <a:p>
            <a:pPr marL="292608" indent="-292608">
              <a:buClr>
                <a:srgbClr val="990000"/>
              </a:buClr>
              <a:buFont typeface="Arial" panose="020B0604020202020204" pitchFamily="34" charset="0"/>
              <a:buChar char="•"/>
            </a:pPr>
            <a:r>
              <a:rPr lang="en-US" altLang="en-US" sz="2200" dirty="0">
                <a:solidFill>
                  <a:srgbClr val="000000"/>
                </a:solidFill>
                <a:latin typeface="Calibri" panose="020F0502020204030204" pitchFamily="34" charset="0"/>
              </a:rPr>
              <a:t>Continuous Life </a:t>
            </a:r>
            <a:r>
              <a:rPr lang="en-US" altLang="en-US" sz="2200" dirty="0">
                <a:solidFill>
                  <a:srgbClr val="000000"/>
                </a:solidFill>
                <a:latin typeface="Calibri" panose="020F0502020204030204" pitchFamily="34" charset="0"/>
                <a:cs typeface="Times New Roman" panose="02020603050405020304" pitchFamily="18" charset="0"/>
              </a:rPr>
              <a:t>→ </a:t>
            </a:r>
            <a:r>
              <a:rPr lang="en-US" altLang="en-US" sz="2200" dirty="0">
                <a:solidFill>
                  <a:schemeClr val="accent2"/>
                </a:solidFill>
                <a:latin typeface="Calibri" panose="020F0502020204030204" pitchFamily="34" charset="0"/>
                <a:cs typeface="Times New Roman" panose="02020603050405020304" pitchFamily="18" charset="0"/>
              </a:rPr>
              <a:t>Continuance as a going concern is not affected by the withdrawal, death, or incapacity of a stockholder, employee, or officer.</a:t>
            </a:r>
            <a:endParaRPr lang="en-US" altLang="en-US" sz="2200" dirty="0">
              <a:solidFill>
                <a:schemeClr val="accent2"/>
              </a:solidFill>
              <a:latin typeface="Calibri" panose="020F0502020204030204" pitchFamily="34" charset="0"/>
            </a:endParaRPr>
          </a:p>
          <a:p>
            <a:pPr marL="292608" indent="-292608">
              <a:buClr>
                <a:srgbClr val="990000"/>
              </a:buClr>
              <a:buFont typeface="Arial" panose="020B0604020202020204" pitchFamily="34" charset="0"/>
              <a:buChar char="•"/>
            </a:pPr>
            <a:r>
              <a:rPr lang="en-US" altLang="en-US" sz="2200" dirty="0">
                <a:solidFill>
                  <a:srgbClr val="000000"/>
                </a:solidFill>
                <a:latin typeface="Calibri" panose="020F0502020204030204" pitchFamily="34" charset="0"/>
              </a:rPr>
              <a:t>Corporate Management </a:t>
            </a:r>
            <a:r>
              <a:rPr lang="en-US" altLang="en-US" sz="2200" dirty="0">
                <a:solidFill>
                  <a:srgbClr val="000000"/>
                </a:solidFill>
                <a:latin typeface="Calibri" panose="020F0502020204030204" pitchFamily="34" charset="0"/>
                <a:cs typeface="Times New Roman" panose="02020603050405020304" pitchFamily="18" charset="0"/>
              </a:rPr>
              <a:t>→ </a:t>
            </a:r>
            <a:endParaRPr lang="en-US" altLang="en-US" sz="2200" dirty="0">
              <a:solidFill>
                <a:schemeClr val="accent2"/>
              </a:solidFill>
              <a:latin typeface="Calibri" panose="020F0502020204030204" pitchFamily="34" charset="0"/>
              <a:cs typeface="Times New Roman" panose="02020603050405020304" pitchFamily="18" charset="0"/>
            </a:endParaRPr>
          </a:p>
          <a:p>
            <a:pPr marL="978408" lvl="1" indent="-292608">
              <a:buClr>
                <a:srgbClr val="990000"/>
              </a:buClr>
              <a:buFont typeface="Arial" panose="020B0604020202020204" pitchFamily="34" charset="0"/>
              <a:buChar char="•"/>
            </a:pPr>
            <a:r>
              <a:rPr lang="en-US" altLang="en-US" sz="1800" dirty="0">
                <a:solidFill>
                  <a:schemeClr val="accent2"/>
                </a:solidFill>
                <a:latin typeface="Calibri" panose="020F0502020204030204" pitchFamily="34" charset="0"/>
                <a:cs typeface="Times New Roman" panose="02020603050405020304" pitchFamily="18" charset="0"/>
              </a:rPr>
              <a:t>Advantage: The organizational structure of a corporation enables a company to hire professional managers to run the business. </a:t>
            </a:r>
          </a:p>
          <a:p>
            <a:pPr marL="978408" lvl="1" indent="-292608">
              <a:buClr>
                <a:srgbClr val="990000"/>
              </a:buClr>
              <a:buFont typeface="Arial" panose="020B0604020202020204" pitchFamily="34" charset="0"/>
              <a:buChar char="•"/>
            </a:pPr>
            <a:r>
              <a:rPr lang="en-US" altLang="en-US" sz="1800" dirty="0">
                <a:solidFill>
                  <a:schemeClr val="accent2"/>
                </a:solidFill>
                <a:latin typeface="Calibri" panose="020F0502020204030204" pitchFamily="34" charset="0"/>
                <a:cs typeface="Times New Roman" panose="02020603050405020304" pitchFamily="18" charset="0"/>
              </a:rPr>
              <a:t>Disadvantage: Separation of ownership and management often reduces an owner’s ability to actively manage the company</a:t>
            </a:r>
            <a:r>
              <a:rPr lang="en-US" altLang="en-US" sz="1800" dirty="0">
                <a:latin typeface="Calibri" panose="020F0502020204030204" pitchFamily="34" charset="0"/>
                <a:cs typeface="Times New Roman" panose="02020603050405020304" pitchFamily="18" charset="0"/>
              </a:rPr>
              <a:t>.</a:t>
            </a:r>
            <a:endParaRPr lang="en-US" altLang="en-US" sz="2200" dirty="0">
              <a:solidFill>
                <a:srgbClr val="000000"/>
              </a:solidFill>
              <a:latin typeface="Calibri" panose="020F0502020204030204" pitchFamily="34" charset="0"/>
            </a:endParaRPr>
          </a:p>
          <a:p>
            <a:pPr marL="292608" indent="-292608">
              <a:buClr>
                <a:srgbClr val="990000"/>
              </a:buClr>
              <a:buFont typeface="Arial" panose="020B0604020202020204" pitchFamily="34" charset="0"/>
              <a:buChar char="•"/>
            </a:pPr>
            <a:r>
              <a:rPr lang="en-US" altLang="en-US" sz="2200" dirty="0">
                <a:solidFill>
                  <a:srgbClr val="000000"/>
                </a:solidFill>
                <a:latin typeface="Calibri" panose="020F0502020204030204" pitchFamily="34" charset="0"/>
              </a:rPr>
              <a:t>Government Regulations </a:t>
            </a:r>
            <a:r>
              <a:rPr lang="en-US" altLang="en-US" sz="2200" dirty="0">
                <a:solidFill>
                  <a:srgbClr val="000000"/>
                </a:solidFill>
                <a:latin typeface="Calibri" panose="020F0502020204030204" pitchFamily="34" charset="0"/>
                <a:cs typeface="Times New Roman" panose="02020603050405020304" pitchFamily="18" charset="0"/>
              </a:rPr>
              <a:t>→ </a:t>
            </a:r>
            <a:r>
              <a:rPr lang="en-US" altLang="en-US" sz="2200" dirty="0">
                <a:solidFill>
                  <a:schemeClr val="accent2"/>
                </a:solidFill>
                <a:latin typeface="Calibri" panose="020F0502020204030204" pitchFamily="34" charset="0"/>
                <a:cs typeface="Times New Roman" panose="02020603050405020304" pitchFamily="18" charset="0"/>
              </a:rPr>
              <a:t>A corporation is subject to numerous state and federal regulations.</a:t>
            </a:r>
            <a:r>
              <a:rPr lang="en-US" altLang="en-US" sz="2200" dirty="0">
                <a:latin typeface="Calibri" panose="020F0502020204030204" pitchFamily="34" charset="0"/>
                <a:cs typeface="Times New Roman" panose="02020603050405020304" pitchFamily="18" charset="0"/>
              </a:rPr>
              <a:t> </a:t>
            </a:r>
            <a:endParaRPr lang="en-US" altLang="en-US" sz="2200" dirty="0">
              <a:solidFill>
                <a:schemeClr val="accent2"/>
              </a:solidFill>
              <a:latin typeface="Calibri" panose="020F0502020204030204" pitchFamily="34" charset="0"/>
            </a:endParaRPr>
          </a:p>
          <a:p>
            <a:pPr marL="292608" indent="-292608">
              <a:buClr>
                <a:srgbClr val="990000"/>
              </a:buClr>
              <a:buFont typeface="Arial" panose="020B0604020202020204" pitchFamily="34" charset="0"/>
              <a:buChar char="•"/>
            </a:pPr>
            <a:r>
              <a:rPr lang="en-US" altLang="en-US" sz="2200" dirty="0">
                <a:solidFill>
                  <a:srgbClr val="000000"/>
                </a:solidFill>
                <a:latin typeface="Calibri" panose="020F0502020204030204" pitchFamily="34" charset="0"/>
              </a:rPr>
              <a:t>Additional Taxes </a:t>
            </a:r>
            <a:r>
              <a:rPr lang="en-US" altLang="en-US" sz="2200" dirty="0">
                <a:solidFill>
                  <a:srgbClr val="000000"/>
                </a:solidFill>
                <a:latin typeface="Calibri" panose="020F0502020204030204" pitchFamily="34" charset="0"/>
                <a:cs typeface="Times New Roman" panose="02020603050405020304" pitchFamily="18" charset="0"/>
              </a:rPr>
              <a:t>→ </a:t>
            </a:r>
            <a:r>
              <a:rPr lang="en-US" altLang="en-US" sz="2200" dirty="0">
                <a:solidFill>
                  <a:schemeClr val="accent2"/>
                </a:solidFill>
                <a:latin typeface="Calibri" panose="020F0502020204030204" pitchFamily="34" charset="0"/>
                <a:cs typeface="Times New Roman" panose="02020603050405020304" pitchFamily="18" charset="0"/>
              </a:rPr>
              <a:t>Corporations pay income taxes as a separate legal entity and in addition, stockholders pay taxes on cash dividends.</a:t>
            </a:r>
            <a:endParaRPr lang="en-US" altLang="en-US" sz="2200" dirty="0">
              <a:solidFill>
                <a:schemeClr val="accent2"/>
              </a:solidFill>
              <a:latin typeface="Calibri" panose="020F0502020204030204" pitchFamily="34" charset="0"/>
            </a:endParaRPr>
          </a:p>
        </p:txBody>
      </p:sp>
      <p:sp>
        <p:nvSpPr>
          <p:cNvPr id="4" name="Slide Number Placeholder 3">
            <a:extLst>
              <a:ext uri="{FF2B5EF4-FFF2-40B4-BE49-F238E27FC236}">
                <a16:creationId xmlns:a16="http://schemas.microsoft.com/office/drawing/2014/main" id="{FEF846EB-D87A-4159-9401-97EDD9CEAC04}"/>
              </a:ext>
            </a:extLst>
          </p:cNvPr>
          <p:cNvSpPr>
            <a:spLocks noGrp="1"/>
          </p:cNvSpPr>
          <p:nvPr>
            <p:ph type="sldNum" sz="quarter" idx="10"/>
          </p:nvPr>
        </p:nvSpPr>
        <p:spPr/>
        <p:txBody>
          <a:bodyPr/>
          <a:lstStyle/>
          <a:p>
            <a:fld id="{67B19427-F580-D146-B60E-4CADEE75497F}" type="slidenum">
              <a:rPr lang="en-US" smtClean="0"/>
              <a:pPr/>
              <a:t>5</a:t>
            </a:fld>
            <a:endParaRPr lang="en-US" dirty="0"/>
          </a:p>
        </p:txBody>
      </p:sp>
      <p:sp>
        <p:nvSpPr>
          <p:cNvPr id="5" name="Footer Placeholder 4">
            <a:extLst>
              <a:ext uri="{FF2B5EF4-FFF2-40B4-BE49-F238E27FC236}">
                <a16:creationId xmlns:a16="http://schemas.microsoft.com/office/drawing/2014/main" id="{15A66007-C725-45A8-B2B3-026CF24A6598}"/>
              </a:ext>
            </a:extLst>
          </p:cNvPr>
          <p:cNvSpPr>
            <a:spLocks noGrp="1"/>
          </p:cNvSpPr>
          <p:nvPr>
            <p:ph type="ftr" sz="quarter" idx="11"/>
          </p:nvPr>
        </p:nvSpPr>
        <p:spPr/>
        <p:txBody>
          <a:bodyPr/>
          <a:lstStyle/>
          <a:p>
            <a:r>
              <a:rPr lang="en-US"/>
              <a:t>Copyright ©2018 John Wiley &amp; Sons, Inc. </a:t>
            </a:r>
            <a:endParaRPr lang="en-US" dirty="0"/>
          </a:p>
        </p:txBody>
      </p:sp>
      <p:sp>
        <p:nvSpPr>
          <p:cNvPr id="8" name="Title 1">
            <a:extLst>
              <a:ext uri="{FF2B5EF4-FFF2-40B4-BE49-F238E27FC236}">
                <a16:creationId xmlns:a16="http://schemas.microsoft.com/office/drawing/2014/main" id="{508ECA28-ED77-4399-8656-1FACF586125B}"/>
              </a:ext>
            </a:extLst>
          </p:cNvPr>
          <p:cNvSpPr>
            <a:spLocks noGrp="1"/>
          </p:cNvSpPr>
          <p:nvPr>
            <p:ph type="title"/>
          </p:nvPr>
        </p:nvSpPr>
        <p:spPr>
          <a:xfrm>
            <a:off x="304800" y="762001"/>
            <a:ext cx="8534400" cy="731836"/>
          </a:xfrm>
        </p:spPr>
        <p:txBody>
          <a:bodyPr/>
          <a:lstStyle/>
          <a:p>
            <a:r>
              <a:rPr lang="en-US" b="1" dirty="0">
                <a:latin typeface="Calibri" panose="020F0502020204030204" pitchFamily="34" charset="0"/>
                <a:ea typeface="Source Sans Pro" charset="0"/>
                <a:cs typeface="Calibri" panose="020F0502020204030204" pitchFamily="34" charset="0"/>
              </a:rPr>
              <a:t>Characteristics of Corporation</a:t>
            </a:r>
            <a:endParaRPr lang="en-US" sz="2400" dirty="0"/>
          </a:p>
        </p:txBody>
      </p:sp>
    </p:spTree>
    <p:extLst>
      <p:ext uri="{BB962C8B-B14F-4D97-AF65-F5344CB8AC3E}">
        <p14:creationId xmlns:p14="http://schemas.microsoft.com/office/powerpoint/2010/main" val="5672724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354575-B38A-47B0-ADC1-F3B013044E3B}"/>
              </a:ext>
            </a:extLst>
          </p:cNvPr>
          <p:cNvSpPr>
            <a:spLocks noGrp="1"/>
          </p:cNvSpPr>
          <p:nvPr>
            <p:ph type="title"/>
          </p:nvPr>
        </p:nvSpPr>
        <p:spPr>
          <a:xfrm>
            <a:off x="304800" y="762001"/>
            <a:ext cx="8534400" cy="761999"/>
          </a:xfrm>
        </p:spPr>
        <p:txBody>
          <a:bodyPr/>
          <a:lstStyle/>
          <a:p>
            <a:r>
              <a:rPr lang="en-US" b="1" dirty="0">
                <a:latin typeface="Calibri" panose="020F0502020204030204" pitchFamily="34" charset="0"/>
                <a:ea typeface="Source Sans Pro" charset="0"/>
                <a:cs typeface="Calibri" panose="020F0502020204030204" pitchFamily="34" charset="0"/>
              </a:rPr>
              <a:t>Forming a Corporation</a:t>
            </a:r>
            <a:endParaRPr lang="en-US" dirty="0"/>
          </a:p>
        </p:txBody>
      </p:sp>
      <p:sp>
        <p:nvSpPr>
          <p:cNvPr id="3" name="Content Placeholder 2">
            <a:extLst>
              <a:ext uri="{FF2B5EF4-FFF2-40B4-BE49-F238E27FC236}">
                <a16:creationId xmlns:a16="http://schemas.microsoft.com/office/drawing/2014/main" id="{86011ED1-FB97-4C67-8A1A-BDB857EC18AB}"/>
              </a:ext>
            </a:extLst>
          </p:cNvPr>
          <p:cNvSpPr>
            <a:spLocks noGrp="1"/>
          </p:cNvSpPr>
          <p:nvPr>
            <p:ph sz="quarter" idx="16"/>
          </p:nvPr>
        </p:nvSpPr>
        <p:spPr>
          <a:xfrm>
            <a:off x="304800" y="1600200"/>
            <a:ext cx="8534400" cy="1905000"/>
          </a:xfrm>
        </p:spPr>
        <p:txBody>
          <a:bodyPr/>
          <a:lstStyle/>
          <a:p>
            <a:pPr>
              <a:buClr>
                <a:srgbClr val="990000"/>
              </a:buClr>
            </a:pPr>
            <a:r>
              <a:rPr lang="en-US" altLang="en-US" sz="2000" b="1" dirty="0"/>
              <a:t>Initial Steps:</a:t>
            </a:r>
          </a:p>
          <a:p>
            <a:pPr marL="292608" indent="-292608">
              <a:buClr>
                <a:srgbClr val="990000"/>
              </a:buClr>
              <a:buFont typeface="Arial" panose="020B0604020202020204" pitchFamily="34" charset="0"/>
              <a:buChar char="•"/>
            </a:pPr>
            <a:r>
              <a:rPr lang="en-US" sz="2000" dirty="0"/>
              <a:t>File application with the Secretary of State</a:t>
            </a:r>
          </a:p>
          <a:p>
            <a:pPr marL="292608" indent="-292608">
              <a:buClr>
                <a:srgbClr val="990000"/>
              </a:buClr>
              <a:buFont typeface="Arial" panose="020B0604020202020204" pitchFamily="34" charset="0"/>
              <a:buChar char="•"/>
            </a:pPr>
            <a:r>
              <a:rPr lang="en-US" sz="2000" dirty="0"/>
              <a:t>State grants </a:t>
            </a:r>
            <a:r>
              <a:rPr lang="en-US" sz="2000" b="1" dirty="0">
                <a:solidFill>
                  <a:schemeClr val="accent4"/>
                </a:solidFill>
              </a:rPr>
              <a:t>charter</a:t>
            </a:r>
          </a:p>
          <a:p>
            <a:pPr marL="292608" indent="-292608">
              <a:buClr>
                <a:srgbClr val="990000"/>
              </a:buClr>
              <a:buFont typeface="Arial" panose="020B0604020202020204" pitchFamily="34" charset="0"/>
              <a:buChar char="•"/>
            </a:pPr>
            <a:r>
              <a:rPr lang="en-US" sz="2000" dirty="0"/>
              <a:t>Corporation develops by-laws</a:t>
            </a:r>
          </a:p>
        </p:txBody>
      </p:sp>
      <p:sp>
        <p:nvSpPr>
          <p:cNvPr id="7" name="Content Placeholder 6"/>
          <p:cNvSpPr>
            <a:spLocks noGrp="1"/>
          </p:cNvSpPr>
          <p:nvPr>
            <p:ph sz="quarter" idx="18"/>
          </p:nvPr>
        </p:nvSpPr>
        <p:spPr>
          <a:xfrm>
            <a:off x="313267" y="3581400"/>
            <a:ext cx="8534400" cy="2057401"/>
          </a:xfrm>
        </p:spPr>
        <p:txBody>
          <a:bodyPr/>
          <a:lstStyle/>
          <a:p>
            <a:pPr>
              <a:defRPr/>
            </a:pPr>
            <a:r>
              <a:rPr lang="en-US" sz="2000" dirty="0"/>
              <a:t>Companies generally incorporate in a state whose laws are favorable to the corporate form of business.</a:t>
            </a:r>
          </a:p>
          <a:p>
            <a:pPr>
              <a:defRPr/>
            </a:pPr>
            <a:r>
              <a:rPr lang="en-US" sz="2000" dirty="0"/>
              <a:t>Corporations engaged in interstate commerce must obtain a license from each state in which they do business.</a:t>
            </a:r>
          </a:p>
          <a:p>
            <a:pPr>
              <a:defRPr/>
            </a:pPr>
            <a:r>
              <a:rPr lang="en-US" sz="2000" dirty="0"/>
              <a:t>Costs incurred in the formation of a corporation are called organization costs/organizational expense. These costs include legal and state fees, and promotional expenditures involved in the organization of the business. Corporations expense organization costs as incurred. </a:t>
            </a:r>
          </a:p>
          <a:p>
            <a:pPr>
              <a:defRPr/>
            </a:pPr>
            <a:endParaRPr lang="en-US" sz="2000" dirty="0"/>
          </a:p>
        </p:txBody>
      </p:sp>
      <p:sp>
        <p:nvSpPr>
          <p:cNvPr id="4" name="Slide Number Placeholder 3">
            <a:extLst>
              <a:ext uri="{FF2B5EF4-FFF2-40B4-BE49-F238E27FC236}">
                <a16:creationId xmlns:a16="http://schemas.microsoft.com/office/drawing/2014/main" id="{8B7356C1-D7BE-485C-B658-A37A71FFB0F5}"/>
              </a:ext>
            </a:extLst>
          </p:cNvPr>
          <p:cNvSpPr>
            <a:spLocks noGrp="1"/>
          </p:cNvSpPr>
          <p:nvPr>
            <p:ph type="sldNum" sz="quarter" idx="10"/>
          </p:nvPr>
        </p:nvSpPr>
        <p:spPr/>
        <p:txBody>
          <a:bodyPr/>
          <a:lstStyle/>
          <a:p>
            <a:fld id="{67B19427-F580-D146-B60E-4CADEE75497F}" type="slidenum">
              <a:rPr lang="en-US" smtClean="0"/>
              <a:pPr/>
              <a:t>6</a:t>
            </a:fld>
            <a:endParaRPr lang="en-US" dirty="0"/>
          </a:p>
        </p:txBody>
      </p:sp>
      <p:sp>
        <p:nvSpPr>
          <p:cNvPr id="5" name="Footer Placeholder 4">
            <a:extLst>
              <a:ext uri="{FF2B5EF4-FFF2-40B4-BE49-F238E27FC236}">
                <a16:creationId xmlns:a16="http://schemas.microsoft.com/office/drawing/2014/main" id="{CD6D2261-9E9A-43D3-9771-1C84566FEAAB}"/>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11537829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47A45D-432E-4E15-9D56-380D447B35B8}"/>
              </a:ext>
            </a:extLst>
          </p:cNvPr>
          <p:cNvSpPr>
            <a:spLocks noGrp="1"/>
          </p:cNvSpPr>
          <p:nvPr>
            <p:ph type="title"/>
          </p:nvPr>
        </p:nvSpPr>
        <p:spPr>
          <a:xfrm>
            <a:off x="304800" y="762001"/>
            <a:ext cx="8534400" cy="838199"/>
          </a:xfrm>
        </p:spPr>
        <p:txBody>
          <a:bodyPr/>
          <a:lstStyle/>
          <a:p>
            <a:r>
              <a:rPr lang="en-US" b="1">
                <a:latin typeface="Calibri" panose="020F0502020204030204" pitchFamily="34" charset="0"/>
                <a:ea typeface="Source Sans Pro" charset="0"/>
                <a:cs typeface="Calibri" panose="020F0502020204030204" pitchFamily="34" charset="0"/>
              </a:rPr>
              <a:t>(Common) Stockholder </a:t>
            </a:r>
            <a:r>
              <a:rPr lang="en-US" b="1" dirty="0">
                <a:latin typeface="Calibri" panose="020F0502020204030204" pitchFamily="34" charset="0"/>
                <a:ea typeface="Source Sans Pro" charset="0"/>
                <a:cs typeface="Calibri" panose="020F0502020204030204" pitchFamily="34" charset="0"/>
              </a:rPr>
              <a:t>Rights</a:t>
            </a:r>
            <a:endParaRPr lang="en-US" dirty="0"/>
          </a:p>
        </p:txBody>
      </p:sp>
      <p:sp>
        <p:nvSpPr>
          <p:cNvPr id="3" name="Content Placeholder 2">
            <a:extLst>
              <a:ext uri="{FF2B5EF4-FFF2-40B4-BE49-F238E27FC236}">
                <a16:creationId xmlns:a16="http://schemas.microsoft.com/office/drawing/2014/main" id="{660D45B2-43DD-47A3-B5D7-D4D30392FC92}"/>
              </a:ext>
            </a:extLst>
          </p:cNvPr>
          <p:cNvSpPr>
            <a:spLocks noGrp="1"/>
          </p:cNvSpPr>
          <p:nvPr>
            <p:ph sz="quarter" idx="16"/>
          </p:nvPr>
        </p:nvSpPr>
        <p:spPr>
          <a:xfrm>
            <a:off x="304800" y="1828800"/>
            <a:ext cx="8534400" cy="3352800"/>
          </a:xfrm>
        </p:spPr>
        <p:txBody>
          <a:bodyPr/>
          <a:lstStyle/>
          <a:p>
            <a:pPr marL="402336" indent="-402336">
              <a:buClr>
                <a:schemeClr val="accent2"/>
              </a:buClr>
              <a:buFont typeface="+mj-lt"/>
              <a:buAutoNum type="arabicPeriod"/>
            </a:pPr>
            <a:r>
              <a:rPr lang="en-US" sz="2600" dirty="0"/>
              <a:t>Vote in election of board of directors at annual meeting and vote on actions that require stockholder approval.</a:t>
            </a:r>
          </a:p>
          <a:p>
            <a:pPr marL="402336" indent="-402336">
              <a:buClr>
                <a:schemeClr val="accent2"/>
              </a:buClr>
              <a:buFont typeface="+mj-lt"/>
              <a:buAutoNum type="arabicPeriod"/>
            </a:pPr>
            <a:r>
              <a:rPr lang="en-US" altLang="en-US" sz="2600" dirty="0"/>
              <a:t>Share the corporate earnings through receipt of dividends.</a:t>
            </a:r>
          </a:p>
          <a:p>
            <a:pPr marL="402336" indent="-402336">
              <a:buClr>
                <a:schemeClr val="accent2"/>
              </a:buClr>
              <a:buFont typeface="+mj-lt"/>
              <a:buAutoNum type="arabicPeriod"/>
            </a:pPr>
            <a:r>
              <a:rPr lang="en-US" altLang="en-US" sz="2600" dirty="0"/>
              <a:t>Keep the same percentage ownership when new shares of stock are issued (preemptive right).</a:t>
            </a:r>
          </a:p>
          <a:p>
            <a:pPr marL="402336" indent="-402336">
              <a:buClr>
                <a:schemeClr val="accent2"/>
              </a:buClr>
              <a:buFont typeface="+mj-lt"/>
              <a:buAutoNum type="arabicPeriod"/>
            </a:pPr>
            <a:r>
              <a:rPr lang="en-US" sz="2600" dirty="0"/>
              <a:t>Share in assets upon liquidation in proportion to their holdings. This is called a </a:t>
            </a:r>
            <a:r>
              <a:rPr lang="en-US" sz="2600" b="1" dirty="0"/>
              <a:t>residual claim</a:t>
            </a:r>
            <a:r>
              <a:rPr lang="en-US" sz="2600" dirty="0"/>
              <a:t>.</a:t>
            </a:r>
            <a:endParaRPr lang="en-US" altLang="en-US" sz="2600" dirty="0"/>
          </a:p>
        </p:txBody>
      </p:sp>
      <p:sp>
        <p:nvSpPr>
          <p:cNvPr id="4" name="Slide Number Placeholder 3">
            <a:extLst>
              <a:ext uri="{FF2B5EF4-FFF2-40B4-BE49-F238E27FC236}">
                <a16:creationId xmlns:a16="http://schemas.microsoft.com/office/drawing/2014/main" id="{974595B5-9CE1-471F-8CBF-E3C5D90389A3}"/>
              </a:ext>
            </a:extLst>
          </p:cNvPr>
          <p:cNvSpPr>
            <a:spLocks noGrp="1"/>
          </p:cNvSpPr>
          <p:nvPr>
            <p:ph type="sldNum" sz="quarter" idx="10"/>
          </p:nvPr>
        </p:nvSpPr>
        <p:spPr/>
        <p:txBody>
          <a:bodyPr/>
          <a:lstStyle/>
          <a:p>
            <a:fld id="{67B19427-F580-D146-B60E-4CADEE75497F}" type="slidenum">
              <a:rPr lang="en-US" smtClean="0"/>
              <a:pPr/>
              <a:t>7</a:t>
            </a:fld>
            <a:endParaRPr lang="en-US" dirty="0"/>
          </a:p>
        </p:txBody>
      </p:sp>
      <p:sp>
        <p:nvSpPr>
          <p:cNvPr id="5" name="Footer Placeholder 4">
            <a:extLst>
              <a:ext uri="{FF2B5EF4-FFF2-40B4-BE49-F238E27FC236}">
                <a16:creationId xmlns:a16="http://schemas.microsoft.com/office/drawing/2014/main" id="{2981E4B9-0878-4E67-8F59-D4B56F6354A2}"/>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1745403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47A45D-432E-4E15-9D56-380D447B35B8}"/>
              </a:ext>
            </a:extLst>
          </p:cNvPr>
          <p:cNvSpPr>
            <a:spLocks noGrp="1"/>
          </p:cNvSpPr>
          <p:nvPr>
            <p:ph type="title"/>
          </p:nvPr>
        </p:nvSpPr>
        <p:spPr/>
        <p:txBody>
          <a:bodyPr/>
          <a:lstStyle/>
          <a:p>
            <a:r>
              <a:rPr lang="en-US" b="1" dirty="0">
                <a:latin typeface="Calibri" panose="020F0502020204030204" pitchFamily="34" charset="0"/>
                <a:ea typeface="Source Sans Pro" charset="0"/>
                <a:cs typeface="Calibri" panose="020F0502020204030204" pitchFamily="34" charset="0"/>
              </a:rPr>
              <a:t>Stock Issue Considerations</a:t>
            </a:r>
            <a:endParaRPr lang="en-US" sz="2400" dirty="0"/>
          </a:p>
        </p:txBody>
      </p:sp>
      <p:sp>
        <p:nvSpPr>
          <p:cNvPr id="3" name="Content Placeholder 2">
            <a:extLst>
              <a:ext uri="{FF2B5EF4-FFF2-40B4-BE49-F238E27FC236}">
                <a16:creationId xmlns:a16="http://schemas.microsoft.com/office/drawing/2014/main" id="{660D45B2-43DD-47A3-B5D7-D4D30392FC92}"/>
              </a:ext>
            </a:extLst>
          </p:cNvPr>
          <p:cNvSpPr>
            <a:spLocks noGrp="1"/>
          </p:cNvSpPr>
          <p:nvPr>
            <p:ph sz="quarter" idx="16"/>
          </p:nvPr>
        </p:nvSpPr>
        <p:spPr>
          <a:xfrm>
            <a:off x="304800" y="1828800"/>
            <a:ext cx="8534400" cy="2438400"/>
          </a:xfrm>
        </p:spPr>
        <p:txBody>
          <a:bodyPr/>
          <a:lstStyle/>
          <a:p>
            <a:pPr>
              <a:buClr>
                <a:schemeClr val="accent2"/>
              </a:buClr>
            </a:pPr>
            <a:r>
              <a:rPr lang="en-US" sz="2600" dirty="0"/>
              <a:t>When a corporation decides to issue stock, it must resolve a number of basic questions:</a:t>
            </a:r>
          </a:p>
          <a:p>
            <a:pPr marL="402336" indent="-402336">
              <a:buClr>
                <a:schemeClr val="accent2"/>
              </a:buClr>
              <a:buFont typeface="+mj-lt"/>
              <a:buAutoNum type="arabicPeriod"/>
            </a:pPr>
            <a:r>
              <a:rPr lang="en-US" sz="2600" dirty="0"/>
              <a:t>How many shares should it authorize for sale?</a:t>
            </a:r>
          </a:p>
          <a:p>
            <a:pPr marL="402336" indent="-402336">
              <a:buClr>
                <a:schemeClr val="accent2"/>
              </a:buClr>
              <a:buFont typeface="+mj-lt"/>
              <a:buAutoNum type="arabicPeriod"/>
            </a:pPr>
            <a:r>
              <a:rPr lang="en-US" sz="2600" dirty="0"/>
              <a:t>How should it issue the stock?</a:t>
            </a:r>
          </a:p>
          <a:p>
            <a:pPr marL="402336" indent="-402336">
              <a:buClr>
                <a:schemeClr val="accent2"/>
              </a:buClr>
              <a:buFont typeface="+mj-lt"/>
              <a:buAutoNum type="arabicPeriod"/>
            </a:pPr>
            <a:r>
              <a:rPr lang="en-US" sz="2600" dirty="0"/>
              <a:t>What value should the corporation assign to the stock?</a:t>
            </a:r>
            <a:endParaRPr lang="en-US" altLang="en-US" sz="2600" dirty="0"/>
          </a:p>
        </p:txBody>
      </p:sp>
      <p:sp>
        <p:nvSpPr>
          <p:cNvPr id="4" name="Slide Number Placeholder 3">
            <a:extLst>
              <a:ext uri="{FF2B5EF4-FFF2-40B4-BE49-F238E27FC236}">
                <a16:creationId xmlns:a16="http://schemas.microsoft.com/office/drawing/2014/main" id="{974595B5-9CE1-471F-8CBF-E3C5D90389A3}"/>
              </a:ext>
            </a:extLst>
          </p:cNvPr>
          <p:cNvSpPr>
            <a:spLocks noGrp="1"/>
          </p:cNvSpPr>
          <p:nvPr>
            <p:ph type="sldNum" sz="quarter" idx="10"/>
          </p:nvPr>
        </p:nvSpPr>
        <p:spPr/>
        <p:txBody>
          <a:bodyPr/>
          <a:lstStyle/>
          <a:p>
            <a:fld id="{67B19427-F580-D146-B60E-4CADEE75497F}" type="slidenum">
              <a:rPr lang="en-US" smtClean="0"/>
              <a:pPr/>
              <a:t>8</a:t>
            </a:fld>
            <a:endParaRPr lang="en-US" dirty="0"/>
          </a:p>
        </p:txBody>
      </p:sp>
      <p:sp>
        <p:nvSpPr>
          <p:cNvPr id="5" name="Footer Placeholder 4">
            <a:extLst>
              <a:ext uri="{FF2B5EF4-FFF2-40B4-BE49-F238E27FC236}">
                <a16:creationId xmlns:a16="http://schemas.microsoft.com/office/drawing/2014/main" id="{2981E4B9-0878-4E67-8F59-D4B56F6354A2}"/>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2155574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47A45D-432E-4E15-9D56-380D447B35B8}"/>
              </a:ext>
            </a:extLst>
          </p:cNvPr>
          <p:cNvSpPr>
            <a:spLocks noGrp="1"/>
          </p:cNvSpPr>
          <p:nvPr>
            <p:ph type="title"/>
          </p:nvPr>
        </p:nvSpPr>
        <p:spPr/>
        <p:txBody>
          <a:bodyPr/>
          <a:lstStyle/>
          <a:p>
            <a:r>
              <a:rPr lang="en-US" b="1" dirty="0">
                <a:latin typeface="Calibri" panose="020F0502020204030204" pitchFamily="34" charset="0"/>
                <a:ea typeface="Source Sans Pro" charset="0"/>
                <a:cs typeface="Calibri" panose="020F0502020204030204" pitchFamily="34" charset="0"/>
              </a:rPr>
              <a:t>Stock Issue Considerations </a:t>
            </a:r>
            <a:endParaRPr lang="en-US" sz="2400" dirty="0"/>
          </a:p>
        </p:txBody>
      </p:sp>
      <p:sp>
        <p:nvSpPr>
          <p:cNvPr id="3" name="Content Placeholder 2">
            <a:extLst>
              <a:ext uri="{FF2B5EF4-FFF2-40B4-BE49-F238E27FC236}">
                <a16:creationId xmlns:a16="http://schemas.microsoft.com/office/drawing/2014/main" id="{660D45B2-43DD-47A3-B5D7-D4D30392FC92}"/>
              </a:ext>
            </a:extLst>
          </p:cNvPr>
          <p:cNvSpPr>
            <a:spLocks noGrp="1"/>
          </p:cNvSpPr>
          <p:nvPr>
            <p:ph sz="quarter" idx="16"/>
          </p:nvPr>
        </p:nvSpPr>
        <p:spPr>
          <a:xfrm>
            <a:off x="304800" y="1828800"/>
            <a:ext cx="8534400" cy="3200400"/>
          </a:xfrm>
        </p:spPr>
        <p:txBody>
          <a:bodyPr/>
          <a:lstStyle/>
          <a:p>
            <a:pPr>
              <a:buClr>
                <a:srgbClr val="990000"/>
              </a:buClr>
            </a:pPr>
            <a:r>
              <a:rPr lang="en-US" altLang="en-US" sz="2600" b="1" dirty="0"/>
              <a:t>Authorized Stock</a:t>
            </a:r>
          </a:p>
          <a:p>
            <a:pPr marL="292608" indent="-292608">
              <a:buClr>
                <a:srgbClr val="990000"/>
              </a:buClr>
              <a:buFont typeface="Arial" panose="020B0604020202020204" pitchFamily="34" charset="0"/>
              <a:buChar char="•"/>
            </a:pPr>
            <a:r>
              <a:rPr lang="en-US" altLang="en-US" sz="2600" dirty="0"/>
              <a:t>Charter indicates amount of stock that a corporation is </a:t>
            </a:r>
            <a:r>
              <a:rPr lang="en-US" altLang="en-US" sz="2600" b="1" dirty="0"/>
              <a:t>authorized</a:t>
            </a:r>
            <a:r>
              <a:rPr lang="en-US" altLang="en-US" sz="2600" dirty="0"/>
              <a:t> to sell</a:t>
            </a:r>
          </a:p>
          <a:p>
            <a:pPr marL="292608" indent="-292608">
              <a:buClr>
                <a:srgbClr val="990000"/>
              </a:buClr>
              <a:buFont typeface="Arial" panose="020B0604020202020204" pitchFamily="34" charset="0"/>
              <a:buChar char="•"/>
            </a:pPr>
            <a:r>
              <a:rPr lang="en-US" altLang="en-US" sz="2600" dirty="0"/>
              <a:t>Number of authorized shares is often reported in stockholders’ equity section</a:t>
            </a:r>
          </a:p>
          <a:p>
            <a:pPr marL="292608" indent="-292608">
              <a:buClr>
                <a:srgbClr val="990000"/>
              </a:buClr>
              <a:buFont typeface="Arial" panose="020B0604020202020204" pitchFamily="34" charset="0"/>
              <a:buChar char="•"/>
            </a:pPr>
            <a:r>
              <a:rPr lang="en-US" altLang="en-US" sz="2600" dirty="0"/>
              <a:t>No formal accounting entry</a:t>
            </a:r>
          </a:p>
        </p:txBody>
      </p:sp>
      <p:sp>
        <p:nvSpPr>
          <p:cNvPr id="4" name="Slide Number Placeholder 3">
            <a:extLst>
              <a:ext uri="{FF2B5EF4-FFF2-40B4-BE49-F238E27FC236}">
                <a16:creationId xmlns:a16="http://schemas.microsoft.com/office/drawing/2014/main" id="{974595B5-9CE1-471F-8CBF-E3C5D90389A3}"/>
              </a:ext>
            </a:extLst>
          </p:cNvPr>
          <p:cNvSpPr>
            <a:spLocks noGrp="1"/>
          </p:cNvSpPr>
          <p:nvPr>
            <p:ph type="sldNum" sz="quarter" idx="10"/>
          </p:nvPr>
        </p:nvSpPr>
        <p:spPr/>
        <p:txBody>
          <a:bodyPr/>
          <a:lstStyle/>
          <a:p>
            <a:fld id="{67B19427-F580-D146-B60E-4CADEE75497F}" type="slidenum">
              <a:rPr lang="en-US" smtClean="0"/>
              <a:pPr/>
              <a:t>9</a:t>
            </a:fld>
            <a:endParaRPr lang="en-US" dirty="0"/>
          </a:p>
        </p:txBody>
      </p:sp>
      <p:sp>
        <p:nvSpPr>
          <p:cNvPr id="5" name="Footer Placeholder 4">
            <a:extLst>
              <a:ext uri="{FF2B5EF4-FFF2-40B4-BE49-F238E27FC236}">
                <a16:creationId xmlns:a16="http://schemas.microsoft.com/office/drawing/2014/main" id="{2981E4B9-0878-4E67-8F59-D4B56F6354A2}"/>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10534458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47A45D-432E-4E15-9D56-380D447B35B8}"/>
              </a:ext>
            </a:extLst>
          </p:cNvPr>
          <p:cNvSpPr>
            <a:spLocks noGrp="1"/>
          </p:cNvSpPr>
          <p:nvPr>
            <p:ph type="title"/>
          </p:nvPr>
        </p:nvSpPr>
        <p:spPr/>
        <p:txBody>
          <a:bodyPr/>
          <a:lstStyle/>
          <a:p>
            <a:r>
              <a:rPr lang="en-US" b="1" dirty="0">
                <a:latin typeface="Calibri" panose="020F0502020204030204" pitchFamily="34" charset="0"/>
                <a:ea typeface="Source Sans Pro" charset="0"/>
                <a:cs typeface="Calibri" panose="020F0502020204030204" pitchFamily="34" charset="0"/>
              </a:rPr>
              <a:t>Stock Issue Considerations</a:t>
            </a:r>
            <a:endParaRPr lang="en-US" sz="2400" dirty="0"/>
          </a:p>
        </p:txBody>
      </p:sp>
      <p:sp>
        <p:nvSpPr>
          <p:cNvPr id="3" name="Content Placeholder 2">
            <a:extLst>
              <a:ext uri="{FF2B5EF4-FFF2-40B4-BE49-F238E27FC236}">
                <a16:creationId xmlns:a16="http://schemas.microsoft.com/office/drawing/2014/main" id="{660D45B2-43DD-47A3-B5D7-D4D30392FC92}"/>
              </a:ext>
            </a:extLst>
          </p:cNvPr>
          <p:cNvSpPr>
            <a:spLocks noGrp="1"/>
          </p:cNvSpPr>
          <p:nvPr>
            <p:ph sz="quarter" idx="16"/>
          </p:nvPr>
        </p:nvSpPr>
        <p:spPr>
          <a:xfrm>
            <a:off x="304800" y="1828800"/>
            <a:ext cx="8534400" cy="3886200"/>
          </a:xfrm>
        </p:spPr>
        <p:txBody>
          <a:bodyPr/>
          <a:lstStyle/>
          <a:p>
            <a:pPr>
              <a:buClr>
                <a:srgbClr val="990000"/>
              </a:buClr>
            </a:pPr>
            <a:r>
              <a:rPr lang="en-US" altLang="en-US" sz="2600" b="1" dirty="0">
                <a:latin typeface="Calibri" panose="020F0502020204030204" pitchFamily="34" charset="0"/>
              </a:rPr>
              <a:t>Issuance of Stock</a:t>
            </a:r>
          </a:p>
          <a:p>
            <a:pPr marL="292608" indent="-292608">
              <a:buClr>
                <a:srgbClr val="990000"/>
              </a:buClr>
              <a:buFont typeface="Arial" panose="020B0604020202020204" pitchFamily="34" charset="0"/>
              <a:buChar char="•"/>
            </a:pPr>
            <a:r>
              <a:rPr lang="en-US" altLang="en-US" sz="2600" dirty="0">
                <a:latin typeface="Calibri" panose="020F0502020204030204" pitchFamily="34" charset="0"/>
              </a:rPr>
              <a:t>Companies issue common stock </a:t>
            </a:r>
            <a:r>
              <a:rPr lang="en-US" altLang="en-US" sz="2600" b="1" dirty="0">
                <a:latin typeface="Calibri" panose="020F0502020204030204" pitchFamily="34" charset="0"/>
              </a:rPr>
              <a:t>directly</a:t>
            </a:r>
            <a:r>
              <a:rPr lang="en-US" altLang="en-US" sz="2600" dirty="0">
                <a:latin typeface="Calibri" panose="020F0502020204030204" pitchFamily="34" charset="0"/>
              </a:rPr>
              <a:t> to investors or </a:t>
            </a:r>
            <a:r>
              <a:rPr lang="en-US" altLang="en-US" sz="2600" b="1" dirty="0">
                <a:latin typeface="Calibri" panose="020F0502020204030204" pitchFamily="34" charset="0"/>
              </a:rPr>
              <a:t>indirectly</a:t>
            </a:r>
            <a:r>
              <a:rPr lang="en-US" altLang="en-US" sz="2600" dirty="0">
                <a:latin typeface="Calibri" panose="020F0502020204030204" pitchFamily="34" charset="0"/>
              </a:rPr>
              <a:t> through an investment banking firm</a:t>
            </a:r>
          </a:p>
          <a:p>
            <a:pPr marL="292608" indent="-292608">
              <a:buClr>
                <a:srgbClr val="990000"/>
              </a:buClr>
              <a:buFont typeface="Arial" panose="020B0604020202020204" pitchFamily="34" charset="0"/>
              <a:buChar char="•"/>
            </a:pPr>
            <a:r>
              <a:rPr lang="en-US" altLang="en-US" sz="2600" dirty="0">
                <a:latin typeface="Calibri" panose="020F0502020204030204" pitchFamily="34" charset="0"/>
              </a:rPr>
              <a:t>Factors in setting price for a new issue of stock:</a:t>
            </a:r>
          </a:p>
          <a:p>
            <a:pPr marL="804672" lvl="1" indent="-402336">
              <a:buClr>
                <a:schemeClr val="accent2"/>
              </a:buClr>
              <a:buFont typeface="+mj-lt"/>
              <a:buAutoNum type="arabicPeriod"/>
            </a:pPr>
            <a:r>
              <a:rPr lang="en-US" altLang="en-US" dirty="0">
                <a:latin typeface="Calibri" panose="020F0502020204030204" pitchFamily="34" charset="0"/>
              </a:rPr>
              <a:t>Company’s anticipated future earnings</a:t>
            </a:r>
          </a:p>
          <a:p>
            <a:pPr marL="804672" lvl="1" indent="-402336">
              <a:buClr>
                <a:schemeClr val="accent2"/>
              </a:buClr>
              <a:buFont typeface="+mj-lt"/>
              <a:buAutoNum type="arabicPeriod"/>
            </a:pPr>
            <a:r>
              <a:rPr lang="en-US" altLang="en-US" dirty="0">
                <a:latin typeface="Calibri" panose="020F0502020204030204" pitchFamily="34" charset="0"/>
              </a:rPr>
              <a:t>Expected dividend rate per share</a:t>
            </a:r>
          </a:p>
          <a:p>
            <a:pPr marL="804672" lvl="1" indent="-402336">
              <a:buClr>
                <a:schemeClr val="accent2"/>
              </a:buClr>
              <a:buFont typeface="+mj-lt"/>
              <a:buAutoNum type="arabicPeriod"/>
            </a:pPr>
            <a:r>
              <a:rPr lang="en-US" altLang="en-US" dirty="0">
                <a:latin typeface="Calibri" panose="020F0502020204030204" pitchFamily="34" charset="0"/>
              </a:rPr>
              <a:t>Current financial position</a:t>
            </a:r>
          </a:p>
          <a:p>
            <a:pPr marL="804672" lvl="1" indent="-402336">
              <a:buClr>
                <a:schemeClr val="accent2"/>
              </a:buClr>
              <a:buFont typeface="+mj-lt"/>
              <a:buAutoNum type="arabicPeriod"/>
            </a:pPr>
            <a:r>
              <a:rPr lang="en-US" altLang="en-US" dirty="0">
                <a:latin typeface="Calibri" panose="020F0502020204030204" pitchFamily="34" charset="0"/>
              </a:rPr>
              <a:t>Current state of economy</a:t>
            </a:r>
          </a:p>
          <a:p>
            <a:pPr marL="804672" lvl="1" indent="-402336">
              <a:buClr>
                <a:schemeClr val="accent2"/>
              </a:buClr>
              <a:buFont typeface="+mj-lt"/>
              <a:buAutoNum type="arabicPeriod"/>
            </a:pPr>
            <a:r>
              <a:rPr lang="en-US" altLang="en-US" dirty="0">
                <a:latin typeface="Calibri" panose="020F0502020204030204" pitchFamily="34" charset="0"/>
              </a:rPr>
              <a:t>Current state of securities market</a:t>
            </a:r>
          </a:p>
        </p:txBody>
      </p:sp>
      <p:sp>
        <p:nvSpPr>
          <p:cNvPr id="4" name="Slide Number Placeholder 3">
            <a:extLst>
              <a:ext uri="{FF2B5EF4-FFF2-40B4-BE49-F238E27FC236}">
                <a16:creationId xmlns:a16="http://schemas.microsoft.com/office/drawing/2014/main" id="{974595B5-9CE1-471F-8CBF-E3C5D90389A3}"/>
              </a:ext>
            </a:extLst>
          </p:cNvPr>
          <p:cNvSpPr>
            <a:spLocks noGrp="1"/>
          </p:cNvSpPr>
          <p:nvPr>
            <p:ph type="sldNum" sz="quarter" idx="10"/>
          </p:nvPr>
        </p:nvSpPr>
        <p:spPr/>
        <p:txBody>
          <a:bodyPr/>
          <a:lstStyle/>
          <a:p>
            <a:fld id="{67B19427-F580-D146-B60E-4CADEE75497F}" type="slidenum">
              <a:rPr lang="en-US" smtClean="0"/>
              <a:pPr/>
              <a:t>10</a:t>
            </a:fld>
            <a:endParaRPr lang="en-US" dirty="0"/>
          </a:p>
        </p:txBody>
      </p:sp>
      <p:sp>
        <p:nvSpPr>
          <p:cNvPr id="5" name="Footer Placeholder 4">
            <a:extLst>
              <a:ext uri="{FF2B5EF4-FFF2-40B4-BE49-F238E27FC236}">
                <a16:creationId xmlns:a16="http://schemas.microsoft.com/office/drawing/2014/main" id="{2981E4B9-0878-4E67-8F59-D4B56F6354A2}"/>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30112822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47A45D-432E-4E15-9D56-380D447B35B8}"/>
              </a:ext>
            </a:extLst>
          </p:cNvPr>
          <p:cNvSpPr>
            <a:spLocks noGrp="1"/>
          </p:cNvSpPr>
          <p:nvPr>
            <p:ph type="title"/>
          </p:nvPr>
        </p:nvSpPr>
        <p:spPr/>
        <p:txBody>
          <a:bodyPr/>
          <a:lstStyle/>
          <a:p>
            <a:r>
              <a:rPr lang="en-US" b="1" dirty="0">
                <a:latin typeface="Calibri" panose="020F0502020204030204" pitchFamily="34" charset="0"/>
                <a:ea typeface="Source Sans Pro" charset="0"/>
                <a:cs typeface="Calibri" panose="020F0502020204030204" pitchFamily="34" charset="0"/>
              </a:rPr>
              <a:t>Stock Issue Considerations</a:t>
            </a:r>
            <a:endParaRPr lang="en-US" sz="2400" dirty="0"/>
          </a:p>
        </p:txBody>
      </p:sp>
      <p:sp>
        <p:nvSpPr>
          <p:cNvPr id="3" name="Content Placeholder 2">
            <a:extLst>
              <a:ext uri="{FF2B5EF4-FFF2-40B4-BE49-F238E27FC236}">
                <a16:creationId xmlns:a16="http://schemas.microsoft.com/office/drawing/2014/main" id="{660D45B2-43DD-47A3-B5D7-D4D30392FC92}"/>
              </a:ext>
            </a:extLst>
          </p:cNvPr>
          <p:cNvSpPr>
            <a:spLocks noGrp="1"/>
          </p:cNvSpPr>
          <p:nvPr>
            <p:ph sz="quarter" idx="16"/>
          </p:nvPr>
        </p:nvSpPr>
        <p:spPr/>
        <p:txBody>
          <a:bodyPr/>
          <a:lstStyle/>
          <a:p>
            <a:pPr>
              <a:buClr>
                <a:srgbClr val="990000"/>
              </a:buClr>
            </a:pPr>
            <a:r>
              <a:rPr lang="en-US" altLang="en-US" sz="2600" b="1" dirty="0">
                <a:latin typeface="Calibri" panose="020F0502020204030204" pitchFamily="34" charset="0"/>
              </a:rPr>
              <a:t>Par and No-Par Value Stocks</a:t>
            </a:r>
          </a:p>
          <a:p>
            <a:pPr marL="292608" indent="-292608">
              <a:buClr>
                <a:srgbClr val="990000"/>
              </a:buClr>
              <a:buFont typeface="Arial" panose="020B0604020202020204" pitchFamily="34" charset="0"/>
              <a:buChar char="•"/>
            </a:pPr>
            <a:r>
              <a:rPr lang="en-US" altLang="en-US" sz="2600" dirty="0">
                <a:latin typeface="Calibri" panose="020F0502020204030204" pitchFamily="34" charset="0"/>
              </a:rPr>
              <a:t>Years ago, par value determined </a:t>
            </a:r>
            <a:r>
              <a:rPr lang="en-US" altLang="en-US" sz="2600" b="1" dirty="0">
                <a:latin typeface="Calibri" panose="020F0502020204030204" pitchFamily="34" charset="0"/>
              </a:rPr>
              <a:t>legal capital </a:t>
            </a:r>
            <a:r>
              <a:rPr lang="en-US" altLang="en-US" sz="2600" dirty="0">
                <a:latin typeface="Calibri" panose="020F0502020204030204" pitchFamily="34" charset="0"/>
              </a:rPr>
              <a:t>per share that a company must retain in business for protection of corporate creditors</a:t>
            </a:r>
          </a:p>
          <a:p>
            <a:pPr marL="292608" indent="-292608">
              <a:buClr>
                <a:srgbClr val="990000"/>
              </a:buClr>
              <a:buFont typeface="Arial" panose="020B0604020202020204" pitchFamily="34" charset="0"/>
              <a:buChar char="•"/>
            </a:pPr>
            <a:r>
              <a:rPr lang="en-US" altLang="en-US" sz="2600" dirty="0">
                <a:latin typeface="Calibri" panose="020F0502020204030204" pitchFamily="34" charset="0"/>
              </a:rPr>
              <a:t>Today many states do not require a par value</a:t>
            </a:r>
          </a:p>
          <a:p>
            <a:pPr marL="292608" indent="-292608">
              <a:buClr>
                <a:srgbClr val="990000"/>
              </a:buClr>
              <a:buFont typeface="Arial" panose="020B0604020202020204" pitchFamily="34" charset="0"/>
              <a:buChar char="•"/>
            </a:pPr>
            <a:r>
              <a:rPr lang="en-US" altLang="en-US" sz="2600" b="1" dirty="0">
                <a:solidFill>
                  <a:schemeClr val="accent4"/>
                </a:solidFill>
                <a:latin typeface="Calibri" panose="020F0502020204030204" pitchFamily="34" charset="0"/>
              </a:rPr>
              <a:t>No-par value stock</a:t>
            </a:r>
            <a:r>
              <a:rPr lang="en-US" altLang="en-US" sz="2600" b="1" dirty="0">
                <a:solidFill>
                  <a:srgbClr val="0000CC"/>
                </a:solidFill>
                <a:latin typeface="Calibri" panose="020F0502020204030204" pitchFamily="34" charset="0"/>
              </a:rPr>
              <a:t> </a:t>
            </a:r>
            <a:r>
              <a:rPr lang="en-US" altLang="en-US" sz="2600" dirty="0">
                <a:latin typeface="Calibri" panose="020F0502020204030204" pitchFamily="34" charset="0"/>
              </a:rPr>
              <a:t>is fairly common today</a:t>
            </a:r>
          </a:p>
          <a:p>
            <a:pPr marL="292608" indent="-292608">
              <a:buClr>
                <a:srgbClr val="990000"/>
              </a:buClr>
              <a:buFont typeface="Arial" panose="020B0604020202020204" pitchFamily="34" charset="0"/>
              <a:buChar char="•"/>
            </a:pPr>
            <a:r>
              <a:rPr lang="en-US" altLang="en-US" sz="2600" dirty="0">
                <a:latin typeface="Calibri" panose="020F0502020204030204" pitchFamily="34" charset="0"/>
              </a:rPr>
              <a:t>In many states, the board of directors assigns a </a:t>
            </a:r>
            <a:r>
              <a:rPr lang="en-US" altLang="en-US" sz="2600" b="1" dirty="0">
                <a:solidFill>
                  <a:schemeClr val="accent4"/>
                </a:solidFill>
                <a:latin typeface="Calibri" panose="020F0502020204030204" pitchFamily="34" charset="0"/>
              </a:rPr>
              <a:t>stated value</a:t>
            </a:r>
            <a:r>
              <a:rPr lang="en-US" altLang="en-US" sz="2600" dirty="0">
                <a:solidFill>
                  <a:schemeClr val="accent4"/>
                </a:solidFill>
                <a:latin typeface="Calibri" panose="020F0502020204030204" pitchFamily="34" charset="0"/>
              </a:rPr>
              <a:t> </a:t>
            </a:r>
            <a:r>
              <a:rPr lang="en-US" altLang="en-US" sz="2600" dirty="0">
                <a:latin typeface="Calibri" panose="020F0502020204030204" pitchFamily="34" charset="0"/>
              </a:rPr>
              <a:t>to no-par shares</a:t>
            </a:r>
          </a:p>
        </p:txBody>
      </p:sp>
      <p:sp>
        <p:nvSpPr>
          <p:cNvPr id="4" name="Slide Number Placeholder 3">
            <a:extLst>
              <a:ext uri="{FF2B5EF4-FFF2-40B4-BE49-F238E27FC236}">
                <a16:creationId xmlns:a16="http://schemas.microsoft.com/office/drawing/2014/main" id="{974595B5-9CE1-471F-8CBF-E3C5D90389A3}"/>
              </a:ext>
            </a:extLst>
          </p:cNvPr>
          <p:cNvSpPr>
            <a:spLocks noGrp="1"/>
          </p:cNvSpPr>
          <p:nvPr>
            <p:ph type="sldNum" sz="quarter" idx="10"/>
          </p:nvPr>
        </p:nvSpPr>
        <p:spPr/>
        <p:txBody>
          <a:bodyPr/>
          <a:lstStyle/>
          <a:p>
            <a:fld id="{67B19427-F580-D146-B60E-4CADEE75497F}" type="slidenum">
              <a:rPr lang="en-US" smtClean="0"/>
              <a:pPr/>
              <a:t>11</a:t>
            </a:fld>
            <a:endParaRPr lang="en-US" dirty="0"/>
          </a:p>
        </p:txBody>
      </p:sp>
      <p:sp>
        <p:nvSpPr>
          <p:cNvPr id="5" name="Footer Placeholder 4">
            <a:extLst>
              <a:ext uri="{FF2B5EF4-FFF2-40B4-BE49-F238E27FC236}">
                <a16:creationId xmlns:a16="http://schemas.microsoft.com/office/drawing/2014/main" id="{2981E4B9-0878-4E67-8F59-D4B56F6354A2}"/>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30001715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A67B5F-EACD-4463-8CF4-E4A0E67A2FCF}"/>
              </a:ext>
            </a:extLst>
          </p:cNvPr>
          <p:cNvSpPr>
            <a:spLocks noGrp="1"/>
          </p:cNvSpPr>
          <p:nvPr>
            <p:ph type="title"/>
          </p:nvPr>
        </p:nvSpPr>
        <p:spPr/>
        <p:txBody>
          <a:bodyPr/>
          <a:lstStyle/>
          <a:p>
            <a:r>
              <a:rPr lang="en-US" b="1" dirty="0">
                <a:latin typeface="Calibri" panose="020F0502020204030204" pitchFamily="34" charset="0"/>
                <a:ea typeface="Source Sans Pro" charset="0"/>
                <a:cs typeface="Calibri" panose="020F0502020204030204" pitchFamily="34" charset="0"/>
              </a:rPr>
              <a:t>Corporate Capital</a:t>
            </a:r>
            <a:endParaRPr lang="en-US" sz="2400" dirty="0"/>
          </a:p>
        </p:txBody>
      </p:sp>
      <p:pic>
        <p:nvPicPr>
          <p:cNvPr id="7" name="Content Placeholder 6" descr="An illustration displays corporate capital. The two primary sources of equity are paid-in capital and the retained earnings account. The paid-in capital is divided into common stock account, and preferred stock account. The common stock account, and preferred stock account combine to form the paid-in capital in excess of par account.">
            <a:extLst>
              <a:ext uri="{FF2B5EF4-FFF2-40B4-BE49-F238E27FC236}">
                <a16:creationId xmlns:a16="http://schemas.microsoft.com/office/drawing/2014/main" id="{E9CC1753-F188-4557-A23D-BFB1420D660B}"/>
              </a:ext>
            </a:extLst>
          </p:cNvPr>
          <p:cNvPicPr>
            <a:picLocks noGrp="1" noChangeAspect="1"/>
          </p:cNvPicPr>
          <p:nvPr>
            <p:ph sz="quarter" idx="16"/>
          </p:nvPr>
        </p:nvPicPr>
        <p:blipFill>
          <a:blip r:embed="rId2"/>
          <a:stretch>
            <a:fillRect/>
          </a:stretch>
        </p:blipFill>
        <p:spPr>
          <a:xfrm>
            <a:off x="1155790" y="1905000"/>
            <a:ext cx="7289620" cy="2859941"/>
          </a:xfrm>
          <a:prstGeom prst="rect">
            <a:avLst/>
          </a:prstGeom>
        </p:spPr>
      </p:pic>
      <p:sp>
        <p:nvSpPr>
          <p:cNvPr id="4" name="Content Placeholder 3">
            <a:extLst>
              <a:ext uri="{FF2B5EF4-FFF2-40B4-BE49-F238E27FC236}">
                <a16:creationId xmlns:a16="http://schemas.microsoft.com/office/drawing/2014/main" id="{54CB3538-D5E5-4570-BE3F-A4936FBBD8E4}"/>
              </a:ext>
            </a:extLst>
          </p:cNvPr>
          <p:cNvSpPr>
            <a:spLocks noGrp="1"/>
          </p:cNvSpPr>
          <p:nvPr>
            <p:ph sz="quarter" idx="17"/>
          </p:nvPr>
        </p:nvSpPr>
        <p:spPr>
          <a:xfrm>
            <a:off x="304800" y="5181600"/>
            <a:ext cx="8534400" cy="990600"/>
          </a:xfrm>
        </p:spPr>
        <p:txBody>
          <a:bodyPr/>
          <a:lstStyle/>
          <a:p>
            <a:r>
              <a:rPr lang="en-US" altLang="en-US" sz="2400" b="1" dirty="0">
                <a:solidFill>
                  <a:schemeClr val="accent4"/>
                </a:solidFill>
              </a:rPr>
              <a:t>Paid-in capital</a:t>
            </a:r>
            <a:r>
              <a:rPr lang="en-US" altLang="en-US" sz="2400" b="1" dirty="0">
                <a:solidFill>
                  <a:srgbClr val="0000CC"/>
                </a:solidFill>
              </a:rPr>
              <a:t> </a:t>
            </a:r>
            <a:r>
              <a:rPr lang="en-US" altLang="en-US" sz="2400" dirty="0"/>
              <a:t>is the total amount of cash and other assets paid in to the corporation by stockholders in exchange for capital stock.</a:t>
            </a:r>
          </a:p>
        </p:txBody>
      </p:sp>
      <p:sp>
        <p:nvSpPr>
          <p:cNvPr id="5" name="Slide Number Placeholder 4">
            <a:extLst>
              <a:ext uri="{FF2B5EF4-FFF2-40B4-BE49-F238E27FC236}">
                <a16:creationId xmlns:a16="http://schemas.microsoft.com/office/drawing/2014/main" id="{AE311DBD-1DC4-4423-825A-EC7FEB60419E}"/>
              </a:ext>
            </a:extLst>
          </p:cNvPr>
          <p:cNvSpPr>
            <a:spLocks noGrp="1"/>
          </p:cNvSpPr>
          <p:nvPr>
            <p:ph type="sldNum" sz="quarter" idx="10"/>
          </p:nvPr>
        </p:nvSpPr>
        <p:spPr/>
        <p:txBody>
          <a:bodyPr/>
          <a:lstStyle/>
          <a:p>
            <a:fld id="{67B19427-F580-D146-B60E-4CADEE75497F}" type="slidenum">
              <a:rPr lang="en-US" smtClean="0"/>
              <a:pPr/>
              <a:t>12</a:t>
            </a:fld>
            <a:endParaRPr lang="en-US" dirty="0"/>
          </a:p>
        </p:txBody>
      </p:sp>
      <p:sp>
        <p:nvSpPr>
          <p:cNvPr id="6" name="Footer Placeholder 5">
            <a:extLst>
              <a:ext uri="{FF2B5EF4-FFF2-40B4-BE49-F238E27FC236}">
                <a16:creationId xmlns:a16="http://schemas.microsoft.com/office/drawing/2014/main" id="{011835B1-2EBE-465C-A05E-DC27F80595B4}"/>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1074004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A67B5F-EACD-4463-8CF4-E4A0E67A2FCF}"/>
              </a:ext>
            </a:extLst>
          </p:cNvPr>
          <p:cNvSpPr>
            <a:spLocks noGrp="1"/>
          </p:cNvSpPr>
          <p:nvPr>
            <p:ph type="title"/>
          </p:nvPr>
        </p:nvSpPr>
        <p:spPr/>
        <p:txBody>
          <a:bodyPr/>
          <a:lstStyle/>
          <a:p>
            <a:r>
              <a:rPr lang="en-US" b="1" dirty="0">
                <a:latin typeface="Calibri" panose="020F0502020204030204" pitchFamily="34" charset="0"/>
                <a:ea typeface="Source Sans Pro" charset="0"/>
                <a:cs typeface="Calibri" panose="020F0502020204030204" pitchFamily="34" charset="0"/>
              </a:rPr>
              <a:t>Corporate Capital </a:t>
            </a:r>
            <a:endParaRPr lang="en-US" sz="2400" dirty="0"/>
          </a:p>
        </p:txBody>
      </p:sp>
      <p:pic>
        <p:nvPicPr>
          <p:cNvPr id="7" name="Content Placeholder 6" descr="An illustration displays corporate capital. The two primary sources of equity are paid-in capital and the retained earnings account. The paid-in capital is divided into common stock account, and preferred stock account. The common stock account, and preferred stock account combine to form the paid-in capital in excess of par account.&#10;">
            <a:extLst>
              <a:ext uri="{FF2B5EF4-FFF2-40B4-BE49-F238E27FC236}">
                <a16:creationId xmlns:a16="http://schemas.microsoft.com/office/drawing/2014/main" id="{E9CC1753-F188-4557-A23D-BFB1420D660B}"/>
              </a:ext>
            </a:extLst>
          </p:cNvPr>
          <p:cNvPicPr>
            <a:picLocks noGrp="1" noChangeAspect="1"/>
          </p:cNvPicPr>
          <p:nvPr>
            <p:ph sz="quarter" idx="16"/>
          </p:nvPr>
        </p:nvPicPr>
        <p:blipFill>
          <a:blip r:embed="rId2"/>
          <a:stretch>
            <a:fillRect/>
          </a:stretch>
        </p:blipFill>
        <p:spPr>
          <a:xfrm>
            <a:off x="1155790" y="1905000"/>
            <a:ext cx="7289620" cy="2859941"/>
          </a:xfrm>
          <a:prstGeom prst="rect">
            <a:avLst/>
          </a:prstGeom>
        </p:spPr>
      </p:pic>
      <p:sp>
        <p:nvSpPr>
          <p:cNvPr id="4" name="Content Placeholder 3">
            <a:extLst>
              <a:ext uri="{FF2B5EF4-FFF2-40B4-BE49-F238E27FC236}">
                <a16:creationId xmlns:a16="http://schemas.microsoft.com/office/drawing/2014/main" id="{54CB3538-D5E5-4570-BE3F-A4936FBBD8E4}"/>
              </a:ext>
            </a:extLst>
          </p:cNvPr>
          <p:cNvSpPr>
            <a:spLocks noGrp="1"/>
          </p:cNvSpPr>
          <p:nvPr>
            <p:ph sz="quarter" idx="17"/>
          </p:nvPr>
        </p:nvSpPr>
        <p:spPr>
          <a:xfrm>
            <a:off x="304800" y="5181600"/>
            <a:ext cx="8534400" cy="990600"/>
          </a:xfrm>
        </p:spPr>
        <p:txBody>
          <a:bodyPr/>
          <a:lstStyle/>
          <a:p>
            <a:r>
              <a:rPr lang="en-US" altLang="en-US" sz="2400" b="1" dirty="0">
                <a:solidFill>
                  <a:schemeClr val="accent4"/>
                </a:solidFill>
              </a:rPr>
              <a:t>Retained earnings</a:t>
            </a:r>
            <a:r>
              <a:rPr lang="en-US" altLang="en-US" sz="2400" dirty="0"/>
              <a:t> is net income that a corporation retains for future use.</a:t>
            </a:r>
          </a:p>
        </p:txBody>
      </p:sp>
      <p:sp>
        <p:nvSpPr>
          <p:cNvPr id="5" name="Slide Number Placeholder 4">
            <a:extLst>
              <a:ext uri="{FF2B5EF4-FFF2-40B4-BE49-F238E27FC236}">
                <a16:creationId xmlns:a16="http://schemas.microsoft.com/office/drawing/2014/main" id="{AE311DBD-1DC4-4423-825A-EC7FEB60419E}"/>
              </a:ext>
            </a:extLst>
          </p:cNvPr>
          <p:cNvSpPr>
            <a:spLocks noGrp="1"/>
          </p:cNvSpPr>
          <p:nvPr>
            <p:ph type="sldNum" sz="quarter" idx="10"/>
          </p:nvPr>
        </p:nvSpPr>
        <p:spPr/>
        <p:txBody>
          <a:bodyPr/>
          <a:lstStyle/>
          <a:p>
            <a:fld id="{67B19427-F580-D146-B60E-4CADEE75497F}" type="slidenum">
              <a:rPr lang="en-US" smtClean="0"/>
              <a:pPr/>
              <a:t>13</a:t>
            </a:fld>
            <a:endParaRPr lang="en-US" dirty="0"/>
          </a:p>
        </p:txBody>
      </p:sp>
      <p:sp>
        <p:nvSpPr>
          <p:cNvPr id="6" name="Footer Placeholder 5">
            <a:extLst>
              <a:ext uri="{FF2B5EF4-FFF2-40B4-BE49-F238E27FC236}">
                <a16:creationId xmlns:a16="http://schemas.microsoft.com/office/drawing/2014/main" id="{011835B1-2EBE-465C-A05E-DC27F80595B4}"/>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18597793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185801-69AD-4DC5-9B0E-E90F2738588A}"/>
              </a:ext>
            </a:extLst>
          </p:cNvPr>
          <p:cNvSpPr>
            <a:spLocks noGrp="1"/>
          </p:cNvSpPr>
          <p:nvPr>
            <p:ph type="title"/>
          </p:nvPr>
        </p:nvSpPr>
        <p:spPr>
          <a:xfrm>
            <a:off x="304800" y="762001"/>
            <a:ext cx="8534400" cy="761999"/>
          </a:xfrm>
        </p:spPr>
        <p:txBody>
          <a:bodyPr/>
          <a:lstStyle/>
          <a:p>
            <a:r>
              <a:rPr lang="en-US" b="1" dirty="0">
                <a:latin typeface="Calibri" panose="020F0502020204030204" pitchFamily="34" charset="0"/>
                <a:ea typeface="Source Sans Pro" charset="0"/>
                <a:cs typeface="Calibri" panose="020F0502020204030204" pitchFamily="34" charset="0"/>
              </a:rPr>
              <a:t>Retained Earnings</a:t>
            </a:r>
            <a:endParaRPr lang="en-US" dirty="0"/>
          </a:p>
        </p:txBody>
      </p:sp>
      <p:sp>
        <p:nvSpPr>
          <p:cNvPr id="3" name="Content Placeholder 2">
            <a:extLst>
              <a:ext uri="{FF2B5EF4-FFF2-40B4-BE49-F238E27FC236}">
                <a16:creationId xmlns:a16="http://schemas.microsoft.com/office/drawing/2014/main" id="{B830C7E9-F75A-42BC-B54F-4542397D1303}"/>
              </a:ext>
            </a:extLst>
          </p:cNvPr>
          <p:cNvSpPr>
            <a:spLocks noGrp="1"/>
          </p:cNvSpPr>
          <p:nvPr>
            <p:ph sz="quarter" idx="16"/>
          </p:nvPr>
        </p:nvSpPr>
        <p:spPr>
          <a:xfrm>
            <a:off x="304800" y="1828800"/>
            <a:ext cx="8534400" cy="1066800"/>
          </a:xfrm>
        </p:spPr>
        <p:txBody>
          <a:bodyPr/>
          <a:lstStyle/>
          <a:p>
            <a:r>
              <a:rPr lang="en-US" altLang="en-US" sz="2400" dirty="0"/>
              <a:t>If Delta Robotics has a balance of $800,000 in common stock and $130,000 in retained earnings at the end of its first year, its stockholders’ equity section is as follows.</a:t>
            </a:r>
          </a:p>
        </p:txBody>
      </p:sp>
      <p:pic>
        <p:nvPicPr>
          <p:cNvPr id="10" name="Content Placeholder 9" descr="An illustration displays stockholders' equity section. It has a two-line heading that contains, the name of the company, Delta Robotics; and the type of statement, balance sheet, partial. The stockholders' equity reads paid-in capital, displayed in red font. The common stock is $800,000 displayed in the first numeric column. The retained earnings, highlighted in red font read 130,000 in the first numeric column. The total stockholders' equity of $930,000 is displayed in second numeric column, in red font. ">
            <a:extLst>
              <a:ext uri="{FF2B5EF4-FFF2-40B4-BE49-F238E27FC236}">
                <a16:creationId xmlns:a16="http://schemas.microsoft.com/office/drawing/2014/main" id="{965C5656-D9A4-4767-8AC8-0838ADAA7840}"/>
              </a:ext>
            </a:extLst>
          </p:cNvPr>
          <p:cNvPicPr>
            <a:picLocks noGrp="1" noChangeAspect="1"/>
          </p:cNvPicPr>
          <p:nvPr>
            <p:ph sz="quarter" idx="17"/>
          </p:nvPr>
        </p:nvPicPr>
        <p:blipFill>
          <a:blip r:embed="rId2">
            <a:extLst>
              <a:ext uri="{28A0092B-C50C-407E-A947-70E740481C1C}">
                <a14:useLocalDpi xmlns:a14="http://schemas.microsoft.com/office/drawing/2010/main" val="0"/>
              </a:ext>
            </a:extLst>
          </a:blip>
          <a:stretch>
            <a:fillRect/>
          </a:stretch>
        </p:blipFill>
        <p:spPr>
          <a:xfrm>
            <a:off x="634947" y="3401367"/>
            <a:ext cx="7874106" cy="2071303"/>
          </a:xfrm>
        </p:spPr>
      </p:pic>
      <p:sp>
        <p:nvSpPr>
          <p:cNvPr id="5" name="Slide Number Placeholder 4">
            <a:extLst>
              <a:ext uri="{FF2B5EF4-FFF2-40B4-BE49-F238E27FC236}">
                <a16:creationId xmlns:a16="http://schemas.microsoft.com/office/drawing/2014/main" id="{2F0BD2F1-6FE6-471E-9FF8-2B0B43EC9BE8}"/>
              </a:ext>
            </a:extLst>
          </p:cNvPr>
          <p:cNvSpPr>
            <a:spLocks noGrp="1"/>
          </p:cNvSpPr>
          <p:nvPr>
            <p:ph type="sldNum" sz="quarter" idx="10"/>
          </p:nvPr>
        </p:nvSpPr>
        <p:spPr/>
        <p:txBody>
          <a:bodyPr/>
          <a:lstStyle/>
          <a:p>
            <a:fld id="{67B19427-F580-D146-B60E-4CADEE75497F}" type="slidenum">
              <a:rPr lang="en-US" smtClean="0"/>
              <a:pPr/>
              <a:t>14</a:t>
            </a:fld>
            <a:endParaRPr lang="en-US" dirty="0"/>
          </a:p>
        </p:txBody>
      </p:sp>
      <p:sp>
        <p:nvSpPr>
          <p:cNvPr id="6" name="Footer Placeholder 5">
            <a:extLst>
              <a:ext uri="{FF2B5EF4-FFF2-40B4-BE49-F238E27FC236}">
                <a16:creationId xmlns:a16="http://schemas.microsoft.com/office/drawing/2014/main" id="{B5992D59-21FA-4B88-92EF-33F0898B0F7A}"/>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29211467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495FFB-BBB5-4647-B885-E49962533FA9}"/>
              </a:ext>
            </a:extLst>
          </p:cNvPr>
          <p:cNvSpPr>
            <a:spLocks noGrp="1"/>
          </p:cNvSpPr>
          <p:nvPr>
            <p:ph type="title"/>
          </p:nvPr>
        </p:nvSpPr>
        <p:spPr>
          <a:xfrm>
            <a:off x="304800" y="762001"/>
            <a:ext cx="8534400" cy="685800"/>
          </a:xfrm>
        </p:spPr>
        <p:txBody>
          <a:bodyPr/>
          <a:lstStyle/>
          <a:p>
            <a:r>
              <a:rPr lang="en-US" b="1" dirty="0">
                <a:latin typeface="Calibri" panose="020F0502020204030204" pitchFamily="34" charset="0"/>
                <a:ea typeface="Source Sans Pro" charset="0"/>
                <a:cs typeface="Calibri" panose="020F0502020204030204" pitchFamily="34" charset="0"/>
              </a:rPr>
              <a:t>Corporate Capital</a:t>
            </a:r>
            <a:endParaRPr lang="en-US" dirty="0"/>
          </a:p>
        </p:txBody>
      </p:sp>
      <p:sp>
        <p:nvSpPr>
          <p:cNvPr id="3" name="Content Placeholder 2">
            <a:extLst>
              <a:ext uri="{FF2B5EF4-FFF2-40B4-BE49-F238E27FC236}">
                <a16:creationId xmlns:a16="http://schemas.microsoft.com/office/drawing/2014/main" id="{FC0A030F-4734-40ED-BD65-FA8CD08D64BC}"/>
              </a:ext>
            </a:extLst>
          </p:cNvPr>
          <p:cNvSpPr>
            <a:spLocks noGrp="1"/>
          </p:cNvSpPr>
          <p:nvPr>
            <p:ph sz="quarter" idx="16"/>
          </p:nvPr>
        </p:nvSpPr>
        <p:spPr>
          <a:xfrm>
            <a:off x="304800" y="1676400"/>
            <a:ext cx="8534400" cy="685800"/>
          </a:xfrm>
        </p:spPr>
        <p:txBody>
          <a:bodyPr/>
          <a:lstStyle/>
          <a:p>
            <a:r>
              <a:rPr lang="en-US" altLang="en-US" sz="2400" dirty="0"/>
              <a:t>Comparison of the owners’ equity (stockholders’ equity) accounts reported on a balance sheet.</a:t>
            </a:r>
          </a:p>
        </p:txBody>
      </p:sp>
      <p:pic>
        <p:nvPicPr>
          <p:cNvPr id="7" name="Content Placeholder 6" descr="An illustration displays comparison of owner's equity accounts. It is divided into proprietorship, partnership, and corporation. The proprietorship includes only one t account titled Owner's capital with normal balance in the credit section. The partnership includes two t accounts titled Able, capital, and Baker, capital. The t account of Able, capital reads, normal balance on the credit section. The t account of Baker capital reads, normal balance on the credit section. The corporation includes two t accounts titled, common stock, and retained earnings. The t account of common stock reads normal balance on the credit section. The t account of retained earnings reads normal balance on the credit section.&#10;">
            <a:extLst>
              <a:ext uri="{FF2B5EF4-FFF2-40B4-BE49-F238E27FC236}">
                <a16:creationId xmlns:a16="http://schemas.microsoft.com/office/drawing/2014/main" id="{4EB4F681-14F0-41CC-8EB3-E4A456B54451}"/>
              </a:ext>
            </a:extLst>
          </p:cNvPr>
          <p:cNvPicPr>
            <a:picLocks noGrp="1" noChangeAspect="1"/>
          </p:cNvPicPr>
          <p:nvPr>
            <p:ph sz="quarter" idx="17"/>
          </p:nvPr>
        </p:nvPicPr>
        <p:blipFill>
          <a:blip r:embed="rId2"/>
          <a:stretch>
            <a:fillRect/>
          </a:stretch>
        </p:blipFill>
        <p:spPr>
          <a:xfrm>
            <a:off x="507044" y="2743200"/>
            <a:ext cx="8179756" cy="3432106"/>
          </a:xfrm>
          <a:prstGeom prst="rect">
            <a:avLst/>
          </a:prstGeom>
          <a:ln w="12700">
            <a:solidFill>
              <a:srgbClr val="000010"/>
            </a:solidFill>
          </a:ln>
        </p:spPr>
      </p:pic>
      <p:sp>
        <p:nvSpPr>
          <p:cNvPr id="5" name="Slide Number Placeholder 4">
            <a:extLst>
              <a:ext uri="{FF2B5EF4-FFF2-40B4-BE49-F238E27FC236}">
                <a16:creationId xmlns:a16="http://schemas.microsoft.com/office/drawing/2014/main" id="{AF9EF664-1656-4338-A4DE-BD3AB42E1B5C}"/>
              </a:ext>
            </a:extLst>
          </p:cNvPr>
          <p:cNvSpPr>
            <a:spLocks noGrp="1"/>
          </p:cNvSpPr>
          <p:nvPr>
            <p:ph type="sldNum" sz="quarter" idx="10"/>
          </p:nvPr>
        </p:nvSpPr>
        <p:spPr/>
        <p:txBody>
          <a:bodyPr/>
          <a:lstStyle/>
          <a:p>
            <a:fld id="{67B19427-F580-D146-B60E-4CADEE75497F}" type="slidenum">
              <a:rPr lang="en-US" smtClean="0"/>
              <a:pPr/>
              <a:t>15</a:t>
            </a:fld>
            <a:endParaRPr lang="en-US" dirty="0"/>
          </a:p>
        </p:txBody>
      </p:sp>
      <p:sp>
        <p:nvSpPr>
          <p:cNvPr id="6" name="Footer Placeholder 5">
            <a:extLst>
              <a:ext uri="{FF2B5EF4-FFF2-40B4-BE49-F238E27FC236}">
                <a16:creationId xmlns:a16="http://schemas.microsoft.com/office/drawing/2014/main" id="{5E186A22-76B6-4367-9C4E-875D6F2070B9}"/>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11452246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32B30F-1A78-433A-BAA0-FF2C10A3D437}"/>
              </a:ext>
            </a:extLst>
          </p:cNvPr>
          <p:cNvSpPr>
            <a:spLocks noGrp="1"/>
          </p:cNvSpPr>
          <p:nvPr>
            <p:ph type="title"/>
          </p:nvPr>
        </p:nvSpPr>
        <p:spPr>
          <a:xfrm>
            <a:off x="304800" y="609600"/>
            <a:ext cx="8534400" cy="685799"/>
          </a:xfrm>
        </p:spPr>
        <p:txBody>
          <a:bodyPr/>
          <a:lstStyle/>
          <a:p>
            <a:r>
              <a:rPr lang="en-US" b="1" dirty="0">
                <a:ea typeface="Source Sans Pro" charset="0"/>
              </a:rPr>
              <a:t>Do It! 1b: </a:t>
            </a:r>
            <a:r>
              <a:rPr lang="en-US" b="1" dirty="0">
                <a:solidFill>
                  <a:srgbClr val="196E78"/>
                </a:solidFill>
                <a:ea typeface="Source Sans Pro" charset="0"/>
              </a:rPr>
              <a:t>Corporate Capital</a:t>
            </a:r>
            <a:endParaRPr lang="en-US" dirty="0"/>
          </a:p>
        </p:txBody>
      </p:sp>
      <p:sp>
        <p:nvSpPr>
          <p:cNvPr id="3" name="Content Placeholder 2">
            <a:extLst>
              <a:ext uri="{FF2B5EF4-FFF2-40B4-BE49-F238E27FC236}">
                <a16:creationId xmlns:a16="http://schemas.microsoft.com/office/drawing/2014/main" id="{92F87F86-306D-4BC9-84CC-42CD82DF412A}"/>
              </a:ext>
            </a:extLst>
          </p:cNvPr>
          <p:cNvSpPr>
            <a:spLocks noGrp="1"/>
          </p:cNvSpPr>
          <p:nvPr>
            <p:ph sz="quarter" idx="16"/>
          </p:nvPr>
        </p:nvSpPr>
        <p:spPr>
          <a:xfrm>
            <a:off x="304800" y="1295400"/>
            <a:ext cx="8534400" cy="1311275"/>
          </a:xfrm>
        </p:spPr>
        <p:txBody>
          <a:bodyPr/>
          <a:lstStyle/>
          <a:p>
            <a:r>
              <a:rPr lang="en-US" sz="2400" b="1" dirty="0"/>
              <a:t>Illustration: </a:t>
            </a:r>
            <a:r>
              <a:rPr lang="en-US" sz="2400" dirty="0"/>
              <a:t>At the end of its first year of operation, Doral Corporation has $750,000 of common stock and net income of $122,000. Prepare (a) the closing entry for net income and (b) the stockholders’ equity section at year-end.</a:t>
            </a:r>
          </a:p>
        </p:txBody>
      </p:sp>
      <p:sp>
        <p:nvSpPr>
          <p:cNvPr id="4" name="Content Placeholder 3">
            <a:extLst>
              <a:ext uri="{FF2B5EF4-FFF2-40B4-BE49-F238E27FC236}">
                <a16:creationId xmlns:a16="http://schemas.microsoft.com/office/drawing/2014/main" id="{49FC3CF8-911A-4FC3-87C9-D5E9CC120DA8}"/>
              </a:ext>
            </a:extLst>
          </p:cNvPr>
          <p:cNvSpPr>
            <a:spLocks noGrp="1"/>
          </p:cNvSpPr>
          <p:nvPr>
            <p:ph sz="quarter" idx="17"/>
          </p:nvPr>
        </p:nvSpPr>
        <p:spPr>
          <a:xfrm>
            <a:off x="304800" y="2759075"/>
            <a:ext cx="609600" cy="365125"/>
          </a:xfrm>
        </p:spPr>
        <p:txBody>
          <a:bodyPr/>
          <a:lstStyle/>
          <a:p>
            <a:r>
              <a:rPr lang="en-US" sz="2400" dirty="0"/>
              <a:t>(a)</a:t>
            </a:r>
          </a:p>
        </p:txBody>
      </p:sp>
      <p:sp>
        <p:nvSpPr>
          <p:cNvPr id="5" name="Content Placeholder 4">
            <a:extLst>
              <a:ext uri="{FF2B5EF4-FFF2-40B4-BE49-F238E27FC236}">
                <a16:creationId xmlns:a16="http://schemas.microsoft.com/office/drawing/2014/main" id="{395EA216-5CD6-40C1-AD85-1D6797CE0830}"/>
              </a:ext>
            </a:extLst>
          </p:cNvPr>
          <p:cNvSpPr>
            <a:spLocks noGrp="1"/>
          </p:cNvSpPr>
          <p:nvPr>
            <p:ph sz="quarter" idx="18"/>
          </p:nvPr>
        </p:nvSpPr>
        <p:spPr>
          <a:xfrm>
            <a:off x="810176" y="2743200"/>
            <a:ext cx="3337686" cy="365125"/>
          </a:xfrm>
        </p:spPr>
        <p:txBody>
          <a:bodyPr/>
          <a:lstStyle/>
          <a:p>
            <a:r>
              <a:rPr lang="en-US" sz="2400" dirty="0">
                <a:solidFill>
                  <a:srgbClr val="000000"/>
                </a:solidFill>
              </a:rPr>
              <a:t>Income Summary</a:t>
            </a:r>
            <a:endParaRPr lang="en-US" sz="2400" dirty="0"/>
          </a:p>
        </p:txBody>
      </p:sp>
      <p:sp>
        <p:nvSpPr>
          <p:cNvPr id="6" name="Content Placeholder 5">
            <a:extLst>
              <a:ext uri="{FF2B5EF4-FFF2-40B4-BE49-F238E27FC236}">
                <a16:creationId xmlns:a16="http://schemas.microsoft.com/office/drawing/2014/main" id="{74677936-E1F4-4393-B394-610192906DDA}"/>
              </a:ext>
            </a:extLst>
          </p:cNvPr>
          <p:cNvSpPr>
            <a:spLocks noGrp="1"/>
          </p:cNvSpPr>
          <p:nvPr>
            <p:ph sz="quarter" idx="19"/>
          </p:nvPr>
        </p:nvSpPr>
        <p:spPr>
          <a:xfrm>
            <a:off x="6374014" y="2743200"/>
            <a:ext cx="1263118" cy="365125"/>
          </a:xfrm>
        </p:spPr>
        <p:txBody>
          <a:bodyPr/>
          <a:lstStyle/>
          <a:p>
            <a:r>
              <a:rPr lang="en-US" sz="2400" dirty="0">
                <a:solidFill>
                  <a:srgbClr val="000000"/>
                </a:solidFill>
              </a:rPr>
              <a:t>122,000</a:t>
            </a:r>
            <a:endParaRPr lang="en-US" sz="2400" dirty="0"/>
          </a:p>
        </p:txBody>
      </p:sp>
      <p:sp>
        <p:nvSpPr>
          <p:cNvPr id="7" name="Content Placeholder 6">
            <a:extLst>
              <a:ext uri="{FF2B5EF4-FFF2-40B4-BE49-F238E27FC236}">
                <a16:creationId xmlns:a16="http://schemas.microsoft.com/office/drawing/2014/main" id="{28E41115-8F69-4A15-B994-CF108346BC18}"/>
              </a:ext>
            </a:extLst>
          </p:cNvPr>
          <p:cNvSpPr>
            <a:spLocks noGrp="1"/>
          </p:cNvSpPr>
          <p:nvPr>
            <p:ph sz="quarter" idx="21"/>
          </p:nvPr>
        </p:nvSpPr>
        <p:spPr>
          <a:xfrm>
            <a:off x="1066800" y="3109931"/>
            <a:ext cx="5404338" cy="928669"/>
          </a:xfrm>
        </p:spPr>
        <p:txBody>
          <a:bodyPr/>
          <a:lstStyle/>
          <a:p>
            <a:r>
              <a:rPr lang="en-US" sz="2400" dirty="0">
                <a:solidFill>
                  <a:srgbClr val="000000"/>
                </a:solidFill>
              </a:rPr>
              <a:t>Retained Earnings</a:t>
            </a:r>
          </a:p>
          <a:p>
            <a:pPr marL="271463">
              <a:spcBef>
                <a:spcPts val="0"/>
              </a:spcBef>
            </a:pPr>
            <a:r>
              <a:rPr lang="en-US" sz="2400" dirty="0"/>
              <a:t>(To close Income Summary and transfer net income to Retained Earnings)</a:t>
            </a:r>
          </a:p>
        </p:txBody>
      </p:sp>
      <p:sp>
        <p:nvSpPr>
          <p:cNvPr id="8" name="Content Placeholder 7">
            <a:extLst>
              <a:ext uri="{FF2B5EF4-FFF2-40B4-BE49-F238E27FC236}">
                <a16:creationId xmlns:a16="http://schemas.microsoft.com/office/drawing/2014/main" id="{4E4CC3F7-162F-4B2A-9872-E35A90C7AD4B}"/>
              </a:ext>
            </a:extLst>
          </p:cNvPr>
          <p:cNvSpPr>
            <a:spLocks noGrp="1"/>
          </p:cNvSpPr>
          <p:nvPr>
            <p:ph sz="quarter" idx="22"/>
          </p:nvPr>
        </p:nvSpPr>
        <p:spPr>
          <a:xfrm>
            <a:off x="7772400" y="3109931"/>
            <a:ext cx="1219200" cy="365125"/>
          </a:xfrm>
        </p:spPr>
        <p:txBody>
          <a:bodyPr/>
          <a:lstStyle/>
          <a:p>
            <a:r>
              <a:rPr lang="en-US" sz="2400" dirty="0">
                <a:solidFill>
                  <a:srgbClr val="000000"/>
                </a:solidFill>
              </a:rPr>
              <a:t>122,000</a:t>
            </a:r>
            <a:endParaRPr lang="en-US" sz="2400" dirty="0"/>
          </a:p>
        </p:txBody>
      </p:sp>
      <p:sp>
        <p:nvSpPr>
          <p:cNvPr id="9" name="Content Placeholder 8">
            <a:extLst>
              <a:ext uri="{FF2B5EF4-FFF2-40B4-BE49-F238E27FC236}">
                <a16:creationId xmlns:a16="http://schemas.microsoft.com/office/drawing/2014/main" id="{92E8B3CF-C62D-4A88-A2F4-310AF6EB76E7}"/>
              </a:ext>
            </a:extLst>
          </p:cNvPr>
          <p:cNvSpPr>
            <a:spLocks noGrp="1"/>
          </p:cNvSpPr>
          <p:nvPr>
            <p:ph sz="quarter" idx="23"/>
          </p:nvPr>
        </p:nvSpPr>
        <p:spPr>
          <a:xfrm>
            <a:off x="304800" y="4317405"/>
            <a:ext cx="609600" cy="365125"/>
          </a:xfrm>
        </p:spPr>
        <p:txBody>
          <a:bodyPr/>
          <a:lstStyle/>
          <a:p>
            <a:r>
              <a:rPr lang="en-US" sz="2400" dirty="0">
                <a:solidFill>
                  <a:srgbClr val="000000"/>
                </a:solidFill>
              </a:rPr>
              <a:t>(b)</a:t>
            </a:r>
            <a:endParaRPr lang="en-US" sz="2400" dirty="0"/>
          </a:p>
        </p:txBody>
      </p:sp>
      <p:sp>
        <p:nvSpPr>
          <p:cNvPr id="10" name="Content Placeholder 9">
            <a:extLst>
              <a:ext uri="{FF2B5EF4-FFF2-40B4-BE49-F238E27FC236}">
                <a16:creationId xmlns:a16="http://schemas.microsoft.com/office/drawing/2014/main" id="{1A052864-6FA3-4917-BB12-016B22E1CDC9}"/>
              </a:ext>
            </a:extLst>
          </p:cNvPr>
          <p:cNvSpPr>
            <a:spLocks noGrp="1"/>
          </p:cNvSpPr>
          <p:nvPr>
            <p:ph sz="quarter" idx="24"/>
          </p:nvPr>
        </p:nvSpPr>
        <p:spPr>
          <a:xfrm>
            <a:off x="810176" y="4317405"/>
            <a:ext cx="2999824" cy="365125"/>
          </a:xfrm>
        </p:spPr>
        <p:txBody>
          <a:bodyPr/>
          <a:lstStyle/>
          <a:p>
            <a:r>
              <a:rPr lang="en-US" sz="2400" dirty="0">
                <a:solidFill>
                  <a:srgbClr val="000000"/>
                </a:solidFill>
              </a:rPr>
              <a:t>Stockholders’ equity</a:t>
            </a:r>
            <a:endParaRPr lang="en-US" sz="2400" dirty="0"/>
          </a:p>
        </p:txBody>
      </p:sp>
      <p:sp>
        <p:nvSpPr>
          <p:cNvPr id="11" name="Content Placeholder 10">
            <a:extLst>
              <a:ext uri="{FF2B5EF4-FFF2-40B4-BE49-F238E27FC236}">
                <a16:creationId xmlns:a16="http://schemas.microsoft.com/office/drawing/2014/main" id="{EEAC5FE1-9157-4D87-BE3D-B5B07B8C138E}"/>
              </a:ext>
            </a:extLst>
          </p:cNvPr>
          <p:cNvSpPr>
            <a:spLocks noGrp="1"/>
          </p:cNvSpPr>
          <p:nvPr>
            <p:ph sz="quarter" idx="25"/>
          </p:nvPr>
        </p:nvSpPr>
        <p:spPr>
          <a:xfrm>
            <a:off x="1066800" y="4698405"/>
            <a:ext cx="2590800" cy="669925"/>
          </a:xfrm>
        </p:spPr>
        <p:txBody>
          <a:bodyPr/>
          <a:lstStyle/>
          <a:p>
            <a:r>
              <a:rPr lang="en-US" sz="2400" dirty="0"/>
              <a:t>Paid-in capital</a:t>
            </a:r>
            <a:endParaRPr lang="en-US" sz="2400" dirty="0">
              <a:solidFill>
                <a:srgbClr val="000000"/>
              </a:solidFill>
            </a:endParaRPr>
          </a:p>
          <a:p>
            <a:pPr indent="361950">
              <a:spcBef>
                <a:spcPts val="0"/>
              </a:spcBef>
            </a:pPr>
            <a:r>
              <a:rPr lang="en-US" sz="2400" dirty="0">
                <a:solidFill>
                  <a:srgbClr val="000000"/>
                </a:solidFill>
              </a:rPr>
              <a:t>Common stock</a:t>
            </a:r>
            <a:endParaRPr lang="en-US" sz="2400" dirty="0"/>
          </a:p>
        </p:txBody>
      </p:sp>
      <p:sp>
        <p:nvSpPr>
          <p:cNvPr id="12" name="Content Placeholder 11">
            <a:extLst>
              <a:ext uri="{FF2B5EF4-FFF2-40B4-BE49-F238E27FC236}">
                <a16:creationId xmlns:a16="http://schemas.microsoft.com/office/drawing/2014/main" id="{72B2DC4E-503F-4A9D-8735-758DFF6117B4}"/>
              </a:ext>
            </a:extLst>
          </p:cNvPr>
          <p:cNvSpPr>
            <a:spLocks noGrp="1"/>
          </p:cNvSpPr>
          <p:nvPr>
            <p:ph sz="quarter" idx="26"/>
          </p:nvPr>
        </p:nvSpPr>
        <p:spPr>
          <a:xfrm>
            <a:off x="6253438" y="4911130"/>
            <a:ext cx="1366562" cy="365125"/>
          </a:xfrm>
        </p:spPr>
        <p:txBody>
          <a:bodyPr/>
          <a:lstStyle/>
          <a:p>
            <a:r>
              <a:rPr lang="en-US" sz="2400" dirty="0">
                <a:solidFill>
                  <a:srgbClr val="000000"/>
                </a:solidFill>
              </a:rPr>
              <a:t>$750,000</a:t>
            </a:r>
            <a:endParaRPr lang="en-US" sz="2400" dirty="0"/>
          </a:p>
        </p:txBody>
      </p:sp>
      <p:sp>
        <p:nvSpPr>
          <p:cNvPr id="13" name="Content Placeholder 12">
            <a:extLst>
              <a:ext uri="{FF2B5EF4-FFF2-40B4-BE49-F238E27FC236}">
                <a16:creationId xmlns:a16="http://schemas.microsoft.com/office/drawing/2014/main" id="{F5EA98BB-E1C7-44FC-8C3D-EC2266A9D34F}"/>
              </a:ext>
            </a:extLst>
          </p:cNvPr>
          <p:cNvSpPr>
            <a:spLocks noGrp="1"/>
          </p:cNvSpPr>
          <p:nvPr>
            <p:ph sz="quarter" idx="27"/>
          </p:nvPr>
        </p:nvSpPr>
        <p:spPr>
          <a:xfrm>
            <a:off x="1066800" y="5368330"/>
            <a:ext cx="2895600" cy="365125"/>
          </a:xfrm>
        </p:spPr>
        <p:txBody>
          <a:bodyPr/>
          <a:lstStyle/>
          <a:p>
            <a:r>
              <a:rPr lang="en-US" sz="2400" dirty="0">
                <a:solidFill>
                  <a:srgbClr val="000000"/>
                </a:solidFill>
              </a:rPr>
              <a:t>Retained earnings</a:t>
            </a:r>
            <a:endParaRPr lang="en-US" sz="2400" dirty="0"/>
          </a:p>
        </p:txBody>
      </p:sp>
      <p:graphicFrame>
        <p:nvGraphicFramePr>
          <p:cNvPr id="26" name="Content Placeholder 25" descr="122,000 double underlined.&#10;">
            <a:extLst>
              <a:ext uri="{FF2B5EF4-FFF2-40B4-BE49-F238E27FC236}">
                <a16:creationId xmlns:a16="http://schemas.microsoft.com/office/drawing/2014/main" id="{1830CBC7-45F7-4E2A-8FC2-2DCB5E7450FE}"/>
              </a:ext>
            </a:extLst>
          </p:cNvPr>
          <p:cNvGraphicFramePr>
            <a:graphicFrameLocks noGrp="1" noChangeAspect="1"/>
          </p:cNvGraphicFramePr>
          <p:nvPr>
            <p:ph sz="quarter" idx="28"/>
            <p:extLst>
              <p:ext uri="{D42A27DB-BD31-4B8C-83A1-F6EECF244321}">
                <p14:modId xmlns:p14="http://schemas.microsoft.com/office/powerpoint/2010/main" val="3203974298"/>
              </p:ext>
            </p:extLst>
          </p:nvPr>
        </p:nvGraphicFramePr>
        <p:xfrm>
          <a:off x="6344696" y="5318265"/>
          <a:ext cx="1191956" cy="401638"/>
        </p:xfrm>
        <a:graphic>
          <a:graphicData uri="http://schemas.openxmlformats.org/presentationml/2006/ole">
            <mc:AlternateContent xmlns:mc="http://schemas.openxmlformats.org/markup-compatibility/2006">
              <mc:Choice xmlns:v="urn:schemas-microsoft-com:vml" Requires="v">
                <p:oleObj spid="_x0000_s14602" name="Equation" r:id="rId3" imgW="1168200" imgH="393480" progId="Equation.DSMT4">
                  <p:embed/>
                </p:oleObj>
              </mc:Choice>
              <mc:Fallback>
                <p:oleObj name="Equation" r:id="rId3" imgW="1168200" imgH="393480" progId="Equation.DSMT4">
                  <p:embed/>
                  <p:pic>
                    <p:nvPicPr>
                      <p:cNvPr id="25" name="Object 24">
                        <a:extLst>
                          <a:ext uri="{FF2B5EF4-FFF2-40B4-BE49-F238E27FC236}">
                            <a16:creationId xmlns:a16="http://schemas.microsoft.com/office/drawing/2014/main" id="{E2B07809-755F-408C-B826-534FF32EFDDF}"/>
                          </a:ext>
                        </a:extLst>
                      </p:cNvPr>
                      <p:cNvPicPr/>
                      <p:nvPr/>
                    </p:nvPicPr>
                    <p:blipFill>
                      <a:blip r:embed="rId4"/>
                      <a:stretch>
                        <a:fillRect/>
                      </a:stretch>
                    </p:blipFill>
                    <p:spPr>
                      <a:xfrm>
                        <a:off x="6344696" y="5318265"/>
                        <a:ext cx="1191956" cy="401638"/>
                      </a:xfrm>
                      <a:prstGeom prst="rect">
                        <a:avLst/>
                      </a:prstGeom>
                    </p:spPr>
                  </p:pic>
                </p:oleObj>
              </mc:Fallback>
            </mc:AlternateContent>
          </a:graphicData>
        </a:graphic>
      </p:graphicFrame>
      <p:sp>
        <p:nvSpPr>
          <p:cNvPr id="15" name="Content Placeholder 14">
            <a:extLst>
              <a:ext uri="{FF2B5EF4-FFF2-40B4-BE49-F238E27FC236}">
                <a16:creationId xmlns:a16="http://schemas.microsoft.com/office/drawing/2014/main" id="{550394B9-59DA-4E09-8527-63F29CB14003}"/>
              </a:ext>
            </a:extLst>
          </p:cNvPr>
          <p:cNvSpPr>
            <a:spLocks noGrp="1"/>
          </p:cNvSpPr>
          <p:nvPr>
            <p:ph sz="quarter" idx="29"/>
          </p:nvPr>
        </p:nvSpPr>
        <p:spPr>
          <a:xfrm>
            <a:off x="838200" y="5765241"/>
            <a:ext cx="3652562" cy="365125"/>
          </a:xfrm>
        </p:spPr>
        <p:txBody>
          <a:bodyPr/>
          <a:lstStyle/>
          <a:p>
            <a:r>
              <a:rPr lang="en-US" sz="2400" dirty="0">
                <a:solidFill>
                  <a:srgbClr val="000000"/>
                </a:solidFill>
              </a:rPr>
              <a:t>Total stockholders’ equity</a:t>
            </a:r>
            <a:endParaRPr lang="en-US" sz="2400" dirty="0"/>
          </a:p>
        </p:txBody>
      </p:sp>
      <p:graphicFrame>
        <p:nvGraphicFramePr>
          <p:cNvPr id="28" name="Content Placeholder 27" descr="$872,000 double underlined.&#10;">
            <a:extLst>
              <a:ext uri="{FF2B5EF4-FFF2-40B4-BE49-F238E27FC236}">
                <a16:creationId xmlns:a16="http://schemas.microsoft.com/office/drawing/2014/main" id="{997554A7-AA58-4604-855C-211306CC615F}"/>
              </a:ext>
            </a:extLst>
          </p:cNvPr>
          <p:cNvGraphicFramePr>
            <a:graphicFrameLocks noGrp="1" noChangeAspect="1"/>
          </p:cNvGraphicFramePr>
          <p:nvPr>
            <p:ph sz="quarter" idx="30"/>
            <p:extLst>
              <p:ext uri="{D42A27DB-BD31-4B8C-83A1-F6EECF244321}">
                <p14:modId xmlns:p14="http://schemas.microsoft.com/office/powerpoint/2010/main" val="955329250"/>
              </p:ext>
            </p:extLst>
          </p:nvPr>
        </p:nvGraphicFramePr>
        <p:xfrm>
          <a:off x="7732708" y="5715000"/>
          <a:ext cx="1182692" cy="457817"/>
        </p:xfrm>
        <a:graphic>
          <a:graphicData uri="http://schemas.openxmlformats.org/presentationml/2006/ole">
            <mc:AlternateContent xmlns:mc="http://schemas.openxmlformats.org/markup-compatibility/2006">
              <mc:Choice xmlns:v="urn:schemas-microsoft-com:vml" Requires="v">
                <p:oleObj spid="_x0000_s14603" name="Equation" r:id="rId5" imgW="1180800" imgH="457200" progId="Equation.DSMT4">
                  <p:embed/>
                </p:oleObj>
              </mc:Choice>
              <mc:Fallback>
                <p:oleObj name="Equation" r:id="rId5" imgW="1180800" imgH="457200" progId="Equation.DSMT4">
                  <p:embed/>
                  <p:pic>
                    <p:nvPicPr>
                      <p:cNvPr id="27" name="Object 26">
                        <a:extLst>
                          <a:ext uri="{FF2B5EF4-FFF2-40B4-BE49-F238E27FC236}">
                            <a16:creationId xmlns:a16="http://schemas.microsoft.com/office/drawing/2014/main" id="{46100045-55E7-4988-A8EB-F16297B124C1}"/>
                          </a:ext>
                        </a:extLst>
                      </p:cNvPr>
                      <p:cNvPicPr/>
                      <p:nvPr/>
                    </p:nvPicPr>
                    <p:blipFill>
                      <a:blip r:embed="rId6"/>
                      <a:stretch>
                        <a:fillRect/>
                      </a:stretch>
                    </p:blipFill>
                    <p:spPr>
                      <a:xfrm>
                        <a:off x="7732708" y="5715000"/>
                        <a:ext cx="1182692" cy="457817"/>
                      </a:xfrm>
                      <a:prstGeom prst="rect">
                        <a:avLst/>
                      </a:prstGeom>
                    </p:spPr>
                  </p:pic>
                </p:oleObj>
              </mc:Fallback>
            </mc:AlternateContent>
          </a:graphicData>
        </a:graphic>
      </p:graphicFrame>
      <p:sp>
        <p:nvSpPr>
          <p:cNvPr id="23" name="Slide Number Placeholder 22">
            <a:extLst>
              <a:ext uri="{FF2B5EF4-FFF2-40B4-BE49-F238E27FC236}">
                <a16:creationId xmlns:a16="http://schemas.microsoft.com/office/drawing/2014/main" id="{C3ADB033-D6E5-42A2-AA75-5772CD252CDF}"/>
              </a:ext>
            </a:extLst>
          </p:cNvPr>
          <p:cNvSpPr>
            <a:spLocks noGrp="1"/>
          </p:cNvSpPr>
          <p:nvPr>
            <p:ph type="sldNum" sz="quarter" idx="10"/>
          </p:nvPr>
        </p:nvSpPr>
        <p:spPr/>
        <p:txBody>
          <a:bodyPr/>
          <a:lstStyle/>
          <a:p>
            <a:fld id="{67B19427-F580-D146-B60E-4CADEE75497F}" type="slidenum">
              <a:rPr lang="en-US" smtClean="0"/>
              <a:pPr/>
              <a:t>16</a:t>
            </a:fld>
            <a:endParaRPr lang="en-US" dirty="0"/>
          </a:p>
        </p:txBody>
      </p:sp>
      <p:sp>
        <p:nvSpPr>
          <p:cNvPr id="24" name="Footer Placeholder 23">
            <a:extLst>
              <a:ext uri="{FF2B5EF4-FFF2-40B4-BE49-F238E27FC236}">
                <a16:creationId xmlns:a16="http://schemas.microsoft.com/office/drawing/2014/main" id="{F0618A2A-3150-4FE5-BE3A-BE7ACB108CB4}"/>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9846533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xEl>
                                              <p:pRg st="0" end="0"/>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xEl>
                                              <p:pRg st="1" end="1"/>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xEl>
                                              <p:pRg st="0" end="0"/>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1">
                                            <p:txEl>
                                              <p:pRg st="1" end="1"/>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3">
                                            <p:txEl>
                                              <p:pRg st="0" end="0"/>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6"/>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5">
                                            <p:txEl>
                                              <p:pRg st="0" end="0"/>
                                            </p:txEl>
                                          </p:spTgt>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5" grpId="0" build="p"/>
      <p:bldP spid="6" grpId="0" build="p"/>
      <p:bldP spid="7" grpId="0" uiExpand="1" build="p"/>
      <p:bldP spid="8" grpId="0" build="p"/>
      <p:bldP spid="9" grpId="0" build="p"/>
      <p:bldP spid="10" grpId="0" build="p"/>
      <p:bldP spid="11" grpId="0" build="p"/>
      <p:bldP spid="12" grpId="0" build="p"/>
      <p:bldP spid="13" grpId="0" build="p"/>
      <p:bldP spid="15"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1ADC79-C0D4-491A-9B44-5595DE4A08DF}"/>
              </a:ext>
            </a:extLst>
          </p:cNvPr>
          <p:cNvSpPr>
            <a:spLocks noGrp="1"/>
          </p:cNvSpPr>
          <p:nvPr>
            <p:ph type="title"/>
          </p:nvPr>
        </p:nvSpPr>
        <p:spPr/>
        <p:txBody>
          <a:bodyPr/>
          <a:lstStyle/>
          <a:p>
            <a:r>
              <a:rPr lang="en-US" b="1" dirty="0">
                <a:latin typeface="Calibri" panose="020F0502020204030204" pitchFamily="34" charset="0"/>
                <a:ea typeface="Source Sans Pro" charset="0"/>
                <a:cs typeface="Calibri" panose="020F0502020204030204" pitchFamily="34" charset="0"/>
              </a:rPr>
              <a:t>Accounting for Stock Transactions</a:t>
            </a:r>
            <a:endParaRPr lang="en-US" sz="2400" dirty="0"/>
          </a:p>
        </p:txBody>
      </p:sp>
      <p:sp>
        <p:nvSpPr>
          <p:cNvPr id="3" name="Content Placeholder 2">
            <a:extLst>
              <a:ext uri="{FF2B5EF4-FFF2-40B4-BE49-F238E27FC236}">
                <a16:creationId xmlns:a16="http://schemas.microsoft.com/office/drawing/2014/main" id="{6DAC37CE-5E34-4811-80BF-051881133B80}"/>
              </a:ext>
            </a:extLst>
          </p:cNvPr>
          <p:cNvSpPr>
            <a:spLocks noGrp="1"/>
          </p:cNvSpPr>
          <p:nvPr>
            <p:ph sz="quarter" idx="16"/>
          </p:nvPr>
        </p:nvSpPr>
        <p:spPr>
          <a:xfrm>
            <a:off x="304800" y="1828800"/>
            <a:ext cx="8534400" cy="2286000"/>
          </a:xfrm>
        </p:spPr>
        <p:txBody>
          <a:bodyPr/>
          <a:lstStyle/>
          <a:p>
            <a:pPr>
              <a:buClr>
                <a:srgbClr val="990000"/>
              </a:buClr>
            </a:pPr>
            <a:r>
              <a:rPr lang="en-US" altLang="en-US" b="1" dirty="0">
                <a:latin typeface="Calibri" panose="020F0502020204030204" pitchFamily="34" charset="0"/>
              </a:rPr>
              <a:t>Accounting for Common Stock</a:t>
            </a:r>
          </a:p>
          <a:p>
            <a:pPr>
              <a:buClr>
                <a:srgbClr val="990000"/>
              </a:buClr>
            </a:pPr>
            <a:r>
              <a:rPr lang="en-US" altLang="en-US" b="1" dirty="0">
                <a:latin typeface="Calibri" panose="020F0502020204030204" pitchFamily="34" charset="0"/>
              </a:rPr>
              <a:t>Primary Objectives: </a:t>
            </a:r>
          </a:p>
          <a:p>
            <a:pPr marL="402336" lvl="1" indent="-402336">
              <a:spcBef>
                <a:spcPts val="1000"/>
              </a:spcBef>
              <a:buClr>
                <a:schemeClr val="accent2"/>
              </a:buClr>
              <a:buFont typeface="+mj-lt"/>
              <a:buAutoNum type="arabicPeriod"/>
            </a:pPr>
            <a:r>
              <a:rPr lang="en-US" altLang="en-US" sz="2800" dirty="0">
                <a:latin typeface="Calibri" panose="020F0502020204030204" pitchFamily="34" charset="0"/>
              </a:rPr>
              <a:t>Identify the specific sources of paid-in capital.</a:t>
            </a:r>
          </a:p>
          <a:p>
            <a:pPr marL="402336" lvl="1" indent="-402336">
              <a:spcBef>
                <a:spcPts val="1000"/>
              </a:spcBef>
              <a:buClr>
                <a:schemeClr val="accent2"/>
              </a:buClr>
              <a:buFont typeface="+mj-lt"/>
              <a:buAutoNum type="arabicPeriod"/>
            </a:pPr>
            <a:r>
              <a:rPr lang="en-US" altLang="en-US" sz="2800" dirty="0">
                <a:latin typeface="Calibri" panose="020F0502020204030204" pitchFamily="34" charset="0"/>
              </a:rPr>
              <a:t>Maintain the distinction between paid-in capital and retained earnings.</a:t>
            </a:r>
          </a:p>
        </p:txBody>
      </p:sp>
      <p:sp>
        <p:nvSpPr>
          <p:cNvPr id="7" name="Content Placeholder 6"/>
          <p:cNvSpPr>
            <a:spLocks noGrp="1"/>
          </p:cNvSpPr>
          <p:nvPr>
            <p:ph sz="quarter" idx="18"/>
          </p:nvPr>
        </p:nvSpPr>
        <p:spPr/>
        <p:txBody>
          <a:bodyPr/>
          <a:lstStyle/>
          <a:p>
            <a:pPr marL="0" lvl="1" indent="0">
              <a:spcBef>
                <a:spcPts val="1000"/>
              </a:spcBef>
              <a:buNone/>
            </a:pPr>
            <a:r>
              <a:rPr lang="en-US" altLang="en-US" sz="2800" dirty="0">
                <a:latin typeface="Calibri" panose="020F0502020204030204" pitchFamily="34" charset="0"/>
              </a:rPr>
              <a:t>Other than consideration received, the issuance of common stock affects only paid-in capital accounts.</a:t>
            </a:r>
          </a:p>
        </p:txBody>
      </p:sp>
      <p:sp>
        <p:nvSpPr>
          <p:cNvPr id="4" name="Slide Number Placeholder 3">
            <a:extLst>
              <a:ext uri="{FF2B5EF4-FFF2-40B4-BE49-F238E27FC236}">
                <a16:creationId xmlns:a16="http://schemas.microsoft.com/office/drawing/2014/main" id="{C5E074EB-EB25-4AA3-93BC-C1D32B9E619A}"/>
              </a:ext>
            </a:extLst>
          </p:cNvPr>
          <p:cNvSpPr>
            <a:spLocks noGrp="1"/>
          </p:cNvSpPr>
          <p:nvPr>
            <p:ph type="sldNum" sz="quarter" idx="10"/>
          </p:nvPr>
        </p:nvSpPr>
        <p:spPr/>
        <p:txBody>
          <a:bodyPr/>
          <a:lstStyle/>
          <a:p>
            <a:fld id="{67B19427-F580-D146-B60E-4CADEE75497F}" type="slidenum">
              <a:rPr lang="en-US" smtClean="0"/>
              <a:pPr/>
              <a:t>17</a:t>
            </a:fld>
            <a:endParaRPr lang="en-US" dirty="0"/>
          </a:p>
        </p:txBody>
      </p:sp>
      <p:sp>
        <p:nvSpPr>
          <p:cNvPr id="5" name="Footer Placeholder 4">
            <a:extLst>
              <a:ext uri="{FF2B5EF4-FFF2-40B4-BE49-F238E27FC236}">
                <a16:creationId xmlns:a16="http://schemas.microsoft.com/office/drawing/2014/main" id="{188C7078-F4D1-4397-9076-246160F07019}"/>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42635018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32B30F-1A78-433A-BAA0-FF2C10A3D437}"/>
              </a:ext>
            </a:extLst>
          </p:cNvPr>
          <p:cNvSpPr>
            <a:spLocks noGrp="1"/>
          </p:cNvSpPr>
          <p:nvPr>
            <p:ph type="title"/>
          </p:nvPr>
        </p:nvSpPr>
        <p:spPr>
          <a:xfrm>
            <a:off x="304800" y="533400"/>
            <a:ext cx="8534400" cy="654049"/>
          </a:xfrm>
        </p:spPr>
        <p:txBody>
          <a:bodyPr/>
          <a:lstStyle/>
          <a:p>
            <a:r>
              <a:rPr lang="en-US" b="1" dirty="0">
                <a:ea typeface="Source Sans Pro" charset="0"/>
              </a:rPr>
              <a:t>Issuing Common Stock for Cash</a:t>
            </a:r>
            <a:endParaRPr lang="en-US" sz="2400" dirty="0"/>
          </a:p>
        </p:txBody>
      </p:sp>
      <p:sp>
        <p:nvSpPr>
          <p:cNvPr id="3" name="Content Placeholder 2">
            <a:extLst>
              <a:ext uri="{FF2B5EF4-FFF2-40B4-BE49-F238E27FC236}">
                <a16:creationId xmlns:a16="http://schemas.microsoft.com/office/drawing/2014/main" id="{92F87F86-306D-4BC9-84CC-42CD82DF412A}"/>
              </a:ext>
            </a:extLst>
          </p:cNvPr>
          <p:cNvSpPr>
            <a:spLocks noGrp="1"/>
          </p:cNvSpPr>
          <p:nvPr>
            <p:ph sz="quarter" idx="16"/>
          </p:nvPr>
        </p:nvSpPr>
        <p:spPr>
          <a:xfrm>
            <a:off x="304800" y="1219200"/>
            <a:ext cx="8534400" cy="1311275"/>
          </a:xfrm>
        </p:spPr>
        <p:txBody>
          <a:bodyPr/>
          <a:lstStyle/>
          <a:p>
            <a:r>
              <a:rPr lang="en-US" sz="2400" b="1" dirty="0"/>
              <a:t>Illustration: </a:t>
            </a:r>
            <a:r>
              <a:rPr lang="en-US" altLang="en-US" sz="2400" dirty="0"/>
              <a:t>Assume that Hydro-Slide, Inc. issues 1,000 shares of $1 par value common stock. Prepare Hydro-Slide’s journal entry if (a) 1,000 share are issued for $1 per share, and (b) 1,000 shares are issued for $5 per share.</a:t>
            </a:r>
            <a:endParaRPr lang="en-US" sz="2400" dirty="0"/>
          </a:p>
        </p:txBody>
      </p:sp>
      <p:sp>
        <p:nvSpPr>
          <p:cNvPr id="4" name="Content Placeholder 3">
            <a:extLst>
              <a:ext uri="{FF2B5EF4-FFF2-40B4-BE49-F238E27FC236}">
                <a16:creationId xmlns:a16="http://schemas.microsoft.com/office/drawing/2014/main" id="{49FC3CF8-911A-4FC3-87C9-D5E9CC120DA8}"/>
              </a:ext>
            </a:extLst>
          </p:cNvPr>
          <p:cNvSpPr>
            <a:spLocks noGrp="1"/>
          </p:cNvSpPr>
          <p:nvPr>
            <p:ph sz="quarter" idx="17"/>
          </p:nvPr>
        </p:nvSpPr>
        <p:spPr>
          <a:xfrm>
            <a:off x="304800" y="2678691"/>
            <a:ext cx="609600" cy="365125"/>
          </a:xfrm>
        </p:spPr>
        <p:txBody>
          <a:bodyPr/>
          <a:lstStyle/>
          <a:p>
            <a:r>
              <a:rPr lang="en-US" sz="2400" dirty="0"/>
              <a:t>(a)</a:t>
            </a:r>
          </a:p>
        </p:txBody>
      </p:sp>
      <p:sp>
        <p:nvSpPr>
          <p:cNvPr id="5" name="Content Placeholder 4">
            <a:extLst>
              <a:ext uri="{FF2B5EF4-FFF2-40B4-BE49-F238E27FC236}">
                <a16:creationId xmlns:a16="http://schemas.microsoft.com/office/drawing/2014/main" id="{395EA216-5CD6-40C1-AD85-1D6797CE0830}"/>
              </a:ext>
            </a:extLst>
          </p:cNvPr>
          <p:cNvSpPr>
            <a:spLocks noGrp="1"/>
          </p:cNvSpPr>
          <p:nvPr>
            <p:ph sz="quarter" idx="18"/>
          </p:nvPr>
        </p:nvSpPr>
        <p:spPr>
          <a:xfrm>
            <a:off x="810176" y="2662816"/>
            <a:ext cx="3337686" cy="365125"/>
          </a:xfrm>
        </p:spPr>
        <p:txBody>
          <a:bodyPr/>
          <a:lstStyle/>
          <a:p>
            <a:r>
              <a:rPr lang="en-US" sz="2400" dirty="0">
                <a:solidFill>
                  <a:srgbClr val="000000"/>
                </a:solidFill>
              </a:rPr>
              <a:t>Cash</a:t>
            </a:r>
            <a:endParaRPr lang="en-US" sz="2400" dirty="0"/>
          </a:p>
        </p:txBody>
      </p:sp>
      <p:sp>
        <p:nvSpPr>
          <p:cNvPr id="6" name="Content Placeholder 5">
            <a:extLst>
              <a:ext uri="{FF2B5EF4-FFF2-40B4-BE49-F238E27FC236}">
                <a16:creationId xmlns:a16="http://schemas.microsoft.com/office/drawing/2014/main" id="{74677936-E1F4-4393-B394-610192906DDA}"/>
              </a:ext>
            </a:extLst>
          </p:cNvPr>
          <p:cNvSpPr>
            <a:spLocks noGrp="1"/>
          </p:cNvSpPr>
          <p:nvPr>
            <p:ph sz="quarter" idx="19"/>
          </p:nvPr>
        </p:nvSpPr>
        <p:spPr>
          <a:xfrm>
            <a:off x="6558238" y="2662816"/>
            <a:ext cx="909362" cy="365125"/>
          </a:xfrm>
        </p:spPr>
        <p:txBody>
          <a:bodyPr/>
          <a:lstStyle/>
          <a:p>
            <a:r>
              <a:rPr lang="en-US" sz="2400" dirty="0">
                <a:solidFill>
                  <a:srgbClr val="000000"/>
                </a:solidFill>
              </a:rPr>
              <a:t>1,000</a:t>
            </a:r>
            <a:endParaRPr lang="en-US" sz="2400" dirty="0"/>
          </a:p>
        </p:txBody>
      </p:sp>
      <p:sp>
        <p:nvSpPr>
          <p:cNvPr id="7" name="Content Placeholder 6">
            <a:extLst>
              <a:ext uri="{FF2B5EF4-FFF2-40B4-BE49-F238E27FC236}">
                <a16:creationId xmlns:a16="http://schemas.microsoft.com/office/drawing/2014/main" id="{28E41115-8F69-4A15-B994-CF108346BC18}"/>
              </a:ext>
            </a:extLst>
          </p:cNvPr>
          <p:cNvSpPr>
            <a:spLocks noGrp="1"/>
          </p:cNvSpPr>
          <p:nvPr>
            <p:ph sz="quarter" idx="21"/>
          </p:nvPr>
        </p:nvSpPr>
        <p:spPr>
          <a:xfrm>
            <a:off x="1066800" y="3042643"/>
            <a:ext cx="5257800" cy="975897"/>
          </a:xfrm>
        </p:spPr>
        <p:txBody>
          <a:bodyPr/>
          <a:lstStyle/>
          <a:p>
            <a:r>
              <a:rPr lang="en-US" sz="2400" dirty="0">
                <a:solidFill>
                  <a:srgbClr val="000000"/>
                </a:solidFill>
              </a:rPr>
              <a:t>Common Stock (1,000 × $1)</a:t>
            </a:r>
          </a:p>
          <a:p>
            <a:pPr marL="361950">
              <a:spcBef>
                <a:spcPts val="0"/>
              </a:spcBef>
            </a:pPr>
            <a:r>
              <a:rPr lang="en-US" sz="2400" dirty="0"/>
              <a:t>(To record issuance of 1,000 shares of $1 par common stock at par)</a:t>
            </a:r>
          </a:p>
        </p:txBody>
      </p:sp>
      <p:sp>
        <p:nvSpPr>
          <p:cNvPr id="8" name="Content Placeholder 7">
            <a:extLst>
              <a:ext uri="{FF2B5EF4-FFF2-40B4-BE49-F238E27FC236}">
                <a16:creationId xmlns:a16="http://schemas.microsoft.com/office/drawing/2014/main" id="{4E4CC3F7-162F-4B2A-9872-E35A90C7AD4B}"/>
              </a:ext>
            </a:extLst>
          </p:cNvPr>
          <p:cNvSpPr>
            <a:spLocks noGrp="1"/>
          </p:cNvSpPr>
          <p:nvPr>
            <p:ph sz="quarter" idx="22"/>
          </p:nvPr>
        </p:nvSpPr>
        <p:spPr>
          <a:xfrm>
            <a:off x="7956621" y="3042644"/>
            <a:ext cx="914402" cy="331932"/>
          </a:xfrm>
        </p:spPr>
        <p:txBody>
          <a:bodyPr/>
          <a:lstStyle/>
          <a:p>
            <a:r>
              <a:rPr lang="en-US" sz="2400" dirty="0">
                <a:solidFill>
                  <a:srgbClr val="000000"/>
                </a:solidFill>
              </a:rPr>
              <a:t>1,000</a:t>
            </a:r>
            <a:endParaRPr lang="en-US" sz="2400" dirty="0"/>
          </a:p>
        </p:txBody>
      </p:sp>
      <p:sp>
        <p:nvSpPr>
          <p:cNvPr id="9" name="Content Placeholder 8">
            <a:extLst>
              <a:ext uri="{FF2B5EF4-FFF2-40B4-BE49-F238E27FC236}">
                <a16:creationId xmlns:a16="http://schemas.microsoft.com/office/drawing/2014/main" id="{92E8B3CF-C62D-4A88-A2F4-310AF6EB76E7}"/>
              </a:ext>
            </a:extLst>
          </p:cNvPr>
          <p:cNvSpPr>
            <a:spLocks noGrp="1"/>
          </p:cNvSpPr>
          <p:nvPr>
            <p:ph sz="quarter" idx="23"/>
          </p:nvPr>
        </p:nvSpPr>
        <p:spPr>
          <a:xfrm>
            <a:off x="304800" y="4180952"/>
            <a:ext cx="609600" cy="365125"/>
          </a:xfrm>
        </p:spPr>
        <p:txBody>
          <a:bodyPr/>
          <a:lstStyle/>
          <a:p>
            <a:r>
              <a:rPr lang="en-US" sz="2400" dirty="0">
                <a:solidFill>
                  <a:srgbClr val="000000"/>
                </a:solidFill>
              </a:rPr>
              <a:t>(b)</a:t>
            </a:r>
            <a:endParaRPr lang="en-US" sz="2400" dirty="0"/>
          </a:p>
        </p:txBody>
      </p:sp>
      <p:sp>
        <p:nvSpPr>
          <p:cNvPr id="10" name="Content Placeholder 9">
            <a:extLst>
              <a:ext uri="{FF2B5EF4-FFF2-40B4-BE49-F238E27FC236}">
                <a16:creationId xmlns:a16="http://schemas.microsoft.com/office/drawing/2014/main" id="{1A052864-6FA3-4917-BB12-016B22E1CDC9}"/>
              </a:ext>
            </a:extLst>
          </p:cNvPr>
          <p:cNvSpPr>
            <a:spLocks noGrp="1"/>
          </p:cNvSpPr>
          <p:nvPr>
            <p:ph sz="quarter" idx="24"/>
          </p:nvPr>
        </p:nvSpPr>
        <p:spPr>
          <a:xfrm>
            <a:off x="810176" y="4180952"/>
            <a:ext cx="2999824" cy="365125"/>
          </a:xfrm>
        </p:spPr>
        <p:txBody>
          <a:bodyPr/>
          <a:lstStyle/>
          <a:p>
            <a:r>
              <a:rPr lang="en-US" sz="2400" dirty="0">
                <a:solidFill>
                  <a:srgbClr val="000000"/>
                </a:solidFill>
              </a:rPr>
              <a:t>Cash</a:t>
            </a:r>
            <a:endParaRPr lang="en-US" sz="2400" dirty="0"/>
          </a:p>
        </p:txBody>
      </p:sp>
      <p:sp>
        <p:nvSpPr>
          <p:cNvPr id="11" name="Content Placeholder 10">
            <a:extLst>
              <a:ext uri="{FF2B5EF4-FFF2-40B4-BE49-F238E27FC236}">
                <a16:creationId xmlns:a16="http://schemas.microsoft.com/office/drawing/2014/main" id="{EEAC5FE1-9157-4D87-BE3D-B5B07B8C138E}"/>
              </a:ext>
            </a:extLst>
          </p:cNvPr>
          <p:cNvSpPr>
            <a:spLocks noGrp="1"/>
          </p:cNvSpPr>
          <p:nvPr>
            <p:ph sz="quarter" idx="25"/>
          </p:nvPr>
        </p:nvSpPr>
        <p:spPr>
          <a:xfrm>
            <a:off x="6558238" y="4180952"/>
            <a:ext cx="909362" cy="352425"/>
          </a:xfrm>
        </p:spPr>
        <p:txBody>
          <a:bodyPr/>
          <a:lstStyle/>
          <a:p>
            <a:r>
              <a:rPr lang="en-US" sz="2400" dirty="0">
                <a:solidFill>
                  <a:srgbClr val="000000"/>
                </a:solidFill>
              </a:rPr>
              <a:t>5,000</a:t>
            </a:r>
            <a:endParaRPr lang="en-US" sz="2400" dirty="0"/>
          </a:p>
        </p:txBody>
      </p:sp>
      <p:sp>
        <p:nvSpPr>
          <p:cNvPr id="12" name="Content Placeholder 11">
            <a:extLst>
              <a:ext uri="{FF2B5EF4-FFF2-40B4-BE49-F238E27FC236}">
                <a16:creationId xmlns:a16="http://schemas.microsoft.com/office/drawing/2014/main" id="{72B2DC4E-503F-4A9D-8735-758DFF6117B4}"/>
              </a:ext>
            </a:extLst>
          </p:cNvPr>
          <p:cNvSpPr>
            <a:spLocks noGrp="1"/>
          </p:cNvSpPr>
          <p:nvPr>
            <p:ph sz="quarter" idx="26"/>
          </p:nvPr>
        </p:nvSpPr>
        <p:spPr>
          <a:xfrm>
            <a:off x="1076848" y="4537598"/>
            <a:ext cx="3733800" cy="365125"/>
          </a:xfrm>
        </p:spPr>
        <p:txBody>
          <a:bodyPr/>
          <a:lstStyle/>
          <a:p>
            <a:r>
              <a:rPr lang="en-US" sz="2400" dirty="0">
                <a:solidFill>
                  <a:srgbClr val="000000"/>
                </a:solidFill>
              </a:rPr>
              <a:t>Common Stock (1,000 × $1)</a:t>
            </a:r>
            <a:endParaRPr lang="en-US" sz="2400" dirty="0"/>
          </a:p>
        </p:txBody>
      </p:sp>
      <p:sp>
        <p:nvSpPr>
          <p:cNvPr id="13" name="Content Placeholder 12">
            <a:extLst>
              <a:ext uri="{FF2B5EF4-FFF2-40B4-BE49-F238E27FC236}">
                <a16:creationId xmlns:a16="http://schemas.microsoft.com/office/drawing/2014/main" id="{F5EA98BB-E1C7-44FC-8C3D-EC2266A9D34F}"/>
              </a:ext>
            </a:extLst>
          </p:cNvPr>
          <p:cNvSpPr>
            <a:spLocks noGrp="1"/>
          </p:cNvSpPr>
          <p:nvPr>
            <p:ph sz="quarter" idx="27"/>
          </p:nvPr>
        </p:nvSpPr>
        <p:spPr>
          <a:xfrm>
            <a:off x="7924800" y="4505848"/>
            <a:ext cx="914402" cy="365125"/>
          </a:xfrm>
        </p:spPr>
        <p:txBody>
          <a:bodyPr/>
          <a:lstStyle/>
          <a:p>
            <a:r>
              <a:rPr lang="en-US" sz="2400" dirty="0">
                <a:solidFill>
                  <a:srgbClr val="000000"/>
                </a:solidFill>
              </a:rPr>
              <a:t>1,000</a:t>
            </a:r>
            <a:endParaRPr lang="en-US" sz="2400" dirty="0"/>
          </a:p>
        </p:txBody>
      </p:sp>
      <p:sp>
        <p:nvSpPr>
          <p:cNvPr id="15" name="Content Placeholder 14">
            <a:extLst>
              <a:ext uri="{FF2B5EF4-FFF2-40B4-BE49-F238E27FC236}">
                <a16:creationId xmlns:a16="http://schemas.microsoft.com/office/drawing/2014/main" id="{550394B9-59DA-4E09-8527-63F29CB14003}"/>
              </a:ext>
            </a:extLst>
          </p:cNvPr>
          <p:cNvSpPr>
            <a:spLocks noGrp="1"/>
          </p:cNvSpPr>
          <p:nvPr>
            <p:ph sz="quarter" idx="29"/>
          </p:nvPr>
        </p:nvSpPr>
        <p:spPr>
          <a:xfrm>
            <a:off x="1325544" y="4921251"/>
            <a:ext cx="5410200" cy="1403349"/>
          </a:xfrm>
        </p:spPr>
        <p:txBody>
          <a:bodyPr/>
          <a:lstStyle/>
          <a:p>
            <a:r>
              <a:rPr lang="en-US" sz="2400" dirty="0">
                <a:solidFill>
                  <a:srgbClr val="000000"/>
                </a:solidFill>
              </a:rPr>
              <a:t>Paid-in Capital in Excess of Par—Common Stock</a:t>
            </a:r>
          </a:p>
          <a:p>
            <a:pPr marL="271463">
              <a:spcBef>
                <a:spcPts val="0"/>
              </a:spcBef>
            </a:pPr>
            <a:r>
              <a:rPr lang="en-US" sz="2400" dirty="0"/>
              <a:t>(To record issuance of 1,000 shares of $1 par common stock)</a:t>
            </a:r>
          </a:p>
        </p:txBody>
      </p:sp>
      <p:sp>
        <p:nvSpPr>
          <p:cNvPr id="18" name="Content Placeholder 17">
            <a:extLst>
              <a:ext uri="{FF2B5EF4-FFF2-40B4-BE49-F238E27FC236}">
                <a16:creationId xmlns:a16="http://schemas.microsoft.com/office/drawing/2014/main" id="{9E274146-EA48-415E-85EF-AA1ED7BBFBF8}"/>
              </a:ext>
            </a:extLst>
          </p:cNvPr>
          <p:cNvSpPr>
            <a:spLocks noGrp="1"/>
          </p:cNvSpPr>
          <p:nvPr>
            <p:ph sz="quarter" idx="30"/>
          </p:nvPr>
        </p:nvSpPr>
        <p:spPr>
          <a:xfrm>
            <a:off x="7924798" y="5181600"/>
            <a:ext cx="914402" cy="365126"/>
          </a:xfrm>
        </p:spPr>
        <p:txBody>
          <a:bodyPr/>
          <a:lstStyle/>
          <a:p>
            <a:r>
              <a:rPr lang="en-US" altLang="en-US" sz="2400" dirty="0">
                <a:solidFill>
                  <a:srgbClr val="000000"/>
                </a:solidFill>
              </a:rPr>
              <a:t>4,000</a:t>
            </a:r>
            <a:endParaRPr lang="en-US" sz="2400" dirty="0"/>
          </a:p>
        </p:txBody>
      </p:sp>
      <p:sp>
        <p:nvSpPr>
          <p:cNvPr id="23" name="Slide Number Placeholder 22">
            <a:extLst>
              <a:ext uri="{FF2B5EF4-FFF2-40B4-BE49-F238E27FC236}">
                <a16:creationId xmlns:a16="http://schemas.microsoft.com/office/drawing/2014/main" id="{C3ADB033-D6E5-42A2-AA75-5772CD252CDF}"/>
              </a:ext>
            </a:extLst>
          </p:cNvPr>
          <p:cNvSpPr>
            <a:spLocks noGrp="1"/>
          </p:cNvSpPr>
          <p:nvPr>
            <p:ph type="sldNum" sz="quarter" idx="10"/>
          </p:nvPr>
        </p:nvSpPr>
        <p:spPr/>
        <p:txBody>
          <a:bodyPr/>
          <a:lstStyle/>
          <a:p>
            <a:fld id="{67B19427-F580-D146-B60E-4CADEE75497F}" type="slidenum">
              <a:rPr lang="en-US" smtClean="0"/>
              <a:pPr/>
              <a:t>18</a:t>
            </a:fld>
            <a:endParaRPr lang="en-US" dirty="0"/>
          </a:p>
        </p:txBody>
      </p:sp>
      <p:sp>
        <p:nvSpPr>
          <p:cNvPr id="24" name="Footer Placeholder 23">
            <a:extLst>
              <a:ext uri="{FF2B5EF4-FFF2-40B4-BE49-F238E27FC236}">
                <a16:creationId xmlns:a16="http://schemas.microsoft.com/office/drawing/2014/main" id="{F0618A2A-3150-4FE5-BE3A-BE7ACB108CB4}"/>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2535349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xEl>
                                              <p:pRg st="0" end="0"/>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xEl>
                                              <p:pRg st="1" end="1"/>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xEl>
                                              <p:pRg st="0" end="0"/>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
                                            <p:txEl>
                                              <p:pRg st="0" end="0"/>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
                                            <p:txEl>
                                              <p:pRg st="0" end="0"/>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5">
                                            <p:txEl>
                                              <p:pRg st="0" end="0"/>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5">
                                            <p:txEl>
                                              <p:pRg st="1" end="1"/>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5" grpId="0" build="p"/>
      <p:bldP spid="6" grpId="0" build="p"/>
      <p:bldP spid="7" grpId="0" uiExpand="1" build="p"/>
      <p:bldP spid="8" grpId="0" build="p"/>
      <p:bldP spid="9" grpId="0" build="p"/>
      <p:bldP spid="10" grpId="0" build="p"/>
      <p:bldP spid="11" grpId="0" build="p"/>
      <p:bldP spid="12" grpId="0" build="p"/>
      <p:bldP spid="13" grpId="0" build="p"/>
      <p:bldP spid="15" grpId="0" uiExpand="1" build="p"/>
      <p:bldP spid="18"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B8BA80-0EDA-46DB-BA40-23054B77E72C}"/>
              </a:ext>
            </a:extLst>
          </p:cNvPr>
          <p:cNvSpPr>
            <a:spLocks noGrp="1"/>
          </p:cNvSpPr>
          <p:nvPr>
            <p:ph type="title"/>
          </p:nvPr>
        </p:nvSpPr>
        <p:spPr/>
        <p:txBody>
          <a:bodyPr/>
          <a:lstStyle/>
          <a:p>
            <a:r>
              <a:rPr lang="en-US" b="1" dirty="0">
                <a:latin typeface="Calibri" panose="020F0502020204030204" pitchFamily="34" charset="0"/>
                <a:ea typeface="Source Sans Pro" charset="0"/>
                <a:cs typeface="Calibri" panose="020F0502020204030204" pitchFamily="34" charset="0"/>
              </a:rPr>
              <a:t>Accounting for Stock Transactions</a:t>
            </a:r>
            <a:endParaRPr lang="en-US" dirty="0"/>
          </a:p>
        </p:txBody>
      </p:sp>
      <p:pic>
        <p:nvPicPr>
          <p:cNvPr id="12" name="Content Placeholder 11" descr="An illustration of a partial balance sheet. The statement displays a two-line heading consisting of the name of the company, Hydro-slide I n c; and the type of statement, balance sheet. The statement has 2 columns, the first displaying account names and the other displaying the respective amounts. The section under the title is labeled as: stockholders’ equity. It has two subsections. The first subsection, paid-in capital, is indented slightly in the first column. Immediately under this are the following account names that are further indented, and the respective amounts appear in the numeric column: common stock, $2,000; paid-in capital in excess of par value, 4,000. The latter is marked in red. The amounts are totaled as 6,000 which is displayed in the numeric column with the label total paid-in capital. The second subsection, retained earnings, is indented slightly in the first column, and the value in the numeric column is 27,000. Both the subsections are totaled as $33,000 which is displayed in the numeric column with the label total stockholders’ equity.">
            <a:extLst>
              <a:ext uri="{FF2B5EF4-FFF2-40B4-BE49-F238E27FC236}">
                <a16:creationId xmlns:a16="http://schemas.microsoft.com/office/drawing/2014/main" id="{A85FC28B-2CD1-46C2-AD3C-709F29BA8754}"/>
              </a:ext>
            </a:extLst>
          </p:cNvPr>
          <p:cNvPicPr>
            <a:picLocks noGrp="1" noChangeAspect="1"/>
          </p:cNvPicPr>
          <p:nvPr>
            <p:ph sz="quarter" idx="16"/>
          </p:nvPr>
        </p:nvPicPr>
        <p:blipFill>
          <a:blip r:embed="rId2"/>
          <a:stretch>
            <a:fillRect/>
          </a:stretch>
        </p:blipFill>
        <p:spPr>
          <a:xfrm>
            <a:off x="898043" y="1905000"/>
            <a:ext cx="7347913" cy="3850367"/>
          </a:xfrm>
          <a:prstGeom prst="rect">
            <a:avLst/>
          </a:prstGeom>
        </p:spPr>
      </p:pic>
      <p:sp>
        <p:nvSpPr>
          <p:cNvPr id="5" name="Slide Number Placeholder 4">
            <a:extLst>
              <a:ext uri="{FF2B5EF4-FFF2-40B4-BE49-F238E27FC236}">
                <a16:creationId xmlns:a16="http://schemas.microsoft.com/office/drawing/2014/main" id="{2C846EE0-A1CF-49C9-BDCF-ACD21F82EC1A}"/>
              </a:ext>
            </a:extLst>
          </p:cNvPr>
          <p:cNvSpPr>
            <a:spLocks noGrp="1"/>
          </p:cNvSpPr>
          <p:nvPr>
            <p:ph type="sldNum" sz="quarter" idx="10"/>
          </p:nvPr>
        </p:nvSpPr>
        <p:spPr/>
        <p:txBody>
          <a:bodyPr/>
          <a:lstStyle/>
          <a:p>
            <a:fld id="{67B19427-F580-D146-B60E-4CADEE75497F}" type="slidenum">
              <a:rPr lang="en-US" smtClean="0"/>
              <a:pPr/>
              <a:t>19</a:t>
            </a:fld>
            <a:endParaRPr lang="en-US" dirty="0"/>
          </a:p>
        </p:txBody>
      </p:sp>
      <p:sp>
        <p:nvSpPr>
          <p:cNvPr id="6" name="Footer Placeholder 5">
            <a:extLst>
              <a:ext uri="{FF2B5EF4-FFF2-40B4-BE49-F238E27FC236}">
                <a16:creationId xmlns:a16="http://schemas.microsoft.com/office/drawing/2014/main" id="{6C02C315-9038-48C5-AB9B-284B38986F79}"/>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7367082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32B30F-1A78-433A-BAA0-FF2C10A3D437}"/>
              </a:ext>
            </a:extLst>
          </p:cNvPr>
          <p:cNvSpPr>
            <a:spLocks noGrp="1"/>
          </p:cNvSpPr>
          <p:nvPr>
            <p:ph type="title"/>
          </p:nvPr>
        </p:nvSpPr>
        <p:spPr>
          <a:xfrm>
            <a:off x="304800" y="685800"/>
            <a:ext cx="8305799" cy="1066801"/>
          </a:xfrm>
        </p:spPr>
        <p:txBody>
          <a:bodyPr>
            <a:normAutofit fontScale="90000"/>
          </a:bodyPr>
          <a:lstStyle/>
          <a:p>
            <a:r>
              <a:rPr lang="en-US" sz="4400" b="1" dirty="0">
                <a:ea typeface="Source Sans Pro" charset="0"/>
              </a:rPr>
              <a:t>Issuing No-Par Common Stock for Cash</a:t>
            </a:r>
            <a:endParaRPr lang="en-US" sz="2400" dirty="0"/>
          </a:p>
        </p:txBody>
      </p:sp>
      <p:sp>
        <p:nvSpPr>
          <p:cNvPr id="3" name="Content Placeholder 2">
            <a:extLst>
              <a:ext uri="{FF2B5EF4-FFF2-40B4-BE49-F238E27FC236}">
                <a16:creationId xmlns:a16="http://schemas.microsoft.com/office/drawing/2014/main" id="{92F87F86-306D-4BC9-84CC-42CD82DF412A}"/>
              </a:ext>
            </a:extLst>
          </p:cNvPr>
          <p:cNvSpPr>
            <a:spLocks noGrp="1"/>
          </p:cNvSpPr>
          <p:nvPr>
            <p:ph sz="quarter" idx="16"/>
          </p:nvPr>
        </p:nvSpPr>
        <p:spPr>
          <a:xfrm>
            <a:off x="304800" y="1965325"/>
            <a:ext cx="8534400" cy="1311275"/>
          </a:xfrm>
        </p:spPr>
        <p:txBody>
          <a:bodyPr/>
          <a:lstStyle/>
          <a:p>
            <a:r>
              <a:rPr lang="en-US" sz="2400" b="1" dirty="0"/>
              <a:t>Illustration: </a:t>
            </a:r>
            <a:r>
              <a:rPr lang="en-US" altLang="en-US" sz="2400" dirty="0"/>
              <a:t>Assume that instead of $1 par value stock, Hydro-Slide, Inc. has $5 stated value no-par stock and the company issues 5,000 shares at $8 per share for cash.</a:t>
            </a:r>
            <a:endParaRPr lang="en-US" sz="2400" dirty="0"/>
          </a:p>
        </p:txBody>
      </p:sp>
      <p:sp>
        <p:nvSpPr>
          <p:cNvPr id="10" name="Content Placeholder 9">
            <a:extLst>
              <a:ext uri="{FF2B5EF4-FFF2-40B4-BE49-F238E27FC236}">
                <a16:creationId xmlns:a16="http://schemas.microsoft.com/office/drawing/2014/main" id="{1A052864-6FA3-4917-BB12-016B22E1CDC9}"/>
              </a:ext>
            </a:extLst>
          </p:cNvPr>
          <p:cNvSpPr>
            <a:spLocks noGrp="1"/>
          </p:cNvSpPr>
          <p:nvPr>
            <p:ph sz="quarter" idx="24"/>
          </p:nvPr>
        </p:nvSpPr>
        <p:spPr>
          <a:xfrm>
            <a:off x="810176" y="3276600"/>
            <a:ext cx="2999824" cy="365125"/>
          </a:xfrm>
        </p:spPr>
        <p:txBody>
          <a:bodyPr/>
          <a:lstStyle/>
          <a:p>
            <a:r>
              <a:rPr lang="en-US" sz="2400" dirty="0">
                <a:solidFill>
                  <a:srgbClr val="000000"/>
                </a:solidFill>
              </a:rPr>
              <a:t>Cash</a:t>
            </a:r>
            <a:endParaRPr lang="en-US" sz="2400" dirty="0"/>
          </a:p>
        </p:txBody>
      </p:sp>
      <p:sp>
        <p:nvSpPr>
          <p:cNvPr id="11" name="Content Placeholder 10">
            <a:extLst>
              <a:ext uri="{FF2B5EF4-FFF2-40B4-BE49-F238E27FC236}">
                <a16:creationId xmlns:a16="http://schemas.microsoft.com/office/drawing/2014/main" id="{EEAC5FE1-9157-4D87-BE3D-B5B07B8C138E}"/>
              </a:ext>
            </a:extLst>
          </p:cNvPr>
          <p:cNvSpPr>
            <a:spLocks noGrp="1"/>
          </p:cNvSpPr>
          <p:nvPr>
            <p:ph sz="quarter" idx="25"/>
          </p:nvPr>
        </p:nvSpPr>
        <p:spPr>
          <a:xfrm>
            <a:off x="6329638" y="3276600"/>
            <a:ext cx="1061762" cy="352425"/>
          </a:xfrm>
        </p:spPr>
        <p:txBody>
          <a:bodyPr/>
          <a:lstStyle/>
          <a:p>
            <a:r>
              <a:rPr lang="en-US" sz="2400" dirty="0">
                <a:solidFill>
                  <a:srgbClr val="000000"/>
                </a:solidFill>
              </a:rPr>
              <a:t>40,000</a:t>
            </a:r>
            <a:endParaRPr lang="en-US" sz="2400" dirty="0"/>
          </a:p>
        </p:txBody>
      </p:sp>
      <p:sp>
        <p:nvSpPr>
          <p:cNvPr id="12" name="Content Placeholder 11">
            <a:extLst>
              <a:ext uri="{FF2B5EF4-FFF2-40B4-BE49-F238E27FC236}">
                <a16:creationId xmlns:a16="http://schemas.microsoft.com/office/drawing/2014/main" id="{72B2DC4E-503F-4A9D-8735-758DFF6117B4}"/>
              </a:ext>
            </a:extLst>
          </p:cNvPr>
          <p:cNvSpPr>
            <a:spLocks noGrp="1"/>
          </p:cNvSpPr>
          <p:nvPr>
            <p:ph sz="quarter" idx="26"/>
          </p:nvPr>
        </p:nvSpPr>
        <p:spPr>
          <a:xfrm>
            <a:off x="1143000" y="3657600"/>
            <a:ext cx="3733800" cy="365125"/>
          </a:xfrm>
        </p:spPr>
        <p:txBody>
          <a:bodyPr/>
          <a:lstStyle/>
          <a:p>
            <a:r>
              <a:rPr lang="en-US" sz="2400" dirty="0">
                <a:solidFill>
                  <a:srgbClr val="000000"/>
                </a:solidFill>
              </a:rPr>
              <a:t>Common Stock (5,000 × $5)</a:t>
            </a:r>
            <a:endParaRPr lang="en-US" sz="2400" dirty="0"/>
          </a:p>
        </p:txBody>
      </p:sp>
      <p:sp>
        <p:nvSpPr>
          <p:cNvPr id="13" name="Content Placeholder 12">
            <a:extLst>
              <a:ext uri="{FF2B5EF4-FFF2-40B4-BE49-F238E27FC236}">
                <a16:creationId xmlns:a16="http://schemas.microsoft.com/office/drawing/2014/main" id="{F5EA98BB-E1C7-44FC-8C3D-EC2266A9D34F}"/>
              </a:ext>
            </a:extLst>
          </p:cNvPr>
          <p:cNvSpPr>
            <a:spLocks noGrp="1"/>
          </p:cNvSpPr>
          <p:nvPr>
            <p:ph sz="quarter" idx="27"/>
          </p:nvPr>
        </p:nvSpPr>
        <p:spPr>
          <a:xfrm>
            <a:off x="7696199" y="3625850"/>
            <a:ext cx="1219201" cy="365125"/>
          </a:xfrm>
        </p:spPr>
        <p:txBody>
          <a:bodyPr/>
          <a:lstStyle/>
          <a:p>
            <a:r>
              <a:rPr lang="en-US" sz="2400" dirty="0">
                <a:solidFill>
                  <a:srgbClr val="000000"/>
                </a:solidFill>
              </a:rPr>
              <a:t>25,000</a:t>
            </a:r>
            <a:endParaRPr lang="en-US" sz="2400" dirty="0"/>
          </a:p>
        </p:txBody>
      </p:sp>
      <p:sp>
        <p:nvSpPr>
          <p:cNvPr id="15" name="Content Placeholder 14">
            <a:extLst>
              <a:ext uri="{FF2B5EF4-FFF2-40B4-BE49-F238E27FC236}">
                <a16:creationId xmlns:a16="http://schemas.microsoft.com/office/drawing/2014/main" id="{550394B9-59DA-4E09-8527-63F29CB14003}"/>
              </a:ext>
            </a:extLst>
          </p:cNvPr>
          <p:cNvSpPr>
            <a:spLocks noGrp="1"/>
          </p:cNvSpPr>
          <p:nvPr>
            <p:ph sz="quarter" idx="29"/>
          </p:nvPr>
        </p:nvSpPr>
        <p:spPr>
          <a:xfrm>
            <a:off x="1143000" y="4098926"/>
            <a:ext cx="4667250" cy="1387474"/>
          </a:xfrm>
        </p:spPr>
        <p:txBody>
          <a:bodyPr/>
          <a:lstStyle/>
          <a:p>
            <a:r>
              <a:rPr lang="en-US" sz="2400" dirty="0">
                <a:solidFill>
                  <a:srgbClr val="000000"/>
                </a:solidFill>
              </a:rPr>
              <a:t>Paid-in Capital in Excess of Stated Value—Common Stock</a:t>
            </a:r>
          </a:p>
          <a:p>
            <a:pPr marL="271463">
              <a:spcBef>
                <a:spcPts val="0"/>
              </a:spcBef>
            </a:pPr>
            <a:r>
              <a:rPr lang="en-US" sz="2400" dirty="0"/>
              <a:t>(To record issue of 5,000 shares of $5 stated value no-par stock)</a:t>
            </a:r>
          </a:p>
        </p:txBody>
      </p:sp>
      <p:sp>
        <p:nvSpPr>
          <p:cNvPr id="18" name="Content Placeholder 17">
            <a:extLst>
              <a:ext uri="{FF2B5EF4-FFF2-40B4-BE49-F238E27FC236}">
                <a16:creationId xmlns:a16="http://schemas.microsoft.com/office/drawing/2014/main" id="{9E274146-EA48-415E-85EF-AA1ED7BBFBF8}"/>
              </a:ext>
            </a:extLst>
          </p:cNvPr>
          <p:cNvSpPr>
            <a:spLocks noGrp="1"/>
          </p:cNvSpPr>
          <p:nvPr>
            <p:ph sz="quarter" idx="30"/>
          </p:nvPr>
        </p:nvSpPr>
        <p:spPr>
          <a:xfrm>
            <a:off x="7696199" y="4058696"/>
            <a:ext cx="1143002" cy="365126"/>
          </a:xfrm>
        </p:spPr>
        <p:txBody>
          <a:bodyPr/>
          <a:lstStyle/>
          <a:p>
            <a:r>
              <a:rPr lang="en-US" altLang="en-US" sz="2400" dirty="0">
                <a:solidFill>
                  <a:srgbClr val="000000"/>
                </a:solidFill>
              </a:rPr>
              <a:t>15,000</a:t>
            </a:r>
            <a:endParaRPr lang="en-US" sz="2400" dirty="0"/>
          </a:p>
        </p:txBody>
      </p:sp>
      <p:sp>
        <p:nvSpPr>
          <p:cNvPr id="23" name="Slide Number Placeholder 22">
            <a:extLst>
              <a:ext uri="{FF2B5EF4-FFF2-40B4-BE49-F238E27FC236}">
                <a16:creationId xmlns:a16="http://schemas.microsoft.com/office/drawing/2014/main" id="{C3ADB033-D6E5-42A2-AA75-5772CD252CDF}"/>
              </a:ext>
            </a:extLst>
          </p:cNvPr>
          <p:cNvSpPr>
            <a:spLocks noGrp="1"/>
          </p:cNvSpPr>
          <p:nvPr>
            <p:ph type="sldNum" sz="quarter" idx="10"/>
          </p:nvPr>
        </p:nvSpPr>
        <p:spPr/>
        <p:txBody>
          <a:bodyPr/>
          <a:lstStyle/>
          <a:p>
            <a:fld id="{67B19427-F580-D146-B60E-4CADEE75497F}" type="slidenum">
              <a:rPr lang="en-US" smtClean="0"/>
              <a:pPr/>
              <a:t>20</a:t>
            </a:fld>
            <a:endParaRPr lang="en-US" dirty="0"/>
          </a:p>
        </p:txBody>
      </p:sp>
      <p:sp>
        <p:nvSpPr>
          <p:cNvPr id="24" name="Footer Placeholder 23">
            <a:extLst>
              <a:ext uri="{FF2B5EF4-FFF2-40B4-BE49-F238E27FC236}">
                <a16:creationId xmlns:a16="http://schemas.microsoft.com/office/drawing/2014/main" id="{F0618A2A-3150-4FE5-BE3A-BE7ACB108CB4}"/>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104927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xEl>
                                              <p:pRg st="0" end="0"/>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
                                            <p:txEl>
                                              <p:pRg st="0" end="0"/>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5">
                                            <p:txEl>
                                              <p:pRg st="1" end="1"/>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P spid="11" grpId="0" build="p"/>
      <p:bldP spid="12" grpId="0" build="p"/>
      <p:bldP spid="13" grpId="0" build="p"/>
      <p:bldP spid="15" grpId="0" uiExpand="1" build="p"/>
      <p:bldP spid="18"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2F87F86-306D-4BC9-84CC-42CD82DF412A}"/>
              </a:ext>
            </a:extLst>
          </p:cNvPr>
          <p:cNvSpPr>
            <a:spLocks noGrp="1"/>
          </p:cNvSpPr>
          <p:nvPr>
            <p:ph sz="quarter" idx="16"/>
          </p:nvPr>
        </p:nvSpPr>
        <p:spPr>
          <a:xfrm>
            <a:off x="304800" y="1965325"/>
            <a:ext cx="8534400" cy="1311275"/>
          </a:xfrm>
        </p:spPr>
        <p:txBody>
          <a:bodyPr/>
          <a:lstStyle/>
          <a:p>
            <a:r>
              <a:rPr lang="en-US" sz="2400" b="1" dirty="0"/>
              <a:t>Illustration: </a:t>
            </a:r>
            <a:r>
              <a:rPr lang="en-US" altLang="en-US" sz="2400" dirty="0"/>
              <a:t>Assume further that the no-par stock does not have a stated value and the company issues 5,000 shares at $8 per share for cash.</a:t>
            </a:r>
            <a:endParaRPr lang="en-US" sz="2400" dirty="0"/>
          </a:p>
        </p:txBody>
      </p:sp>
      <p:sp>
        <p:nvSpPr>
          <p:cNvPr id="10" name="Content Placeholder 9">
            <a:extLst>
              <a:ext uri="{FF2B5EF4-FFF2-40B4-BE49-F238E27FC236}">
                <a16:creationId xmlns:a16="http://schemas.microsoft.com/office/drawing/2014/main" id="{1A052864-6FA3-4917-BB12-016B22E1CDC9}"/>
              </a:ext>
            </a:extLst>
          </p:cNvPr>
          <p:cNvSpPr>
            <a:spLocks noGrp="1"/>
          </p:cNvSpPr>
          <p:nvPr>
            <p:ph sz="quarter" idx="24"/>
          </p:nvPr>
        </p:nvSpPr>
        <p:spPr>
          <a:xfrm>
            <a:off x="810176" y="3733800"/>
            <a:ext cx="2999824" cy="365125"/>
          </a:xfrm>
        </p:spPr>
        <p:txBody>
          <a:bodyPr/>
          <a:lstStyle/>
          <a:p>
            <a:r>
              <a:rPr lang="en-US" sz="2400" dirty="0">
                <a:solidFill>
                  <a:srgbClr val="000000"/>
                </a:solidFill>
              </a:rPr>
              <a:t>Cash</a:t>
            </a:r>
            <a:endParaRPr lang="en-US" sz="2400" dirty="0"/>
          </a:p>
        </p:txBody>
      </p:sp>
      <p:sp>
        <p:nvSpPr>
          <p:cNvPr id="11" name="Content Placeholder 10">
            <a:extLst>
              <a:ext uri="{FF2B5EF4-FFF2-40B4-BE49-F238E27FC236}">
                <a16:creationId xmlns:a16="http://schemas.microsoft.com/office/drawing/2014/main" id="{EEAC5FE1-9157-4D87-BE3D-B5B07B8C138E}"/>
              </a:ext>
            </a:extLst>
          </p:cNvPr>
          <p:cNvSpPr>
            <a:spLocks noGrp="1"/>
          </p:cNvSpPr>
          <p:nvPr>
            <p:ph sz="quarter" idx="25"/>
          </p:nvPr>
        </p:nvSpPr>
        <p:spPr>
          <a:xfrm>
            <a:off x="5948639" y="3667611"/>
            <a:ext cx="1263118" cy="352425"/>
          </a:xfrm>
        </p:spPr>
        <p:txBody>
          <a:bodyPr/>
          <a:lstStyle/>
          <a:p>
            <a:r>
              <a:rPr lang="en-US" sz="2400" dirty="0">
                <a:solidFill>
                  <a:srgbClr val="000000"/>
                </a:solidFill>
              </a:rPr>
              <a:t>40,000</a:t>
            </a:r>
            <a:endParaRPr lang="en-US" sz="2400" dirty="0"/>
          </a:p>
        </p:txBody>
      </p:sp>
      <p:sp>
        <p:nvSpPr>
          <p:cNvPr id="12" name="Content Placeholder 11">
            <a:extLst>
              <a:ext uri="{FF2B5EF4-FFF2-40B4-BE49-F238E27FC236}">
                <a16:creationId xmlns:a16="http://schemas.microsoft.com/office/drawing/2014/main" id="{72B2DC4E-503F-4A9D-8735-758DFF6117B4}"/>
              </a:ext>
            </a:extLst>
          </p:cNvPr>
          <p:cNvSpPr>
            <a:spLocks noGrp="1"/>
          </p:cNvSpPr>
          <p:nvPr>
            <p:ph sz="quarter" idx="26"/>
          </p:nvPr>
        </p:nvSpPr>
        <p:spPr>
          <a:xfrm>
            <a:off x="1143000" y="4070350"/>
            <a:ext cx="5181600" cy="1158875"/>
          </a:xfrm>
        </p:spPr>
        <p:txBody>
          <a:bodyPr/>
          <a:lstStyle/>
          <a:p>
            <a:r>
              <a:rPr lang="en-US" sz="2400" dirty="0">
                <a:solidFill>
                  <a:srgbClr val="000000"/>
                </a:solidFill>
              </a:rPr>
              <a:t>Common Stock</a:t>
            </a:r>
          </a:p>
          <a:p>
            <a:pPr marL="361950">
              <a:spcBef>
                <a:spcPts val="0"/>
              </a:spcBef>
            </a:pPr>
            <a:r>
              <a:rPr lang="en-US" sz="2400" dirty="0"/>
              <a:t>(To record issue of 5,000 shares of no-par stock)</a:t>
            </a:r>
          </a:p>
        </p:txBody>
      </p:sp>
      <p:sp>
        <p:nvSpPr>
          <p:cNvPr id="13" name="Content Placeholder 12">
            <a:extLst>
              <a:ext uri="{FF2B5EF4-FFF2-40B4-BE49-F238E27FC236}">
                <a16:creationId xmlns:a16="http://schemas.microsoft.com/office/drawing/2014/main" id="{F5EA98BB-E1C7-44FC-8C3D-EC2266A9D34F}"/>
              </a:ext>
            </a:extLst>
          </p:cNvPr>
          <p:cNvSpPr>
            <a:spLocks noGrp="1"/>
          </p:cNvSpPr>
          <p:nvPr>
            <p:ph sz="quarter" idx="27"/>
          </p:nvPr>
        </p:nvSpPr>
        <p:spPr>
          <a:xfrm>
            <a:off x="7391399" y="3972411"/>
            <a:ext cx="1219201" cy="365125"/>
          </a:xfrm>
        </p:spPr>
        <p:txBody>
          <a:bodyPr/>
          <a:lstStyle/>
          <a:p>
            <a:r>
              <a:rPr lang="en-US" sz="2400" dirty="0">
                <a:solidFill>
                  <a:srgbClr val="000000"/>
                </a:solidFill>
              </a:rPr>
              <a:t>40,000</a:t>
            </a:r>
            <a:endParaRPr lang="en-US" sz="2400" dirty="0"/>
          </a:p>
        </p:txBody>
      </p:sp>
      <p:sp>
        <p:nvSpPr>
          <p:cNvPr id="23" name="Slide Number Placeholder 22">
            <a:extLst>
              <a:ext uri="{FF2B5EF4-FFF2-40B4-BE49-F238E27FC236}">
                <a16:creationId xmlns:a16="http://schemas.microsoft.com/office/drawing/2014/main" id="{C3ADB033-D6E5-42A2-AA75-5772CD252CDF}"/>
              </a:ext>
            </a:extLst>
          </p:cNvPr>
          <p:cNvSpPr>
            <a:spLocks noGrp="1"/>
          </p:cNvSpPr>
          <p:nvPr>
            <p:ph type="sldNum" sz="quarter" idx="10"/>
          </p:nvPr>
        </p:nvSpPr>
        <p:spPr/>
        <p:txBody>
          <a:bodyPr/>
          <a:lstStyle/>
          <a:p>
            <a:fld id="{67B19427-F580-D146-B60E-4CADEE75497F}" type="slidenum">
              <a:rPr lang="en-US" smtClean="0"/>
              <a:pPr/>
              <a:t>21</a:t>
            </a:fld>
            <a:endParaRPr lang="en-US" dirty="0"/>
          </a:p>
        </p:txBody>
      </p:sp>
      <p:sp>
        <p:nvSpPr>
          <p:cNvPr id="24" name="Footer Placeholder 23">
            <a:extLst>
              <a:ext uri="{FF2B5EF4-FFF2-40B4-BE49-F238E27FC236}">
                <a16:creationId xmlns:a16="http://schemas.microsoft.com/office/drawing/2014/main" id="{F0618A2A-3150-4FE5-BE3A-BE7ACB108CB4}"/>
              </a:ext>
            </a:extLst>
          </p:cNvPr>
          <p:cNvSpPr>
            <a:spLocks noGrp="1"/>
          </p:cNvSpPr>
          <p:nvPr>
            <p:ph type="ftr" sz="quarter" idx="11"/>
          </p:nvPr>
        </p:nvSpPr>
        <p:spPr/>
        <p:txBody>
          <a:bodyPr/>
          <a:lstStyle/>
          <a:p>
            <a:r>
              <a:rPr lang="en-US"/>
              <a:t>Copyright ©2018 John Wiley &amp; Sons, Inc. </a:t>
            </a:r>
            <a:endParaRPr lang="en-US" dirty="0"/>
          </a:p>
        </p:txBody>
      </p:sp>
      <p:sp>
        <p:nvSpPr>
          <p:cNvPr id="14" name="Title 1">
            <a:extLst>
              <a:ext uri="{FF2B5EF4-FFF2-40B4-BE49-F238E27FC236}">
                <a16:creationId xmlns:a16="http://schemas.microsoft.com/office/drawing/2014/main" id="{E8D10038-FD77-4C7B-8914-D5E3D7016AB9}"/>
              </a:ext>
            </a:extLst>
          </p:cNvPr>
          <p:cNvSpPr>
            <a:spLocks noGrp="1"/>
          </p:cNvSpPr>
          <p:nvPr>
            <p:ph type="title"/>
          </p:nvPr>
        </p:nvSpPr>
        <p:spPr>
          <a:xfrm>
            <a:off x="304800" y="685800"/>
            <a:ext cx="8305799" cy="1066801"/>
          </a:xfrm>
        </p:spPr>
        <p:txBody>
          <a:bodyPr>
            <a:normAutofit fontScale="90000"/>
          </a:bodyPr>
          <a:lstStyle/>
          <a:p>
            <a:r>
              <a:rPr lang="en-US" sz="4400" b="1" dirty="0">
                <a:ea typeface="Source Sans Pro" charset="0"/>
              </a:rPr>
              <a:t>Issuing No-Par Common Stock for Cash</a:t>
            </a:r>
            <a:endParaRPr lang="en-US" sz="2400" dirty="0"/>
          </a:p>
        </p:txBody>
      </p:sp>
    </p:spTree>
    <p:extLst>
      <p:ext uri="{BB962C8B-B14F-4D97-AF65-F5344CB8AC3E}">
        <p14:creationId xmlns:p14="http://schemas.microsoft.com/office/powerpoint/2010/main" val="12017805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xEl>
                                              <p:pRg st="0" end="0"/>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
                                            <p:txEl>
                                              <p:pRg st="1" end="1"/>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P spid="11" grpId="0" build="p"/>
      <p:bldP spid="12" grpId="0" uiExpand="1" build="p"/>
      <p:bldP spid="1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9B80E2-9A65-451D-B71E-94C4BDFA3E02}"/>
              </a:ext>
            </a:extLst>
          </p:cNvPr>
          <p:cNvSpPr>
            <a:spLocks noGrp="1"/>
          </p:cNvSpPr>
          <p:nvPr>
            <p:ph type="title"/>
          </p:nvPr>
        </p:nvSpPr>
        <p:spPr/>
        <p:txBody>
          <a:bodyPr>
            <a:normAutofit fontScale="90000"/>
          </a:bodyPr>
          <a:lstStyle/>
          <a:p>
            <a:r>
              <a:rPr lang="en-US" b="1" dirty="0">
                <a:latin typeface="Calibri" panose="020F0502020204030204" pitchFamily="34" charset="0"/>
                <a:ea typeface="Source Sans Pro" charset="0"/>
                <a:cs typeface="Calibri" panose="020F0502020204030204" pitchFamily="34" charset="0"/>
              </a:rPr>
              <a:t>Issuing Common Stock for Services or Noncash Assets</a:t>
            </a:r>
            <a:endParaRPr lang="en-US" dirty="0"/>
          </a:p>
        </p:txBody>
      </p:sp>
      <p:sp>
        <p:nvSpPr>
          <p:cNvPr id="3" name="Content Placeholder 2">
            <a:extLst>
              <a:ext uri="{FF2B5EF4-FFF2-40B4-BE49-F238E27FC236}">
                <a16:creationId xmlns:a16="http://schemas.microsoft.com/office/drawing/2014/main" id="{16530545-B281-446B-8B5C-5302FDD27EE7}"/>
              </a:ext>
            </a:extLst>
          </p:cNvPr>
          <p:cNvSpPr>
            <a:spLocks noGrp="1"/>
          </p:cNvSpPr>
          <p:nvPr>
            <p:ph sz="quarter" idx="16"/>
          </p:nvPr>
        </p:nvSpPr>
        <p:spPr>
          <a:xfrm>
            <a:off x="304800" y="2025649"/>
            <a:ext cx="8534400" cy="1479551"/>
          </a:xfrm>
        </p:spPr>
        <p:txBody>
          <a:bodyPr/>
          <a:lstStyle/>
          <a:p>
            <a:pPr>
              <a:buClr>
                <a:srgbClr val="990000"/>
              </a:buClr>
            </a:pPr>
            <a:r>
              <a:rPr lang="en-US" altLang="en-US" sz="2600" dirty="0"/>
              <a:t>Corporations also may issue stock for:</a:t>
            </a:r>
          </a:p>
          <a:p>
            <a:pPr marL="292608" indent="-292608">
              <a:buClr>
                <a:srgbClr val="990000"/>
              </a:buClr>
              <a:buFont typeface="Arial" panose="020B0604020202020204" pitchFamily="34" charset="0"/>
              <a:buChar char="•"/>
            </a:pPr>
            <a:r>
              <a:rPr lang="en-US" altLang="en-US" sz="2600" dirty="0"/>
              <a:t>Services (attorneys or consultants)</a:t>
            </a:r>
          </a:p>
          <a:p>
            <a:pPr marL="292608" indent="-292608">
              <a:buClr>
                <a:srgbClr val="990000"/>
              </a:buClr>
              <a:buFont typeface="Arial" panose="020B0604020202020204" pitchFamily="34" charset="0"/>
              <a:buChar char="•"/>
            </a:pPr>
            <a:r>
              <a:rPr lang="en-US" altLang="en-US" sz="2600" dirty="0"/>
              <a:t>Noncash assets (land, buildings, and equipment)</a:t>
            </a:r>
          </a:p>
        </p:txBody>
      </p:sp>
      <p:sp>
        <p:nvSpPr>
          <p:cNvPr id="6" name="Content Placeholder 5"/>
          <p:cNvSpPr>
            <a:spLocks noGrp="1"/>
          </p:cNvSpPr>
          <p:nvPr>
            <p:ph sz="quarter" idx="17"/>
          </p:nvPr>
        </p:nvSpPr>
        <p:spPr>
          <a:xfrm>
            <a:off x="304800" y="3580342"/>
            <a:ext cx="8534400" cy="1220258"/>
          </a:xfrm>
        </p:spPr>
        <p:txBody>
          <a:bodyPr/>
          <a:lstStyle/>
          <a:p>
            <a:pPr>
              <a:buClr>
                <a:srgbClr val="990000"/>
              </a:buClr>
            </a:pPr>
            <a:r>
              <a:rPr lang="en-US" altLang="en-US" sz="2600" dirty="0"/>
              <a:t>Cost is either the fair market value of the consideration given up, or the fair market value of the consideration received, whichever is more clearly determinable.</a:t>
            </a:r>
          </a:p>
        </p:txBody>
      </p:sp>
      <p:sp>
        <p:nvSpPr>
          <p:cNvPr id="4" name="Slide Number Placeholder 3">
            <a:extLst>
              <a:ext uri="{FF2B5EF4-FFF2-40B4-BE49-F238E27FC236}">
                <a16:creationId xmlns:a16="http://schemas.microsoft.com/office/drawing/2014/main" id="{90601883-3D6D-47CF-94D6-9543B7B8FE86}"/>
              </a:ext>
            </a:extLst>
          </p:cNvPr>
          <p:cNvSpPr>
            <a:spLocks noGrp="1"/>
          </p:cNvSpPr>
          <p:nvPr>
            <p:ph type="sldNum" sz="quarter" idx="10"/>
          </p:nvPr>
        </p:nvSpPr>
        <p:spPr/>
        <p:txBody>
          <a:bodyPr/>
          <a:lstStyle/>
          <a:p>
            <a:fld id="{67B19427-F580-D146-B60E-4CADEE75497F}" type="slidenum">
              <a:rPr lang="en-US" smtClean="0"/>
              <a:pPr/>
              <a:t>22</a:t>
            </a:fld>
            <a:endParaRPr lang="en-US" dirty="0"/>
          </a:p>
        </p:txBody>
      </p:sp>
      <p:sp>
        <p:nvSpPr>
          <p:cNvPr id="5" name="Footer Placeholder 4">
            <a:extLst>
              <a:ext uri="{FF2B5EF4-FFF2-40B4-BE49-F238E27FC236}">
                <a16:creationId xmlns:a16="http://schemas.microsoft.com/office/drawing/2014/main" id="{CDA93561-F74A-43FA-B7ED-C37490C84D3B}"/>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40559079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32B30F-1A78-433A-BAA0-FF2C10A3D437}"/>
              </a:ext>
            </a:extLst>
          </p:cNvPr>
          <p:cNvSpPr>
            <a:spLocks noGrp="1"/>
          </p:cNvSpPr>
          <p:nvPr>
            <p:ph type="title"/>
          </p:nvPr>
        </p:nvSpPr>
        <p:spPr>
          <a:xfrm>
            <a:off x="304800" y="762001"/>
            <a:ext cx="8534400" cy="669924"/>
          </a:xfrm>
        </p:spPr>
        <p:txBody>
          <a:bodyPr/>
          <a:lstStyle/>
          <a:p>
            <a:r>
              <a:rPr lang="en-US" b="1" dirty="0">
                <a:ea typeface="Source Sans Pro" charset="0"/>
              </a:rPr>
              <a:t>Common Stock for Services</a:t>
            </a:r>
            <a:endParaRPr lang="en-US" sz="2400" dirty="0"/>
          </a:p>
        </p:txBody>
      </p:sp>
      <p:sp>
        <p:nvSpPr>
          <p:cNvPr id="3" name="Content Placeholder 2">
            <a:extLst>
              <a:ext uri="{FF2B5EF4-FFF2-40B4-BE49-F238E27FC236}">
                <a16:creationId xmlns:a16="http://schemas.microsoft.com/office/drawing/2014/main" id="{92F87F86-306D-4BC9-84CC-42CD82DF412A}"/>
              </a:ext>
            </a:extLst>
          </p:cNvPr>
          <p:cNvSpPr>
            <a:spLocks noGrp="1"/>
          </p:cNvSpPr>
          <p:nvPr>
            <p:ph sz="quarter" idx="16"/>
          </p:nvPr>
        </p:nvSpPr>
        <p:spPr>
          <a:xfrm>
            <a:off x="304800" y="1544096"/>
            <a:ext cx="8534400" cy="1981200"/>
          </a:xfrm>
        </p:spPr>
        <p:txBody>
          <a:bodyPr/>
          <a:lstStyle/>
          <a:p>
            <a:r>
              <a:rPr lang="en-US" sz="2400" b="1" dirty="0"/>
              <a:t>Illustration: </a:t>
            </a:r>
            <a:r>
              <a:rPr lang="en-US" altLang="en-US" sz="2400" dirty="0"/>
              <a:t>Attorneys have helped Jordan Company incorporate. They have billed the company $5,000 for their services. They agree to accept 4,000 shares of $1 par value common stock in payment of their bill. At the time of the exchange, there is no established market price for the stock. Prepare the journal entry for this transaction.</a:t>
            </a:r>
            <a:endParaRPr lang="en-US" sz="2400" dirty="0"/>
          </a:p>
        </p:txBody>
      </p:sp>
      <p:sp>
        <p:nvSpPr>
          <p:cNvPr id="10" name="Content Placeholder 9">
            <a:extLst>
              <a:ext uri="{FF2B5EF4-FFF2-40B4-BE49-F238E27FC236}">
                <a16:creationId xmlns:a16="http://schemas.microsoft.com/office/drawing/2014/main" id="{1A052864-6FA3-4917-BB12-016B22E1CDC9}"/>
              </a:ext>
            </a:extLst>
          </p:cNvPr>
          <p:cNvSpPr>
            <a:spLocks noGrp="1"/>
          </p:cNvSpPr>
          <p:nvPr>
            <p:ph sz="quarter" idx="24"/>
          </p:nvPr>
        </p:nvSpPr>
        <p:spPr>
          <a:xfrm>
            <a:off x="533400" y="3733800"/>
            <a:ext cx="3457024" cy="365125"/>
          </a:xfrm>
        </p:spPr>
        <p:txBody>
          <a:bodyPr/>
          <a:lstStyle/>
          <a:p>
            <a:r>
              <a:rPr lang="en-US" sz="2400" dirty="0">
                <a:solidFill>
                  <a:srgbClr val="000000"/>
                </a:solidFill>
              </a:rPr>
              <a:t>Organizational Expense</a:t>
            </a:r>
            <a:endParaRPr lang="en-US" sz="2400" dirty="0"/>
          </a:p>
        </p:txBody>
      </p:sp>
      <p:sp>
        <p:nvSpPr>
          <p:cNvPr id="11" name="Content Placeholder 10">
            <a:extLst>
              <a:ext uri="{FF2B5EF4-FFF2-40B4-BE49-F238E27FC236}">
                <a16:creationId xmlns:a16="http://schemas.microsoft.com/office/drawing/2014/main" id="{EEAC5FE1-9157-4D87-BE3D-B5B07B8C138E}"/>
              </a:ext>
            </a:extLst>
          </p:cNvPr>
          <p:cNvSpPr>
            <a:spLocks noGrp="1"/>
          </p:cNvSpPr>
          <p:nvPr>
            <p:ph sz="quarter" idx="25"/>
          </p:nvPr>
        </p:nvSpPr>
        <p:spPr>
          <a:xfrm>
            <a:off x="5867400" y="3733800"/>
            <a:ext cx="985562" cy="352425"/>
          </a:xfrm>
        </p:spPr>
        <p:txBody>
          <a:bodyPr/>
          <a:lstStyle/>
          <a:p>
            <a:r>
              <a:rPr lang="en-US" sz="2400" dirty="0">
                <a:solidFill>
                  <a:srgbClr val="000000"/>
                </a:solidFill>
              </a:rPr>
              <a:t>5,000</a:t>
            </a:r>
            <a:endParaRPr lang="en-US" sz="2400" dirty="0"/>
          </a:p>
        </p:txBody>
      </p:sp>
      <p:sp>
        <p:nvSpPr>
          <p:cNvPr id="12" name="Content Placeholder 11">
            <a:extLst>
              <a:ext uri="{FF2B5EF4-FFF2-40B4-BE49-F238E27FC236}">
                <a16:creationId xmlns:a16="http://schemas.microsoft.com/office/drawing/2014/main" id="{72B2DC4E-503F-4A9D-8735-758DFF6117B4}"/>
              </a:ext>
            </a:extLst>
          </p:cNvPr>
          <p:cNvSpPr>
            <a:spLocks noGrp="1"/>
          </p:cNvSpPr>
          <p:nvPr>
            <p:ph sz="quarter" idx="26"/>
          </p:nvPr>
        </p:nvSpPr>
        <p:spPr>
          <a:xfrm>
            <a:off x="838200" y="4130675"/>
            <a:ext cx="3733800" cy="365125"/>
          </a:xfrm>
        </p:spPr>
        <p:txBody>
          <a:bodyPr/>
          <a:lstStyle/>
          <a:p>
            <a:r>
              <a:rPr lang="en-US" sz="2400" dirty="0">
                <a:solidFill>
                  <a:srgbClr val="000000"/>
                </a:solidFill>
              </a:rPr>
              <a:t>Common Stock (4,000 × $1)</a:t>
            </a:r>
            <a:endParaRPr lang="en-US" sz="2400" dirty="0"/>
          </a:p>
        </p:txBody>
      </p:sp>
      <p:sp>
        <p:nvSpPr>
          <p:cNvPr id="13" name="Content Placeholder 12">
            <a:extLst>
              <a:ext uri="{FF2B5EF4-FFF2-40B4-BE49-F238E27FC236}">
                <a16:creationId xmlns:a16="http://schemas.microsoft.com/office/drawing/2014/main" id="{F5EA98BB-E1C7-44FC-8C3D-EC2266A9D34F}"/>
              </a:ext>
            </a:extLst>
          </p:cNvPr>
          <p:cNvSpPr>
            <a:spLocks noGrp="1"/>
          </p:cNvSpPr>
          <p:nvPr>
            <p:ph sz="quarter" idx="27"/>
          </p:nvPr>
        </p:nvSpPr>
        <p:spPr>
          <a:xfrm>
            <a:off x="7310162" y="4098925"/>
            <a:ext cx="914400" cy="365125"/>
          </a:xfrm>
        </p:spPr>
        <p:txBody>
          <a:bodyPr/>
          <a:lstStyle/>
          <a:p>
            <a:r>
              <a:rPr lang="en-US" sz="2400" dirty="0">
                <a:solidFill>
                  <a:srgbClr val="000000"/>
                </a:solidFill>
              </a:rPr>
              <a:t>4,000</a:t>
            </a:r>
            <a:endParaRPr lang="en-US" sz="2400" dirty="0"/>
          </a:p>
        </p:txBody>
      </p:sp>
      <p:sp>
        <p:nvSpPr>
          <p:cNvPr id="15" name="Content Placeholder 14">
            <a:extLst>
              <a:ext uri="{FF2B5EF4-FFF2-40B4-BE49-F238E27FC236}">
                <a16:creationId xmlns:a16="http://schemas.microsoft.com/office/drawing/2014/main" id="{550394B9-59DA-4E09-8527-63F29CB14003}"/>
              </a:ext>
            </a:extLst>
          </p:cNvPr>
          <p:cNvSpPr>
            <a:spLocks noGrp="1"/>
          </p:cNvSpPr>
          <p:nvPr>
            <p:ph sz="quarter" idx="29"/>
          </p:nvPr>
        </p:nvSpPr>
        <p:spPr>
          <a:xfrm>
            <a:off x="838200" y="4556127"/>
            <a:ext cx="4724400" cy="1616073"/>
          </a:xfrm>
        </p:spPr>
        <p:txBody>
          <a:bodyPr/>
          <a:lstStyle/>
          <a:p>
            <a:r>
              <a:rPr lang="en-US" sz="2400" dirty="0">
                <a:solidFill>
                  <a:srgbClr val="000000"/>
                </a:solidFill>
              </a:rPr>
              <a:t>Paid-in Capital in Excess of Par Value—Common Stock</a:t>
            </a:r>
          </a:p>
          <a:p>
            <a:pPr marL="361950">
              <a:spcBef>
                <a:spcPts val="0"/>
              </a:spcBef>
            </a:pPr>
            <a:r>
              <a:rPr lang="en-US" sz="2400" dirty="0"/>
              <a:t>(To record issuance of 4,000 shares of $1 par value stock to attorneys)</a:t>
            </a:r>
          </a:p>
        </p:txBody>
      </p:sp>
      <p:sp>
        <p:nvSpPr>
          <p:cNvPr id="18" name="Content Placeholder 17">
            <a:extLst>
              <a:ext uri="{FF2B5EF4-FFF2-40B4-BE49-F238E27FC236}">
                <a16:creationId xmlns:a16="http://schemas.microsoft.com/office/drawing/2014/main" id="{9E274146-EA48-415E-85EF-AA1ED7BBFBF8}"/>
              </a:ext>
            </a:extLst>
          </p:cNvPr>
          <p:cNvSpPr>
            <a:spLocks noGrp="1"/>
          </p:cNvSpPr>
          <p:nvPr>
            <p:ph sz="quarter" idx="30"/>
          </p:nvPr>
        </p:nvSpPr>
        <p:spPr>
          <a:xfrm>
            <a:off x="7320209" y="4531808"/>
            <a:ext cx="914400" cy="365126"/>
          </a:xfrm>
        </p:spPr>
        <p:txBody>
          <a:bodyPr/>
          <a:lstStyle/>
          <a:p>
            <a:r>
              <a:rPr lang="en-US" altLang="en-US" sz="2400" dirty="0">
                <a:solidFill>
                  <a:srgbClr val="000000"/>
                </a:solidFill>
              </a:rPr>
              <a:t>1,000</a:t>
            </a:r>
            <a:endParaRPr lang="en-US" sz="2400" dirty="0"/>
          </a:p>
        </p:txBody>
      </p:sp>
      <p:sp>
        <p:nvSpPr>
          <p:cNvPr id="23" name="Slide Number Placeholder 22">
            <a:extLst>
              <a:ext uri="{FF2B5EF4-FFF2-40B4-BE49-F238E27FC236}">
                <a16:creationId xmlns:a16="http://schemas.microsoft.com/office/drawing/2014/main" id="{C3ADB033-D6E5-42A2-AA75-5772CD252CDF}"/>
              </a:ext>
            </a:extLst>
          </p:cNvPr>
          <p:cNvSpPr>
            <a:spLocks noGrp="1"/>
          </p:cNvSpPr>
          <p:nvPr>
            <p:ph type="sldNum" sz="quarter" idx="10"/>
          </p:nvPr>
        </p:nvSpPr>
        <p:spPr/>
        <p:txBody>
          <a:bodyPr/>
          <a:lstStyle/>
          <a:p>
            <a:fld id="{67B19427-F580-D146-B60E-4CADEE75497F}" type="slidenum">
              <a:rPr lang="en-US" smtClean="0"/>
              <a:pPr/>
              <a:t>23</a:t>
            </a:fld>
            <a:endParaRPr lang="en-US" dirty="0"/>
          </a:p>
        </p:txBody>
      </p:sp>
      <p:sp>
        <p:nvSpPr>
          <p:cNvPr id="24" name="Footer Placeholder 23">
            <a:extLst>
              <a:ext uri="{FF2B5EF4-FFF2-40B4-BE49-F238E27FC236}">
                <a16:creationId xmlns:a16="http://schemas.microsoft.com/office/drawing/2014/main" id="{F0618A2A-3150-4FE5-BE3A-BE7ACB108CB4}"/>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180768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xEl>
                                              <p:pRg st="0" end="0"/>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
                                            <p:txEl>
                                              <p:pRg st="0" end="0"/>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5">
                                            <p:txEl>
                                              <p:pRg st="1" end="1"/>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P spid="11" grpId="0" build="p"/>
      <p:bldP spid="12" grpId="0" build="p"/>
      <p:bldP spid="13" grpId="0" build="p"/>
      <p:bldP spid="15" grpId="0" uiExpand="1" build="p"/>
      <p:bldP spid="18"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32B30F-1A78-433A-BAA0-FF2C10A3D437}"/>
              </a:ext>
            </a:extLst>
          </p:cNvPr>
          <p:cNvSpPr>
            <a:spLocks noGrp="1"/>
          </p:cNvSpPr>
          <p:nvPr>
            <p:ph type="title"/>
          </p:nvPr>
        </p:nvSpPr>
        <p:spPr>
          <a:xfrm>
            <a:off x="304800" y="762001"/>
            <a:ext cx="8534400" cy="685799"/>
          </a:xfrm>
        </p:spPr>
        <p:txBody>
          <a:bodyPr/>
          <a:lstStyle/>
          <a:p>
            <a:r>
              <a:rPr lang="en-US" b="1" dirty="0">
                <a:ea typeface="Source Sans Pro" charset="0"/>
              </a:rPr>
              <a:t>Common Stock for </a:t>
            </a:r>
            <a:r>
              <a:rPr lang="en-US" b="1">
                <a:ea typeface="Source Sans Pro" charset="0"/>
              </a:rPr>
              <a:t>Noncash Assets</a:t>
            </a:r>
            <a:endParaRPr lang="en-US" sz="2400" dirty="0"/>
          </a:p>
        </p:txBody>
      </p:sp>
      <p:sp>
        <p:nvSpPr>
          <p:cNvPr id="3" name="Content Placeholder 2">
            <a:extLst>
              <a:ext uri="{FF2B5EF4-FFF2-40B4-BE49-F238E27FC236}">
                <a16:creationId xmlns:a16="http://schemas.microsoft.com/office/drawing/2014/main" id="{92F87F86-306D-4BC9-84CC-42CD82DF412A}"/>
              </a:ext>
            </a:extLst>
          </p:cNvPr>
          <p:cNvSpPr>
            <a:spLocks noGrp="1"/>
          </p:cNvSpPr>
          <p:nvPr>
            <p:ph sz="quarter" idx="16"/>
          </p:nvPr>
        </p:nvSpPr>
        <p:spPr>
          <a:xfrm>
            <a:off x="304800" y="1600200"/>
            <a:ext cx="8534400" cy="1797050"/>
          </a:xfrm>
        </p:spPr>
        <p:txBody>
          <a:bodyPr/>
          <a:lstStyle/>
          <a:p>
            <a:r>
              <a:rPr lang="en-US" sz="2400" b="1" dirty="0"/>
              <a:t>Illustration: </a:t>
            </a:r>
            <a:r>
              <a:rPr lang="en-US" altLang="en-US" sz="2400" dirty="0"/>
              <a:t>Athletic Research Inc. is an existing publicly held corporation. Its $5 par value stock is actively traded at $8 per share. The company issues 10,000 shares of stock to acquire land recently advertised for sale at $90,000. Prepare the journal entry for this transaction.</a:t>
            </a:r>
            <a:endParaRPr lang="en-US" sz="2400" dirty="0"/>
          </a:p>
        </p:txBody>
      </p:sp>
      <p:sp>
        <p:nvSpPr>
          <p:cNvPr id="10" name="Content Placeholder 9">
            <a:extLst>
              <a:ext uri="{FF2B5EF4-FFF2-40B4-BE49-F238E27FC236}">
                <a16:creationId xmlns:a16="http://schemas.microsoft.com/office/drawing/2014/main" id="{1A052864-6FA3-4917-BB12-016B22E1CDC9}"/>
              </a:ext>
            </a:extLst>
          </p:cNvPr>
          <p:cNvSpPr>
            <a:spLocks noGrp="1"/>
          </p:cNvSpPr>
          <p:nvPr>
            <p:ph sz="quarter" idx="24"/>
          </p:nvPr>
        </p:nvSpPr>
        <p:spPr>
          <a:xfrm>
            <a:off x="609600" y="3581400"/>
            <a:ext cx="3457024" cy="365125"/>
          </a:xfrm>
        </p:spPr>
        <p:txBody>
          <a:bodyPr/>
          <a:lstStyle/>
          <a:p>
            <a:r>
              <a:rPr lang="en-US" sz="2400" dirty="0">
                <a:solidFill>
                  <a:srgbClr val="000000"/>
                </a:solidFill>
              </a:rPr>
              <a:t>Land</a:t>
            </a:r>
            <a:endParaRPr lang="en-US" sz="2400" dirty="0"/>
          </a:p>
        </p:txBody>
      </p:sp>
      <p:sp>
        <p:nvSpPr>
          <p:cNvPr id="11" name="Content Placeholder 10">
            <a:extLst>
              <a:ext uri="{FF2B5EF4-FFF2-40B4-BE49-F238E27FC236}">
                <a16:creationId xmlns:a16="http://schemas.microsoft.com/office/drawing/2014/main" id="{EEAC5FE1-9157-4D87-BE3D-B5B07B8C138E}"/>
              </a:ext>
            </a:extLst>
          </p:cNvPr>
          <p:cNvSpPr>
            <a:spLocks noGrp="1"/>
          </p:cNvSpPr>
          <p:nvPr>
            <p:ph sz="quarter" idx="25"/>
          </p:nvPr>
        </p:nvSpPr>
        <p:spPr>
          <a:xfrm>
            <a:off x="5763975" y="3581400"/>
            <a:ext cx="1109938" cy="352425"/>
          </a:xfrm>
        </p:spPr>
        <p:txBody>
          <a:bodyPr/>
          <a:lstStyle/>
          <a:p>
            <a:r>
              <a:rPr lang="en-US" sz="2400" dirty="0">
                <a:solidFill>
                  <a:srgbClr val="000000"/>
                </a:solidFill>
              </a:rPr>
              <a:t>80,000</a:t>
            </a:r>
            <a:endParaRPr lang="en-US" sz="2400" dirty="0"/>
          </a:p>
        </p:txBody>
      </p:sp>
      <p:sp>
        <p:nvSpPr>
          <p:cNvPr id="12" name="Content Placeholder 11">
            <a:extLst>
              <a:ext uri="{FF2B5EF4-FFF2-40B4-BE49-F238E27FC236}">
                <a16:creationId xmlns:a16="http://schemas.microsoft.com/office/drawing/2014/main" id="{72B2DC4E-503F-4A9D-8735-758DFF6117B4}"/>
              </a:ext>
            </a:extLst>
          </p:cNvPr>
          <p:cNvSpPr>
            <a:spLocks noGrp="1"/>
          </p:cNvSpPr>
          <p:nvPr>
            <p:ph sz="quarter" idx="26"/>
          </p:nvPr>
        </p:nvSpPr>
        <p:spPr>
          <a:xfrm>
            <a:off x="858296" y="3938046"/>
            <a:ext cx="4038600" cy="365125"/>
          </a:xfrm>
        </p:spPr>
        <p:txBody>
          <a:bodyPr/>
          <a:lstStyle/>
          <a:p>
            <a:r>
              <a:rPr lang="en-US" sz="2400" dirty="0">
                <a:solidFill>
                  <a:srgbClr val="000000"/>
                </a:solidFill>
              </a:rPr>
              <a:t>Common Stock (10,000 × $5)</a:t>
            </a:r>
            <a:endParaRPr lang="en-US" sz="2400" dirty="0"/>
          </a:p>
        </p:txBody>
      </p:sp>
      <p:sp>
        <p:nvSpPr>
          <p:cNvPr id="13" name="Content Placeholder 12">
            <a:extLst>
              <a:ext uri="{FF2B5EF4-FFF2-40B4-BE49-F238E27FC236}">
                <a16:creationId xmlns:a16="http://schemas.microsoft.com/office/drawing/2014/main" id="{F5EA98BB-E1C7-44FC-8C3D-EC2266A9D34F}"/>
              </a:ext>
            </a:extLst>
          </p:cNvPr>
          <p:cNvSpPr>
            <a:spLocks noGrp="1"/>
          </p:cNvSpPr>
          <p:nvPr>
            <p:ph sz="quarter" idx="27"/>
          </p:nvPr>
        </p:nvSpPr>
        <p:spPr>
          <a:xfrm>
            <a:off x="6970209" y="3906296"/>
            <a:ext cx="1142999" cy="365125"/>
          </a:xfrm>
        </p:spPr>
        <p:txBody>
          <a:bodyPr/>
          <a:lstStyle/>
          <a:p>
            <a:r>
              <a:rPr lang="en-US" sz="2400" dirty="0">
                <a:solidFill>
                  <a:srgbClr val="000000"/>
                </a:solidFill>
              </a:rPr>
              <a:t>50,000</a:t>
            </a:r>
            <a:endParaRPr lang="en-US" sz="2400" dirty="0"/>
          </a:p>
        </p:txBody>
      </p:sp>
      <p:sp>
        <p:nvSpPr>
          <p:cNvPr id="15" name="Content Placeholder 14">
            <a:extLst>
              <a:ext uri="{FF2B5EF4-FFF2-40B4-BE49-F238E27FC236}">
                <a16:creationId xmlns:a16="http://schemas.microsoft.com/office/drawing/2014/main" id="{550394B9-59DA-4E09-8527-63F29CB14003}"/>
              </a:ext>
            </a:extLst>
          </p:cNvPr>
          <p:cNvSpPr>
            <a:spLocks noGrp="1"/>
          </p:cNvSpPr>
          <p:nvPr>
            <p:ph sz="quarter" idx="29"/>
          </p:nvPr>
        </p:nvSpPr>
        <p:spPr>
          <a:xfrm>
            <a:off x="838200" y="4343399"/>
            <a:ext cx="4833662" cy="1752600"/>
          </a:xfrm>
        </p:spPr>
        <p:txBody>
          <a:bodyPr/>
          <a:lstStyle/>
          <a:p>
            <a:r>
              <a:rPr lang="en-US" sz="2400" dirty="0">
                <a:solidFill>
                  <a:srgbClr val="000000"/>
                </a:solidFill>
              </a:rPr>
              <a:t>Paid-in Capital in Excess of Par Value—Common Stock</a:t>
            </a:r>
          </a:p>
          <a:p>
            <a:pPr marL="361950">
              <a:spcBef>
                <a:spcPts val="0"/>
              </a:spcBef>
            </a:pPr>
            <a:r>
              <a:rPr lang="en-US" sz="2400" dirty="0"/>
              <a:t>(To record issuance of 10,000 shares of $5 par value stock for land)</a:t>
            </a:r>
          </a:p>
        </p:txBody>
      </p:sp>
      <p:sp>
        <p:nvSpPr>
          <p:cNvPr id="18" name="Content Placeholder 17">
            <a:extLst>
              <a:ext uri="{FF2B5EF4-FFF2-40B4-BE49-F238E27FC236}">
                <a16:creationId xmlns:a16="http://schemas.microsoft.com/office/drawing/2014/main" id="{9E274146-EA48-415E-85EF-AA1ED7BBFBF8}"/>
              </a:ext>
            </a:extLst>
          </p:cNvPr>
          <p:cNvSpPr>
            <a:spLocks noGrp="1"/>
          </p:cNvSpPr>
          <p:nvPr>
            <p:ph sz="quarter" idx="30"/>
          </p:nvPr>
        </p:nvSpPr>
        <p:spPr>
          <a:xfrm>
            <a:off x="6990305" y="4343400"/>
            <a:ext cx="1163095" cy="365126"/>
          </a:xfrm>
        </p:spPr>
        <p:txBody>
          <a:bodyPr/>
          <a:lstStyle/>
          <a:p>
            <a:r>
              <a:rPr lang="en-US" altLang="en-US" sz="2400" dirty="0">
                <a:solidFill>
                  <a:srgbClr val="000000"/>
                </a:solidFill>
              </a:rPr>
              <a:t>30,000</a:t>
            </a:r>
            <a:endParaRPr lang="en-US" sz="2400" dirty="0"/>
          </a:p>
        </p:txBody>
      </p:sp>
      <p:sp>
        <p:nvSpPr>
          <p:cNvPr id="23" name="Slide Number Placeholder 22">
            <a:extLst>
              <a:ext uri="{FF2B5EF4-FFF2-40B4-BE49-F238E27FC236}">
                <a16:creationId xmlns:a16="http://schemas.microsoft.com/office/drawing/2014/main" id="{C3ADB033-D6E5-42A2-AA75-5772CD252CDF}"/>
              </a:ext>
            </a:extLst>
          </p:cNvPr>
          <p:cNvSpPr>
            <a:spLocks noGrp="1"/>
          </p:cNvSpPr>
          <p:nvPr>
            <p:ph type="sldNum" sz="quarter" idx="10"/>
          </p:nvPr>
        </p:nvSpPr>
        <p:spPr/>
        <p:txBody>
          <a:bodyPr/>
          <a:lstStyle/>
          <a:p>
            <a:fld id="{67B19427-F580-D146-B60E-4CADEE75497F}" type="slidenum">
              <a:rPr lang="en-US" smtClean="0"/>
              <a:pPr/>
              <a:t>24</a:t>
            </a:fld>
            <a:endParaRPr lang="en-US" dirty="0"/>
          </a:p>
        </p:txBody>
      </p:sp>
      <p:sp>
        <p:nvSpPr>
          <p:cNvPr id="24" name="Footer Placeholder 23">
            <a:extLst>
              <a:ext uri="{FF2B5EF4-FFF2-40B4-BE49-F238E27FC236}">
                <a16:creationId xmlns:a16="http://schemas.microsoft.com/office/drawing/2014/main" id="{F0618A2A-3150-4FE5-BE3A-BE7ACB108CB4}"/>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330300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xEl>
                                              <p:pRg st="0" end="0"/>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
                                            <p:txEl>
                                              <p:pRg st="0" end="0"/>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5">
                                            <p:txEl>
                                              <p:pRg st="1" end="1"/>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P spid="11" grpId="0" build="p"/>
      <p:bldP spid="12" grpId="0" build="p"/>
      <p:bldP spid="13" grpId="0" build="p"/>
      <p:bldP spid="15" grpId="0" uiExpand="1" build="p"/>
      <p:bldP spid="18"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F36C81-B802-4B52-9526-C87BAC29D6C7}"/>
              </a:ext>
            </a:extLst>
          </p:cNvPr>
          <p:cNvSpPr>
            <a:spLocks noGrp="1"/>
          </p:cNvSpPr>
          <p:nvPr>
            <p:ph type="title"/>
          </p:nvPr>
        </p:nvSpPr>
        <p:spPr/>
        <p:txBody>
          <a:bodyPr/>
          <a:lstStyle/>
          <a:p>
            <a:r>
              <a:rPr lang="en-US" b="1" dirty="0">
                <a:latin typeface="Calibri" panose="020F0502020204030204" pitchFamily="34" charset="0"/>
                <a:ea typeface="Source Sans Pro" charset="0"/>
                <a:cs typeface="Calibri" panose="020F0502020204030204" pitchFamily="34" charset="0"/>
              </a:rPr>
              <a:t>Accounting for Preferred Stock</a:t>
            </a:r>
            <a:endParaRPr lang="en-US" sz="2400" dirty="0"/>
          </a:p>
        </p:txBody>
      </p:sp>
      <p:sp>
        <p:nvSpPr>
          <p:cNvPr id="3" name="Content Placeholder 2">
            <a:extLst>
              <a:ext uri="{FF2B5EF4-FFF2-40B4-BE49-F238E27FC236}">
                <a16:creationId xmlns:a16="http://schemas.microsoft.com/office/drawing/2014/main" id="{FF5837EF-CD6A-4FCE-91C6-9D05B76A1C89}"/>
              </a:ext>
            </a:extLst>
          </p:cNvPr>
          <p:cNvSpPr>
            <a:spLocks noGrp="1"/>
          </p:cNvSpPr>
          <p:nvPr>
            <p:ph sz="quarter" idx="16"/>
          </p:nvPr>
        </p:nvSpPr>
        <p:spPr>
          <a:xfrm>
            <a:off x="304800" y="1828800"/>
            <a:ext cx="8534400" cy="1447800"/>
          </a:xfrm>
        </p:spPr>
        <p:txBody>
          <a:bodyPr/>
          <a:lstStyle/>
          <a:p>
            <a:r>
              <a:rPr lang="en-US" altLang="en-US" sz="2600" dirty="0"/>
              <a:t>Typically, preferred stockholders have a priority as to:</a:t>
            </a:r>
          </a:p>
          <a:p>
            <a:pPr marL="402336" indent="-402336">
              <a:buClr>
                <a:schemeClr val="accent2"/>
              </a:buClr>
              <a:buFont typeface="+mj-lt"/>
              <a:buAutoNum type="arabicPeriod"/>
            </a:pPr>
            <a:r>
              <a:rPr lang="en-US" altLang="en-US" sz="2600" dirty="0"/>
              <a:t>Distributions of earnings (dividends).</a:t>
            </a:r>
          </a:p>
          <a:p>
            <a:pPr marL="402336" indent="-402336">
              <a:buClr>
                <a:schemeClr val="accent2"/>
              </a:buClr>
              <a:buFont typeface="+mj-lt"/>
              <a:buAutoNum type="arabicPeriod"/>
            </a:pPr>
            <a:r>
              <a:rPr lang="en-US" altLang="en-US" sz="2600" dirty="0"/>
              <a:t>Assets in event of liquidation.</a:t>
            </a:r>
          </a:p>
        </p:txBody>
      </p:sp>
      <p:sp>
        <p:nvSpPr>
          <p:cNvPr id="7" name="Content Placeholder 6"/>
          <p:cNvSpPr>
            <a:spLocks noGrp="1"/>
          </p:cNvSpPr>
          <p:nvPr>
            <p:ph sz="quarter" idx="18"/>
          </p:nvPr>
        </p:nvSpPr>
        <p:spPr>
          <a:xfrm>
            <a:off x="313267" y="3276600"/>
            <a:ext cx="8297333" cy="1371600"/>
          </a:xfrm>
        </p:spPr>
        <p:txBody>
          <a:bodyPr/>
          <a:lstStyle/>
          <a:p>
            <a:r>
              <a:rPr lang="en-US" altLang="en-US" sz="2600" dirty="0"/>
              <a:t>Generally do not have voting rights.</a:t>
            </a:r>
          </a:p>
          <a:p>
            <a:r>
              <a:rPr lang="en-US" altLang="en-US" sz="2600" dirty="0"/>
              <a:t>Accounting for preferred stock at issuance is similar to that for common stock.</a:t>
            </a:r>
          </a:p>
        </p:txBody>
      </p:sp>
      <p:sp>
        <p:nvSpPr>
          <p:cNvPr id="4" name="Slide Number Placeholder 3">
            <a:extLst>
              <a:ext uri="{FF2B5EF4-FFF2-40B4-BE49-F238E27FC236}">
                <a16:creationId xmlns:a16="http://schemas.microsoft.com/office/drawing/2014/main" id="{95BC6AFE-8C19-473B-83C7-E330DC9AA5B0}"/>
              </a:ext>
            </a:extLst>
          </p:cNvPr>
          <p:cNvSpPr>
            <a:spLocks noGrp="1"/>
          </p:cNvSpPr>
          <p:nvPr>
            <p:ph type="sldNum" sz="quarter" idx="10"/>
          </p:nvPr>
        </p:nvSpPr>
        <p:spPr/>
        <p:txBody>
          <a:bodyPr/>
          <a:lstStyle/>
          <a:p>
            <a:fld id="{67B19427-F580-D146-B60E-4CADEE75497F}" type="slidenum">
              <a:rPr lang="en-US" smtClean="0"/>
              <a:pPr/>
              <a:t>25</a:t>
            </a:fld>
            <a:endParaRPr lang="en-US" dirty="0"/>
          </a:p>
        </p:txBody>
      </p:sp>
      <p:sp>
        <p:nvSpPr>
          <p:cNvPr id="5" name="Footer Placeholder 4">
            <a:extLst>
              <a:ext uri="{FF2B5EF4-FFF2-40B4-BE49-F238E27FC236}">
                <a16:creationId xmlns:a16="http://schemas.microsoft.com/office/drawing/2014/main" id="{43413C1F-1064-4268-8035-9E603F5879DC}"/>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37953826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32B30F-1A78-433A-BAA0-FF2C10A3D437}"/>
              </a:ext>
            </a:extLst>
          </p:cNvPr>
          <p:cNvSpPr>
            <a:spLocks noGrp="1"/>
          </p:cNvSpPr>
          <p:nvPr>
            <p:ph type="title"/>
          </p:nvPr>
        </p:nvSpPr>
        <p:spPr>
          <a:xfrm>
            <a:off x="304800" y="762001"/>
            <a:ext cx="8534400" cy="742949"/>
          </a:xfrm>
        </p:spPr>
        <p:txBody>
          <a:bodyPr/>
          <a:lstStyle/>
          <a:p>
            <a:r>
              <a:rPr lang="en-US" b="1" dirty="0">
                <a:latin typeface="Calibri" panose="020F0502020204030204" pitchFamily="34" charset="0"/>
                <a:ea typeface="Source Sans Pro" charset="0"/>
                <a:cs typeface="Calibri" panose="020F0502020204030204" pitchFamily="34" charset="0"/>
              </a:rPr>
              <a:t>Accounting for Preferred Stock</a:t>
            </a:r>
            <a:endParaRPr lang="en-US" sz="2400" dirty="0"/>
          </a:p>
        </p:txBody>
      </p:sp>
      <p:sp>
        <p:nvSpPr>
          <p:cNvPr id="3" name="Content Placeholder 2">
            <a:extLst>
              <a:ext uri="{FF2B5EF4-FFF2-40B4-BE49-F238E27FC236}">
                <a16:creationId xmlns:a16="http://schemas.microsoft.com/office/drawing/2014/main" id="{92F87F86-306D-4BC9-84CC-42CD82DF412A}"/>
              </a:ext>
            </a:extLst>
          </p:cNvPr>
          <p:cNvSpPr>
            <a:spLocks noGrp="1"/>
          </p:cNvSpPr>
          <p:nvPr>
            <p:ph sz="quarter" idx="16"/>
          </p:nvPr>
        </p:nvSpPr>
        <p:spPr>
          <a:xfrm>
            <a:off x="304800" y="1600200"/>
            <a:ext cx="8534400" cy="1082675"/>
          </a:xfrm>
        </p:spPr>
        <p:txBody>
          <a:bodyPr/>
          <a:lstStyle/>
          <a:p>
            <a:r>
              <a:rPr lang="en-US" sz="2400" b="1" dirty="0"/>
              <a:t>Illustration: </a:t>
            </a:r>
            <a:r>
              <a:rPr lang="en-US" altLang="en-US" sz="2400" dirty="0"/>
              <a:t>Stine Corporation issues 10,000 shares of $10 par value preferred stock for $12 cash per share. The journal entry to record the issuance is:</a:t>
            </a:r>
            <a:endParaRPr lang="en-US" sz="2400" dirty="0"/>
          </a:p>
        </p:txBody>
      </p:sp>
      <p:sp>
        <p:nvSpPr>
          <p:cNvPr id="5" name="Content Placeholder 4">
            <a:extLst>
              <a:ext uri="{FF2B5EF4-FFF2-40B4-BE49-F238E27FC236}">
                <a16:creationId xmlns:a16="http://schemas.microsoft.com/office/drawing/2014/main" id="{395EA216-5CD6-40C1-AD85-1D6797CE0830}"/>
              </a:ext>
            </a:extLst>
          </p:cNvPr>
          <p:cNvSpPr>
            <a:spLocks noGrp="1"/>
          </p:cNvSpPr>
          <p:nvPr>
            <p:ph sz="quarter" idx="18"/>
          </p:nvPr>
        </p:nvSpPr>
        <p:spPr>
          <a:xfrm>
            <a:off x="810176" y="3048000"/>
            <a:ext cx="3337686" cy="365125"/>
          </a:xfrm>
        </p:spPr>
        <p:txBody>
          <a:bodyPr/>
          <a:lstStyle/>
          <a:p>
            <a:r>
              <a:rPr lang="en-US" sz="2400" dirty="0">
                <a:solidFill>
                  <a:srgbClr val="000000"/>
                </a:solidFill>
              </a:rPr>
              <a:t>Cash</a:t>
            </a:r>
            <a:endParaRPr lang="en-US" sz="2400" dirty="0"/>
          </a:p>
        </p:txBody>
      </p:sp>
      <p:sp>
        <p:nvSpPr>
          <p:cNvPr id="6" name="Content Placeholder 5">
            <a:extLst>
              <a:ext uri="{FF2B5EF4-FFF2-40B4-BE49-F238E27FC236}">
                <a16:creationId xmlns:a16="http://schemas.microsoft.com/office/drawing/2014/main" id="{74677936-E1F4-4393-B394-610192906DDA}"/>
              </a:ext>
            </a:extLst>
          </p:cNvPr>
          <p:cNvSpPr>
            <a:spLocks noGrp="1"/>
          </p:cNvSpPr>
          <p:nvPr>
            <p:ph sz="quarter" idx="19"/>
          </p:nvPr>
        </p:nvSpPr>
        <p:spPr>
          <a:xfrm>
            <a:off x="5791200" y="3048000"/>
            <a:ext cx="1263118" cy="365125"/>
          </a:xfrm>
        </p:spPr>
        <p:txBody>
          <a:bodyPr/>
          <a:lstStyle/>
          <a:p>
            <a:r>
              <a:rPr lang="en-US" sz="2400" dirty="0">
                <a:solidFill>
                  <a:srgbClr val="000000"/>
                </a:solidFill>
              </a:rPr>
              <a:t>120,000</a:t>
            </a:r>
            <a:endParaRPr lang="en-US" sz="2400" dirty="0"/>
          </a:p>
        </p:txBody>
      </p:sp>
      <p:sp>
        <p:nvSpPr>
          <p:cNvPr id="7" name="Content Placeholder 6">
            <a:extLst>
              <a:ext uri="{FF2B5EF4-FFF2-40B4-BE49-F238E27FC236}">
                <a16:creationId xmlns:a16="http://schemas.microsoft.com/office/drawing/2014/main" id="{28E41115-8F69-4A15-B994-CF108346BC18}"/>
              </a:ext>
            </a:extLst>
          </p:cNvPr>
          <p:cNvSpPr>
            <a:spLocks noGrp="1"/>
          </p:cNvSpPr>
          <p:nvPr>
            <p:ph sz="quarter" idx="21"/>
          </p:nvPr>
        </p:nvSpPr>
        <p:spPr>
          <a:xfrm>
            <a:off x="1066800" y="3408905"/>
            <a:ext cx="5715000" cy="365124"/>
          </a:xfrm>
        </p:spPr>
        <p:txBody>
          <a:bodyPr/>
          <a:lstStyle/>
          <a:p>
            <a:r>
              <a:rPr lang="en-US" sz="2400" dirty="0">
                <a:solidFill>
                  <a:srgbClr val="000000"/>
                </a:solidFill>
              </a:rPr>
              <a:t>Preferred Stock (10,000 × $10)</a:t>
            </a:r>
            <a:endParaRPr lang="en-US" sz="2400" dirty="0"/>
          </a:p>
        </p:txBody>
      </p:sp>
      <p:sp>
        <p:nvSpPr>
          <p:cNvPr id="8" name="Content Placeholder 7">
            <a:extLst>
              <a:ext uri="{FF2B5EF4-FFF2-40B4-BE49-F238E27FC236}">
                <a16:creationId xmlns:a16="http://schemas.microsoft.com/office/drawing/2014/main" id="{4E4CC3F7-162F-4B2A-9872-E35A90C7AD4B}"/>
              </a:ext>
            </a:extLst>
          </p:cNvPr>
          <p:cNvSpPr>
            <a:spLocks noGrp="1"/>
          </p:cNvSpPr>
          <p:nvPr>
            <p:ph sz="quarter" idx="22"/>
          </p:nvPr>
        </p:nvSpPr>
        <p:spPr>
          <a:xfrm>
            <a:off x="6894791" y="3408904"/>
            <a:ext cx="1219200" cy="365125"/>
          </a:xfrm>
        </p:spPr>
        <p:txBody>
          <a:bodyPr/>
          <a:lstStyle/>
          <a:p>
            <a:r>
              <a:rPr lang="en-US" sz="2400" dirty="0">
                <a:solidFill>
                  <a:srgbClr val="000000"/>
                </a:solidFill>
              </a:rPr>
              <a:t>100,000</a:t>
            </a:r>
            <a:endParaRPr lang="en-US" sz="2400" dirty="0"/>
          </a:p>
        </p:txBody>
      </p:sp>
      <p:sp>
        <p:nvSpPr>
          <p:cNvPr id="10" name="Content Placeholder 9">
            <a:extLst>
              <a:ext uri="{FF2B5EF4-FFF2-40B4-BE49-F238E27FC236}">
                <a16:creationId xmlns:a16="http://schemas.microsoft.com/office/drawing/2014/main" id="{1A052864-6FA3-4917-BB12-016B22E1CDC9}"/>
              </a:ext>
            </a:extLst>
          </p:cNvPr>
          <p:cNvSpPr>
            <a:spLocks noGrp="1"/>
          </p:cNvSpPr>
          <p:nvPr>
            <p:ph sz="quarter" idx="24"/>
          </p:nvPr>
        </p:nvSpPr>
        <p:spPr>
          <a:xfrm>
            <a:off x="1066800" y="3774028"/>
            <a:ext cx="4196038" cy="1728247"/>
          </a:xfrm>
        </p:spPr>
        <p:txBody>
          <a:bodyPr/>
          <a:lstStyle/>
          <a:p>
            <a:r>
              <a:rPr lang="en-US" sz="2400" dirty="0">
                <a:solidFill>
                  <a:srgbClr val="000000"/>
                </a:solidFill>
              </a:rPr>
              <a:t>Paid-in Capital in Excess of Par Value—Preferred Stock</a:t>
            </a:r>
          </a:p>
          <a:p>
            <a:pPr marL="271463">
              <a:spcBef>
                <a:spcPts val="0"/>
              </a:spcBef>
            </a:pPr>
            <a:r>
              <a:rPr lang="en-US" sz="2400" dirty="0"/>
              <a:t>(To record the issuance of 10,000 shares of $10 par value preferred stock)</a:t>
            </a:r>
          </a:p>
        </p:txBody>
      </p:sp>
      <p:sp>
        <p:nvSpPr>
          <p:cNvPr id="11" name="Content Placeholder 10">
            <a:extLst>
              <a:ext uri="{FF2B5EF4-FFF2-40B4-BE49-F238E27FC236}">
                <a16:creationId xmlns:a16="http://schemas.microsoft.com/office/drawing/2014/main" id="{EEAC5FE1-9157-4D87-BE3D-B5B07B8C138E}"/>
              </a:ext>
            </a:extLst>
          </p:cNvPr>
          <p:cNvSpPr>
            <a:spLocks noGrp="1"/>
          </p:cNvSpPr>
          <p:nvPr>
            <p:ph sz="quarter" idx="25"/>
          </p:nvPr>
        </p:nvSpPr>
        <p:spPr>
          <a:xfrm>
            <a:off x="7054317" y="3913729"/>
            <a:ext cx="1219201" cy="441325"/>
          </a:xfrm>
        </p:spPr>
        <p:txBody>
          <a:bodyPr/>
          <a:lstStyle/>
          <a:p>
            <a:r>
              <a:rPr lang="en-US" sz="2400" dirty="0">
                <a:solidFill>
                  <a:srgbClr val="000000"/>
                </a:solidFill>
              </a:rPr>
              <a:t>20,000</a:t>
            </a:r>
            <a:endParaRPr lang="en-US" sz="2400" dirty="0"/>
          </a:p>
        </p:txBody>
      </p:sp>
      <p:sp>
        <p:nvSpPr>
          <p:cNvPr id="12" name="Content Placeholder 11">
            <a:extLst>
              <a:ext uri="{FF2B5EF4-FFF2-40B4-BE49-F238E27FC236}">
                <a16:creationId xmlns:a16="http://schemas.microsoft.com/office/drawing/2014/main" id="{72B2DC4E-503F-4A9D-8735-758DFF6117B4}"/>
              </a:ext>
            </a:extLst>
          </p:cNvPr>
          <p:cNvSpPr>
            <a:spLocks noGrp="1"/>
          </p:cNvSpPr>
          <p:nvPr>
            <p:ph sz="quarter" idx="26"/>
          </p:nvPr>
        </p:nvSpPr>
        <p:spPr>
          <a:xfrm>
            <a:off x="304800" y="5791200"/>
            <a:ext cx="8534400" cy="365125"/>
          </a:xfrm>
        </p:spPr>
        <p:txBody>
          <a:bodyPr/>
          <a:lstStyle/>
          <a:p>
            <a:r>
              <a:rPr lang="en-US" sz="2400" dirty="0">
                <a:solidFill>
                  <a:srgbClr val="000000"/>
                </a:solidFill>
              </a:rPr>
              <a:t>Preferred stock may have a par value or no-par value.</a:t>
            </a:r>
            <a:endParaRPr lang="en-US" sz="2400" dirty="0"/>
          </a:p>
        </p:txBody>
      </p:sp>
      <p:sp>
        <p:nvSpPr>
          <p:cNvPr id="23" name="Slide Number Placeholder 22">
            <a:extLst>
              <a:ext uri="{FF2B5EF4-FFF2-40B4-BE49-F238E27FC236}">
                <a16:creationId xmlns:a16="http://schemas.microsoft.com/office/drawing/2014/main" id="{C3ADB033-D6E5-42A2-AA75-5772CD252CDF}"/>
              </a:ext>
            </a:extLst>
          </p:cNvPr>
          <p:cNvSpPr>
            <a:spLocks noGrp="1"/>
          </p:cNvSpPr>
          <p:nvPr>
            <p:ph type="sldNum" sz="quarter" idx="10"/>
          </p:nvPr>
        </p:nvSpPr>
        <p:spPr/>
        <p:txBody>
          <a:bodyPr/>
          <a:lstStyle/>
          <a:p>
            <a:fld id="{67B19427-F580-D146-B60E-4CADEE75497F}" type="slidenum">
              <a:rPr lang="en-US" smtClean="0"/>
              <a:pPr/>
              <a:t>26</a:t>
            </a:fld>
            <a:endParaRPr lang="en-US" dirty="0"/>
          </a:p>
        </p:txBody>
      </p:sp>
      <p:sp>
        <p:nvSpPr>
          <p:cNvPr id="24" name="Footer Placeholder 23">
            <a:extLst>
              <a:ext uri="{FF2B5EF4-FFF2-40B4-BE49-F238E27FC236}">
                <a16:creationId xmlns:a16="http://schemas.microsoft.com/office/drawing/2014/main" id="{F0618A2A-3150-4FE5-BE3A-BE7ACB108CB4}"/>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23849508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xEl>
                                              <p:pRg st="0" end="0"/>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xEl>
                                              <p:pRg st="0" end="0"/>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xEl>
                                              <p:pRg st="1" end="1"/>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xEl>
                                              <p:pRg st="0" end="0"/>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6" grpId="0" build="p"/>
      <p:bldP spid="7" grpId="0" build="p"/>
      <p:bldP spid="8" grpId="0" build="p"/>
      <p:bldP spid="10" grpId="0" uiExpand="1" build="p"/>
      <p:bldP spid="11" grpId="0" build="p"/>
      <p:bldP spid="12"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1F0FD8-7E84-4AF1-9A10-585F1D0020BB}"/>
              </a:ext>
            </a:extLst>
          </p:cNvPr>
          <p:cNvSpPr>
            <a:spLocks noGrp="1"/>
          </p:cNvSpPr>
          <p:nvPr>
            <p:ph type="title"/>
          </p:nvPr>
        </p:nvSpPr>
        <p:spPr/>
        <p:txBody>
          <a:bodyPr/>
          <a:lstStyle/>
          <a:p>
            <a:r>
              <a:rPr lang="en-US" b="1" dirty="0">
                <a:latin typeface="Calibri" panose="020F0502020204030204" pitchFamily="34" charset="0"/>
                <a:ea typeface="Source Sans Pro" charset="0"/>
                <a:cs typeface="Calibri" panose="020F0502020204030204" pitchFamily="34" charset="0"/>
              </a:rPr>
              <a:t>Accounting for Treasury Stock </a:t>
            </a:r>
            <a:r>
              <a:rPr lang="en-US" sz="2400" dirty="0">
                <a:latin typeface="Calibri" panose="020F0502020204030204" pitchFamily="34" charset="0"/>
                <a:ea typeface="Source Sans Pro" charset="0"/>
                <a:cs typeface="Calibri" panose="020F0502020204030204" pitchFamily="34" charset="0"/>
              </a:rPr>
              <a:t>(1 of 5)</a:t>
            </a:r>
            <a:endParaRPr lang="en-US" sz="2400" dirty="0"/>
          </a:p>
        </p:txBody>
      </p:sp>
      <p:pic>
        <p:nvPicPr>
          <p:cNvPr id="7" name="Content Placeholder 6" descr="An illustration displays corporate capital. The two primary sources of equity are paid-in capital and retained earnings account. Paid-in capital is divided into common stock account, preferred stock, and preferred stock account. The common stock account, and preferred stock account combine to form paid-in capital in excess of par account. The treasury stock account is less. &#10;">
            <a:extLst>
              <a:ext uri="{FF2B5EF4-FFF2-40B4-BE49-F238E27FC236}">
                <a16:creationId xmlns:a16="http://schemas.microsoft.com/office/drawing/2014/main" id="{2CC8EDBF-7D1F-4D0F-9C14-5B0EDAA14582}"/>
              </a:ext>
            </a:extLst>
          </p:cNvPr>
          <p:cNvPicPr>
            <a:picLocks noGrp="1" noChangeAspect="1"/>
          </p:cNvPicPr>
          <p:nvPr>
            <p:ph sz="quarter" idx="16"/>
          </p:nvPr>
        </p:nvPicPr>
        <p:blipFill>
          <a:blip r:embed="rId2"/>
          <a:stretch>
            <a:fillRect/>
          </a:stretch>
        </p:blipFill>
        <p:spPr>
          <a:xfrm>
            <a:off x="990125" y="1905000"/>
            <a:ext cx="7409808" cy="4125668"/>
          </a:xfrm>
          <a:prstGeom prst="rect">
            <a:avLst/>
          </a:prstGeom>
        </p:spPr>
      </p:pic>
      <p:sp>
        <p:nvSpPr>
          <p:cNvPr id="5" name="Slide Number Placeholder 4">
            <a:extLst>
              <a:ext uri="{FF2B5EF4-FFF2-40B4-BE49-F238E27FC236}">
                <a16:creationId xmlns:a16="http://schemas.microsoft.com/office/drawing/2014/main" id="{D623E0CE-6A5F-414B-BF3B-44081CAD1E50}"/>
              </a:ext>
            </a:extLst>
          </p:cNvPr>
          <p:cNvSpPr>
            <a:spLocks noGrp="1"/>
          </p:cNvSpPr>
          <p:nvPr>
            <p:ph type="sldNum" sz="quarter" idx="10"/>
          </p:nvPr>
        </p:nvSpPr>
        <p:spPr/>
        <p:txBody>
          <a:bodyPr/>
          <a:lstStyle/>
          <a:p>
            <a:fld id="{67B19427-F580-D146-B60E-4CADEE75497F}" type="slidenum">
              <a:rPr lang="en-US" smtClean="0"/>
              <a:pPr/>
              <a:t>27</a:t>
            </a:fld>
            <a:endParaRPr lang="en-US" dirty="0"/>
          </a:p>
        </p:txBody>
      </p:sp>
      <p:sp>
        <p:nvSpPr>
          <p:cNvPr id="6" name="Footer Placeholder 5">
            <a:extLst>
              <a:ext uri="{FF2B5EF4-FFF2-40B4-BE49-F238E27FC236}">
                <a16:creationId xmlns:a16="http://schemas.microsoft.com/office/drawing/2014/main" id="{B45DA587-8353-4074-B415-DCAAA3BB16A4}"/>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7073292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08CAAF-A3C6-4C3F-AD31-C0514EDC1FEE}"/>
              </a:ext>
            </a:extLst>
          </p:cNvPr>
          <p:cNvSpPr>
            <a:spLocks noGrp="1"/>
          </p:cNvSpPr>
          <p:nvPr>
            <p:ph type="title"/>
          </p:nvPr>
        </p:nvSpPr>
        <p:spPr>
          <a:xfrm>
            <a:off x="304800" y="762001"/>
            <a:ext cx="8534400" cy="761999"/>
          </a:xfrm>
        </p:spPr>
        <p:txBody>
          <a:bodyPr/>
          <a:lstStyle/>
          <a:p>
            <a:r>
              <a:rPr lang="en-US" b="1" dirty="0">
                <a:latin typeface="Calibri" panose="020F0502020204030204" pitchFamily="34" charset="0"/>
                <a:ea typeface="Source Sans Pro" charset="0"/>
                <a:cs typeface="Calibri" panose="020F0502020204030204" pitchFamily="34" charset="0"/>
              </a:rPr>
              <a:t>Accounting for Treasury Stock </a:t>
            </a:r>
            <a:r>
              <a:rPr lang="en-US" sz="2400" dirty="0">
                <a:latin typeface="Calibri" panose="020F0502020204030204" pitchFamily="34" charset="0"/>
                <a:ea typeface="Source Sans Pro" charset="0"/>
                <a:cs typeface="Calibri" panose="020F0502020204030204" pitchFamily="34" charset="0"/>
              </a:rPr>
              <a:t>(2 of 5)</a:t>
            </a:r>
            <a:endParaRPr lang="en-US" dirty="0"/>
          </a:p>
        </p:txBody>
      </p:sp>
      <p:sp>
        <p:nvSpPr>
          <p:cNvPr id="3" name="Content Placeholder 2">
            <a:extLst>
              <a:ext uri="{FF2B5EF4-FFF2-40B4-BE49-F238E27FC236}">
                <a16:creationId xmlns:a16="http://schemas.microsoft.com/office/drawing/2014/main" id="{FF05DCC6-6811-4CCB-804F-0EEA31D6A556}"/>
              </a:ext>
            </a:extLst>
          </p:cNvPr>
          <p:cNvSpPr>
            <a:spLocks noGrp="1"/>
          </p:cNvSpPr>
          <p:nvPr>
            <p:ph sz="quarter" idx="16"/>
          </p:nvPr>
        </p:nvSpPr>
        <p:spPr>
          <a:xfrm>
            <a:off x="304800" y="1676400"/>
            <a:ext cx="8534400" cy="4495800"/>
          </a:xfrm>
        </p:spPr>
        <p:txBody>
          <a:bodyPr/>
          <a:lstStyle/>
          <a:p>
            <a:pPr>
              <a:defRPr/>
            </a:pPr>
            <a:r>
              <a:rPr lang="en-US" b="1" dirty="0">
                <a:solidFill>
                  <a:schemeClr val="accent4"/>
                </a:solidFill>
                <a:latin typeface="Calibri" panose="020F0502020204030204" pitchFamily="34" charset="0"/>
              </a:rPr>
              <a:t>Treasury stock</a:t>
            </a:r>
            <a:r>
              <a:rPr lang="en-US" dirty="0">
                <a:solidFill>
                  <a:srgbClr val="0000CC"/>
                </a:solidFill>
                <a:latin typeface="Calibri" panose="020F0502020204030204" pitchFamily="34" charset="0"/>
              </a:rPr>
              <a:t> </a:t>
            </a:r>
            <a:r>
              <a:rPr lang="en-US" dirty="0">
                <a:latin typeface="Calibri" panose="020F0502020204030204" pitchFamily="34" charset="0"/>
              </a:rPr>
              <a:t>is a corporation’s own stock that it has issued and subsequently reacquired from shareholders but not retired.</a:t>
            </a:r>
          </a:p>
          <a:p>
            <a:r>
              <a:rPr lang="en-US" altLang="en-US" dirty="0">
                <a:solidFill>
                  <a:srgbClr val="000000"/>
                </a:solidFill>
                <a:latin typeface="Calibri" panose="020F0502020204030204" pitchFamily="34" charset="0"/>
              </a:rPr>
              <a:t>Corporations acquire treasury stock for various reasons:</a:t>
            </a:r>
          </a:p>
          <a:p>
            <a:pPr marL="402336" lvl="1" indent="-402336">
              <a:spcBef>
                <a:spcPts val="1000"/>
              </a:spcBef>
              <a:buClr>
                <a:schemeClr val="accent2"/>
              </a:buClr>
              <a:buFontTx/>
              <a:buAutoNum type="arabicPeriod"/>
            </a:pPr>
            <a:r>
              <a:rPr lang="en-US" altLang="en-US" sz="2800" dirty="0">
                <a:solidFill>
                  <a:srgbClr val="000000"/>
                </a:solidFill>
                <a:latin typeface="Calibri" panose="020F0502020204030204" pitchFamily="34" charset="0"/>
              </a:rPr>
              <a:t>To reissue the shares to officers and employees under bonus and stock compensation plans.</a:t>
            </a:r>
          </a:p>
          <a:p>
            <a:pPr marL="402336" lvl="1" indent="-402336">
              <a:spcBef>
                <a:spcPts val="1000"/>
              </a:spcBef>
              <a:buClr>
                <a:schemeClr val="accent2"/>
              </a:buClr>
              <a:buFontTx/>
              <a:buAutoNum type="arabicPeriod"/>
            </a:pPr>
            <a:r>
              <a:rPr lang="en-US" altLang="en-US" sz="2800" dirty="0">
                <a:solidFill>
                  <a:srgbClr val="000000"/>
                </a:solidFill>
                <a:latin typeface="Calibri" panose="020F0502020204030204" pitchFamily="34" charset="0"/>
              </a:rPr>
              <a:t>To enhance the stock’s market value.</a:t>
            </a:r>
          </a:p>
          <a:p>
            <a:pPr marL="402336" lvl="1" indent="-402336">
              <a:spcBef>
                <a:spcPts val="1000"/>
              </a:spcBef>
              <a:buClr>
                <a:schemeClr val="accent2"/>
              </a:buClr>
              <a:buFontTx/>
              <a:buAutoNum type="arabicPeriod"/>
            </a:pPr>
            <a:r>
              <a:rPr lang="en-US" altLang="en-US" sz="2800" dirty="0">
                <a:solidFill>
                  <a:srgbClr val="000000"/>
                </a:solidFill>
                <a:latin typeface="Calibri" panose="020F0502020204030204" pitchFamily="34" charset="0"/>
              </a:rPr>
              <a:t>To have additional shares available for use in the acquisition of other companies.</a:t>
            </a:r>
          </a:p>
          <a:p>
            <a:pPr marL="402336" lvl="1" indent="-402336">
              <a:spcBef>
                <a:spcPts val="1000"/>
              </a:spcBef>
              <a:buClr>
                <a:schemeClr val="accent2"/>
              </a:buClr>
              <a:buFontTx/>
              <a:buAutoNum type="arabicPeriod"/>
            </a:pPr>
            <a:r>
              <a:rPr lang="en-US" altLang="en-US" sz="2800" dirty="0">
                <a:solidFill>
                  <a:srgbClr val="000000"/>
                </a:solidFill>
                <a:latin typeface="Calibri" panose="020F0502020204030204" pitchFamily="34" charset="0"/>
              </a:rPr>
              <a:t>To increase earnings per share.</a:t>
            </a:r>
            <a:endParaRPr lang="en-US" sz="2800" dirty="0">
              <a:latin typeface="Calibri" panose="020F0502020204030204" pitchFamily="34" charset="0"/>
            </a:endParaRPr>
          </a:p>
        </p:txBody>
      </p:sp>
      <p:sp>
        <p:nvSpPr>
          <p:cNvPr id="4" name="Slide Number Placeholder 3">
            <a:extLst>
              <a:ext uri="{FF2B5EF4-FFF2-40B4-BE49-F238E27FC236}">
                <a16:creationId xmlns:a16="http://schemas.microsoft.com/office/drawing/2014/main" id="{1EDA3A45-DBD8-49DC-8A9B-EF9F4CA5CB6A}"/>
              </a:ext>
            </a:extLst>
          </p:cNvPr>
          <p:cNvSpPr>
            <a:spLocks noGrp="1"/>
          </p:cNvSpPr>
          <p:nvPr>
            <p:ph type="sldNum" sz="quarter" idx="10"/>
          </p:nvPr>
        </p:nvSpPr>
        <p:spPr/>
        <p:txBody>
          <a:bodyPr/>
          <a:lstStyle/>
          <a:p>
            <a:fld id="{67B19427-F580-D146-B60E-4CADEE75497F}" type="slidenum">
              <a:rPr lang="en-US" smtClean="0"/>
              <a:pPr/>
              <a:t>28</a:t>
            </a:fld>
            <a:endParaRPr lang="en-US" dirty="0"/>
          </a:p>
        </p:txBody>
      </p:sp>
      <p:sp>
        <p:nvSpPr>
          <p:cNvPr id="5" name="Footer Placeholder 4">
            <a:extLst>
              <a:ext uri="{FF2B5EF4-FFF2-40B4-BE49-F238E27FC236}">
                <a16:creationId xmlns:a16="http://schemas.microsoft.com/office/drawing/2014/main" id="{87E70320-C121-469C-8994-FD9E54949AE7}"/>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77355518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08CAAF-A3C6-4C3F-AD31-C0514EDC1FEE}"/>
              </a:ext>
            </a:extLst>
          </p:cNvPr>
          <p:cNvSpPr>
            <a:spLocks noGrp="1"/>
          </p:cNvSpPr>
          <p:nvPr>
            <p:ph type="title"/>
          </p:nvPr>
        </p:nvSpPr>
        <p:spPr/>
        <p:txBody>
          <a:bodyPr/>
          <a:lstStyle/>
          <a:p>
            <a:r>
              <a:rPr lang="en-US" b="1" dirty="0">
                <a:latin typeface="Calibri" panose="020F0502020204030204" pitchFamily="34" charset="0"/>
                <a:ea typeface="Source Sans Pro" charset="0"/>
                <a:cs typeface="Calibri" panose="020F0502020204030204" pitchFamily="34" charset="0"/>
              </a:rPr>
              <a:t>Accounting for Treasury Stock </a:t>
            </a:r>
            <a:r>
              <a:rPr lang="en-US" sz="2400" dirty="0">
                <a:latin typeface="Calibri" panose="020F0502020204030204" pitchFamily="34" charset="0"/>
                <a:ea typeface="Source Sans Pro" charset="0"/>
                <a:cs typeface="Calibri" panose="020F0502020204030204" pitchFamily="34" charset="0"/>
              </a:rPr>
              <a:t>(3 of 5)</a:t>
            </a:r>
            <a:endParaRPr lang="en-US" dirty="0"/>
          </a:p>
        </p:txBody>
      </p:sp>
      <p:sp>
        <p:nvSpPr>
          <p:cNvPr id="3" name="Content Placeholder 2">
            <a:extLst>
              <a:ext uri="{FF2B5EF4-FFF2-40B4-BE49-F238E27FC236}">
                <a16:creationId xmlns:a16="http://schemas.microsoft.com/office/drawing/2014/main" id="{FF05DCC6-6811-4CCB-804F-0EEA31D6A556}"/>
              </a:ext>
            </a:extLst>
          </p:cNvPr>
          <p:cNvSpPr>
            <a:spLocks noGrp="1"/>
          </p:cNvSpPr>
          <p:nvPr>
            <p:ph sz="quarter" idx="16"/>
          </p:nvPr>
        </p:nvSpPr>
        <p:spPr>
          <a:xfrm>
            <a:off x="304800" y="1828800"/>
            <a:ext cx="8534400" cy="2590800"/>
          </a:xfrm>
        </p:spPr>
        <p:txBody>
          <a:bodyPr/>
          <a:lstStyle/>
          <a:p>
            <a:pPr marL="292608" indent="-292608">
              <a:buClr>
                <a:srgbClr val="800000"/>
              </a:buClr>
              <a:buSzPct val="100000"/>
              <a:buFont typeface="Arial" panose="020B0604020202020204" pitchFamily="34" charset="0"/>
              <a:buChar char="•"/>
            </a:pPr>
            <a:r>
              <a:rPr lang="en-US" altLang="en-US" dirty="0">
                <a:solidFill>
                  <a:srgbClr val="000000"/>
                </a:solidFill>
              </a:rPr>
              <a:t>Companies generally use </a:t>
            </a:r>
            <a:r>
              <a:rPr lang="en-US" altLang="en-US" b="1" dirty="0">
                <a:solidFill>
                  <a:srgbClr val="000000"/>
                </a:solidFill>
              </a:rPr>
              <a:t>cost method</a:t>
            </a:r>
            <a:endParaRPr lang="en-US" altLang="en-US" dirty="0">
              <a:solidFill>
                <a:srgbClr val="000000"/>
              </a:solidFill>
            </a:endParaRPr>
          </a:p>
          <a:p>
            <a:pPr marL="292608" indent="-292608">
              <a:buClr>
                <a:srgbClr val="800000"/>
              </a:buClr>
              <a:buSzPct val="100000"/>
              <a:buFont typeface="Arial" panose="020B0604020202020204" pitchFamily="34" charset="0"/>
              <a:buChar char="•"/>
            </a:pPr>
            <a:r>
              <a:rPr lang="en-US" altLang="en-US" dirty="0">
                <a:solidFill>
                  <a:srgbClr val="000000"/>
                </a:solidFill>
              </a:rPr>
              <a:t>Debit </a:t>
            </a:r>
            <a:r>
              <a:rPr lang="en-US" altLang="en-US" b="1" dirty="0">
                <a:solidFill>
                  <a:srgbClr val="000000"/>
                </a:solidFill>
              </a:rPr>
              <a:t>Treasury Stock </a:t>
            </a:r>
            <a:r>
              <a:rPr lang="en-US" altLang="en-US" dirty="0">
                <a:solidFill>
                  <a:srgbClr val="000000"/>
                </a:solidFill>
              </a:rPr>
              <a:t>for </a:t>
            </a:r>
            <a:r>
              <a:rPr lang="en-US" altLang="en-US" b="1" dirty="0">
                <a:solidFill>
                  <a:srgbClr val="000000"/>
                </a:solidFill>
              </a:rPr>
              <a:t>price paid to reacquire shares</a:t>
            </a:r>
            <a:endParaRPr lang="en-US" altLang="en-US" dirty="0">
              <a:solidFill>
                <a:srgbClr val="000000"/>
              </a:solidFill>
            </a:endParaRPr>
          </a:p>
          <a:p>
            <a:pPr marL="292608" indent="-292608">
              <a:buClr>
                <a:srgbClr val="800000"/>
              </a:buClr>
              <a:buSzPct val="100000"/>
              <a:buFont typeface="Arial" panose="020B0604020202020204" pitchFamily="34" charset="0"/>
              <a:buChar char="•"/>
            </a:pPr>
            <a:r>
              <a:rPr lang="en-US" altLang="en-US" dirty="0">
                <a:solidFill>
                  <a:srgbClr val="000000"/>
                </a:solidFill>
              </a:rPr>
              <a:t>Treasury stock is a </a:t>
            </a:r>
            <a:r>
              <a:rPr lang="en-US" altLang="en-US" b="1" dirty="0">
                <a:solidFill>
                  <a:srgbClr val="000000"/>
                </a:solidFill>
              </a:rPr>
              <a:t>contra stockholders’ equity account</a:t>
            </a:r>
            <a:endParaRPr lang="en-US" altLang="en-US" dirty="0">
              <a:solidFill>
                <a:srgbClr val="000000"/>
              </a:solidFill>
            </a:endParaRPr>
          </a:p>
          <a:p>
            <a:pPr marL="292608" indent="-292608">
              <a:buClr>
                <a:srgbClr val="800000"/>
              </a:buClr>
              <a:buSzPct val="100000"/>
              <a:buFont typeface="Arial" panose="020B0604020202020204" pitchFamily="34" charset="0"/>
              <a:buChar char="•"/>
            </a:pPr>
            <a:r>
              <a:rPr lang="en-US" altLang="en-US" dirty="0">
                <a:solidFill>
                  <a:srgbClr val="000000"/>
                </a:solidFill>
              </a:rPr>
              <a:t>Reduces stockholders’ equity</a:t>
            </a:r>
            <a:endParaRPr lang="en-US" sz="2800" dirty="0">
              <a:latin typeface="Calibri" panose="020F0502020204030204" pitchFamily="34" charset="0"/>
            </a:endParaRPr>
          </a:p>
        </p:txBody>
      </p:sp>
      <p:sp>
        <p:nvSpPr>
          <p:cNvPr id="4" name="Slide Number Placeholder 3">
            <a:extLst>
              <a:ext uri="{FF2B5EF4-FFF2-40B4-BE49-F238E27FC236}">
                <a16:creationId xmlns:a16="http://schemas.microsoft.com/office/drawing/2014/main" id="{1EDA3A45-DBD8-49DC-8A9B-EF9F4CA5CB6A}"/>
              </a:ext>
            </a:extLst>
          </p:cNvPr>
          <p:cNvSpPr>
            <a:spLocks noGrp="1"/>
          </p:cNvSpPr>
          <p:nvPr>
            <p:ph type="sldNum" sz="quarter" idx="10"/>
          </p:nvPr>
        </p:nvSpPr>
        <p:spPr/>
        <p:txBody>
          <a:bodyPr/>
          <a:lstStyle/>
          <a:p>
            <a:fld id="{67B19427-F580-D146-B60E-4CADEE75497F}" type="slidenum">
              <a:rPr lang="en-US" smtClean="0"/>
              <a:pPr/>
              <a:t>29</a:t>
            </a:fld>
            <a:endParaRPr lang="en-US" dirty="0"/>
          </a:p>
        </p:txBody>
      </p:sp>
      <p:sp>
        <p:nvSpPr>
          <p:cNvPr id="5" name="Footer Placeholder 4">
            <a:extLst>
              <a:ext uri="{FF2B5EF4-FFF2-40B4-BE49-F238E27FC236}">
                <a16:creationId xmlns:a16="http://schemas.microsoft.com/office/drawing/2014/main" id="{87E70320-C121-469C-8994-FD9E54949AE7}"/>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297542458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32B30F-1A78-433A-BAA0-FF2C10A3D437}"/>
              </a:ext>
            </a:extLst>
          </p:cNvPr>
          <p:cNvSpPr>
            <a:spLocks noGrp="1"/>
          </p:cNvSpPr>
          <p:nvPr>
            <p:ph type="title"/>
          </p:nvPr>
        </p:nvSpPr>
        <p:spPr>
          <a:xfrm>
            <a:off x="304800" y="762001"/>
            <a:ext cx="8534400" cy="717550"/>
          </a:xfrm>
        </p:spPr>
        <p:txBody>
          <a:bodyPr/>
          <a:lstStyle/>
          <a:p>
            <a:r>
              <a:rPr lang="en-US" b="1" dirty="0">
                <a:latin typeface="Calibri" panose="020F0502020204030204" pitchFamily="34" charset="0"/>
                <a:ea typeface="Source Sans Pro" charset="0"/>
                <a:cs typeface="Calibri" panose="020F0502020204030204" pitchFamily="34" charset="0"/>
              </a:rPr>
              <a:t>Accounting for Treasury Stock </a:t>
            </a:r>
            <a:r>
              <a:rPr lang="en-US" sz="2400" dirty="0">
                <a:latin typeface="Calibri" panose="020F0502020204030204" pitchFamily="34" charset="0"/>
                <a:ea typeface="Source Sans Pro" charset="0"/>
                <a:cs typeface="Calibri" panose="020F0502020204030204" pitchFamily="34" charset="0"/>
              </a:rPr>
              <a:t>(4 of 5)</a:t>
            </a:r>
            <a:endParaRPr lang="en-US" sz="2400" dirty="0"/>
          </a:p>
        </p:txBody>
      </p:sp>
      <p:pic>
        <p:nvPicPr>
          <p:cNvPr id="9" name="Content Placeholder 8" descr="An illustration of a partial balance sheet. The statement displays a two-line heading consisting of the name of the company, Mead I n c; and the type of statement, balance sheet. The statement has 2 columns, the first displaying account names and the other displaying the respective amounts. The section under the title is labeled as: stockholders’ equity. It has two subsections. The first subsection, paid-in capital, is indented slightly in the first column. Immediately under this is the following account name that is further indented, and the respective amount appears in the numeric column: common stock, $5 par value, 400,000 shares authorized, 100,000 shares issues and outstanding, $500,000. The second subsection, retained earnings, is indented slightly in the first column, and the value in the numeric column is 200,000. Both the subsections are totaled as $700,000, double underlined is displayed in the numeric column with the label total stockholders’ equity.&#10;">
            <a:extLst>
              <a:ext uri="{FF2B5EF4-FFF2-40B4-BE49-F238E27FC236}">
                <a16:creationId xmlns:a16="http://schemas.microsoft.com/office/drawing/2014/main" id="{CD661E62-7CF4-4085-AAE5-E4D4779DC9C9}"/>
              </a:ext>
            </a:extLst>
          </p:cNvPr>
          <p:cNvPicPr>
            <a:picLocks noGrp="1" noChangeAspect="1"/>
          </p:cNvPicPr>
          <p:nvPr>
            <p:ph sz="quarter" idx="18"/>
          </p:nvPr>
        </p:nvPicPr>
        <p:blipFill>
          <a:blip r:embed="rId2">
            <a:extLst>
              <a:ext uri="{28A0092B-C50C-407E-A947-70E740481C1C}">
                <a14:useLocalDpi xmlns:a14="http://schemas.microsoft.com/office/drawing/2010/main" val="0"/>
              </a:ext>
            </a:extLst>
          </a:blip>
          <a:stretch>
            <a:fillRect/>
          </a:stretch>
        </p:blipFill>
        <p:spPr>
          <a:xfrm>
            <a:off x="964643" y="1568888"/>
            <a:ext cx="7337196" cy="2635002"/>
          </a:xfrm>
        </p:spPr>
      </p:pic>
      <p:sp>
        <p:nvSpPr>
          <p:cNvPr id="3" name="Content Placeholder 2">
            <a:extLst>
              <a:ext uri="{FF2B5EF4-FFF2-40B4-BE49-F238E27FC236}">
                <a16:creationId xmlns:a16="http://schemas.microsoft.com/office/drawing/2014/main" id="{92F87F86-306D-4BC9-84CC-42CD82DF412A}"/>
              </a:ext>
            </a:extLst>
          </p:cNvPr>
          <p:cNvSpPr>
            <a:spLocks noGrp="1"/>
          </p:cNvSpPr>
          <p:nvPr>
            <p:ph sz="quarter" idx="16"/>
          </p:nvPr>
        </p:nvSpPr>
        <p:spPr>
          <a:xfrm>
            <a:off x="304800" y="4343400"/>
            <a:ext cx="8534400" cy="609600"/>
          </a:xfrm>
        </p:spPr>
        <p:txBody>
          <a:bodyPr/>
          <a:lstStyle/>
          <a:p>
            <a:r>
              <a:rPr lang="en-US" sz="2200" b="1" dirty="0">
                <a:latin typeface="+mn-lt"/>
              </a:rPr>
              <a:t>Illustration: </a:t>
            </a:r>
            <a:r>
              <a:rPr lang="en-US" altLang="en-US" sz="2200" dirty="0">
                <a:latin typeface="+mn-lt"/>
              </a:rPr>
              <a:t>On February 1, 2020, Mead acquires 4,000 shares of its stock at $8 per share. The entry is as follows.</a:t>
            </a:r>
            <a:endParaRPr lang="en-US" sz="2200" dirty="0">
              <a:latin typeface="+mn-lt"/>
            </a:endParaRPr>
          </a:p>
        </p:txBody>
      </p:sp>
      <p:sp>
        <p:nvSpPr>
          <p:cNvPr id="7" name="Content Placeholder 6">
            <a:extLst>
              <a:ext uri="{FF2B5EF4-FFF2-40B4-BE49-F238E27FC236}">
                <a16:creationId xmlns:a16="http://schemas.microsoft.com/office/drawing/2014/main" id="{28E41115-8F69-4A15-B994-CF108346BC18}"/>
              </a:ext>
            </a:extLst>
          </p:cNvPr>
          <p:cNvSpPr>
            <a:spLocks noGrp="1"/>
          </p:cNvSpPr>
          <p:nvPr>
            <p:ph sz="quarter" idx="21"/>
          </p:nvPr>
        </p:nvSpPr>
        <p:spPr>
          <a:xfrm>
            <a:off x="685800" y="5076825"/>
            <a:ext cx="4572000" cy="365125"/>
          </a:xfrm>
        </p:spPr>
        <p:txBody>
          <a:bodyPr/>
          <a:lstStyle/>
          <a:p>
            <a:r>
              <a:rPr lang="en-US" sz="2200" dirty="0">
                <a:solidFill>
                  <a:srgbClr val="000000"/>
                </a:solidFill>
              </a:rPr>
              <a:t>Feb. 1   Treasury Stock (4,000 × $8)</a:t>
            </a:r>
            <a:endParaRPr lang="en-US" sz="2200" dirty="0"/>
          </a:p>
        </p:txBody>
      </p:sp>
      <p:sp>
        <p:nvSpPr>
          <p:cNvPr id="8" name="Content Placeholder 7">
            <a:extLst>
              <a:ext uri="{FF2B5EF4-FFF2-40B4-BE49-F238E27FC236}">
                <a16:creationId xmlns:a16="http://schemas.microsoft.com/office/drawing/2014/main" id="{4E4CC3F7-162F-4B2A-9872-E35A90C7AD4B}"/>
              </a:ext>
            </a:extLst>
          </p:cNvPr>
          <p:cNvSpPr>
            <a:spLocks noGrp="1"/>
          </p:cNvSpPr>
          <p:nvPr>
            <p:ph sz="quarter" idx="22"/>
          </p:nvPr>
        </p:nvSpPr>
        <p:spPr>
          <a:xfrm>
            <a:off x="6781800" y="5076825"/>
            <a:ext cx="1066800" cy="365125"/>
          </a:xfrm>
        </p:spPr>
        <p:txBody>
          <a:bodyPr/>
          <a:lstStyle/>
          <a:p>
            <a:r>
              <a:rPr lang="en-US" sz="2200" dirty="0">
                <a:solidFill>
                  <a:srgbClr val="000000"/>
                </a:solidFill>
              </a:rPr>
              <a:t>32,000</a:t>
            </a:r>
            <a:endParaRPr lang="en-US" sz="2200" dirty="0"/>
          </a:p>
        </p:txBody>
      </p:sp>
      <p:sp>
        <p:nvSpPr>
          <p:cNvPr id="10" name="Content Placeholder 9">
            <a:extLst>
              <a:ext uri="{FF2B5EF4-FFF2-40B4-BE49-F238E27FC236}">
                <a16:creationId xmlns:a16="http://schemas.microsoft.com/office/drawing/2014/main" id="{1A052864-6FA3-4917-BB12-016B22E1CDC9}"/>
              </a:ext>
            </a:extLst>
          </p:cNvPr>
          <p:cNvSpPr>
            <a:spLocks noGrp="1"/>
          </p:cNvSpPr>
          <p:nvPr>
            <p:ph sz="quarter" idx="24"/>
          </p:nvPr>
        </p:nvSpPr>
        <p:spPr>
          <a:xfrm>
            <a:off x="1828800" y="5354096"/>
            <a:ext cx="4724400" cy="894304"/>
          </a:xfrm>
        </p:spPr>
        <p:txBody>
          <a:bodyPr/>
          <a:lstStyle/>
          <a:p>
            <a:r>
              <a:rPr lang="en-US" sz="2200" dirty="0">
                <a:solidFill>
                  <a:srgbClr val="000000"/>
                </a:solidFill>
              </a:rPr>
              <a:t>Cash</a:t>
            </a:r>
          </a:p>
          <a:p>
            <a:pPr marL="271463">
              <a:spcBef>
                <a:spcPts val="0"/>
              </a:spcBef>
            </a:pPr>
            <a:r>
              <a:rPr lang="en-US" sz="2200" dirty="0"/>
              <a:t>(To record purchase of 4,000 shares of treasury stock at $8 per share)</a:t>
            </a:r>
          </a:p>
        </p:txBody>
      </p:sp>
      <p:sp>
        <p:nvSpPr>
          <p:cNvPr id="11" name="Content Placeholder 10">
            <a:extLst>
              <a:ext uri="{FF2B5EF4-FFF2-40B4-BE49-F238E27FC236}">
                <a16:creationId xmlns:a16="http://schemas.microsoft.com/office/drawing/2014/main" id="{EEAC5FE1-9157-4D87-BE3D-B5B07B8C138E}"/>
              </a:ext>
            </a:extLst>
          </p:cNvPr>
          <p:cNvSpPr>
            <a:spLocks noGrp="1"/>
          </p:cNvSpPr>
          <p:nvPr>
            <p:ph sz="quarter" idx="25"/>
          </p:nvPr>
        </p:nvSpPr>
        <p:spPr>
          <a:xfrm>
            <a:off x="8077200" y="5354096"/>
            <a:ext cx="990600" cy="365125"/>
          </a:xfrm>
        </p:spPr>
        <p:txBody>
          <a:bodyPr/>
          <a:lstStyle/>
          <a:p>
            <a:r>
              <a:rPr lang="en-US" sz="2200" dirty="0">
                <a:solidFill>
                  <a:srgbClr val="000000"/>
                </a:solidFill>
              </a:rPr>
              <a:t>32,000</a:t>
            </a:r>
            <a:endParaRPr lang="en-US" sz="2200" dirty="0"/>
          </a:p>
        </p:txBody>
      </p:sp>
      <p:sp>
        <p:nvSpPr>
          <p:cNvPr id="23" name="Slide Number Placeholder 22">
            <a:extLst>
              <a:ext uri="{FF2B5EF4-FFF2-40B4-BE49-F238E27FC236}">
                <a16:creationId xmlns:a16="http://schemas.microsoft.com/office/drawing/2014/main" id="{C3ADB033-D6E5-42A2-AA75-5772CD252CDF}"/>
              </a:ext>
            </a:extLst>
          </p:cNvPr>
          <p:cNvSpPr>
            <a:spLocks noGrp="1"/>
          </p:cNvSpPr>
          <p:nvPr>
            <p:ph type="sldNum" sz="quarter" idx="10"/>
          </p:nvPr>
        </p:nvSpPr>
        <p:spPr/>
        <p:txBody>
          <a:bodyPr/>
          <a:lstStyle/>
          <a:p>
            <a:fld id="{67B19427-F580-D146-B60E-4CADEE75497F}" type="slidenum">
              <a:rPr lang="en-US" smtClean="0"/>
              <a:pPr/>
              <a:t>30</a:t>
            </a:fld>
            <a:endParaRPr lang="en-US" dirty="0"/>
          </a:p>
        </p:txBody>
      </p:sp>
      <p:sp>
        <p:nvSpPr>
          <p:cNvPr id="24" name="Footer Placeholder 23">
            <a:extLst>
              <a:ext uri="{FF2B5EF4-FFF2-40B4-BE49-F238E27FC236}">
                <a16:creationId xmlns:a16="http://schemas.microsoft.com/office/drawing/2014/main" id="{F0618A2A-3150-4FE5-BE3A-BE7ACB108CB4}"/>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3574747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0">
                                            <p:txEl>
                                              <p:pRg st="0" end="0"/>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xEl>
                                              <p:pRg st="1" end="1"/>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8" grpId="0" build="p"/>
      <p:bldP spid="10" grpId="0" uiExpand="1" build="p"/>
      <p:bldP spid="11"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32B30F-1A78-433A-BAA0-FF2C10A3D437}"/>
              </a:ext>
            </a:extLst>
          </p:cNvPr>
          <p:cNvSpPr>
            <a:spLocks noGrp="1"/>
          </p:cNvSpPr>
          <p:nvPr>
            <p:ph type="title"/>
          </p:nvPr>
        </p:nvSpPr>
        <p:spPr/>
        <p:txBody>
          <a:bodyPr/>
          <a:lstStyle/>
          <a:p>
            <a:r>
              <a:rPr lang="en-US" b="1" dirty="0">
                <a:latin typeface="Calibri" panose="020F0502020204030204" pitchFamily="34" charset="0"/>
                <a:ea typeface="Source Sans Pro" charset="0"/>
                <a:cs typeface="Calibri" panose="020F0502020204030204" pitchFamily="34" charset="0"/>
              </a:rPr>
              <a:t>Accounting for Treasury Stock </a:t>
            </a:r>
            <a:r>
              <a:rPr lang="en-US" sz="2400" dirty="0">
                <a:latin typeface="Calibri" panose="020F0502020204030204" pitchFamily="34" charset="0"/>
                <a:ea typeface="Source Sans Pro" charset="0"/>
                <a:cs typeface="Calibri" panose="020F0502020204030204" pitchFamily="34" charset="0"/>
              </a:rPr>
              <a:t>(5 of 5)</a:t>
            </a:r>
            <a:endParaRPr lang="en-US" sz="2400" dirty="0"/>
          </a:p>
        </p:txBody>
      </p:sp>
      <p:pic>
        <p:nvPicPr>
          <p:cNvPr id="12" name="Content Placeholder 11" descr="An illustration of a partial balance sheet. The statement displays a two-line heading consisting of the name of the company, Mead I n c; and the type of statement, balance sheet. The statement has 2 columns, the first displaying account names and the other displaying the respective amounts. The section under the title is labeled as: stockholders’ equity. It has two subsections. The first subsection, paid-in capital, is indented slightly in the first column. Immediately under this is the following account name that is further indented, and the respective amount appears in the numeric column: common stock, $5 par value, 400,000 shares authorized, 100,000 shares issued and 96,000 shares outstanding, $500,000. The second subsection, retained earnings, is indented slightly in the first column, and the value in the numeric column is 200,000. Both the subsections are totaled as $700,000 which is displayed in the numeric column with the label total paid-in capital and retained earnings. Under it is 32,000 displayed in the numeric column with the label, less: treasury stock, 4,000 shares. It is marked in red. The total is $668,000, double underlined is displayed in the numeric column with the label total stockholders’ equity.&#10;">
            <a:extLst>
              <a:ext uri="{FF2B5EF4-FFF2-40B4-BE49-F238E27FC236}">
                <a16:creationId xmlns:a16="http://schemas.microsoft.com/office/drawing/2014/main" id="{6463E3C0-E601-4B0B-AA38-907A120A0E09}"/>
              </a:ext>
            </a:extLst>
          </p:cNvPr>
          <p:cNvPicPr>
            <a:picLocks noGrp="1" noChangeAspect="1"/>
          </p:cNvPicPr>
          <p:nvPr>
            <p:ph sz="quarter" idx="18"/>
          </p:nvPr>
        </p:nvPicPr>
        <p:blipFill>
          <a:blip r:embed="rId2">
            <a:extLst>
              <a:ext uri="{28A0092B-C50C-407E-A947-70E740481C1C}">
                <a14:useLocalDpi xmlns:a14="http://schemas.microsoft.com/office/drawing/2010/main" val="0"/>
              </a:ext>
            </a:extLst>
          </a:blip>
          <a:stretch>
            <a:fillRect/>
          </a:stretch>
        </p:blipFill>
        <p:spPr>
          <a:xfrm>
            <a:off x="890465" y="1752600"/>
            <a:ext cx="7252021" cy="3560782"/>
          </a:xfrm>
        </p:spPr>
      </p:pic>
      <p:sp>
        <p:nvSpPr>
          <p:cNvPr id="3" name="Content Placeholder 2">
            <a:extLst>
              <a:ext uri="{FF2B5EF4-FFF2-40B4-BE49-F238E27FC236}">
                <a16:creationId xmlns:a16="http://schemas.microsoft.com/office/drawing/2014/main" id="{92F87F86-306D-4BC9-84CC-42CD82DF412A}"/>
              </a:ext>
            </a:extLst>
          </p:cNvPr>
          <p:cNvSpPr>
            <a:spLocks noGrp="1"/>
          </p:cNvSpPr>
          <p:nvPr>
            <p:ph sz="quarter" idx="16"/>
          </p:nvPr>
        </p:nvSpPr>
        <p:spPr>
          <a:xfrm>
            <a:off x="304800" y="5454650"/>
            <a:ext cx="8534400" cy="717550"/>
          </a:xfrm>
        </p:spPr>
        <p:txBody>
          <a:bodyPr/>
          <a:lstStyle/>
          <a:p>
            <a:r>
              <a:rPr lang="en-US" altLang="en-US" sz="2400" dirty="0"/>
              <a:t>Both the number of shares issued (100,000) and the number of shares held as treasury (4,000) are disclosed.</a:t>
            </a:r>
            <a:endParaRPr lang="en-US" sz="2400" dirty="0"/>
          </a:p>
        </p:txBody>
      </p:sp>
      <p:sp>
        <p:nvSpPr>
          <p:cNvPr id="23" name="Slide Number Placeholder 22">
            <a:extLst>
              <a:ext uri="{FF2B5EF4-FFF2-40B4-BE49-F238E27FC236}">
                <a16:creationId xmlns:a16="http://schemas.microsoft.com/office/drawing/2014/main" id="{C3ADB033-D6E5-42A2-AA75-5772CD252CDF}"/>
              </a:ext>
            </a:extLst>
          </p:cNvPr>
          <p:cNvSpPr>
            <a:spLocks noGrp="1"/>
          </p:cNvSpPr>
          <p:nvPr>
            <p:ph type="sldNum" sz="quarter" idx="10"/>
          </p:nvPr>
        </p:nvSpPr>
        <p:spPr/>
        <p:txBody>
          <a:bodyPr/>
          <a:lstStyle/>
          <a:p>
            <a:fld id="{67B19427-F580-D146-B60E-4CADEE75497F}" type="slidenum">
              <a:rPr lang="en-US" smtClean="0"/>
              <a:pPr/>
              <a:t>31</a:t>
            </a:fld>
            <a:endParaRPr lang="en-US" dirty="0"/>
          </a:p>
        </p:txBody>
      </p:sp>
      <p:sp>
        <p:nvSpPr>
          <p:cNvPr id="24" name="Footer Placeholder 23">
            <a:extLst>
              <a:ext uri="{FF2B5EF4-FFF2-40B4-BE49-F238E27FC236}">
                <a16:creationId xmlns:a16="http://schemas.microsoft.com/office/drawing/2014/main" id="{F0618A2A-3150-4FE5-BE3A-BE7ACB108CB4}"/>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414893555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32B30F-1A78-433A-BAA0-FF2C10A3D437}"/>
              </a:ext>
            </a:extLst>
          </p:cNvPr>
          <p:cNvSpPr>
            <a:spLocks noGrp="1"/>
          </p:cNvSpPr>
          <p:nvPr>
            <p:ph type="title"/>
          </p:nvPr>
        </p:nvSpPr>
        <p:spPr>
          <a:xfrm>
            <a:off x="304800" y="762001"/>
            <a:ext cx="8534400" cy="761999"/>
          </a:xfrm>
        </p:spPr>
        <p:txBody>
          <a:bodyPr/>
          <a:lstStyle/>
          <a:p>
            <a:r>
              <a:rPr lang="en-US" b="1" dirty="0">
                <a:latin typeface="Calibri" panose="020F0502020204030204" pitchFamily="34" charset="0"/>
                <a:ea typeface="Source Sans Pro" charset="0"/>
                <a:cs typeface="Calibri" panose="020F0502020204030204" pitchFamily="34" charset="0"/>
              </a:rPr>
              <a:t>Sale of Treasury Stock Above Cost</a:t>
            </a:r>
            <a:endParaRPr lang="en-US" sz="2400" dirty="0"/>
          </a:p>
        </p:txBody>
      </p:sp>
      <p:sp>
        <p:nvSpPr>
          <p:cNvPr id="3" name="Content Placeholder 2">
            <a:extLst>
              <a:ext uri="{FF2B5EF4-FFF2-40B4-BE49-F238E27FC236}">
                <a16:creationId xmlns:a16="http://schemas.microsoft.com/office/drawing/2014/main" id="{92F87F86-306D-4BC9-84CC-42CD82DF412A}"/>
              </a:ext>
            </a:extLst>
          </p:cNvPr>
          <p:cNvSpPr>
            <a:spLocks noGrp="1"/>
          </p:cNvSpPr>
          <p:nvPr>
            <p:ph sz="quarter" idx="16"/>
          </p:nvPr>
        </p:nvSpPr>
        <p:spPr>
          <a:xfrm>
            <a:off x="304800" y="1828800"/>
            <a:ext cx="8534400" cy="1080470"/>
          </a:xfrm>
        </p:spPr>
        <p:txBody>
          <a:bodyPr/>
          <a:lstStyle/>
          <a:p>
            <a:r>
              <a:rPr lang="en-US" sz="2400" b="1" dirty="0"/>
              <a:t>Illustration: </a:t>
            </a:r>
            <a:r>
              <a:rPr lang="en-US" sz="2400" dirty="0"/>
              <a:t>On July 1, Mead, Inc. sells for $10 per share 1,000 of the 4,000 shares of its treasury stock previously acquired at $8 per share. The entry is as follows.</a:t>
            </a:r>
          </a:p>
        </p:txBody>
      </p:sp>
      <p:sp>
        <p:nvSpPr>
          <p:cNvPr id="5" name="Content Placeholder 4">
            <a:extLst>
              <a:ext uri="{FF2B5EF4-FFF2-40B4-BE49-F238E27FC236}">
                <a16:creationId xmlns:a16="http://schemas.microsoft.com/office/drawing/2014/main" id="{395EA216-5CD6-40C1-AD85-1D6797CE0830}"/>
              </a:ext>
            </a:extLst>
          </p:cNvPr>
          <p:cNvSpPr>
            <a:spLocks noGrp="1"/>
          </p:cNvSpPr>
          <p:nvPr>
            <p:ph sz="quarter" idx="18"/>
          </p:nvPr>
        </p:nvSpPr>
        <p:spPr>
          <a:xfrm>
            <a:off x="319914" y="3200400"/>
            <a:ext cx="1661286" cy="365125"/>
          </a:xfrm>
        </p:spPr>
        <p:txBody>
          <a:bodyPr/>
          <a:lstStyle/>
          <a:p>
            <a:r>
              <a:rPr lang="en-US" sz="2400" dirty="0">
                <a:solidFill>
                  <a:srgbClr val="000000"/>
                </a:solidFill>
              </a:rPr>
              <a:t>Jul. 1   Cash</a:t>
            </a:r>
            <a:endParaRPr lang="en-US" sz="2400" dirty="0"/>
          </a:p>
        </p:txBody>
      </p:sp>
      <p:sp>
        <p:nvSpPr>
          <p:cNvPr id="6" name="Content Placeholder 5">
            <a:extLst>
              <a:ext uri="{FF2B5EF4-FFF2-40B4-BE49-F238E27FC236}">
                <a16:creationId xmlns:a16="http://schemas.microsoft.com/office/drawing/2014/main" id="{74677936-E1F4-4393-B394-610192906DDA}"/>
              </a:ext>
            </a:extLst>
          </p:cNvPr>
          <p:cNvSpPr>
            <a:spLocks noGrp="1"/>
          </p:cNvSpPr>
          <p:nvPr>
            <p:ph sz="quarter" idx="19"/>
          </p:nvPr>
        </p:nvSpPr>
        <p:spPr>
          <a:xfrm>
            <a:off x="6329638" y="3200400"/>
            <a:ext cx="1061762" cy="365125"/>
          </a:xfrm>
        </p:spPr>
        <p:txBody>
          <a:bodyPr/>
          <a:lstStyle/>
          <a:p>
            <a:r>
              <a:rPr lang="en-US" sz="2400" dirty="0">
                <a:solidFill>
                  <a:srgbClr val="000000"/>
                </a:solidFill>
              </a:rPr>
              <a:t>10,000</a:t>
            </a:r>
            <a:endParaRPr lang="en-US" sz="2400" dirty="0"/>
          </a:p>
        </p:txBody>
      </p:sp>
      <p:sp>
        <p:nvSpPr>
          <p:cNvPr id="7" name="Content Placeholder 6">
            <a:extLst>
              <a:ext uri="{FF2B5EF4-FFF2-40B4-BE49-F238E27FC236}">
                <a16:creationId xmlns:a16="http://schemas.microsoft.com/office/drawing/2014/main" id="{28E41115-8F69-4A15-B994-CF108346BC18}"/>
              </a:ext>
            </a:extLst>
          </p:cNvPr>
          <p:cNvSpPr>
            <a:spLocks noGrp="1"/>
          </p:cNvSpPr>
          <p:nvPr>
            <p:ph sz="quarter" idx="21"/>
          </p:nvPr>
        </p:nvSpPr>
        <p:spPr>
          <a:xfrm>
            <a:off x="1447800" y="3581400"/>
            <a:ext cx="4196038" cy="365125"/>
          </a:xfrm>
        </p:spPr>
        <p:txBody>
          <a:bodyPr/>
          <a:lstStyle/>
          <a:p>
            <a:r>
              <a:rPr lang="en-US" sz="2400" dirty="0">
                <a:solidFill>
                  <a:srgbClr val="000000"/>
                </a:solidFill>
              </a:rPr>
              <a:t>Treasury Stock (1,000 × $8)</a:t>
            </a:r>
            <a:endParaRPr lang="en-US" sz="2400" dirty="0"/>
          </a:p>
        </p:txBody>
      </p:sp>
      <p:sp>
        <p:nvSpPr>
          <p:cNvPr id="8" name="Content Placeholder 7">
            <a:extLst>
              <a:ext uri="{FF2B5EF4-FFF2-40B4-BE49-F238E27FC236}">
                <a16:creationId xmlns:a16="http://schemas.microsoft.com/office/drawing/2014/main" id="{4E4CC3F7-162F-4B2A-9872-E35A90C7AD4B}"/>
              </a:ext>
            </a:extLst>
          </p:cNvPr>
          <p:cNvSpPr>
            <a:spLocks noGrp="1"/>
          </p:cNvSpPr>
          <p:nvPr>
            <p:ph sz="quarter" idx="22"/>
          </p:nvPr>
        </p:nvSpPr>
        <p:spPr>
          <a:xfrm>
            <a:off x="7658876" y="3581400"/>
            <a:ext cx="914400" cy="365125"/>
          </a:xfrm>
        </p:spPr>
        <p:txBody>
          <a:bodyPr/>
          <a:lstStyle/>
          <a:p>
            <a:r>
              <a:rPr lang="en-US" sz="2400" dirty="0">
                <a:solidFill>
                  <a:srgbClr val="000000"/>
                </a:solidFill>
              </a:rPr>
              <a:t>8,000</a:t>
            </a:r>
            <a:endParaRPr lang="en-US" sz="2400" dirty="0"/>
          </a:p>
        </p:txBody>
      </p:sp>
      <p:sp>
        <p:nvSpPr>
          <p:cNvPr id="10" name="Content Placeholder 9">
            <a:extLst>
              <a:ext uri="{FF2B5EF4-FFF2-40B4-BE49-F238E27FC236}">
                <a16:creationId xmlns:a16="http://schemas.microsoft.com/office/drawing/2014/main" id="{1A052864-6FA3-4917-BB12-016B22E1CDC9}"/>
              </a:ext>
            </a:extLst>
          </p:cNvPr>
          <p:cNvSpPr>
            <a:spLocks noGrp="1"/>
          </p:cNvSpPr>
          <p:nvPr>
            <p:ph sz="quarter" idx="24"/>
          </p:nvPr>
        </p:nvSpPr>
        <p:spPr>
          <a:xfrm>
            <a:off x="1447800" y="3962400"/>
            <a:ext cx="5181600" cy="1080470"/>
          </a:xfrm>
        </p:spPr>
        <p:txBody>
          <a:bodyPr/>
          <a:lstStyle/>
          <a:p>
            <a:r>
              <a:rPr lang="en-US" sz="2400" dirty="0">
                <a:solidFill>
                  <a:srgbClr val="000000"/>
                </a:solidFill>
              </a:rPr>
              <a:t>Paid-in Capital from Treasury Stock</a:t>
            </a:r>
          </a:p>
          <a:p>
            <a:pPr marL="361950">
              <a:spcBef>
                <a:spcPts val="0"/>
              </a:spcBef>
            </a:pPr>
            <a:r>
              <a:rPr lang="en-US" sz="2400" dirty="0"/>
              <a:t>(To record sale of 1,000 shares of treasury stock above cost)</a:t>
            </a:r>
          </a:p>
        </p:txBody>
      </p:sp>
      <p:sp>
        <p:nvSpPr>
          <p:cNvPr id="11" name="Content Placeholder 10">
            <a:extLst>
              <a:ext uri="{FF2B5EF4-FFF2-40B4-BE49-F238E27FC236}">
                <a16:creationId xmlns:a16="http://schemas.microsoft.com/office/drawing/2014/main" id="{EEAC5FE1-9157-4D87-BE3D-B5B07B8C138E}"/>
              </a:ext>
            </a:extLst>
          </p:cNvPr>
          <p:cNvSpPr>
            <a:spLocks noGrp="1"/>
          </p:cNvSpPr>
          <p:nvPr>
            <p:ph sz="quarter" idx="25"/>
          </p:nvPr>
        </p:nvSpPr>
        <p:spPr>
          <a:xfrm>
            <a:off x="7658876" y="3991945"/>
            <a:ext cx="1071059" cy="365125"/>
          </a:xfrm>
        </p:spPr>
        <p:txBody>
          <a:bodyPr/>
          <a:lstStyle/>
          <a:p>
            <a:r>
              <a:rPr lang="en-US" sz="2400" dirty="0">
                <a:solidFill>
                  <a:srgbClr val="000000"/>
                </a:solidFill>
              </a:rPr>
              <a:t>2,000</a:t>
            </a:r>
            <a:endParaRPr lang="en-US" sz="2400" dirty="0"/>
          </a:p>
        </p:txBody>
      </p:sp>
      <p:sp>
        <p:nvSpPr>
          <p:cNvPr id="12" name="Content Placeholder 11">
            <a:extLst>
              <a:ext uri="{FF2B5EF4-FFF2-40B4-BE49-F238E27FC236}">
                <a16:creationId xmlns:a16="http://schemas.microsoft.com/office/drawing/2014/main" id="{72B2DC4E-503F-4A9D-8735-758DFF6117B4}"/>
              </a:ext>
            </a:extLst>
          </p:cNvPr>
          <p:cNvSpPr>
            <a:spLocks noGrp="1"/>
          </p:cNvSpPr>
          <p:nvPr>
            <p:ph sz="quarter" idx="26"/>
          </p:nvPr>
        </p:nvSpPr>
        <p:spPr>
          <a:xfrm>
            <a:off x="304800" y="5181600"/>
            <a:ext cx="8534400" cy="762000"/>
          </a:xfrm>
        </p:spPr>
        <p:txBody>
          <a:bodyPr/>
          <a:lstStyle/>
          <a:p>
            <a:r>
              <a:rPr lang="en-US" sz="2400" dirty="0">
                <a:solidFill>
                  <a:srgbClr val="000000"/>
                </a:solidFill>
              </a:rPr>
              <a:t>A corporation does not realize a gain or suffer a loss from stock transactions with its own stockholders.</a:t>
            </a:r>
            <a:endParaRPr lang="en-US" sz="2400" dirty="0"/>
          </a:p>
        </p:txBody>
      </p:sp>
      <p:sp>
        <p:nvSpPr>
          <p:cNvPr id="23" name="Slide Number Placeholder 22">
            <a:extLst>
              <a:ext uri="{FF2B5EF4-FFF2-40B4-BE49-F238E27FC236}">
                <a16:creationId xmlns:a16="http://schemas.microsoft.com/office/drawing/2014/main" id="{C3ADB033-D6E5-42A2-AA75-5772CD252CDF}"/>
              </a:ext>
            </a:extLst>
          </p:cNvPr>
          <p:cNvSpPr>
            <a:spLocks noGrp="1"/>
          </p:cNvSpPr>
          <p:nvPr>
            <p:ph type="sldNum" sz="quarter" idx="10"/>
          </p:nvPr>
        </p:nvSpPr>
        <p:spPr/>
        <p:txBody>
          <a:bodyPr/>
          <a:lstStyle/>
          <a:p>
            <a:fld id="{67B19427-F580-D146-B60E-4CADEE75497F}" type="slidenum">
              <a:rPr lang="en-US" smtClean="0"/>
              <a:pPr/>
              <a:t>32</a:t>
            </a:fld>
            <a:endParaRPr lang="en-US" dirty="0"/>
          </a:p>
        </p:txBody>
      </p:sp>
      <p:sp>
        <p:nvSpPr>
          <p:cNvPr id="24" name="Footer Placeholder 23">
            <a:extLst>
              <a:ext uri="{FF2B5EF4-FFF2-40B4-BE49-F238E27FC236}">
                <a16:creationId xmlns:a16="http://schemas.microsoft.com/office/drawing/2014/main" id="{F0618A2A-3150-4FE5-BE3A-BE7ACB108CB4}"/>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42555452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xEl>
                                              <p:pRg st="0" end="0"/>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xEl>
                                              <p:pRg st="0" end="0"/>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xEl>
                                              <p:pRg st="1" end="1"/>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6" grpId="0" build="p"/>
      <p:bldP spid="7" grpId="0" build="p"/>
      <p:bldP spid="8" grpId="0" build="p"/>
      <p:bldP spid="10" grpId="0" uiExpand="1" build="p"/>
      <p:bldP spid="11" grpId="0" build="p"/>
      <p:bldP spid="12"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32B30F-1A78-433A-BAA0-FF2C10A3D437}"/>
              </a:ext>
            </a:extLst>
          </p:cNvPr>
          <p:cNvSpPr>
            <a:spLocks noGrp="1"/>
          </p:cNvSpPr>
          <p:nvPr>
            <p:ph type="title"/>
          </p:nvPr>
        </p:nvSpPr>
        <p:spPr>
          <a:xfrm>
            <a:off x="304800" y="762001"/>
            <a:ext cx="8534400" cy="732455"/>
          </a:xfrm>
        </p:spPr>
        <p:txBody>
          <a:bodyPr/>
          <a:lstStyle/>
          <a:p>
            <a:r>
              <a:rPr lang="en-US" b="1" dirty="0">
                <a:latin typeface="Calibri" panose="020F0502020204030204" pitchFamily="34" charset="0"/>
                <a:ea typeface="Source Sans Pro" charset="0"/>
                <a:cs typeface="Calibri" panose="020F0502020204030204" pitchFamily="34" charset="0"/>
              </a:rPr>
              <a:t>Sale of Treasury Stock Below Cost </a:t>
            </a:r>
            <a:r>
              <a:rPr lang="en-US" sz="2400" dirty="0">
                <a:latin typeface="Calibri" panose="020F0502020204030204" pitchFamily="34" charset="0"/>
                <a:ea typeface="Source Sans Pro" charset="0"/>
                <a:cs typeface="Calibri" panose="020F0502020204030204" pitchFamily="34" charset="0"/>
              </a:rPr>
              <a:t>(1 of 2)</a:t>
            </a:r>
            <a:endParaRPr lang="en-US" sz="2400" dirty="0"/>
          </a:p>
        </p:txBody>
      </p:sp>
      <p:sp>
        <p:nvSpPr>
          <p:cNvPr id="3" name="Content Placeholder 2">
            <a:extLst>
              <a:ext uri="{FF2B5EF4-FFF2-40B4-BE49-F238E27FC236}">
                <a16:creationId xmlns:a16="http://schemas.microsoft.com/office/drawing/2014/main" id="{92F87F86-306D-4BC9-84CC-42CD82DF412A}"/>
              </a:ext>
            </a:extLst>
          </p:cNvPr>
          <p:cNvSpPr>
            <a:spLocks noGrp="1"/>
          </p:cNvSpPr>
          <p:nvPr>
            <p:ph sz="quarter" idx="16"/>
          </p:nvPr>
        </p:nvSpPr>
        <p:spPr>
          <a:xfrm>
            <a:off x="304800" y="1600200"/>
            <a:ext cx="8534400" cy="732455"/>
          </a:xfrm>
        </p:spPr>
        <p:txBody>
          <a:bodyPr/>
          <a:lstStyle/>
          <a:p>
            <a:r>
              <a:rPr lang="en-US" sz="2400" dirty="0"/>
              <a:t>If Mead, Inc. sells an additional 800 shares of treasury stock on October 1 at $7 per share, it makes the following entry.</a:t>
            </a:r>
          </a:p>
        </p:txBody>
      </p:sp>
      <p:sp>
        <p:nvSpPr>
          <p:cNvPr id="5" name="Content Placeholder 4">
            <a:extLst>
              <a:ext uri="{FF2B5EF4-FFF2-40B4-BE49-F238E27FC236}">
                <a16:creationId xmlns:a16="http://schemas.microsoft.com/office/drawing/2014/main" id="{395EA216-5CD6-40C1-AD85-1D6797CE0830}"/>
              </a:ext>
            </a:extLst>
          </p:cNvPr>
          <p:cNvSpPr>
            <a:spLocks noGrp="1"/>
          </p:cNvSpPr>
          <p:nvPr>
            <p:ph sz="quarter" idx="18"/>
          </p:nvPr>
        </p:nvSpPr>
        <p:spPr>
          <a:xfrm>
            <a:off x="810176" y="2514600"/>
            <a:ext cx="3337686" cy="365125"/>
          </a:xfrm>
        </p:spPr>
        <p:txBody>
          <a:bodyPr/>
          <a:lstStyle/>
          <a:p>
            <a:r>
              <a:rPr lang="en-US" sz="2400" dirty="0">
                <a:solidFill>
                  <a:srgbClr val="000000"/>
                </a:solidFill>
              </a:rPr>
              <a:t>Cash (800 × $7)</a:t>
            </a:r>
            <a:endParaRPr lang="en-US" sz="2400" dirty="0"/>
          </a:p>
        </p:txBody>
      </p:sp>
      <p:sp>
        <p:nvSpPr>
          <p:cNvPr id="6" name="Content Placeholder 5">
            <a:extLst>
              <a:ext uri="{FF2B5EF4-FFF2-40B4-BE49-F238E27FC236}">
                <a16:creationId xmlns:a16="http://schemas.microsoft.com/office/drawing/2014/main" id="{74677936-E1F4-4393-B394-610192906DDA}"/>
              </a:ext>
            </a:extLst>
          </p:cNvPr>
          <p:cNvSpPr>
            <a:spLocks noGrp="1"/>
          </p:cNvSpPr>
          <p:nvPr>
            <p:ph sz="quarter" idx="19"/>
          </p:nvPr>
        </p:nvSpPr>
        <p:spPr>
          <a:xfrm>
            <a:off x="6329638" y="2514600"/>
            <a:ext cx="909362" cy="365125"/>
          </a:xfrm>
        </p:spPr>
        <p:txBody>
          <a:bodyPr/>
          <a:lstStyle/>
          <a:p>
            <a:r>
              <a:rPr lang="en-US" sz="2400" dirty="0">
                <a:solidFill>
                  <a:srgbClr val="000000"/>
                </a:solidFill>
              </a:rPr>
              <a:t>5,600</a:t>
            </a:r>
            <a:endParaRPr lang="en-US" sz="2400" dirty="0"/>
          </a:p>
        </p:txBody>
      </p:sp>
      <p:sp>
        <p:nvSpPr>
          <p:cNvPr id="7" name="Content Placeholder 6">
            <a:extLst>
              <a:ext uri="{FF2B5EF4-FFF2-40B4-BE49-F238E27FC236}">
                <a16:creationId xmlns:a16="http://schemas.microsoft.com/office/drawing/2014/main" id="{28E41115-8F69-4A15-B994-CF108346BC18}"/>
              </a:ext>
            </a:extLst>
          </p:cNvPr>
          <p:cNvSpPr>
            <a:spLocks noGrp="1"/>
          </p:cNvSpPr>
          <p:nvPr>
            <p:ph sz="quarter" idx="21"/>
          </p:nvPr>
        </p:nvSpPr>
        <p:spPr>
          <a:xfrm>
            <a:off x="810176" y="2885589"/>
            <a:ext cx="4833662" cy="365125"/>
          </a:xfrm>
        </p:spPr>
        <p:txBody>
          <a:bodyPr/>
          <a:lstStyle/>
          <a:p>
            <a:r>
              <a:rPr lang="en-US" sz="2400" dirty="0">
                <a:solidFill>
                  <a:srgbClr val="000000"/>
                </a:solidFill>
              </a:rPr>
              <a:t>Paid-in Capital from Treasury Stock</a:t>
            </a:r>
            <a:endParaRPr lang="en-US" sz="2400" dirty="0"/>
          </a:p>
        </p:txBody>
      </p:sp>
      <p:sp>
        <p:nvSpPr>
          <p:cNvPr id="8" name="Content Placeholder 7">
            <a:extLst>
              <a:ext uri="{FF2B5EF4-FFF2-40B4-BE49-F238E27FC236}">
                <a16:creationId xmlns:a16="http://schemas.microsoft.com/office/drawing/2014/main" id="{4E4CC3F7-162F-4B2A-9872-E35A90C7AD4B}"/>
              </a:ext>
            </a:extLst>
          </p:cNvPr>
          <p:cNvSpPr>
            <a:spLocks noGrp="1"/>
          </p:cNvSpPr>
          <p:nvPr>
            <p:ph sz="quarter" idx="22"/>
          </p:nvPr>
        </p:nvSpPr>
        <p:spPr>
          <a:xfrm>
            <a:off x="6553200" y="2885589"/>
            <a:ext cx="685800" cy="365125"/>
          </a:xfrm>
        </p:spPr>
        <p:txBody>
          <a:bodyPr/>
          <a:lstStyle/>
          <a:p>
            <a:r>
              <a:rPr lang="en-US" sz="2400" dirty="0">
                <a:solidFill>
                  <a:srgbClr val="000000"/>
                </a:solidFill>
              </a:rPr>
              <a:t>800</a:t>
            </a:r>
            <a:endParaRPr lang="en-US" sz="2400" dirty="0"/>
          </a:p>
        </p:txBody>
      </p:sp>
      <p:sp>
        <p:nvSpPr>
          <p:cNvPr id="10" name="Content Placeholder 9">
            <a:extLst>
              <a:ext uri="{FF2B5EF4-FFF2-40B4-BE49-F238E27FC236}">
                <a16:creationId xmlns:a16="http://schemas.microsoft.com/office/drawing/2014/main" id="{1A052864-6FA3-4917-BB12-016B22E1CDC9}"/>
              </a:ext>
            </a:extLst>
          </p:cNvPr>
          <p:cNvSpPr>
            <a:spLocks noGrp="1"/>
          </p:cNvSpPr>
          <p:nvPr>
            <p:ph sz="quarter" idx="24"/>
          </p:nvPr>
        </p:nvSpPr>
        <p:spPr>
          <a:xfrm>
            <a:off x="1066800" y="3272415"/>
            <a:ext cx="4833662" cy="1113387"/>
          </a:xfrm>
        </p:spPr>
        <p:txBody>
          <a:bodyPr/>
          <a:lstStyle/>
          <a:p>
            <a:r>
              <a:rPr lang="en-US" sz="2400" dirty="0">
                <a:solidFill>
                  <a:srgbClr val="000000"/>
                </a:solidFill>
              </a:rPr>
              <a:t>Treasury Stock (800 × $8)</a:t>
            </a:r>
          </a:p>
          <a:p>
            <a:pPr marL="361950">
              <a:spcBef>
                <a:spcPts val="0"/>
              </a:spcBef>
            </a:pPr>
            <a:r>
              <a:rPr lang="en-US" sz="2400" dirty="0"/>
              <a:t>(To record sale of 800 shares of treasury stock below cost)</a:t>
            </a:r>
          </a:p>
        </p:txBody>
      </p:sp>
      <p:sp>
        <p:nvSpPr>
          <p:cNvPr id="11" name="Content Placeholder 10">
            <a:extLst>
              <a:ext uri="{FF2B5EF4-FFF2-40B4-BE49-F238E27FC236}">
                <a16:creationId xmlns:a16="http://schemas.microsoft.com/office/drawing/2014/main" id="{EEAC5FE1-9157-4D87-BE3D-B5B07B8C138E}"/>
              </a:ext>
            </a:extLst>
          </p:cNvPr>
          <p:cNvSpPr>
            <a:spLocks noGrp="1"/>
          </p:cNvSpPr>
          <p:nvPr>
            <p:ph sz="quarter" idx="25"/>
          </p:nvPr>
        </p:nvSpPr>
        <p:spPr>
          <a:xfrm>
            <a:off x="7658876" y="3301961"/>
            <a:ext cx="1071059" cy="365125"/>
          </a:xfrm>
        </p:spPr>
        <p:txBody>
          <a:bodyPr/>
          <a:lstStyle/>
          <a:p>
            <a:r>
              <a:rPr lang="en-US" sz="2400" dirty="0">
                <a:solidFill>
                  <a:srgbClr val="000000"/>
                </a:solidFill>
              </a:rPr>
              <a:t>6,400</a:t>
            </a:r>
            <a:endParaRPr lang="en-US" sz="2400" dirty="0"/>
          </a:p>
        </p:txBody>
      </p:sp>
      <p:pic>
        <p:nvPicPr>
          <p:cNvPr id="4" name="Content Placeholder 3" descr="An illustration displays 2 T-accounts titled: treasury stock and paid in capital from treasure stock. Treasury stock shows 32,000 on February 1 on the debit side and credit balances of 8,000 on July 1 and 6,400 on October 31. It has an ending balance of 17,600 on the debit side. D. Barnett capital shows a shows closing balance of 8,000 on December 31 on the debit side. Paid in capital from treasure stock shows 800 on October 1 on the debit side and credit balances of 2,000 on July 1. It has an ending balance of 1,200 on the credit side.">
            <a:extLst>
              <a:ext uri="{FF2B5EF4-FFF2-40B4-BE49-F238E27FC236}">
                <a16:creationId xmlns:a16="http://schemas.microsoft.com/office/drawing/2014/main" id="{5169F5DB-C229-48BF-A378-C6B4FCBB7260}"/>
              </a:ext>
            </a:extLst>
          </p:cNvPr>
          <p:cNvPicPr>
            <a:picLocks noGrp="1" noChangeAspect="1"/>
          </p:cNvPicPr>
          <p:nvPr>
            <p:ph sz="quarter" idx="26"/>
          </p:nvPr>
        </p:nvPicPr>
        <p:blipFill>
          <a:blip r:embed="rId2"/>
          <a:stretch>
            <a:fillRect/>
          </a:stretch>
        </p:blipFill>
        <p:spPr>
          <a:xfrm>
            <a:off x="810176" y="4700239"/>
            <a:ext cx="7248647" cy="1349929"/>
          </a:xfrm>
          <a:prstGeom prst="rect">
            <a:avLst/>
          </a:prstGeom>
          <a:ln w="12700">
            <a:solidFill>
              <a:srgbClr val="000010"/>
            </a:solidFill>
          </a:ln>
        </p:spPr>
      </p:pic>
      <p:sp>
        <p:nvSpPr>
          <p:cNvPr id="23" name="Slide Number Placeholder 22">
            <a:extLst>
              <a:ext uri="{FF2B5EF4-FFF2-40B4-BE49-F238E27FC236}">
                <a16:creationId xmlns:a16="http://schemas.microsoft.com/office/drawing/2014/main" id="{C3ADB033-D6E5-42A2-AA75-5772CD252CDF}"/>
              </a:ext>
            </a:extLst>
          </p:cNvPr>
          <p:cNvSpPr>
            <a:spLocks noGrp="1"/>
          </p:cNvSpPr>
          <p:nvPr>
            <p:ph type="sldNum" sz="quarter" idx="10"/>
          </p:nvPr>
        </p:nvSpPr>
        <p:spPr/>
        <p:txBody>
          <a:bodyPr/>
          <a:lstStyle/>
          <a:p>
            <a:fld id="{67B19427-F580-D146-B60E-4CADEE75497F}" type="slidenum">
              <a:rPr lang="en-US" smtClean="0"/>
              <a:pPr/>
              <a:t>33</a:t>
            </a:fld>
            <a:endParaRPr lang="en-US" dirty="0"/>
          </a:p>
        </p:txBody>
      </p:sp>
      <p:sp>
        <p:nvSpPr>
          <p:cNvPr id="24" name="Footer Placeholder 23">
            <a:extLst>
              <a:ext uri="{FF2B5EF4-FFF2-40B4-BE49-F238E27FC236}">
                <a16:creationId xmlns:a16="http://schemas.microsoft.com/office/drawing/2014/main" id="{F0618A2A-3150-4FE5-BE3A-BE7ACB108CB4}"/>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39317181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xEl>
                                              <p:pRg st="0" end="0"/>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xEl>
                                              <p:pRg st="0" end="0"/>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xEl>
                                              <p:pRg st="1" end="1"/>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6" grpId="0" build="p"/>
      <p:bldP spid="7" grpId="0" build="p"/>
      <p:bldP spid="8" grpId="0" build="p"/>
      <p:bldP spid="10" grpId="0" uiExpand="1" build="p"/>
      <p:bldP spid="11"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32B30F-1A78-433A-BAA0-FF2C10A3D437}"/>
              </a:ext>
            </a:extLst>
          </p:cNvPr>
          <p:cNvSpPr>
            <a:spLocks noGrp="1"/>
          </p:cNvSpPr>
          <p:nvPr>
            <p:ph type="title"/>
          </p:nvPr>
        </p:nvSpPr>
        <p:spPr>
          <a:xfrm>
            <a:off x="304800" y="762001"/>
            <a:ext cx="8534400" cy="717549"/>
          </a:xfrm>
        </p:spPr>
        <p:txBody>
          <a:bodyPr/>
          <a:lstStyle/>
          <a:p>
            <a:r>
              <a:rPr lang="en-US" b="1" dirty="0">
                <a:latin typeface="Calibri" panose="020F0502020204030204" pitchFamily="34" charset="0"/>
                <a:ea typeface="Source Sans Pro" charset="0"/>
                <a:cs typeface="Calibri" panose="020F0502020204030204" pitchFamily="34" charset="0"/>
              </a:rPr>
              <a:t>Sale of Treasury Stock Below Cost </a:t>
            </a:r>
            <a:r>
              <a:rPr lang="en-US" sz="2400" dirty="0">
                <a:latin typeface="Calibri" panose="020F0502020204030204" pitchFamily="34" charset="0"/>
                <a:ea typeface="Source Sans Pro" charset="0"/>
                <a:cs typeface="Calibri" panose="020F0502020204030204" pitchFamily="34" charset="0"/>
              </a:rPr>
              <a:t>(2 of 2)</a:t>
            </a:r>
            <a:endParaRPr lang="en-US" sz="2400" dirty="0"/>
          </a:p>
        </p:txBody>
      </p:sp>
      <p:sp>
        <p:nvSpPr>
          <p:cNvPr id="3" name="Content Placeholder 2">
            <a:extLst>
              <a:ext uri="{FF2B5EF4-FFF2-40B4-BE49-F238E27FC236}">
                <a16:creationId xmlns:a16="http://schemas.microsoft.com/office/drawing/2014/main" id="{92F87F86-306D-4BC9-84CC-42CD82DF412A}"/>
              </a:ext>
            </a:extLst>
          </p:cNvPr>
          <p:cNvSpPr>
            <a:spLocks noGrp="1"/>
          </p:cNvSpPr>
          <p:nvPr>
            <p:ph sz="quarter" idx="16"/>
          </p:nvPr>
        </p:nvSpPr>
        <p:spPr>
          <a:xfrm>
            <a:off x="304800" y="1571625"/>
            <a:ext cx="8534400" cy="790575"/>
          </a:xfrm>
        </p:spPr>
        <p:txBody>
          <a:bodyPr/>
          <a:lstStyle/>
          <a:p>
            <a:r>
              <a:rPr lang="en-US" altLang="en-US" sz="2400" dirty="0"/>
              <a:t>On December 1, assume that Mead, Inc. sells its remaining 2,200 shares at $7 per share and makes the following entry.</a:t>
            </a:r>
            <a:endParaRPr lang="en-US" sz="2400" dirty="0"/>
          </a:p>
        </p:txBody>
      </p:sp>
      <p:sp>
        <p:nvSpPr>
          <p:cNvPr id="5" name="Content Placeholder 4">
            <a:extLst>
              <a:ext uri="{FF2B5EF4-FFF2-40B4-BE49-F238E27FC236}">
                <a16:creationId xmlns:a16="http://schemas.microsoft.com/office/drawing/2014/main" id="{395EA216-5CD6-40C1-AD85-1D6797CE0830}"/>
              </a:ext>
            </a:extLst>
          </p:cNvPr>
          <p:cNvSpPr>
            <a:spLocks noGrp="1"/>
          </p:cNvSpPr>
          <p:nvPr>
            <p:ph sz="quarter" idx="18"/>
          </p:nvPr>
        </p:nvSpPr>
        <p:spPr>
          <a:xfrm>
            <a:off x="551432" y="2514600"/>
            <a:ext cx="2466424" cy="365125"/>
          </a:xfrm>
        </p:spPr>
        <p:txBody>
          <a:bodyPr/>
          <a:lstStyle/>
          <a:p>
            <a:r>
              <a:rPr lang="en-US" sz="2400" dirty="0">
                <a:solidFill>
                  <a:srgbClr val="000000"/>
                </a:solidFill>
              </a:rPr>
              <a:t>Cash (2,200 × $7)</a:t>
            </a:r>
            <a:endParaRPr lang="en-US" sz="2400" dirty="0"/>
          </a:p>
        </p:txBody>
      </p:sp>
      <p:sp>
        <p:nvSpPr>
          <p:cNvPr id="6" name="Content Placeholder 5">
            <a:extLst>
              <a:ext uri="{FF2B5EF4-FFF2-40B4-BE49-F238E27FC236}">
                <a16:creationId xmlns:a16="http://schemas.microsoft.com/office/drawing/2014/main" id="{74677936-E1F4-4393-B394-610192906DDA}"/>
              </a:ext>
            </a:extLst>
          </p:cNvPr>
          <p:cNvSpPr>
            <a:spLocks noGrp="1"/>
          </p:cNvSpPr>
          <p:nvPr>
            <p:ph sz="quarter" idx="19"/>
          </p:nvPr>
        </p:nvSpPr>
        <p:spPr>
          <a:xfrm>
            <a:off x="5385094" y="2514600"/>
            <a:ext cx="1263118" cy="365125"/>
          </a:xfrm>
        </p:spPr>
        <p:txBody>
          <a:bodyPr/>
          <a:lstStyle/>
          <a:p>
            <a:r>
              <a:rPr lang="en-US" sz="2400" dirty="0">
                <a:solidFill>
                  <a:srgbClr val="000000"/>
                </a:solidFill>
              </a:rPr>
              <a:t>15,400</a:t>
            </a:r>
            <a:endParaRPr lang="en-US" sz="2400" dirty="0"/>
          </a:p>
        </p:txBody>
      </p:sp>
      <p:sp>
        <p:nvSpPr>
          <p:cNvPr id="7" name="Content Placeholder 6">
            <a:extLst>
              <a:ext uri="{FF2B5EF4-FFF2-40B4-BE49-F238E27FC236}">
                <a16:creationId xmlns:a16="http://schemas.microsoft.com/office/drawing/2014/main" id="{28E41115-8F69-4A15-B994-CF108346BC18}"/>
              </a:ext>
            </a:extLst>
          </p:cNvPr>
          <p:cNvSpPr>
            <a:spLocks noGrp="1"/>
          </p:cNvSpPr>
          <p:nvPr>
            <p:ph sz="quarter" idx="21"/>
          </p:nvPr>
        </p:nvSpPr>
        <p:spPr>
          <a:xfrm>
            <a:off x="551432" y="2915696"/>
            <a:ext cx="4667250" cy="365125"/>
          </a:xfrm>
        </p:spPr>
        <p:txBody>
          <a:bodyPr/>
          <a:lstStyle/>
          <a:p>
            <a:r>
              <a:rPr lang="en-US" sz="2400" dirty="0">
                <a:solidFill>
                  <a:srgbClr val="000000"/>
                </a:solidFill>
              </a:rPr>
              <a:t>Paid-in Capital from Treasury Stock</a:t>
            </a:r>
            <a:endParaRPr lang="en-US" sz="2400" dirty="0"/>
          </a:p>
        </p:txBody>
      </p:sp>
      <p:sp>
        <p:nvSpPr>
          <p:cNvPr id="8" name="Content Placeholder 7">
            <a:extLst>
              <a:ext uri="{FF2B5EF4-FFF2-40B4-BE49-F238E27FC236}">
                <a16:creationId xmlns:a16="http://schemas.microsoft.com/office/drawing/2014/main" id="{4E4CC3F7-162F-4B2A-9872-E35A90C7AD4B}"/>
              </a:ext>
            </a:extLst>
          </p:cNvPr>
          <p:cNvSpPr>
            <a:spLocks noGrp="1"/>
          </p:cNvSpPr>
          <p:nvPr>
            <p:ph sz="quarter" idx="22"/>
          </p:nvPr>
        </p:nvSpPr>
        <p:spPr>
          <a:xfrm>
            <a:off x="5532456" y="2895600"/>
            <a:ext cx="914400" cy="365125"/>
          </a:xfrm>
        </p:spPr>
        <p:txBody>
          <a:bodyPr/>
          <a:lstStyle/>
          <a:p>
            <a:r>
              <a:rPr lang="en-US" sz="2400" dirty="0">
                <a:solidFill>
                  <a:srgbClr val="000000"/>
                </a:solidFill>
              </a:rPr>
              <a:t>1,200</a:t>
            </a:r>
            <a:endParaRPr lang="en-US" sz="2400" dirty="0"/>
          </a:p>
        </p:txBody>
      </p:sp>
      <p:sp>
        <p:nvSpPr>
          <p:cNvPr id="9" name="Content Placeholder 8">
            <a:extLst>
              <a:ext uri="{FF2B5EF4-FFF2-40B4-BE49-F238E27FC236}">
                <a16:creationId xmlns:a16="http://schemas.microsoft.com/office/drawing/2014/main" id="{92E8B3CF-C62D-4A88-A2F4-310AF6EB76E7}"/>
              </a:ext>
            </a:extLst>
          </p:cNvPr>
          <p:cNvSpPr>
            <a:spLocks noGrp="1"/>
          </p:cNvSpPr>
          <p:nvPr>
            <p:ph sz="quarter" idx="23"/>
          </p:nvPr>
        </p:nvSpPr>
        <p:spPr>
          <a:xfrm>
            <a:off x="6675456" y="2590800"/>
            <a:ext cx="1600200" cy="914400"/>
          </a:xfrm>
        </p:spPr>
        <p:txBody>
          <a:bodyPr/>
          <a:lstStyle/>
          <a:p>
            <a:pPr algn="ctr">
              <a:spcBef>
                <a:spcPct val="50000"/>
              </a:spcBef>
            </a:pPr>
            <a:r>
              <a:rPr lang="en-US" altLang="en-US" sz="2000" b="1" dirty="0">
                <a:solidFill>
                  <a:schemeClr val="accent2"/>
                </a:solidFill>
              </a:rPr>
              <a:t>Limited to balance on hand</a:t>
            </a:r>
          </a:p>
        </p:txBody>
      </p:sp>
      <p:sp>
        <p:nvSpPr>
          <p:cNvPr id="10" name="Content Placeholder 9">
            <a:extLst>
              <a:ext uri="{FF2B5EF4-FFF2-40B4-BE49-F238E27FC236}">
                <a16:creationId xmlns:a16="http://schemas.microsoft.com/office/drawing/2014/main" id="{1A052864-6FA3-4917-BB12-016B22E1CDC9}"/>
              </a:ext>
            </a:extLst>
          </p:cNvPr>
          <p:cNvSpPr>
            <a:spLocks noGrp="1"/>
          </p:cNvSpPr>
          <p:nvPr>
            <p:ph sz="quarter" idx="24"/>
          </p:nvPr>
        </p:nvSpPr>
        <p:spPr>
          <a:xfrm>
            <a:off x="533400" y="3276600"/>
            <a:ext cx="2999824" cy="365125"/>
          </a:xfrm>
        </p:spPr>
        <p:txBody>
          <a:bodyPr/>
          <a:lstStyle/>
          <a:p>
            <a:r>
              <a:rPr lang="en-US" sz="2400" dirty="0">
                <a:solidFill>
                  <a:srgbClr val="000000"/>
                </a:solidFill>
              </a:rPr>
              <a:t>Retained Earnings</a:t>
            </a:r>
            <a:endParaRPr lang="en-US" sz="2400" dirty="0"/>
          </a:p>
        </p:txBody>
      </p:sp>
      <p:sp>
        <p:nvSpPr>
          <p:cNvPr id="11" name="Content Placeholder 10">
            <a:extLst>
              <a:ext uri="{FF2B5EF4-FFF2-40B4-BE49-F238E27FC236}">
                <a16:creationId xmlns:a16="http://schemas.microsoft.com/office/drawing/2014/main" id="{EEAC5FE1-9157-4D87-BE3D-B5B07B8C138E}"/>
              </a:ext>
            </a:extLst>
          </p:cNvPr>
          <p:cNvSpPr>
            <a:spLocks noGrp="1"/>
          </p:cNvSpPr>
          <p:nvPr>
            <p:ph sz="quarter" idx="25"/>
          </p:nvPr>
        </p:nvSpPr>
        <p:spPr>
          <a:xfrm>
            <a:off x="5532456" y="3276600"/>
            <a:ext cx="914400" cy="352425"/>
          </a:xfrm>
        </p:spPr>
        <p:txBody>
          <a:bodyPr/>
          <a:lstStyle/>
          <a:p>
            <a:r>
              <a:rPr lang="en-US" sz="2400" dirty="0">
                <a:solidFill>
                  <a:srgbClr val="000000"/>
                </a:solidFill>
              </a:rPr>
              <a:t>1,000</a:t>
            </a:r>
            <a:endParaRPr lang="en-US" sz="2400" dirty="0"/>
          </a:p>
        </p:txBody>
      </p:sp>
      <p:sp>
        <p:nvSpPr>
          <p:cNvPr id="12" name="Content Placeholder 11">
            <a:extLst>
              <a:ext uri="{FF2B5EF4-FFF2-40B4-BE49-F238E27FC236}">
                <a16:creationId xmlns:a16="http://schemas.microsoft.com/office/drawing/2014/main" id="{72B2DC4E-503F-4A9D-8735-758DFF6117B4}"/>
              </a:ext>
            </a:extLst>
          </p:cNvPr>
          <p:cNvSpPr>
            <a:spLocks noGrp="1"/>
          </p:cNvSpPr>
          <p:nvPr>
            <p:ph sz="quarter" idx="26"/>
          </p:nvPr>
        </p:nvSpPr>
        <p:spPr>
          <a:xfrm>
            <a:off x="808056" y="3659206"/>
            <a:ext cx="3733800" cy="1728246"/>
          </a:xfrm>
        </p:spPr>
        <p:txBody>
          <a:bodyPr/>
          <a:lstStyle/>
          <a:p>
            <a:r>
              <a:rPr lang="en-US" sz="2400" dirty="0">
                <a:solidFill>
                  <a:srgbClr val="000000"/>
                </a:solidFill>
              </a:rPr>
              <a:t>Treasury Stock (2,200 × $8)</a:t>
            </a:r>
          </a:p>
          <a:p>
            <a:pPr marL="361950">
              <a:spcBef>
                <a:spcPts val="0"/>
              </a:spcBef>
            </a:pPr>
            <a:r>
              <a:rPr lang="en-US" sz="2400" dirty="0"/>
              <a:t>(To record sale of 2,200 shares of treasury stock at $7 per share)</a:t>
            </a:r>
          </a:p>
        </p:txBody>
      </p:sp>
      <p:sp>
        <p:nvSpPr>
          <p:cNvPr id="13" name="Content Placeholder 12">
            <a:extLst>
              <a:ext uri="{FF2B5EF4-FFF2-40B4-BE49-F238E27FC236}">
                <a16:creationId xmlns:a16="http://schemas.microsoft.com/office/drawing/2014/main" id="{F5EA98BB-E1C7-44FC-8C3D-EC2266A9D34F}"/>
              </a:ext>
            </a:extLst>
          </p:cNvPr>
          <p:cNvSpPr>
            <a:spLocks noGrp="1"/>
          </p:cNvSpPr>
          <p:nvPr>
            <p:ph sz="quarter" idx="27"/>
          </p:nvPr>
        </p:nvSpPr>
        <p:spPr>
          <a:xfrm>
            <a:off x="6751654" y="3627456"/>
            <a:ext cx="1219201" cy="365125"/>
          </a:xfrm>
        </p:spPr>
        <p:txBody>
          <a:bodyPr/>
          <a:lstStyle/>
          <a:p>
            <a:r>
              <a:rPr lang="en-US" sz="2400" dirty="0">
                <a:solidFill>
                  <a:srgbClr val="000000"/>
                </a:solidFill>
              </a:rPr>
              <a:t>17,600</a:t>
            </a:r>
            <a:endParaRPr lang="en-US" sz="2400" dirty="0"/>
          </a:p>
        </p:txBody>
      </p:sp>
      <p:sp>
        <p:nvSpPr>
          <p:cNvPr id="23" name="Slide Number Placeholder 22">
            <a:extLst>
              <a:ext uri="{FF2B5EF4-FFF2-40B4-BE49-F238E27FC236}">
                <a16:creationId xmlns:a16="http://schemas.microsoft.com/office/drawing/2014/main" id="{C3ADB033-D6E5-42A2-AA75-5772CD252CDF}"/>
              </a:ext>
            </a:extLst>
          </p:cNvPr>
          <p:cNvSpPr>
            <a:spLocks noGrp="1"/>
          </p:cNvSpPr>
          <p:nvPr>
            <p:ph type="sldNum" sz="quarter" idx="10"/>
          </p:nvPr>
        </p:nvSpPr>
        <p:spPr/>
        <p:txBody>
          <a:bodyPr/>
          <a:lstStyle/>
          <a:p>
            <a:fld id="{67B19427-F580-D146-B60E-4CADEE75497F}" type="slidenum">
              <a:rPr lang="en-US" smtClean="0"/>
              <a:pPr/>
              <a:t>34</a:t>
            </a:fld>
            <a:endParaRPr lang="en-US" dirty="0"/>
          </a:p>
        </p:txBody>
      </p:sp>
      <p:sp>
        <p:nvSpPr>
          <p:cNvPr id="24" name="Footer Placeholder 23">
            <a:extLst>
              <a:ext uri="{FF2B5EF4-FFF2-40B4-BE49-F238E27FC236}">
                <a16:creationId xmlns:a16="http://schemas.microsoft.com/office/drawing/2014/main" id="{F0618A2A-3150-4FE5-BE3A-BE7ACB108CB4}"/>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31631909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xEl>
                                              <p:pRg st="0" end="0"/>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xEl>
                                              <p:pRg st="0" end="0"/>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0">
                                            <p:txEl>
                                              <p:pRg st="0" end="0"/>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xEl>
                                              <p:pRg st="0" end="0"/>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2">
                                            <p:txEl>
                                              <p:pRg st="1" end="1"/>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6" grpId="0" build="p"/>
      <p:bldP spid="7" grpId="0" build="p"/>
      <p:bldP spid="8" grpId="0" build="p"/>
      <p:bldP spid="9" grpId="0" build="p"/>
      <p:bldP spid="10" grpId="0" build="p"/>
      <p:bldP spid="11" grpId="0" build="p"/>
      <p:bldP spid="12" grpId="0" uiExpand="1" build="p"/>
      <p:bldP spid="13"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32B30F-1A78-433A-BAA0-FF2C10A3D437}"/>
              </a:ext>
            </a:extLst>
          </p:cNvPr>
          <p:cNvSpPr>
            <a:spLocks noGrp="1"/>
          </p:cNvSpPr>
          <p:nvPr>
            <p:ph type="title"/>
          </p:nvPr>
        </p:nvSpPr>
        <p:spPr>
          <a:xfrm>
            <a:off x="304800" y="609600"/>
            <a:ext cx="8534400" cy="598021"/>
          </a:xfrm>
        </p:spPr>
        <p:txBody>
          <a:bodyPr>
            <a:normAutofit fontScale="90000"/>
          </a:bodyPr>
          <a:lstStyle/>
          <a:p>
            <a:r>
              <a:rPr lang="en-US" b="1" dirty="0">
                <a:ea typeface="Source Sans Pro" charset="0"/>
              </a:rPr>
              <a:t>Do It! 2b: </a:t>
            </a:r>
            <a:r>
              <a:rPr lang="en-US" b="1" dirty="0">
                <a:solidFill>
                  <a:srgbClr val="196E78"/>
                </a:solidFill>
                <a:ea typeface="Source Sans Pro" charset="0"/>
              </a:rPr>
              <a:t>Treasury Stock</a:t>
            </a:r>
            <a:endParaRPr lang="en-US" sz="2400" dirty="0"/>
          </a:p>
        </p:txBody>
      </p:sp>
      <p:sp>
        <p:nvSpPr>
          <p:cNvPr id="3" name="Content Placeholder 2">
            <a:extLst>
              <a:ext uri="{FF2B5EF4-FFF2-40B4-BE49-F238E27FC236}">
                <a16:creationId xmlns:a16="http://schemas.microsoft.com/office/drawing/2014/main" id="{92F87F86-306D-4BC9-84CC-42CD82DF412A}"/>
              </a:ext>
            </a:extLst>
          </p:cNvPr>
          <p:cNvSpPr>
            <a:spLocks noGrp="1"/>
          </p:cNvSpPr>
          <p:nvPr>
            <p:ph sz="quarter" idx="16"/>
          </p:nvPr>
        </p:nvSpPr>
        <p:spPr>
          <a:xfrm>
            <a:off x="304800" y="1271120"/>
            <a:ext cx="8534400" cy="1689101"/>
          </a:xfrm>
        </p:spPr>
        <p:txBody>
          <a:bodyPr/>
          <a:lstStyle/>
          <a:p>
            <a:r>
              <a:rPr lang="en-US" sz="2400" dirty="0"/>
              <a:t>Santa Anita Inc. purchases 3,000 shares of its $50 par value common stock for $180,000 cash on July 1. It will hold the shares in the treasury until resold. On November 1, the corporation sells 1,000 shares of treasury stock for cash at $70 per share. Journalize the treasury stock transactions.</a:t>
            </a:r>
          </a:p>
        </p:txBody>
      </p:sp>
      <p:sp>
        <p:nvSpPr>
          <p:cNvPr id="4" name="Content Placeholder 3">
            <a:extLst>
              <a:ext uri="{FF2B5EF4-FFF2-40B4-BE49-F238E27FC236}">
                <a16:creationId xmlns:a16="http://schemas.microsoft.com/office/drawing/2014/main" id="{49FC3CF8-911A-4FC3-87C9-D5E9CC120DA8}"/>
              </a:ext>
            </a:extLst>
          </p:cNvPr>
          <p:cNvSpPr>
            <a:spLocks noGrp="1"/>
          </p:cNvSpPr>
          <p:nvPr>
            <p:ph sz="quarter" idx="17"/>
          </p:nvPr>
        </p:nvSpPr>
        <p:spPr>
          <a:xfrm>
            <a:off x="304800" y="3063875"/>
            <a:ext cx="1143000" cy="365125"/>
          </a:xfrm>
        </p:spPr>
        <p:txBody>
          <a:bodyPr/>
          <a:lstStyle/>
          <a:p>
            <a:r>
              <a:rPr lang="en-US" sz="2400" dirty="0"/>
              <a:t>July 1</a:t>
            </a:r>
          </a:p>
        </p:txBody>
      </p:sp>
      <p:sp>
        <p:nvSpPr>
          <p:cNvPr id="5" name="Content Placeholder 4">
            <a:extLst>
              <a:ext uri="{FF2B5EF4-FFF2-40B4-BE49-F238E27FC236}">
                <a16:creationId xmlns:a16="http://schemas.microsoft.com/office/drawing/2014/main" id="{395EA216-5CD6-40C1-AD85-1D6797CE0830}"/>
              </a:ext>
            </a:extLst>
          </p:cNvPr>
          <p:cNvSpPr>
            <a:spLocks noGrp="1"/>
          </p:cNvSpPr>
          <p:nvPr>
            <p:ph sz="quarter" idx="18"/>
          </p:nvPr>
        </p:nvSpPr>
        <p:spPr>
          <a:xfrm>
            <a:off x="1295400" y="3066662"/>
            <a:ext cx="2204763" cy="365125"/>
          </a:xfrm>
        </p:spPr>
        <p:txBody>
          <a:bodyPr/>
          <a:lstStyle/>
          <a:p>
            <a:r>
              <a:rPr lang="en-US" sz="2400" dirty="0">
                <a:solidFill>
                  <a:srgbClr val="000000"/>
                </a:solidFill>
              </a:rPr>
              <a:t>Treasury Stock</a:t>
            </a:r>
            <a:endParaRPr lang="en-US" sz="2400" dirty="0"/>
          </a:p>
        </p:txBody>
      </p:sp>
      <p:sp>
        <p:nvSpPr>
          <p:cNvPr id="6" name="Content Placeholder 5">
            <a:extLst>
              <a:ext uri="{FF2B5EF4-FFF2-40B4-BE49-F238E27FC236}">
                <a16:creationId xmlns:a16="http://schemas.microsoft.com/office/drawing/2014/main" id="{74677936-E1F4-4393-B394-610192906DDA}"/>
              </a:ext>
            </a:extLst>
          </p:cNvPr>
          <p:cNvSpPr>
            <a:spLocks noGrp="1"/>
          </p:cNvSpPr>
          <p:nvPr>
            <p:ph sz="quarter" idx="19"/>
          </p:nvPr>
        </p:nvSpPr>
        <p:spPr>
          <a:xfrm>
            <a:off x="5948638" y="3048000"/>
            <a:ext cx="1263118" cy="365125"/>
          </a:xfrm>
        </p:spPr>
        <p:txBody>
          <a:bodyPr/>
          <a:lstStyle/>
          <a:p>
            <a:r>
              <a:rPr lang="en-US" sz="2400" dirty="0">
                <a:solidFill>
                  <a:srgbClr val="000000"/>
                </a:solidFill>
              </a:rPr>
              <a:t>180,000</a:t>
            </a:r>
            <a:endParaRPr lang="en-US" sz="2400" dirty="0"/>
          </a:p>
        </p:txBody>
      </p:sp>
      <p:sp>
        <p:nvSpPr>
          <p:cNvPr id="7" name="Content Placeholder 6">
            <a:extLst>
              <a:ext uri="{FF2B5EF4-FFF2-40B4-BE49-F238E27FC236}">
                <a16:creationId xmlns:a16="http://schemas.microsoft.com/office/drawing/2014/main" id="{28E41115-8F69-4A15-B994-CF108346BC18}"/>
              </a:ext>
            </a:extLst>
          </p:cNvPr>
          <p:cNvSpPr>
            <a:spLocks noGrp="1"/>
          </p:cNvSpPr>
          <p:nvPr>
            <p:ph sz="quarter" idx="21"/>
          </p:nvPr>
        </p:nvSpPr>
        <p:spPr>
          <a:xfrm>
            <a:off x="1524000" y="3418989"/>
            <a:ext cx="4267200" cy="984736"/>
          </a:xfrm>
        </p:spPr>
        <p:txBody>
          <a:bodyPr/>
          <a:lstStyle/>
          <a:p>
            <a:r>
              <a:rPr lang="en-US" sz="2400" dirty="0">
                <a:solidFill>
                  <a:srgbClr val="000000"/>
                </a:solidFill>
              </a:rPr>
              <a:t>Cash</a:t>
            </a:r>
          </a:p>
          <a:p>
            <a:pPr marL="271463">
              <a:spcBef>
                <a:spcPts val="0"/>
              </a:spcBef>
            </a:pPr>
            <a:r>
              <a:rPr lang="en-US" sz="2400" dirty="0"/>
              <a:t>(To record the purchase of 3,000 shares at $60 per share)</a:t>
            </a:r>
          </a:p>
        </p:txBody>
      </p:sp>
      <p:sp>
        <p:nvSpPr>
          <p:cNvPr id="8" name="Content Placeholder 7">
            <a:extLst>
              <a:ext uri="{FF2B5EF4-FFF2-40B4-BE49-F238E27FC236}">
                <a16:creationId xmlns:a16="http://schemas.microsoft.com/office/drawing/2014/main" id="{4E4CC3F7-162F-4B2A-9872-E35A90C7AD4B}"/>
              </a:ext>
            </a:extLst>
          </p:cNvPr>
          <p:cNvSpPr>
            <a:spLocks noGrp="1"/>
          </p:cNvSpPr>
          <p:nvPr>
            <p:ph sz="quarter" idx="22"/>
          </p:nvPr>
        </p:nvSpPr>
        <p:spPr>
          <a:xfrm>
            <a:off x="7467600" y="3418989"/>
            <a:ext cx="1219200" cy="365125"/>
          </a:xfrm>
        </p:spPr>
        <p:txBody>
          <a:bodyPr/>
          <a:lstStyle/>
          <a:p>
            <a:r>
              <a:rPr lang="en-US" sz="2400" dirty="0">
                <a:solidFill>
                  <a:srgbClr val="000000"/>
                </a:solidFill>
              </a:rPr>
              <a:t>180,000</a:t>
            </a:r>
            <a:endParaRPr lang="en-US" sz="2400" dirty="0"/>
          </a:p>
        </p:txBody>
      </p:sp>
      <p:sp>
        <p:nvSpPr>
          <p:cNvPr id="9" name="Content Placeholder 8">
            <a:extLst>
              <a:ext uri="{FF2B5EF4-FFF2-40B4-BE49-F238E27FC236}">
                <a16:creationId xmlns:a16="http://schemas.microsoft.com/office/drawing/2014/main" id="{92E8B3CF-C62D-4A88-A2F4-310AF6EB76E7}"/>
              </a:ext>
            </a:extLst>
          </p:cNvPr>
          <p:cNvSpPr>
            <a:spLocks noGrp="1"/>
          </p:cNvSpPr>
          <p:nvPr>
            <p:ph sz="quarter" idx="23"/>
          </p:nvPr>
        </p:nvSpPr>
        <p:spPr>
          <a:xfrm>
            <a:off x="304800" y="4572000"/>
            <a:ext cx="990600" cy="365125"/>
          </a:xfrm>
        </p:spPr>
        <p:txBody>
          <a:bodyPr/>
          <a:lstStyle/>
          <a:p>
            <a:r>
              <a:rPr lang="en-US" sz="2400" dirty="0">
                <a:solidFill>
                  <a:srgbClr val="000000"/>
                </a:solidFill>
              </a:rPr>
              <a:t>Nov. 1</a:t>
            </a:r>
            <a:endParaRPr lang="en-US" sz="2400" dirty="0"/>
          </a:p>
        </p:txBody>
      </p:sp>
      <p:sp>
        <p:nvSpPr>
          <p:cNvPr id="10" name="Content Placeholder 9">
            <a:extLst>
              <a:ext uri="{FF2B5EF4-FFF2-40B4-BE49-F238E27FC236}">
                <a16:creationId xmlns:a16="http://schemas.microsoft.com/office/drawing/2014/main" id="{1A052864-6FA3-4917-BB12-016B22E1CDC9}"/>
              </a:ext>
            </a:extLst>
          </p:cNvPr>
          <p:cNvSpPr>
            <a:spLocks noGrp="1"/>
          </p:cNvSpPr>
          <p:nvPr>
            <p:ph sz="quarter" idx="24"/>
          </p:nvPr>
        </p:nvSpPr>
        <p:spPr>
          <a:xfrm>
            <a:off x="1295400" y="4572000"/>
            <a:ext cx="2514600" cy="365125"/>
          </a:xfrm>
        </p:spPr>
        <p:txBody>
          <a:bodyPr/>
          <a:lstStyle/>
          <a:p>
            <a:r>
              <a:rPr lang="en-US" sz="2400" dirty="0">
                <a:solidFill>
                  <a:srgbClr val="000000"/>
                </a:solidFill>
              </a:rPr>
              <a:t>Cash</a:t>
            </a:r>
            <a:endParaRPr lang="en-US" sz="2400" dirty="0"/>
          </a:p>
        </p:txBody>
      </p:sp>
      <p:sp>
        <p:nvSpPr>
          <p:cNvPr id="11" name="Content Placeholder 10">
            <a:extLst>
              <a:ext uri="{FF2B5EF4-FFF2-40B4-BE49-F238E27FC236}">
                <a16:creationId xmlns:a16="http://schemas.microsoft.com/office/drawing/2014/main" id="{EEAC5FE1-9157-4D87-BE3D-B5B07B8C138E}"/>
              </a:ext>
            </a:extLst>
          </p:cNvPr>
          <p:cNvSpPr>
            <a:spLocks noGrp="1"/>
          </p:cNvSpPr>
          <p:nvPr>
            <p:ph sz="quarter" idx="25"/>
          </p:nvPr>
        </p:nvSpPr>
        <p:spPr>
          <a:xfrm>
            <a:off x="6047044" y="4572000"/>
            <a:ext cx="1115756" cy="352425"/>
          </a:xfrm>
        </p:spPr>
        <p:txBody>
          <a:bodyPr/>
          <a:lstStyle/>
          <a:p>
            <a:r>
              <a:rPr lang="en-US" sz="2400" dirty="0">
                <a:solidFill>
                  <a:srgbClr val="000000"/>
                </a:solidFill>
              </a:rPr>
              <a:t>70,000</a:t>
            </a:r>
            <a:endParaRPr lang="en-US" sz="2400" dirty="0"/>
          </a:p>
        </p:txBody>
      </p:sp>
      <p:sp>
        <p:nvSpPr>
          <p:cNvPr id="12" name="Content Placeholder 11">
            <a:extLst>
              <a:ext uri="{FF2B5EF4-FFF2-40B4-BE49-F238E27FC236}">
                <a16:creationId xmlns:a16="http://schemas.microsoft.com/office/drawing/2014/main" id="{72B2DC4E-503F-4A9D-8735-758DFF6117B4}"/>
              </a:ext>
            </a:extLst>
          </p:cNvPr>
          <p:cNvSpPr>
            <a:spLocks noGrp="1"/>
          </p:cNvSpPr>
          <p:nvPr>
            <p:ph sz="quarter" idx="26"/>
          </p:nvPr>
        </p:nvSpPr>
        <p:spPr>
          <a:xfrm>
            <a:off x="1524000" y="4908550"/>
            <a:ext cx="3429000" cy="365125"/>
          </a:xfrm>
        </p:spPr>
        <p:txBody>
          <a:bodyPr/>
          <a:lstStyle/>
          <a:p>
            <a:r>
              <a:rPr lang="en-US" sz="2400" dirty="0">
                <a:solidFill>
                  <a:srgbClr val="000000"/>
                </a:solidFill>
              </a:rPr>
              <a:t>Treasury Stock</a:t>
            </a:r>
            <a:endParaRPr lang="en-US" sz="2400" dirty="0"/>
          </a:p>
        </p:txBody>
      </p:sp>
      <p:sp>
        <p:nvSpPr>
          <p:cNvPr id="13" name="Content Placeholder 12">
            <a:extLst>
              <a:ext uri="{FF2B5EF4-FFF2-40B4-BE49-F238E27FC236}">
                <a16:creationId xmlns:a16="http://schemas.microsoft.com/office/drawing/2014/main" id="{F5EA98BB-E1C7-44FC-8C3D-EC2266A9D34F}"/>
              </a:ext>
            </a:extLst>
          </p:cNvPr>
          <p:cNvSpPr>
            <a:spLocks noGrp="1"/>
          </p:cNvSpPr>
          <p:nvPr>
            <p:ph sz="quarter" idx="27"/>
          </p:nvPr>
        </p:nvSpPr>
        <p:spPr>
          <a:xfrm>
            <a:off x="7543800" y="4876800"/>
            <a:ext cx="1066799" cy="365125"/>
          </a:xfrm>
        </p:spPr>
        <p:txBody>
          <a:bodyPr/>
          <a:lstStyle/>
          <a:p>
            <a:r>
              <a:rPr lang="en-US" sz="2400" dirty="0">
                <a:solidFill>
                  <a:srgbClr val="000000"/>
                </a:solidFill>
              </a:rPr>
              <a:t>60,000</a:t>
            </a:r>
            <a:endParaRPr lang="en-US" sz="2400" dirty="0"/>
          </a:p>
        </p:txBody>
      </p:sp>
      <p:sp>
        <p:nvSpPr>
          <p:cNvPr id="15" name="Content Placeholder 14">
            <a:extLst>
              <a:ext uri="{FF2B5EF4-FFF2-40B4-BE49-F238E27FC236}">
                <a16:creationId xmlns:a16="http://schemas.microsoft.com/office/drawing/2014/main" id="{550394B9-59DA-4E09-8527-63F29CB14003}"/>
              </a:ext>
            </a:extLst>
          </p:cNvPr>
          <p:cNvSpPr>
            <a:spLocks noGrp="1"/>
          </p:cNvSpPr>
          <p:nvPr>
            <p:ph sz="quarter" idx="29"/>
          </p:nvPr>
        </p:nvSpPr>
        <p:spPr>
          <a:xfrm>
            <a:off x="1524000" y="5289550"/>
            <a:ext cx="4591050" cy="958850"/>
          </a:xfrm>
        </p:spPr>
        <p:txBody>
          <a:bodyPr/>
          <a:lstStyle/>
          <a:p>
            <a:r>
              <a:rPr lang="en-US" sz="2400" dirty="0">
                <a:solidFill>
                  <a:srgbClr val="000000"/>
                </a:solidFill>
              </a:rPr>
              <a:t>Paid-in Capital from Treasury Stock</a:t>
            </a:r>
          </a:p>
          <a:p>
            <a:pPr marL="271463">
              <a:spcBef>
                <a:spcPts val="0"/>
              </a:spcBef>
            </a:pPr>
            <a:r>
              <a:rPr lang="en-US" sz="2400" dirty="0"/>
              <a:t>(To record the sale of 1,000 shares at $70 per share)</a:t>
            </a:r>
          </a:p>
        </p:txBody>
      </p:sp>
      <p:sp>
        <p:nvSpPr>
          <p:cNvPr id="18" name="Content Placeholder 17">
            <a:extLst>
              <a:ext uri="{FF2B5EF4-FFF2-40B4-BE49-F238E27FC236}">
                <a16:creationId xmlns:a16="http://schemas.microsoft.com/office/drawing/2014/main" id="{9E274146-EA48-415E-85EF-AA1ED7BBFBF8}"/>
              </a:ext>
            </a:extLst>
          </p:cNvPr>
          <p:cNvSpPr>
            <a:spLocks noGrp="1"/>
          </p:cNvSpPr>
          <p:nvPr>
            <p:ph sz="quarter" idx="30"/>
          </p:nvPr>
        </p:nvSpPr>
        <p:spPr>
          <a:xfrm>
            <a:off x="7543800" y="5305424"/>
            <a:ext cx="1295400" cy="365126"/>
          </a:xfrm>
        </p:spPr>
        <p:txBody>
          <a:bodyPr/>
          <a:lstStyle/>
          <a:p>
            <a:r>
              <a:rPr lang="en-US" altLang="en-US" sz="2400" dirty="0">
                <a:solidFill>
                  <a:srgbClr val="000000"/>
                </a:solidFill>
              </a:rPr>
              <a:t>10,000</a:t>
            </a:r>
            <a:endParaRPr lang="en-US" sz="2400" dirty="0"/>
          </a:p>
        </p:txBody>
      </p:sp>
      <p:sp>
        <p:nvSpPr>
          <p:cNvPr id="23" name="Slide Number Placeholder 22">
            <a:extLst>
              <a:ext uri="{FF2B5EF4-FFF2-40B4-BE49-F238E27FC236}">
                <a16:creationId xmlns:a16="http://schemas.microsoft.com/office/drawing/2014/main" id="{C3ADB033-D6E5-42A2-AA75-5772CD252CDF}"/>
              </a:ext>
            </a:extLst>
          </p:cNvPr>
          <p:cNvSpPr>
            <a:spLocks noGrp="1"/>
          </p:cNvSpPr>
          <p:nvPr>
            <p:ph type="sldNum" sz="quarter" idx="10"/>
          </p:nvPr>
        </p:nvSpPr>
        <p:spPr/>
        <p:txBody>
          <a:bodyPr/>
          <a:lstStyle/>
          <a:p>
            <a:fld id="{67B19427-F580-D146-B60E-4CADEE75497F}" type="slidenum">
              <a:rPr lang="en-US" smtClean="0"/>
              <a:pPr/>
              <a:t>35</a:t>
            </a:fld>
            <a:endParaRPr lang="en-US" dirty="0"/>
          </a:p>
        </p:txBody>
      </p:sp>
      <p:sp>
        <p:nvSpPr>
          <p:cNvPr id="24" name="Footer Placeholder 23">
            <a:extLst>
              <a:ext uri="{FF2B5EF4-FFF2-40B4-BE49-F238E27FC236}">
                <a16:creationId xmlns:a16="http://schemas.microsoft.com/office/drawing/2014/main" id="{F0618A2A-3150-4FE5-BE3A-BE7ACB108CB4}"/>
              </a:ext>
            </a:extLst>
          </p:cNvPr>
          <p:cNvSpPr>
            <a:spLocks noGrp="1"/>
          </p:cNvSpPr>
          <p:nvPr>
            <p:ph type="ftr" sz="quarter" idx="11"/>
          </p:nvPr>
        </p:nvSpPr>
        <p:spPr>
          <a:xfrm>
            <a:off x="3028950" y="6356350"/>
            <a:ext cx="3086100" cy="365125"/>
          </a:xfrm>
        </p:spPr>
        <p:txBody>
          <a:bodyPr/>
          <a:lstStyle/>
          <a:p>
            <a:r>
              <a:rPr lang="en-US" dirty="0"/>
              <a:t>Copyright ©2018 John Wiley &amp; Sons, Inc. </a:t>
            </a:r>
          </a:p>
        </p:txBody>
      </p:sp>
    </p:spTree>
    <p:extLst>
      <p:ext uri="{BB962C8B-B14F-4D97-AF65-F5344CB8AC3E}">
        <p14:creationId xmlns:p14="http://schemas.microsoft.com/office/powerpoint/2010/main" val="1662788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xEl>
                                              <p:pRg st="0" end="0"/>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xEl>
                                              <p:pRg st="1" end="1"/>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xEl>
                                              <p:pRg st="0" end="0"/>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
                                            <p:txEl>
                                              <p:pRg st="0" end="0"/>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
                                            <p:txEl>
                                              <p:pRg st="0" end="0"/>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5">
                                            <p:txEl>
                                              <p:pRg st="0" end="0"/>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5">
                                            <p:txEl>
                                              <p:pRg st="1" end="1"/>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5" grpId="0" build="p"/>
      <p:bldP spid="6" grpId="0" build="p"/>
      <p:bldP spid="7" grpId="0" uiExpand="1" build="p"/>
      <p:bldP spid="8" grpId="0" build="p"/>
      <p:bldP spid="9" grpId="0" build="p"/>
      <p:bldP spid="10" grpId="0" build="p"/>
      <p:bldP spid="11" grpId="0" build="p"/>
      <p:bldP spid="12" grpId="0" build="p"/>
      <p:bldP spid="13" grpId="0" build="p"/>
      <p:bldP spid="15" grpId="0" uiExpand="1" build="p"/>
      <p:bldP spid="18"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1AADAB-E515-46B2-AEDA-D9E90DDCD51B}"/>
              </a:ext>
            </a:extLst>
          </p:cNvPr>
          <p:cNvSpPr>
            <a:spLocks noGrp="1"/>
          </p:cNvSpPr>
          <p:nvPr>
            <p:ph type="title"/>
          </p:nvPr>
        </p:nvSpPr>
        <p:spPr>
          <a:xfrm>
            <a:off x="228600" y="1143000"/>
            <a:ext cx="8534400" cy="3539430"/>
          </a:xfrm>
        </p:spPr>
        <p:txBody>
          <a:bodyPr>
            <a:spAutoFit/>
          </a:bodyPr>
          <a:lstStyle/>
          <a:p>
            <a:pPr>
              <a:lnSpc>
                <a:spcPct val="100000"/>
              </a:lnSpc>
              <a:spcBef>
                <a:spcPts val="1200"/>
              </a:spcBef>
            </a:pPr>
            <a:r>
              <a:rPr lang="en-US" sz="2000" i="1" dirty="0">
                <a:solidFill>
                  <a:schemeClr val="accent1"/>
                </a:solidFill>
              </a:rPr>
              <a:t>(for the following topics in this slide deck, focus on slides only; no book needed)</a:t>
            </a:r>
            <a:br>
              <a:rPr lang="en-US" b="1" noProof="0" dirty="0">
                <a:solidFill>
                  <a:schemeClr val="accent1"/>
                </a:solidFill>
              </a:rPr>
            </a:br>
            <a:br>
              <a:rPr lang="en-US" b="1" noProof="0" dirty="0">
                <a:solidFill>
                  <a:schemeClr val="accent1"/>
                </a:solidFill>
              </a:rPr>
            </a:br>
            <a:r>
              <a:rPr lang="en-US" b="1" noProof="0" dirty="0">
                <a:solidFill>
                  <a:schemeClr val="accent1"/>
                </a:solidFill>
              </a:rPr>
              <a:t>Explain the Accounting and Reporting Issues Related to Dividends</a:t>
            </a:r>
            <a:br>
              <a:rPr lang="en-US" b="1" noProof="0" dirty="0">
                <a:solidFill>
                  <a:schemeClr val="accent1"/>
                </a:solidFill>
              </a:rPr>
            </a:br>
            <a:br>
              <a:rPr lang="en-US" b="1" noProof="0" dirty="0">
                <a:solidFill>
                  <a:schemeClr val="accent1"/>
                </a:solidFill>
              </a:rPr>
            </a:br>
            <a:endParaRPr lang="en-US" i="1" noProof="0" dirty="0">
              <a:solidFill>
                <a:schemeClr val="accent1"/>
              </a:solidFill>
            </a:endParaRPr>
          </a:p>
        </p:txBody>
      </p:sp>
      <p:sp>
        <p:nvSpPr>
          <p:cNvPr id="4" name="Slide Number Placeholder 3">
            <a:extLst>
              <a:ext uri="{FF2B5EF4-FFF2-40B4-BE49-F238E27FC236}">
                <a16:creationId xmlns:a16="http://schemas.microsoft.com/office/drawing/2014/main" id="{9C1880FF-E55D-4E83-8FDB-DB7293C7F2A0}"/>
              </a:ext>
            </a:extLst>
          </p:cNvPr>
          <p:cNvSpPr>
            <a:spLocks noGrp="1"/>
          </p:cNvSpPr>
          <p:nvPr>
            <p:ph type="sldNum" sz="quarter" idx="12"/>
          </p:nvPr>
        </p:nvSpPr>
        <p:spPr/>
        <p:txBody>
          <a:bodyPr/>
          <a:lstStyle/>
          <a:p>
            <a:fld id="{957104EA-F2AF-1046-9253-EE8D978719B5}" type="slidenum">
              <a:rPr lang="en-US" smtClean="0">
                <a:solidFill>
                  <a:srgbClr val="000000"/>
                </a:solidFill>
              </a:rPr>
              <a:pPr/>
              <a:t>36</a:t>
            </a:fld>
            <a:endParaRPr lang="en-US" dirty="0">
              <a:solidFill>
                <a:srgbClr val="000000"/>
              </a:solidFill>
            </a:endParaRPr>
          </a:p>
        </p:txBody>
      </p:sp>
      <p:sp>
        <p:nvSpPr>
          <p:cNvPr id="5" name="Footer Placeholder 4">
            <a:extLst>
              <a:ext uri="{FF2B5EF4-FFF2-40B4-BE49-F238E27FC236}">
                <a16:creationId xmlns:a16="http://schemas.microsoft.com/office/drawing/2014/main" id="{E3216D2A-DB9F-48E3-BC0B-C3F4A9FBB44B}"/>
              </a:ext>
            </a:extLst>
          </p:cNvPr>
          <p:cNvSpPr>
            <a:spLocks noGrp="1"/>
          </p:cNvSpPr>
          <p:nvPr>
            <p:ph type="ftr" sz="quarter" idx="11"/>
          </p:nvPr>
        </p:nvSpPr>
        <p:spPr/>
        <p:txBody>
          <a:bodyPr/>
          <a:lstStyle/>
          <a:p>
            <a:r>
              <a:rPr lang="en-US" dirty="0">
                <a:solidFill>
                  <a:srgbClr val="000000"/>
                </a:solidFill>
              </a:rPr>
              <a:t>Copyright ©2019 John Wiley &amp; Sons, Inc. </a:t>
            </a:r>
          </a:p>
        </p:txBody>
      </p:sp>
    </p:spTree>
    <p:extLst>
      <p:ext uri="{BB962C8B-B14F-4D97-AF65-F5344CB8AC3E}">
        <p14:creationId xmlns:p14="http://schemas.microsoft.com/office/powerpoint/2010/main" val="167845831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1776F7-B61F-4832-A70B-EE5E0EAAE35F}"/>
              </a:ext>
            </a:extLst>
          </p:cNvPr>
          <p:cNvSpPr>
            <a:spLocks noGrp="1"/>
          </p:cNvSpPr>
          <p:nvPr>
            <p:ph type="title"/>
          </p:nvPr>
        </p:nvSpPr>
        <p:spPr>
          <a:xfrm>
            <a:off x="304800" y="708992"/>
            <a:ext cx="8534400" cy="685799"/>
          </a:xfrm>
        </p:spPr>
        <p:txBody>
          <a:bodyPr>
            <a:normAutofit/>
          </a:bodyPr>
          <a:lstStyle/>
          <a:p>
            <a:r>
              <a:rPr lang="en-US" b="1">
                <a:latin typeface="Calibri" panose="020F0502020204030204" pitchFamily="34" charset="0"/>
                <a:ea typeface="Source Sans Pro" charset="0"/>
                <a:cs typeface="Calibri" panose="020F0502020204030204" pitchFamily="34" charset="0"/>
              </a:rPr>
              <a:t>Dividend and Dividend Policy</a:t>
            </a:r>
            <a:endParaRPr lang="en-US" b="1" dirty="0"/>
          </a:p>
        </p:txBody>
      </p:sp>
      <p:sp>
        <p:nvSpPr>
          <p:cNvPr id="3" name="Content Placeholder 2">
            <a:extLst>
              <a:ext uri="{FF2B5EF4-FFF2-40B4-BE49-F238E27FC236}">
                <a16:creationId xmlns:a16="http://schemas.microsoft.com/office/drawing/2014/main" id="{7874FFA2-B4BB-4B64-ABEB-48C7A55B1160}"/>
              </a:ext>
            </a:extLst>
          </p:cNvPr>
          <p:cNvSpPr>
            <a:spLocks noGrp="1"/>
          </p:cNvSpPr>
          <p:nvPr>
            <p:ph sz="quarter" idx="16"/>
          </p:nvPr>
        </p:nvSpPr>
        <p:spPr>
          <a:xfrm>
            <a:off x="304800" y="1600200"/>
            <a:ext cx="8534400" cy="4267200"/>
          </a:xfrm>
        </p:spPr>
        <p:txBody>
          <a:bodyPr/>
          <a:lstStyle/>
          <a:p>
            <a:r>
              <a:rPr lang="en-US" altLang="en-US" dirty="0"/>
              <a:t>A </a:t>
            </a:r>
            <a:r>
              <a:rPr lang="en-US" altLang="en-US" b="1" dirty="0"/>
              <a:t>dividend </a:t>
            </a:r>
            <a:r>
              <a:rPr lang="en-US" altLang="en-US" dirty="0"/>
              <a:t>is a </a:t>
            </a:r>
            <a:r>
              <a:rPr lang="en-US" altLang="en-US" b="1" dirty="0"/>
              <a:t>distribution</a:t>
            </a:r>
            <a:r>
              <a:rPr lang="en-US" altLang="en-US" dirty="0"/>
              <a:t> of a company’s profits to stockholders. </a:t>
            </a:r>
          </a:p>
          <a:p>
            <a:endParaRPr lang="en-US" altLang="en-US" dirty="0"/>
          </a:p>
          <a:p>
            <a:r>
              <a:rPr lang="en-US" altLang="en-US" dirty="0"/>
              <a:t>A </a:t>
            </a:r>
            <a:r>
              <a:rPr lang="en-US" altLang="en-US" b="1" dirty="0"/>
              <a:t>dividend policy </a:t>
            </a:r>
            <a:r>
              <a:rPr lang="en-US" altLang="en-US" dirty="0"/>
              <a:t>is essentially a company's strategic approach to deciding how much of its profits to distribute to shareholders in the form of dividends, and how often to do so.</a:t>
            </a:r>
          </a:p>
        </p:txBody>
      </p:sp>
      <p:sp>
        <p:nvSpPr>
          <p:cNvPr id="4" name="Slide Number Placeholder 3">
            <a:extLst>
              <a:ext uri="{FF2B5EF4-FFF2-40B4-BE49-F238E27FC236}">
                <a16:creationId xmlns:a16="http://schemas.microsoft.com/office/drawing/2014/main" id="{B54062BF-5C4D-411A-A374-697FBF9CA3A4}"/>
              </a:ext>
            </a:extLst>
          </p:cNvPr>
          <p:cNvSpPr>
            <a:spLocks noGrp="1"/>
          </p:cNvSpPr>
          <p:nvPr>
            <p:ph type="sldNum" sz="quarter" idx="10"/>
          </p:nvPr>
        </p:nvSpPr>
        <p:spPr/>
        <p:txBody>
          <a:bodyPr/>
          <a:lstStyle/>
          <a:p>
            <a:fld id="{67B19427-F580-D146-B60E-4CADEE75497F}" type="slidenum">
              <a:rPr lang="en-US" smtClean="0"/>
              <a:pPr/>
              <a:t>37</a:t>
            </a:fld>
            <a:endParaRPr lang="en-US" dirty="0"/>
          </a:p>
        </p:txBody>
      </p:sp>
      <p:sp>
        <p:nvSpPr>
          <p:cNvPr id="5" name="Footer Placeholder 4">
            <a:extLst>
              <a:ext uri="{FF2B5EF4-FFF2-40B4-BE49-F238E27FC236}">
                <a16:creationId xmlns:a16="http://schemas.microsoft.com/office/drawing/2014/main" id="{07732D6F-2D83-4D2F-A6FA-C43DB7A35161}"/>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120310909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762001"/>
            <a:ext cx="8534400" cy="646331"/>
          </a:xfrm>
        </p:spPr>
        <p:txBody>
          <a:bodyPr>
            <a:spAutoFit/>
          </a:bodyPr>
          <a:lstStyle/>
          <a:p>
            <a:r>
              <a:rPr lang="en-US" noProof="0" dirty="0"/>
              <a:t>Dividend Policy</a:t>
            </a:r>
            <a:endParaRPr lang="en-US" sz="3200" b="0" noProof="0" dirty="0">
              <a:solidFill>
                <a:srgbClr val="990000"/>
              </a:solidFill>
            </a:endParaRPr>
          </a:p>
        </p:txBody>
      </p:sp>
      <p:sp>
        <p:nvSpPr>
          <p:cNvPr id="9" name="Content Placeholder 8">
            <a:extLst>
              <a:ext uri="{FF2B5EF4-FFF2-40B4-BE49-F238E27FC236}">
                <a16:creationId xmlns:a16="http://schemas.microsoft.com/office/drawing/2014/main" id="{DDAC5CB2-627A-459E-8BB3-E4ECBB46DB64}"/>
              </a:ext>
            </a:extLst>
          </p:cNvPr>
          <p:cNvSpPr>
            <a:spLocks noGrp="1"/>
          </p:cNvSpPr>
          <p:nvPr>
            <p:ph sz="quarter" idx="16"/>
          </p:nvPr>
        </p:nvSpPr>
        <p:spPr>
          <a:xfrm>
            <a:off x="304800" y="1531624"/>
            <a:ext cx="8534400" cy="4716775"/>
          </a:xfrm>
        </p:spPr>
        <p:txBody>
          <a:bodyPr>
            <a:normAutofit fontScale="85000" lnSpcReduction="10000"/>
          </a:bodyPr>
          <a:lstStyle/>
          <a:p>
            <a:pPr>
              <a:lnSpc>
                <a:spcPct val="100000"/>
              </a:lnSpc>
              <a:spcBef>
                <a:spcPts val="1200"/>
              </a:spcBef>
            </a:pPr>
            <a:r>
              <a:rPr lang="en-US" dirty="0"/>
              <a:t>Companies that grow dividends </a:t>
            </a:r>
            <a:r>
              <a:rPr lang="en-US" i="1" dirty="0"/>
              <a:t>(companies that have a consistent history of increasing the amount of money they pay out as dividends)</a:t>
            </a:r>
            <a:r>
              <a:rPr lang="en-US" dirty="0"/>
              <a:t> are signaling confidence about future earnings.</a:t>
            </a:r>
          </a:p>
          <a:p>
            <a:pPr>
              <a:lnSpc>
                <a:spcPct val="100000"/>
              </a:lnSpc>
              <a:spcBef>
                <a:spcPts val="1200"/>
              </a:spcBef>
            </a:pPr>
            <a:endParaRPr lang="en-US" noProof="0" dirty="0"/>
          </a:p>
          <a:p>
            <a:pPr>
              <a:lnSpc>
                <a:spcPct val="100000"/>
              </a:lnSpc>
              <a:spcBef>
                <a:spcPts val="1200"/>
              </a:spcBef>
            </a:pPr>
            <a:r>
              <a:rPr lang="en-US" dirty="0"/>
              <a:t>However, most companies do not distribute all of their retained earnings (accumulated profits) as dividends. </a:t>
            </a:r>
            <a:r>
              <a:rPr lang="en-US" noProof="0" dirty="0"/>
              <a:t>Why?</a:t>
            </a:r>
          </a:p>
          <a:p>
            <a:pPr marL="403200" indent="-403200">
              <a:lnSpc>
                <a:spcPct val="100000"/>
              </a:lnSpc>
              <a:buClr>
                <a:schemeClr val="accent2"/>
              </a:buClr>
              <a:buFont typeface="+mj-lt"/>
              <a:buAutoNum type="arabicPeriod"/>
            </a:pPr>
            <a:r>
              <a:rPr lang="en-US" noProof="0" dirty="0"/>
              <a:t>Maintain agreements with creditors.</a:t>
            </a:r>
          </a:p>
          <a:p>
            <a:pPr marL="403200" indent="-403200">
              <a:lnSpc>
                <a:spcPct val="100000"/>
              </a:lnSpc>
              <a:buClr>
                <a:schemeClr val="accent2"/>
              </a:buClr>
              <a:buFont typeface="+mj-lt"/>
              <a:buAutoNum type="arabicPeriod"/>
            </a:pPr>
            <a:r>
              <a:rPr lang="en-US" noProof="0" dirty="0"/>
              <a:t>Meet state incorporation requirements.</a:t>
            </a:r>
          </a:p>
          <a:p>
            <a:pPr marL="403200" indent="-403200">
              <a:lnSpc>
                <a:spcPct val="100000"/>
              </a:lnSpc>
              <a:buClr>
                <a:schemeClr val="accent2"/>
              </a:buClr>
              <a:buFont typeface="+mj-lt"/>
              <a:buAutoNum type="arabicPeriod"/>
            </a:pPr>
            <a:r>
              <a:rPr lang="en-US" noProof="0" dirty="0"/>
              <a:t>To finance growth or expansion.</a:t>
            </a:r>
          </a:p>
          <a:p>
            <a:pPr marL="403200" indent="-403200">
              <a:lnSpc>
                <a:spcPct val="100000"/>
              </a:lnSpc>
              <a:buClr>
                <a:schemeClr val="accent2"/>
              </a:buClr>
              <a:buFont typeface="+mj-lt"/>
              <a:buAutoNum type="arabicPeriod"/>
            </a:pPr>
            <a:r>
              <a:rPr lang="en-US" noProof="0" dirty="0"/>
              <a:t>To smooth out dividend payments.</a:t>
            </a:r>
          </a:p>
          <a:p>
            <a:pPr marL="403200" indent="-403200">
              <a:lnSpc>
                <a:spcPct val="100000"/>
              </a:lnSpc>
              <a:buClr>
                <a:schemeClr val="accent2"/>
              </a:buClr>
              <a:buFont typeface="+mj-lt"/>
              <a:buAutoNum type="arabicPeriod"/>
            </a:pPr>
            <a:r>
              <a:rPr lang="en-US" noProof="0" dirty="0"/>
              <a:t>To build up a cushion against possible losses.</a:t>
            </a:r>
          </a:p>
        </p:txBody>
      </p:sp>
      <p:sp>
        <p:nvSpPr>
          <p:cNvPr id="13" name="COB/LO">
            <a:extLst>
              <a:ext uri="{FF2B5EF4-FFF2-40B4-BE49-F238E27FC236}">
                <a16:creationId xmlns:a16="http://schemas.microsoft.com/office/drawing/2014/main" id="{86FD848B-592E-44B8-9630-BDF7B05BAF9E}"/>
              </a:ext>
            </a:extLst>
          </p:cNvPr>
          <p:cNvSpPr txBox="1">
            <a:spLocks noGrp="1"/>
          </p:cNvSpPr>
          <p:nvPr>
            <p:ph sz="quarter" idx="15"/>
          </p:nvPr>
        </p:nvSpPr>
        <p:spPr>
          <a:xfrm>
            <a:off x="331788" y="6400413"/>
            <a:ext cx="749300" cy="276999"/>
          </a:xfrm>
          <a:prstGeom prst="rect">
            <a:avLst/>
          </a:prstGeom>
          <a:noFill/>
        </p:spPr>
        <p:txBody>
          <a:bodyPr lIns="0" rIns="0">
            <a:spAutoFit/>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60325" lvl="1" indent="0">
              <a:lnSpc>
                <a:spcPct val="100000"/>
              </a:lnSpc>
              <a:spcBef>
                <a:spcPts val="1200"/>
              </a:spcBef>
              <a:buFont typeface="Arial"/>
              <a:buNone/>
            </a:pPr>
            <a:r>
              <a:rPr lang="en-US" sz="1200" noProof="0" dirty="0">
                <a:solidFill>
                  <a:srgbClr val="000000"/>
                </a:solidFill>
              </a:rPr>
              <a:t>LO 3</a:t>
            </a:r>
          </a:p>
        </p:txBody>
      </p:sp>
      <p:sp>
        <p:nvSpPr>
          <p:cNvPr id="4" name="Slide Number Placeholder 3"/>
          <p:cNvSpPr>
            <a:spLocks noGrp="1"/>
          </p:cNvSpPr>
          <p:nvPr>
            <p:ph type="sldNum" sz="quarter" idx="10"/>
          </p:nvPr>
        </p:nvSpPr>
        <p:spPr/>
        <p:txBody>
          <a:bodyPr/>
          <a:lstStyle/>
          <a:p>
            <a:fld id="{67B19427-F580-D146-B60E-4CADEE75497F}" type="slidenum">
              <a:rPr lang="en-US" smtClean="0">
                <a:solidFill>
                  <a:srgbClr val="000000"/>
                </a:solidFill>
              </a:rPr>
              <a:pPr/>
              <a:t>38</a:t>
            </a:fld>
            <a:endParaRPr lang="en-US" dirty="0">
              <a:solidFill>
                <a:srgbClr val="000000"/>
              </a:solidFill>
            </a:endParaRPr>
          </a:p>
        </p:txBody>
      </p:sp>
      <p:sp>
        <p:nvSpPr>
          <p:cNvPr id="5" name="Footer Placeholder 4"/>
          <p:cNvSpPr>
            <a:spLocks noGrp="1"/>
          </p:cNvSpPr>
          <p:nvPr>
            <p:ph type="ftr" sz="quarter" idx="11"/>
          </p:nvPr>
        </p:nvSpPr>
        <p:spPr/>
        <p:txBody>
          <a:bodyPr/>
          <a:lstStyle/>
          <a:p>
            <a:r>
              <a:rPr lang="en-US" dirty="0">
                <a:solidFill>
                  <a:srgbClr val="000000"/>
                </a:solidFill>
              </a:rPr>
              <a:t>Copyright ©2019 John Wiley &amp; Sons, Inc. </a:t>
            </a:r>
          </a:p>
        </p:txBody>
      </p:sp>
    </p:spTree>
    <p:extLst>
      <p:ext uri="{BB962C8B-B14F-4D97-AF65-F5344CB8AC3E}">
        <p14:creationId xmlns:p14="http://schemas.microsoft.com/office/powerpoint/2010/main" val="394622451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762001"/>
            <a:ext cx="8534400" cy="1089529"/>
          </a:xfrm>
        </p:spPr>
        <p:txBody>
          <a:bodyPr>
            <a:spAutoFit/>
          </a:bodyPr>
          <a:lstStyle/>
          <a:p>
            <a:r>
              <a:rPr lang="en-US" noProof="0" dirty="0"/>
              <a:t>Dividend Policy </a:t>
            </a:r>
            <a:br>
              <a:rPr lang="en-US" noProof="0" dirty="0"/>
            </a:br>
            <a:r>
              <a:rPr lang="en-US" sz="3200" noProof="0" dirty="0">
                <a:solidFill>
                  <a:schemeClr val="accent2"/>
                </a:solidFill>
              </a:rPr>
              <a:t>Financial Condition and Dividend Distributions</a:t>
            </a:r>
            <a:endParaRPr lang="en-US" sz="3200" b="0" noProof="0" dirty="0">
              <a:solidFill>
                <a:srgbClr val="990000"/>
              </a:solidFill>
            </a:endParaRPr>
          </a:p>
        </p:txBody>
      </p:sp>
      <p:sp>
        <p:nvSpPr>
          <p:cNvPr id="9" name="Content Placeholder 8">
            <a:extLst>
              <a:ext uri="{FF2B5EF4-FFF2-40B4-BE49-F238E27FC236}">
                <a16:creationId xmlns:a16="http://schemas.microsoft.com/office/drawing/2014/main" id="{DDAC5CB2-627A-459E-8BB3-E4ECBB46DB64}"/>
              </a:ext>
            </a:extLst>
          </p:cNvPr>
          <p:cNvSpPr>
            <a:spLocks noGrp="1"/>
          </p:cNvSpPr>
          <p:nvPr>
            <p:ph sz="quarter" idx="16"/>
          </p:nvPr>
        </p:nvSpPr>
        <p:spPr>
          <a:xfrm>
            <a:off x="304800" y="1833984"/>
            <a:ext cx="8534400" cy="2966616"/>
          </a:xfrm>
        </p:spPr>
        <p:txBody>
          <a:bodyPr>
            <a:normAutofit fontScale="92500" lnSpcReduction="20000"/>
          </a:bodyPr>
          <a:lstStyle/>
          <a:p>
            <a:pPr>
              <a:lnSpc>
                <a:spcPct val="100000"/>
              </a:lnSpc>
              <a:spcBef>
                <a:spcPts val="1200"/>
              </a:spcBef>
            </a:pPr>
            <a:r>
              <a:rPr lang="en-US" noProof="0" dirty="0"/>
              <a:t>A company should not pay a dividend unless both the present and future financial position warrant the distribution.</a:t>
            </a:r>
          </a:p>
          <a:p>
            <a:pPr>
              <a:lnSpc>
                <a:spcPct val="100000"/>
              </a:lnSpc>
              <a:spcBef>
                <a:spcPts val="1200"/>
              </a:spcBef>
            </a:pPr>
            <a:r>
              <a:rPr lang="en-US" noProof="0" dirty="0"/>
              <a:t>The </a:t>
            </a:r>
            <a:r>
              <a:rPr lang="en-US" dirty="0"/>
              <a:t>Securities and Exchange Commission (S</a:t>
            </a:r>
            <a:r>
              <a:rPr lang="en-US" sz="100" noProof="0" dirty="0"/>
              <a:t>  </a:t>
            </a:r>
            <a:r>
              <a:rPr lang="en-US" noProof="0" dirty="0"/>
              <a:t>E</a:t>
            </a:r>
            <a:r>
              <a:rPr lang="en-US" sz="100" noProof="0" dirty="0"/>
              <a:t>  </a:t>
            </a:r>
            <a:r>
              <a:rPr lang="en-US" noProof="0" dirty="0"/>
              <a:t>C) encourages companies to disclose their dividend policy in their annual report, especially those that</a:t>
            </a:r>
          </a:p>
          <a:p>
            <a:pPr marL="403200" indent="-402336">
              <a:lnSpc>
                <a:spcPct val="100000"/>
              </a:lnSpc>
              <a:buClr>
                <a:schemeClr val="accent2"/>
              </a:buClr>
              <a:buFont typeface="+mj-lt"/>
              <a:buAutoNum type="arabicPeriod"/>
            </a:pPr>
            <a:r>
              <a:rPr lang="en-US" noProof="0" dirty="0"/>
              <a:t>have earnings but fail to pay dividends, or</a:t>
            </a:r>
          </a:p>
          <a:p>
            <a:pPr marL="403200" indent="-402336">
              <a:lnSpc>
                <a:spcPct val="100000"/>
              </a:lnSpc>
              <a:buClr>
                <a:schemeClr val="accent2"/>
              </a:buClr>
              <a:buFont typeface="+mj-lt"/>
              <a:buAutoNum type="arabicPeriod"/>
            </a:pPr>
            <a:r>
              <a:rPr lang="en-US" noProof="0" dirty="0"/>
              <a:t>do not expect to pay dividends in the foreseeable future.</a:t>
            </a:r>
          </a:p>
        </p:txBody>
      </p:sp>
      <p:sp>
        <p:nvSpPr>
          <p:cNvPr id="10" name="Content Placeholder 9">
            <a:extLst>
              <a:ext uri="{FF2B5EF4-FFF2-40B4-BE49-F238E27FC236}">
                <a16:creationId xmlns:a16="http://schemas.microsoft.com/office/drawing/2014/main" id="{8CB73AB2-4FF4-4B16-9757-161516BD60D2}"/>
              </a:ext>
            </a:extLst>
          </p:cNvPr>
          <p:cNvSpPr>
            <a:spLocks noGrp="1"/>
          </p:cNvSpPr>
          <p:nvPr>
            <p:ph sz="quarter" idx="17"/>
          </p:nvPr>
        </p:nvSpPr>
        <p:spPr>
          <a:xfrm>
            <a:off x="304800" y="4871005"/>
            <a:ext cx="8534400" cy="1224994"/>
          </a:xfrm>
        </p:spPr>
        <p:txBody>
          <a:bodyPr>
            <a:noAutofit/>
          </a:bodyPr>
          <a:lstStyle/>
          <a:p>
            <a:r>
              <a:rPr lang="en-US" noProof="0" dirty="0">
                <a:latin typeface="Calibri" panose="020F0502020204030204" pitchFamily="34" charset="0"/>
                <a:cs typeface="Calibri" panose="020F0502020204030204" pitchFamily="34" charset="0"/>
              </a:rPr>
              <a:t>The S</a:t>
            </a:r>
            <a:r>
              <a:rPr lang="en-US" sz="100" noProof="0" dirty="0">
                <a:latin typeface="Calibri" panose="020F0502020204030204" pitchFamily="34" charset="0"/>
                <a:cs typeface="Calibri" panose="020F0502020204030204" pitchFamily="34" charset="0"/>
              </a:rPr>
              <a:t> </a:t>
            </a:r>
            <a:r>
              <a:rPr lang="en-US" noProof="0" dirty="0">
                <a:latin typeface="Calibri" panose="020F0502020204030204" pitchFamily="34" charset="0"/>
                <a:cs typeface="Calibri" panose="020F0502020204030204" pitchFamily="34" charset="0"/>
              </a:rPr>
              <a:t>E</a:t>
            </a:r>
            <a:r>
              <a:rPr lang="en-US" sz="100" noProof="0" dirty="0">
                <a:latin typeface="Calibri" panose="020F0502020204030204" pitchFamily="34" charset="0"/>
                <a:cs typeface="Calibri" panose="020F0502020204030204" pitchFamily="34" charset="0"/>
              </a:rPr>
              <a:t> </a:t>
            </a:r>
            <a:r>
              <a:rPr lang="en-US" noProof="0" dirty="0">
                <a:latin typeface="Calibri" panose="020F0502020204030204" pitchFamily="34" charset="0"/>
                <a:cs typeface="Calibri" panose="020F0502020204030204" pitchFamily="34" charset="0"/>
              </a:rPr>
              <a:t>C encourages companies that consistently pay dividends to indicate whether they intend to continue this practice in the future.</a:t>
            </a:r>
            <a:endParaRPr lang="en-US" noProof="0" dirty="0"/>
          </a:p>
        </p:txBody>
      </p:sp>
      <p:sp>
        <p:nvSpPr>
          <p:cNvPr id="13" name="COB/LO">
            <a:extLst>
              <a:ext uri="{FF2B5EF4-FFF2-40B4-BE49-F238E27FC236}">
                <a16:creationId xmlns:a16="http://schemas.microsoft.com/office/drawing/2014/main" id="{86FD848B-592E-44B8-9630-BDF7B05BAF9E}"/>
              </a:ext>
            </a:extLst>
          </p:cNvPr>
          <p:cNvSpPr txBox="1">
            <a:spLocks noGrp="1"/>
          </p:cNvSpPr>
          <p:nvPr>
            <p:ph sz="quarter" idx="15"/>
          </p:nvPr>
        </p:nvSpPr>
        <p:spPr>
          <a:xfrm>
            <a:off x="331788" y="6400413"/>
            <a:ext cx="749300" cy="276999"/>
          </a:xfrm>
          <a:prstGeom prst="rect">
            <a:avLst/>
          </a:prstGeom>
          <a:noFill/>
        </p:spPr>
        <p:txBody>
          <a:bodyPr lIns="0" rIns="0">
            <a:spAutoFit/>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60325" lvl="1" indent="0">
              <a:lnSpc>
                <a:spcPct val="100000"/>
              </a:lnSpc>
              <a:spcBef>
                <a:spcPts val="1200"/>
              </a:spcBef>
              <a:buFont typeface="Arial"/>
              <a:buNone/>
            </a:pPr>
            <a:r>
              <a:rPr lang="en-US" sz="1200" noProof="0" dirty="0">
                <a:solidFill>
                  <a:srgbClr val="000000"/>
                </a:solidFill>
              </a:rPr>
              <a:t>LO 3</a:t>
            </a:r>
          </a:p>
        </p:txBody>
      </p:sp>
      <p:sp>
        <p:nvSpPr>
          <p:cNvPr id="4" name="Slide Number Placeholder 3"/>
          <p:cNvSpPr>
            <a:spLocks noGrp="1"/>
          </p:cNvSpPr>
          <p:nvPr>
            <p:ph type="sldNum" sz="quarter" idx="10"/>
          </p:nvPr>
        </p:nvSpPr>
        <p:spPr/>
        <p:txBody>
          <a:bodyPr/>
          <a:lstStyle/>
          <a:p>
            <a:fld id="{67B19427-F580-D146-B60E-4CADEE75497F}" type="slidenum">
              <a:rPr lang="en-US" smtClean="0">
                <a:solidFill>
                  <a:srgbClr val="000000"/>
                </a:solidFill>
              </a:rPr>
              <a:pPr/>
              <a:t>39</a:t>
            </a:fld>
            <a:endParaRPr lang="en-US" dirty="0">
              <a:solidFill>
                <a:srgbClr val="000000"/>
              </a:solidFill>
            </a:endParaRPr>
          </a:p>
        </p:txBody>
      </p:sp>
      <p:sp>
        <p:nvSpPr>
          <p:cNvPr id="5" name="Footer Placeholder 4"/>
          <p:cNvSpPr>
            <a:spLocks noGrp="1"/>
          </p:cNvSpPr>
          <p:nvPr>
            <p:ph type="ftr" sz="quarter" idx="11"/>
          </p:nvPr>
        </p:nvSpPr>
        <p:spPr/>
        <p:txBody>
          <a:bodyPr/>
          <a:lstStyle/>
          <a:p>
            <a:r>
              <a:rPr lang="en-US" dirty="0">
                <a:solidFill>
                  <a:srgbClr val="000000"/>
                </a:solidFill>
              </a:rPr>
              <a:t>Copyright ©2019 John Wiley &amp; Sons, Inc. </a:t>
            </a:r>
          </a:p>
        </p:txBody>
      </p:sp>
    </p:spTree>
    <p:extLst>
      <p:ext uri="{BB962C8B-B14F-4D97-AF65-F5344CB8AC3E}">
        <p14:creationId xmlns:p14="http://schemas.microsoft.com/office/powerpoint/2010/main" val="212194910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1776F7-B61F-4832-A70B-EE5E0EAAE35F}"/>
              </a:ext>
            </a:extLst>
          </p:cNvPr>
          <p:cNvSpPr>
            <a:spLocks noGrp="1"/>
          </p:cNvSpPr>
          <p:nvPr>
            <p:ph type="title"/>
          </p:nvPr>
        </p:nvSpPr>
        <p:spPr>
          <a:xfrm>
            <a:off x="304800" y="762001"/>
            <a:ext cx="8534400" cy="685799"/>
          </a:xfrm>
        </p:spPr>
        <p:txBody>
          <a:bodyPr>
            <a:normAutofit/>
          </a:bodyPr>
          <a:lstStyle/>
          <a:p>
            <a:r>
              <a:rPr lang="en-US" altLang="en-US" b="1" dirty="0"/>
              <a:t>Types of dividends</a:t>
            </a:r>
          </a:p>
        </p:txBody>
      </p:sp>
      <p:sp>
        <p:nvSpPr>
          <p:cNvPr id="3" name="Content Placeholder 2">
            <a:extLst>
              <a:ext uri="{FF2B5EF4-FFF2-40B4-BE49-F238E27FC236}">
                <a16:creationId xmlns:a16="http://schemas.microsoft.com/office/drawing/2014/main" id="{7874FFA2-B4BB-4B64-ABEB-48C7A55B1160}"/>
              </a:ext>
            </a:extLst>
          </p:cNvPr>
          <p:cNvSpPr>
            <a:spLocks noGrp="1"/>
          </p:cNvSpPr>
          <p:nvPr>
            <p:ph sz="quarter" idx="16"/>
          </p:nvPr>
        </p:nvSpPr>
        <p:spPr>
          <a:xfrm>
            <a:off x="304800" y="1600200"/>
            <a:ext cx="8534400" cy="4267200"/>
          </a:xfrm>
        </p:spPr>
        <p:txBody>
          <a:bodyPr/>
          <a:lstStyle/>
          <a:p>
            <a:pPr marL="402336" indent="-402336">
              <a:buClr>
                <a:schemeClr val="accent2"/>
              </a:buClr>
              <a:buFont typeface="+mj-lt"/>
              <a:buAutoNum type="arabicPeriod"/>
            </a:pPr>
            <a:r>
              <a:rPr lang="en-US" altLang="en-US" dirty="0"/>
              <a:t>Cash dividends</a:t>
            </a:r>
          </a:p>
          <a:p>
            <a:pPr marL="402336" indent="-402336">
              <a:lnSpc>
                <a:spcPct val="100000"/>
              </a:lnSpc>
              <a:buClr>
                <a:schemeClr val="accent2"/>
              </a:buClr>
              <a:buFont typeface="+mj-lt"/>
              <a:buAutoNum type="arabicPeriod"/>
            </a:pPr>
            <a:r>
              <a:rPr lang="en-US" dirty="0"/>
              <a:t>Property dividends (dividends in kind)</a:t>
            </a:r>
          </a:p>
          <a:p>
            <a:pPr marL="402336" indent="-402336">
              <a:lnSpc>
                <a:spcPct val="100000"/>
              </a:lnSpc>
              <a:buClr>
                <a:schemeClr val="accent2"/>
              </a:buClr>
              <a:buFont typeface="+mj-lt"/>
              <a:buAutoNum type="arabicPeriod"/>
            </a:pPr>
            <a:r>
              <a:rPr lang="en-US" dirty="0"/>
              <a:t>Liquidating dividends</a:t>
            </a:r>
            <a:endParaRPr lang="en-US" altLang="en-US" dirty="0"/>
          </a:p>
          <a:p>
            <a:pPr marL="402336" indent="-402336">
              <a:buClr>
                <a:schemeClr val="accent2"/>
              </a:buClr>
              <a:buFont typeface="+mj-lt"/>
              <a:buAutoNum type="arabicPeriod"/>
            </a:pPr>
            <a:r>
              <a:rPr lang="en-US" altLang="en-US" dirty="0"/>
              <a:t>Stock </a:t>
            </a:r>
            <a:r>
              <a:rPr lang="en-US" dirty="0"/>
              <a:t>dividends</a:t>
            </a:r>
            <a:endParaRPr lang="en-US" altLang="en-US" dirty="0"/>
          </a:p>
        </p:txBody>
      </p:sp>
      <p:sp>
        <p:nvSpPr>
          <p:cNvPr id="4" name="Slide Number Placeholder 3">
            <a:extLst>
              <a:ext uri="{FF2B5EF4-FFF2-40B4-BE49-F238E27FC236}">
                <a16:creationId xmlns:a16="http://schemas.microsoft.com/office/drawing/2014/main" id="{B54062BF-5C4D-411A-A374-697FBF9CA3A4}"/>
              </a:ext>
            </a:extLst>
          </p:cNvPr>
          <p:cNvSpPr>
            <a:spLocks noGrp="1"/>
          </p:cNvSpPr>
          <p:nvPr>
            <p:ph type="sldNum" sz="quarter" idx="10"/>
          </p:nvPr>
        </p:nvSpPr>
        <p:spPr/>
        <p:txBody>
          <a:bodyPr/>
          <a:lstStyle/>
          <a:p>
            <a:fld id="{67B19427-F580-D146-B60E-4CADEE75497F}" type="slidenum">
              <a:rPr lang="en-US" smtClean="0"/>
              <a:pPr/>
              <a:t>40</a:t>
            </a:fld>
            <a:endParaRPr lang="en-US" dirty="0"/>
          </a:p>
        </p:txBody>
      </p:sp>
      <p:sp>
        <p:nvSpPr>
          <p:cNvPr id="5" name="Footer Placeholder 4">
            <a:extLst>
              <a:ext uri="{FF2B5EF4-FFF2-40B4-BE49-F238E27FC236}">
                <a16:creationId xmlns:a16="http://schemas.microsoft.com/office/drawing/2014/main" id="{07732D6F-2D83-4D2F-A6FA-C43DB7A35161}"/>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138184739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457200"/>
            <a:ext cx="8534400" cy="646331"/>
          </a:xfrm>
        </p:spPr>
        <p:txBody>
          <a:bodyPr>
            <a:spAutoFit/>
          </a:bodyPr>
          <a:lstStyle/>
          <a:p>
            <a:r>
              <a:rPr lang="en-US" dirty="0"/>
              <a:t>Cash Dividends</a:t>
            </a:r>
            <a:endParaRPr lang="en-US" sz="2800" b="0" noProof="0" dirty="0">
              <a:solidFill>
                <a:srgbClr val="000000"/>
              </a:solidFill>
            </a:endParaRPr>
          </a:p>
        </p:txBody>
      </p:sp>
      <p:sp>
        <p:nvSpPr>
          <p:cNvPr id="9" name="Content Placeholder 8">
            <a:extLst>
              <a:ext uri="{FF2B5EF4-FFF2-40B4-BE49-F238E27FC236}">
                <a16:creationId xmlns:a16="http://schemas.microsoft.com/office/drawing/2014/main" id="{DDAC5CB2-627A-459E-8BB3-E4ECBB46DB64}"/>
              </a:ext>
            </a:extLst>
          </p:cNvPr>
          <p:cNvSpPr>
            <a:spLocks noGrp="1"/>
          </p:cNvSpPr>
          <p:nvPr>
            <p:ph sz="quarter" idx="16"/>
          </p:nvPr>
        </p:nvSpPr>
        <p:spPr>
          <a:xfrm>
            <a:off x="76200" y="1103531"/>
            <a:ext cx="8839200" cy="5068669"/>
          </a:xfrm>
        </p:spPr>
        <p:txBody>
          <a:bodyPr>
            <a:noAutofit/>
          </a:bodyPr>
          <a:lstStyle/>
          <a:p>
            <a:pPr marL="291600" indent="-291600">
              <a:lnSpc>
                <a:spcPct val="100000"/>
              </a:lnSpc>
              <a:spcBef>
                <a:spcPts val="0"/>
              </a:spcBef>
              <a:buFont typeface="Arial" pitchFamily="34" charset="0"/>
              <a:buChar char="•"/>
            </a:pPr>
            <a:r>
              <a:rPr lang="en-US" sz="2400" noProof="0" dirty="0"/>
              <a:t>Board of directors vote on the declaration of </a:t>
            </a:r>
            <a:r>
              <a:rPr lang="en-US" sz="2400" b="1" noProof="0" dirty="0">
                <a:solidFill>
                  <a:schemeClr val="accent2"/>
                </a:solidFill>
              </a:rPr>
              <a:t>cash dividends.</a:t>
            </a:r>
          </a:p>
          <a:p>
            <a:pPr marL="291600" indent="-291600">
              <a:lnSpc>
                <a:spcPct val="100000"/>
              </a:lnSpc>
              <a:spcBef>
                <a:spcPts val="0"/>
              </a:spcBef>
              <a:buFont typeface="Arial" pitchFamily="34" charset="0"/>
              <a:buChar char="•"/>
            </a:pPr>
            <a:r>
              <a:rPr lang="en-US" sz="2400" noProof="0" dirty="0"/>
              <a:t>A declared cash dividend is a (current) liability.</a:t>
            </a:r>
          </a:p>
          <a:p>
            <a:pPr marL="291600" indent="-291600">
              <a:lnSpc>
                <a:spcPct val="100000"/>
              </a:lnSpc>
              <a:spcBef>
                <a:spcPts val="0"/>
              </a:spcBef>
              <a:buFont typeface="Arial" pitchFamily="34" charset="0"/>
              <a:buChar char="•"/>
            </a:pPr>
            <a:r>
              <a:rPr lang="en-US" sz="2400" noProof="0" dirty="0"/>
              <a:t>Companies do not declare or pay cash dividends on treasury stock.</a:t>
            </a:r>
          </a:p>
          <a:p>
            <a:pPr>
              <a:lnSpc>
                <a:spcPct val="100000"/>
              </a:lnSpc>
              <a:spcBef>
                <a:spcPts val="0"/>
              </a:spcBef>
            </a:pPr>
            <a:endParaRPr lang="en-US" sz="2400" dirty="0"/>
          </a:p>
          <a:p>
            <a:r>
              <a:rPr lang="en-US" sz="2400" dirty="0"/>
              <a:t>Three dates are important in connection with dividends: </a:t>
            </a:r>
          </a:p>
          <a:p>
            <a:pPr marL="514350" indent="-514350">
              <a:buFont typeface="+mj-lt"/>
              <a:buAutoNum type="arabicPeriod"/>
            </a:pPr>
            <a:r>
              <a:rPr lang="en-US" sz="2400" dirty="0"/>
              <a:t>declaration date: the board of directors formally declares (authorizes) the cash dividend and announces it to stockholders</a:t>
            </a:r>
          </a:p>
          <a:p>
            <a:pPr marL="514350" indent="-514350">
              <a:buFont typeface="+mj-lt"/>
              <a:buAutoNum type="arabicPeriod"/>
            </a:pPr>
            <a:r>
              <a:rPr lang="en-US" sz="2400" dirty="0"/>
              <a:t>record date: in the interval between the declaration date and the record date, the corporation updates its stock ownership records to identify the persons or entities that will receive the dividend</a:t>
            </a:r>
          </a:p>
          <a:p>
            <a:pPr marL="514350" indent="-514350">
              <a:buFont typeface="+mj-lt"/>
              <a:buAutoNum type="arabicPeriod"/>
            </a:pPr>
            <a:r>
              <a:rPr lang="en-US" sz="2400" dirty="0"/>
              <a:t>payment date: the company makes cash dividend payments to the stockholders and records the payment of the dividend</a:t>
            </a:r>
            <a:endParaRPr lang="en-US" sz="2400" noProof="0" dirty="0"/>
          </a:p>
        </p:txBody>
      </p:sp>
      <p:sp>
        <p:nvSpPr>
          <p:cNvPr id="13" name="COB/LO">
            <a:extLst>
              <a:ext uri="{FF2B5EF4-FFF2-40B4-BE49-F238E27FC236}">
                <a16:creationId xmlns:a16="http://schemas.microsoft.com/office/drawing/2014/main" id="{86FD848B-592E-44B8-9630-BDF7B05BAF9E}"/>
              </a:ext>
            </a:extLst>
          </p:cNvPr>
          <p:cNvSpPr txBox="1">
            <a:spLocks noGrp="1"/>
          </p:cNvSpPr>
          <p:nvPr>
            <p:ph sz="quarter" idx="15"/>
          </p:nvPr>
        </p:nvSpPr>
        <p:spPr>
          <a:xfrm>
            <a:off x="331788" y="6400413"/>
            <a:ext cx="749300" cy="276999"/>
          </a:xfrm>
          <a:prstGeom prst="rect">
            <a:avLst/>
          </a:prstGeom>
          <a:noFill/>
        </p:spPr>
        <p:txBody>
          <a:bodyPr lIns="0" rIns="0">
            <a:spAutoFit/>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60325" lvl="1" indent="0">
              <a:lnSpc>
                <a:spcPct val="100000"/>
              </a:lnSpc>
              <a:spcBef>
                <a:spcPts val="1200"/>
              </a:spcBef>
              <a:buFont typeface="Arial"/>
              <a:buNone/>
            </a:pPr>
            <a:r>
              <a:rPr lang="en-US" sz="1200" noProof="0" dirty="0">
                <a:solidFill>
                  <a:srgbClr val="000000"/>
                </a:solidFill>
              </a:rPr>
              <a:t>LO 3</a:t>
            </a:r>
          </a:p>
        </p:txBody>
      </p:sp>
      <p:sp>
        <p:nvSpPr>
          <p:cNvPr id="4" name="Slide Number Placeholder 3"/>
          <p:cNvSpPr>
            <a:spLocks noGrp="1"/>
          </p:cNvSpPr>
          <p:nvPr>
            <p:ph type="sldNum" sz="quarter" idx="10"/>
          </p:nvPr>
        </p:nvSpPr>
        <p:spPr/>
        <p:txBody>
          <a:bodyPr/>
          <a:lstStyle/>
          <a:p>
            <a:fld id="{67B19427-F580-D146-B60E-4CADEE75497F}" type="slidenum">
              <a:rPr lang="en-US" smtClean="0">
                <a:solidFill>
                  <a:srgbClr val="000000"/>
                </a:solidFill>
              </a:rPr>
              <a:pPr/>
              <a:t>41</a:t>
            </a:fld>
            <a:endParaRPr lang="en-US" dirty="0">
              <a:solidFill>
                <a:srgbClr val="000000"/>
              </a:solidFill>
            </a:endParaRPr>
          </a:p>
        </p:txBody>
      </p:sp>
      <p:sp>
        <p:nvSpPr>
          <p:cNvPr id="5" name="Footer Placeholder 4"/>
          <p:cNvSpPr>
            <a:spLocks noGrp="1"/>
          </p:cNvSpPr>
          <p:nvPr>
            <p:ph type="ftr" sz="quarter" idx="11"/>
          </p:nvPr>
        </p:nvSpPr>
        <p:spPr/>
        <p:txBody>
          <a:bodyPr/>
          <a:lstStyle/>
          <a:p>
            <a:r>
              <a:rPr lang="en-US" dirty="0">
                <a:solidFill>
                  <a:srgbClr val="000000"/>
                </a:solidFill>
              </a:rPr>
              <a:t>Copyright ©2019 John Wiley &amp; Sons, Inc. </a:t>
            </a:r>
          </a:p>
        </p:txBody>
      </p:sp>
    </p:spTree>
    <p:extLst>
      <p:ext uri="{BB962C8B-B14F-4D97-AF65-F5344CB8AC3E}">
        <p14:creationId xmlns:p14="http://schemas.microsoft.com/office/powerpoint/2010/main" val="294292617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8FB1FC4-8C45-4CAE-B140-F7A1C9E747E7}"/>
              </a:ext>
            </a:extLst>
          </p:cNvPr>
          <p:cNvSpPr>
            <a:spLocks noGrp="1"/>
          </p:cNvSpPr>
          <p:nvPr>
            <p:ph sz="quarter" idx="16"/>
          </p:nvPr>
        </p:nvSpPr>
        <p:spPr>
          <a:xfrm>
            <a:off x="304800" y="1500054"/>
            <a:ext cx="8534400" cy="1295399"/>
          </a:xfrm>
        </p:spPr>
        <p:txBody>
          <a:bodyPr/>
          <a:lstStyle/>
          <a:p>
            <a:r>
              <a:rPr lang="en-US" sz="2200" b="1" dirty="0"/>
              <a:t>Illustration: </a:t>
            </a:r>
            <a:r>
              <a:rPr lang="en-US" altLang="en-US" sz="2200" dirty="0"/>
              <a:t>On December 1, the directors of Media General declare a 50 cents per share cash dividend on 100,000 shares of $10 par value common stock. The dividend is payable on January 20 to shareholders of record on December 22.</a:t>
            </a:r>
            <a:endParaRPr lang="en-US" sz="2200" dirty="0">
              <a:latin typeface="Calibri" panose="020F0502020204030204" pitchFamily="34" charset="0"/>
            </a:endParaRPr>
          </a:p>
        </p:txBody>
      </p:sp>
      <p:sp>
        <p:nvSpPr>
          <p:cNvPr id="4" name="Content Placeholder 3">
            <a:extLst>
              <a:ext uri="{FF2B5EF4-FFF2-40B4-BE49-F238E27FC236}">
                <a16:creationId xmlns:a16="http://schemas.microsoft.com/office/drawing/2014/main" id="{A89F56A4-471C-4D12-8705-607A24B022DD}"/>
              </a:ext>
            </a:extLst>
          </p:cNvPr>
          <p:cNvSpPr>
            <a:spLocks noGrp="1"/>
          </p:cNvSpPr>
          <p:nvPr>
            <p:ph sz="quarter" idx="17"/>
          </p:nvPr>
        </p:nvSpPr>
        <p:spPr>
          <a:xfrm>
            <a:off x="317837" y="2947854"/>
            <a:ext cx="887508" cy="301756"/>
          </a:xfrm>
        </p:spPr>
        <p:txBody>
          <a:bodyPr/>
          <a:lstStyle/>
          <a:p>
            <a:r>
              <a:rPr lang="en-US" sz="2200" dirty="0">
                <a:latin typeface="Calibri" panose="020F0502020204030204" pitchFamily="34" charset="0"/>
              </a:rPr>
              <a:t>Dec. 1</a:t>
            </a:r>
          </a:p>
        </p:txBody>
      </p:sp>
      <p:sp>
        <p:nvSpPr>
          <p:cNvPr id="5" name="Content Placeholder 4">
            <a:extLst>
              <a:ext uri="{FF2B5EF4-FFF2-40B4-BE49-F238E27FC236}">
                <a16:creationId xmlns:a16="http://schemas.microsoft.com/office/drawing/2014/main" id="{B954211A-81BF-479B-A666-034D3327038C}"/>
              </a:ext>
            </a:extLst>
          </p:cNvPr>
          <p:cNvSpPr>
            <a:spLocks noGrp="1"/>
          </p:cNvSpPr>
          <p:nvPr>
            <p:ph sz="quarter" idx="18"/>
          </p:nvPr>
        </p:nvSpPr>
        <p:spPr>
          <a:xfrm>
            <a:off x="1346200" y="2952077"/>
            <a:ext cx="2507654" cy="365125"/>
          </a:xfrm>
        </p:spPr>
        <p:txBody>
          <a:bodyPr/>
          <a:lstStyle/>
          <a:p>
            <a:r>
              <a:rPr lang="en-US" sz="2200" dirty="0">
                <a:solidFill>
                  <a:srgbClr val="000000"/>
                </a:solidFill>
                <a:latin typeface="Calibri" panose="020F0502020204030204" pitchFamily="34" charset="0"/>
              </a:rPr>
              <a:t>Retained Earnings</a:t>
            </a:r>
            <a:endParaRPr lang="en-US" sz="2200" dirty="0">
              <a:latin typeface="Calibri" panose="020F0502020204030204" pitchFamily="34" charset="0"/>
            </a:endParaRPr>
          </a:p>
        </p:txBody>
      </p:sp>
      <p:sp>
        <p:nvSpPr>
          <p:cNvPr id="6" name="Content Placeholder 5">
            <a:extLst>
              <a:ext uri="{FF2B5EF4-FFF2-40B4-BE49-F238E27FC236}">
                <a16:creationId xmlns:a16="http://schemas.microsoft.com/office/drawing/2014/main" id="{BD02B4C2-CA38-4C56-B32C-7D7E1DCD3FF9}"/>
              </a:ext>
            </a:extLst>
          </p:cNvPr>
          <p:cNvSpPr>
            <a:spLocks noGrp="1"/>
          </p:cNvSpPr>
          <p:nvPr>
            <p:ph sz="quarter" idx="19"/>
          </p:nvPr>
        </p:nvSpPr>
        <p:spPr>
          <a:xfrm>
            <a:off x="6538710" y="2952077"/>
            <a:ext cx="961834" cy="365125"/>
          </a:xfrm>
        </p:spPr>
        <p:txBody>
          <a:bodyPr/>
          <a:lstStyle/>
          <a:p>
            <a:r>
              <a:rPr lang="en-US" sz="2200" dirty="0">
                <a:solidFill>
                  <a:srgbClr val="000000"/>
                </a:solidFill>
                <a:latin typeface="Calibri" panose="020F0502020204030204" pitchFamily="34" charset="0"/>
              </a:rPr>
              <a:t>50,000</a:t>
            </a:r>
            <a:endParaRPr lang="en-US" sz="2200" dirty="0">
              <a:latin typeface="Calibri" panose="020F0502020204030204" pitchFamily="34" charset="0"/>
            </a:endParaRPr>
          </a:p>
        </p:txBody>
      </p:sp>
      <p:sp>
        <p:nvSpPr>
          <p:cNvPr id="7" name="Content Placeholder 6">
            <a:extLst>
              <a:ext uri="{FF2B5EF4-FFF2-40B4-BE49-F238E27FC236}">
                <a16:creationId xmlns:a16="http://schemas.microsoft.com/office/drawing/2014/main" id="{42497071-B1E6-46B1-AB1C-23A86FFD6A6C}"/>
              </a:ext>
            </a:extLst>
          </p:cNvPr>
          <p:cNvSpPr>
            <a:spLocks noGrp="1"/>
          </p:cNvSpPr>
          <p:nvPr>
            <p:ph sz="quarter" idx="21"/>
          </p:nvPr>
        </p:nvSpPr>
        <p:spPr>
          <a:xfrm>
            <a:off x="1581746" y="3270072"/>
            <a:ext cx="4656342" cy="685800"/>
          </a:xfrm>
        </p:spPr>
        <p:txBody>
          <a:bodyPr/>
          <a:lstStyle/>
          <a:p>
            <a:r>
              <a:rPr lang="en-US" sz="2200" dirty="0">
                <a:solidFill>
                  <a:srgbClr val="000000"/>
                </a:solidFill>
                <a:latin typeface="Calibri" panose="020F0502020204030204" pitchFamily="34" charset="0"/>
              </a:rPr>
              <a:t>Dividends Payable</a:t>
            </a:r>
          </a:p>
          <a:p>
            <a:pPr>
              <a:spcBef>
                <a:spcPts val="0"/>
              </a:spcBef>
            </a:pPr>
            <a:r>
              <a:rPr lang="en-US" sz="2200" dirty="0"/>
              <a:t>(To record declaration of cash dividend)</a:t>
            </a:r>
            <a:endParaRPr lang="en-US" sz="2200" dirty="0">
              <a:latin typeface="Calibri" panose="020F0502020204030204" pitchFamily="34" charset="0"/>
            </a:endParaRPr>
          </a:p>
        </p:txBody>
      </p:sp>
      <p:sp>
        <p:nvSpPr>
          <p:cNvPr id="8" name="Content Placeholder 7">
            <a:extLst>
              <a:ext uri="{FF2B5EF4-FFF2-40B4-BE49-F238E27FC236}">
                <a16:creationId xmlns:a16="http://schemas.microsoft.com/office/drawing/2014/main" id="{4F0D5419-D86E-4523-B834-30F072C126CF}"/>
              </a:ext>
            </a:extLst>
          </p:cNvPr>
          <p:cNvSpPr>
            <a:spLocks noGrp="1"/>
          </p:cNvSpPr>
          <p:nvPr>
            <p:ph sz="quarter" idx="22"/>
          </p:nvPr>
        </p:nvSpPr>
        <p:spPr>
          <a:xfrm>
            <a:off x="7877366" y="3270072"/>
            <a:ext cx="961834" cy="365125"/>
          </a:xfrm>
        </p:spPr>
        <p:txBody>
          <a:bodyPr/>
          <a:lstStyle/>
          <a:p>
            <a:r>
              <a:rPr lang="en-US" sz="2200" dirty="0">
                <a:solidFill>
                  <a:srgbClr val="000000"/>
                </a:solidFill>
                <a:latin typeface="Calibri" panose="020F0502020204030204" pitchFamily="34" charset="0"/>
              </a:rPr>
              <a:t>50,000</a:t>
            </a:r>
            <a:endParaRPr lang="en-US" sz="2200" dirty="0">
              <a:latin typeface="Calibri" panose="020F0502020204030204" pitchFamily="34" charset="0"/>
            </a:endParaRPr>
          </a:p>
        </p:txBody>
      </p:sp>
      <p:sp>
        <p:nvSpPr>
          <p:cNvPr id="9" name="Content Placeholder 8">
            <a:extLst>
              <a:ext uri="{FF2B5EF4-FFF2-40B4-BE49-F238E27FC236}">
                <a16:creationId xmlns:a16="http://schemas.microsoft.com/office/drawing/2014/main" id="{A27EE626-E534-4BCE-949D-519788C467C2}"/>
              </a:ext>
            </a:extLst>
          </p:cNvPr>
          <p:cNvSpPr>
            <a:spLocks noGrp="1"/>
          </p:cNvSpPr>
          <p:nvPr>
            <p:ph sz="quarter" idx="23"/>
          </p:nvPr>
        </p:nvSpPr>
        <p:spPr>
          <a:xfrm>
            <a:off x="318655" y="4319454"/>
            <a:ext cx="1029617" cy="301756"/>
          </a:xfrm>
        </p:spPr>
        <p:txBody>
          <a:bodyPr/>
          <a:lstStyle/>
          <a:p>
            <a:r>
              <a:rPr lang="en-US" altLang="en-US" sz="2200" dirty="0">
                <a:solidFill>
                  <a:srgbClr val="000000"/>
                </a:solidFill>
                <a:latin typeface="Calibri" panose="020F0502020204030204" pitchFamily="34" charset="0"/>
              </a:rPr>
              <a:t>Dec. 22</a:t>
            </a:r>
            <a:endParaRPr lang="en-US" sz="2200" dirty="0">
              <a:latin typeface="Calibri" panose="020F0502020204030204" pitchFamily="34" charset="0"/>
            </a:endParaRPr>
          </a:p>
        </p:txBody>
      </p:sp>
      <p:sp>
        <p:nvSpPr>
          <p:cNvPr id="10" name="Content Placeholder 9">
            <a:extLst>
              <a:ext uri="{FF2B5EF4-FFF2-40B4-BE49-F238E27FC236}">
                <a16:creationId xmlns:a16="http://schemas.microsoft.com/office/drawing/2014/main" id="{2111DC8D-CF65-4D2B-B939-3E17E40F2659}"/>
              </a:ext>
            </a:extLst>
          </p:cNvPr>
          <p:cNvSpPr>
            <a:spLocks noGrp="1"/>
          </p:cNvSpPr>
          <p:nvPr>
            <p:ph sz="quarter" idx="24"/>
          </p:nvPr>
        </p:nvSpPr>
        <p:spPr>
          <a:xfrm>
            <a:off x="1355856" y="4319454"/>
            <a:ext cx="3825743" cy="301756"/>
          </a:xfrm>
        </p:spPr>
        <p:txBody>
          <a:bodyPr/>
          <a:lstStyle/>
          <a:p>
            <a:r>
              <a:rPr lang="en-US" altLang="en-US" sz="2200" dirty="0">
                <a:solidFill>
                  <a:srgbClr val="000000"/>
                </a:solidFill>
                <a:latin typeface="Calibri" panose="020F0502020204030204" pitchFamily="34" charset="0"/>
              </a:rPr>
              <a:t>No entry </a:t>
            </a:r>
            <a:r>
              <a:rPr lang="en-US" altLang="en-US" sz="2200" i="1" dirty="0">
                <a:solidFill>
                  <a:srgbClr val="000000"/>
                </a:solidFill>
                <a:latin typeface="Calibri" panose="020F0502020204030204" pitchFamily="34" charset="0"/>
              </a:rPr>
              <a:t>(on record date)</a:t>
            </a:r>
            <a:endParaRPr lang="en-US" sz="2200" dirty="0">
              <a:latin typeface="Calibri" panose="020F0502020204030204" pitchFamily="34" charset="0"/>
            </a:endParaRPr>
          </a:p>
        </p:txBody>
      </p:sp>
      <p:sp>
        <p:nvSpPr>
          <p:cNvPr id="11" name="Content Placeholder 10">
            <a:extLst>
              <a:ext uri="{FF2B5EF4-FFF2-40B4-BE49-F238E27FC236}">
                <a16:creationId xmlns:a16="http://schemas.microsoft.com/office/drawing/2014/main" id="{E4783CE7-0879-4AA9-9BEB-C7605AB20733}"/>
              </a:ext>
            </a:extLst>
          </p:cNvPr>
          <p:cNvSpPr>
            <a:spLocks noGrp="1"/>
          </p:cNvSpPr>
          <p:nvPr>
            <p:ph sz="quarter" idx="25"/>
          </p:nvPr>
        </p:nvSpPr>
        <p:spPr>
          <a:xfrm>
            <a:off x="318655" y="5110037"/>
            <a:ext cx="973444" cy="357931"/>
          </a:xfrm>
        </p:spPr>
        <p:txBody>
          <a:bodyPr/>
          <a:lstStyle/>
          <a:p>
            <a:r>
              <a:rPr lang="en-US" altLang="en-US" sz="2200" dirty="0">
                <a:solidFill>
                  <a:srgbClr val="000000"/>
                </a:solidFill>
                <a:latin typeface="Calibri" panose="020F0502020204030204" pitchFamily="34" charset="0"/>
              </a:rPr>
              <a:t>Jan. 20</a:t>
            </a:r>
            <a:endParaRPr lang="en-US" sz="2200" dirty="0">
              <a:latin typeface="Calibri" panose="020F0502020204030204" pitchFamily="34" charset="0"/>
            </a:endParaRPr>
          </a:p>
        </p:txBody>
      </p:sp>
      <p:sp>
        <p:nvSpPr>
          <p:cNvPr id="12" name="Content Placeholder 11">
            <a:extLst>
              <a:ext uri="{FF2B5EF4-FFF2-40B4-BE49-F238E27FC236}">
                <a16:creationId xmlns:a16="http://schemas.microsoft.com/office/drawing/2014/main" id="{56B54D13-3564-4703-A67E-40770CF7404D}"/>
              </a:ext>
            </a:extLst>
          </p:cNvPr>
          <p:cNvSpPr>
            <a:spLocks noGrp="1"/>
          </p:cNvSpPr>
          <p:nvPr>
            <p:ph sz="quarter" idx="26"/>
          </p:nvPr>
        </p:nvSpPr>
        <p:spPr>
          <a:xfrm>
            <a:off x="1343890" y="5123892"/>
            <a:ext cx="2494749" cy="365125"/>
          </a:xfrm>
        </p:spPr>
        <p:txBody>
          <a:bodyPr/>
          <a:lstStyle/>
          <a:p>
            <a:r>
              <a:rPr lang="en-US" altLang="en-US" sz="2200" dirty="0">
                <a:solidFill>
                  <a:srgbClr val="000000"/>
                </a:solidFill>
                <a:latin typeface="Calibri" panose="020F0502020204030204" pitchFamily="34" charset="0"/>
              </a:rPr>
              <a:t>Dividends Payable</a:t>
            </a:r>
            <a:endParaRPr lang="en-US" sz="2200" dirty="0">
              <a:latin typeface="Calibri" panose="020F0502020204030204" pitchFamily="34" charset="0"/>
            </a:endParaRPr>
          </a:p>
        </p:txBody>
      </p:sp>
      <p:sp>
        <p:nvSpPr>
          <p:cNvPr id="13" name="Content Placeholder 12">
            <a:extLst>
              <a:ext uri="{FF2B5EF4-FFF2-40B4-BE49-F238E27FC236}">
                <a16:creationId xmlns:a16="http://schemas.microsoft.com/office/drawing/2014/main" id="{D2F2FB76-EAA3-4C73-BBEF-417505B23661}"/>
              </a:ext>
            </a:extLst>
          </p:cNvPr>
          <p:cNvSpPr>
            <a:spLocks noGrp="1"/>
          </p:cNvSpPr>
          <p:nvPr>
            <p:ph sz="quarter" idx="27"/>
          </p:nvPr>
        </p:nvSpPr>
        <p:spPr>
          <a:xfrm>
            <a:off x="6550890" y="5123892"/>
            <a:ext cx="992910" cy="365125"/>
          </a:xfrm>
        </p:spPr>
        <p:txBody>
          <a:bodyPr/>
          <a:lstStyle/>
          <a:p>
            <a:r>
              <a:rPr lang="en-US" altLang="en-US" sz="2200" dirty="0">
                <a:solidFill>
                  <a:srgbClr val="000000"/>
                </a:solidFill>
                <a:latin typeface="Calibri" panose="020F0502020204030204" pitchFamily="34" charset="0"/>
              </a:rPr>
              <a:t>50,000</a:t>
            </a:r>
            <a:endParaRPr lang="en-US" sz="2200" dirty="0">
              <a:latin typeface="Calibri" panose="020F0502020204030204" pitchFamily="34" charset="0"/>
            </a:endParaRPr>
          </a:p>
        </p:txBody>
      </p:sp>
      <p:sp>
        <p:nvSpPr>
          <p:cNvPr id="14" name="Content Placeholder 13">
            <a:extLst>
              <a:ext uri="{FF2B5EF4-FFF2-40B4-BE49-F238E27FC236}">
                <a16:creationId xmlns:a16="http://schemas.microsoft.com/office/drawing/2014/main" id="{1EB7426C-8403-4782-BB82-C6BE0B3BB5AB}"/>
              </a:ext>
            </a:extLst>
          </p:cNvPr>
          <p:cNvSpPr>
            <a:spLocks noGrp="1"/>
          </p:cNvSpPr>
          <p:nvPr>
            <p:ph sz="quarter" idx="28"/>
          </p:nvPr>
        </p:nvSpPr>
        <p:spPr>
          <a:xfrm>
            <a:off x="1581746" y="5477691"/>
            <a:ext cx="4656342" cy="685800"/>
          </a:xfrm>
        </p:spPr>
        <p:txBody>
          <a:bodyPr/>
          <a:lstStyle/>
          <a:p>
            <a:r>
              <a:rPr lang="en-US" altLang="en-US" sz="2200" dirty="0">
                <a:solidFill>
                  <a:srgbClr val="000000"/>
                </a:solidFill>
                <a:latin typeface="Calibri" panose="020F0502020204030204" pitchFamily="34" charset="0"/>
              </a:rPr>
              <a:t>Cash</a:t>
            </a:r>
          </a:p>
          <a:p>
            <a:pPr marL="269875">
              <a:spcBef>
                <a:spcPts val="0"/>
              </a:spcBef>
            </a:pPr>
            <a:r>
              <a:rPr lang="en-US" sz="2200" dirty="0">
                <a:latin typeface="Calibri" panose="020F0502020204030204" pitchFamily="34" charset="0"/>
              </a:rPr>
              <a:t>(To record payment of cash dividend)</a:t>
            </a:r>
          </a:p>
        </p:txBody>
      </p:sp>
      <p:sp>
        <p:nvSpPr>
          <p:cNvPr id="15" name="Content Placeholder 14">
            <a:extLst>
              <a:ext uri="{FF2B5EF4-FFF2-40B4-BE49-F238E27FC236}">
                <a16:creationId xmlns:a16="http://schemas.microsoft.com/office/drawing/2014/main" id="{20B9A763-AD0E-4EA0-881C-8B820EB78841}"/>
              </a:ext>
            </a:extLst>
          </p:cNvPr>
          <p:cNvSpPr>
            <a:spLocks noGrp="1"/>
          </p:cNvSpPr>
          <p:nvPr>
            <p:ph sz="quarter" idx="29"/>
          </p:nvPr>
        </p:nvSpPr>
        <p:spPr>
          <a:xfrm>
            <a:off x="7862125" y="5454618"/>
            <a:ext cx="992910" cy="301756"/>
          </a:xfrm>
        </p:spPr>
        <p:txBody>
          <a:bodyPr/>
          <a:lstStyle/>
          <a:p>
            <a:r>
              <a:rPr lang="en-US" altLang="en-US" sz="2200" dirty="0">
                <a:solidFill>
                  <a:srgbClr val="000000"/>
                </a:solidFill>
                <a:latin typeface="Calibri" panose="020F0502020204030204" pitchFamily="34" charset="0"/>
              </a:rPr>
              <a:t>50,000</a:t>
            </a:r>
            <a:endParaRPr lang="en-US" sz="2200" dirty="0">
              <a:latin typeface="Calibri" panose="020F0502020204030204" pitchFamily="34" charset="0"/>
            </a:endParaRPr>
          </a:p>
        </p:txBody>
      </p:sp>
      <p:sp>
        <p:nvSpPr>
          <p:cNvPr id="23" name="Slide Number Placeholder 22">
            <a:extLst>
              <a:ext uri="{FF2B5EF4-FFF2-40B4-BE49-F238E27FC236}">
                <a16:creationId xmlns:a16="http://schemas.microsoft.com/office/drawing/2014/main" id="{4AEC1CE4-8340-4C2D-8217-23C1CF007E27}"/>
              </a:ext>
            </a:extLst>
          </p:cNvPr>
          <p:cNvSpPr>
            <a:spLocks noGrp="1"/>
          </p:cNvSpPr>
          <p:nvPr>
            <p:ph type="sldNum" sz="quarter" idx="10"/>
          </p:nvPr>
        </p:nvSpPr>
        <p:spPr/>
        <p:txBody>
          <a:bodyPr/>
          <a:lstStyle/>
          <a:p>
            <a:fld id="{67B19427-F580-D146-B60E-4CADEE75497F}" type="slidenum">
              <a:rPr lang="en-US" smtClean="0"/>
              <a:pPr/>
              <a:t>42</a:t>
            </a:fld>
            <a:endParaRPr lang="en-US" dirty="0"/>
          </a:p>
        </p:txBody>
      </p:sp>
      <p:sp>
        <p:nvSpPr>
          <p:cNvPr id="24" name="Footer Placeholder 23">
            <a:extLst>
              <a:ext uri="{FF2B5EF4-FFF2-40B4-BE49-F238E27FC236}">
                <a16:creationId xmlns:a16="http://schemas.microsoft.com/office/drawing/2014/main" id="{2E209D7E-00CF-40C4-8C3A-776240C8843D}"/>
              </a:ext>
            </a:extLst>
          </p:cNvPr>
          <p:cNvSpPr>
            <a:spLocks noGrp="1"/>
          </p:cNvSpPr>
          <p:nvPr>
            <p:ph type="ftr" sz="quarter" idx="11"/>
          </p:nvPr>
        </p:nvSpPr>
        <p:spPr/>
        <p:txBody>
          <a:bodyPr/>
          <a:lstStyle/>
          <a:p>
            <a:r>
              <a:rPr lang="en-US"/>
              <a:t>Copyright ©2018 John Wiley &amp; Sons, Inc. </a:t>
            </a:r>
            <a:endParaRPr lang="en-US" dirty="0"/>
          </a:p>
        </p:txBody>
      </p:sp>
      <p:sp>
        <p:nvSpPr>
          <p:cNvPr id="21" name="Title 1">
            <a:extLst>
              <a:ext uri="{FF2B5EF4-FFF2-40B4-BE49-F238E27FC236}">
                <a16:creationId xmlns:a16="http://schemas.microsoft.com/office/drawing/2014/main" id="{00B615AF-9C32-4962-9CEF-2E88F4F16381}"/>
              </a:ext>
            </a:extLst>
          </p:cNvPr>
          <p:cNvSpPr>
            <a:spLocks noGrp="1"/>
          </p:cNvSpPr>
          <p:nvPr>
            <p:ph type="title"/>
          </p:nvPr>
        </p:nvSpPr>
        <p:spPr>
          <a:xfrm>
            <a:off x="304800" y="572869"/>
            <a:ext cx="8534400" cy="646331"/>
          </a:xfrm>
        </p:spPr>
        <p:txBody>
          <a:bodyPr>
            <a:spAutoFit/>
          </a:bodyPr>
          <a:lstStyle/>
          <a:p>
            <a:r>
              <a:rPr lang="en-US" b="1" dirty="0"/>
              <a:t>Cash Dividends</a:t>
            </a:r>
            <a:endParaRPr lang="en-US" sz="2800" b="1" noProof="0" dirty="0">
              <a:solidFill>
                <a:srgbClr val="000000"/>
              </a:solidFill>
            </a:endParaRPr>
          </a:p>
        </p:txBody>
      </p:sp>
    </p:spTree>
    <p:extLst>
      <p:ext uri="{BB962C8B-B14F-4D97-AF65-F5344CB8AC3E}">
        <p14:creationId xmlns:p14="http://schemas.microsoft.com/office/powerpoint/2010/main" val="13581444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xEl>
                                              <p:pRg st="0" end="0"/>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xEl>
                                              <p:pRg st="1" end="1"/>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xEl>
                                              <p:pRg st="0" end="0"/>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1">
                                            <p:txEl>
                                              <p:pRg st="0" end="0"/>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2">
                                            <p:txEl>
                                              <p:pRg st="0" end="0"/>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4">
                                            <p:txEl>
                                              <p:pRg st="0" end="0"/>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4">
                                            <p:txEl>
                                              <p:pRg st="1" end="1"/>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5" grpId="0" build="p"/>
      <p:bldP spid="6" grpId="0" build="p"/>
      <p:bldP spid="7" grpId="0" uiExpand="1" build="p"/>
      <p:bldP spid="8" grpId="0" build="p"/>
      <p:bldP spid="9" grpId="0" build="p"/>
      <p:bldP spid="10" grpId="0" build="p"/>
      <p:bldP spid="11" grpId="0" build="p"/>
      <p:bldP spid="12" grpId="0" build="p"/>
      <p:bldP spid="13" grpId="0" build="p"/>
      <p:bldP spid="14" grpId="0" uiExpand="1" build="p"/>
      <p:bldP spid="15"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533400"/>
            <a:ext cx="8534400" cy="646331"/>
          </a:xfrm>
        </p:spPr>
        <p:txBody>
          <a:bodyPr>
            <a:spAutoFit/>
          </a:bodyPr>
          <a:lstStyle/>
          <a:p>
            <a:r>
              <a:rPr lang="en-US" dirty="0"/>
              <a:t>Property Dividends</a:t>
            </a:r>
            <a:endParaRPr lang="en-US" sz="2800" b="0" noProof="0" dirty="0">
              <a:solidFill>
                <a:srgbClr val="990000"/>
              </a:solidFill>
            </a:endParaRPr>
          </a:p>
        </p:txBody>
      </p:sp>
      <p:sp>
        <p:nvSpPr>
          <p:cNvPr id="9" name="Content Placeholder 8">
            <a:extLst>
              <a:ext uri="{FF2B5EF4-FFF2-40B4-BE49-F238E27FC236}">
                <a16:creationId xmlns:a16="http://schemas.microsoft.com/office/drawing/2014/main" id="{DDAC5CB2-627A-459E-8BB3-E4ECBB46DB64}"/>
              </a:ext>
            </a:extLst>
          </p:cNvPr>
          <p:cNvSpPr>
            <a:spLocks noGrp="1"/>
          </p:cNvSpPr>
          <p:nvPr>
            <p:ph sz="quarter" idx="16"/>
          </p:nvPr>
        </p:nvSpPr>
        <p:spPr>
          <a:xfrm>
            <a:off x="152400" y="1179731"/>
            <a:ext cx="8686800" cy="4763869"/>
          </a:xfrm>
        </p:spPr>
        <p:txBody>
          <a:bodyPr>
            <a:normAutofit/>
          </a:bodyPr>
          <a:lstStyle/>
          <a:p>
            <a:pPr marL="291600" indent="-291600">
              <a:lnSpc>
                <a:spcPct val="100000"/>
              </a:lnSpc>
              <a:spcBef>
                <a:spcPts val="0"/>
              </a:spcBef>
              <a:buFont typeface="Arial" pitchFamily="34" charset="0"/>
              <a:buChar char="•"/>
            </a:pPr>
            <a:r>
              <a:rPr lang="en-US" noProof="0" dirty="0"/>
              <a:t>Dividends payable in assets other than cash.</a:t>
            </a:r>
          </a:p>
          <a:p>
            <a:pPr marL="291600" indent="-291600">
              <a:lnSpc>
                <a:spcPct val="100000"/>
              </a:lnSpc>
              <a:spcBef>
                <a:spcPts val="0"/>
              </a:spcBef>
              <a:buFont typeface="Arial" pitchFamily="34" charset="0"/>
              <a:buChar char="•"/>
            </a:pPr>
            <a:r>
              <a:rPr lang="en-US" noProof="0" dirty="0"/>
              <a:t>Restate at fair value the property it will distribute, recognizing any gain or loss.</a:t>
            </a:r>
          </a:p>
          <a:p>
            <a:pPr>
              <a:lnSpc>
                <a:spcPct val="100000"/>
              </a:lnSpc>
              <a:spcBef>
                <a:spcPts val="0"/>
              </a:spcBef>
            </a:pPr>
            <a:endParaRPr lang="en-US" noProof="0" dirty="0"/>
          </a:p>
          <a:p>
            <a:r>
              <a:rPr lang="en-US" dirty="0"/>
              <a:t>Three dates are important: </a:t>
            </a:r>
          </a:p>
          <a:p>
            <a:pPr marL="514350" indent="-514350">
              <a:buFont typeface="+mj-lt"/>
              <a:buAutoNum type="arabicPeriod"/>
            </a:pPr>
            <a:r>
              <a:rPr lang="en-US" dirty="0"/>
              <a:t>declaration date</a:t>
            </a:r>
          </a:p>
          <a:p>
            <a:pPr marL="514350" indent="-514350">
              <a:buFont typeface="+mj-lt"/>
              <a:buAutoNum type="arabicPeriod"/>
            </a:pPr>
            <a:r>
              <a:rPr lang="en-US" dirty="0"/>
              <a:t>record date</a:t>
            </a:r>
          </a:p>
          <a:p>
            <a:pPr marL="514350" indent="-514350">
              <a:buFont typeface="+mj-lt"/>
              <a:buAutoNum type="arabicPeriod"/>
            </a:pPr>
            <a:r>
              <a:rPr lang="en-US" dirty="0"/>
              <a:t>payment date</a:t>
            </a:r>
          </a:p>
          <a:p>
            <a:pPr marL="291600" indent="-291600">
              <a:lnSpc>
                <a:spcPct val="100000"/>
              </a:lnSpc>
              <a:spcBef>
                <a:spcPts val="0"/>
              </a:spcBef>
              <a:buFont typeface="Arial" pitchFamily="34" charset="0"/>
              <a:buChar char="•"/>
            </a:pPr>
            <a:endParaRPr lang="en-US" noProof="0" dirty="0"/>
          </a:p>
          <a:p>
            <a:pPr marL="291600" indent="-291600">
              <a:lnSpc>
                <a:spcPct val="100000"/>
              </a:lnSpc>
              <a:spcBef>
                <a:spcPts val="0"/>
              </a:spcBef>
              <a:buFont typeface="Arial" pitchFamily="34" charset="0"/>
              <a:buChar char="•"/>
            </a:pPr>
            <a:endParaRPr lang="en-US" noProof="0" dirty="0"/>
          </a:p>
        </p:txBody>
      </p:sp>
      <p:sp>
        <p:nvSpPr>
          <p:cNvPr id="13" name="COB/LO">
            <a:extLst>
              <a:ext uri="{FF2B5EF4-FFF2-40B4-BE49-F238E27FC236}">
                <a16:creationId xmlns:a16="http://schemas.microsoft.com/office/drawing/2014/main" id="{86FD848B-592E-44B8-9630-BDF7B05BAF9E}"/>
              </a:ext>
            </a:extLst>
          </p:cNvPr>
          <p:cNvSpPr txBox="1">
            <a:spLocks noGrp="1"/>
          </p:cNvSpPr>
          <p:nvPr>
            <p:ph sz="quarter" idx="15"/>
          </p:nvPr>
        </p:nvSpPr>
        <p:spPr>
          <a:xfrm>
            <a:off x="331788" y="6400413"/>
            <a:ext cx="749300" cy="276999"/>
          </a:xfrm>
          <a:prstGeom prst="rect">
            <a:avLst/>
          </a:prstGeom>
          <a:noFill/>
        </p:spPr>
        <p:txBody>
          <a:bodyPr lIns="0" rIns="0">
            <a:spAutoFit/>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60325" lvl="1" indent="0">
              <a:lnSpc>
                <a:spcPct val="100000"/>
              </a:lnSpc>
              <a:spcBef>
                <a:spcPts val="1200"/>
              </a:spcBef>
              <a:buFont typeface="Arial"/>
              <a:buNone/>
            </a:pPr>
            <a:r>
              <a:rPr lang="en-US" sz="1200" noProof="0" dirty="0">
                <a:solidFill>
                  <a:srgbClr val="000000"/>
                </a:solidFill>
              </a:rPr>
              <a:t>LO 3</a:t>
            </a:r>
          </a:p>
        </p:txBody>
      </p:sp>
      <p:sp>
        <p:nvSpPr>
          <p:cNvPr id="4" name="Slide Number Placeholder 3"/>
          <p:cNvSpPr>
            <a:spLocks noGrp="1"/>
          </p:cNvSpPr>
          <p:nvPr>
            <p:ph type="sldNum" sz="quarter" idx="10"/>
          </p:nvPr>
        </p:nvSpPr>
        <p:spPr/>
        <p:txBody>
          <a:bodyPr/>
          <a:lstStyle/>
          <a:p>
            <a:fld id="{67B19427-F580-D146-B60E-4CADEE75497F}" type="slidenum">
              <a:rPr lang="en-US" smtClean="0">
                <a:solidFill>
                  <a:srgbClr val="000000"/>
                </a:solidFill>
              </a:rPr>
              <a:pPr/>
              <a:t>43</a:t>
            </a:fld>
            <a:endParaRPr lang="en-US" dirty="0">
              <a:solidFill>
                <a:srgbClr val="000000"/>
              </a:solidFill>
            </a:endParaRPr>
          </a:p>
        </p:txBody>
      </p:sp>
      <p:sp>
        <p:nvSpPr>
          <p:cNvPr id="5" name="Footer Placeholder 4"/>
          <p:cNvSpPr>
            <a:spLocks noGrp="1"/>
          </p:cNvSpPr>
          <p:nvPr>
            <p:ph type="ftr" sz="quarter" idx="11"/>
          </p:nvPr>
        </p:nvSpPr>
        <p:spPr/>
        <p:txBody>
          <a:bodyPr/>
          <a:lstStyle/>
          <a:p>
            <a:r>
              <a:rPr lang="en-US" dirty="0">
                <a:solidFill>
                  <a:srgbClr val="000000"/>
                </a:solidFill>
              </a:rPr>
              <a:t>Copyright ©2019 John Wiley &amp; Sons, Inc. </a:t>
            </a:r>
          </a:p>
        </p:txBody>
      </p:sp>
    </p:spTree>
    <p:extLst>
      <p:ext uri="{BB962C8B-B14F-4D97-AF65-F5344CB8AC3E}">
        <p14:creationId xmlns:p14="http://schemas.microsoft.com/office/powerpoint/2010/main" val="17168713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Content Placeholder 45">
            <a:extLst>
              <a:ext uri="{FF2B5EF4-FFF2-40B4-BE49-F238E27FC236}">
                <a16:creationId xmlns:a16="http://schemas.microsoft.com/office/drawing/2014/main" id="{C8C8AB3C-0C37-41DA-A9F9-4524866C50C1}"/>
              </a:ext>
            </a:extLst>
          </p:cNvPr>
          <p:cNvSpPr>
            <a:spLocks noGrp="1"/>
          </p:cNvSpPr>
          <p:nvPr>
            <p:ph sz="quarter" idx="16"/>
          </p:nvPr>
        </p:nvSpPr>
        <p:spPr>
          <a:xfrm>
            <a:off x="142875" y="914400"/>
            <a:ext cx="8839200" cy="1618529"/>
          </a:xfrm>
        </p:spPr>
        <p:txBody>
          <a:bodyPr>
            <a:noAutofit/>
          </a:bodyPr>
          <a:lstStyle/>
          <a:p>
            <a:r>
              <a:rPr lang="en-US" sz="2200" b="1" noProof="0" dirty="0"/>
              <a:t>Illustration:</a:t>
            </a:r>
            <a:r>
              <a:rPr lang="en-US" sz="2200" noProof="0" dirty="0"/>
              <a:t> </a:t>
            </a:r>
            <a:r>
              <a:rPr lang="en-US" sz="2200" dirty="0"/>
              <a:t>Trendler, </a:t>
            </a:r>
            <a:r>
              <a:rPr lang="en-US" sz="2200" noProof="0" dirty="0"/>
              <a:t>Inc. transferred to stockholders some of its equity investments costing $1,250,000 by declaring a property dividend on December 28, 2019, to be distributed on January 30, 2020, to stockholders of record on January 15, 2020. At the date of declaration, the securities have a market value of $2,000,000. </a:t>
            </a:r>
            <a:r>
              <a:rPr lang="en-US" sz="2200" dirty="0"/>
              <a:t>Trendler </a:t>
            </a:r>
            <a:r>
              <a:rPr lang="en-US" sz="2200" noProof="0" dirty="0"/>
              <a:t>makes the following entries.</a:t>
            </a:r>
          </a:p>
        </p:txBody>
      </p:sp>
      <p:sp>
        <p:nvSpPr>
          <p:cNvPr id="49" name="Content Placeholder 48">
            <a:extLst>
              <a:ext uri="{FF2B5EF4-FFF2-40B4-BE49-F238E27FC236}">
                <a16:creationId xmlns:a16="http://schemas.microsoft.com/office/drawing/2014/main" id="{64C50A47-8BB1-4017-ADCD-295FFD3B1EA8}"/>
              </a:ext>
            </a:extLst>
          </p:cNvPr>
          <p:cNvSpPr>
            <a:spLocks noGrp="1"/>
          </p:cNvSpPr>
          <p:nvPr>
            <p:ph sz="quarter" idx="19"/>
          </p:nvPr>
        </p:nvSpPr>
        <p:spPr>
          <a:xfrm>
            <a:off x="1152939" y="2681203"/>
            <a:ext cx="3505200" cy="393699"/>
          </a:xfrm>
        </p:spPr>
        <p:txBody>
          <a:bodyPr>
            <a:noAutofit/>
          </a:bodyPr>
          <a:lstStyle/>
          <a:p>
            <a:r>
              <a:rPr lang="en-US" sz="2000" noProof="0" dirty="0">
                <a:latin typeface="Calibri" panose="020F0502020204030204" pitchFamily="34" charset="0"/>
              </a:rPr>
              <a:t>Equity Investments</a:t>
            </a:r>
            <a:endParaRPr lang="en-US" sz="2000" noProof="0" dirty="0"/>
          </a:p>
        </p:txBody>
      </p:sp>
      <p:sp>
        <p:nvSpPr>
          <p:cNvPr id="65" name="Content Placeholder 64">
            <a:extLst>
              <a:ext uri="{FF2B5EF4-FFF2-40B4-BE49-F238E27FC236}">
                <a16:creationId xmlns:a16="http://schemas.microsoft.com/office/drawing/2014/main" id="{04D32AA3-4B56-4652-872C-3C8EB174FA5C}"/>
              </a:ext>
            </a:extLst>
          </p:cNvPr>
          <p:cNvSpPr>
            <a:spLocks noGrp="1"/>
          </p:cNvSpPr>
          <p:nvPr>
            <p:ph sz="quarter" idx="35"/>
          </p:nvPr>
        </p:nvSpPr>
        <p:spPr>
          <a:xfrm>
            <a:off x="5486400" y="2728623"/>
            <a:ext cx="1442920" cy="393699"/>
          </a:xfrm>
        </p:spPr>
        <p:txBody>
          <a:bodyPr>
            <a:normAutofit/>
          </a:bodyPr>
          <a:lstStyle/>
          <a:p>
            <a:pPr algn="r"/>
            <a:r>
              <a:rPr lang="en-US" sz="2000" noProof="0" dirty="0">
                <a:latin typeface="Calibri" panose="020F0502020204030204" pitchFamily="34" charset="0"/>
              </a:rPr>
              <a:t>750,000</a:t>
            </a:r>
            <a:endParaRPr lang="en-US" sz="2000" noProof="0" dirty="0"/>
          </a:p>
        </p:txBody>
      </p:sp>
      <p:sp>
        <p:nvSpPr>
          <p:cNvPr id="52" name="Content Placeholder 51">
            <a:extLst>
              <a:ext uri="{FF2B5EF4-FFF2-40B4-BE49-F238E27FC236}">
                <a16:creationId xmlns:a16="http://schemas.microsoft.com/office/drawing/2014/main" id="{6ADB1848-582C-4D88-B6E6-69871FF2B960}"/>
              </a:ext>
            </a:extLst>
          </p:cNvPr>
          <p:cNvSpPr>
            <a:spLocks noGrp="1"/>
          </p:cNvSpPr>
          <p:nvPr>
            <p:ph sz="quarter" idx="22"/>
          </p:nvPr>
        </p:nvSpPr>
        <p:spPr>
          <a:xfrm>
            <a:off x="1453041" y="3082573"/>
            <a:ext cx="5405625" cy="343457"/>
          </a:xfrm>
        </p:spPr>
        <p:txBody>
          <a:bodyPr>
            <a:noAutofit/>
          </a:bodyPr>
          <a:lstStyle/>
          <a:p>
            <a:pPr>
              <a:spcBef>
                <a:spcPts val="0"/>
              </a:spcBef>
            </a:pPr>
            <a:r>
              <a:rPr lang="en-US" sz="2000" noProof="0" dirty="0">
                <a:latin typeface="Calibri" panose="020F0502020204030204" pitchFamily="34" charset="0"/>
              </a:rPr>
              <a:t>Unrealized Holding Gain or Loss—Income</a:t>
            </a:r>
          </a:p>
        </p:txBody>
      </p:sp>
      <p:sp>
        <p:nvSpPr>
          <p:cNvPr id="66" name="Content Placeholder 65">
            <a:extLst>
              <a:ext uri="{FF2B5EF4-FFF2-40B4-BE49-F238E27FC236}">
                <a16:creationId xmlns:a16="http://schemas.microsoft.com/office/drawing/2014/main" id="{8A3CEE6B-7DD6-4CB7-AC77-B73CD90E3399}"/>
              </a:ext>
            </a:extLst>
          </p:cNvPr>
          <p:cNvSpPr>
            <a:spLocks noGrp="1"/>
          </p:cNvSpPr>
          <p:nvPr>
            <p:ph sz="quarter" idx="36"/>
          </p:nvPr>
        </p:nvSpPr>
        <p:spPr>
          <a:xfrm>
            <a:off x="7001799" y="3062536"/>
            <a:ext cx="1291130" cy="381000"/>
          </a:xfrm>
        </p:spPr>
        <p:txBody>
          <a:bodyPr>
            <a:normAutofit/>
          </a:bodyPr>
          <a:lstStyle/>
          <a:p>
            <a:pPr algn="r"/>
            <a:r>
              <a:rPr lang="en-US" sz="2000" noProof="0" dirty="0">
                <a:latin typeface="Calibri" panose="020F0502020204030204" pitchFamily="34" charset="0"/>
              </a:rPr>
              <a:t>750,000</a:t>
            </a:r>
            <a:endParaRPr lang="en-US" sz="2000" noProof="0" dirty="0"/>
          </a:p>
        </p:txBody>
      </p:sp>
      <p:sp>
        <p:nvSpPr>
          <p:cNvPr id="53" name="Content Placeholder 52">
            <a:extLst>
              <a:ext uri="{FF2B5EF4-FFF2-40B4-BE49-F238E27FC236}">
                <a16:creationId xmlns:a16="http://schemas.microsoft.com/office/drawing/2014/main" id="{86043B11-5449-4E34-8B19-6F7182A056A1}"/>
              </a:ext>
            </a:extLst>
          </p:cNvPr>
          <p:cNvSpPr>
            <a:spLocks noGrp="1"/>
          </p:cNvSpPr>
          <p:nvPr>
            <p:ph sz="quarter" idx="23"/>
          </p:nvPr>
        </p:nvSpPr>
        <p:spPr>
          <a:xfrm>
            <a:off x="1169248" y="3505200"/>
            <a:ext cx="3581400" cy="381000"/>
          </a:xfrm>
        </p:spPr>
        <p:txBody>
          <a:bodyPr>
            <a:noAutofit/>
          </a:bodyPr>
          <a:lstStyle/>
          <a:p>
            <a:r>
              <a:rPr lang="en-US" sz="2000" noProof="0" dirty="0">
                <a:latin typeface="Calibri" panose="020F0502020204030204" pitchFamily="34" charset="0"/>
              </a:rPr>
              <a:t>Retained Earnings</a:t>
            </a:r>
            <a:endParaRPr lang="en-US" sz="2000" noProof="0" dirty="0"/>
          </a:p>
        </p:txBody>
      </p:sp>
      <p:sp>
        <p:nvSpPr>
          <p:cNvPr id="67" name="Content Placeholder 66">
            <a:extLst>
              <a:ext uri="{FF2B5EF4-FFF2-40B4-BE49-F238E27FC236}">
                <a16:creationId xmlns:a16="http://schemas.microsoft.com/office/drawing/2014/main" id="{7EF7B8D6-8518-47A7-A535-940B1E7F7D73}"/>
              </a:ext>
            </a:extLst>
          </p:cNvPr>
          <p:cNvSpPr>
            <a:spLocks noGrp="1"/>
          </p:cNvSpPr>
          <p:nvPr>
            <p:ph sz="quarter" idx="37"/>
          </p:nvPr>
        </p:nvSpPr>
        <p:spPr>
          <a:xfrm>
            <a:off x="5560343" y="3535072"/>
            <a:ext cx="1441456" cy="381000"/>
          </a:xfrm>
        </p:spPr>
        <p:txBody>
          <a:bodyPr>
            <a:normAutofit/>
          </a:bodyPr>
          <a:lstStyle/>
          <a:p>
            <a:pPr algn="r"/>
            <a:r>
              <a:rPr lang="en-US" sz="2000" noProof="0" dirty="0">
                <a:latin typeface="Calibri" panose="020F0502020204030204" pitchFamily="34" charset="0"/>
              </a:rPr>
              <a:t>2,000,000</a:t>
            </a:r>
            <a:endParaRPr lang="en-US" sz="2000" noProof="0" dirty="0"/>
          </a:p>
        </p:txBody>
      </p:sp>
      <p:sp>
        <p:nvSpPr>
          <p:cNvPr id="54" name="Content Placeholder 53">
            <a:extLst>
              <a:ext uri="{FF2B5EF4-FFF2-40B4-BE49-F238E27FC236}">
                <a16:creationId xmlns:a16="http://schemas.microsoft.com/office/drawing/2014/main" id="{0C7FEF26-95EB-4096-8C18-AC9359459C7D}"/>
              </a:ext>
            </a:extLst>
          </p:cNvPr>
          <p:cNvSpPr>
            <a:spLocks noGrp="1"/>
          </p:cNvSpPr>
          <p:nvPr>
            <p:ph sz="quarter" idx="24"/>
          </p:nvPr>
        </p:nvSpPr>
        <p:spPr>
          <a:xfrm>
            <a:off x="1625712" y="3886200"/>
            <a:ext cx="4698888" cy="609600"/>
          </a:xfrm>
        </p:spPr>
        <p:txBody>
          <a:bodyPr>
            <a:noAutofit/>
          </a:bodyPr>
          <a:lstStyle/>
          <a:p>
            <a:pPr>
              <a:spcBef>
                <a:spcPts val="0"/>
              </a:spcBef>
            </a:pPr>
            <a:r>
              <a:rPr lang="en-US" sz="2000" noProof="0" dirty="0">
                <a:latin typeface="Calibri" panose="020F0502020204030204" pitchFamily="34" charset="0"/>
              </a:rPr>
              <a:t>Property Dividends Payable</a:t>
            </a:r>
          </a:p>
          <a:p>
            <a:pPr>
              <a:spcBef>
                <a:spcPts val="0"/>
              </a:spcBef>
            </a:pPr>
            <a:r>
              <a:rPr lang="en-US" sz="2000" dirty="0"/>
              <a:t>(To record declaration of property dividend)</a:t>
            </a:r>
          </a:p>
          <a:p>
            <a:pPr>
              <a:spcBef>
                <a:spcPts val="0"/>
              </a:spcBef>
            </a:pPr>
            <a:endParaRPr lang="en-US" sz="2000" noProof="0" dirty="0"/>
          </a:p>
        </p:txBody>
      </p:sp>
      <p:sp>
        <p:nvSpPr>
          <p:cNvPr id="69" name="Content Placeholder 68">
            <a:extLst>
              <a:ext uri="{FF2B5EF4-FFF2-40B4-BE49-F238E27FC236}">
                <a16:creationId xmlns:a16="http://schemas.microsoft.com/office/drawing/2014/main" id="{7DC85FC8-8F67-4B19-AEE0-A881269A8042}"/>
              </a:ext>
            </a:extLst>
          </p:cNvPr>
          <p:cNvSpPr>
            <a:spLocks noGrp="1"/>
          </p:cNvSpPr>
          <p:nvPr>
            <p:ph sz="quarter" idx="39"/>
          </p:nvPr>
        </p:nvSpPr>
        <p:spPr>
          <a:xfrm>
            <a:off x="7001799" y="3858999"/>
            <a:ext cx="1431938" cy="381000"/>
          </a:xfrm>
        </p:spPr>
        <p:txBody>
          <a:bodyPr>
            <a:normAutofit/>
          </a:bodyPr>
          <a:lstStyle/>
          <a:p>
            <a:pPr algn="r"/>
            <a:r>
              <a:rPr lang="en-US" sz="2000" noProof="0" dirty="0">
                <a:latin typeface="Calibri" panose="020F0502020204030204" pitchFamily="34" charset="0"/>
              </a:rPr>
              <a:t>2,000,000</a:t>
            </a:r>
            <a:endParaRPr lang="en-US" sz="2000" noProof="0" dirty="0"/>
          </a:p>
        </p:txBody>
      </p:sp>
      <p:sp>
        <p:nvSpPr>
          <p:cNvPr id="75" name="COB/LO">
            <a:extLst>
              <a:ext uri="{FF2B5EF4-FFF2-40B4-BE49-F238E27FC236}">
                <a16:creationId xmlns:a16="http://schemas.microsoft.com/office/drawing/2014/main" id="{3C7EE0EC-0E69-4E4C-8F21-A7C5D5ED486E}"/>
              </a:ext>
            </a:extLst>
          </p:cNvPr>
          <p:cNvSpPr txBox="1">
            <a:spLocks noGrp="1"/>
          </p:cNvSpPr>
          <p:nvPr>
            <p:ph sz="quarter" idx="44"/>
          </p:nvPr>
        </p:nvSpPr>
        <p:spPr>
          <a:xfrm>
            <a:off x="331788" y="6350810"/>
            <a:ext cx="749300" cy="365125"/>
          </a:xfrm>
          <a:prstGeom prst="rect">
            <a:avLst/>
          </a:prstGeom>
          <a:noFill/>
        </p:spPr>
        <p:txBody>
          <a:bodyPr lIns="0" rIns="0">
            <a:spAutoFit/>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60325" lvl="1" indent="0">
              <a:lnSpc>
                <a:spcPct val="100000"/>
              </a:lnSpc>
              <a:spcBef>
                <a:spcPts val="1200"/>
              </a:spcBef>
              <a:buFont typeface="Arial"/>
              <a:buNone/>
            </a:pPr>
            <a:r>
              <a:rPr lang="en-US" sz="1200" noProof="0" dirty="0">
                <a:solidFill>
                  <a:srgbClr val="000000"/>
                </a:solidFill>
              </a:rPr>
              <a:t>LO 3</a:t>
            </a:r>
          </a:p>
        </p:txBody>
      </p:sp>
      <p:sp>
        <p:nvSpPr>
          <p:cNvPr id="4" name="Slide Number Placeholder 3"/>
          <p:cNvSpPr>
            <a:spLocks noGrp="1"/>
          </p:cNvSpPr>
          <p:nvPr>
            <p:ph type="sldNum" sz="quarter" idx="10"/>
          </p:nvPr>
        </p:nvSpPr>
        <p:spPr>
          <a:ln>
            <a:noFill/>
          </a:ln>
        </p:spPr>
        <p:txBody>
          <a:bodyPr/>
          <a:lstStyle/>
          <a:p>
            <a:fld id="{67B19427-F580-D146-B60E-4CADEE75497F}" type="slidenum">
              <a:rPr lang="en-US" smtClean="0">
                <a:solidFill>
                  <a:schemeClr val="tx1"/>
                </a:solidFill>
              </a:rPr>
              <a:pPr/>
              <a:t>44</a:t>
            </a:fld>
            <a:endParaRPr lang="en-US" dirty="0">
              <a:solidFill>
                <a:schemeClr val="tx1"/>
              </a:solidFill>
            </a:endParaRPr>
          </a:p>
        </p:txBody>
      </p:sp>
      <p:sp>
        <p:nvSpPr>
          <p:cNvPr id="5" name="Footer Placeholder 4"/>
          <p:cNvSpPr>
            <a:spLocks noGrp="1"/>
          </p:cNvSpPr>
          <p:nvPr>
            <p:ph type="ftr" sz="quarter" idx="11"/>
          </p:nvPr>
        </p:nvSpPr>
        <p:spPr>
          <a:ln>
            <a:noFill/>
          </a:ln>
        </p:spPr>
        <p:txBody>
          <a:bodyPr/>
          <a:lstStyle/>
          <a:p>
            <a:r>
              <a:rPr lang="en-US" dirty="0">
                <a:solidFill>
                  <a:schemeClr val="tx1"/>
                </a:solidFill>
              </a:rPr>
              <a:t>Copyright ©2019 John Wiley &amp; Sons, Inc. </a:t>
            </a:r>
          </a:p>
        </p:txBody>
      </p:sp>
      <p:sp>
        <p:nvSpPr>
          <p:cNvPr id="18" name="Title 1">
            <a:extLst>
              <a:ext uri="{FF2B5EF4-FFF2-40B4-BE49-F238E27FC236}">
                <a16:creationId xmlns:a16="http://schemas.microsoft.com/office/drawing/2014/main" id="{8FA9D3BF-5D56-4E38-94E8-41AD017D83BC}"/>
              </a:ext>
            </a:extLst>
          </p:cNvPr>
          <p:cNvSpPr>
            <a:spLocks noGrp="1"/>
          </p:cNvSpPr>
          <p:nvPr>
            <p:ph type="title"/>
          </p:nvPr>
        </p:nvSpPr>
        <p:spPr>
          <a:xfrm>
            <a:off x="152400" y="399669"/>
            <a:ext cx="8534400" cy="590931"/>
          </a:xfrm>
        </p:spPr>
        <p:txBody>
          <a:bodyPr>
            <a:spAutoFit/>
          </a:bodyPr>
          <a:lstStyle/>
          <a:p>
            <a:r>
              <a:rPr lang="en-US" sz="3600" dirty="0"/>
              <a:t>Property Dividends</a:t>
            </a:r>
            <a:endParaRPr lang="en-US" sz="2400" b="0" noProof="0" dirty="0">
              <a:solidFill>
                <a:srgbClr val="990000"/>
              </a:solidFill>
            </a:endParaRPr>
          </a:p>
        </p:txBody>
      </p:sp>
      <p:sp>
        <p:nvSpPr>
          <p:cNvPr id="19" name="Content Placeholder 3">
            <a:extLst>
              <a:ext uri="{FF2B5EF4-FFF2-40B4-BE49-F238E27FC236}">
                <a16:creationId xmlns:a16="http://schemas.microsoft.com/office/drawing/2014/main" id="{12EE7B0E-78E8-4CD1-837A-B6764D1FCCDA}"/>
              </a:ext>
            </a:extLst>
          </p:cNvPr>
          <p:cNvSpPr txBox="1">
            <a:spLocks/>
          </p:cNvSpPr>
          <p:nvPr/>
        </p:nvSpPr>
        <p:spPr>
          <a:xfrm>
            <a:off x="0" y="2671264"/>
            <a:ext cx="1091218" cy="301756"/>
          </a:xfrm>
          <a:prstGeom prst="rect">
            <a:avLst/>
          </a:prstGeom>
        </p:spPr>
        <p:txBody>
          <a:bodyPr/>
          <a:lstStyle>
            <a:lvl1pPr marL="228600" indent="-228600" algn="l" defTabSz="914400" rtl="0" eaLnBrk="1" latinLnBrk="0" hangingPunct="1">
              <a:lnSpc>
                <a:spcPct val="90000"/>
              </a:lnSpc>
              <a:spcBef>
                <a:spcPts val="1000"/>
              </a:spcBef>
              <a:buFont typeface="Arial"/>
              <a:buNone/>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sz="2000" dirty="0">
                <a:latin typeface="Calibri" panose="020F0502020204030204" pitchFamily="34" charset="0"/>
              </a:rPr>
              <a:t>Dec 28</a:t>
            </a:r>
          </a:p>
        </p:txBody>
      </p:sp>
      <p:sp>
        <p:nvSpPr>
          <p:cNvPr id="24" name="Content Placeholder 3">
            <a:extLst>
              <a:ext uri="{FF2B5EF4-FFF2-40B4-BE49-F238E27FC236}">
                <a16:creationId xmlns:a16="http://schemas.microsoft.com/office/drawing/2014/main" id="{326C1232-C675-447A-AFAB-F9745713A392}"/>
              </a:ext>
            </a:extLst>
          </p:cNvPr>
          <p:cNvSpPr txBox="1">
            <a:spLocks/>
          </p:cNvSpPr>
          <p:nvPr/>
        </p:nvSpPr>
        <p:spPr>
          <a:xfrm>
            <a:off x="64531" y="4634135"/>
            <a:ext cx="1828800" cy="301756"/>
          </a:xfrm>
          <a:prstGeom prst="rect">
            <a:avLst/>
          </a:prstGeom>
        </p:spPr>
        <p:txBody>
          <a:bodyPr/>
          <a:lstStyle>
            <a:lvl1pPr marL="228600" indent="-228600" algn="l" defTabSz="914400" rtl="0" eaLnBrk="1" latinLnBrk="0" hangingPunct="1">
              <a:lnSpc>
                <a:spcPct val="90000"/>
              </a:lnSpc>
              <a:spcBef>
                <a:spcPts val="1000"/>
              </a:spcBef>
              <a:buFont typeface="Arial"/>
              <a:buNone/>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sz="2000" dirty="0">
                <a:latin typeface="Calibri" panose="020F0502020204030204" pitchFamily="34" charset="0"/>
              </a:rPr>
              <a:t>Jan 15</a:t>
            </a:r>
          </a:p>
        </p:txBody>
      </p:sp>
      <p:sp>
        <p:nvSpPr>
          <p:cNvPr id="28" name="Content Placeholder 48">
            <a:extLst>
              <a:ext uri="{FF2B5EF4-FFF2-40B4-BE49-F238E27FC236}">
                <a16:creationId xmlns:a16="http://schemas.microsoft.com/office/drawing/2014/main" id="{1D4CEAD3-C254-4372-B6F5-3F263E0CF958}"/>
              </a:ext>
            </a:extLst>
          </p:cNvPr>
          <p:cNvSpPr txBox="1">
            <a:spLocks/>
          </p:cNvSpPr>
          <p:nvPr/>
        </p:nvSpPr>
        <p:spPr>
          <a:xfrm>
            <a:off x="1207531" y="5153616"/>
            <a:ext cx="3661747" cy="393699"/>
          </a:xfrm>
          <a:prstGeom prst="rect">
            <a:avLst/>
          </a:prstGeom>
        </p:spPr>
        <p:txBody>
          <a:bodyPr>
            <a:noAutofit/>
          </a:bodyPr>
          <a:lstStyle>
            <a:lvl1pPr marL="228600" indent="-228600" algn="l" defTabSz="914400" rtl="0" eaLnBrk="1" latinLnBrk="0" hangingPunct="1">
              <a:lnSpc>
                <a:spcPct val="90000"/>
              </a:lnSpc>
              <a:spcBef>
                <a:spcPts val="1000"/>
              </a:spcBef>
              <a:buFont typeface="Arial"/>
              <a:buNone/>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sz="2000" dirty="0">
                <a:latin typeface="Calibri" panose="020F0502020204030204" pitchFamily="34" charset="0"/>
              </a:rPr>
              <a:t>Property Dividends Payable</a:t>
            </a:r>
            <a:endParaRPr lang="en-US" sz="2000" dirty="0"/>
          </a:p>
        </p:txBody>
      </p:sp>
      <p:sp>
        <p:nvSpPr>
          <p:cNvPr id="29" name="Content Placeholder 64">
            <a:extLst>
              <a:ext uri="{FF2B5EF4-FFF2-40B4-BE49-F238E27FC236}">
                <a16:creationId xmlns:a16="http://schemas.microsoft.com/office/drawing/2014/main" id="{3B3324EF-DD56-4ADF-A1C7-942D6A5996E1}"/>
              </a:ext>
            </a:extLst>
          </p:cNvPr>
          <p:cNvSpPr txBox="1">
            <a:spLocks/>
          </p:cNvSpPr>
          <p:nvPr/>
        </p:nvSpPr>
        <p:spPr>
          <a:xfrm>
            <a:off x="5603140" y="5229225"/>
            <a:ext cx="1442920" cy="393699"/>
          </a:xfrm>
          <a:prstGeom prst="rect">
            <a:avLst/>
          </a:prstGeom>
        </p:spPr>
        <p:txBody>
          <a:bodyPr>
            <a:normAutofit/>
          </a:bodyPr>
          <a:lstStyle>
            <a:lvl1pPr marL="228600" indent="-228600" algn="l" defTabSz="914400" rtl="0" eaLnBrk="1" latinLnBrk="0" hangingPunct="1">
              <a:lnSpc>
                <a:spcPct val="90000"/>
              </a:lnSpc>
              <a:spcBef>
                <a:spcPts val="1000"/>
              </a:spcBef>
              <a:buFont typeface="Arial"/>
              <a:buNone/>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gn="r"/>
            <a:r>
              <a:rPr lang="en-US" sz="2000" dirty="0">
                <a:latin typeface="Calibri" panose="020F0502020204030204" pitchFamily="34" charset="0"/>
              </a:rPr>
              <a:t>2,000,000</a:t>
            </a:r>
            <a:endParaRPr lang="en-US" sz="2000" dirty="0"/>
          </a:p>
        </p:txBody>
      </p:sp>
      <p:sp>
        <p:nvSpPr>
          <p:cNvPr id="30" name="Content Placeholder 51">
            <a:extLst>
              <a:ext uri="{FF2B5EF4-FFF2-40B4-BE49-F238E27FC236}">
                <a16:creationId xmlns:a16="http://schemas.microsoft.com/office/drawing/2014/main" id="{323A127C-A219-4763-9371-B2D51248EA2F}"/>
              </a:ext>
            </a:extLst>
          </p:cNvPr>
          <p:cNvSpPr txBox="1">
            <a:spLocks/>
          </p:cNvSpPr>
          <p:nvPr/>
        </p:nvSpPr>
        <p:spPr>
          <a:xfrm>
            <a:off x="1664610" y="5588476"/>
            <a:ext cx="4450440" cy="660568"/>
          </a:xfrm>
          <a:prstGeom prst="rect">
            <a:avLst/>
          </a:prstGeom>
        </p:spPr>
        <p:txBody>
          <a:bodyPr>
            <a:noAutofit/>
          </a:bodyPr>
          <a:lstStyle>
            <a:lvl1pPr marL="228600" indent="-228600" algn="l" defTabSz="914400" rtl="0" eaLnBrk="1" latinLnBrk="0" hangingPunct="1">
              <a:lnSpc>
                <a:spcPct val="90000"/>
              </a:lnSpc>
              <a:spcBef>
                <a:spcPts val="1000"/>
              </a:spcBef>
              <a:buFont typeface="Arial"/>
              <a:buNone/>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spcBef>
                <a:spcPts val="0"/>
              </a:spcBef>
            </a:pPr>
            <a:r>
              <a:rPr lang="en-US" sz="2000" dirty="0">
                <a:latin typeface="Calibri" panose="020F0502020204030204" pitchFamily="34" charset="0"/>
              </a:rPr>
              <a:t>Equity Investments</a:t>
            </a:r>
          </a:p>
          <a:p>
            <a:pPr>
              <a:spcBef>
                <a:spcPts val="0"/>
              </a:spcBef>
            </a:pPr>
            <a:r>
              <a:rPr lang="en-US" sz="2000" dirty="0">
                <a:latin typeface="Calibri" panose="020F0502020204030204" pitchFamily="34" charset="0"/>
              </a:rPr>
              <a:t>(To record payment of property dividend)</a:t>
            </a:r>
          </a:p>
          <a:p>
            <a:pPr>
              <a:spcBef>
                <a:spcPts val="0"/>
              </a:spcBef>
            </a:pPr>
            <a:endParaRPr lang="en-US" sz="2000" dirty="0"/>
          </a:p>
        </p:txBody>
      </p:sp>
      <p:sp>
        <p:nvSpPr>
          <p:cNvPr id="31" name="Content Placeholder 65">
            <a:extLst>
              <a:ext uri="{FF2B5EF4-FFF2-40B4-BE49-F238E27FC236}">
                <a16:creationId xmlns:a16="http://schemas.microsoft.com/office/drawing/2014/main" id="{2BD44BD4-1D75-424B-8FDC-FDD01B9A8CBD}"/>
              </a:ext>
            </a:extLst>
          </p:cNvPr>
          <p:cNvSpPr txBox="1">
            <a:spLocks/>
          </p:cNvSpPr>
          <p:nvPr/>
        </p:nvSpPr>
        <p:spPr>
          <a:xfrm>
            <a:off x="7046060" y="5562600"/>
            <a:ext cx="1431938" cy="381000"/>
          </a:xfrm>
          <a:prstGeom prst="rect">
            <a:avLst/>
          </a:prstGeom>
        </p:spPr>
        <p:txBody>
          <a:bodyPr>
            <a:normAutofit/>
          </a:bodyPr>
          <a:lstStyle>
            <a:lvl1pPr marL="228600" indent="-228600" algn="l" defTabSz="914400" rtl="0" eaLnBrk="1" latinLnBrk="0" hangingPunct="1">
              <a:lnSpc>
                <a:spcPct val="90000"/>
              </a:lnSpc>
              <a:spcBef>
                <a:spcPts val="1000"/>
              </a:spcBef>
              <a:buFont typeface="Arial"/>
              <a:buNone/>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gn="r"/>
            <a:r>
              <a:rPr lang="en-US" sz="2000" dirty="0">
                <a:latin typeface="Calibri" panose="020F0502020204030204" pitchFamily="34" charset="0"/>
              </a:rPr>
              <a:t>2,000,000</a:t>
            </a:r>
            <a:endParaRPr lang="en-US" sz="2000" dirty="0"/>
          </a:p>
        </p:txBody>
      </p:sp>
      <p:sp>
        <p:nvSpPr>
          <p:cNvPr id="32" name="Content Placeholder 3">
            <a:extLst>
              <a:ext uri="{FF2B5EF4-FFF2-40B4-BE49-F238E27FC236}">
                <a16:creationId xmlns:a16="http://schemas.microsoft.com/office/drawing/2014/main" id="{A605FA27-B0CC-4A12-83A7-B3C7F0267E09}"/>
              </a:ext>
            </a:extLst>
          </p:cNvPr>
          <p:cNvSpPr txBox="1">
            <a:spLocks/>
          </p:cNvSpPr>
          <p:nvPr/>
        </p:nvSpPr>
        <p:spPr>
          <a:xfrm>
            <a:off x="61847" y="5168871"/>
            <a:ext cx="1019241" cy="241329"/>
          </a:xfrm>
          <a:prstGeom prst="rect">
            <a:avLst/>
          </a:prstGeom>
        </p:spPr>
        <p:txBody>
          <a:bodyPr/>
          <a:lstStyle>
            <a:lvl1pPr marL="228600" indent="-228600" algn="l" defTabSz="914400" rtl="0" eaLnBrk="1" latinLnBrk="0" hangingPunct="1">
              <a:lnSpc>
                <a:spcPct val="90000"/>
              </a:lnSpc>
              <a:spcBef>
                <a:spcPts val="1000"/>
              </a:spcBef>
              <a:buFont typeface="Arial"/>
              <a:buNone/>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sz="2000" dirty="0">
                <a:latin typeface="Calibri" panose="020F0502020204030204" pitchFamily="34" charset="0"/>
              </a:rPr>
              <a:t>Jan 30</a:t>
            </a:r>
          </a:p>
        </p:txBody>
      </p:sp>
      <p:sp>
        <p:nvSpPr>
          <p:cNvPr id="26" name="Content Placeholder 9">
            <a:extLst>
              <a:ext uri="{FF2B5EF4-FFF2-40B4-BE49-F238E27FC236}">
                <a16:creationId xmlns:a16="http://schemas.microsoft.com/office/drawing/2014/main" id="{1638E391-BC63-464E-9EF7-6C0B6A1F277E}"/>
              </a:ext>
            </a:extLst>
          </p:cNvPr>
          <p:cNvSpPr txBox="1">
            <a:spLocks/>
          </p:cNvSpPr>
          <p:nvPr/>
        </p:nvSpPr>
        <p:spPr>
          <a:xfrm>
            <a:off x="1207531" y="4651244"/>
            <a:ext cx="3825743" cy="301756"/>
          </a:xfrm>
          <a:prstGeom prst="rect">
            <a:avLst/>
          </a:prstGeom>
        </p:spPr>
        <p:txBody>
          <a:bodyPr/>
          <a:lstStyle>
            <a:lvl1pPr marL="228600" indent="-228600" algn="l" defTabSz="914400" rtl="0" eaLnBrk="1" latinLnBrk="0" hangingPunct="1">
              <a:lnSpc>
                <a:spcPct val="90000"/>
              </a:lnSpc>
              <a:spcBef>
                <a:spcPts val="1000"/>
              </a:spcBef>
              <a:buFont typeface="Arial"/>
              <a:buNone/>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altLang="en-US" sz="2000" dirty="0">
                <a:solidFill>
                  <a:srgbClr val="000000"/>
                </a:solidFill>
                <a:latin typeface="Calibri" panose="020F0502020204030204" pitchFamily="34" charset="0"/>
              </a:rPr>
              <a:t>No entry </a:t>
            </a:r>
            <a:r>
              <a:rPr lang="en-US" altLang="en-US" sz="2000" i="1" dirty="0">
                <a:solidFill>
                  <a:srgbClr val="000000"/>
                </a:solidFill>
                <a:latin typeface="Calibri" panose="020F0502020204030204" pitchFamily="34" charset="0"/>
              </a:rPr>
              <a:t>(on record date)</a:t>
            </a:r>
            <a:endParaRPr lang="en-US" sz="2000" dirty="0">
              <a:latin typeface="Calibri" panose="020F0502020204030204" pitchFamily="34" charset="0"/>
            </a:endParaRPr>
          </a:p>
        </p:txBody>
      </p:sp>
    </p:spTree>
    <p:extLst>
      <p:ext uri="{BB962C8B-B14F-4D97-AF65-F5344CB8AC3E}">
        <p14:creationId xmlns:p14="http://schemas.microsoft.com/office/powerpoint/2010/main" val="29168706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9">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5">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2">
                                            <p:txEl>
                                              <p:pRg st="0" end="0"/>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6">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3">
                                            <p:txEl>
                                              <p:pRg st="0" end="0"/>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7">
                                            <p:txEl>
                                              <p:pRg st="0" end="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4">
                                            <p:txEl>
                                              <p:pRg st="0" end="0"/>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54">
                                            <p:txEl>
                                              <p:pRg st="1" end="1"/>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69">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8">
                                            <p:txEl>
                                              <p:pRg st="0" end="0"/>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9">
                                            <p:txEl>
                                              <p:pRg st="0" end="0"/>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0">
                                            <p:txEl>
                                              <p:pRg st="0" end="0"/>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30">
                                            <p:txEl>
                                              <p:pRg st="1" end="1"/>
                                            </p:txEl>
                                          </p:spTgt>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1">
                                            <p:txEl>
                                              <p:pRg st="0" end="0"/>
                                            </p:txEl>
                                          </p:spTgt>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build="p"/>
      <p:bldP spid="65" grpId="0" build="p"/>
      <p:bldP spid="52" grpId="0" build="p"/>
      <p:bldP spid="66" grpId="0" build="p"/>
      <p:bldP spid="53" grpId="0" build="p"/>
      <p:bldP spid="67" grpId="0" build="p"/>
      <p:bldP spid="54" grpId="0" build="p"/>
      <p:bldP spid="69" grpId="0" build="p"/>
      <p:bldP spid="19" grpId="0" build="p"/>
      <p:bldP spid="28" grpId="0" build="p"/>
      <p:bldP spid="29" grpId="0" build="p"/>
      <p:bldP spid="30" grpId="0" build="p"/>
      <p:bldP spid="31" grpId="0" build="p"/>
      <p:bldP spid="26"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457200"/>
            <a:ext cx="8534400" cy="646331"/>
          </a:xfrm>
        </p:spPr>
        <p:txBody>
          <a:bodyPr>
            <a:spAutoFit/>
          </a:bodyPr>
          <a:lstStyle/>
          <a:p>
            <a:r>
              <a:rPr lang="en-US" dirty="0"/>
              <a:t>Liquidating Dividends</a:t>
            </a:r>
            <a:endParaRPr lang="en-US" sz="2800" b="0" noProof="0" dirty="0">
              <a:solidFill>
                <a:srgbClr val="990000"/>
              </a:solidFill>
            </a:endParaRPr>
          </a:p>
        </p:txBody>
      </p:sp>
      <p:sp>
        <p:nvSpPr>
          <p:cNvPr id="9" name="Content Placeholder 8">
            <a:extLst>
              <a:ext uri="{FF2B5EF4-FFF2-40B4-BE49-F238E27FC236}">
                <a16:creationId xmlns:a16="http://schemas.microsoft.com/office/drawing/2014/main" id="{DDAC5CB2-627A-459E-8BB3-E4ECBB46DB64}"/>
              </a:ext>
            </a:extLst>
          </p:cNvPr>
          <p:cNvSpPr>
            <a:spLocks noGrp="1"/>
          </p:cNvSpPr>
          <p:nvPr>
            <p:ph sz="quarter" idx="16"/>
          </p:nvPr>
        </p:nvSpPr>
        <p:spPr>
          <a:xfrm>
            <a:off x="152400" y="1255931"/>
            <a:ext cx="8839200" cy="4840069"/>
          </a:xfrm>
        </p:spPr>
        <p:txBody>
          <a:bodyPr>
            <a:normAutofit lnSpcReduction="10000"/>
          </a:bodyPr>
          <a:lstStyle/>
          <a:p>
            <a:pPr marL="291600" indent="-291600">
              <a:lnSpc>
                <a:spcPct val="100000"/>
              </a:lnSpc>
              <a:buFont typeface="Arial" pitchFamily="34" charset="0"/>
              <a:buChar char="•"/>
            </a:pPr>
            <a:r>
              <a:rPr lang="en-US" sz="2400" dirty="0"/>
              <a:t>Cash dividends are paid from retained earnings </a:t>
            </a:r>
            <a:r>
              <a:rPr lang="en-US" sz="2400" i="1" dirty="0"/>
              <a:t>(company's earned profits)</a:t>
            </a:r>
            <a:r>
              <a:rPr lang="en-US" sz="2400" dirty="0"/>
              <a:t>.</a:t>
            </a:r>
            <a:endParaRPr lang="en-US" sz="2400" noProof="0" dirty="0"/>
          </a:p>
          <a:p>
            <a:pPr marL="291600" indent="-291600">
              <a:lnSpc>
                <a:spcPct val="100000"/>
              </a:lnSpc>
              <a:buFont typeface="Arial" pitchFamily="34" charset="0"/>
              <a:buChar char="•"/>
            </a:pPr>
            <a:r>
              <a:rPr lang="en-US" sz="2400" b="1" dirty="0"/>
              <a:t>Liquidating dividends </a:t>
            </a:r>
            <a:r>
              <a:rPr lang="en-US" sz="2400" dirty="0"/>
              <a:t>are declared out of paid-in capital </a:t>
            </a:r>
            <a:r>
              <a:rPr lang="en-US" sz="2400" i="1" dirty="0"/>
              <a:t>(which represents the money shareholders invested when they purchased the company's stock)</a:t>
            </a:r>
            <a:r>
              <a:rPr lang="en-US" sz="2400" dirty="0"/>
              <a:t>.</a:t>
            </a:r>
          </a:p>
          <a:p>
            <a:pPr marL="977400" lvl="1" indent="-291600">
              <a:lnSpc>
                <a:spcPct val="100000"/>
              </a:lnSpc>
              <a:buFont typeface="Courier New" panose="02070309020205020404" pitchFamily="49" charset="0"/>
              <a:buChar char="o"/>
            </a:pPr>
            <a:r>
              <a:rPr lang="en-US" sz="2000" dirty="0"/>
              <a:t>If a company pays out dividends that are greater than its earned profits, it means that some of the dividend payment is not coming from these profits.</a:t>
            </a:r>
          </a:p>
          <a:p>
            <a:pPr marL="977400" lvl="1" indent="-291600">
              <a:lnSpc>
                <a:spcPct val="100000"/>
              </a:lnSpc>
              <a:buFont typeface="Courier New" panose="02070309020205020404" pitchFamily="49" charset="0"/>
              <a:buChar char="o"/>
            </a:pPr>
            <a:r>
              <a:rPr lang="en-US" sz="2000" dirty="0"/>
              <a:t>In this situation, the excess portion of the dividend is considered a return of the shareholder's original investment, which is drawn from the paid-in capital.</a:t>
            </a:r>
          </a:p>
          <a:p>
            <a:pPr marL="977400" lvl="1" indent="-291600">
              <a:lnSpc>
                <a:spcPct val="100000"/>
              </a:lnSpc>
              <a:buFont typeface="Courier New" panose="02070309020205020404" pitchFamily="49" charset="0"/>
              <a:buChar char="o"/>
            </a:pPr>
            <a:r>
              <a:rPr lang="en-US" sz="2000" dirty="0"/>
              <a:t>The most common reason is when a company is winding down its operations. After selling assets and paying off liabilities, any remaining funds are distributed to shareholders.</a:t>
            </a:r>
          </a:p>
          <a:p>
            <a:pPr marL="291600" indent="-291600">
              <a:lnSpc>
                <a:spcPct val="100000"/>
              </a:lnSpc>
              <a:buFont typeface="Arial" pitchFamily="34" charset="0"/>
              <a:buChar char="•"/>
            </a:pPr>
            <a:endParaRPr lang="en-US" sz="2400" dirty="0"/>
          </a:p>
          <a:p>
            <a:pPr marL="291600" indent="-291600">
              <a:lnSpc>
                <a:spcPct val="100000"/>
              </a:lnSpc>
              <a:buFont typeface="Arial" pitchFamily="34" charset="0"/>
              <a:buChar char="•"/>
            </a:pPr>
            <a:endParaRPr lang="en-US" sz="2400" dirty="0"/>
          </a:p>
        </p:txBody>
      </p:sp>
      <p:sp>
        <p:nvSpPr>
          <p:cNvPr id="13" name="COB/LO">
            <a:extLst>
              <a:ext uri="{FF2B5EF4-FFF2-40B4-BE49-F238E27FC236}">
                <a16:creationId xmlns:a16="http://schemas.microsoft.com/office/drawing/2014/main" id="{86FD848B-592E-44B8-9630-BDF7B05BAF9E}"/>
              </a:ext>
            </a:extLst>
          </p:cNvPr>
          <p:cNvSpPr txBox="1">
            <a:spLocks noGrp="1"/>
          </p:cNvSpPr>
          <p:nvPr>
            <p:ph sz="quarter" idx="15"/>
          </p:nvPr>
        </p:nvSpPr>
        <p:spPr>
          <a:xfrm>
            <a:off x="331788" y="6400413"/>
            <a:ext cx="749300" cy="276999"/>
          </a:xfrm>
          <a:prstGeom prst="rect">
            <a:avLst/>
          </a:prstGeom>
          <a:noFill/>
        </p:spPr>
        <p:txBody>
          <a:bodyPr lIns="0" rIns="0">
            <a:spAutoFit/>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60325" lvl="1" indent="0">
              <a:lnSpc>
                <a:spcPct val="100000"/>
              </a:lnSpc>
              <a:spcBef>
                <a:spcPts val="1200"/>
              </a:spcBef>
              <a:buFont typeface="Arial"/>
              <a:buNone/>
            </a:pPr>
            <a:r>
              <a:rPr lang="en-US" sz="1200" noProof="0" dirty="0">
                <a:solidFill>
                  <a:srgbClr val="000000"/>
                </a:solidFill>
              </a:rPr>
              <a:t>LO 3</a:t>
            </a:r>
          </a:p>
        </p:txBody>
      </p:sp>
      <p:sp>
        <p:nvSpPr>
          <p:cNvPr id="4" name="Slide Number Placeholder 3"/>
          <p:cNvSpPr>
            <a:spLocks noGrp="1"/>
          </p:cNvSpPr>
          <p:nvPr>
            <p:ph type="sldNum" sz="quarter" idx="10"/>
          </p:nvPr>
        </p:nvSpPr>
        <p:spPr/>
        <p:txBody>
          <a:bodyPr/>
          <a:lstStyle/>
          <a:p>
            <a:fld id="{67B19427-F580-D146-B60E-4CADEE75497F}" type="slidenum">
              <a:rPr lang="en-US" smtClean="0">
                <a:solidFill>
                  <a:srgbClr val="000000"/>
                </a:solidFill>
              </a:rPr>
              <a:pPr/>
              <a:t>45</a:t>
            </a:fld>
            <a:endParaRPr lang="en-US" dirty="0">
              <a:solidFill>
                <a:srgbClr val="000000"/>
              </a:solidFill>
            </a:endParaRPr>
          </a:p>
        </p:txBody>
      </p:sp>
      <p:sp>
        <p:nvSpPr>
          <p:cNvPr id="5" name="Footer Placeholder 4"/>
          <p:cNvSpPr>
            <a:spLocks noGrp="1"/>
          </p:cNvSpPr>
          <p:nvPr>
            <p:ph type="ftr" sz="quarter" idx="11"/>
          </p:nvPr>
        </p:nvSpPr>
        <p:spPr/>
        <p:txBody>
          <a:bodyPr/>
          <a:lstStyle/>
          <a:p>
            <a:r>
              <a:rPr lang="en-US" dirty="0">
                <a:solidFill>
                  <a:srgbClr val="000000"/>
                </a:solidFill>
              </a:rPr>
              <a:t>Copyright ©2019 John Wiley &amp; Sons, Inc. </a:t>
            </a:r>
          </a:p>
        </p:txBody>
      </p:sp>
    </p:spTree>
    <p:extLst>
      <p:ext uri="{BB962C8B-B14F-4D97-AF65-F5344CB8AC3E}">
        <p14:creationId xmlns:p14="http://schemas.microsoft.com/office/powerpoint/2010/main" val="358196357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Content Placeholder 48">
            <a:extLst>
              <a:ext uri="{FF2B5EF4-FFF2-40B4-BE49-F238E27FC236}">
                <a16:creationId xmlns:a16="http://schemas.microsoft.com/office/drawing/2014/main" id="{64C50A47-8BB1-4017-ADCD-295FFD3B1EA8}"/>
              </a:ext>
            </a:extLst>
          </p:cNvPr>
          <p:cNvSpPr>
            <a:spLocks noGrp="1"/>
          </p:cNvSpPr>
          <p:nvPr>
            <p:ph sz="quarter" idx="19"/>
          </p:nvPr>
        </p:nvSpPr>
        <p:spPr>
          <a:xfrm>
            <a:off x="1152939" y="2680559"/>
            <a:ext cx="3505200" cy="393699"/>
          </a:xfrm>
        </p:spPr>
        <p:txBody>
          <a:bodyPr>
            <a:noAutofit/>
          </a:bodyPr>
          <a:lstStyle/>
          <a:p>
            <a:r>
              <a:rPr lang="en-US" sz="2000" dirty="0">
                <a:latin typeface="Calibri" panose="020F0502020204030204" pitchFamily="34" charset="0"/>
              </a:rPr>
              <a:t>Retained Earnings</a:t>
            </a:r>
            <a:endParaRPr lang="en-US" sz="2000" dirty="0"/>
          </a:p>
        </p:txBody>
      </p:sp>
      <p:sp>
        <p:nvSpPr>
          <p:cNvPr id="65" name="Content Placeholder 64">
            <a:extLst>
              <a:ext uri="{FF2B5EF4-FFF2-40B4-BE49-F238E27FC236}">
                <a16:creationId xmlns:a16="http://schemas.microsoft.com/office/drawing/2014/main" id="{04D32AA3-4B56-4652-872C-3C8EB174FA5C}"/>
              </a:ext>
            </a:extLst>
          </p:cNvPr>
          <p:cNvSpPr>
            <a:spLocks noGrp="1"/>
          </p:cNvSpPr>
          <p:nvPr>
            <p:ph sz="quarter" idx="35"/>
          </p:nvPr>
        </p:nvSpPr>
        <p:spPr>
          <a:xfrm>
            <a:off x="6294353" y="2726681"/>
            <a:ext cx="1442920" cy="393699"/>
          </a:xfrm>
        </p:spPr>
        <p:txBody>
          <a:bodyPr>
            <a:normAutofit/>
          </a:bodyPr>
          <a:lstStyle/>
          <a:p>
            <a:pPr algn="r"/>
            <a:r>
              <a:rPr lang="en-US" sz="2000" dirty="0">
                <a:latin typeface="Calibri" panose="020F0502020204030204" pitchFamily="34" charset="0"/>
              </a:rPr>
              <a:t>900,000</a:t>
            </a:r>
            <a:endParaRPr lang="en-US" sz="2000" dirty="0"/>
          </a:p>
        </p:txBody>
      </p:sp>
      <p:sp>
        <p:nvSpPr>
          <p:cNvPr id="53" name="Content Placeholder 52">
            <a:extLst>
              <a:ext uri="{FF2B5EF4-FFF2-40B4-BE49-F238E27FC236}">
                <a16:creationId xmlns:a16="http://schemas.microsoft.com/office/drawing/2014/main" id="{86043B11-5449-4E34-8B19-6F7182A056A1}"/>
              </a:ext>
            </a:extLst>
          </p:cNvPr>
          <p:cNvSpPr>
            <a:spLocks noGrp="1"/>
          </p:cNvSpPr>
          <p:nvPr>
            <p:ph sz="quarter" idx="23"/>
          </p:nvPr>
        </p:nvSpPr>
        <p:spPr>
          <a:xfrm>
            <a:off x="1143000" y="3076286"/>
            <a:ext cx="5250419" cy="426037"/>
          </a:xfrm>
        </p:spPr>
        <p:txBody>
          <a:bodyPr>
            <a:noAutofit/>
          </a:bodyPr>
          <a:lstStyle/>
          <a:p>
            <a:r>
              <a:rPr lang="en-US" sz="2000" dirty="0"/>
              <a:t>Paid-in Capital in Excess of Par—Common Stock</a:t>
            </a:r>
          </a:p>
        </p:txBody>
      </p:sp>
      <p:sp>
        <p:nvSpPr>
          <p:cNvPr id="67" name="Content Placeholder 66">
            <a:extLst>
              <a:ext uri="{FF2B5EF4-FFF2-40B4-BE49-F238E27FC236}">
                <a16:creationId xmlns:a16="http://schemas.microsoft.com/office/drawing/2014/main" id="{7EF7B8D6-8518-47A7-A535-940B1E7F7D73}"/>
              </a:ext>
            </a:extLst>
          </p:cNvPr>
          <p:cNvSpPr>
            <a:spLocks noGrp="1"/>
          </p:cNvSpPr>
          <p:nvPr>
            <p:ph sz="quarter" idx="37"/>
          </p:nvPr>
        </p:nvSpPr>
        <p:spPr>
          <a:xfrm>
            <a:off x="6294353" y="3085456"/>
            <a:ext cx="1441456" cy="381000"/>
          </a:xfrm>
        </p:spPr>
        <p:txBody>
          <a:bodyPr>
            <a:normAutofit/>
          </a:bodyPr>
          <a:lstStyle/>
          <a:p>
            <a:pPr algn="r"/>
            <a:r>
              <a:rPr lang="en-US" sz="2000" dirty="0">
                <a:latin typeface="Calibri" panose="020F0502020204030204" pitchFamily="34" charset="0"/>
              </a:rPr>
              <a:t>300,000</a:t>
            </a:r>
            <a:endParaRPr lang="en-US" sz="2000" dirty="0"/>
          </a:p>
        </p:txBody>
      </p:sp>
      <p:sp>
        <p:nvSpPr>
          <p:cNvPr id="54" name="Content Placeholder 53">
            <a:extLst>
              <a:ext uri="{FF2B5EF4-FFF2-40B4-BE49-F238E27FC236}">
                <a16:creationId xmlns:a16="http://schemas.microsoft.com/office/drawing/2014/main" id="{0C7FEF26-95EB-4096-8C18-AC9359459C7D}"/>
              </a:ext>
            </a:extLst>
          </p:cNvPr>
          <p:cNvSpPr>
            <a:spLocks noGrp="1"/>
          </p:cNvSpPr>
          <p:nvPr>
            <p:ph sz="quarter" idx="24"/>
          </p:nvPr>
        </p:nvSpPr>
        <p:spPr>
          <a:xfrm>
            <a:off x="1625712" y="3456201"/>
            <a:ext cx="4698888" cy="609600"/>
          </a:xfrm>
        </p:spPr>
        <p:txBody>
          <a:bodyPr>
            <a:noAutofit/>
          </a:bodyPr>
          <a:lstStyle/>
          <a:p>
            <a:r>
              <a:rPr lang="en-US" sz="2000" dirty="0">
                <a:latin typeface="Calibri" panose="020F0502020204030204" pitchFamily="34" charset="0"/>
              </a:rPr>
              <a:t>Dividends Payable</a:t>
            </a:r>
            <a:endParaRPr lang="en-US" sz="2000" dirty="0"/>
          </a:p>
          <a:p>
            <a:pPr>
              <a:spcBef>
                <a:spcPts val="0"/>
              </a:spcBef>
            </a:pPr>
            <a:r>
              <a:rPr lang="en-US" sz="2000" dirty="0"/>
              <a:t>(To record declaration of property dividend)</a:t>
            </a:r>
          </a:p>
          <a:p>
            <a:pPr>
              <a:spcBef>
                <a:spcPts val="0"/>
              </a:spcBef>
            </a:pPr>
            <a:endParaRPr lang="en-US" sz="2000" noProof="0" dirty="0"/>
          </a:p>
        </p:txBody>
      </p:sp>
      <p:sp>
        <p:nvSpPr>
          <p:cNvPr id="69" name="Content Placeholder 68">
            <a:extLst>
              <a:ext uri="{FF2B5EF4-FFF2-40B4-BE49-F238E27FC236}">
                <a16:creationId xmlns:a16="http://schemas.microsoft.com/office/drawing/2014/main" id="{7DC85FC8-8F67-4B19-AEE0-A881269A8042}"/>
              </a:ext>
            </a:extLst>
          </p:cNvPr>
          <p:cNvSpPr>
            <a:spLocks noGrp="1"/>
          </p:cNvSpPr>
          <p:nvPr>
            <p:ph sz="quarter" idx="39"/>
          </p:nvPr>
        </p:nvSpPr>
        <p:spPr>
          <a:xfrm>
            <a:off x="7559662" y="3429000"/>
            <a:ext cx="1431938" cy="381000"/>
          </a:xfrm>
        </p:spPr>
        <p:txBody>
          <a:bodyPr>
            <a:normAutofit/>
          </a:bodyPr>
          <a:lstStyle/>
          <a:p>
            <a:pPr algn="r"/>
            <a:r>
              <a:rPr lang="en-US" sz="2000" dirty="0">
                <a:latin typeface="Calibri" panose="020F0502020204030204" pitchFamily="34" charset="0"/>
              </a:rPr>
              <a:t>1,200,000</a:t>
            </a:r>
            <a:endParaRPr lang="en-US" sz="2000" dirty="0"/>
          </a:p>
        </p:txBody>
      </p:sp>
      <p:sp>
        <p:nvSpPr>
          <p:cNvPr id="75" name="COB/LO">
            <a:extLst>
              <a:ext uri="{FF2B5EF4-FFF2-40B4-BE49-F238E27FC236}">
                <a16:creationId xmlns:a16="http://schemas.microsoft.com/office/drawing/2014/main" id="{3C7EE0EC-0E69-4E4C-8F21-A7C5D5ED486E}"/>
              </a:ext>
            </a:extLst>
          </p:cNvPr>
          <p:cNvSpPr txBox="1">
            <a:spLocks noGrp="1"/>
          </p:cNvSpPr>
          <p:nvPr>
            <p:ph sz="quarter" idx="44"/>
          </p:nvPr>
        </p:nvSpPr>
        <p:spPr>
          <a:xfrm>
            <a:off x="331788" y="6350810"/>
            <a:ext cx="749300" cy="365125"/>
          </a:xfrm>
          <a:prstGeom prst="rect">
            <a:avLst/>
          </a:prstGeom>
          <a:noFill/>
        </p:spPr>
        <p:txBody>
          <a:bodyPr lIns="0" rIns="0">
            <a:spAutoFit/>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60325" lvl="1" indent="0">
              <a:lnSpc>
                <a:spcPct val="100000"/>
              </a:lnSpc>
              <a:spcBef>
                <a:spcPts val="1200"/>
              </a:spcBef>
              <a:buFont typeface="Arial"/>
              <a:buNone/>
            </a:pPr>
            <a:r>
              <a:rPr lang="en-US" sz="1200" noProof="0" dirty="0">
                <a:solidFill>
                  <a:srgbClr val="000000"/>
                </a:solidFill>
              </a:rPr>
              <a:t>LO 3</a:t>
            </a:r>
          </a:p>
        </p:txBody>
      </p:sp>
      <p:sp>
        <p:nvSpPr>
          <p:cNvPr id="4" name="Slide Number Placeholder 3"/>
          <p:cNvSpPr>
            <a:spLocks noGrp="1"/>
          </p:cNvSpPr>
          <p:nvPr>
            <p:ph type="sldNum" sz="quarter" idx="10"/>
          </p:nvPr>
        </p:nvSpPr>
        <p:spPr>
          <a:ln>
            <a:noFill/>
          </a:ln>
        </p:spPr>
        <p:txBody>
          <a:bodyPr/>
          <a:lstStyle/>
          <a:p>
            <a:fld id="{67B19427-F580-D146-B60E-4CADEE75497F}" type="slidenum">
              <a:rPr lang="en-US" smtClean="0">
                <a:solidFill>
                  <a:schemeClr val="tx1"/>
                </a:solidFill>
              </a:rPr>
              <a:pPr/>
              <a:t>46</a:t>
            </a:fld>
            <a:endParaRPr lang="en-US" dirty="0">
              <a:solidFill>
                <a:schemeClr val="tx1"/>
              </a:solidFill>
            </a:endParaRPr>
          </a:p>
        </p:txBody>
      </p:sp>
      <p:sp>
        <p:nvSpPr>
          <p:cNvPr id="5" name="Footer Placeholder 4"/>
          <p:cNvSpPr>
            <a:spLocks noGrp="1"/>
          </p:cNvSpPr>
          <p:nvPr>
            <p:ph type="ftr" sz="quarter" idx="11"/>
          </p:nvPr>
        </p:nvSpPr>
        <p:spPr>
          <a:ln>
            <a:noFill/>
          </a:ln>
        </p:spPr>
        <p:txBody>
          <a:bodyPr/>
          <a:lstStyle/>
          <a:p>
            <a:r>
              <a:rPr lang="en-US" dirty="0">
                <a:solidFill>
                  <a:schemeClr val="tx1"/>
                </a:solidFill>
              </a:rPr>
              <a:t>Copyright ©2019 John Wiley &amp; Sons, Inc. </a:t>
            </a:r>
          </a:p>
        </p:txBody>
      </p:sp>
      <p:sp>
        <p:nvSpPr>
          <p:cNvPr id="19" name="Content Placeholder 3">
            <a:extLst>
              <a:ext uri="{FF2B5EF4-FFF2-40B4-BE49-F238E27FC236}">
                <a16:creationId xmlns:a16="http://schemas.microsoft.com/office/drawing/2014/main" id="{12EE7B0E-78E8-4CD1-837A-B6764D1FCCDA}"/>
              </a:ext>
            </a:extLst>
          </p:cNvPr>
          <p:cNvSpPr txBox="1">
            <a:spLocks/>
          </p:cNvSpPr>
          <p:nvPr/>
        </p:nvSpPr>
        <p:spPr>
          <a:xfrm>
            <a:off x="0" y="2670620"/>
            <a:ext cx="1091218" cy="301756"/>
          </a:xfrm>
          <a:prstGeom prst="rect">
            <a:avLst/>
          </a:prstGeom>
        </p:spPr>
        <p:txBody>
          <a:bodyPr/>
          <a:lstStyle>
            <a:lvl1pPr marL="228600" indent="-228600" algn="l" defTabSz="914400" rtl="0" eaLnBrk="1" latinLnBrk="0" hangingPunct="1">
              <a:lnSpc>
                <a:spcPct val="90000"/>
              </a:lnSpc>
              <a:spcBef>
                <a:spcPts val="1000"/>
              </a:spcBef>
              <a:buFont typeface="Arial"/>
              <a:buNone/>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sz="2000" dirty="0">
                <a:latin typeface="Calibri" panose="020F0502020204030204" pitchFamily="34" charset="0"/>
              </a:rPr>
              <a:t>Dec 28</a:t>
            </a:r>
          </a:p>
        </p:txBody>
      </p:sp>
      <p:sp>
        <p:nvSpPr>
          <p:cNvPr id="24" name="Content Placeholder 3">
            <a:extLst>
              <a:ext uri="{FF2B5EF4-FFF2-40B4-BE49-F238E27FC236}">
                <a16:creationId xmlns:a16="http://schemas.microsoft.com/office/drawing/2014/main" id="{326C1232-C675-447A-AFAB-F9745713A392}"/>
              </a:ext>
            </a:extLst>
          </p:cNvPr>
          <p:cNvSpPr txBox="1">
            <a:spLocks/>
          </p:cNvSpPr>
          <p:nvPr/>
        </p:nvSpPr>
        <p:spPr>
          <a:xfrm>
            <a:off x="64531" y="4422644"/>
            <a:ext cx="1828800" cy="301756"/>
          </a:xfrm>
          <a:prstGeom prst="rect">
            <a:avLst/>
          </a:prstGeom>
        </p:spPr>
        <p:txBody>
          <a:bodyPr/>
          <a:lstStyle>
            <a:lvl1pPr marL="228600" indent="-228600" algn="l" defTabSz="914400" rtl="0" eaLnBrk="1" latinLnBrk="0" hangingPunct="1">
              <a:lnSpc>
                <a:spcPct val="90000"/>
              </a:lnSpc>
              <a:spcBef>
                <a:spcPts val="1000"/>
              </a:spcBef>
              <a:buFont typeface="Arial"/>
              <a:buNone/>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sz="2000" dirty="0">
                <a:latin typeface="Calibri" panose="020F0502020204030204" pitchFamily="34" charset="0"/>
              </a:rPr>
              <a:t>Jan 15</a:t>
            </a:r>
          </a:p>
        </p:txBody>
      </p:sp>
      <p:sp>
        <p:nvSpPr>
          <p:cNvPr id="28" name="Content Placeholder 48">
            <a:extLst>
              <a:ext uri="{FF2B5EF4-FFF2-40B4-BE49-F238E27FC236}">
                <a16:creationId xmlns:a16="http://schemas.microsoft.com/office/drawing/2014/main" id="{1D4CEAD3-C254-4372-B6F5-3F263E0CF958}"/>
              </a:ext>
            </a:extLst>
          </p:cNvPr>
          <p:cNvSpPr txBox="1">
            <a:spLocks/>
          </p:cNvSpPr>
          <p:nvPr/>
        </p:nvSpPr>
        <p:spPr>
          <a:xfrm>
            <a:off x="1207531" y="5152972"/>
            <a:ext cx="3661747" cy="393699"/>
          </a:xfrm>
          <a:prstGeom prst="rect">
            <a:avLst/>
          </a:prstGeom>
        </p:spPr>
        <p:txBody>
          <a:bodyPr>
            <a:noAutofit/>
          </a:bodyPr>
          <a:lstStyle>
            <a:lvl1pPr marL="228600" indent="-228600" algn="l" defTabSz="914400" rtl="0" eaLnBrk="1" latinLnBrk="0" hangingPunct="1">
              <a:lnSpc>
                <a:spcPct val="90000"/>
              </a:lnSpc>
              <a:spcBef>
                <a:spcPts val="1000"/>
              </a:spcBef>
              <a:buFont typeface="Arial"/>
              <a:buNone/>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sz="2000" dirty="0">
                <a:latin typeface="Calibri" panose="020F0502020204030204" pitchFamily="34" charset="0"/>
              </a:rPr>
              <a:t>Dividends Payable</a:t>
            </a:r>
            <a:endParaRPr lang="en-US" sz="2000" dirty="0"/>
          </a:p>
        </p:txBody>
      </p:sp>
      <p:sp>
        <p:nvSpPr>
          <p:cNvPr id="29" name="Content Placeholder 64">
            <a:extLst>
              <a:ext uri="{FF2B5EF4-FFF2-40B4-BE49-F238E27FC236}">
                <a16:creationId xmlns:a16="http://schemas.microsoft.com/office/drawing/2014/main" id="{3B3324EF-DD56-4ADF-A1C7-942D6A5996E1}"/>
              </a:ext>
            </a:extLst>
          </p:cNvPr>
          <p:cNvSpPr txBox="1">
            <a:spLocks/>
          </p:cNvSpPr>
          <p:nvPr/>
        </p:nvSpPr>
        <p:spPr>
          <a:xfrm>
            <a:off x="6404965" y="5241129"/>
            <a:ext cx="1442920" cy="393699"/>
          </a:xfrm>
          <a:prstGeom prst="rect">
            <a:avLst/>
          </a:prstGeom>
        </p:spPr>
        <p:txBody>
          <a:bodyPr>
            <a:normAutofit/>
          </a:bodyPr>
          <a:lstStyle>
            <a:lvl1pPr marL="228600" indent="-228600" algn="l" defTabSz="914400" rtl="0" eaLnBrk="1" latinLnBrk="0" hangingPunct="1">
              <a:lnSpc>
                <a:spcPct val="90000"/>
              </a:lnSpc>
              <a:spcBef>
                <a:spcPts val="1000"/>
              </a:spcBef>
              <a:buFont typeface="Arial"/>
              <a:buNone/>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gn="r"/>
            <a:r>
              <a:rPr lang="en-US" sz="2000" dirty="0">
                <a:latin typeface="Calibri" panose="020F0502020204030204" pitchFamily="34" charset="0"/>
              </a:rPr>
              <a:t>1,200,000</a:t>
            </a:r>
            <a:endParaRPr lang="en-US" sz="2000" dirty="0"/>
          </a:p>
        </p:txBody>
      </p:sp>
      <p:sp>
        <p:nvSpPr>
          <p:cNvPr id="30" name="Content Placeholder 51">
            <a:extLst>
              <a:ext uri="{FF2B5EF4-FFF2-40B4-BE49-F238E27FC236}">
                <a16:creationId xmlns:a16="http://schemas.microsoft.com/office/drawing/2014/main" id="{323A127C-A219-4763-9371-B2D51248EA2F}"/>
              </a:ext>
            </a:extLst>
          </p:cNvPr>
          <p:cNvSpPr txBox="1">
            <a:spLocks/>
          </p:cNvSpPr>
          <p:nvPr/>
        </p:nvSpPr>
        <p:spPr>
          <a:xfrm>
            <a:off x="1664610" y="5587832"/>
            <a:ext cx="4450440" cy="660568"/>
          </a:xfrm>
          <a:prstGeom prst="rect">
            <a:avLst/>
          </a:prstGeom>
        </p:spPr>
        <p:txBody>
          <a:bodyPr>
            <a:noAutofit/>
          </a:bodyPr>
          <a:lstStyle>
            <a:lvl1pPr marL="228600" indent="-228600" algn="l" defTabSz="914400" rtl="0" eaLnBrk="1" latinLnBrk="0" hangingPunct="1">
              <a:lnSpc>
                <a:spcPct val="90000"/>
              </a:lnSpc>
              <a:spcBef>
                <a:spcPts val="1000"/>
              </a:spcBef>
              <a:buFont typeface="Arial"/>
              <a:buNone/>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spcBef>
                <a:spcPts val="0"/>
              </a:spcBef>
            </a:pPr>
            <a:r>
              <a:rPr lang="en-US" sz="2000" dirty="0">
                <a:latin typeface="Calibri" panose="020F0502020204030204" pitchFamily="34" charset="0"/>
              </a:rPr>
              <a:t>Cash</a:t>
            </a:r>
          </a:p>
          <a:p>
            <a:pPr>
              <a:spcBef>
                <a:spcPts val="0"/>
              </a:spcBef>
            </a:pPr>
            <a:r>
              <a:rPr lang="en-US" sz="2000" dirty="0">
                <a:latin typeface="Calibri" panose="020F0502020204030204" pitchFamily="34" charset="0"/>
              </a:rPr>
              <a:t>(To record payment of property dividend)</a:t>
            </a:r>
          </a:p>
          <a:p>
            <a:pPr>
              <a:spcBef>
                <a:spcPts val="0"/>
              </a:spcBef>
            </a:pPr>
            <a:endParaRPr lang="en-US" sz="2000" dirty="0"/>
          </a:p>
        </p:txBody>
      </p:sp>
      <p:sp>
        <p:nvSpPr>
          <p:cNvPr id="31" name="Content Placeholder 65">
            <a:extLst>
              <a:ext uri="{FF2B5EF4-FFF2-40B4-BE49-F238E27FC236}">
                <a16:creationId xmlns:a16="http://schemas.microsoft.com/office/drawing/2014/main" id="{2BD44BD4-1D75-424B-8FDC-FDD01B9A8CBD}"/>
              </a:ext>
            </a:extLst>
          </p:cNvPr>
          <p:cNvSpPr txBox="1">
            <a:spLocks/>
          </p:cNvSpPr>
          <p:nvPr/>
        </p:nvSpPr>
        <p:spPr>
          <a:xfrm>
            <a:off x="7559662" y="5588920"/>
            <a:ext cx="1431938" cy="381000"/>
          </a:xfrm>
          <a:prstGeom prst="rect">
            <a:avLst/>
          </a:prstGeom>
        </p:spPr>
        <p:txBody>
          <a:bodyPr>
            <a:normAutofit/>
          </a:bodyPr>
          <a:lstStyle>
            <a:lvl1pPr marL="228600" indent="-228600" algn="l" defTabSz="914400" rtl="0" eaLnBrk="1" latinLnBrk="0" hangingPunct="1">
              <a:lnSpc>
                <a:spcPct val="90000"/>
              </a:lnSpc>
              <a:spcBef>
                <a:spcPts val="1000"/>
              </a:spcBef>
              <a:buFont typeface="Arial"/>
              <a:buNone/>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gn="r"/>
            <a:r>
              <a:rPr lang="en-US" sz="2000" dirty="0">
                <a:latin typeface="Calibri" panose="020F0502020204030204" pitchFamily="34" charset="0"/>
              </a:rPr>
              <a:t>1,200,000</a:t>
            </a:r>
            <a:endParaRPr lang="en-US" sz="2000" dirty="0"/>
          </a:p>
        </p:txBody>
      </p:sp>
      <p:sp>
        <p:nvSpPr>
          <p:cNvPr id="32" name="Content Placeholder 3">
            <a:extLst>
              <a:ext uri="{FF2B5EF4-FFF2-40B4-BE49-F238E27FC236}">
                <a16:creationId xmlns:a16="http://schemas.microsoft.com/office/drawing/2014/main" id="{A605FA27-B0CC-4A12-83A7-B3C7F0267E09}"/>
              </a:ext>
            </a:extLst>
          </p:cNvPr>
          <p:cNvSpPr txBox="1">
            <a:spLocks/>
          </p:cNvSpPr>
          <p:nvPr/>
        </p:nvSpPr>
        <p:spPr>
          <a:xfrm>
            <a:off x="61847" y="5168227"/>
            <a:ext cx="1019241" cy="241329"/>
          </a:xfrm>
          <a:prstGeom prst="rect">
            <a:avLst/>
          </a:prstGeom>
        </p:spPr>
        <p:txBody>
          <a:bodyPr/>
          <a:lstStyle>
            <a:lvl1pPr marL="228600" indent="-228600" algn="l" defTabSz="914400" rtl="0" eaLnBrk="1" latinLnBrk="0" hangingPunct="1">
              <a:lnSpc>
                <a:spcPct val="90000"/>
              </a:lnSpc>
              <a:spcBef>
                <a:spcPts val="1000"/>
              </a:spcBef>
              <a:buFont typeface="Arial"/>
              <a:buNone/>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sz="2000" dirty="0">
                <a:latin typeface="Calibri" panose="020F0502020204030204" pitchFamily="34" charset="0"/>
              </a:rPr>
              <a:t>Jan 30</a:t>
            </a:r>
          </a:p>
        </p:txBody>
      </p:sp>
      <p:sp>
        <p:nvSpPr>
          <p:cNvPr id="26" name="Content Placeholder 9">
            <a:extLst>
              <a:ext uri="{FF2B5EF4-FFF2-40B4-BE49-F238E27FC236}">
                <a16:creationId xmlns:a16="http://schemas.microsoft.com/office/drawing/2014/main" id="{DA1499D8-68DA-4609-A0C0-36EB048377C5}"/>
              </a:ext>
            </a:extLst>
          </p:cNvPr>
          <p:cNvSpPr txBox="1">
            <a:spLocks/>
          </p:cNvSpPr>
          <p:nvPr/>
        </p:nvSpPr>
        <p:spPr>
          <a:xfrm>
            <a:off x="1207531" y="4422644"/>
            <a:ext cx="3825743" cy="301756"/>
          </a:xfrm>
          <a:prstGeom prst="rect">
            <a:avLst/>
          </a:prstGeom>
        </p:spPr>
        <p:txBody>
          <a:bodyPr/>
          <a:lstStyle>
            <a:lvl1pPr marL="228600" indent="-228600" algn="l" defTabSz="914400" rtl="0" eaLnBrk="1" latinLnBrk="0" hangingPunct="1">
              <a:lnSpc>
                <a:spcPct val="90000"/>
              </a:lnSpc>
              <a:spcBef>
                <a:spcPts val="1000"/>
              </a:spcBef>
              <a:buFont typeface="Arial"/>
              <a:buNone/>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altLang="en-US" sz="2000" dirty="0">
                <a:solidFill>
                  <a:srgbClr val="000000"/>
                </a:solidFill>
                <a:latin typeface="Calibri" panose="020F0502020204030204" pitchFamily="34" charset="0"/>
              </a:rPr>
              <a:t>No entry </a:t>
            </a:r>
            <a:r>
              <a:rPr lang="en-US" altLang="en-US" sz="2000" i="1" dirty="0">
                <a:solidFill>
                  <a:srgbClr val="000000"/>
                </a:solidFill>
                <a:latin typeface="Calibri" panose="020F0502020204030204" pitchFamily="34" charset="0"/>
              </a:rPr>
              <a:t>(on record date)</a:t>
            </a:r>
            <a:endParaRPr lang="en-US" sz="2000" dirty="0">
              <a:latin typeface="Calibri" panose="020F0502020204030204" pitchFamily="34" charset="0"/>
            </a:endParaRPr>
          </a:p>
        </p:txBody>
      </p:sp>
      <p:sp>
        <p:nvSpPr>
          <p:cNvPr id="35" name="Content Placeholder 45">
            <a:extLst>
              <a:ext uri="{FF2B5EF4-FFF2-40B4-BE49-F238E27FC236}">
                <a16:creationId xmlns:a16="http://schemas.microsoft.com/office/drawing/2014/main" id="{54F94840-8B9D-4201-91EA-BD7564E72D00}"/>
              </a:ext>
            </a:extLst>
          </p:cNvPr>
          <p:cNvSpPr>
            <a:spLocks noGrp="1"/>
          </p:cNvSpPr>
          <p:nvPr>
            <p:ph sz="quarter" idx="16"/>
          </p:nvPr>
        </p:nvSpPr>
        <p:spPr>
          <a:xfrm>
            <a:off x="142875" y="1087139"/>
            <a:ext cx="8839200" cy="1503661"/>
          </a:xfrm>
        </p:spPr>
        <p:txBody>
          <a:bodyPr>
            <a:noAutofit/>
          </a:bodyPr>
          <a:lstStyle/>
          <a:p>
            <a:r>
              <a:rPr lang="en-US" sz="2000" b="1" dirty="0"/>
              <a:t>Illustration:</a:t>
            </a:r>
            <a:r>
              <a:rPr lang="en-US" sz="2000" dirty="0"/>
              <a:t> McChesney Mines, Inc. declared a “dividend” to its common stockholders of $1,200,000 on December 28, 2019 , to be distributed on January 30, 2020, to stockholders of record on January 15, 2020. The announcement noted stockholders should consider $900,000 as income and the remainder a return of capital. McChesney Mines records the dividend as follows.</a:t>
            </a:r>
          </a:p>
        </p:txBody>
      </p:sp>
      <p:sp>
        <p:nvSpPr>
          <p:cNvPr id="36" name="Title 1">
            <a:extLst>
              <a:ext uri="{FF2B5EF4-FFF2-40B4-BE49-F238E27FC236}">
                <a16:creationId xmlns:a16="http://schemas.microsoft.com/office/drawing/2014/main" id="{215C61E0-B3FF-4FEE-9FD0-F98934593667}"/>
              </a:ext>
            </a:extLst>
          </p:cNvPr>
          <p:cNvSpPr>
            <a:spLocks noGrp="1"/>
          </p:cNvSpPr>
          <p:nvPr>
            <p:ph type="title"/>
          </p:nvPr>
        </p:nvSpPr>
        <p:spPr>
          <a:xfrm>
            <a:off x="152400" y="552069"/>
            <a:ext cx="8534400" cy="590931"/>
          </a:xfrm>
        </p:spPr>
        <p:txBody>
          <a:bodyPr>
            <a:spAutoFit/>
          </a:bodyPr>
          <a:lstStyle/>
          <a:p>
            <a:r>
              <a:rPr lang="en-US" sz="3600" dirty="0"/>
              <a:t>Liquidating Dividends</a:t>
            </a:r>
            <a:endParaRPr lang="en-US" sz="2400" b="0" noProof="0" dirty="0">
              <a:solidFill>
                <a:srgbClr val="990000"/>
              </a:solidFill>
            </a:endParaRPr>
          </a:p>
        </p:txBody>
      </p:sp>
    </p:spTree>
    <p:extLst>
      <p:ext uri="{BB962C8B-B14F-4D97-AF65-F5344CB8AC3E}">
        <p14:creationId xmlns:p14="http://schemas.microsoft.com/office/powerpoint/2010/main" val="2862861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9">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5">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3">
                                            <p:txEl>
                                              <p:pRg st="0" end="0"/>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7">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4">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4">
                                            <p:txEl>
                                              <p:pRg st="1" end="1"/>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9">
                                            <p:txEl>
                                              <p:pRg st="0" end="0"/>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8">
                                            <p:txEl>
                                              <p:pRg st="0" end="0"/>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9">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0">
                                            <p:txEl>
                                              <p:pRg st="0" end="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0">
                                            <p:txEl>
                                              <p:pRg st="1" end="1"/>
                                            </p:txEl>
                                          </p:spTgt>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1">
                                            <p:txEl>
                                              <p:pRg st="0" end="0"/>
                                            </p:txEl>
                                          </p:spTgt>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build="p"/>
      <p:bldP spid="65" grpId="0" build="p"/>
      <p:bldP spid="53" grpId="0" build="p"/>
      <p:bldP spid="67" grpId="0" build="p"/>
      <p:bldP spid="54" grpId="0" build="p"/>
      <p:bldP spid="69" grpId="0" build="p"/>
      <p:bldP spid="19" grpId="0" build="p"/>
      <p:bldP spid="28" grpId="0" build="p"/>
      <p:bldP spid="29" grpId="0" build="p"/>
      <p:bldP spid="30" grpId="0" build="p"/>
      <p:bldP spid="31" grpId="0" build="p"/>
      <p:bldP spid="26"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496668"/>
            <a:ext cx="8534400" cy="646331"/>
          </a:xfrm>
        </p:spPr>
        <p:txBody>
          <a:bodyPr>
            <a:spAutoFit/>
          </a:bodyPr>
          <a:lstStyle/>
          <a:p>
            <a:r>
              <a:rPr lang="en-US" noProof="0" dirty="0">
                <a:solidFill>
                  <a:srgbClr val="196E78"/>
                </a:solidFill>
              </a:rPr>
              <a:t>Stock Dividends</a:t>
            </a:r>
            <a:endParaRPr lang="en-US" sz="2800" b="0" noProof="0" dirty="0">
              <a:solidFill>
                <a:srgbClr val="990000"/>
              </a:solidFill>
            </a:endParaRPr>
          </a:p>
        </p:txBody>
      </p:sp>
      <p:sp>
        <p:nvSpPr>
          <p:cNvPr id="9" name="Content Placeholder 8">
            <a:extLst>
              <a:ext uri="{FF2B5EF4-FFF2-40B4-BE49-F238E27FC236}">
                <a16:creationId xmlns:a16="http://schemas.microsoft.com/office/drawing/2014/main" id="{DDAC5CB2-627A-459E-8BB3-E4ECBB46DB64}"/>
              </a:ext>
            </a:extLst>
          </p:cNvPr>
          <p:cNvSpPr>
            <a:spLocks noGrp="1"/>
          </p:cNvSpPr>
          <p:nvPr>
            <p:ph sz="quarter" idx="16"/>
          </p:nvPr>
        </p:nvSpPr>
        <p:spPr>
          <a:xfrm>
            <a:off x="152400" y="1142999"/>
            <a:ext cx="8915400" cy="5029201"/>
          </a:xfrm>
        </p:spPr>
        <p:txBody>
          <a:bodyPr>
            <a:normAutofit fontScale="85000" lnSpcReduction="20000"/>
          </a:bodyPr>
          <a:lstStyle/>
          <a:p>
            <a:pPr>
              <a:lnSpc>
                <a:spcPct val="100000"/>
              </a:lnSpc>
              <a:spcBef>
                <a:spcPts val="1200"/>
              </a:spcBef>
            </a:pPr>
            <a:r>
              <a:rPr lang="en-US" sz="2400" dirty="0"/>
              <a:t>A </a:t>
            </a:r>
            <a:r>
              <a:rPr lang="en-US" sz="2400" b="1" dirty="0"/>
              <a:t>stock dividend </a:t>
            </a:r>
            <a:r>
              <a:rPr lang="en-US" sz="2400" dirty="0"/>
              <a:t>is a pro rata (proportional to ownership) distribution of the corporation’s own stock to stockholders. </a:t>
            </a:r>
          </a:p>
          <a:p>
            <a:pPr marL="457200" indent="-457200">
              <a:lnSpc>
                <a:spcPct val="100000"/>
              </a:lnSpc>
              <a:spcBef>
                <a:spcPts val="1200"/>
              </a:spcBef>
              <a:buFont typeface="Arial" panose="020B0604020202020204" pitchFamily="34" charset="0"/>
              <a:buChar char="•"/>
            </a:pPr>
            <a:r>
              <a:rPr lang="en-US" sz="2400" dirty="0"/>
              <a:t>Whereas a company pays cash in a cash dividend, a company </a:t>
            </a:r>
            <a:r>
              <a:rPr lang="en-US" sz="2400" b="1" dirty="0"/>
              <a:t>issues shares</a:t>
            </a:r>
            <a:r>
              <a:rPr lang="en-US" sz="2400" dirty="0"/>
              <a:t> of stock in a stock dividend. </a:t>
            </a:r>
          </a:p>
          <a:p>
            <a:pPr marL="457200" indent="-457200">
              <a:lnSpc>
                <a:spcPct val="100000"/>
              </a:lnSpc>
              <a:spcBef>
                <a:spcPts val="1200"/>
              </a:spcBef>
              <a:buFont typeface="Arial" panose="020B0604020202020204" pitchFamily="34" charset="0"/>
              <a:buChar char="•"/>
            </a:pPr>
            <a:r>
              <a:rPr lang="en-US" sz="2400" dirty="0"/>
              <a:t>A stock dividend results in a decrease in retained earnings and an increase in paid-in capital. Used when management wishes to “capitalize” part of earnings.</a:t>
            </a:r>
          </a:p>
          <a:p>
            <a:pPr marL="457200" indent="-457200">
              <a:lnSpc>
                <a:spcPct val="100000"/>
              </a:lnSpc>
              <a:spcBef>
                <a:spcPts val="1200"/>
              </a:spcBef>
              <a:buFont typeface="Arial" panose="020B0604020202020204" pitchFamily="34" charset="0"/>
              <a:buChar char="•"/>
            </a:pPr>
            <a:r>
              <a:rPr lang="en-US" sz="2400" dirty="0"/>
              <a:t>Unlike other dividends, a stock dividend does not decrease total stockholders’ equity.</a:t>
            </a:r>
          </a:p>
          <a:p>
            <a:pPr marL="457200" indent="-457200">
              <a:lnSpc>
                <a:spcPct val="100000"/>
              </a:lnSpc>
              <a:spcBef>
                <a:spcPts val="1200"/>
              </a:spcBef>
              <a:buFont typeface="Arial" panose="020B0604020202020204" pitchFamily="34" charset="0"/>
              <a:buChar char="•"/>
            </a:pPr>
            <a:r>
              <a:rPr lang="en-US" sz="2400" dirty="0"/>
              <a:t>Helps increase the marketability of the corporation’s stock. When the number of shares outstanding increases, the market price per share decreases.</a:t>
            </a:r>
          </a:p>
          <a:p>
            <a:pPr>
              <a:lnSpc>
                <a:spcPct val="100000"/>
              </a:lnSpc>
              <a:spcBef>
                <a:spcPts val="1200"/>
              </a:spcBef>
            </a:pPr>
            <a:r>
              <a:rPr lang="en-US" sz="2400" dirty="0"/>
              <a:t>To illustrate, assume that you have a 2% ownership interest in Cetus Inc. That is, you own 20 of its 1,000 shares of common stock. If Cetus declares a 10% stock dividend, it would issue 100 shares (1,000 × 10%) of stock. You would receive two shares (2% × 100). Would your ownership interest change? No, it would remain at 2% (22 ÷ 1,100). You now own more shares of stock, but your ownership interest has not changed.</a:t>
            </a:r>
          </a:p>
        </p:txBody>
      </p:sp>
      <p:sp>
        <p:nvSpPr>
          <p:cNvPr id="13" name="COB/LO">
            <a:extLst>
              <a:ext uri="{FF2B5EF4-FFF2-40B4-BE49-F238E27FC236}">
                <a16:creationId xmlns:a16="http://schemas.microsoft.com/office/drawing/2014/main" id="{86FD848B-592E-44B8-9630-BDF7B05BAF9E}"/>
              </a:ext>
            </a:extLst>
          </p:cNvPr>
          <p:cNvSpPr txBox="1">
            <a:spLocks noGrp="1"/>
          </p:cNvSpPr>
          <p:nvPr>
            <p:ph sz="quarter" idx="15"/>
          </p:nvPr>
        </p:nvSpPr>
        <p:spPr>
          <a:xfrm>
            <a:off x="331788" y="6400413"/>
            <a:ext cx="749300" cy="276999"/>
          </a:xfrm>
          <a:prstGeom prst="rect">
            <a:avLst/>
          </a:prstGeom>
          <a:noFill/>
        </p:spPr>
        <p:txBody>
          <a:bodyPr lIns="0" rIns="0">
            <a:spAutoFit/>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60325" lvl="1" indent="0">
              <a:lnSpc>
                <a:spcPct val="100000"/>
              </a:lnSpc>
              <a:spcBef>
                <a:spcPts val="1200"/>
              </a:spcBef>
              <a:buFont typeface="Arial"/>
              <a:buNone/>
            </a:pPr>
            <a:r>
              <a:rPr lang="en-US" sz="1200" noProof="0" dirty="0">
                <a:solidFill>
                  <a:srgbClr val="000000"/>
                </a:solidFill>
              </a:rPr>
              <a:t>LO 3</a:t>
            </a:r>
          </a:p>
        </p:txBody>
      </p:sp>
      <p:sp>
        <p:nvSpPr>
          <p:cNvPr id="4" name="Slide Number Placeholder 3"/>
          <p:cNvSpPr>
            <a:spLocks noGrp="1"/>
          </p:cNvSpPr>
          <p:nvPr>
            <p:ph type="sldNum" sz="quarter" idx="10"/>
          </p:nvPr>
        </p:nvSpPr>
        <p:spPr/>
        <p:txBody>
          <a:bodyPr/>
          <a:lstStyle/>
          <a:p>
            <a:fld id="{67B19427-F580-D146-B60E-4CADEE75497F}" type="slidenum">
              <a:rPr lang="en-US" smtClean="0">
                <a:solidFill>
                  <a:srgbClr val="000000"/>
                </a:solidFill>
              </a:rPr>
              <a:pPr/>
              <a:t>47</a:t>
            </a:fld>
            <a:endParaRPr lang="en-US" dirty="0">
              <a:solidFill>
                <a:srgbClr val="000000"/>
              </a:solidFill>
            </a:endParaRPr>
          </a:p>
        </p:txBody>
      </p:sp>
      <p:sp>
        <p:nvSpPr>
          <p:cNvPr id="5" name="Footer Placeholder 4"/>
          <p:cNvSpPr>
            <a:spLocks noGrp="1"/>
          </p:cNvSpPr>
          <p:nvPr>
            <p:ph type="ftr" sz="quarter" idx="11"/>
          </p:nvPr>
        </p:nvSpPr>
        <p:spPr/>
        <p:txBody>
          <a:bodyPr/>
          <a:lstStyle/>
          <a:p>
            <a:r>
              <a:rPr lang="en-US" dirty="0">
                <a:solidFill>
                  <a:srgbClr val="000000"/>
                </a:solidFill>
              </a:rPr>
              <a:t>Copyright ©2019 John Wiley &amp; Sons, Inc. </a:t>
            </a:r>
          </a:p>
        </p:txBody>
      </p:sp>
    </p:spTree>
    <p:extLst>
      <p:ext uri="{BB962C8B-B14F-4D97-AF65-F5344CB8AC3E}">
        <p14:creationId xmlns:p14="http://schemas.microsoft.com/office/powerpoint/2010/main" val="115700893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Title 44">
            <a:extLst>
              <a:ext uri="{FF2B5EF4-FFF2-40B4-BE49-F238E27FC236}">
                <a16:creationId xmlns:a16="http://schemas.microsoft.com/office/drawing/2014/main" id="{7CA445FE-2175-4BD8-B2E8-CF4FB56C1EC5}"/>
              </a:ext>
            </a:extLst>
          </p:cNvPr>
          <p:cNvSpPr>
            <a:spLocks noGrp="1"/>
          </p:cNvSpPr>
          <p:nvPr>
            <p:ph type="title"/>
          </p:nvPr>
        </p:nvSpPr>
        <p:spPr>
          <a:xfrm>
            <a:off x="1219" y="459309"/>
            <a:ext cx="8534400" cy="508084"/>
          </a:xfrm>
        </p:spPr>
        <p:txBody>
          <a:bodyPr>
            <a:normAutofit fontScale="90000"/>
          </a:bodyPr>
          <a:lstStyle/>
          <a:p>
            <a:r>
              <a:rPr lang="en-US" noProof="0" dirty="0"/>
              <a:t>Stock Dividends - </a:t>
            </a:r>
            <a:r>
              <a:rPr lang="en-US" dirty="0"/>
              <a:t>small stock dividend</a:t>
            </a:r>
            <a:endParaRPr lang="en-US" noProof="0" dirty="0"/>
          </a:p>
        </p:txBody>
      </p:sp>
      <p:sp>
        <p:nvSpPr>
          <p:cNvPr id="46" name="Content Placeholder 45">
            <a:extLst>
              <a:ext uri="{FF2B5EF4-FFF2-40B4-BE49-F238E27FC236}">
                <a16:creationId xmlns:a16="http://schemas.microsoft.com/office/drawing/2014/main" id="{C8C8AB3C-0C37-41DA-A9F9-4524866C50C1}"/>
              </a:ext>
            </a:extLst>
          </p:cNvPr>
          <p:cNvSpPr>
            <a:spLocks noGrp="1"/>
          </p:cNvSpPr>
          <p:nvPr>
            <p:ph sz="quarter" idx="16"/>
          </p:nvPr>
        </p:nvSpPr>
        <p:spPr>
          <a:xfrm>
            <a:off x="1218" y="1932587"/>
            <a:ext cx="8990381" cy="1039213"/>
          </a:xfrm>
        </p:spPr>
        <p:txBody>
          <a:bodyPr>
            <a:normAutofit fontScale="85000" lnSpcReduction="20000"/>
          </a:bodyPr>
          <a:lstStyle/>
          <a:p>
            <a:r>
              <a:rPr lang="en-US" sz="2400" b="1" noProof="0" dirty="0"/>
              <a:t>Illustration:</a:t>
            </a:r>
            <a:r>
              <a:rPr lang="en-US" sz="2400" noProof="0" dirty="0"/>
              <a:t> Vine Corporation has outstanding 1,000 shares of $100 par value common stock and retained earnings of $50,000. If Vine declares a 10 percent stock dividend, it issues 100 additional shares to current stockholders. If the fair value of the stock at the time of the stock dividend is $130 per share, the entry is:</a:t>
            </a:r>
          </a:p>
        </p:txBody>
      </p:sp>
      <p:sp>
        <p:nvSpPr>
          <p:cNvPr id="47" name="Content Placeholder 46">
            <a:extLst>
              <a:ext uri="{FF2B5EF4-FFF2-40B4-BE49-F238E27FC236}">
                <a16:creationId xmlns:a16="http://schemas.microsoft.com/office/drawing/2014/main" id="{348AF003-192B-4B34-B137-6F2FF71564B9}"/>
              </a:ext>
            </a:extLst>
          </p:cNvPr>
          <p:cNvSpPr>
            <a:spLocks noGrp="1"/>
          </p:cNvSpPr>
          <p:nvPr>
            <p:ph sz="quarter" idx="17"/>
          </p:nvPr>
        </p:nvSpPr>
        <p:spPr>
          <a:xfrm>
            <a:off x="303093" y="2920710"/>
            <a:ext cx="2825195" cy="345998"/>
          </a:xfrm>
        </p:spPr>
        <p:txBody>
          <a:bodyPr>
            <a:noAutofit/>
          </a:bodyPr>
          <a:lstStyle/>
          <a:p>
            <a:r>
              <a:rPr lang="en-US" sz="1800" b="1" noProof="0" dirty="0"/>
              <a:t>At date of declaration</a:t>
            </a:r>
            <a:endParaRPr lang="en-US" sz="1800" noProof="0" dirty="0"/>
          </a:p>
        </p:txBody>
      </p:sp>
      <p:sp>
        <p:nvSpPr>
          <p:cNvPr id="49" name="Content Placeholder 48">
            <a:extLst>
              <a:ext uri="{FF2B5EF4-FFF2-40B4-BE49-F238E27FC236}">
                <a16:creationId xmlns:a16="http://schemas.microsoft.com/office/drawing/2014/main" id="{64C50A47-8BB1-4017-ADCD-295FFD3B1EA8}"/>
              </a:ext>
            </a:extLst>
          </p:cNvPr>
          <p:cNvSpPr>
            <a:spLocks noGrp="1"/>
          </p:cNvSpPr>
          <p:nvPr>
            <p:ph sz="quarter" idx="19"/>
          </p:nvPr>
        </p:nvSpPr>
        <p:spPr>
          <a:xfrm>
            <a:off x="303093" y="3254923"/>
            <a:ext cx="3505200" cy="393699"/>
          </a:xfrm>
        </p:spPr>
        <p:txBody>
          <a:bodyPr>
            <a:noAutofit/>
          </a:bodyPr>
          <a:lstStyle/>
          <a:p>
            <a:r>
              <a:rPr lang="en-US" sz="1800" noProof="0" dirty="0"/>
              <a:t>Retained Earnings</a:t>
            </a:r>
          </a:p>
        </p:txBody>
      </p:sp>
      <p:sp>
        <p:nvSpPr>
          <p:cNvPr id="65" name="Content Placeholder 64">
            <a:extLst>
              <a:ext uri="{FF2B5EF4-FFF2-40B4-BE49-F238E27FC236}">
                <a16:creationId xmlns:a16="http://schemas.microsoft.com/office/drawing/2014/main" id="{04D32AA3-4B56-4652-872C-3C8EB174FA5C}"/>
              </a:ext>
            </a:extLst>
          </p:cNvPr>
          <p:cNvSpPr>
            <a:spLocks noGrp="1"/>
          </p:cNvSpPr>
          <p:nvPr>
            <p:ph sz="quarter" idx="35"/>
          </p:nvPr>
        </p:nvSpPr>
        <p:spPr>
          <a:xfrm>
            <a:off x="4722326" y="3263787"/>
            <a:ext cx="1291130" cy="393699"/>
          </a:xfrm>
        </p:spPr>
        <p:txBody>
          <a:bodyPr>
            <a:normAutofit/>
          </a:bodyPr>
          <a:lstStyle/>
          <a:p>
            <a:pPr algn="r"/>
            <a:r>
              <a:rPr lang="en-US" sz="1800" noProof="0" dirty="0"/>
              <a:t>13,000</a:t>
            </a:r>
          </a:p>
        </p:txBody>
      </p:sp>
      <p:sp>
        <p:nvSpPr>
          <p:cNvPr id="53" name="Content Placeholder 52">
            <a:extLst>
              <a:ext uri="{FF2B5EF4-FFF2-40B4-BE49-F238E27FC236}">
                <a16:creationId xmlns:a16="http://schemas.microsoft.com/office/drawing/2014/main" id="{86043B11-5449-4E34-8B19-6F7182A056A1}"/>
              </a:ext>
            </a:extLst>
          </p:cNvPr>
          <p:cNvSpPr>
            <a:spLocks noGrp="1"/>
          </p:cNvSpPr>
          <p:nvPr>
            <p:ph sz="quarter" idx="23"/>
          </p:nvPr>
        </p:nvSpPr>
        <p:spPr>
          <a:xfrm>
            <a:off x="886810" y="3693159"/>
            <a:ext cx="5026699" cy="381000"/>
          </a:xfrm>
        </p:spPr>
        <p:txBody>
          <a:bodyPr>
            <a:noAutofit/>
          </a:bodyPr>
          <a:lstStyle/>
          <a:p>
            <a:r>
              <a:rPr lang="en-US" sz="1800" noProof="0" dirty="0"/>
              <a:t>Common Stock Dividend Distributable</a:t>
            </a:r>
          </a:p>
        </p:txBody>
      </p:sp>
      <p:sp>
        <p:nvSpPr>
          <p:cNvPr id="67" name="Content Placeholder 66">
            <a:extLst>
              <a:ext uri="{FF2B5EF4-FFF2-40B4-BE49-F238E27FC236}">
                <a16:creationId xmlns:a16="http://schemas.microsoft.com/office/drawing/2014/main" id="{7EF7B8D6-8518-47A7-A535-940B1E7F7D73}"/>
              </a:ext>
            </a:extLst>
          </p:cNvPr>
          <p:cNvSpPr>
            <a:spLocks noGrp="1"/>
          </p:cNvSpPr>
          <p:nvPr>
            <p:ph sz="quarter" idx="37"/>
          </p:nvPr>
        </p:nvSpPr>
        <p:spPr>
          <a:xfrm>
            <a:off x="5774204" y="3725058"/>
            <a:ext cx="1291130" cy="381000"/>
          </a:xfrm>
        </p:spPr>
        <p:txBody>
          <a:bodyPr>
            <a:normAutofit/>
          </a:bodyPr>
          <a:lstStyle/>
          <a:p>
            <a:pPr algn="r"/>
            <a:r>
              <a:rPr lang="en-US" sz="1800" noProof="0" dirty="0"/>
              <a:t>10,000</a:t>
            </a:r>
          </a:p>
        </p:txBody>
      </p:sp>
      <p:sp>
        <p:nvSpPr>
          <p:cNvPr id="52" name="Content Placeholder 51">
            <a:extLst>
              <a:ext uri="{FF2B5EF4-FFF2-40B4-BE49-F238E27FC236}">
                <a16:creationId xmlns:a16="http://schemas.microsoft.com/office/drawing/2014/main" id="{6ADB1848-582C-4D88-B6E6-69871FF2B960}"/>
              </a:ext>
            </a:extLst>
          </p:cNvPr>
          <p:cNvSpPr>
            <a:spLocks noGrp="1"/>
          </p:cNvSpPr>
          <p:nvPr>
            <p:ph sz="quarter" idx="22"/>
          </p:nvPr>
        </p:nvSpPr>
        <p:spPr>
          <a:xfrm>
            <a:off x="886809" y="4173394"/>
            <a:ext cx="6492391" cy="398606"/>
          </a:xfrm>
        </p:spPr>
        <p:txBody>
          <a:bodyPr>
            <a:noAutofit/>
          </a:bodyPr>
          <a:lstStyle/>
          <a:p>
            <a:r>
              <a:rPr lang="en-US" sz="1800" noProof="0" dirty="0"/>
              <a:t>Paid-in Capital in Excess of Par—Common Stock</a:t>
            </a:r>
          </a:p>
        </p:txBody>
      </p:sp>
      <p:sp>
        <p:nvSpPr>
          <p:cNvPr id="66" name="Content Placeholder 65">
            <a:extLst>
              <a:ext uri="{FF2B5EF4-FFF2-40B4-BE49-F238E27FC236}">
                <a16:creationId xmlns:a16="http://schemas.microsoft.com/office/drawing/2014/main" id="{8A3CEE6B-7DD6-4CB7-AC77-B73CD90E3399}"/>
              </a:ext>
            </a:extLst>
          </p:cNvPr>
          <p:cNvSpPr>
            <a:spLocks noGrp="1"/>
          </p:cNvSpPr>
          <p:nvPr>
            <p:ph sz="quarter" idx="36"/>
          </p:nvPr>
        </p:nvSpPr>
        <p:spPr>
          <a:xfrm>
            <a:off x="5795470" y="4191000"/>
            <a:ext cx="1291130" cy="381000"/>
          </a:xfrm>
        </p:spPr>
        <p:txBody>
          <a:bodyPr>
            <a:normAutofit/>
          </a:bodyPr>
          <a:lstStyle/>
          <a:p>
            <a:pPr algn="r"/>
            <a:r>
              <a:rPr lang="en-US" sz="1800" noProof="0" dirty="0"/>
              <a:t>3,000</a:t>
            </a:r>
          </a:p>
        </p:txBody>
      </p:sp>
      <p:sp>
        <p:nvSpPr>
          <p:cNvPr id="54" name="Content Placeholder 53">
            <a:extLst>
              <a:ext uri="{FF2B5EF4-FFF2-40B4-BE49-F238E27FC236}">
                <a16:creationId xmlns:a16="http://schemas.microsoft.com/office/drawing/2014/main" id="{0C7FEF26-95EB-4096-8C18-AC9359459C7D}"/>
              </a:ext>
            </a:extLst>
          </p:cNvPr>
          <p:cNvSpPr>
            <a:spLocks noGrp="1"/>
          </p:cNvSpPr>
          <p:nvPr>
            <p:ph sz="quarter" idx="24"/>
          </p:nvPr>
        </p:nvSpPr>
        <p:spPr>
          <a:xfrm>
            <a:off x="304799" y="5195893"/>
            <a:ext cx="3963620" cy="381000"/>
          </a:xfrm>
        </p:spPr>
        <p:txBody>
          <a:bodyPr>
            <a:noAutofit/>
          </a:bodyPr>
          <a:lstStyle/>
          <a:p>
            <a:r>
              <a:rPr lang="en-US" sz="1800" b="1" noProof="0" dirty="0"/>
              <a:t>At date of distribution</a:t>
            </a:r>
            <a:endParaRPr lang="en-US" sz="1800" noProof="0" dirty="0"/>
          </a:p>
        </p:txBody>
      </p:sp>
      <p:sp>
        <p:nvSpPr>
          <p:cNvPr id="55" name="Content Placeholder 54">
            <a:extLst>
              <a:ext uri="{FF2B5EF4-FFF2-40B4-BE49-F238E27FC236}">
                <a16:creationId xmlns:a16="http://schemas.microsoft.com/office/drawing/2014/main" id="{CD798BDB-7AC2-44FC-8A10-B497D8BB2E4F}"/>
              </a:ext>
            </a:extLst>
          </p:cNvPr>
          <p:cNvSpPr>
            <a:spLocks noGrp="1"/>
          </p:cNvSpPr>
          <p:nvPr>
            <p:ph sz="quarter" idx="25"/>
          </p:nvPr>
        </p:nvSpPr>
        <p:spPr>
          <a:xfrm>
            <a:off x="304799" y="5616437"/>
            <a:ext cx="5102045" cy="380999"/>
          </a:xfrm>
        </p:spPr>
        <p:txBody>
          <a:bodyPr>
            <a:noAutofit/>
          </a:bodyPr>
          <a:lstStyle/>
          <a:p>
            <a:r>
              <a:rPr lang="en-US" sz="1800" noProof="0" dirty="0"/>
              <a:t>Common Stock Dividend Distributable</a:t>
            </a:r>
          </a:p>
        </p:txBody>
      </p:sp>
      <p:sp>
        <p:nvSpPr>
          <p:cNvPr id="68" name="Content Placeholder 67">
            <a:extLst>
              <a:ext uri="{FF2B5EF4-FFF2-40B4-BE49-F238E27FC236}">
                <a16:creationId xmlns:a16="http://schemas.microsoft.com/office/drawing/2014/main" id="{D3BECD02-EE9D-43D4-A7C7-DE386AB34CCD}"/>
              </a:ext>
            </a:extLst>
          </p:cNvPr>
          <p:cNvSpPr>
            <a:spLocks noGrp="1"/>
          </p:cNvSpPr>
          <p:nvPr>
            <p:ph sz="quarter" idx="38"/>
          </p:nvPr>
        </p:nvSpPr>
        <p:spPr>
          <a:xfrm>
            <a:off x="4861238" y="5578469"/>
            <a:ext cx="1354370" cy="391272"/>
          </a:xfrm>
        </p:spPr>
        <p:txBody>
          <a:bodyPr>
            <a:normAutofit/>
          </a:bodyPr>
          <a:lstStyle/>
          <a:p>
            <a:pPr algn="r"/>
            <a:r>
              <a:rPr lang="en-US" sz="1800" noProof="0" dirty="0"/>
              <a:t>10,000</a:t>
            </a:r>
          </a:p>
        </p:txBody>
      </p:sp>
      <p:sp>
        <p:nvSpPr>
          <p:cNvPr id="56" name="Content Placeholder 55">
            <a:extLst>
              <a:ext uri="{FF2B5EF4-FFF2-40B4-BE49-F238E27FC236}">
                <a16:creationId xmlns:a16="http://schemas.microsoft.com/office/drawing/2014/main" id="{3EBC5983-62F1-42CF-A31C-8CF3BF632420}"/>
              </a:ext>
            </a:extLst>
          </p:cNvPr>
          <p:cNvSpPr>
            <a:spLocks noGrp="1"/>
          </p:cNvSpPr>
          <p:nvPr>
            <p:ph sz="quarter" idx="26"/>
          </p:nvPr>
        </p:nvSpPr>
        <p:spPr>
          <a:xfrm>
            <a:off x="886809" y="6022150"/>
            <a:ext cx="2959904" cy="400567"/>
          </a:xfrm>
        </p:spPr>
        <p:txBody>
          <a:bodyPr>
            <a:noAutofit/>
          </a:bodyPr>
          <a:lstStyle/>
          <a:p>
            <a:r>
              <a:rPr lang="en-US" sz="1800" noProof="0" dirty="0"/>
              <a:t>Common Stock</a:t>
            </a:r>
          </a:p>
        </p:txBody>
      </p:sp>
      <p:sp>
        <p:nvSpPr>
          <p:cNvPr id="69" name="Content Placeholder 68">
            <a:extLst>
              <a:ext uri="{FF2B5EF4-FFF2-40B4-BE49-F238E27FC236}">
                <a16:creationId xmlns:a16="http://schemas.microsoft.com/office/drawing/2014/main" id="{7DC85FC8-8F67-4B19-AEE0-A881269A8042}"/>
              </a:ext>
            </a:extLst>
          </p:cNvPr>
          <p:cNvSpPr>
            <a:spLocks noGrp="1"/>
          </p:cNvSpPr>
          <p:nvPr>
            <p:ph sz="quarter" idx="39"/>
          </p:nvPr>
        </p:nvSpPr>
        <p:spPr>
          <a:xfrm>
            <a:off x="5670001" y="5997436"/>
            <a:ext cx="1423978" cy="381000"/>
          </a:xfrm>
        </p:spPr>
        <p:txBody>
          <a:bodyPr>
            <a:normAutofit/>
          </a:bodyPr>
          <a:lstStyle/>
          <a:p>
            <a:pPr algn="r"/>
            <a:r>
              <a:rPr lang="en-US" sz="1800" noProof="0" dirty="0"/>
              <a:t>10,000</a:t>
            </a:r>
          </a:p>
        </p:txBody>
      </p:sp>
      <p:sp>
        <p:nvSpPr>
          <p:cNvPr id="75" name="COB/LO">
            <a:extLst>
              <a:ext uri="{FF2B5EF4-FFF2-40B4-BE49-F238E27FC236}">
                <a16:creationId xmlns:a16="http://schemas.microsoft.com/office/drawing/2014/main" id="{3C7EE0EC-0E69-4E4C-8F21-A7C5D5ED486E}"/>
              </a:ext>
            </a:extLst>
          </p:cNvPr>
          <p:cNvSpPr txBox="1">
            <a:spLocks noGrp="1"/>
          </p:cNvSpPr>
          <p:nvPr>
            <p:ph sz="quarter" idx="44"/>
          </p:nvPr>
        </p:nvSpPr>
        <p:spPr>
          <a:xfrm>
            <a:off x="331788" y="6333317"/>
            <a:ext cx="749300" cy="400110"/>
          </a:xfrm>
          <a:prstGeom prst="rect">
            <a:avLst/>
          </a:prstGeom>
          <a:noFill/>
        </p:spPr>
        <p:txBody>
          <a:bodyPr wrap="square" lIns="0" rIns="0">
            <a:spAutoFit/>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60325" lvl="1" indent="0">
              <a:lnSpc>
                <a:spcPct val="100000"/>
              </a:lnSpc>
              <a:spcBef>
                <a:spcPts val="1200"/>
              </a:spcBef>
              <a:buFont typeface="Arial"/>
              <a:buNone/>
            </a:pPr>
            <a:r>
              <a:rPr lang="en-US" sz="2000" noProof="0" dirty="0">
                <a:solidFill>
                  <a:srgbClr val="000000"/>
                </a:solidFill>
              </a:rPr>
              <a:t>LO 3</a:t>
            </a:r>
          </a:p>
        </p:txBody>
      </p:sp>
      <p:sp>
        <p:nvSpPr>
          <p:cNvPr id="4" name="Slide Number Placeholder 3"/>
          <p:cNvSpPr>
            <a:spLocks noGrp="1"/>
          </p:cNvSpPr>
          <p:nvPr>
            <p:ph type="sldNum" sz="quarter" idx="10"/>
          </p:nvPr>
        </p:nvSpPr>
        <p:spPr>
          <a:xfrm>
            <a:off x="6457950" y="6477000"/>
            <a:ext cx="2381250" cy="244475"/>
          </a:xfrm>
          <a:ln>
            <a:noFill/>
          </a:ln>
        </p:spPr>
        <p:txBody>
          <a:bodyPr/>
          <a:lstStyle/>
          <a:p>
            <a:fld id="{67B19427-F580-D146-B60E-4CADEE75497F}" type="slidenum">
              <a:rPr lang="en-US" smtClean="0">
                <a:solidFill>
                  <a:schemeClr val="tx1"/>
                </a:solidFill>
                <a:latin typeface="+mn-lt"/>
              </a:rPr>
              <a:pPr/>
              <a:t>48</a:t>
            </a:fld>
            <a:endParaRPr lang="en-US" dirty="0">
              <a:solidFill>
                <a:schemeClr val="tx1"/>
              </a:solidFill>
              <a:latin typeface="+mn-lt"/>
            </a:endParaRPr>
          </a:p>
        </p:txBody>
      </p:sp>
      <p:sp>
        <p:nvSpPr>
          <p:cNvPr id="19" name="Content Placeholder 53">
            <a:extLst>
              <a:ext uri="{FF2B5EF4-FFF2-40B4-BE49-F238E27FC236}">
                <a16:creationId xmlns:a16="http://schemas.microsoft.com/office/drawing/2014/main" id="{E6253E83-74A7-47B6-BD98-B9D97F559FA0}"/>
              </a:ext>
            </a:extLst>
          </p:cNvPr>
          <p:cNvSpPr txBox="1">
            <a:spLocks/>
          </p:cNvSpPr>
          <p:nvPr/>
        </p:nvSpPr>
        <p:spPr>
          <a:xfrm>
            <a:off x="304800" y="4627891"/>
            <a:ext cx="3963620" cy="381000"/>
          </a:xfrm>
          <a:prstGeom prst="rect">
            <a:avLst/>
          </a:prstGeom>
        </p:spPr>
        <p:txBody>
          <a:bodyPr>
            <a:noAutofit/>
          </a:bodyPr>
          <a:lstStyle>
            <a:lvl1pPr marL="228600" indent="-228600" algn="l" defTabSz="914400" rtl="0" eaLnBrk="1" latinLnBrk="0" hangingPunct="1">
              <a:lnSpc>
                <a:spcPct val="90000"/>
              </a:lnSpc>
              <a:spcBef>
                <a:spcPts val="1000"/>
              </a:spcBef>
              <a:buFont typeface="Arial"/>
              <a:buNone/>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sz="1800" b="1" dirty="0"/>
              <a:t>At date of record: </a:t>
            </a:r>
            <a:r>
              <a:rPr lang="en-US" sz="1800" i="1" dirty="0"/>
              <a:t>no entry</a:t>
            </a:r>
            <a:endParaRPr lang="en-US" sz="1800" dirty="0"/>
          </a:p>
        </p:txBody>
      </p:sp>
      <p:sp>
        <p:nvSpPr>
          <p:cNvPr id="2" name="Rectangle 1">
            <a:extLst>
              <a:ext uri="{FF2B5EF4-FFF2-40B4-BE49-F238E27FC236}">
                <a16:creationId xmlns:a16="http://schemas.microsoft.com/office/drawing/2014/main" id="{52DD9529-48CB-47B1-A0A2-956DAE6403FC}"/>
              </a:ext>
            </a:extLst>
          </p:cNvPr>
          <p:cNvSpPr/>
          <p:nvPr/>
        </p:nvSpPr>
        <p:spPr>
          <a:xfrm>
            <a:off x="-1" y="990600"/>
            <a:ext cx="8990381" cy="874415"/>
          </a:xfrm>
          <a:prstGeom prst="rect">
            <a:avLst/>
          </a:prstGeom>
        </p:spPr>
        <p:txBody>
          <a:bodyPr>
            <a:normAutofit lnSpcReduction="10000"/>
          </a:bodyPr>
          <a:lstStyle/>
          <a:p>
            <a:pPr>
              <a:lnSpc>
                <a:spcPct val="90000"/>
              </a:lnSpc>
              <a:spcBef>
                <a:spcPts val="1000"/>
              </a:spcBef>
            </a:pPr>
            <a:r>
              <a:rPr lang="en-US" sz="2000" dirty="0">
                <a:latin typeface="Calibri" panose="020F0502020204030204" pitchFamily="34" charset="0"/>
                <a:ea typeface="Calibri" panose="020F0502020204030204" pitchFamily="34" charset="0"/>
                <a:cs typeface="Calibri" panose="020F0502020204030204" pitchFamily="34" charset="0"/>
              </a:rPr>
              <a:t>If the company issues a small stock dividend (less than 20–25% of the corporation’s issued stock), the value assigned to the dividend is the </a:t>
            </a:r>
            <a:r>
              <a:rPr lang="en-US" sz="2000" b="1" dirty="0">
                <a:latin typeface="Calibri" panose="020F0502020204030204" pitchFamily="34" charset="0"/>
                <a:ea typeface="Calibri" panose="020F0502020204030204" pitchFamily="34" charset="0"/>
                <a:cs typeface="Calibri" panose="020F0502020204030204" pitchFamily="34" charset="0"/>
              </a:rPr>
              <a:t>fair value (market price)</a:t>
            </a:r>
            <a:r>
              <a:rPr lang="en-US" sz="2000" dirty="0">
                <a:latin typeface="Calibri" panose="020F0502020204030204" pitchFamily="34" charset="0"/>
                <a:ea typeface="Calibri" panose="020F0502020204030204" pitchFamily="34" charset="0"/>
                <a:cs typeface="Calibri" panose="020F0502020204030204" pitchFamily="34" charset="0"/>
              </a:rPr>
              <a:t> per share.</a:t>
            </a:r>
          </a:p>
        </p:txBody>
      </p:sp>
    </p:spTree>
    <p:extLst>
      <p:ext uri="{BB962C8B-B14F-4D97-AF65-F5344CB8AC3E}">
        <p14:creationId xmlns:p14="http://schemas.microsoft.com/office/powerpoint/2010/main" val="31842476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9">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5">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3">
                                            <p:txEl>
                                              <p:pRg st="0" end="0"/>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7">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2">
                                            <p:txEl>
                                              <p:pRg st="0" end="0"/>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6">
                                            <p:txEl>
                                              <p:pRg st="0" end="0"/>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54">
                                            <p:txEl>
                                              <p:pRg st="0" end="0"/>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55">
                                            <p:txEl>
                                              <p:pRg st="0" end="0"/>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68">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56">
                                            <p:txEl>
                                              <p:pRg st="0" end="0"/>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69">
                                            <p:txEl>
                                              <p:pRg st="0" end="0"/>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build="p"/>
      <p:bldP spid="49" grpId="0" build="p"/>
      <p:bldP spid="65" grpId="0" build="p"/>
      <p:bldP spid="53" grpId="0" build="p"/>
      <p:bldP spid="67" grpId="0" build="p"/>
      <p:bldP spid="52" grpId="0" build="p"/>
      <p:bldP spid="66" grpId="0" build="p"/>
      <p:bldP spid="54" grpId="0" build="p"/>
      <p:bldP spid="55" grpId="0" build="p"/>
      <p:bldP spid="68" grpId="0" build="p"/>
      <p:bldP spid="56" grpId="0" build="p"/>
      <p:bldP spid="69" grpId="0" build="p"/>
      <p:bldP spid="19" grpId="0"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DDAC5CB2-627A-459E-8BB3-E4ECBB46DB64}"/>
              </a:ext>
            </a:extLst>
          </p:cNvPr>
          <p:cNvSpPr>
            <a:spLocks noGrp="1"/>
          </p:cNvSpPr>
          <p:nvPr>
            <p:ph sz="quarter" idx="16"/>
          </p:nvPr>
        </p:nvSpPr>
        <p:spPr>
          <a:xfrm>
            <a:off x="76200" y="1752600"/>
            <a:ext cx="9067800" cy="1313402"/>
          </a:xfrm>
        </p:spPr>
        <p:txBody>
          <a:bodyPr>
            <a:noAutofit/>
          </a:bodyPr>
          <a:lstStyle/>
          <a:p>
            <a:pPr>
              <a:lnSpc>
                <a:spcPct val="100000"/>
              </a:lnSpc>
            </a:pPr>
            <a:r>
              <a:rPr lang="en-US" sz="2000" b="1" noProof="0" dirty="0"/>
              <a:t>Illustration:</a:t>
            </a:r>
            <a:r>
              <a:rPr lang="en-US" sz="2000" noProof="0" dirty="0"/>
              <a:t> Rockland Steel, Inc. declared a 30 percent stock dividend on November 20, payable December 29 to stockholders of record December 12. At the date of declaration, 1,000,000 shares, par value $10, are outstanding and with a fair value of $200 per share. The entry is:</a:t>
            </a:r>
          </a:p>
        </p:txBody>
      </p:sp>
      <p:sp>
        <p:nvSpPr>
          <p:cNvPr id="4" name="Slide Number Placeholder 3"/>
          <p:cNvSpPr>
            <a:spLocks noGrp="1"/>
          </p:cNvSpPr>
          <p:nvPr>
            <p:ph type="sldNum" sz="quarter" idx="10"/>
          </p:nvPr>
        </p:nvSpPr>
        <p:spPr>
          <a:xfrm>
            <a:off x="6582760" y="6421109"/>
            <a:ext cx="2381250" cy="365125"/>
          </a:xfrm>
        </p:spPr>
        <p:txBody>
          <a:bodyPr/>
          <a:lstStyle/>
          <a:p>
            <a:fld id="{67B19427-F580-D146-B60E-4CADEE75497F}" type="slidenum">
              <a:rPr lang="en-US" smtClean="0">
                <a:solidFill>
                  <a:srgbClr val="000000"/>
                </a:solidFill>
              </a:rPr>
              <a:pPr/>
              <a:t>49</a:t>
            </a:fld>
            <a:endParaRPr lang="en-US" dirty="0">
              <a:solidFill>
                <a:srgbClr val="000000"/>
              </a:solidFill>
            </a:endParaRPr>
          </a:p>
        </p:txBody>
      </p:sp>
      <p:sp>
        <p:nvSpPr>
          <p:cNvPr id="11" name="Content Placeholder 8">
            <a:extLst>
              <a:ext uri="{FF2B5EF4-FFF2-40B4-BE49-F238E27FC236}">
                <a16:creationId xmlns:a16="http://schemas.microsoft.com/office/drawing/2014/main" id="{28101410-81E0-440E-8BC9-7F6F750EBF1C}"/>
              </a:ext>
            </a:extLst>
          </p:cNvPr>
          <p:cNvSpPr txBox="1">
            <a:spLocks/>
          </p:cNvSpPr>
          <p:nvPr/>
        </p:nvSpPr>
        <p:spPr>
          <a:xfrm>
            <a:off x="76200" y="990600"/>
            <a:ext cx="8839200" cy="762000"/>
          </a:xfrm>
          <a:prstGeom prst="rect">
            <a:avLst/>
          </a:prstGeom>
        </p:spPr>
        <p:txBody>
          <a:bodyPr>
            <a:normAutofit/>
          </a:bodyPr>
          <a:lstStyle>
            <a:lvl1pPr marL="0" indent="0" algn="l" defTabSz="914400" rtl="0" eaLnBrk="1" latinLnBrk="0" hangingPunct="1">
              <a:lnSpc>
                <a:spcPct val="90000"/>
              </a:lnSpc>
              <a:spcBef>
                <a:spcPts val="1000"/>
              </a:spcBef>
              <a:buFont typeface="Arial"/>
              <a:buNone/>
              <a:defRPr sz="2800" b="0" i="0" kern="1200">
                <a:solidFill>
                  <a:schemeClr val="tx1"/>
                </a:solidFill>
                <a:latin typeface="Calibri" panose="020F0502020204030204" pitchFamily="34" charset="0"/>
                <a:ea typeface="Calibri" panose="020F0502020204030204" pitchFamily="34" charset="0"/>
                <a:cs typeface="Calibri" panose="020F0502020204030204" pitchFamily="34" charset="0"/>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nSpc>
                <a:spcPct val="100000"/>
              </a:lnSpc>
            </a:pPr>
            <a:r>
              <a:rPr lang="en-US" sz="2000" dirty="0"/>
              <a:t>If a company issues a large stock dividend (greater than 20–25%), the price assigned to the dividend is the </a:t>
            </a:r>
            <a:r>
              <a:rPr lang="en-US" sz="2000" b="1" dirty="0"/>
              <a:t>par or stated value</a:t>
            </a:r>
            <a:r>
              <a:rPr lang="en-US" sz="2000" dirty="0"/>
              <a:t>.</a:t>
            </a:r>
          </a:p>
        </p:txBody>
      </p:sp>
      <p:sp>
        <p:nvSpPr>
          <p:cNvPr id="12" name="Title 44">
            <a:extLst>
              <a:ext uri="{FF2B5EF4-FFF2-40B4-BE49-F238E27FC236}">
                <a16:creationId xmlns:a16="http://schemas.microsoft.com/office/drawing/2014/main" id="{2962C451-DF86-4668-AC63-1F2545329E8A}"/>
              </a:ext>
            </a:extLst>
          </p:cNvPr>
          <p:cNvSpPr>
            <a:spLocks noGrp="1"/>
          </p:cNvSpPr>
          <p:nvPr>
            <p:ph type="title"/>
          </p:nvPr>
        </p:nvSpPr>
        <p:spPr>
          <a:xfrm>
            <a:off x="1219" y="502852"/>
            <a:ext cx="8534400" cy="508084"/>
          </a:xfrm>
        </p:spPr>
        <p:txBody>
          <a:bodyPr>
            <a:normAutofit fontScale="90000"/>
          </a:bodyPr>
          <a:lstStyle/>
          <a:p>
            <a:r>
              <a:rPr lang="en-US" noProof="0" dirty="0"/>
              <a:t>Stock Dividends - large</a:t>
            </a:r>
            <a:r>
              <a:rPr lang="en-US" dirty="0"/>
              <a:t> stock dividend</a:t>
            </a:r>
            <a:endParaRPr lang="en-US" noProof="0" dirty="0"/>
          </a:p>
        </p:txBody>
      </p:sp>
      <p:sp>
        <p:nvSpPr>
          <p:cNvPr id="27" name="Content Placeholder 46">
            <a:extLst>
              <a:ext uri="{FF2B5EF4-FFF2-40B4-BE49-F238E27FC236}">
                <a16:creationId xmlns:a16="http://schemas.microsoft.com/office/drawing/2014/main" id="{01E61699-0839-4741-B40E-6EEAD3A0739D}"/>
              </a:ext>
            </a:extLst>
          </p:cNvPr>
          <p:cNvSpPr>
            <a:spLocks noGrp="1"/>
          </p:cNvSpPr>
          <p:nvPr>
            <p:ph sz="quarter" idx="17"/>
          </p:nvPr>
        </p:nvSpPr>
        <p:spPr>
          <a:xfrm>
            <a:off x="304800" y="3168501"/>
            <a:ext cx="2825195" cy="345998"/>
          </a:xfrm>
        </p:spPr>
        <p:txBody>
          <a:bodyPr>
            <a:noAutofit/>
          </a:bodyPr>
          <a:lstStyle/>
          <a:p>
            <a:r>
              <a:rPr lang="en-US" sz="1800" b="1" noProof="0" dirty="0">
                <a:latin typeface="Calibri" panose="020F0502020204030204" pitchFamily="34" charset="0"/>
              </a:rPr>
              <a:t>At date of declaration</a:t>
            </a:r>
            <a:endParaRPr lang="en-US" sz="1800" noProof="0" dirty="0"/>
          </a:p>
        </p:txBody>
      </p:sp>
      <p:sp>
        <p:nvSpPr>
          <p:cNvPr id="28" name="Content Placeholder 48">
            <a:extLst>
              <a:ext uri="{FF2B5EF4-FFF2-40B4-BE49-F238E27FC236}">
                <a16:creationId xmlns:a16="http://schemas.microsoft.com/office/drawing/2014/main" id="{64FECD94-1549-48F6-9B5D-A7C926EA0F61}"/>
              </a:ext>
            </a:extLst>
          </p:cNvPr>
          <p:cNvSpPr txBox="1">
            <a:spLocks/>
          </p:cNvSpPr>
          <p:nvPr/>
        </p:nvSpPr>
        <p:spPr>
          <a:xfrm>
            <a:off x="303092" y="3568465"/>
            <a:ext cx="5869107" cy="367822"/>
          </a:xfrm>
          <a:prstGeom prst="rect">
            <a:avLst/>
          </a:prstGeom>
        </p:spPr>
        <p:txBody>
          <a:bodyPr>
            <a:noAutofit/>
          </a:bodyPr>
          <a:lstStyle>
            <a:lvl1pPr marL="0" indent="0" algn="l" defTabSz="914400" rtl="0" eaLnBrk="1" latinLnBrk="0" hangingPunct="1">
              <a:lnSpc>
                <a:spcPct val="90000"/>
              </a:lnSpc>
              <a:spcBef>
                <a:spcPts val="1000"/>
              </a:spcBef>
              <a:buFont typeface="Arial"/>
              <a:buNone/>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sz="1800" dirty="0">
                <a:latin typeface="Calibri" panose="020F0502020204030204" pitchFamily="34" charset="0"/>
              </a:rPr>
              <a:t>Retained Earnings (</a:t>
            </a:r>
            <a:r>
              <a:rPr lang="en-US" sz="1800" dirty="0"/>
              <a:t>1,000,000 shares x 30% x $10 par value)</a:t>
            </a:r>
          </a:p>
        </p:txBody>
      </p:sp>
      <p:sp>
        <p:nvSpPr>
          <p:cNvPr id="29" name="Content Placeholder 64">
            <a:extLst>
              <a:ext uri="{FF2B5EF4-FFF2-40B4-BE49-F238E27FC236}">
                <a16:creationId xmlns:a16="http://schemas.microsoft.com/office/drawing/2014/main" id="{D600AFA0-1495-4711-B212-A543108C275D}"/>
              </a:ext>
            </a:extLst>
          </p:cNvPr>
          <p:cNvSpPr txBox="1">
            <a:spLocks/>
          </p:cNvSpPr>
          <p:nvPr/>
        </p:nvSpPr>
        <p:spPr>
          <a:xfrm>
            <a:off x="5937195" y="3581659"/>
            <a:ext cx="1291130" cy="393699"/>
          </a:xfrm>
          <a:prstGeom prst="rect">
            <a:avLst/>
          </a:prstGeom>
        </p:spPr>
        <p:txBody>
          <a:bodyPr>
            <a:normAutofit/>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lgn="r">
              <a:buNone/>
            </a:pPr>
            <a:r>
              <a:rPr lang="en-US" sz="1800" dirty="0">
                <a:latin typeface="Calibri" panose="020F0502020204030204" pitchFamily="34" charset="0"/>
              </a:rPr>
              <a:t>3,000,000</a:t>
            </a:r>
            <a:endParaRPr lang="en-US" sz="1800" dirty="0"/>
          </a:p>
        </p:txBody>
      </p:sp>
      <p:sp>
        <p:nvSpPr>
          <p:cNvPr id="30" name="Content Placeholder 52">
            <a:extLst>
              <a:ext uri="{FF2B5EF4-FFF2-40B4-BE49-F238E27FC236}">
                <a16:creationId xmlns:a16="http://schemas.microsoft.com/office/drawing/2014/main" id="{1FA94C78-598E-4CEC-800F-7AA765CE290B}"/>
              </a:ext>
            </a:extLst>
          </p:cNvPr>
          <p:cNvSpPr txBox="1">
            <a:spLocks/>
          </p:cNvSpPr>
          <p:nvPr/>
        </p:nvSpPr>
        <p:spPr>
          <a:xfrm>
            <a:off x="886810" y="4006701"/>
            <a:ext cx="5026699" cy="381000"/>
          </a:xfrm>
          <a:prstGeom prst="rect">
            <a:avLst/>
          </a:prstGeom>
        </p:spPr>
        <p:txBody>
          <a:bodyPr>
            <a:noAutofit/>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r>
              <a:rPr lang="en-US" sz="1800" dirty="0"/>
              <a:t>Common Stock Dividend Distributable</a:t>
            </a:r>
          </a:p>
        </p:txBody>
      </p:sp>
      <p:sp>
        <p:nvSpPr>
          <p:cNvPr id="31" name="Content Placeholder 66">
            <a:extLst>
              <a:ext uri="{FF2B5EF4-FFF2-40B4-BE49-F238E27FC236}">
                <a16:creationId xmlns:a16="http://schemas.microsoft.com/office/drawing/2014/main" id="{819CF1ED-1D31-4248-AD5F-8FEC398E2C89}"/>
              </a:ext>
            </a:extLst>
          </p:cNvPr>
          <p:cNvSpPr txBox="1">
            <a:spLocks/>
          </p:cNvSpPr>
          <p:nvPr/>
        </p:nvSpPr>
        <p:spPr>
          <a:xfrm>
            <a:off x="7010400" y="4006701"/>
            <a:ext cx="1291130" cy="381000"/>
          </a:xfrm>
          <a:prstGeom prst="rect">
            <a:avLst/>
          </a:prstGeom>
        </p:spPr>
        <p:txBody>
          <a:bodyPr>
            <a:normAutofit/>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lgn="r">
              <a:buNone/>
            </a:pPr>
            <a:r>
              <a:rPr lang="en-US" sz="1800" dirty="0">
                <a:latin typeface="Calibri" panose="020F0502020204030204" pitchFamily="34" charset="0"/>
              </a:rPr>
              <a:t>3,000,000</a:t>
            </a:r>
            <a:endParaRPr lang="en-US" sz="1800" dirty="0"/>
          </a:p>
        </p:txBody>
      </p:sp>
      <p:sp>
        <p:nvSpPr>
          <p:cNvPr id="34" name="Content Placeholder 53">
            <a:extLst>
              <a:ext uri="{FF2B5EF4-FFF2-40B4-BE49-F238E27FC236}">
                <a16:creationId xmlns:a16="http://schemas.microsoft.com/office/drawing/2014/main" id="{7735047A-A3E7-485E-9268-FA51E97CD579}"/>
              </a:ext>
            </a:extLst>
          </p:cNvPr>
          <p:cNvSpPr txBox="1">
            <a:spLocks/>
          </p:cNvSpPr>
          <p:nvPr/>
        </p:nvSpPr>
        <p:spPr>
          <a:xfrm>
            <a:off x="304799" y="5140002"/>
            <a:ext cx="3963620" cy="381000"/>
          </a:xfrm>
          <a:prstGeom prst="rect">
            <a:avLst/>
          </a:prstGeom>
        </p:spPr>
        <p:txBody>
          <a:bodyPr>
            <a:noAutofit/>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r>
              <a:rPr lang="en-US" sz="1800" b="1" dirty="0">
                <a:latin typeface="Calibri" panose="020F0502020204030204" pitchFamily="34" charset="0"/>
              </a:rPr>
              <a:t>At date of distribution</a:t>
            </a:r>
            <a:endParaRPr lang="en-US" sz="1800" dirty="0"/>
          </a:p>
        </p:txBody>
      </p:sp>
      <p:sp>
        <p:nvSpPr>
          <p:cNvPr id="35" name="Content Placeholder 54">
            <a:extLst>
              <a:ext uri="{FF2B5EF4-FFF2-40B4-BE49-F238E27FC236}">
                <a16:creationId xmlns:a16="http://schemas.microsoft.com/office/drawing/2014/main" id="{CAE47410-54BA-4FC7-9140-48EA6ADDD76B}"/>
              </a:ext>
            </a:extLst>
          </p:cNvPr>
          <p:cNvSpPr txBox="1">
            <a:spLocks/>
          </p:cNvSpPr>
          <p:nvPr/>
        </p:nvSpPr>
        <p:spPr>
          <a:xfrm>
            <a:off x="304799" y="5560546"/>
            <a:ext cx="5102045" cy="380999"/>
          </a:xfrm>
          <a:prstGeom prst="rect">
            <a:avLst/>
          </a:prstGeom>
        </p:spPr>
        <p:txBody>
          <a:bodyPr>
            <a:noAutofit/>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r>
              <a:rPr lang="en-US" sz="1800" dirty="0"/>
              <a:t>Common Stock Dividend Distributable</a:t>
            </a:r>
          </a:p>
        </p:txBody>
      </p:sp>
      <p:sp>
        <p:nvSpPr>
          <p:cNvPr id="36" name="Content Placeholder 67">
            <a:extLst>
              <a:ext uri="{FF2B5EF4-FFF2-40B4-BE49-F238E27FC236}">
                <a16:creationId xmlns:a16="http://schemas.microsoft.com/office/drawing/2014/main" id="{C81C8FB7-33DD-4416-AE5A-712265CBB3DF}"/>
              </a:ext>
            </a:extLst>
          </p:cNvPr>
          <p:cNvSpPr txBox="1">
            <a:spLocks/>
          </p:cNvSpPr>
          <p:nvPr/>
        </p:nvSpPr>
        <p:spPr>
          <a:xfrm>
            <a:off x="5862032" y="5585260"/>
            <a:ext cx="1441456" cy="380999"/>
          </a:xfrm>
          <a:prstGeom prst="rect">
            <a:avLst/>
          </a:prstGeom>
        </p:spPr>
        <p:txBody>
          <a:bodyPr>
            <a:normAutofit/>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lgn="r">
              <a:buNone/>
            </a:pPr>
            <a:r>
              <a:rPr lang="en-US" sz="1800" dirty="0">
                <a:latin typeface="Calibri" panose="020F0502020204030204" pitchFamily="34" charset="0"/>
              </a:rPr>
              <a:t>3,000,000</a:t>
            </a:r>
            <a:endParaRPr lang="en-US" sz="1800" dirty="0"/>
          </a:p>
        </p:txBody>
      </p:sp>
      <p:sp>
        <p:nvSpPr>
          <p:cNvPr id="37" name="Content Placeholder 55">
            <a:extLst>
              <a:ext uri="{FF2B5EF4-FFF2-40B4-BE49-F238E27FC236}">
                <a16:creationId xmlns:a16="http://schemas.microsoft.com/office/drawing/2014/main" id="{17D5D63B-9CA7-4FD5-B417-D40848137EFB}"/>
              </a:ext>
            </a:extLst>
          </p:cNvPr>
          <p:cNvSpPr txBox="1">
            <a:spLocks/>
          </p:cNvSpPr>
          <p:nvPr/>
        </p:nvSpPr>
        <p:spPr>
          <a:xfrm>
            <a:off x="886809" y="5966259"/>
            <a:ext cx="2959904" cy="400567"/>
          </a:xfrm>
          <a:prstGeom prst="rect">
            <a:avLst/>
          </a:prstGeom>
        </p:spPr>
        <p:txBody>
          <a:bodyPr>
            <a:noAutofit/>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r>
              <a:rPr lang="en-US" sz="1800" dirty="0">
                <a:latin typeface="Calibri" panose="020F0502020204030204" pitchFamily="34" charset="0"/>
              </a:rPr>
              <a:t>Common Stock</a:t>
            </a:r>
            <a:endParaRPr lang="en-US" sz="1800" dirty="0"/>
          </a:p>
        </p:txBody>
      </p:sp>
      <p:sp>
        <p:nvSpPr>
          <p:cNvPr id="38" name="Content Placeholder 68">
            <a:extLst>
              <a:ext uri="{FF2B5EF4-FFF2-40B4-BE49-F238E27FC236}">
                <a16:creationId xmlns:a16="http://schemas.microsoft.com/office/drawing/2014/main" id="{D99E03F7-0EF4-4F00-86A6-75AEE285D5AC}"/>
              </a:ext>
            </a:extLst>
          </p:cNvPr>
          <p:cNvSpPr txBox="1">
            <a:spLocks/>
          </p:cNvSpPr>
          <p:nvPr/>
        </p:nvSpPr>
        <p:spPr>
          <a:xfrm>
            <a:off x="6943976" y="6040109"/>
            <a:ext cx="1423978" cy="381000"/>
          </a:xfrm>
          <a:prstGeom prst="rect">
            <a:avLst/>
          </a:prstGeom>
        </p:spPr>
        <p:txBody>
          <a:bodyPr>
            <a:normAutofit/>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lgn="r">
              <a:buNone/>
            </a:pPr>
            <a:r>
              <a:rPr lang="en-US" sz="1800" dirty="0">
                <a:latin typeface="Calibri" panose="020F0502020204030204" pitchFamily="34" charset="0"/>
              </a:rPr>
              <a:t>3,000,000</a:t>
            </a:r>
            <a:endParaRPr lang="en-US" sz="1800" dirty="0"/>
          </a:p>
        </p:txBody>
      </p:sp>
      <p:sp>
        <p:nvSpPr>
          <p:cNvPr id="39" name="Content Placeholder 53">
            <a:extLst>
              <a:ext uri="{FF2B5EF4-FFF2-40B4-BE49-F238E27FC236}">
                <a16:creationId xmlns:a16="http://schemas.microsoft.com/office/drawing/2014/main" id="{CED0E8DC-97AD-4E82-ABD2-FA3895C8CBA6}"/>
              </a:ext>
            </a:extLst>
          </p:cNvPr>
          <p:cNvSpPr txBox="1">
            <a:spLocks/>
          </p:cNvSpPr>
          <p:nvPr/>
        </p:nvSpPr>
        <p:spPr>
          <a:xfrm>
            <a:off x="304800" y="4572000"/>
            <a:ext cx="3963620" cy="381000"/>
          </a:xfrm>
          <a:prstGeom prst="rect">
            <a:avLst/>
          </a:prstGeom>
        </p:spPr>
        <p:txBody>
          <a:bodyPr>
            <a:noAutofit/>
          </a:bodyPr>
          <a:lstStyle>
            <a:lvl1pPr marL="228600" indent="-228600" algn="l" defTabSz="914400" rtl="0" eaLnBrk="1" latinLnBrk="0" hangingPunct="1">
              <a:lnSpc>
                <a:spcPct val="90000"/>
              </a:lnSpc>
              <a:spcBef>
                <a:spcPts val="1000"/>
              </a:spcBef>
              <a:buFont typeface="Arial"/>
              <a:buNone/>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sz="1800" b="1" dirty="0">
                <a:latin typeface="Calibri" panose="020F0502020204030204" pitchFamily="34" charset="0"/>
              </a:rPr>
              <a:t>At date of record: </a:t>
            </a:r>
            <a:r>
              <a:rPr lang="en-US" sz="1800" i="1" dirty="0">
                <a:latin typeface="Calibri" panose="020F0502020204030204" pitchFamily="34" charset="0"/>
              </a:rPr>
              <a:t>no entry</a:t>
            </a:r>
            <a:endParaRPr lang="en-US" sz="1800" dirty="0"/>
          </a:p>
        </p:txBody>
      </p:sp>
    </p:spTree>
    <p:extLst>
      <p:ext uri="{BB962C8B-B14F-4D97-AF65-F5344CB8AC3E}">
        <p14:creationId xmlns:p14="http://schemas.microsoft.com/office/powerpoint/2010/main" val="14071992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8">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9">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0">
                                            <p:txEl>
                                              <p:pRg st="0" end="0"/>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1">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4">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5">
                                            <p:txEl>
                                              <p:pRg st="0" end="0"/>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6">
                                            <p:txEl>
                                              <p:pRg st="0" end="0"/>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7">
                                            <p:txEl>
                                              <p:pRg st="0" end="0"/>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8">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9">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build="p"/>
      <p:bldP spid="28" grpId="0" build="p"/>
      <p:bldP spid="29" grpId="0" build="p"/>
      <p:bldP spid="30" grpId="0" build="p"/>
      <p:bldP spid="31" grpId="0" build="p"/>
      <p:bldP spid="34" grpId="0" build="p"/>
      <p:bldP spid="35" grpId="0" build="p"/>
      <p:bldP spid="36" grpId="0" build="p"/>
      <p:bldP spid="37" grpId="0" build="p"/>
      <p:bldP spid="38" grpId="0" build="p"/>
      <p:bldP spid="39" grpId="0"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199" y="519639"/>
            <a:ext cx="8798989" cy="646331"/>
          </a:xfrm>
        </p:spPr>
        <p:txBody>
          <a:bodyPr wrap="square">
            <a:spAutoFit/>
          </a:bodyPr>
          <a:lstStyle/>
          <a:p>
            <a:r>
              <a:rPr lang="en-US" dirty="0"/>
              <a:t>Stock Splits</a:t>
            </a:r>
            <a:endParaRPr lang="en-US" sz="2800" b="0" noProof="0" dirty="0">
              <a:solidFill>
                <a:srgbClr val="990000"/>
              </a:solidFill>
              <a:latin typeface="+mn-lt"/>
            </a:endParaRPr>
          </a:p>
        </p:txBody>
      </p:sp>
      <p:sp>
        <p:nvSpPr>
          <p:cNvPr id="13" name="COB/LO">
            <a:extLst>
              <a:ext uri="{FF2B5EF4-FFF2-40B4-BE49-F238E27FC236}">
                <a16:creationId xmlns:a16="http://schemas.microsoft.com/office/drawing/2014/main" id="{86FD848B-592E-44B8-9630-BDF7B05BAF9E}"/>
              </a:ext>
            </a:extLst>
          </p:cNvPr>
          <p:cNvSpPr txBox="1">
            <a:spLocks noGrp="1"/>
          </p:cNvSpPr>
          <p:nvPr>
            <p:ph sz="quarter" idx="15"/>
          </p:nvPr>
        </p:nvSpPr>
        <p:spPr>
          <a:xfrm>
            <a:off x="331788" y="6400413"/>
            <a:ext cx="749300" cy="276999"/>
          </a:xfrm>
          <a:prstGeom prst="rect">
            <a:avLst/>
          </a:prstGeom>
          <a:noFill/>
        </p:spPr>
        <p:txBody>
          <a:bodyPr lIns="0" rIns="0">
            <a:spAutoFit/>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60325" lvl="1" indent="0">
              <a:lnSpc>
                <a:spcPct val="100000"/>
              </a:lnSpc>
              <a:spcBef>
                <a:spcPts val="1200"/>
              </a:spcBef>
              <a:buFont typeface="Arial"/>
              <a:buNone/>
            </a:pPr>
            <a:r>
              <a:rPr lang="en-US" sz="1200" noProof="0" dirty="0">
                <a:solidFill>
                  <a:srgbClr val="000000"/>
                </a:solidFill>
              </a:rPr>
              <a:t>LO 3</a:t>
            </a:r>
          </a:p>
        </p:txBody>
      </p:sp>
      <p:sp>
        <p:nvSpPr>
          <p:cNvPr id="4" name="Slide Number Placeholder 3"/>
          <p:cNvSpPr>
            <a:spLocks noGrp="1"/>
          </p:cNvSpPr>
          <p:nvPr>
            <p:ph type="sldNum" sz="quarter" idx="10"/>
          </p:nvPr>
        </p:nvSpPr>
        <p:spPr/>
        <p:txBody>
          <a:bodyPr/>
          <a:lstStyle/>
          <a:p>
            <a:fld id="{67B19427-F580-D146-B60E-4CADEE75497F}" type="slidenum">
              <a:rPr lang="en-US" smtClean="0">
                <a:solidFill>
                  <a:srgbClr val="000000"/>
                </a:solidFill>
              </a:rPr>
              <a:pPr/>
              <a:t>50</a:t>
            </a:fld>
            <a:endParaRPr lang="en-US" dirty="0">
              <a:solidFill>
                <a:srgbClr val="000000"/>
              </a:solidFill>
            </a:endParaRPr>
          </a:p>
        </p:txBody>
      </p:sp>
      <p:sp>
        <p:nvSpPr>
          <p:cNvPr id="5" name="Footer Placeholder 4"/>
          <p:cNvSpPr>
            <a:spLocks noGrp="1"/>
          </p:cNvSpPr>
          <p:nvPr>
            <p:ph type="ftr" sz="quarter" idx="11"/>
          </p:nvPr>
        </p:nvSpPr>
        <p:spPr/>
        <p:txBody>
          <a:bodyPr/>
          <a:lstStyle/>
          <a:p>
            <a:r>
              <a:rPr lang="en-US" dirty="0">
                <a:solidFill>
                  <a:srgbClr val="000000"/>
                </a:solidFill>
              </a:rPr>
              <a:t>Copyright ©2019 John Wiley &amp; Sons, Inc. </a:t>
            </a:r>
          </a:p>
        </p:txBody>
      </p:sp>
      <p:sp>
        <p:nvSpPr>
          <p:cNvPr id="3" name="Rectangle 2">
            <a:extLst>
              <a:ext uri="{FF2B5EF4-FFF2-40B4-BE49-F238E27FC236}">
                <a16:creationId xmlns:a16="http://schemas.microsoft.com/office/drawing/2014/main" id="{CDB9B52E-9E24-422F-B402-B805DC8DB288}"/>
              </a:ext>
            </a:extLst>
          </p:cNvPr>
          <p:cNvSpPr/>
          <p:nvPr/>
        </p:nvSpPr>
        <p:spPr>
          <a:xfrm>
            <a:off x="76200" y="1085195"/>
            <a:ext cx="8991601" cy="2862322"/>
          </a:xfrm>
          <a:prstGeom prst="rect">
            <a:avLst/>
          </a:prstGeom>
        </p:spPr>
        <p:txBody>
          <a:bodyPr wrap="square">
            <a:spAutoFit/>
          </a:bodyPr>
          <a:lstStyle/>
          <a:p>
            <a:pPr marL="285750"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A stock split, like a stock dividend, involves issuance of additional shares to stockholders according to their percentage ownership.</a:t>
            </a:r>
          </a:p>
          <a:p>
            <a:pPr marL="285750"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Each old share is split into a number of new shares with a reduced par value/stated value.</a:t>
            </a:r>
          </a:p>
          <a:p>
            <a:pPr marL="285750"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The company increases the number of shares in the same proportion that par or stated value per share decreases. For example, in a 2-for-1 split, the company exchanges one share of $10 par value stock for two shares of $5 par value stock. This does not have any effect on total paid-in capital, retained earnings, or total stockholders’ equity </a:t>
            </a:r>
            <a:r>
              <a:rPr lang="en-US" i="1" dirty="0">
                <a:latin typeface="Calibri" panose="020F0502020204030204" pitchFamily="34" charset="0"/>
                <a:ea typeface="Calibri" panose="020F0502020204030204" pitchFamily="34" charset="0"/>
                <a:cs typeface="Calibri" panose="020F0502020204030204" pitchFamily="34" charset="0"/>
              </a:rPr>
              <a:t>(see below illustration)</a:t>
            </a:r>
            <a:r>
              <a:rPr lang="en-US" dirty="0">
                <a:latin typeface="Calibri" panose="020F0502020204030204" pitchFamily="34" charset="0"/>
                <a:ea typeface="Calibri" panose="020F0502020204030204" pitchFamily="34" charset="0"/>
                <a:cs typeface="Calibri" panose="020F0502020204030204" pitchFamily="34" charset="0"/>
              </a:rPr>
              <a:t>. </a:t>
            </a:r>
            <a:r>
              <a:rPr lang="en-US" b="1" dirty="0">
                <a:latin typeface="Calibri" panose="020F0502020204030204" pitchFamily="34" charset="0"/>
                <a:ea typeface="Calibri" panose="020F0502020204030204" pitchFamily="34" charset="0"/>
                <a:cs typeface="Calibri" panose="020F0502020204030204" pitchFamily="34" charset="0"/>
              </a:rPr>
              <a:t>Therefore, a company does not need to journalize a stock split.</a:t>
            </a:r>
          </a:p>
          <a:p>
            <a:pPr marL="285750"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The purpose is to increase the marketability of the stock by lowering its market price per share. This, in turn, makes it easier for the corporation to issue additional stock. </a:t>
            </a:r>
          </a:p>
        </p:txBody>
      </p:sp>
      <p:pic>
        <p:nvPicPr>
          <p:cNvPr id="14" name="Picture 13">
            <a:extLst>
              <a:ext uri="{FF2B5EF4-FFF2-40B4-BE49-F238E27FC236}">
                <a16:creationId xmlns:a16="http://schemas.microsoft.com/office/drawing/2014/main" id="{AF38DBD8-EAB1-47F6-B4CC-30764F31F871}"/>
              </a:ext>
            </a:extLst>
          </p:cNvPr>
          <p:cNvPicPr>
            <a:picLocks noChangeAspect="1"/>
          </p:cNvPicPr>
          <p:nvPr/>
        </p:nvPicPr>
        <p:blipFill>
          <a:blip r:embed="rId3"/>
          <a:stretch>
            <a:fillRect/>
          </a:stretch>
        </p:blipFill>
        <p:spPr>
          <a:xfrm>
            <a:off x="685800" y="3933756"/>
            <a:ext cx="5927595" cy="2390844"/>
          </a:xfrm>
          <a:prstGeom prst="rect">
            <a:avLst/>
          </a:prstGeom>
        </p:spPr>
      </p:pic>
      <p:sp>
        <p:nvSpPr>
          <p:cNvPr id="15" name="Rectangle 14">
            <a:extLst>
              <a:ext uri="{FF2B5EF4-FFF2-40B4-BE49-F238E27FC236}">
                <a16:creationId xmlns:a16="http://schemas.microsoft.com/office/drawing/2014/main" id="{576A06E4-F222-4038-BD9B-77F91DF72566}"/>
              </a:ext>
            </a:extLst>
          </p:cNvPr>
          <p:cNvSpPr/>
          <p:nvPr/>
        </p:nvSpPr>
        <p:spPr>
          <a:xfrm>
            <a:off x="6707109" y="3947517"/>
            <a:ext cx="1903491" cy="1384995"/>
          </a:xfrm>
          <a:prstGeom prst="rect">
            <a:avLst/>
          </a:prstGeom>
        </p:spPr>
        <p:txBody>
          <a:bodyPr wrap="square">
            <a:spAutoFit/>
          </a:bodyPr>
          <a:lstStyle/>
          <a:p>
            <a:r>
              <a:rPr lang="en-US" sz="1400" dirty="0" err="1"/>
              <a:t>Medland</a:t>
            </a:r>
            <a:r>
              <a:rPr lang="en-US" sz="1400" dirty="0"/>
              <a:t> Corporation split its 50,000 shares of common stock on a 2-for-1 basis. Illustration shows the effects of the split.</a:t>
            </a:r>
            <a:endParaRPr lang="en-US" sz="14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97400092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609600"/>
            <a:ext cx="8534400" cy="1089529"/>
          </a:xfrm>
        </p:spPr>
        <p:txBody>
          <a:bodyPr>
            <a:spAutoFit/>
          </a:bodyPr>
          <a:lstStyle/>
          <a:p>
            <a:r>
              <a:rPr lang="en-US" sz="3600" dirty="0">
                <a:solidFill>
                  <a:srgbClr val="FF0000"/>
                </a:solidFill>
              </a:rPr>
              <a:t>DO IT AT HOME: </a:t>
            </a:r>
            <a:r>
              <a:rPr lang="en-US" sz="3600" dirty="0"/>
              <a:t>Stock Dividend &amp; Stock Split Differentiated</a:t>
            </a:r>
            <a:endParaRPr lang="en-US" sz="2400" b="0" noProof="0" dirty="0">
              <a:solidFill>
                <a:srgbClr val="990000"/>
              </a:solidFill>
            </a:endParaRPr>
          </a:p>
        </p:txBody>
      </p:sp>
      <p:sp>
        <p:nvSpPr>
          <p:cNvPr id="13" name="COB/LO">
            <a:extLst>
              <a:ext uri="{FF2B5EF4-FFF2-40B4-BE49-F238E27FC236}">
                <a16:creationId xmlns:a16="http://schemas.microsoft.com/office/drawing/2014/main" id="{86FD848B-592E-44B8-9630-BDF7B05BAF9E}"/>
              </a:ext>
            </a:extLst>
          </p:cNvPr>
          <p:cNvSpPr txBox="1">
            <a:spLocks noGrp="1"/>
          </p:cNvSpPr>
          <p:nvPr>
            <p:ph sz="quarter" idx="15"/>
          </p:nvPr>
        </p:nvSpPr>
        <p:spPr>
          <a:xfrm>
            <a:off x="331788" y="6400413"/>
            <a:ext cx="749300" cy="276999"/>
          </a:xfrm>
          <a:prstGeom prst="rect">
            <a:avLst/>
          </a:prstGeom>
          <a:noFill/>
        </p:spPr>
        <p:txBody>
          <a:bodyPr lIns="0" rIns="0">
            <a:spAutoFit/>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60325" lvl="1" indent="0">
              <a:lnSpc>
                <a:spcPct val="100000"/>
              </a:lnSpc>
              <a:spcBef>
                <a:spcPts val="1200"/>
              </a:spcBef>
              <a:buFont typeface="Arial"/>
              <a:buNone/>
            </a:pPr>
            <a:r>
              <a:rPr lang="en-US" sz="1200" noProof="0" dirty="0">
                <a:solidFill>
                  <a:srgbClr val="000000"/>
                </a:solidFill>
              </a:rPr>
              <a:t>LO 3</a:t>
            </a:r>
          </a:p>
        </p:txBody>
      </p:sp>
      <p:sp>
        <p:nvSpPr>
          <p:cNvPr id="4" name="Slide Number Placeholder 3"/>
          <p:cNvSpPr>
            <a:spLocks noGrp="1"/>
          </p:cNvSpPr>
          <p:nvPr>
            <p:ph type="sldNum" sz="quarter" idx="10"/>
          </p:nvPr>
        </p:nvSpPr>
        <p:spPr/>
        <p:txBody>
          <a:bodyPr/>
          <a:lstStyle/>
          <a:p>
            <a:fld id="{67B19427-F580-D146-B60E-4CADEE75497F}" type="slidenum">
              <a:rPr lang="en-US" smtClean="0">
                <a:solidFill>
                  <a:srgbClr val="000000"/>
                </a:solidFill>
              </a:rPr>
              <a:pPr/>
              <a:t>51</a:t>
            </a:fld>
            <a:endParaRPr lang="en-US" dirty="0">
              <a:solidFill>
                <a:srgbClr val="000000"/>
              </a:solidFill>
            </a:endParaRPr>
          </a:p>
        </p:txBody>
      </p:sp>
      <p:sp>
        <p:nvSpPr>
          <p:cNvPr id="5" name="Footer Placeholder 4"/>
          <p:cNvSpPr>
            <a:spLocks noGrp="1"/>
          </p:cNvSpPr>
          <p:nvPr>
            <p:ph type="ftr" sz="quarter" idx="11"/>
          </p:nvPr>
        </p:nvSpPr>
        <p:spPr/>
        <p:txBody>
          <a:bodyPr/>
          <a:lstStyle/>
          <a:p>
            <a:r>
              <a:rPr lang="en-US" dirty="0">
                <a:solidFill>
                  <a:srgbClr val="000000"/>
                </a:solidFill>
              </a:rPr>
              <a:t>Copyright ©2019 John Wiley &amp; Sons, Inc. </a:t>
            </a:r>
          </a:p>
        </p:txBody>
      </p:sp>
      <p:pic>
        <p:nvPicPr>
          <p:cNvPr id="3" name="Picture 2">
            <a:extLst>
              <a:ext uri="{FF2B5EF4-FFF2-40B4-BE49-F238E27FC236}">
                <a16:creationId xmlns:a16="http://schemas.microsoft.com/office/drawing/2014/main" id="{FE3CAB57-E67B-41FF-B71B-099A2F69F6BD}"/>
              </a:ext>
            </a:extLst>
          </p:cNvPr>
          <p:cNvPicPr>
            <a:picLocks noChangeAspect="1"/>
          </p:cNvPicPr>
          <p:nvPr/>
        </p:nvPicPr>
        <p:blipFill>
          <a:blip r:embed="rId2"/>
          <a:stretch>
            <a:fillRect/>
          </a:stretch>
        </p:blipFill>
        <p:spPr>
          <a:xfrm>
            <a:off x="0" y="2311400"/>
            <a:ext cx="9144000" cy="2413000"/>
          </a:xfrm>
          <a:prstGeom prst="rect">
            <a:avLst/>
          </a:prstGeom>
        </p:spPr>
      </p:pic>
      <p:sp>
        <p:nvSpPr>
          <p:cNvPr id="8" name="Rectangle 7">
            <a:extLst>
              <a:ext uri="{FF2B5EF4-FFF2-40B4-BE49-F238E27FC236}">
                <a16:creationId xmlns:a16="http://schemas.microsoft.com/office/drawing/2014/main" id="{9965F87B-5003-468E-94D3-3023350714EB}"/>
              </a:ext>
            </a:extLst>
          </p:cNvPr>
          <p:cNvSpPr/>
          <p:nvPr/>
        </p:nvSpPr>
        <p:spPr>
          <a:xfrm>
            <a:off x="0" y="1854200"/>
            <a:ext cx="8686800" cy="369332"/>
          </a:xfrm>
          <a:prstGeom prst="rect">
            <a:avLst/>
          </a:prstGeom>
        </p:spPr>
        <p:txBody>
          <a:bodyPr wrap="square">
            <a:spAutoFit/>
          </a:bodyPr>
          <a:lstStyle/>
          <a:p>
            <a:r>
              <a:rPr lang="en-US" b="1" dirty="0"/>
              <a:t>Illustration below summarizes the differences between stock dividends and stock splits:</a:t>
            </a:r>
          </a:p>
        </p:txBody>
      </p:sp>
    </p:spTree>
    <p:extLst>
      <p:ext uri="{BB962C8B-B14F-4D97-AF65-F5344CB8AC3E}">
        <p14:creationId xmlns:p14="http://schemas.microsoft.com/office/powerpoint/2010/main" val="98319217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DC0C0F-CD6E-447E-80E0-C03D2C85E06A}"/>
              </a:ext>
            </a:extLst>
          </p:cNvPr>
          <p:cNvSpPr>
            <a:spLocks noGrp="1"/>
          </p:cNvSpPr>
          <p:nvPr>
            <p:ph type="title"/>
          </p:nvPr>
        </p:nvSpPr>
        <p:spPr/>
        <p:txBody>
          <a:bodyPr>
            <a:normAutofit fontScale="90000"/>
          </a:bodyPr>
          <a:lstStyle/>
          <a:p>
            <a:r>
              <a:rPr lang="en-US" b="1" dirty="0">
                <a:ea typeface="Source Sans Pro" charset="0"/>
              </a:rPr>
              <a:t>Statement Presentation of Stockholders’ Equity </a:t>
            </a:r>
            <a:r>
              <a:rPr lang="en-US" sz="2700" dirty="0">
                <a:ea typeface="Source Sans Pro" charset="0"/>
              </a:rPr>
              <a:t>(1 of 2)</a:t>
            </a:r>
            <a:endParaRPr lang="en-US" sz="2700" dirty="0"/>
          </a:p>
        </p:txBody>
      </p:sp>
      <p:sp>
        <p:nvSpPr>
          <p:cNvPr id="3" name="Content Placeholder 2">
            <a:extLst>
              <a:ext uri="{FF2B5EF4-FFF2-40B4-BE49-F238E27FC236}">
                <a16:creationId xmlns:a16="http://schemas.microsoft.com/office/drawing/2014/main" id="{0614F26E-92C7-4D19-9CA8-3CCDDEC5438D}"/>
              </a:ext>
            </a:extLst>
          </p:cNvPr>
          <p:cNvSpPr>
            <a:spLocks noGrp="1"/>
          </p:cNvSpPr>
          <p:nvPr>
            <p:ph sz="quarter" idx="16"/>
          </p:nvPr>
        </p:nvSpPr>
        <p:spPr>
          <a:xfrm>
            <a:off x="304800" y="1905000"/>
            <a:ext cx="8534400" cy="3505200"/>
          </a:xfrm>
        </p:spPr>
        <p:txBody>
          <a:bodyPr/>
          <a:lstStyle/>
          <a:p>
            <a:r>
              <a:rPr lang="en-US" sz="2600" dirty="0"/>
              <a:t>Companies report </a:t>
            </a:r>
            <a:r>
              <a:rPr lang="en-US" sz="2600" b="1" dirty="0"/>
              <a:t>paid-in capital </a:t>
            </a:r>
            <a:r>
              <a:rPr lang="en-US" sz="2600" dirty="0"/>
              <a:t>and </a:t>
            </a:r>
            <a:r>
              <a:rPr lang="en-US" sz="2600" b="1" dirty="0"/>
              <a:t>retained earnings </a:t>
            </a:r>
            <a:r>
              <a:rPr lang="en-US" sz="2600" dirty="0"/>
              <a:t>in the stockholders’ equity section of the balance sheet. Paid-in capital includes:</a:t>
            </a:r>
          </a:p>
          <a:p>
            <a:pPr marL="402336" indent="-402336">
              <a:buClr>
                <a:schemeClr val="accent2"/>
              </a:buClr>
              <a:buAutoNum type="arabicPeriod"/>
            </a:pPr>
            <a:r>
              <a:rPr lang="en-US" sz="2600" b="1" dirty="0"/>
              <a:t>Capital stock. </a:t>
            </a:r>
            <a:r>
              <a:rPr lang="en-US" sz="2600" dirty="0"/>
              <a:t>Preferred stock appears before common stock because of its preferential rights. Companies report par value, shares authorized, shares issued, and shares outstanding for each class of stock.</a:t>
            </a:r>
          </a:p>
          <a:p>
            <a:pPr marL="402336" indent="-402336">
              <a:buClr>
                <a:schemeClr val="accent2"/>
              </a:buClr>
              <a:buAutoNum type="arabicPeriod"/>
            </a:pPr>
            <a:r>
              <a:rPr lang="en-US" sz="2600" b="1" dirty="0"/>
              <a:t>Additional paid-in capital. </a:t>
            </a:r>
            <a:r>
              <a:rPr lang="en-US" sz="2600" dirty="0"/>
              <a:t>Excess amounts paid in over par or stated value and paid-in capital from treasury stock.</a:t>
            </a:r>
            <a:endParaRPr lang="en-US" altLang="en-US" sz="2600" dirty="0"/>
          </a:p>
        </p:txBody>
      </p:sp>
      <p:sp>
        <p:nvSpPr>
          <p:cNvPr id="4" name="Slide Number Placeholder 3">
            <a:extLst>
              <a:ext uri="{FF2B5EF4-FFF2-40B4-BE49-F238E27FC236}">
                <a16:creationId xmlns:a16="http://schemas.microsoft.com/office/drawing/2014/main" id="{74908C31-A622-4F77-9645-8F2DCDE27078}"/>
              </a:ext>
            </a:extLst>
          </p:cNvPr>
          <p:cNvSpPr>
            <a:spLocks noGrp="1"/>
          </p:cNvSpPr>
          <p:nvPr>
            <p:ph type="sldNum" sz="quarter" idx="10"/>
          </p:nvPr>
        </p:nvSpPr>
        <p:spPr/>
        <p:txBody>
          <a:bodyPr/>
          <a:lstStyle/>
          <a:p>
            <a:fld id="{67B19427-F580-D146-B60E-4CADEE75497F}" type="slidenum">
              <a:rPr lang="en-US" smtClean="0"/>
              <a:pPr/>
              <a:t>52</a:t>
            </a:fld>
            <a:endParaRPr lang="en-US" dirty="0"/>
          </a:p>
        </p:txBody>
      </p:sp>
      <p:sp>
        <p:nvSpPr>
          <p:cNvPr id="5" name="Footer Placeholder 4">
            <a:extLst>
              <a:ext uri="{FF2B5EF4-FFF2-40B4-BE49-F238E27FC236}">
                <a16:creationId xmlns:a16="http://schemas.microsoft.com/office/drawing/2014/main" id="{FB3C6774-F005-4638-85F0-89AFBA38A388}"/>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319854324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DC0C0F-CD6E-447E-80E0-C03D2C85E06A}"/>
              </a:ext>
            </a:extLst>
          </p:cNvPr>
          <p:cNvSpPr>
            <a:spLocks noGrp="1"/>
          </p:cNvSpPr>
          <p:nvPr>
            <p:ph type="title"/>
          </p:nvPr>
        </p:nvSpPr>
        <p:spPr>
          <a:xfrm>
            <a:off x="76200" y="501650"/>
            <a:ext cx="8991600" cy="488950"/>
          </a:xfrm>
        </p:spPr>
        <p:txBody>
          <a:bodyPr>
            <a:noAutofit/>
          </a:bodyPr>
          <a:lstStyle/>
          <a:p>
            <a:r>
              <a:rPr lang="en-US" sz="3200" b="1" dirty="0">
                <a:ea typeface="Source Sans Pro" charset="0"/>
              </a:rPr>
              <a:t>Statement Presentation of Stockholders’ Equity </a:t>
            </a:r>
            <a:r>
              <a:rPr lang="en-US" sz="2000" dirty="0">
                <a:ea typeface="Source Sans Pro" charset="0"/>
              </a:rPr>
              <a:t>(2 of 2)</a:t>
            </a:r>
            <a:endParaRPr lang="en-US" sz="2000" dirty="0"/>
          </a:p>
        </p:txBody>
      </p:sp>
      <p:sp>
        <p:nvSpPr>
          <p:cNvPr id="4" name="Slide Number Placeholder 3">
            <a:extLst>
              <a:ext uri="{FF2B5EF4-FFF2-40B4-BE49-F238E27FC236}">
                <a16:creationId xmlns:a16="http://schemas.microsoft.com/office/drawing/2014/main" id="{74908C31-A622-4F77-9645-8F2DCDE27078}"/>
              </a:ext>
            </a:extLst>
          </p:cNvPr>
          <p:cNvSpPr>
            <a:spLocks noGrp="1"/>
          </p:cNvSpPr>
          <p:nvPr>
            <p:ph type="sldNum" sz="quarter" idx="10"/>
          </p:nvPr>
        </p:nvSpPr>
        <p:spPr/>
        <p:txBody>
          <a:bodyPr/>
          <a:lstStyle/>
          <a:p>
            <a:fld id="{67B19427-F580-D146-B60E-4CADEE75497F}" type="slidenum">
              <a:rPr lang="en-US" smtClean="0"/>
              <a:pPr/>
              <a:t>53</a:t>
            </a:fld>
            <a:endParaRPr lang="en-US" dirty="0"/>
          </a:p>
        </p:txBody>
      </p:sp>
      <p:sp>
        <p:nvSpPr>
          <p:cNvPr id="5" name="Footer Placeholder 4">
            <a:extLst>
              <a:ext uri="{FF2B5EF4-FFF2-40B4-BE49-F238E27FC236}">
                <a16:creationId xmlns:a16="http://schemas.microsoft.com/office/drawing/2014/main" id="{FB3C6774-F005-4638-85F0-89AFBA38A388}"/>
              </a:ext>
            </a:extLst>
          </p:cNvPr>
          <p:cNvSpPr>
            <a:spLocks noGrp="1"/>
          </p:cNvSpPr>
          <p:nvPr>
            <p:ph type="ftr" sz="quarter" idx="11"/>
          </p:nvPr>
        </p:nvSpPr>
        <p:spPr/>
        <p:txBody>
          <a:bodyPr/>
          <a:lstStyle/>
          <a:p>
            <a:r>
              <a:rPr lang="en-US"/>
              <a:t>Copyright ©2018 John Wiley &amp; Sons, Inc. </a:t>
            </a:r>
            <a:endParaRPr lang="en-US" dirty="0"/>
          </a:p>
        </p:txBody>
      </p:sp>
      <p:grpSp>
        <p:nvGrpSpPr>
          <p:cNvPr id="11" name="Group 10">
            <a:extLst>
              <a:ext uri="{FF2B5EF4-FFF2-40B4-BE49-F238E27FC236}">
                <a16:creationId xmlns:a16="http://schemas.microsoft.com/office/drawing/2014/main" id="{EC07A80A-1F9B-4D9C-BE4C-2C25227E5717}"/>
              </a:ext>
            </a:extLst>
          </p:cNvPr>
          <p:cNvGrpSpPr/>
          <p:nvPr/>
        </p:nvGrpSpPr>
        <p:grpSpPr>
          <a:xfrm>
            <a:off x="880229" y="990600"/>
            <a:ext cx="7383541" cy="5365750"/>
            <a:chOff x="880229" y="990600"/>
            <a:chExt cx="7383541" cy="5365750"/>
          </a:xfrm>
        </p:grpSpPr>
        <p:pic>
          <p:nvPicPr>
            <p:cNvPr id="8" name="Content Placeholder 8" descr="An illustration of a partial balance sheet. The statement displays a two-line heading consisting of the name of the company, Graber Incorporated and the type of statement, balance sheet, partial. The statement has 3 columns, the first displaying account names and the other two displaying the respective amounts. The portion under the title is labeled as: stockholders’ equity. It has four sections. The first section, paid-in capital, is indented slightly in the first column. It contains two subsections. The first subsection, capital stock, is slightly indented in the first column. Immediately under this is the following account name that is further indented, and the respective amount appears in the second numeric column: 9% preferred stock, $100 par value, cumulative, 10,000 shares authorized, 6,000 shares issued and outstanding, $600,000, displayed in the second numeric column. Common stock, no par, $5 stated value, 500,000 shares authorized, 400,000 shares issued, and 390,000 outstanding, 2,000,000, displayed in the first numeric column. The common stock dividends distributable is 50,000 highlighted in red, and displayed in the first numeric column. The total common stock is 2,050,000 displayed in the second numeric column of common stock dividends distributable. The amounts are totaled as $2,650,000 which is displayed in the second numeric column with the label total capital stock. The second subsection, additional paid-in capital, is slightly indented in the first column. Immediately under this is the following account name that is further indented, and the respective amounts appear in the first numeric column: in excess of par, preferred stock, $30,000; in excess of stated value, common stock, 1,050,000. Both the amounts are totaled as $1,080,000 which is displayed in the second numeric column with the label total additional paid-in capital. Both the amounts of the subsection are totaled as 3,730,000 which is displayed in the second numeric column with the label total paid-in capital. The second section, retained earnings, is indented slightly in the first column and the value in the second numeric column is: $1,150,000. The total of the paid-in capital and retained earnings is 4,880,000 which is displayed in the second numeric column. After subtracting treasury stock of 10,000 common shares, indented slightly in the first column, the value in the second numeric column is 80,000. The amounts of the sections are totaled as $4,800,000, double underlined which is displayed in the second numeric column with the label total stockholders’ equity.&#10;">
              <a:extLst>
                <a:ext uri="{FF2B5EF4-FFF2-40B4-BE49-F238E27FC236}">
                  <a16:creationId xmlns:a16="http://schemas.microsoft.com/office/drawing/2014/main" id="{C0401447-B7EC-4F5D-903F-477B9846A5A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0229" y="990600"/>
              <a:ext cx="7383541" cy="5365750"/>
            </a:xfrm>
            <a:prstGeom prst="rect">
              <a:avLst/>
            </a:prstGeom>
          </p:spPr>
        </p:pic>
        <p:cxnSp>
          <p:nvCxnSpPr>
            <p:cNvPr id="9" name="Straight Connector 8">
              <a:extLst>
                <a:ext uri="{FF2B5EF4-FFF2-40B4-BE49-F238E27FC236}">
                  <a16:creationId xmlns:a16="http://schemas.microsoft.com/office/drawing/2014/main" id="{BBC07F1A-DDBB-4B1D-83CA-68BAA6388969}"/>
                </a:ext>
              </a:extLst>
            </p:cNvPr>
            <p:cNvCxnSpPr/>
            <p:nvPr/>
          </p:nvCxnSpPr>
          <p:spPr>
            <a:xfrm flipH="1">
              <a:off x="2533650" y="5257800"/>
              <a:ext cx="990600" cy="0"/>
            </a:xfrm>
            <a:prstGeom prst="line">
              <a:avLst/>
            </a:prstGeom>
            <a:ln w="76200"/>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119149962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7AFBC4-A6AB-4C7E-A4FF-BB84462AA4F6}"/>
              </a:ext>
            </a:extLst>
          </p:cNvPr>
          <p:cNvSpPr>
            <a:spLocks noGrp="1"/>
          </p:cNvSpPr>
          <p:nvPr>
            <p:ph type="title"/>
          </p:nvPr>
        </p:nvSpPr>
        <p:spPr>
          <a:xfrm>
            <a:off x="114300" y="486563"/>
            <a:ext cx="8534400" cy="624417"/>
          </a:xfrm>
        </p:spPr>
        <p:txBody>
          <a:bodyPr>
            <a:normAutofit fontScale="90000"/>
          </a:bodyPr>
          <a:lstStyle/>
          <a:p>
            <a:r>
              <a:rPr lang="en-US" b="1" dirty="0">
                <a:latin typeface="Calibri" panose="020F0502020204030204" pitchFamily="34" charset="0"/>
                <a:ea typeface="Source Sans Pro" charset="0"/>
                <a:cs typeface="Calibri" panose="020F0502020204030204" pitchFamily="34" charset="0"/>
              </a:rPr>
              <a:t>Analysis of Stockholders’ Equity</a:t>
            </a:r>
            <a:endParaRPr lang="en-US" sz="2400" b="1" dirty="0"/>
          </a:p>
        </p:txBody>
      </p:sp>
      <p:sp>
        <p:nvSpPr>
          <p:cNvPr id="3" name="Content Placeholder 2">
            <a:extLst>
              <a:ext uri="{FF2B5EF4-FFF2-40B4-BE49-F238E27FC236}">
                <a16:creationId xmlns:a16="http://schemas.microsoft.com/office/drawing/2014/main" id="{3511877D-0BD6-4EF6-ACA1-144395ECFD33}"/>
              </a:ext>
            </a:extLst>
          </p:cNvPr>
          <p:cNvSpPr>
            <a:spLocks noGrp="1"/>
          </p:cNvSpPr>
          <p:nvPr>
            <p:ph sz="quarter" idx="16"/>
          </p:nvPr>
        </p:nvSpPr>
        <p:spPr>
          <a:xfrm>
            <a:off x="114300" y="1110980"/>
            <a:ext cx="8768118" cy="3918220"/>
          </a:xfrm>
        </p:spPr>
        <p:txBody>
          <a:bodyPr/>
          <a:lstStyle/>
          <a:p>
            <a:pPr marL="4763" lvl="1" indent="0">
              <a:spcBef>
                <a:spcPts val="1000"/>
              </a:spcBef>
              <a:buFont typeface="Wingdings" pitchFamily="2" charset="2"/>
              <a:buNone/>
            </a:pPr>
            <a:r>
              <a:rPr lang="en-US" altLang="en-US" b="1" dirty="0"/>
              <a:t>Payout Ratio</a:t>
            </a:r>
          </a:p>
          <a:p>
            <a:pPr marL="291600" lvl="1" indent="-291600">
              <a:spcBef>
                <a:spcPts val="1000"/>
              </a:spcBef>
              <a:buClr>
                <a:srgbClr val="800000"/>
              </a:buClr>
              <a:buSzPct val="100000"/>
            </a:pPr>
            <a:r>
              <a:rPr lang="en-US" dirty="0"/>
              <a:t>One way that companies reward stock investors for their investment is to pay them dividends. </a:t>
            </a:r>
          </a:p>
          <a:p>
            <a:pPr marL="291600" lvl="1" indent="-291600">
              <a:spcBef>
                <a:spcPts val="1000"/>
              </a:spcBef>
              <a:buClr>
                <a:srgbClr val="800000"/>
              </a:buClr>
              <a:buSzPct val="100000"/>
            </a:pPr>
            <a:r>
              <a:rPr lang="en-US" dirty="0"/>
              <a:t>The </a:t>
            </a:r>
            <a:r>
              <a:rPr lang="en-US" b="1" dirty="0"/>
              <a:t>payout ratio </a:t>
            </a:r>
            <a:r>
              <a:rPr lang="en-US" dirty="0"/>
              <a:t>measures the percentage of earnings </a:t>
            </a:r>
            <a:r>
              <a:rPr lang="en-US" i="1" dirty="0"/>
              <a:t>(net income) </a:t>
            </a:r>
            <a:r>
              <a:rPr lang="en-US" dirty="0"/>
              <a:t>a company distributes in the form of cash dividends to common stockholders. </a:t>
            </a:r>
          </a:p>
          <a:p>
            <a:pPr marL="291600" lvl="1" indent="-291600">
              <a:spcBef>
                <a:spcPts val="1000"/>
              </a:spcBef>
              <a:buClr>
                <a:srgbClr val="800000"/>
              </a:buClr>
              <a:buSzPct val="100000"/>
            </a:pPr>
            <a:r>
              <a:rPr lang="en-US" dirty="0"/>
              <a:t>It is computed by dividing total cash dividends declared to common shareholders by net income.</a:t>
            </a:r>
          </a:p>
          <a:p>
            <a:pPr marL="291600" lvl="1" indent="-291600">
              <a:spcBef>
                <a:spcPts val="1000"/>
              </a:spcBef>
              <a:buClr>
                <a:srgbClr val="800000"/>
              </a:buClr>
              <a:buSzPct val="100000"/>
            </a:pPr>
            <a:r>
              <a:rPr lang="en-US" dirty="0"/>
              <a:t>To illustrate, Nike’s dividends were recently $821 million and net income was $2,693 million.</a:t>
            </a:r>
          </a:p>
        </p:txBody>
      </p:sp>
      <p:sp>
        <p:nvSpPr>
          <p:cNvPr id="5" name="Slide Number Placeholder 4">
            <a:extLst>
              <a:ext uri="{FF2B5EF4-FFF2-40B4-BE49-F238E27FC236}">
                <a16:creationId xmlns:a16="http://schemas.microsoft.com/office/drawing/2014/main" id="{943F50A9-9BB6-4060-82CA-3AFC9A4DDA6F}"/>
              </a:ext>
            </a:extLst>
          </p:cNvPr>
          <p:cNvSpPr>
            <a:spLocks noGrp="1"/>
          </p:cNvSpPr>
          <p:nvPr>
            <p:ph type="sldNum" sz="quarter" idx="10"/>
          </p:nvPr>
        </p:nvSpPr>
        <p:spPr/>
        <p:txBody>
          <a:bodyPr/>
          <a:lstStyle/>
          <a:p>
            <a:fld id="{67B19427-F580-D146-B60E-4CADEE75497F}" type="slidenum">
              <a:rPr lang="en-US" smtClean="0"/>
              <a:pPr/>
              <a:t>54</a:t>
            </a:fld>
            <a:endParaRPr lang="en-US" dirty="0"/>
          </a:p>
        </p:txBody>
      </p:sp>
      <p:sp>
        <p:nvSpPr>
          <p:cNvPr id="6" name="Footer Placeholder 5">
            <a:extLst>
              <a:ext uri="{FF2B5EF4-FFF2-40B4-BE49-F238E27FC236}">
                <a16:creationId xmlns:a16="http://schemas.microsoft.com/office/drawing/2014/main" id="{644BCFFD-E4CF-4492-B746-590AD4266178}"/>
              </a:ext>
            </a:extLst>
          </p:cNvPr>
          <p:cNvSpPr>
            <a:spLocks noGrp="1"/>
          </p:cNvSpPr>
          <p:nvPr>
            <p:ph type="ftr" sz="quarter" idx="11"/>
          </p:nvPr>
        </p:nvSpPr>
        <p:spPr/>
        <p:txBody>
          <a:bodyPr/>
          <a:lstStyle/>
          <a:p>
            <a:r>
              <a:rPr lang="en-US"/>
              <a:t>Copyright ©2018 John Wiley &amp; Sons, Inc. </a:t>
            </a:r>
            <a:endParaRPr lang="en-US" dirty="0"/>
          </a:p>
        </p:txBody>
      </p:sp>
      <p:pic>
        <p:nvPicPr>
          <p:cNvPr id="11" name="Picture 10">
            <a:extLst>
              <a:ext uri="{FF2B5EF4-FFF2-40B4-BE49-F238E27FC236}">
                <a16:creationId xmlns:a16="http://schemas.microsoft.com/office/drawing/2014/main" id="{0AB4CFBA-6487-47C5-A558-940D521BBC8C}"/>
              </a:ext>
            </a:extLst>
          </p:cNvPr>
          <p:cNvPicPr>
            <a:picLocks noChangeAspect="1"/>
          </p:cNvPicPr>
          <p:nvPr/>
        </p:nvPicPr>
        <p:blipFill>
          <a:blip r:embed="rId3"/>
          <a:stretch>
            <a:fillRect/>
          </a:stretch>
        </p:blipFill>
        <p:spPr>
          <a:xfrm>
            <a:off x="444460" y="5302785"/>
            <a:ext cx="8255080" cy="888470"/>
          </a:xfrm>
          <a:prstGeom prst="rect">
            <a:avLst/>
          </a:prstGeom>
        </p:spPr>
      </p:pic>
    </p:spTree>
    <p:extLst>
      <p:ext uri="{BB962C8B-B14F-4D97-AF65-F5344CB8AC3E}">
        <p14:creationId xmlns:p14="http://schemas.microsoft.com/office/powerpoint/2010/main" val="302406254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943F50A9-9BB6-4060-82CA-3AFC9A4DDA6F}"/>
              </a:ext>
            </a:extLst>
          </p:cNvPr>
          <p:cNvSpPr>
            <a:spLocks noGrp="1"/>
          </p:cNvSpPr>
          <p:nvPr>
            <p:ph type="sldNum" sz="quarter" idx="10"/>
          </p:nvPr>
        </p:nvSpPr>
        <p:spPr/>
        <p:txBody>
          <a:bodyPr/>
          <a:lstStyle/>
          <a:p>
            <a:fld id="{67B19427-F580-D146-B60E-4CADEE75497F}" type="slidenum">
              <a:rPr lang="en-US" smtClean="0"/>
              <a:pPr/>
              <a:t>55</a:t>
            </a:fld>
            <a:endParaRPr lang="en-US" dirty="0"/>
          </a:p>
        </p:txBody>
      </p:sp>
      <p:sp>
        <p:nvSpPr>
          <p:cNvPr id="13" name="Title 1">
            <a:extLst>
              <a:ext uri="{FF2B5EF4-FFF2-40B4-BE49-F238E27FC236}">
                <a16:creationId xmlns:a16="http://schemas.microsoft.com/office/drawing/2014/main" id="{9E1D893D-FD34-4778-A56E-501B7C3E5F10}"/>
              </a:ext>
            </a:extLst>
          </p:cNvPr>
          <p:cNvSpPr>
            <a:spLocks noGrp="1"/>
          </p:cNvSpPr>
          <p:nvPr>
            <p:ph type="title"/>
          </p:nvPr>
        </p:nvSpPr>
        <p:spPr>
          <a:xfrm>
            <a:off x="114300" y="486563"/>
            <a:ext cx="8534400" cy="624417"/>
          </a:xfrm>
        </p:spPr>
        <p:txBody>
          <a:bodyPr>
            <a:normAutofit fontScale="90000"/>
          </a:bodyPr>
          <a:lstStyle/>
          <a:p>
            <a:r>
              <a:rPr lang="en-US" b="1" dirty="0">
                <a:latin typeface="Calibri" panose="020F0502020204030204" pitchFamily="34" charset="0"/>
                <a:ea typeface="Source Sans Pro" charset="0"/>
                <a:cs typeface="Calibri" panose="020F0502020204030204" pitchFamily="34" charset="0"/>
              </a:rPr>
              <a:t>Analysis of Stockholders’ Equity</a:t>
            </a:r>
            <a:endParaRPr lang="en-US" sz="2400" b="1" dirty="0"/>
          </a:p>
        </p:txBody>
      </p:sp>
      <p:sp>
        <p:nvSpPr>
          <p:cNvPr id="22" name="Content Placeholder 2">
            <a:extLst>
              <a:ext uri="{FF2B5EF4-FFF2-40B4-BE49-F238E27FC236}">
                <a16:creationId xmlns:a16="http://schemas.microsoft.com/office/drawing/2014/main" id="{BD8125F3-A076-452B-BE71-8BFB12091210}"/>
              </a:ext>
            </a:extLst>
          </p:cNvPr>
          <p:cNvSpPr>
            <a:spLocks noGrp="1"/>
          </p:cNvSpPr>
          <p:nvPr>
            <p:ph sz="quarter" idx="16"/>
          </p:nvPr>
        </p:nvSpPr>
        <p:spPr>
          <a:xfrm>
            <a:off x="114300" y="990600"/>
            <a:ext cx="8915400" cy="4191000"/>
          </a:xfrm>
        </p:spPr>
        <p:txBody>
          <a:bodyPr/>
          <a:lstStyle/>
          <a:p>
            <a:pPr marL="4763" lvl="1" indent="0">
              <a:spcBef>
                <a:spcPts val="1000"/>
              </a:spcBef>
              <a:buFont typeface="Wingdings" pitchFamily="2" charset="2"/>
              <a:buNone/>
            </a:pPr>
            <a:r>
              <a:rPr lang="en-US" altLang="en-US" sz="2100" b="1" dirty="0">
                <a:latin typeface="Calibri" panose="020F0502020204030204" pitchFamily="34" charset="0"/>
              </a:rPr>
              <a:t>Return on Common Stockholders’ Equity</a:t>
            </a:r>
          </a:p>
          <a:p>
            <a:pPr marL="291600" lvl="1" indent="-291600">
              <a:spcBef>
                <a:spcPts val="1000"/>
              </a:spcBef>
              <a:buClr>
                <a:srgbClr val="800000"/>
              </a:buClr>
              <a:buSzPct val="100000"/>
            </a:pPr>
            <a:r>
              <a:rPr lang="en-US" sz="2100" dirty="0"/>
              <a:t>Investors and analysts can measure profitability from the viewpoint of the common stockholder by the </a:t>
            </a:r>
            <a:r>
              <a:rPr lang="en-US" sz="2100" b="1" dirty="0"/>
              <a:t>return on common stockholders’ equity</a:t>
            </a:r>
            <a:r>
              <a:rPr lang="en-US" sz="2100" dirty="0"/>
              <a:t>.</a:t>
            </a:r>
          </a:p>
          <a:p>
            <a:pPr marL="291600" lvl="1" indent="-291600">
              <a:spcBef>
                <a:spcPts val="1000"/>
              </a:spcBef>
              <a:buClr>
                <a:srgbClr val="800000"/>
              </a:buClr>
              <a:buSzPct val="100000"/>
            </a:pPr>
            <a:r>
              <a:rPr lang="en-US" sz="2100" dirty="0"/>
              <a:t>This ratio indicates how many dollars of net income the company earned for each dollar invested by the common stockholders.</a:t>
            </a:r>
          </a:p>
          <a:p>
            <a:pPr marL="291600" lvl="1" indent="-291600">
              <a:spcBef>
                <a:spcPts val="1000"/>
              </a:spcBef>
              <a:buClr>
                <a:srgbClr val="800000"/>
              </a:buClr>
              <a:buSzPct val="100000"/>
            </a:pPr>
            <a:r>
              <a:rPr lang="en-US" sz="2100" dirty="0"/>
              <a:t>It is computed by dividing net income available to common stockholders (i.e. net income minus preferred stock dividends) by average common stockholders’ equity (i.e. average of beginning and ending common stockholders’ equity).</a:t>
            </a:r>
          </a:p>
          <a:p>
            <a:pPr marL="291600" lvl="1" indent="-291600">
              <a:spcBef>
                <a:spcPts val="1000"/>
              </a:spcBef>
              <a:buClr>
                <a:srgbClr val="800000"/>
              </a:buClr>
              <a:buSzPct val="100000"/>
            </a:pPr>
            <a:r>
              <a:rPr lang="en-US" sz="2100" dirty="0"/>
              <a:t>To illustrate, Walt Disney Company’s beginning and ending common stockholders’ equity were $31,820 and $30,753 million, respectively. Net income was $4,687 million, no preferred stock.</a:t>
            </a:r>
          </a:p>
        </p:txBody>
      </p:sp>
      <p:pic>
        <p:nvPicPr>
          <p:cNvPr id="23" name="Picture 22">
            <a:extLst>
              <a:ext uri="{FF2B5EF4-FFF2-40B4-BE49-F238E27FC236}">
                <a16:creationId xmlns:a16="http://schemas.microsoft.com/office/drawing/2014/main" id="{D8D4AC36-FC16-4E3D-A051-5235DCA84BC4}"/>
              </a:ext>
            </a:extLst>
          </p:cNvPr>
          <p:cNvPicPr>
            <a:picLocks noChangeAspect="1"/>
          </p:cNvPicPr>
          <p:nvPr/>
        </p:nvPicPr>
        <p:blipFill>
          <a:blip r:embed="rId3"/>
          <a:stretch>
            <a:fillRect/>
          </a:stretch>
        </p:blipFill>
        <p:spPr>
          <a:xfrm>
            <a:off x="847543" y="5105400"/>
            <a:ext cx="7067913" cy="1378021"/>
          </a:xfrm>
          <a:prstGeom prst="rect">
            <a:avLst/>
          </a:prstGeom>
        </p:spPr>
      </p:pic>
    </p:spTree>
    <p:extLst>
      <p:ext uri="{BB962C8B-B14F-4D97-AF65-F5344CB8AC3E}">
        <p14:creationId xmlns:p14="http://schemas.microsoft.com/office/powerpoint/2010/main" val="132560258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762001"/>
            <a:ext cx="8534400" cy="1034129"/>
          </a:xfrm>
        </p:spPr>
        <p:txBody>
          <a:bodyPr>
            <a:spAutoFit/>
          </a:bodyPr>
          <a:lstStyle/>
          <a:p>
            <a:r>
              <a:rPr lang="en-US" b="0" dirty="0">
                <a:solidFill>
                  <a:srgbClr val="FF0000"/>
                </a:solidFill>
              </a:rPr>
              <a:t>DO IT AT HOME: </a:t>
            </a:r>
            <a:r>
              <a:rPr lang="en-US" sz="2800" noProof="0" dirty="0">
                <a:solidFill>
                  <a:schemeClr val="tx1"/>
                </a:solidFill>
              </a:rPr>
              <a:t>Rate of Return on Common Stockholders’ Equity</a:t>
            </a:r>
            <a:endParaRPr lang="en-US" sz="2800" b="0" noProof="0" dirty="0">
              <a:solidFill>
                <a:srgbClr val="990000"/>
              </a:solidFill>
            </a:endParaRPr>
          </a:p>
        </p:txBody>
      </p:sp>
      <p:sp>
        <p:nvSpPr>
          <p:cNvPr id="9" name="Content Placeholder 8">
            <a:extLst>
              <a:ext uri="{FF2B5EF4-FFF2-40B4-BE49-F238E27FC236}">
                <a16:creationId xmlns:a16="http://schemas.microsoft.com/office/drawing/2014/main" id="{DDAC5CB2-627A-459E-8BB3-E4ECBB46DB64}"/>
              </a:ext>
            </a:extLst>
          </p:cNvPr>
          <p:cNvSpPr>
            <a:spLocks noGrp="1"/>
          </p:cNvSpPr>
          <p:nvPr>
            <p:ph sz="quarter" idx="16"/>
          </p:nvPr>
        </p:nvSpPr>
        <p:spPr>
          <a:xfrm>
            <a:off x="304800" y="1845935"/>
            <a:ext cx="8534400" cy="1203590"/>
          </a:xfrm>
        </p:spPr>
        <p:txBody>
          <a:bodyPr>
            <a:noAutofit/>
          </a:bodyPr>
          <a:lstStyle/>
          <a:p>
            <a:pPr>
              <a:lnSpc>
                <a:spcPct val="100000"/>
              </a:lnSpc>
            </a:pPr>
            <a:r>
              <a:rPr lang="en-US" sz="2400" b="1" noProof="0" dirty="0"/>
              <a:t>Illustration:</a:t>
            </a:r>
            <a:r>
              <a:rPr lang="en-US" sz="2400" noProof="0" dirty="0"/>
              <a:t> </a:t>
            </a:r>
            <a:r>
              <a:rPr lang="en-US" sz="2400" dirty="0"/>
              <a:t>Gerbers </a:t>
            </a:r>
            <a:r>
              <a:rPr lang="en-US" sz="2400" noProof="0" dirty="0"/>
              <a:t>Inc. had net income of $360,000, declared and paid preferred dividends of $54,000, and average common stockholders’ equity of $2,550,000.</a:t>
            </a:r>
          </a:p>
        </p:txBody>
      </p:sp>
      <p:graphicFrame>
        <p:nvGraphicFramePr>
          <p:cNvPr id="12" name="Content Placeholder 11" descr="Rate of return on common stock equity = net income minus preferred dividends, over average common stockholders' equity end fraction">
            <a:extLst>
              <a:ext uri="{FF2B5EF4-FFF2-40B4-BE49-F238E27FC236}">
                <a16:creationId xmlns:a16="http://schemas.microsoft.com/office/drawing/2014/main" id="{FD4DFB6F-B33C-4C62-96F5-0A1B2740DB0A}"/>
              </a:ext>
            </a:extLst>
          </p:cNvPr>
          <p:cNvGraphicFramePr>
            <a:graphicFrameLocks noGrp="1" noChangeAspect="1"/>
          </p:cNvGraphicFramePr>
          <p:nvPr>
            <p:ph sz="quarter" idx="17"/>
          </p:nvPr>
        </p:nvGraphicFramePr>
        <p:xfrm>
          <a:off x="1990557" y="3257341"/>
          <a:ext cx="5162887" cy="1236618"/>
        </p:xfrm>
        <a:graphic>
          <a:graphicData uri="http://schemas.openxmlformats.org/presentationml/2006/ole">
            <mc:AlternateContent xmlns:mc="http://schemas.openxmlformats.org/markup-compatibility/2006">
              <mc:Choice xmlns:v="urn:schemas-microsoft-com:vml" Requires="v">
                <p:oleObj spid="_x0000_s15365" name="Equation" r:id="rId3" imgW="3022560" imgH="723600" progId="Equation.DSMT4">
                  <p:embed/>
                </p:oleObj>
              </mc:Choice>
              <mc:Fallback>
                <p:oleObj name="Equation" r:id="rId3" imgW="3022560" imgH="723600" progId="Equation.DSMT4">
                  <p:embed/>
                  <p:pic>
                    <p:nvPicPr>
                      <p:cNvPr id="12" name="Content Placeholder 11" descr="Rate of return on common stock equity = net income minus preferred dividends, over average common stockholders' equity end fraction">
                        <a:extLst>
                          <a:ext uri="{FF2B5EF4-FFF2-40B4-BE49-F238E27FC236}">
                            <a16:creationId xmlns:a16="http://schemas.microsoft.com/office/drawing/2014/main" id="{FD4DFB6F-B33C-4C62-96F5-0A1B2740DB0A}"/>
                          </a:ext>
                        </a:extLst>
                      </p:cNvPr>
                      <p:cNvPicPr/>
                      <p:nvPr/>
                    </p:nvPicPr>
                    <p:blipFill>
                      <a:blip r:embed="rId4"/>
                      <a:stretch>
                        <a:fillRect/>
                      </a:stretch>
                    </p:blipFill>
                    <p:spPr>
                      <a:xfrm>
                        <a:off x="1990557" y="3257341"/>
                        <a:ext cx="5162887" cy="1236618"/>
                      </a:xfrm>
                      <a:prstGeom prst="rect">
                        <a:avLst/>
                      </a:prstGeom>
                    </p:spPr>
                  </p:pic>
                </p:oleObj>
              </mc:Fallback>
            </mc:AlternateContent>
          </a:graphicData>
        </a:graphic>
      </p:graphicFrame>
      <p:graphicFrame>
        <p:nvGraphicFramePr>
          <p:cNvPr id="14" name="Content Placeholder 13" descr="= $360,000 minus $54,000, over $2,550,000">
            <a:extLst>
              <a:ext uri="{FF2B5EF4-FFF2-40B4-BE49-F238E27FC236}">
                <a16:creationId xmlns:a16="http://schemas.microsoft.com/office/drawing/2014/main" id="{374D5320-987B-4051-AA18-D4C9EE5CEBA4}"/>
              </a:ext>
            </a:extLst>
          </p:cNvPr>
          <p:cNvGraphicFramePr>
            <a:graphicFrameLocks noGrp="1" noChangeAspect="1"/>
          </p:cNvGraphicFramePr>
          <p:nvPr>
            <p:ph sz="quarter" idx="19"/>
          </p:nvPr>
        </p:nvGraphicFramePr>
        <p:xfrm>
          <a:off x="1990557" y="4805678"/>
          <a:ext cx="2707680" cy="776750"/>
        </p:xfrm>
        <a:graphic>
          <a:graphicData uri="http://schemas.openxmlformats.org/presentationml/2006/ole">
            <mc:AlternateContent xmlns:mc="http://schemas.openxmlformats.org/markup-compatibility/2006">
              <mc:Choice xmlns:v="urn:schemas-microsoft-com:vml" Requires="v">
                <p:oleObj spid="_x0000_s15366" name="Equation" r:id="rId5" imgW="1638000" imgH="469800" progId="Equation.DSMT4">
                  <p:embed/>
                </p:oleObj>
              </mc:Choice>
              <mc:Fallback>
                <p:oleObj name="Equation" r:id="rId5" imgW="1638000" imgH="469800" progId="Equation.DSMT4">
                  <p:embed/>
                  <p:pic>
                    <p:nvPicPr>
                      <p:cNvPr id="14" name="Content Placeholder 13" descr="= $360,000 minus $54,000, over $2,550,000">
                        <a:extLst>
                          <a:ext uri="{FF2B5EF4-FFF2-40B4-BE49-F238E27FC236}">
                            <a16:creationId xmlns:a16="http://schemas.microsoft.com/office/drawing/2014/main" id="{374D5320-987B-4051-AA18-D4C9EE5CEBA4}"/>
                          </a:ext>
                        </a:extLst>
                      </p:cNvPr>
                      <p:cNvPicPr/>
                      <p:nvPr/>
                    </p:nvPicPr>
                    <p:blipFill>
                      <a:blip r:embed="rId6"/>
                      <a:stretch>
                        <a:fillRect/>
                      </a:stretch>
                    </p:blipFill>
                    <p:spPr>
                      <a:xfrm>
                        <a:off x="1990557" y="4805678"/>
                        <a:ext cx="2707680" cy="776750"/>
                      </a:xfrm>
                      <a:prstGeom prst="rect">
                        <a:avLst/>
                      </a:prstGeom>
                    </p:spPr>
                  </p:pic>
                </p:oleObj>
              </mc:Fallback>
            </mc:AlternateContent>
          </a:graphicData>
        </a:graphic>
      </p:graphicFrame>
      <p:graphicFrame>
        <p:nvGraphicFramePr>
          <p:cNvPr id="15" name="Content Placeholder 14" descr="= 12%.">
            <a:extLst>
              <a:ext uri="{FF2B5EF4-FFF2-40B4-BE49-F238E27FC236}">
                <a16:creationId xmlns:a16="http://schemas.microsoft.com/office/drawing/2014/main" id="{6C40B074-8D78-4658-962E-72E927C60EDB}"/>
              </a:ext>
            </a:extLst>
          </p:cNvPr>
          <p:cNvGraphicFramePr>
            <a:graphicFrameLocks noGrp="1" noChangeAspect="1"/>
          </p:cNvGraphicFramePr>
          <p:nvPr>
            <p:ph sz="quarter" idx="18"/>
          </p:nvPr>
        </p:nvGraphicFramePr>
        <p:xfrm>
          <a:off x="1990557" y="5771018"/>
          <a:ext cx="775463" cy="314307"/>
        </p:xfrm>
        <a:graphic>
          <a:graphicData uri="http://schemas.openxmlformats.org/presentationml/2006/ole">
            <mc:AlternateContent xmlns:mc="http://schemas.openxmlformats.org/markup-compatibility/2006">
              <mc:Choice xmlns:v="urn:schemas-microsoft-com:vml" Requires="v">
                <p:oleObj spid="_x0000_s15367" name="Equation" r:id="rId7" imgW="469800" imgH="190440" progId="Equation.DSMT4">
                  <p:embed/>
                </p:oleObj>
              </mc:Choice>
              <mc:Fallback>
                <p:oleObj name="Equation" r:id="rId7" imgW="469800" imgH="190440" progId="Equation.DSMT4">
                  <p:embed/>
                  <p:pic>
                    <p:nvPicPr>
                      <p:cNvPr id="15" name="Content Placeholder 14" descr="= 12%.">
                        <a:extLst>
                          <a:ext uri="{FF2B5EF4-FFF2-40B4-BE49-F238E27FC236}">
                            <a16:creationId xmlns:a16="http://schemas.microsoft.com/office/drawing/2014/main" id="{6C40B074-8D78-4658-962E-72E927C60EDB}"/>
                          </a:ext>
                        </a:extLst>
                      </p:cNvPr>
                      <p:cNvPicPr/>
                      <p:nvPr/>
                    </p:nvPicPr>
                    <p:blipFill>
                      <a:blip r:embed="rId8"/>
                      <a:stretch>
                        <a:fillRect/>
                      </a:stretch>
                    </p:blipFill>
                    <p:spPr>
                      <a:xfrm>
                        <a:off x="1990557" y="5771018"/>
                        <a:ext cx="775463" cy="314307"/>
                      </a:xfrm>
                      <a:prstGeom prst="rect">
                        <a:avLst/>
                      </a:prstGeom>
                    </p:spPr>
                  </p:pic>
                </p:oleObj>
              </mc:Fallback>
            </mc:AlternateContent>
          </a:graphicData>
        </a:graphic>
      </p:graphicFrame>
      <p:sp>
        <p:nvSpPr>
          <p:cNvPr id="13" name="COB/LO">
            <a:extLst>
              <a:ext uri="{FF2B5EF4-FFF2-40B4-BE49-F238E27FC236}">
                <a16:creationId xmlns:a16="http://schemas.microsoft.com/office/drawing/2014/main" id="{86FD848B-592E-44B8-9630-BDF7B05BAF9E}"/>
              </a:ext>
            </a:extLst>
          </p:cNvPr>
          <p:cNvSpPr txBox="1">
            <a:spLocks noGrp="1"/>
          </p:cNvSpPr>
          <p:nvPr>
            <p:ph sz="quarter" idx="15"/>
          </p:nvPr>
        </p:nvSpPr>
        <p:spPr>
          <a:prstGeom prst="rect">
            <a:avLst/>
          </a:prstGeom>
          <a:noFill/>
        </p:spPr>
        <p:txBody>
          <a:bodyPr lIns="0" rIns="0">
            <a:spAutoFit/>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60325" lvl="1" indent="0">
              <a:lnSpc>
                <a:spcPct val="100000"/>
              </a:lnSpc>
              <a:spcBef>
                <a:spcPts val="1200"/>
              </a:spcBef>
              <a:buFont typeface="Arial"/>
              <a:buNone/>
            </a:pPr>
            <a:r>
              <a:rPr lang="en-US" sz="1200" noProof="0" dirty="0">
                <a:solidFill>
                  <a:srgbClr val="000000"/>
                </a:solidFill>
              </a:rPr>
              <a:t>LO 4</a:t>
            </a:r>
          </a:p>
        </p:txBody>
      </p:sp>
      <p:sp>
        <p:nvSpPr>
          <p:cNvPr id="4" name="Slide Number Placeholder 3"/>
          <p:cNvSpPr>
            <a:spLocks noGrp="1"/>
          </p:cNvSpPr>
          <p:nvPr>
            <p:ph type="sldNum" sz="quarter" idx="10"/>
          </p:nvPr>
        </p:nvSpPr>
        <p:spPr/>
        <p:txBody>
          <a:bodyPr/>
          <a:lstStyle/>
          <a:p>
            <a:fld id="{67B19427-F580-D146-B60E-4CADEE75497F}" type="slidenum">
              <a:rPr lang="en-US" smtClean="0">
                <a:solidFill>
                  <a:srgbClr val="000000"/>
                </a:solidFill>
              </a:rPr>
              <a:pPr/>
              <a:t>56</a:t>
            </a:fld>
            <a:endParaRPr lang="en-US" dirty="0">
              <a:solidFill>
                <a:srgbClr val="000000"/>
              </a:solidFill>
            </a:endParaRPr>
          </a:p>
        </p:txBody>
      </p:sp>
      <p:sp>
        <p:nvSpPr>
          <p:cNvPr id="5" name="Footer Placeholder 4"/>
          <p:cNvSpPr>
            <a:spLocks noGrp="1"/>
          </p:cNvSpPr>
          <p:nvPr>
            <p:ph type="ftr" sz="quarter" idx="11"/>
          </p:nvPr>
        </p:nvSpPr>
        <p:spPr/>
        <p:txBody>
          <a:bodyPr/>
          <a:lstStyle/>
          <a:p>
            <a:r>
              <a:rPr lang="en-US" dirty="0">
                <a:solidFill>
                  <a:srgbClr val="000000"/>
                </a:solidFill>
              </a:rPr>
              <a:t>Copyright ©2019 John Wiley &amp; Sons, Inc. </a:t>
            </a:r>
          </a:p>
        </p:txBody>
      </p:sp>
    </p:spTree>
    <p:extLst>
      <p:ext uri="{BB962C8B-B14F-4D97-AF65-F5344CB8AC3E}">
        <p14:creationId xmlns:p14="http://schemas.microsoft.com/office/powerpoint/2010/main" val="20831896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C125F2-05A1-418A-9593-636BE4F30A26}"/>
              </a:ext>
            </a:extLst>
          </p:cNvPr>
          <p:cNvSpPr>
            <a:spLocks noGrp="1"/>
          </p:cNvSpPr>
          <p:nvPr>
            <p:ph type="title"/>
          </p:nvPr>
        </p:nvSpPr>
        <p:spPr>
          <a:xfrm>
            <a:off x="304800" y="533400"/>
            <a:ext cx="8686800" cy="990600"/>
          </a:xfrm>
        </p:spPr>
        <p:txBody>
          <a:bodyPr>
            <a:normAutofit fontScale="90000"/>
          </a:bodyPr>
          <a:lstStyle/>
          <a:p>
            <a:r>
              <a:rPr lang="en-US" dirty="0">
                <a:ea typeface="Source Sans Pro" charset="0"/>
              </a:rPr>
              <a:t>Do It</a:t>
            </a:r>
            <a:r>
              <a:rPr lang="en-US" dirty="0">
                <a:solidFill>
                  <a:srgbClr val="FF0000"/>
                </a:solidFill>
              </a:rPr>
              <a:t> AT HOME</a:t>
            </a:r>
            <a:r>
              <a:rPr lang="en-US" dirty="0">
                <a:ea typeface="Source Sans Pro" charset="0"/>
              </a:rPr>
              <a:t>! 2: </a:t>
            </a:r>
            <a:r>
              <a:rPr lang="en-US" dirty="0">
                <a:solidFill>
                  <a:srgbClr val="196E78"/>
                </a:solidFill>
                <a:ea typeface="Source Sans Pro" charset="0"/>
              </a:rPr>
              <a:t>Analyzing Stockholders’ Equity </a:t>
            </a:r>
            <a:r>
              <a:rPr lang="en-US" sz="2700" b="0" dirty="0">
                <a:solidFill>
                  <a:srgbClr val="196E78"/>
                </a:solidFill>
                <a:ea typeface="Source Sans Pro" charset="0"/>
              </a:rPr>
              <a:t>(1 of 3)</a:t>
            </a:r>
            <a:endParaRPr lang="en-US" sz="2700" b="0" dirty="0"/>
          </a:p>
        </p:txBody>
      </p:sp>
      <p:sp>
        <p:nvSpPr>
          <p:cNvPr id="3" name="Content Placeholder 2">
            <a:extLst>
              <a:ext uri="{FF2B5EF4-FFF2-40B4-BE49-F238E27FC236}">
                <a16:creationId xmlns:a16="http://schemas.microsoft.com/office/drawing/2014/main" id="{CD0D9BA0-43CF-4278-A425-3A45A890BBAA}"/>
              </a:ext>
            </a:extLst>
          </p:cNvPr>
          <p:cNvSpPr>
            <a:spLocks noGrp="1"/>
          </p:cNvSpPr>
          <p:nvPr>
            <p:ph sz="quarter" idx="16"/>
          </p:nvPr>
        </p:nvSpPr>
        <p:spPr>
          <a:xfrm>
            <a:off x="304800" y="1600200"/>
            <a:ext cx="8534400" cy="990600"/>
          </a:xfrm>
        </p:spPr>
        <p:txBody>
          <a:bodyPr/>
          <a:lstStyle/>
          <a:p>
            <a:r>
              <a:rPr lang="en-US" sz="2400" dirty="0"/>
              <a:t>On January 1, 2020, Siena Corporation purchased 2,000 shares of treasury stock. Other information regarding Siena Corporation is provided below</a:t>
            </a:r>
            <a:r>
              <a:rPr lang="en-US" altLang="en-US" sz="2400" dirty="0"/>
              <a:t>.</a:t>
            </a:r>
            <a:endParaRPr lang="en-US" sz="2400" dirty="0"/>
          </a:p>
        </p:txBody>
      </p:sp>
      <p:graphicFrame>
        <p:nvGraphicFramePr>
          <p:cNvPr id="12" name="Content Placeholder 11" descr="Table is accessible to screenreaders">
            <a:extLst>
              <a:ext uri="{FF2B5EF4-FFF2-40B4-BE49-F238E27FC236}">
                <a16:creationId xmlns:a16="http://schemas.microsoft.com/office/drawing/2014/main" id="{F640397F-0C7F-4B4F-AD64-606382E15ED4}"/>
              </a:ext>
            </a:extLst>
          </p:cNvPr>
          <p:cNvGraphicFramePr>
            <a:graphicFrameLocks noGrp="1"/>
          </p:cNvGraphicFramePr>
          <p:nvPr>
            <p:ph sz="quarter" idx="17"/>
          </p:nvPr>
        </p:nvGraphicFramePr>
        <p:xfrm>
          <a:off x="304799" y="2743200"/>
          <a:ext cx="8525934" cy="2225040"/>
        </p:xfrm>
        <a:graphic>
          <a:graphicData uri="http://schemas.openxmlformats.org/drawingml/2006/table">
            <a:tbl>
              <a:tblPr firstRow="1" bandRow="1">
                <a:tableStyleId>{5C22544A-7EE6-4342-B048-85BDC9FD1C3A}</a:tableStyleId>
              </a:tblPr>
              <a:tblGrid>
                <a:gridCol w="6019801">
                  <a:extLst>
                    <a:ext uri="{9D8B030D-6E8A-4147-A177-3AD203B41FA5}">
                      <a16:colId xmlns:a16="http://schemas.microsoft.com/office/drawing/2014/main" val="4288204268"/>
                    </a:ext>
                  </a:extLst>
                </a:gridCol>
                <a:gridCol w="1219200">
                  <a:extLst>
                    <a:ext uri="{9D8B030D-6E8A-4147-A177-3AD203B41FA5}">
                      <a16:colId xmlns:a16="http://schemas.microsoft.com/office/drawing/2014/main" val="3522940043"/>
                    </a:ext>
                  </a:extLst>
                </a:gridCol>
                <a:gridCol w="1286933">
                  <a:extLst>
                    <a:ext uri="{9D8B030D-6E8A-4147-A177-3AD203B41FA5}">
                      <a16:colId xmlns:a16="http://schemas.microsoft.com/office/drawing/2014/main" val="4087829021"/>
                    </a:ext>
                  </a:extLst>
                </a:gridCol>
              </a:tblGrid>
              <a:tr h="370840">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en-US" sz="2200" b="1" i="0" u="sng" strike="noStrike" baseline="0" dirty="0">
                        <a:solidFill>
                          <a:srgbClr val="000000"/>
                        </a:solidFill>
                        <a:effectLst/>
                        <a:latin typeface="Calibri" panose="020F0502020204030204" pitchFamily="34" charset="0"/>
                      </a:endParaRPr>
                    </a:p>
                  </a:txBody>
                  <a:tcPr marR="182880" marT="4233" marB="0" anchor="ctr">
                    <a:solidFill>
                      <a:schemeClr val="bg1"/>
                    </a:solidFill>
                  </a:tcPr>
                </a:tc>
                <a:tc>
                  <a:txBody>
                    <a:bodyPr/>
                    <a:lstStyle/>
                    <a:p>
                      <a:pPr algn="ctr" fontAlgn="b">
                        <a:lnSpc>
                          <a:spcPct val="90000"/>
                        </a:lnSpc>
                      </a:pPr>
                      <a:r>
                        <a:rPr lang="en-US" sz="2200" b="1" i="0" u="none" strike="noStrike" baseline="0" dirty="0">
                          <a:solidFill>
                            <a:srgbClr val="000000"/>
                          </a:solidFill>
                          <a:effectLst/>
                          <a:latin typeface="Calibri" panose="020F0502020204030204" pitchFamily="34" charset="0"/>
                        </a:rPr>
                        <a:t>2019</a:t>
                      </a:r>
                    </a:p>
                  </a:txBody>
                  <a:tcPr marL="4233" marR="27432" marT="4233" marB="0" anchor="b">
                    <a:lnB w="12700" cap="flat" cmpd="sng" algn="ctr">
                      <a:solidFill>
                        <a:schemeClr val="tx1"/>
                      </a:solidFill>
                      <a:prstDash val="solid"/>
                      <a:round/>
                      <a:headEnd type="none" w="med" len="med"/>
                      <a:tailEnd type="none" w="med" len="med"/>
                    </a:lnB>
                    <a:solidFill>
                      <a:schemeClr val="bg1"/>
                    </a:solidFill>
                  </a:tcPr>
                </a:tc>
                <a:tc>
                  <a:txBody>
                    <a:bodyPr/>
                    <a:lstStyle/>
                    <a:p>
                      <a:pPr algn="ctr" fontAlgn="b">
                        <a:lnSpc>
                          <a:spcPct val="90000"/>
                        </a:lnSpc>
                      </a:pPr>
                      <a:r>
                        <a:rPr lang="en-US" sz="2200" b="1" i="0" u="none" strike="noStrike" baseline="0" dirty="0">
                          <a:solidFill>
                            <a:srgbClr val="000000"/>
                          </a:solidFill>
                          <a:effectLst/>
                          <a:latin typeface="Calibri" panose="020F0502020204030204" pitchFamily="34" charset="0"/>
                        </a:rPr>
                        <a:t>2020</a:t>
                      </a:r>
                    </a:p>
                  </a:txBody>
                  <a:tcPr marL="4233" marR="27432" marT="4233" marB="0" anchor="b">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23258494"/>
                  </a:ext>
                </a:extLst>
              </a:tr>
              <a:tr h="370840">
                <a:tc>
                  <a:txBody>
                    <a:bodyPr/>
                    <a:lstStyle/>
                    <a:p>
                      <a:pPr algn="l" fontAlgn="b"/>
                      <a:r>
                        <a:rPr lang="en-US" sz="2200" b="0" i="0" u="none" strike="noStrike" kern="1200" baseline="0" dirty="0">
                          <a:solidFill>
                            <a:schemeClr val="dk1"/>
                          </a:solidFill>
                          <a:effectLst/>
                          <a:latin typeface="Calibri" panose="020F0502020204030204" pitchFamily="34" charset="0"/>
                          <a:ea typeface="+mn-ea"/>
                          <a:cs typeface="+mn-cs"/>
                        </a:rPr>
                        <a:t>Net income</a:t>
                      </a:r>
                    </a:p>
                  </a:txBody>
                  <a:tcPr marT="4233" marB="0" anchor="b">
                    <a:solidFill>
                      <a:schemeClr val="bg1"/>
                    </a:solidFill>
                  </a:tcPr>
                </a:tc>
                <a:tc>
                  <a:txBody>
                    <a:bodyPr/>
                    <a:lstStyle/>
                    <a:p>
                      <a:pPr algn="r" fontAlgn="b"/>
                      <a:r>
                        <a:rPr lang="en-US" sz="2200" b="0" i="0" u="none" strike="noStrike" kern="1200" baseline="0" dirty="0">
                          <a:solidFill>
                            <a:schemeClr val="dk1"/>
                          </a:solidFill>
                          <a:effectLst/>
                          <a:latin typeface="Calibri" panose="020F0502020204030204" pitchFamily="34" charset="0"/>
                          <a:ea typeface="+mn-ea"/>
                          <a:cs typeface="+mn-cs"/>
                        </a:rPr>
                        <a:t>$110,000</a:t>
                      </a:r>
                    </a:p>
                  </a:txBody>
                  <a:tcPr marL="4233" marR="27432" marT="4233" marB="0" anchor="b">
                    <a:lnT w="12700" cap="flat" cmpd="sng" algn="ctr">
                      <a:solidFill>
                        <a:schemeClr val="tx1"/>
                      </a:solidFill>
                      <a:prstDash val="solid"/>
                      <a:round/>
                      <a:headEnd type="none" w="med" len="med"/>
                      <a:tailEnd type="none" w="med" len="med"/>
                    </a:lnT>
                    <a:solidFill>
                      <a:schemeClr val="bg1"/>
                    </a:solidFill>
                  </a:tcPr>
                </a:tc>
                <a:tc>
                  <a:txBody>
                    <a:bodyPr/>
                    <a:lstStyle/>
                    <a:p>
                      <a:pPr algn="r" fontAlgn="b"/>
                      <a:r>
                        <a:rPr lang="en-US" sz="2200" b="0" i="0" u="none" strike="noStrike" kern="1200" baseline="0" dirty="0">
                          <a:solidFill>
                            <a:schemeClr val="dk1"/>
                          </a:solidFill>
                          <a:effectLst/>
                          <a:latin typeface="Calibri" panose="020F0502020204030204" pitchFamily="34" charset="0"/>
                          <a:ea typeface="+mn-ea"/>
                          <a:cs typeface="+mn-cs"/>
                        </a:rPr>
                        <a:t>$110,000</a:t>
                      </a:r>
                    </a:p>
                  </a:txBody>
                  <a:tcPr marL="4233" marR="146304" marT="4233" marB="0" anchor="b">
                    <a:lnT w="12700" cap="flat" cmpd="sng" algn="ctr">
                      <a:solidFill>
                        <a:schemeClr val="tx1"/>
                      </a:solidFill>
                      <a:prstDash val="solid"/>
                      <a:round/>
                      <a:headEnd type="none" w="med" len="med"/>
                      <a:tailEnd type="none" w="med" len="med"/>
                    </a:lnT>
                    <a:solidFill>
                      <a:schemeClr val="bg1"/>
                    </a:solidFill>
                  </a:tcPr>
                </a:tc>
                <a:extLst>
                  <a:ext uri="{0D108BD9-81ED-4DB2-BD59-A6C34878D82A}">
                    <a16:rowId xmlns:a16="http://schemas.microsoft.com/office/drawing/2014/main" val="3595818142"/>
                  </a:ext>
                </a:extLst>
              </a:tr>
              <a:tr h="370840">
                <a:tc>
                  <a:txBody>
                    <a:bodyPr/>
                    <a:lstStyle/>
                    <a:p>
                      <a:pPr marL="0" algn="l" defTabSz="914400" rtl="0" eaLnBrk="1" fontAlgn="b" latinLnBrk="0" hangingPunct="1"/>
                      <a:r>
                        <a:rPr lang="en-US" sz="2200" b="0" i="0" u="none" strike="noStrike" kern="1200" baseline="0" dirty="0">
                          <a:solidFill>
                            <a:schemeClr val="dk1"/>
                          </a:solidFill>
                          <a:effectLst/>
                          <a:latin typeface="Calibri" panose="020F0502020204030204" pitchFamily="34" charset="0"/>
                          <a:ea typeface="+mn-ea"/>
                          <a:cs typeface="+mn-cs"/>
                        </a:rPr>
                        <a:t>Dividends on preferred stock</a:t>
                      </a:r>
                    </a:p>
                  </a:txBody>
                  <a:tcPr marT="4233" marB="0" anchor="b">
                    <a:solidFill>
                      <a:schemeClr val="bg1"/>
                    </a:solidFill>
                  </a:tcPr>
                </a:tc>
                <a:tc>
                  <a:txBody>
                    <a:bodyPr/>
                    <a:lstStyle/>
                    <a:p>
                      <a:pPr algn="r" fontAlgn="b"/>
                      <a:r>
                        <a:rPr lang="en-US" sz="2200" b="0" i="0" u="none" strike="noStrike" kern="1200" baseline="0" dirty="0">
                          <a:solidFill>
                            <a:schemeClr val="dk1"/>
                          </a:solidFill>
                          <a:effectLst/>
                          <a:latin typeface="Calibri" panose="020F0502020204030204" pitchFamily="34" charset="0"/>
                          <a:ea typeface="+mn-ea"/>
                          <a:cs typeface="+mn-cs"/>
                        </a:rPr>
                        <a:t>10,000</a:t>
                      </a:r>
                    </a:p>
                  </a:txBody>
                  <a:tcPr marL="4233" marR="27432" marT="4233" marB="0" anchor="b">
                    <a:solidFill>
                      <a:schemeClr val="bg1"/>
                    </a:solidFill>
                  </a:tcPr>
                </a:tc>
                <a:tc>
                  <a:txBody>
                    <a:bodyPr/>
                    <a:lstStyle/>
                    <a:p>
                      <a:pPr algn="r" fontAlgn="b"/>
                      <a:r>
                        <a:rPr lang="en-US" sz="2200" b="0" i="0" u="none" strike="noStrike" kern="1200" baseline="0" dirty="0">
                          <a:solidFill>
                            <a:schemeClr val="dk1"/>
                          </a:solidFill>
                          <a:effectLst/>
                          <a:latin typeface="Calibri" panose="020F0502020204030204" pitchFamily="34" charset="0"/>
                          <a:ea typeface="+mn-ea"/>
                          <a:cs typeface="+mn-cs"/>
                        </a:rPr>
                        <a:t>10,000</a:t>
                      </a:r>
                    </a:p>
                  </a:txBody>
                  <a:tcPr marL="4233" marR="146304" marT="4233" marB="0" anchor="b">
                    <a:solidFill>
                      <a:schemeClr val="bg1"/>
                    </a:solidFill>
                  </a:tcPr>
                </a:tc>
                <a:extLst>
                  <a:ext uri="{0D108BD9-81ED-4DB2-BD59-A6C34878D82A}">
                    <a16:rowId xmlns:a16="http://schemas.microsoft.com/office/drawing/2014/main" val="1650250917"/>
                  </a:ext>
                </a:extLst>
              </a:tr>
              <a:tr h="370840">
                <a:tc>
                  <a:txBody>
                    <a:bodyPr/>
                    <a:lstStyle/>
                    <a:p>
                      <a:pPr algn="l" fontAlgn="b"/>
                      <a:r>
                        <a:rPr lang="en-US" sz="2200" b="0" i="0" u="none" strike="noStrike" kern="1200" baseline="0" dirty="0">
                          <a:solidFill>
                            <a:schemeClr val="dk1"/>
                          </a:solidFill>
                          <a:effectLst/>
                          <a:latin typeface="Calibri" panose="020F0502020204030204" pitchFamily="34" charset="0"/>
                          <a:ea typeface="+mn-ea"/>
                          <a:cs typeface="+mn-cs"/>
                        </a:rPr>
                        <a:t>Dividends on common stock</a:t>
                      </a:r>
                    </a:p>
                  </a:txBody>
                  <a:tcPr marT="4233" marB="0" anchor="b">
                    <a:solidFill>
                      <a:schemeClr val="bg1"/>
                    </a:solidFill>
                  </a:tcPr>
                </a:tc>
                <a:tc>
                  <a:txBody>
                    <a:bodyPr/>
                    <a:lstStyle/>
                    <a:p>
                      <a:pPr algn="r" fontAlgn="b"/>
                      <a:r>
                        <a:rPr lang="en-US" sz="2200" b="0" i="0" u="none" strike="noStrike" kern="1200" baseline="0" dirty="0">
                          <a:solidFill>
                            <a:schemeClr val="dk1"/>
                          </a:solidFill>
                          <a:effectLst/>
                          <a:latin typeface="Calibri" panose="020F0502020204030204" pitchFamily="34" charset="0"/>
                          <a:ea typeface="+mn-ea"/>
                          <a:cs typeface="+mn-cs"/>
                        </a:rPr>
                        <a:t>2,000</a:t>
                      </a:r>
                    </a:p>
                  </a:txBody>
                  <a:tcPr marL="4233" marR="27432" marT="4233" marB="0" anchor="b">
                    <a:solidFill>
                      <a:schemeClr val="bg1"/>
                    </a:solidFill>
                  </a:tcPr>
                </a:tc>
                <a:tc>
                  <a:txBody>
                    <a:bodyPr/>
                    <a:lstStyle/>
                    <a:p>
                      <a:pPr algn="r" fontAlgn="b"/>
                      <a:r>
                        <a:rPr lang="en-US" sz="2200" b="0" i="0" u="none" strike="noStrike" kern="1200" baseline="0" dirty="0">
                          <a:solidFill>
                            <a:schemeClr val="dk1"/>
                          </a:solidFill>
                          <a:effectLst/>
                          <a:latin typeface="Calibri" panose="020F0502020204030204" pitchFamily="34" charset="0"/>
                          <a:ea typeface="+mn-ea"/>
                          <a:cs typeface="+mn-cs"/>
                        </a:rPr>
                        <a:t>1,600</a:t>
                      </a:r>
                    </a:p>
                  </a:txBody>
                  <a:tcPr marL="4233" marR="146304" marT="4233" marB="0" anchor="b">
                    <a:solidFill>
                      <a:schemeClr val="bg1"/>
                    </a:solidFill>
                  </a:tcPr>
                </a:tc>
                <a:extLst>
                  <a:ext uri="{0D108BD9-81ED-4DB2-BD59-A6C34878D82A}">
                    <a16:rowId xmlns:a16="http://schemas.microsoft.com/office/drawing/2014/main" val="3733892051"/>
                  </a:ext>
                </a:extLst>
              </a:tr>
              <a:tr h="370840">
                <a:tc>
                  <a:txBody>
                    <a:bodyPr/>
                    <a:lstStyle/>
                    <a:p>
                      <a:pPr algn="l" fontAlgn="b"/>
                      <a:r>
                        <a:rPr lang="en-US" sz="2200" b="0" i="0" u="none" strike="noStrike" kern="1200" baseline="0" dirty="0">
                          <a:solidFill>
                            <a:schemeClr val="dk1"/>
                          </a:solidFill>
                          <a:effectLst/>
                          <a:latin typeface="Calibri" panose="020F0502020204030204" pitchFamily="34" charset="0"/>
                          <a:ea typeface="+mn-ea"/>
                          <a:cs typeface="+mn-cs"/>
                        </a:rPr>
                        <a:t>Common stockholders’ equity, beginning of year</a:t>
                      </a:r>
                    </a:p>
                  </a:txBody>
                  <a:tcPr marT="4233" marB="0" anchor="b">
                    <a:solidFill>
                      <a:schemeClr val="bg1"/>
                    </a:solidFill>
                  </a:tcPr>
                </a:tc>
                <a:tc>
                  <a:txBody>
                    <a:bodyPr/>
                    <a:lstStyle/>
                    <a:p>
                      <a:pPr algn="r" fontAlgn="b"/>
                      <a:r>
                        <a:rPr lang="en-US" sz="2200" b="0" i="0" u="none" strike="noStrike" kern="1200" baseline="0" dirty="0">
                          <a:solidFill>
                            <a:schemeClr val="dk1"/>
                          </a:solidFill>
                          <a:effectLst/>
                          <a:latin typeface="Calibri" panose="020F0502020204030204" pitchFamily="34" charset="0"/>
                          <a:ea typeface="+mn-ea"/>
                          <a:cs typeface="+mn-cs"/>
                        </a:rPr>
                        <a:t>500,000</a:t>
                      </a:r>
                    </a:p>
                  </a:txBody>
                  <a:tcPr marL="4233" marR="27432" marT="4233" marB="0" anchor="b">
                    <a:solidFill>
                      <a:schemeClr val="bg1"/>
                    </a:solidFill>
                  </a:tcPr>
                </a:tc>
                <a:tc>
                  <a:txBody>
                    <a:bodyPr/>
                    <a:lstStyle/>
                    <a:p>
                      <a:pPr algn="r" fontAlgn="b"/>
                      <a:r>
                        <a:rPr lang="en-US" sz="2200" b="0" i="0" u="none" strike="noStrike" kern="1200" baseline="0" dirty="0">
                          <a:solidFill>
                            <a:schemeClr val="dk1"/>
                          </a:solidFill>
                          <a:effectLst/>
                          <a:latin typeface="Calibri" panose="020F0502020204030204" pitchFamily="34" charset="0"/>
                          <a:ea typeface="+mn-ea"/>
                          <a:cs typeface="+mn-cs"/>
                        </a:rPr>
                        <a:t>400,000</a:t>
                      </a:r>
                      <a:r>
                        <a:rPr lang="en-US" sz="2200" b="0" i="0" u="none" strike="noStrike" kern="1200" baseline="30000" dirty="0">
                          <a:solidFill>
                            <a:schemeClr val="dk1"/>
                          </a:solidFill>
                          <a:effectLst/>
                          <a:latin typeface="Calibri" panose="020F0502020204030204" pitchFamily="34" charset="0"/>
                          <a:ea typeface="+mn-ea"/>
                          <a:cs typeface="+mn-cs"/>
                        </a:rPr>
                        <a:t>*</a:t>
                      </a:r>
                    </a:p>
                  </a:txBody>
                  <a:tcPr marL="4233" marR="27432" marT="4233" marB="0" anchor="b">
                    <a:solidFill>
                      <a:schemeClr val="bg1"/>
                    </a:solidFill>
                  </a:tcPr>
                </a:tc>
                <a:extLst>
                  <a:ext uri="{0D108BD9-81ED-4DB2-BD59-A6C34878D82A}">
                    <a16:rowId xmlns:a16="http://schemas.microsoft.com/office/drawing/2014/main" val="2831335322"/>
                  </a:ext>
                </a:extLst>
              </a:tr>
              <a:tr h="370840">
                <a:tc>
                  <a:txBody>
                    <a:bodyPr/>
                    <a:lstStyle/>
                    <a:p>
                      <a:pPr algn="l" fontAlgn="b"/>
                      <a:r>
                        <a:rPr lang="en-US" sz="2200" b="0" i="0" u="none" strike="noStrike" kern="1200" baseline="0" dirty="0">
                          <a:solidFill>
                            <a:schemeClr val="dk1"/>
                          </a:solidFill>
                          <a:effectLst/>
                          <a:latin typeface="Calibri" panose="020F0502020204030204" pitchFamily="34" charset="0"/>
                          <a:ea typeface="+mn-ea"/>
                          <a:cs typeface="+mn-cs"/>
                        </a:rPr>
                        <a:t>Common stockholders’ equity, ending of year</a:t>
                      </a:r>
                    </a:p>
                  </a:txBody>
                  <a:tcPr marT="4233" marB="0" anchor="b">
                    <a:solidFill>
                      <a:schemeClr val="bg1"/>
                    </a:solidFill>
                  </a:tcPr>
                </a:tc>
                <a:tc>
                  <a:txBody>
                    <a:bodyPr/>
                    <a:lstStyle/>
                    <a:p>
                      <a:pPr algn="r" fontAlgn="b"/>
                      <a:r>
                        <a:rPr lang="en-US" sz="2200" b="0" i="0" u="none" strike="noStrike" kern="1200" baseline="0" dirty="0">
                          <a:solidFill>
                            <a:schemeClr val="dk1"/>
                          </a:solidFill>
                          <a:effectLst/>
                          <a:latin typeface="Calibri" panose="020F0502020204030204" pitchFamily="34" charset="0"/>
                          <a:ea typeface="+mn-ea"/>
                          <a:cs typeface="+mn-cs"/>
                        </a:rPr>
                        <a:t>500,000</a:t>
                      </a:r>
                    </a:p>
                  </a:txBody>
                  <a:tcPr marL="4233" marR="27432" marT="4233" marB="0" anchor="b">
                    <a:solidFill>
                      <a:schemeClr val="bg1"/>
                    </a:solidFill>
                  </a:tcPr>
                </a:tc>
                <a:tc>
                  <a:txBody>
                    <a:bodyPr/>
                    <a:lstStyle/>
                    <a:p>
                      <a:pPr algn="r" fontAlgn="b"/>
                      <a:r>
                        <a:rPr lang="en-US" sz="2200" b="0" i="0" u="none" strike="noStrike" kern="1200" baseline="0" dirty="0">
                          <a:solidFill>
                            <a:schemeClr val="dk1"/>
                          </a:solidFill>
                          <a:effectLst/>
                          <a:latin typeface="Calibri" panose="020F0502020204030204" pitchFamily="34" charset="0"/>
                          <a:ea typeface="+mn-ea"/>
                          <a:cs typeface="+mn-cs"/>
                        </a:rPr>
                        <a:t>400,000</a:t>
                      </a:r>
                    </a:p>
                  </a:txBody>
                  <a:tcPr marL="4233" marR="146304" marT="4233" marB="0" anchor="b">
                    <a:solidFill>
                      <a:schemeClr val="bg1"/>
                    </a:solidFill>
                  </a:tcPr>
                </a:tc>
                <a:extLst>
                  <a:ext uri="{0D108BD9-81ED-4DB2-BD59-A6C34878D82A}">
                    <a16:rowId xmlns:a16="http://schemas.microsoft.com/office/drawing/2014/main" val="276525602"/>
                  </a:ext>
                </a:extLst>
              </a:tr>
            </a:tbl>
          </a:graphicData>
        </a:graphic>
      </p:graphicFrame>
      <p:sp>
        <p:nvSpPr>
          <p:cNvPr id="9" name="Content Placeholder 8">
            <a:extLst>
              <a:ext uri="{FF2B5EF4-FFF2-40B4-BE49-F238E27FC236}">
                <a16:creationId xmlns:a16="http://schemas.microsoft.com/office/drawing/2014/main" id="{0D26C2DF-F0DF-409A-9EC7-DDCE7DE40240}"/>
              </a:ext>
            </a:extLst>
          </p:cNvPr>
          <p:cNvSpPr>
            <a:spLocks noGrp="1"/>
          </p:cNvSpPr>
          <p:nvPr>
            <p:ph sz="quarter" idx="18"/>
          </p:nvPr>
        </p:nvSpPr>
        <p:spPr>
          <a:xfrm>
            <a:off x="304801" y="5148024"/>
            <a:ext cx="3810000" cy="292100"/>
          </a:xfrm>
        </p:spPr>
        <p:txBody>
          <a:bodyPr/>
          <a:lstStyle/>
          <a:p>
            <a:r>
              <a:rPr lang="en-US" sz="1600" dirty="0">
                <a:solidFill>
                  <a:schemeClr val="dk1"/>
                </a:solidFill>
              </a:rPr>
              <a:t>*Adjusted for purchase of treasury stock.</a:t>
            </a:r>
            <a:endParaRPr lang="en-US" sz="1600" dirty="0"/>
          </a:p>
        </p:txBody>
      </p:sp>
      <p:sp>
        <p:nvSpPr>
          <p:cNvPr id="10" name="Content Placeholder 9">
            <a:extLst>
              <a:ext uri="{FF2B5EF4-FFF2-40B4-BE49-F238E27FC236}">
                <a16:creationId xmlns:a16="http://schemas.microsoft.com/office/drawing/2014/main" id="{3A27328F-77B3-44BB-B6D3-0A325AB030F1}"/>
              </a:ext>
            </a:extLst>
          </p:cNvPr>
          <p:cNvSpPr>
            <a:spLocks noGrp="1"/>
          </p:cNvSpPr>
          <p:nvPr>
            <p:ph sz="quarter" idx="19"/>
          </p:nvPr>
        </p:nvSpPr>
        <p:spPr>
          <a:xfrm>
            <a:off x="304800" y="5571869"/>
            <a:ext cx="8534400" cy="691769"/>
          </a:xfrm>
        </p:spPr>
        <p:txBody>
          <a:bodyPr/>
          <a:lstStyle/>
          <a:p>
            <a:r>
              <a:rPr lang="en-US" sz="2400" dirty="0"/>
              <a:t>(a) Compute return on common stockholders’ equity for each year, and (b) discuss its change from 2019 to 2020.</a:t>
            </a:r>
          </a:p>
        </p:txBody>
      </p:sp>
      <p:sp>
        <p:nvSpPr>
          <p:cNvPr id="6" name="Slide Number Placeholder 5">
            <a:extLst>
              <a:ext uri="{FF2B5EF4-FFF2-40B4-BE49-F238E27FC236}">
                <a16:creationId xmlns:a16="http://schemas.microsoft.com/office/drawing/2014/main" id="{D613E082-25AA-418E-B974-59290C6F3DA4}"/>
              </a:ext>
            </a:extLst>
          </p:cNvPr>
          <p:cNvSpPr>
            <a:spLocks noGrp="1"/>
          </p:cNvSpPr>
          <p:nvPr>
            <p:ph type="sldNum" sz="quarter" idx="10"/>
          </p:nvPr>
        </p:nvSpPr>
        <p:spPr/>
        <p:txBody>
          <a:bodyPr/>
          <a:lstStyle/>
          <a:p>
            <a:fld id="{67B19427-F580-D146-B60E-4CADEE75497F}" type="slidenum">
              <a:rPr lang="en-US" smtClean="0"/>
              <a:pPr/>
              <a:t>57</a:t>
            </a:fld>
            <a:endParaRPr lang="en-US" dirty="0"/>
          </a:p>
        </p:txBody>
      </p:sp>
      <p:sp>
        <p:nvSpPr>
          <p:cNvPr id="7" name="Footer Placeholder 6">
            <a:extLst>
              <a:ext uri="{FF2B5EF4-FFF2-40B4-BE49-F238E27FC236}">
                <a16:creationId xmlns:a16="http://schemas.microsoft.com/office/drawing/2014/main" id="{940E6B6E-A0EB-43F1-A559-FEE7F3450772}"/>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111991284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AC944C-073A-4426-9EC9-626B975C6549}"/>
              </a:ext>
            </a:extLst>
          </p:cNvPr>
          <p:cNvSpPr>
            <a:spLocks noGrp="1"/>
          </p:cNvSpPr>
          <p:nvPr>
            <p:ph type="title"/>
          </p:nvPr>
        </p:nvSpPr>
        <p:spPr>
          <a:xfrm>
            <a:off x="304800" y="762001"/>
            <a:ext cx="8686800" cy="685799"/>
          </a:xfrm>
        </p:spPr>
        <p:txBody>
          <a:bodyPr>
            <a:normAutofit fontScale="90000"/>
          </a:bodyPr>
          <a:lstStyle/>
          <a:p>
            <a:r>
              <a:rPr lang="en-US" dirty="0">
                <a:ea typeface="Source Sans Pro" charset="0"/>
              </a:rPr>
              <a:t>Do It</a:t>
            </a:r>
            <a:r>
              <a:rPr lang="en-US" dirty="0">
                <a:solidFill>
                  <a:srgbClr val="FF0000"/>
                </a:solidFill>
              </a:rPr>
              <a:t> AT HOME</a:t>
            </a:r>
            <a:r>
              <a:rPr lang="en-US" dirty="0">
                <a:ea typeface="Source Sans Pro" charset="0"/>
              </a:rPr>
              <a:t>! 2: </a:t>
            </a:r>
            <a:r>
              <a:rPr lang="en-US" dirty="0">
                <a:solidFill>
                  <a:srgbClr val="196E78"/>
                </a:solidFill>
                <a:ea typeface="Source Sans Pro" charset="0"/>
              </a:rPr>
              <a:t>Analyzing Stockholders’ Equity </a:t>
            </a:r>
            <a:r>
              <a:rPr lang="en-US" sz="2700" b="0" dirty="0">
                <a:solidFill>
                  <a:srgbClr val="196E78"/>
                </a:solidFill>
                <a:ea typeface="Source Sans Pro" charset="0"/>
              </a:rPr>
              <a:t>(2 of 3)</a:t>
            </a:r>
            <a:endParaRPr lang="en-US" dirty="0"/>
          </a:p>
        </p:txBody>
      </p:sp>
      <p:graphicFrame>
        <p:nvGraphicFramePr>
          <p:cNvPr id="14" name="Content Placeholder 13" descr="Table is accessible to screenreaders">
            <a:extLst>
              <a:ext uri="{FF2B5EF4-FFF2-40B4-BE49-F238E27FC236}">
                <a16:creationId xmlns:a16="http://schemas.microsoft.com/office/drawing/2014/main" id="{4CCFD5B5-01F2-4FEB-9069-FB7671D761A1}"/>
              </a:ext>
            </a:extLst>
          </p:cNvPr>
          <p:cNvGraphicFramePr>
            <a:graphicFrameLocks noGrp="1"/>
          </p:cNvGraphicFramePr>
          <p:nvPr>
            <p:ph sz="quarter" idx="16"/>
          </p:nvPr>
        </p:nvGraphicFramePr>
        <p:xfrm>
          <a:off x="304800" y="1828800"/>
          <a:ext cx="8534400" cy="2225040"/>
        </p:xfrm>
        <a:graphic>
          <a:graphicData uri="http://schemas.openxmlformats.org/drawingml/2006/table">
            <a:tbl>
              <a:tblPr firstRow="1" bandRow="1">
                <a:tableStyleId>{5C22544A-7EE6-4342-B048-85BDC9FD1C3A}</a:tableStyleId>
              </a:tblPr>
              <a:tblGrid>
                <a:gridCol w="6019800">
                  <a:extLst>
                    <a:ext uri="{9D8B030D-6E8A-4147-A177-3AD203B41FA5}">
                      <a16:colId xmlns:a16="http://schemas.microsoft.com/office/drawing/2014/main" val="1623574992"/>
                    </a:ext>
                  </a:extLst>
                </a:gridCol>
                <a:gridCol w="1219200">
                  <a:extLst>
                    <a:ext uri="{9D8B030D-6E8A-4147-A177-3AD203B41FA5}">
                      <a16:colId xmlns:a16="http://schemas.microsoft.com/office/drawing/2014/main" val="2333278367"/>
                    </a:ext>
                  </a:extLst>
                </a:gridCol>
                <a:gridCol w="1295400">
                  <a:extLst>
                    <a:ext uri="{9D8B030D-6E8A-4147-A177-3AD203B41FA5}">
                      <a16:colId xmlns:a16="http://schemas.microsoft.com/office/drawing/2014/main" val="1372529634"/>
                    </a:ext>
                  </a:extLst>
                </a:gridCol>
              </a:tblGrid>
              <a:tr h="370840">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en-US" sz="2000" b="1" i="0" u="sng" strike="noStrike" baseline="0" dirty="0">
                        <a:solidFill>
                          <a:srgbClr val="000000"/>
                        </a:solidFill>
                        <a:effectLst/>
                        <a:latin typeface="Calibri" panose="020F0502020204030204" pitchFamily="34" charset="0"/>
                      </a:endParaRPr>
                    </a:p>
                  </a:txBody>
                  <a:tcPr marR="182880" marT="4233" marB="0" anchor="ctr">
                    <a:solidFill>
                      <a:schemeClr val="bg1"/>
                    </a:solidFill>
                  </a:tcPr>
                </a:tc>
                <a:tc>
                  <a:txBody>
                    <a:bodyPr/>
                    <a:lstStyle/>
                    <a:p>
                      <a:pPr algn="ctr" fontAlgn="b">
                        <a:lnSpc>
                          <a:spcPct val="90000"/>
                        </a:lnSpc>
                      </a:pPr>
                      <a:r>
                        <a:rPr lang="en-US" sz="2000" b="1" i="0" u="none" strike="noStrike" baseline="0" dirty="0">
                          <a:solidFill>
                            <a:srgbClr val="000000"/>
                          </a:solidFill>
                          <a:effectLst/>
                          <a:latin typeface="Calibri" panose="020F0502020204030204" pitchFamily="34" charset="0"/>
                        </a:rPr>
                        <a:t>2019</a:t>
                      </a:r>
                    </a:p>
                  </a:txBody>
                  <a:tcPr marL="4233" marR="27432" marT="4233" marB="0" anchor="b">
                    <a:lnB w="12700" cap="flat" cmpd="sng" algn="ctr">
                      <a:solidFill>
                        <a:schemeClr val="tx1"/>
                      </a:solidFill>
                      <a:prstDash val="solid"/>
                      <a:round/>
                      <a:headEnd type="none" w="med" len="med"/>
                      <a:tailEnd type="none" w="med" len="med"/>
                    </a:lnB>
                    <a:solidFill>
                      <a:schemeClr val="bg1"/>
                    </a:solidFill>
                  </a:tcPr>
                </a:tc>
                <a:tc>
                  <a:txBody>
                    <a:bodyPr/>
                    <a:lstStyle/>
                    <a:p>
                      <a:pPr algn="ctr" fontAlgn="b">
                        <a:lnSpc>
                          <a:spcPct val="90000"/>
                        </a:lnSpc>
                      </a:pPr>
                      <a:r>
                        <a:rPr lang="en-US" sz="2000" b="1" i="0" u="none" strike="noStrike" baseline="0" dirty="0">
                          <a:solidFill>
                            <a:srgbClr val="000000"/>
                          </a:solidFill>
                          <a:effectLst/>
                          <a:latin typeface="Calibri" panose="020F0502020204030204" pitchFamily="34" charset="0"/>
                        </a:rPr>
                        <a:t>2020</a:t>
                      </a:r>
                    </a:p>
                  </a:txBody>
                  <a:tcPr marL="4233" marR="27432" marT="4233" marB="0" anchor="b">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97595749"/>
                  </a:ext>
                </a:extLst>
              </a:tr>
              <a:tr h="370840">
                <a:tc>
                  <a:txBody>
                    <a:bodyPr/>
                    <a:lstStyle/>
                    <a:p>
                      <a:pPr algn="l" fontAlgn="b"/>
                      <a:r>
                        <a:rPr lang="en-US" sz="2000" b="0" i="0" u="none" strike="noStrike" kern="1200" baseline="0" dirty="0">
                          <a:solidFill>
                            <a:schemeClr val="dk1"/>
                          </a:solidFill>
                          <a:effectLst/>
                          <a:latin typeface="Calibri" panose="020F0502020204030204" pitchFamily="34" charset="0"/>
                          <a:ea typeface="+mn-ea"/>
                          <a:cs typeface="+mn-cs"/>
                        </a:rPr>
                        <a:t>Net income</a:t>
                      </a:r>
                    </a:p>
                  </a:txBody>
                  <a:tcPr marT="4233" marB="0" anchor="b">
                    <a:solidFill>
                      <a:schemeClr val="bg1"/>
                    </a:solidFill>
                  </a:tcPr>
                </a:tc>
                <a:tc>
                  <a:txBody>
                    <a:bodyPr/>
                    <a:lstStyle/>
                    <a:p>
                      <a:pPr algn="r" fontAlgn="b"/>
                      <a:r>
                        <a:rPr lang="en-US" sz="2000" b="0" i="0" u="none" strike="noStrike" kern="1200" baseline="0" dirty="0">
                          <a:solidFill>
                            <a:schemeClr val="dk1"/>
                          </a:solidFill>
                          <a:effectLst/>
                          <a:latin typeface="Calibri" panose="020F0502020204030204" pitchFamily="34" charset="0"/>
                          <a:ea typeface="+mn-ea"/>
                          <a:cs typeface="+mn-cs"/>
                        </a:rPr>
                        <a:t>$110,000</a:t>
                      </a:r>
                    </a:p>
                  </a:txBody>
                  <a:tcPr marL="4233" marR="27432" marT="4233" marB="0" anchor="b">
                    <a:lnT w="12700" cap="flat" cmpd="sng" algn="ctr">
                      <a:solidFill>
                        <a:schemeClr val="tx1"/>
                      </a:solidFill>
                      <a:prstDash val="solid"/>
                      <a:round/>
                      <a:headEnd type="none" w="med" len="med"/>
                      <a:tailEnd type="none" w="med" len="med"/>
                    </a:lnT>
                    <a:solidFill>
                      <a:schemeClr val="bg1"/>
                    </a:solidFill>
                  </a:tcPr>
                </a:tc>
                <a:tc>
                  <a:txBody>
                    <a:bodyPr/>
                    <a:lstStyle/>
                    <a:p>
                      <a:pPr algn="r" fontAlgn="b"/>
                      <a:r>
                        <a:rPr lang="en-US" sz="2000" b="0" i="0" u="none" strike="noStrike" kern="1200" baseline="0" dirty="0">
                          <a:solidFill>
                            <a:schemeClr val="dk1"/>
                          </a:solidFill>
                          <a:effectLst/>
                          <a:latin typeface="Calibri" panose="020F0502020204030204" pitchFamily="34" charset="0"/>
                          <a:ea typeface="+mn-ea"/>
                          <a:cs typeface="+mn-cs"/>
                        </a:rPr>
                        <a:t>$110,000</a:t>
                      </a:r>
                    </a:p>
                  </a:txBody>
                  <a:tcPr marL="4233" marR="109728" marT="4233" marB="0" anchor="b">
                    <a:lnT w="12700" cap="flat" cmpd="sng" algn="ctr">
                      <a:solidFill>
                        <a:schemeClr val="tx1"/>
                      </a:solidFill>
                      <a:prstDash val="solid"/>
                      <a:round/>
                      <a:headEnd type="none" w="med" len="med"/>
                      <a:tailEnd type="none" w="med" len="med"/>
                    </a:lnT>
                    <a:solidFill>
                      <a:schemeClr val="bg1"/>
                    </a:solidFill>
                  </a:tcPr>
                </a:tc>
                <a:extLst>
                  <a:ext uri="{0D108BD9-81ED-4DB2-BD59-A6C34878D82A}">
                    <a16:rowId xmlns:a16="http://schemas.microsoft.com/office/drawing/2014/main" val="1494319007"/>
                  </a:ext>
                </a:extLst>
              </a:tr>
              <a:tr h="370840">
                <a:tc>
                  <a:txBody>
                    <a:bodyPr/>
                    <a:lstStyle/>
                    <a:p>
                      <a:pPr marL="0" algn="l" defTabSz="914400" rtl="0" eaLnBrk="1" fontAlgn="b" latinLnBrk="0" hangingPunct="1"/>
                      <a:r>
                        <a:rPr lang="en-US" sz="2000" b="0" i="0" u="none" strike="noStrike" kern="1200" baseline="0" dirty="0">
                          <a:solidFill>
                            <a:schemeClr val="dk1"/>
                          </a:solidFill>
                          <a:effectLst/>
                          <a:latin typeface="Calibri" panose="020F0502020204030204" pitchFamily="34" charset="0"/>
                          <a:ea typeface="+mn-ea"/>
                          <a:cs typeface="+mn-cs"/>
                        </a:rPr>
                        <a:t>Dividends on preferred stock</a:t>
                      </a:r>
                    </a:p>
                  </a:txBody>
                  <a:tcPr marT="4233" marB="0" anchor="b">
                    <a:solidFill>
                      <a:schemeClr val="bg1"/>
                    </a:solidFill>
                  </a:tcPr>
                </a:tc>
                <a:tc>
                  <a:txBody>
                    <a:bodyPr/>
                    <a:lstStyle/>
                    <a:p>
                      <a:pPr algn="r" fontAlgn="b"/>
                      <a:r>
                        <a:rPr lang="en-US" sz="2000" b="0" i="0" u="none" strike="noStrike" kern="1200" baseline="0" dirty="0">
                          <a:solidFill>
                            <a:schemeClr val="dk1"/>
                          </a:solidFill>
                          <a:effectLst/>
                          <a:latin typeface="Calibri" panose="020F0502020204030204" pitchFamily="34" charset="0"/>
                          <a:ea typeface="+mn-ea"/>
                          <a:cs typeface="+mn-cs"/>
                        </a:rPr>
                        <a:t>10,000</a:t>
                      </a:r>
                    </a:p>
                  </a:txBody>
                  <a:tcPr marL="4233" marR="27432" marT="4233" marB="0" anchor="b">
                    <a:solidFill>
                      <a:schemeClr val="bg1"/>
                    </a:solidFill>
                  </a:tcPr>
                </a:tc>
                <a:tc>
                  <a:txBody>
                    <a:bodyPr/>
                    <a:lstStyle/>
                    <a:p>
                      <a:pPr algn="r" fontAlgn="b"/>
                      <a:r>
                        <a:rPr lang="en-US" sz="2000" b="0" i="0" u="none" strike="noStrike" kern="1200" baseline="0" dirty="0">
                          <a:solidFill>
                            <a:schemeClr val="dk1"/>
                          </a:solidFill>
                          <a:effectLst/>
                          <a:latin typeface="Calibri" panose="020F0502020204030204" pitchFamily="34" charset="0"/>
                          <a:ea typeface="+mn-ea"/>
                          <a:cs typeface="+mn-cs"/>
                        </a:rPr>
                        <a:t>10,000</a:t>
                      </a:r>
                    </a:p>
                  </a:txBody>
                  <a:tcPr marL="4233" marR="109728" marT="4233" marB="0" anchor="b">
                    <a:solidFill>
                      <a:schemeClr val="bg1"/>
                    </a:solidFill>
                  </a:tcPr>
                </a:tc>
                <a:extLst>
                  <a:ext uri="{0D108BD9-81ED-4DB2-BD59-A6C34878D82A}">
                    <a16:rowId xmlns:a16="http://schemas.microsoft.com/office/drawing/2014/main" val="3243932278"/>
                  </a:ext>
                </a:extLst>
              </a:tr>
              <a:tr h="370840">
                <a:tc>
                  <a:txBody>
                    <a:bodyPr/>
                    <a:lstStyle/>
                    <a:p>
                      <a:pPr algn="l" fontAlgn="b"/>
                      <a:r>
                        <a:rPr lang="en-US" sz="2000" b="0" i="0" u="none" strike="noStrike" kern="1200" baseline="0" dirty="0">
                          <a:solidFill>
                            <a:schemeClr val="dk1"/>
                          </a:solidFill>
                          <a:effectLst/>
                          <a:latin typeface="Calibri" panose="020F0502020204030204" pitchFamily="34" charset="0"/>
                          <a:ea typeface="+mn-ea"/>
                          <a:cs typeface="+mn-cs"/>
                        </a:rPr>
                        <a:t>Dividends on common stock</a:t>
                      </a:r>
                    </a:p>
                  </a:txBody>
                  <a:tcPr marT="4233" marB="0" anchor="b">
                    <a:solidFill>
                      <a:schemeClr val="bg1"/>
                    </a:solidFill>
                  </a:tcPr>
                </a:tc>
                <a:tc>
                  <a:txBody>
                    <a:bodyPr/>
                    <a:lstStyle/>
                    <a:p>
                      <a:pPr algn="r" fontAlgn="b"/>
                      <a:r>
                        <a:rPr lang="en-US" sz="2000" b="0" i="0" u="none" strike="noStrike" kern="1200" baseline="0" dirty="0">
                          <a:solidFill>
                            <a:schemeClr val="dk1"/>
                          </a:solidFill>
                          <a:effectLst/>
                          <a:latin typeface="Calibri" panose="020F0502020204030204" pitchFamily="34" charset="0"/>
                          <a:ea typeface="+mn-ea"/>
                          <a:cs typeface="+mn-cs"/>
                        </a:rPr>
                        <a:t>2,000</a:t>
                      </a:r>
                    </a:p>
                  </a:txBody>
                  <a:tcPr marL="4233" marR="27432" marT="4233" marB="0" anchor="b">
                    <a:solidFill>
                      <a:schemeClr val="bg1"/>
                    </a:solidFill>
                  </a:tcPr>
                </a:tc>
                <a:tc>
                  <a:txBody>
                    <a:bodyPr/>
                    <a:lstStyle/>
                    <a:p>
                      <a:pPr algn="r" fontAlgn="b"/>
                      <a:r>
                        <a:rPr lang="en-US" sz="2000" b="0" i="0" u="none" strike="noStrike" kern="1200" baseline="0" dirty="0">
                          <a:solidFill>
                            <a:schemeClr val="dk1"/>
                          </a:solidFill>
                          <a:effectLst/>
                          <a:latin typeface="Calibri" panose="020F0502020204030204" pitchFamily="34" charset="0"/>
                          <a:ea typeface="+mn-ea"/>
                          <a:cs typeface="+mn-cs"/>
                        </a:rPr>
                        <a:t>1,600</a:t>
                      </a:r>
                    </a:p>
                  </a:txBody>
                  <a:tcPr marL="4233" marR="109728" marT="4233" marB="0" anchor="b">
                    <a:solidFill>
                      <a:schemeClr val="bg1"/>
                    </a:solidFill>
                  </a:tcPr>
                </a:tc>
                <a:extLst>
                  <a:ext uri="{0D108BD9-81ED-4DB2-BD59-A6C34878D82A}">
                    <a16:rowId xmlns:a16="http://schemas.microsoft.com/office/drawing/2014/main" val="647347407"/>
                  </a:ext>
                </a:extLst>
              </a:tr>
              <a:tr h="370840">
                <a:tc>
                  <a:txBody>
                    <a:bodyPr/>
                    <a:lstStyle/>
                    <a:p>
                      <a:pPr algn="l" fontAlgn="b"/>
                      <a:r>
                        <a:rPr lang="en-US" sz="2000" b="0" i="0" u="none" strike="noStrike" kern="1200" baseline="0" dirty="0">
                          <a:solidFill>
                            <a:schemeClr val="dk1"/>
                          </a:solidFill>
                          <a:effectLst/>
                          <a:latin typeface="Calibri" panose="020F0502020204030204" pitchFamily="34" charset="0"/>
                          <a:ea typeface="+mn-ea"/>
                          <a:cs typeface="+mn-cs"/>
                        </a:rPr>
                        <a:t>Common stockholders’ equity, beginning of year</a:t>
                      </a:r>
                    </a:p>
                  </a:txBody>
                  <a:tcPr marT="4233" marB="0" anchor="b">
                    <a:solidFill>
                      <a:schemeClr val="bg1"/>
                    </a:solidFill>
                  </a:tcPr>
                </a:tc>
                <a:tc>
                  <a:txBody>
                    <a:bodyPr/>
                    <a:lstStyle/>
                    <a:p>
                      <a:pPr algn="r" fontAlgn="b"/>
                      <a:r>
                        <a:rPr lang="en-US" sz="2000" b="0" i="0" u="none" strike="noStrike" kern="1200" baseline="0" dirty="0">
                          <a:solidFill>
                            <a:schemeClr val="dk1"/>
                          </a:solidFill>
                          <a:effectLst/>
                          <a:latin typeface="Calibri" panose="020F0502020204030204" pitchFamily="34" charset="0"/>
                          <a:ea typeface="+mn-ea"/>
                          <a:cs typeface="+mn-cs"/>
                        </a:rPr>
                        <a:t>500,000</a:t>
                      </a:r>
                    </a:p>
                  </a:txBody>
                  <a:tcPr marL="4233" marR="27432" marT="4233" marB="0" anchor="b">
                    <a:solidFill>
                      <a:schemeClr val="bg1"/>
                    </a:solidFill>
                  </a:tcPr>
                </a:tc>
                <a:tc>
                  <a:txBody>
                    <a:bodyPr/>
                    <a:lstStyle/>
                    <a:p>
                      <a:pPr algn="r" fontAlgn="b"/>
                      <a:r>
                        <a:rPr lang="en-US" sz="2000" b="0" i="0" u="none" strike="noStrike" kern="1200" baseline="0" dirty="0">
                          <a:solidFill>
                            <a:schemeClr val="dk1"/>
                          </a:solidFill>
                          <a:effectLst/>
                          <a:latin typeface="Calibri" panose="020F0502020204030204" pitchFamily="34" charset="0"/>
                          <a:ea typeface="+mn-ea"/>
                          <a:cs typeface="+mn-cs"/>
                        </a:rPr>
                        <a:t>400,000</a:t>
                      </a:r>
                      <a:r>
                        <a:rPr lang="en-US" sz="2000" b="0" i="0" u="none" strike="noStrike" kern="1200" baseline="30000" dirty="0">
                          <a:solidFill>
                            <a:schemeClr val="dk1"/>
                          </a:solidFill>
                          <a:effectLst/>
                          <a:latin typeface="Calibri" panose="020F0502020204030204" pitchFamily="34" charset="0"/>
                          <a:ea typeface="+mn-ea"/>
                          <a:cs typeface="+mn-cs"/>
                        </a:rPr>
                        <a:t>*</a:t>
                      </a:r>
                    </a:p>
                  </a:txBody>
                  <a:tcPr marL="4233" marR="27432" marT="4233" marB="0" anchor="b">
                    <a:solidFill>
                      <a:schemeClr val="bg1"/>
                    </a:solidFill>
                  </a:tcPr>
                </a:tc>
                <a:extLst>
                  <a:ext uri="{0D108BD9-81ED-4DB2-BD59-A6C34878D82A}">
                    <a16:rowId xmlns:a16="http://schemas.microsoft.com/office/drawing/2014/main" val="3174579258"/>
                  </a:ext>
                </a:extLst>
              </a:tr>
              <a:tr h="370840">
                <a:tc>
                  <a:txBody>
                    <a:bodyPr/>
                    <a:lstStyle/>
                    <a:p>
                      <a:pPr algn="l" fontAlgn="b"/>
                      <a:r>
                        <a:rPr lang="en-US" sz="2000" b="0" i="0" u="none" strike="noStrike" kern="1200" baseline="0" dirty="0">
                          <a:solidFill>
                            <a:schemeClr val="dk1"/>
                          </a:solidFill>
                          <a:effectLst/>
                          <a:latin typeface="Calibri" panose="020F0502020204030204" pitchFamily="34" charset="0"/>
                          <a:ea typeface="+mn-ea"/>
                          <a:cs typeface="+mn-cs"/>
                        </a:rPr>
                        <a:t>Common stockholders’ equity, ending of year</a:t>
                      </a:r>
                    </a:p>
                  </a:txBody>
                  <a:tcPr marT="4233" marB="0" anchor="b">
                    <a:solidFill>
                      <a:schemeClr val="bg1"/>
                    </a:solidFill>
                  </a:tcPr>
                </a:tc>
                <a:tc>
                  <a:txBody>
                    <a:bodyPr/>
                    <a:lstStyle/>
                    <a:p>
                      <a:pPr algn="r" fontAlgn="b"/>
                      <a:r>
                        <a:rPr lang="en-US" sz="2000" b="0" i="0" u="none" strike="noStrike" kern="1200" baseline="0" dirty="0">
                          <a:solidFill>
                            <a:schemeClr val="dk1"/>
                          </a:solidFill>
                          <a:effectLst/>
                          <a:latin typeface="Calibri" panose="020F0502020204030204" pitchFamily="34" charset="0"/>
                          <a:ea typeface="+mn-ea"/>
                          <a:cs typeface="+mn-cs"/>
                        </a:rPr>
                        <a:t>500,000</a:t>
                      </a:r>
                    </a:p>
                  </a:txBody>
                  <a:tcPr marL="4233" marR="27432" marT="4233" marB="0" anchor="b">
                    <a:solidFill>
                      <a:schemeClr val="bg1"/>
                    </a:solidFill>
                  </a:tcPr>
                </a:tc>
                <a:tc>
                  <a:txBody>
                    <a:bodyPr/>
                    <a:lstStyle/>
                    <a:p>
                      <a:pPr algn="r" fontAlgn="b"/>
                      <a:r>
                        <a:rPr lang="en-US" sz="2000" b="0" i="0" u="none" strike="noStrike" kern="1200" baseline="0" dirty="0">
                          <a:solidFill>
                            <a:schemeClr val="dk1"/>
                          </a:solidFill>
                          <a:effectLst/>
                          <a:latin typeface="Calibri" panose="020F0502020204030204" pitchFamily="34" charset="0"/>
                          <a:ea typeface="+mn-ea"/>
                          <a:cs typeface="+mn-cs"/>
                        </a:rPr>
                        <a:t>400,000</a:t>
                      </a:r>
                    </a:p>
                  </a:txBody>
                  <a:tcPr marL="4233" marR="109728" marT="4233" marB="0" anchor="b">
                    <a:solidFill>
                      <a:schemeClr val="bg1"/>
                    </a:solidFill>
                  </a:tcPr>
                </a:tc>
                <a:extLst>
                  <a:ext uri="{0D108BD9-81ED-4DB2-BD59-A6C34878D82A}">
                    <a16:rowId xmlns:a16="http://schemas.microsoft.com/office/drawing/2014/main" val="4205205704"/>
                  </a:ext>
                </a:extLst>
              </a:tr>
            </a:tbl>
          </a:graphicData>
        </a:graphic>
      </p:graphicFrame>
      <p:sp>
        <p:nvSpPr>
          <p:cNvPr id="4" name="Content Placeholder 3">
            <a:extLst>
              <a:ext uri="{FF2B5EF4-FFF2-40B4-BE49-F238E27FC236}">
                <a16:creationId xmlns:a16="http://schemas.microsoft.com/office/drawing/2014/main" id="{9DE75692-1A42-4255-A0FD-AE9E83C2D9F3}"/>
              </a:ext>
            </a:extLst>
          </p:cNvPr>
          <p:cNvSpPr>
            <a:spLocks noGrp="1"/>
          </p:cNvSpPr>
          <p:nvPr>
            <p:ph sz="quarter" idx="17"/>
          </p:nvPr>
        </p:nvSpPr>
        <p:spPr>
          <a:xfrm>
            <a:off x="304800" y="4133850"/>
            <a:ext cx="8534400" cy="343501"/>
          </a:xfrm>
        </p:spPr>
        <p:txBody>
          <a:bodyPr/>
          <a:lstStyle/>
          <a:p>
            <a:r>
              <a:rPr lang="en-US" sz="2000" dirty="0">
                <a:solidFill>
                  <a:schemeClr val="dk1"/>
                </a:solidFill>
                <a:latin typeface="Calibri" panose="020F0502020204030204" pitchFamily="34" charset="0"/>
              </a:rPr>
              <a:t>*Adjusted for purchase of treasury stock.</a:t>
            </a:r>
            <a:endParaRPr lang="en-US" sz="2000" dirty="0">
              <a:latin typeface="Calibri" panose="020F0502020204030204" pitchFamily="34" charset="0"/>
            </a:endParaRPr>
          </a:p>
        </p:txBody>
      </p:sp>
      <p:sp>
        <p:nvSpPr>
          <p:cNvPr id="5" name="Content Placeholder 4">
            <a:extLst>
              <a:ext uri="{FF2B5EF4-FFF2-40B4-BE49-F238E27FC236}">
                <a16:creationId xmlns:a16="http://schemas.microsoft.com/office/drawing/2014/main" id="{26CA7ABD-719C-431B-A20C-D84108BE83BF}"/>
              </a:ext>
            </a:extLst>
          </p:cNvPr>
          <p:cNvSpPr>
            <a:spLocks noGrp="1"/>
          </p:cNvSpPr>
          <p:nvPr>
            <p:ph sz="quarter" idx="18"/>
          </p:nvPr>
        </p:nvSpPr>
        <p:spPr>
          <a:xfrm>
            <a:off x="304800" y="4552950"/>
            <a:ext cx="8534400" cy="377851"/>
          </a:xfrm>
        </p:spPr>
        <p:txBody>
          <a:bodyPr/>
          <a:lstStyle/>
          <a:p>
            <a:r>
              <a:rPr lang="en-US" sz="2200" dirty="0">
                <a:latin typeface="Calibri" panose="020F0502020204030204" pitchFamily="34" charset="0"/>
              </a:rPr>
              <a:t>(a) Compute return on common stockholders’ equity for each year.</a:t>
            </a:r>
          </a:p>
        </p:txBody>
      </p:sp>
      <p:sp>
        <p:nvSpPr>
          <p:cNvPr id="6" name="Content Placeholder 5">
            <a:extLst>
              <a:ext uri="{FF2B5EF4-FFF2-40B4-BE49-F238E27FC236}">
                <a16:creationId xmlns:a16="http://schemas.microsoft.com/office/drawing/2014/main" id="{E8AF6C9A-ED7E-4035-B531-63AA8F758257}"/>
              </a:ext>
            </a:extLst>
          </p:cNvPr>
          <p:cNvSpPr>
            <a:spLocks noGrp="1"/>
          </p:cNvSpPr>
          <p:nvPr>
            <p:ph sz="quarter" idx="19"/>
          </p:nvPr>
        </p:nvSpPr>
        <p:spPr>
          <a:xfrm>
            <a:off x="1447800" y="4942116"/>
            <a:ext cx="953106" cy="312274"/>
          </a:xfrm>
        </p:spPr>
        <p:txBody>
          <a:bodyPr/>
          <a:lstStyle/>
          <a:p>
            <a:r>
              <a:rPr lang="en-US" sz="2200" b="1" u="sng" dirty="0">
                <a:latin typeface="Calibri" panose="020F0502020204030204" pitchFamily="34" charset="0"/>
              </a:rPr>
              <a:t>2019</a:t>
            </a:r>
          </a:p>
        </p:txBody>
      </p:sp>
      <p:sp>
        <p:nvSpPr>
          <p:cNvPr id="8" name="Content Placeholder 7">
            <a:extLst>
              <a:ext uri="{FF2B5EF4-FFF2-40B4-BE49-F238E27FC236}">
                <a16:creationId xmlns:a16="http://schemas.microsoft.com/office/drawing/2014/main" id="{C2276E9A-5DB6-4E70-9C04-A2F3A42179CE}"/>
              </a:ext>
            </a:extLst>
          </p:cNvPr>
          <p:cNvSpPr>
            <a:spLocks noGrp="1"/>
          </p:cNvSpPr>
          <p:nvPr>
            <p:ph sz="quarter" idx="21"/>
          </p:nvPr>
        </p:nvSpPr>
        <p:spPr>
          <a:xfrm>
            <a:off x="6553200" y="4954816"/>
            <a:ext cx="787691" cy="336550"/>
          </a:xfrm>
        </p:spPr>
        <p:txBody>
          <a:bodyPr/>
          <a:lstStyle/>
          <a:p>
            <a:r>
              <a:rPr lang="en-US" sz="2200" b="1" u="sng" dirty="0">
                <a:latin typeface="Calibri" panose="020F0502020204030204" pitchFamily="34" charset="0"/>
              </a:rPr>
              <a:t>2020</a:t>
            </a:r>
          </a:p>
        </p:txBody>
      </p:sp>
      <p:graphicFrame>
        <p:nvGraphicFramePr>
          <p:cNvPr id="16" name="Content Placeholder 15" descr="An illustration displays computation of return on common stockholders' equity for each year. 2019 displays, $110,000 minus $10,000 over $500,000 + $500,000 over 2 = 20 percent.">
            <a:extLst>
              <a:ext uri="{FF2B5EF4-FFF2-40B4-BE49-F238E27FC236}">
                <a16:creationId xmlns:a16="http://schemas.microsoft.com/office/drawing/2014/main" id="{87202E6D-B7C5-4579-AD3D-B6A65D51D7B7}"/>
              </a:ext>
            </a:extLst>
          </p:cNvPr>
          <p:cNvGraphicFramePr>
            <a:graphicFrameLocks noGrp="1" noChangeAspect="1"/>
          </p:cNvGraphicFramePr>
          <p:nvPr>
            <p:ph sz="quarter" idx="20"/>
          </p:nvPr>
        </p:nvGraphicFramePr>
        <p:xfrm>
          <a:off x="762000" y="5421812"/>
          <a:ext cx="2640557" cy="854298"/>
        </p:xfrm>
        <a:graphic>
          <a:graphicData uri="http://schemas.openxmlformats.org/presentationml/2006/ole">
            <mc:AlternateContent xmlns:mc="http://schemas.openxmlformats.org/markup-compatibility/2006">
              <mc:Choice xmlns:v="urn:schemas-microsoft-com:vml" Requires="v">
                <p:oleObj spid="_x0000_s16388" name="Equation" r:id="rId3" imgW="3454200" imgH="1117440" progId="Equation.DSMT4">
                  <p:embed/>
                </p:oleObj>
              </mc:Choice>
              <mc:Fallback>
                <p:oleObj name="Equation" r:id="rId3" imgW="3454200" imgH="1117440" progId="Equation.DSMT4">
                  <p:embed/>
                  <p:pic>
                    <p:nvPicPr>
                      <p:cNvPr id="16" name="Content Placeholder 15" descr="An illustration displays computation of return on common stockholders' equity for each year. 2019 displays, $110,000 minus $10,000 over $500,000 + $500,000 over 2 = 20 percent.">
                        <a:extLst>
                          <a:ext uri="{FF2B5EF4-FFF2-40B4-BE49-F238E27FC236}">
                            <a16:creationId xmlns:a16="http://schemas.microsoft.com/office/drawing/2014/main" id="{87202E6D-B7C5-4579-AD3D-B6A65D51D7B7}"/>
                          </a:ext>
                        </a:extLst>
                      </p:cNvPr>
                      <p:cNvPicPr/>
                      <p:nvPr/>
                    </p:nvPicPr>
                    <p:blipFill>
                      <a:blip r:embed="rId4"/>
                      <a:stretch>
                        <a:fillRect/>
                      </a:stretch>
                    </p:blipFill>
                    <p:spPr>
                      <a:xfrm>
                        <a:off x="762000" y="5421812"/>
                        <a:ext cx="2640557" cy="854298"/>
                      </a:xfrm>
                      <a:prstGeom prst="rect">
                        <a:avLst/>
                      </a:prstGeom>
                    </p:spPr>
                  </p:pic>
                </p:oleObj>
              </mc:Fallback>
            </mc:AlternateContent>
          </a:graphicData>
        </a:graphic>
      </p:graphicFrame>
      <p:graphicFrame>
        <p:nvGraphicFramePr>
          <p:cNvPr id="18" name="Content Placeholder 17" descr="An illustration displays computation of return on common stockholders' equity for each year.2020 displays, $110,000 minus $10,000 over $400,000 + $400,000 over 2 = 25 percent.">
            <a:extLst>
              <a:ext uri="{FF2B5EF4-FFF2-40B4-BE49-F238E27FC236}">
                <a16:creationId xmlns:a16="http://schemas.microsoft.com/office/drawing/2014/main" id="{EC593559-27E6-49A3-8AB7-15235CC2B5AA}"/>
              </a:ext>
            </a:extLst>
          </p:cNvPr>
          <p:cNvGraphicFramePr>
            <a:graphicFrameLocks noGrp="1" noChangeAspect="1"/>
          </p:cNvGraphicFramePr>
          <p:nvPr>
            <p:ph sz="quarter" idx="22"/>
          </p:nvPr>
        </p:nvGraphicFramePr>
        <p:xfrm>
          <a:off x="5639322" y="5421812"/>
          <a:ext cx="2640557" cy="854298"/>
        </p:xfrm>
        <a:graphic>
          <a:graphicData uri="http://schemas.openxmlformats.org/presentationml/2006/ole">
            <mc:AlternateContent xmlns:mc="http://schemas.openxmlformats.org/markup-compatibility/2006">
              <mc:Choice xmlns:v="urn:schemas-microsoft-com:vml" Requires="v">
                <p:oleObj spid="_x0000_s16389" name="Equation" r:id="rId5" imgW="3454200" imgH="1117440" progId="Equation.DSMT4">
                  <p:embed/>
                </p:oleObj>
              </mc:Choice>
              <mc:Fallback>
                <p:oleObj name="Equation" r:id="rId5" imgW="3454200" imgH="1117440" progId="Equation.DSMT4">
                  <p:embed/>
                  <p:pic>
                    <p:nvPicPr>
                      <p:cNvPr id="18" name="Content Placeholder 17" descr="An illustration displays computation of return on common stockholders' equity for each year.2020 displays, $110,000 minus $10,000 over $400,000 + $400,000 over 2 = 25 percent.">
                        <a:extLst>
                          <a:ext uri="{FF2B5EF4-FFF2-40B4-BE49-F238E27FC236}">
                            <a16:creationId xmlns:a16="http://schemas.microsoft.com/office/drawing/2014/main" id="{EC593559-27E6-49A3-8AB7-15235CC2B5AA}"/>
                          </a:ext>
                        </a:extLst>
                      </p:cNvPr>
                      <p:cNvPicPr/>
                      <p:nvPr/>
                    </p:nvPicPr>
                    <p:blipFill>
                      <a:blip r:embed="rId6"/>
                      <a:stretch>
                        <a:fillRect/>
                      </a:stretch>
                    </p:blipFill>
                    <p:spPr>
                      <a:xfrm>
                        <a:off x="5639322" y="5421812"/>
                        <a:ext cx="2640557" cy="854298"/>
                      </a:xfrm>
                      <a:prstGeom prst="rect">
                        <a:avLst/>
                      </a:prstGeom>
                    </p:spPr>
                  </p:pic>
                </p:oleObj>
              </mc:Fallback>
            </mc:AlternateContent>
          </a:graphicData>
        </a:graphic>
      </p:graphicFrame>
      <p:sp>
        <p:nvSpPr>
          <p:cNvPr id="12" name="Slide Number Placeholder 11">
            <a:extLst>
              <a:ext uri="{FF2B5EF4-FFF2-40B4-BE49-F238E27FC236}">
                <a16:creationId xmlns:a16="http://schemas.microsoft.com/office/drawing/2014/main" id="{32810344-7882-4413-8B90-F6A6F189D50C}"/>
              </a:ext>
            </a:extLst>
          </p:cNvPr>
          <p:cNvSpPr>
            <a:spLocks noGrp="1"/>
          </p:cNvSpPr>
          <p:nvPr>
            <p:ph type="sldNum" sz="quarter" idx="10"/>
          </p:nvPr>
        </p:nvSpPr>
        <p:spPr/>
        <p:txBody>
          <a:bodyPr/>
          <a:lstStyle/>
          <a:p>
            <a:fld id="{67B19427-F580-D146-B60E-4CADEE75497F}" type="slidenum">
              <a:rPr lang="en-US" smtClean="0"/>
              <a:pPr/>
              <a:t>58</a:t>
            </a:fld>
            <a:endParaRPr lang="en-US" dirty="0"/>
          </a:p>
        </p:txBody>
      </p:sp>
      <p:sp>
        <p:nvSpPr>
          <p:cNvPr id="13" name="Footer Placeholder 12">
            <a:extLst>
              <a:ext uri="{FF2B5EF4-FFF2-40B4-BE49-F238E27FC236}">
                <a16:creationId xmlns:a16="http://schemas.microsoft.com/office/drawing/2014/main" id="{C1659715-1942-4F26-B347-E7E923961A98}"/>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4951913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C125F2-05A1-418A-9593-636BE4F30A26}"/>
              </a:ext>
            </a:extLst>
          </p:cNvPr>
          <p:cNvSpPr>
            <a:spLocks noGrp="1"/>
          </p:cNvSpPr>
          <p:nvPr>
            <p:ph type="title"/>
          </p:nvPr>
        </p:nvSpPr>
        <p:spPr>
          <a:xfrm>
            <a:off x="304800" y="533400"/>
            <a:ext cx="8686800" cy="691769"/>
          </a:xfrm>
        </p:spPr>
        <p:txBody>
          <a:bodyPr>
            <a:normAutofit fontScale="90000"/>
          </a:bodyPr>
          <a:lstStyle/>
          <a:p>
            <a:r>
              <a:rPr lang="en-US" dirty="0">
                <a:ea typeface="Source Sans Pro" charset="0"/>
              </a:rPr>
              <a:t>Do It</a:t>
            </a:r>
            <a:r>
              <a:rPr lang="en-US" dirty="0">
                <a:solidFill>
                  <a:srgbClr val="FF0000"/>
                </a:solidFill>
              </a:rPr>
              <a:t> AT HOME</a:t>
            </a:r>
            <a:r>
              <a:rPr lang="en-US" dirty="0">
                <a:ea typeface="Source Sans Pro" charset="0"/>
              </a:rPr>
              <a:t>! 2: </a:t>
            </a:r>
            <a:r>
              <a:rPr lang="en-US" dirty="0">
                <a:solidFill>
                  <a:srgbClr val="196E78"/>
                </a:solidFill>
                <a:ea typeface="Source Sans Pro" charset="0"/>
              </a:rPr>
              <a:t>Analyzing Stockholders’ Equity </a:t>
            </a:r>
            <a:r>
              <a:rPr lang="en-US" sz="2700" b="0" dirty="0">
                <a:solidFill>
                  <a:srgbClr val="196E78"/>
                </a:solidFill>
                <a:ea typeface="Source Sans Pro" charset="0"/>
              </a:rPr>
              <a:t>(3 of 3)</a:t>
            </a:r>
            <a:endParaRPr lang="en-US" sz="2700" b="0" dirty="0"/>
          </a:p>
        </p:txBody>
      </p:sp>
      <p:sp>
        <p:nvSpPr>
          <p:cNvPr id="3" name="Content Placeholder 2">
            <a:extLst>
              <a:ext uri="{FF2B5EF4-FFF2-40B4-BE49-F238E27FC236}">
                <a16:creationId xmlns:a16="http://schemas.microsoft.com/office/drawing/2014/main" id="{CD0D9BA0-43CF-4278-A425-3A45A890BBAA}"/>
              </a:ext>
            </a:extLst>
          </p:cNvPr>
          <p:cNvSpPr>
            <a:spLocks noGrp="1"/>
          </p:cNvSpPr>
          <p:nvPr>
            <p:ph sz="quarter" idx="16"/>
          </p:nvPr>
        </p:nvSpPr>
        <p:spPr>
          <a:xfrm>
            <a:off x="304800" y="1600200"/>
            <a:ext cx="8534400" cy="457200"/>
          </a:xfrm>
        </p:spPr>
        <p:txBody>
          <a:bodyPr/>
          <a:lstStyle/>
          <a:p>
            <a:r>
              <a:rPr lang="en-US" sz="2400" dirty="0"/>
              <a:t>(b) Discuss its change from 2019 to 2020.</a:t>
            </a:r>
          </a:p>
        </p:txBody>
      </p:sp>
      <p:sp>
        <p:nvSpPr>
          <p:cNvPr id="5" name="Content Placeholder 4">
            <a:extLst>
              <a:ext uri="{FF2B5EF4-FFF2-40B4-BE49-F238E27FC236}">
                <a16:creationId xmlns:a16="http://schemas.microsoft.com/office/drawing/2014/main" id="{AD56E48B-88EC-43D9-A16C-EEDE77C8CA54}"/>
              </a:ext>
            </a:extLst>
          </p:cNvPr>
          <p:cNvSpPr>
            <a:spLocks noGrp="1"/>
          </p:cNvSpPr>
          <p:nvPr>
            <p:ph sz="quarter" idx="17"/>
          </p:nvPr>
        </p:nvSpPr>
        <p:spPr>
          <a:xfrm>
            <a:off x="304800" y="2133600"/>
            <a:ext cx="8534400" cy="2819400"/>
          </a:xfrm>
        </p:spPr>
        <p:txBody>
          <a:bodyPr/>
          <a:lstStyle/>
          <a:p>
            <a:r>
              <a:rPr lang="en-US" sz="2400" dirty="0"/>
              <a:t>Between 2019 and 2020, return on common stockholders’ equity improved from 20% to 25%. While this would appear to be good news for the company’s common stockholders, this increase should be carefully evaluated. It is important to note that net income did not change during this period. The increase in the ratio was due to the purchase of treasury shares, which reduced the denominator of the ratio. As the company repurchases its own shares, it becomes more reliant on debt and thus increases its risk.</a:t>
            </a:r>
          </a:p>
        </p:txBody>
      </p:sp>
      <p:sp>
        <p:nvSpPr>
          <p:cNvPr id="6" name="Slide Number Placeholder 5">
            <a:extLst>
              <a:ext uri="{FF2B5EF4-FFF2-40B4-BE49-F238E27FC236}">
                <a16:creationId xmlns:a16="http://schemas.microsoft.com/office/drawing/2014/main" id="{D613E082-25AA-418E-B974-59290C6F3DA4}"/>
              </a:ext>
            </a:extLst>
          </p:cNvPr>
          <p:cNvSpPr>
            <a:spLocks noGrp="1"/>
          </p:cNvSpPr>
          <p:nvPr>
            <p:ph type="sldNum" sz="quarter" idx="10"/>
          </p:nvPr>
        </p:nvSpPr>
        <p:spPr/>
        <p:txBody>
          <a:bodyPr/>
          <a:lstStyle/>
          <a:p>
            <a:fld id="{67B19427-F580-D146-B60E-4CADEE75497F}" type="slidenum">
              <a:rPr lang="en-US" smtClean="0"/>
              <a:pPr/>
              <a:t>59</a:t>
            </a:fld>
            <a:endParaRPr lang="en-US" dirty="0"/>
          </a:p>
        </p:txBody>
      </p:sp>
      <p:sp>
        <p:nvSpPr>
          <p:cNvPr id="7" name="Footer Placeholder 6">
            <a:extLst>
              <a:ext uri="{FF2B5EF4-FFF2-40B4-BE49-F238E27FC236}">
                <a16:creationId xmlns:a16="http://schemas.microsoft.com/office/drawing/2014/main" id="{940E6B6E-A0EB-43F1-A559-FEE7F3450772}"/>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58837124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7EF46B-A748-4A81-8A67-0A4BC1AFA3B1}"/>
              </a:ext>
            </a:extLst>
          </p:cNvPr>
          <p:cNvSpPr>
            <a:spLocks noGrp="1"/>
          </p:cNvSpPr>
          <p:nvPr>
            <p:ph type="title"/>
          </p:nvPr>
        </p:nvSpPr>
        <p:spPr>
          <a:xfrm>
            <a:off x="-1772" y="457200"/>
            <a:ext cx="8307572" cy="609600"/>
          </a:xfrm>
        </p:spPr>
        <p:txBody>
          <a:bodyPr>
            <a:normAutofit fontScale="90000"/>
          </a:bodyPr>
          <a:lstStyle/>
          <a:p>
            <a:r>
              <a:rPr lang="en-US" b="1" dirty="0">
                <a:latin typeface="Calibri" panose="020F0502020204030204" pitchFamily="34" charset="0"/>
                <a:ea typeface="Source Sans Pro" charset="0"/>
                <a:cs typeface="Calibri" panose="020F0502020204030204" pitchFamily="34" charset="0"/>
              </a:rPr>
              <a:t>Income Statement Presentation</a:t>
            </a:r>
            <a:endParaRPr lang="en-US" sz="2400" b="1" dirty="0"/>
          </a:p>
        </p:txBody>
      </p:sp>
      <p:pic>
        <p:nvPicPr>
          <p:cNvPr id="9" name="Content Placeholder 8" descr="An illustration displays an income statement with income taxes. The statement has a three-line heading that contains the name of the company, Leads Incorporated; type of statement, income statement; and the time period, for the year ended December 31, 2020. The statement has two columns, the first one carries the parameters, and the second one is numeric. Sales revenue is $800,000. Cost of goods sold is 600,000. Gross profit is 200,000. The operating expenses come to 50,000. The income from operations is 150,000. The other revenues and gains are 10,000. The other expenses and losses are negative 4,000. Income before income taxes displayed in red font is 156,000. The income tax expense displayed in red font is 46,800. The net income is $109,200, double underlined.">
            <a:extLst>
              <a:ext uri="{FF2B5EF4-FFF2-40B4-BE49-F238E27FC236}">
                <a16:creationId xmlns:a16="http://schemas.microsoft.com/office/drawing/2014/main" id="{BE88582D-1CA0-40CE-9A44-C6013EFBA600}"/>
              </a:ext>
            </a:extLst>
          </p:cNvPr>
          <p:cNvPicPr>
            <a:picLocks noGrp="1" noChangeAspect="1"/>
          </p:cNvPicPr>
          <p:nvPr>
            <p:ph sz="quarter" idx="16"/>
          </p:nvPr>
        </p:nvPicPr>
        <p:blipFill>
          <a:blip r:embed="rId2">
            <a:extLst>
              <a:ext uri="{28A0092B-C50C-407E-A947-70E740481C1C}">
                <a14:useLocalDpi xmlns:a14="http://schemas.microsoft.com/office/drawing/2010/main" val="0"/>
              </a:ext>
            </a:extLst>
          </a:blip>
          <a:stretch>
            <a:fillRect/>
          </a:stretch>
        </p:blipFill>
        <p:spPr>
          <a:xfrm>
            <a:off x="6172200" y="1261103"/>
            <a:ext cx="2911461" cy="2777497"/>
          </a:xfrm>
        </p:spPr>
      </p:pic>
      <p:sp>
        <p:nvSpPr>
          <p:cNvPr id="5" name="Slide Number Placeholder 4">
            <a:extLst>
              <a:ext uri="{FF2B5EF4-FFF2-40B4-BE49-F238E27FC236}">
                <a16:creationId xmlns:a16="http://schemas.microsoft.com/office/drawing/2014/main" id="{6346442E-6EF1-4860-AD84-8626EDD33737}"/>
              </a:ext>
            </a:extLst>
          </p:cNvPr>
          <p:cNvSpPr>
            <a:spLocks noGrp="1"/>
          </p:cNvSpPr>
          <p:nvPr>
            <p:ph type="sldNum" sz="quarter" idx="10"/>
          </p:nvPr>
        </p:nvSpPr>
        <p:spPr/>
        <p:txBody>
          <a:bodyPr/>
          <a:lstStyle/>
          <a:p>
            <a:fld id="{67B19427-F580-D146-B60E-4CADEE75497F}" type="slidenum">
              <a:rPr lang="en-US" smtClean="0"/>
              <a:pPr/>
              <a:t>60</a:t>
            </a:fld>
            <a:endParaRPr lang="en-US" dirty="0"/>
          </a:p>
        </p:txBody>
      </p:sp>
      <p:sp>
        <p:nvSpPr>
          <p:cNvPr id="6" name="Footer Placeholder 5">
            <a:extLst>
              <a:ext uri="{FF2B5EF4-FFF2-40B4-BE49-F238E27FC236}">
                <a16:creationId xmlns:a16="http://schemas.microsoft.com/office/drawing/2014/main" id="{EBE84054-3FF0-48D1-9329-913163DDB227}"/>
              </a:ext>
            </a:extLst>
          </p:cNvPr>
          <p:cNvSpPr>
            <a:spLocks noGrp="1"/>
          </p:cNvSpPr>
          <p:nvPr>
            <p:ph type="ftr" sz="quarter" idx="11"/>
          </p:nvPr>
        </p:nvSpPr>
        <p:spPr/>
        <p:txBody>
          <a:bodyPr/>
          <a:lstStyle/>
          <a:p>
            <a:r>
              <a:rPr lang="en-US"/>
              <a:t>Copyright ©2018 John Wiley &amp; Sons, Inc. </a:t>
            </a:r>
            <a:endParaRPr lang="en-US" dirty="0"/>
          </a:p>
        </p:txBody>
      </p:sp>
      <p:sp>
        <p:nvSpPr>
          <p:cNvPr id="7" name="Content Placeholder 13">
            <a:extLst>
              <a:ext uri="{FF2B5EF4-FFF2-40B4-BE49-F238E27FC236}">
                <a16:creationId xmlns:a16="http://schemas.microsoft.com/office/drawing/2014/main" id="{FF1B53CD-D114-4634-9981-3126788CB6A4}"/>
              </a:ext>
            </a:extLst>
          </p:cNvPr>
          <p:cNvSpPr txBox="1">
            <a:spLocks/>
          </p:cNvSpPr>
          <p:nvPr/>
        </p:nvSpPr>
        <p:spPr>
          <a:xfrm>
            <a:off x="152400" y="3834911"/>
            <a:ext cx="8534400" cy="1515054"/>
          </a:xfrm>
          <a:prstGeom prst="rect">
            <a:avLst/>
          </a:prstGeom>
        </p:spPr>
        <p:txBody>
          <a:bodyPr/>
          <a:lstStyle>
            <a:lvl1pPr marL="0" indent="0" algn="l" defTabSz="914400" rtl="0" eaLnBrk="1" latinLnBrk="0" hangingPunct="1">
              <a:lnSpc>
                <a:spcPct val="90000"/>
              </a:lnSpc>
              <a:spcBef>
                <a:spcPts val="1000"/>
              </a:spcBef>
              <a:buFont typeface="Arial"/>
              <a:buNone/>
              <a:defRPr sz="2800" b="0" i="0" kern="1200">
                <a:solidFill>
                  <a:schemeClr val="tx1"/>
                </a:solidFill>
                <a:latin typeface="Calibri" charset="0"/>
                <a:ea typeface="Calibri" charset="0"/>
                <a:cs typeface="Calibri" charset="0"/>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endParaRPr lang="en-US" sz="2400" dirty="0">
              <a:latin typeface="Calibri" panose="020F0502020204030204" pitchFamily="34" charset="0"/>
            </a:endParaRPr>
          </a:p>
        </p:txBody>
      </p:sp>
      <p:sp>
        <p:nvSpPr>
          <p:cNvPr id="8" name="Content Placeholder 13">
            <a:extLst>
              <a:ext uri="{FF2B5EF4-FFF2-40B4-BE49-F238E27FC236}">
                <a16:creationId xmlns:a16="http://schemas.microsoft.com/office/drawing/2014/main" id="{646F2227-DBE3-437F-A9D6-C7FD732F3AB9}"/>
              </a:ext>
            </a:extLst>
          </p:cNvPr>
          <p:cNvSpPr txBox="1">
            <a:spLocks/>
          </p:cNvSpPr>
          <p:nvPr/>
        </p:nvSpPr>
        <p:spPr>
          <a:xfrm>
            <a:off x="22405" y="1015513"/>
            <a:ext cx="6149795" cy="3708887"/>
          </a:xfrm>
          <a:prstGeom prst="rect">
            <a:avLst/>
          </a:prstGeom>
        </p:spPr>
        <p:txBody>
          <a:bodyPr/>
          <a:lstStyle>
            <a:lvl1pPr marL="0" indent="0" algn="l" defTabSz="914400" rtl="0" eaLnBrk="1" latinLnBrk="0" hangingPunct="1">
              <a:lnSpc>
                <a:spcPct val="90000"/>
              </a:lnSpc>
              <a:spcBef>
                <a:spcPts val="1000"/>
              </a:spcBef>
              <a:buFont typeface="Arial"/>
              <a:buNone/>
              <a:defRPr sz="2800" b="0" i="0" kern="1200">
                <a:solidFill>
                  <a:schemeClr val="tx1"/>
                </a:solidFill>
                <a:latin typeface="Calibri" charset="0"/>
                <a:ea typeface="Calibri" charset="0"/>
                <a:cs typeface="Calibri" charset="0"/>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342900" indent="-342900">
              <a:buFont typeface="Arial" panose="020B0604020202020204" pitchFamily="34" charset="0"/>
              <a:buChar char="•"/>
            </a:pPr>
            <a:r>
              <a:rPr lang="en-US" sz="2400" dirty="0"/>
              <a:t>On the income statement, corporations report “income before income taxes” first, from which they subtract “income tax expense”, which results in “net income”.</a:t>
            </a:r>
          </a:p>
          <a:p>
            <a:pPr marL="342900" indent="-342900">
              <a:buFont typeface="Arial" panose="020B0604020202020204" pitchFamily="34" charset="0"/>
              <a:buChar char="•"/>
            </a:pPr>
            <a:r>
              <a:rPr lang="en-US" sz="2400" dirty="0">
                <a:latin typeface="Calibri" panose="020F0502020204030204" pitchFamily="34" charset="0"/>
              </a:rPr>
              <a:t>Companies record income tax expense and the related liability for income taxes payable as part of the adjusting process. </a:t>
            </a:r>
          </a:p>
          <a:p>
            <a:pPr marL="342900" indent="-342900">
              <a:buFont typeface="Arial" panose="020B0604020202020204" pitchFamily="34" charset="0"/>
              <a:buChar char="•"/>
            </a:pPr>
            <a:r>
              <a:rPr lang="en-US" sz="2400" dirty="0">
                <a:latin typeface="Calibri" panose="020F0502020204030204" pitchFamily="34" charset="0"/>
              </a:rPr>
              <a:t>Using the data for Leads Inc., the adjusting entry for income tax expense at December 31, 2020, is as follows.:</a:t>
            </a:r>
          </a:p>
        </p:txBody>
      </p:sp>
      <p:sp>
        <p:nvSpPr>
          <p:cNvPr id="10" name="Content Placeholder 14">
            <a:extLst>
              <a:ext uri="{FF2B5EF4-FFF2-40B4-BE49-F238E27FC236}">
                <a16:creationId xmlns:a16="http://schemas.microsoft.com/office/drawing/2014/main" id="{46613311-25EE-4607-9AC0-CE29549A327F}"/>
              </a:ext>
            </a:extLst>
          </p:cNvPr>
          <p:cNvSpPr txBox="1">
            <a:spLocks/>
          </p:cNvSpPr>
          <p:nvPr/>
        </p:nvSpPr>
        <p:spPr>
          <a:xfrm>
            <a:off x="685800" y="4912304"/>
            <a:ext cx="2971800" cy="365125"/>
          </a:xfrm>
          <a:prstGeom prst="rect">
            <a:avLst/>
          </a:prstGeom>
        </p:spPr>
        <p:txBody>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r>
              <a:rPr lang="en-US" sz="2400" dirty="0">
                <a:latin typeface="Calibri" panose="020F0502020204030204" pitchFamily="34" charset="0"/>
              </a:rPr>
              <a:t>Income Tax Expense</a:t>
            </a:r>
          </a:p>
        </p:txBody>
      </p:sp>
      <p:sp>
        <p:nvSpPr>
          <p:cNvPr id="11" name="Content Placeholder 15">
            <a:extLst>
              <a:ext uri="{FF2B5EF4-FFF2-40B4-BE49-F238E27FC236}">
                <a16:creationId xmlns:a16="http://schemas.microsoft.com/office/drawing/2014/main" id="{550B1E5F-D82C-478B-BD45-9DDBB9A3EDEE}"/>
              </a:ext>
            </a:extLst>
          </p:cNvPr>
          <p:cNvSpPr txBox="1">
            <a:spLocks/>
          </p:cNvSpPr>
          <p:nvPr/>
        </p:nvSpPr>
        <p:spPr>
          <a:xfrm>
            <a:off x="6159500" y="4902779"/>
            <a:ext cx="1054835" cy="365125"/>
          </a:xfrm>
          <a:prstGeom prst="rect">
            <a:avLst/>
          </a:prstGeom>
        </p:spPr>
        <p:txBody>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r>
              <a:rPr lang="en-US" sz="2400" dirty="0">
                <a:latin typeface="Calibri" panose="020F0502020204030204" pitchFamily="34" charset="0"/>
              </a:rPr>
              <a:t>46,800</a:t>
            </a:r>
          </a:p>
        </p:txBody>
      </p:sp>
      <p:sp>
        <p:nvSpPr>
          <p:cNvPr id="12" name="Content Placeholder 16">
            <a:extLst>
              <a:ext uri="{FF2B5EF4-FFF2-40B4-BE49-F238E27FC236}">
                <a16:creationId xmlns:a16="http://schemas.microsoft.com/office/drawing/2014/main" id="{4D532F55-EF10-414D-AB1B-C09A34E712B2}"/>
              </a:ext>
            </a:extLst>
          </p:cNvPr>
          <p:cNvSpPr txBox="1">
            <a:spLocks/>
          </p:cNvSpPr>
          <p:nvPr/>
        </p:nvSpPr>
        <p:spPr>
          <a:xfrm>
            <a:off x="914400" y="5293304"/>
            <a:ext cx="4771161" cy="726496"/>
          </a:xfrm>
          <a:prstGeom prst="rect">
            <a:avLst/>
          </a:prstGeom>
        </p:spPr>
        <p:txBody>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r>
              <a:rPr lang="en-US" sz="2400" dirty="0">
                <a:latin typeface="Calibri" panose="020F0502020204030204" pitchFamily="34" charset="0"/>
              </a:rPr>
              <a:t>Income Taxes Payable</a:t>
            </a:r>
          </a:p>
          <a:p>
            <a:pPr marL="41275" indent="0">
              <a:spcBef>
                <a:spcPts val="0"/>
              </a:spcBef>
              <a:buNone/>
            </a:pPr>
            <a:r>
              <a:rPr lang="en-US" sz="2400" dirty="0">
                <a:latin typeface="Calibri" panose="020F0502020204030204" pitchFamily="34" charset="0"/>
              </a:rPr>
              <a:t>(To record income taxes for 2020)</a:t>
            </a:r>
          </a:p>
        </p:txBody>
      </p:sp>
      <p:sp>
        <p:nvSpPr>
          <p:cNvPr id="13" name="Content Placeholder 17">
            <a:extLst>
              <a:ext uri="{FF2B5EF4-FFF2-40B4-BE49-F238E27FC236}">
                <a16:creationId xmlns:a16="http://schemas.microsoft.com/office/drawing/2014/main" id="{9A91617A-AF76-497B-8E98-A727734A656A}"/>
              </a:ext>
            </a:extLst>
          </p:cNvPr>
          <p:cNvSpPr txBox="1">
            <a:spLocks/>
          </p:cNvSpPr>
          <p:nvPr/>
        </p:nvSpPr>
        <p:spPr>
          <a:xfrm>
            <a:off x="7622553" y="5293304"/>
            <a:ext cx="1064247" cy="365125"/>
          </a:xfrm>
          <a:prstGeom prst="rect">
            <a:avLst/>
          </a:prstGeom>
        </p:spPr>
        <p:txBody>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r>
              <a:rPr lang="en-US" sz="2400" dirty="0">
                <a:latin typeface="Calibri" panose="020F0502020204030204" pitchFamily="34" charset="0"/>
              </a:rPr>
              <a:t>46,800</a:t>
            </a:r>
          </a:p>
        </p:txBody>
      </p:sp>
    </p:spTree>
    <p:extLst>
      <p:ext uri="{BB962C8B-B14F-4D97-AF65-F5344CB8AC3E}">
        <p14:creationId xmlns:p14="http://schemas.microsoft.com/office/powerpoint/2010/main" val="26971853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xEl>
                                              <p:pRg st="0" end="0"/>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
                                            <p:txEl>
                                              <p:pRg st="1" end="1"/>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P spid="11" grpId="0" build="p"/>
      <p:bldP spid="12" grpId="0" uiExpand="1" build="p"/>
      <p:bldP spid="13" grpId="0" build="p"/>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9E4346-B2BD-4600-82F7-AE21A4045A43}"/>
              </a:ext>
            </a:extLst>
          </p:cNvPr>
          <p:cNvSpPr>
            <a:spLocks noGrp="1"/>
          </p:cNvSpPr>
          <p:nvPr>
            <p:ph type="title"/>
          </p:nvPr>
        </p:nvSpPr>
        <p:spPr>
          <a:xfrm>
            <a:off x="152400" y="533400"/>
            <a:ext cx="8534400" cy="533400"/>
          </a:xfrm>
        </p:spPr>
        <p:txBody>
          <a:bodyPr>
            <a:normAutofit fontScale="90000"/>
          </a:bodyPr>
          <a:lstStyle/>
          <a:p>
            <a:r>
              <a:rPr lang="en-US" b="1" dirty="0">
                <a:latin typeface="Calibri" panose="020F0502020204030204" pitchFamily="34" charset="0"/>
                <a:ea typeface="Source Sans Pro" charset="0"/>
                <a:cs typeface="Calibri" panose="020F0502020204030204" pitchFamily="34" charset="0"/>
              </a:rPr>
              <a:t>Income Statement Analysis </a:t>
            </a:r>
            <a:endParaRPr lang="en-US" sz="2400" b="1" dirty="0"/>
          </a:p>
        </p:txBody>
      </p:sp>
      <p:sp>
        <p:nvSpPr>
          <p:cNvPr id="3" name="Content Placeholder 2">
            <a:extLst>
              <a:ext uri="{FF2B5EF4-FFF2-40B4-BE49-F238E27FC236}">
                <a16:creationId xmlns:a16="http://schemas.microsoft.com/office/drawing/2014/main" id="{2E94A2A5-7F1E-46DB-80A6-AD13A218466E}"/>
              </a:ext>
            </a:extLst>
          </p:cNvPr>
          <p:cNvSpPr>
            <a:spLocks noGrp="1"/>
          </p:cNvSpPr>
          <p:nvPr>
            <p:ph sz="quarter" idx="16"/>
          </p:nvPr>
        </p:nvSpPr>
        <p:spPr>
          <a:xfrm>
            <a:off x="152400" y="1066800"/>
            <a:ext cx="8839200" cy="3657600"/>
          </a:xfrm>
        </p:spPr>
        <p:txBody>
          <a:bodyPr/>
          <a:lstStyle/>
          <a:p>
            <a:pPr marL="4763" lvl="1" indent="0">
              <a:spcBef>
                <a:spcPts val="1000"/>
              </a:spcBef>
              <a:buNone/>
            </a:pPr>
            <a:r>
              <a:rPr lang="en-US" altLang="en-US" b="1" dirty="0">
                <a:latin typeface="Calibri" panose="020F0502020204030204" pitchFamily="34" charset="0"/>
              </a:rPr>
              <a:t>E</a:t>
            </a:r>
            <a:r>
              <a:rPr lang="en-US" altLang="en-US" sz="100" b="1" dirty="0">
                <a:latin typeface="Calibri" panose="020F0502020204030204" pitchFamily="34" charset="0"/>
              </a:rPr>
              <a:t> </a:t>
            </a:r>
            <a:r>
              <a:rPr lang="en-US" altLang="en-US" b="1" dirty="0">
                <a:latin typeface="Calibri" panose="020F0502020204030204" pitchFamily="34" charset="0"/>
              </a:rPr>
              <a:t>P</a:t>
            </a:r>
            <a:r>
              <a:rPr lang="en-US" altLang="en-US" sz="100" b="1" dirty="0">
                <a:latin typeface="Calibri" panose="020F0502020204030204" pitchFamily="34" charset="0"/>
              </a:rPr>
              <a:t> </a:t>
            </a:r>
            <a:r>
              <a:rPr lang="en-US" altLang="en-US" b="1" dirty="0">
                <a:latin typeface="Calibri" panose="020F0502020204030204" pitchFamily="34" charset="0"/>
              </a:rPr>
              <a:t>S and Preferred Dividends: </a:t>
            </a:r>
            <a:r>
              <a:rPr lang="en-US" altLang="en-US" dirty="0">
                <a:latin typeface="Calibri" panose="020F0502020204030204" pitchFamily="34" charset="0"/>
              </a:rPr>
              <a:t>Stockholders and potential investors use earnings data of companies to evaluate their profitability. A convenient measure of earnings is </a:t>
            </a:r>
            <a:r>
              <a:rPr lang="en-US" altLang="en-US" b="1" dirty="0">
                <a:latin typeface="Calibri" panose="020F0502020204030204" pitchFamily="34" charset="0"/>
              </a:rPr>
              <a:t>earnings per share </a:t>
            </a:r>
            <a:r>
              <a:rPr lang="en-US" altLang="en-US" dirty="0">
                <a:latin typeface="Calibri" panose="020F0502020204030204" pitchFamily="34" charset="0"/>
              </a:rPr>
              <a:t>(EPS), which indicates the net income earned by each share of outstanding common stock.</a:t>
            </a:r>
          </a:p>
          <a:p>
            <a:pPr marL="4763" lvl="1" indent="0">
              <a:spcBef>
                <a:spcPts val="1000"/>
              </a:spcBef>
              <a:buNone/>
            </a:pPr>
            <a:r>
              <a:rPr lang="en-US" dirty="0">
                <a:latin typeface="Calibri" panose="020F0502020204030204" pitchFamily="34" charset="0"/>
              </a:rPr>
              <a:t>To illustrate, assume that Rally Inc. reports net income of $211,000 on its 102,500 weighted-average common shares. During the year, it also declares a $6,000 dividend on its preferred stock. Therefore, the amount Rally has available for common stock dividends is $205,000 ($211,000 − $6,000). Earnings per share is calculated as follows.</a:t>
            </a:r>
            <a:endParaRPr lang="en-US" altLang="en-US" dirty="0">
              <a:latin typeface="Calibri" panose="020F0502020204030204" pitchFamily="34" charset="0"/>
            </a:endParaRPr>
          </a:p>
        </p:txBody>
      </p:sp>
      <p:sp>
        <p:nvSpPr>
          <p:cNvPr id="4" name="Slide Number Placeholder 3">
            <a:extLst>
              <a:ext uri="{FF2B5EF4-FFF2-40B4-BE49-F238E27FC236}">
                <a16:creationId xmlns:a16="http://schemas.microsoft.com/office/drawing/2014/main" id="{D2DAB81C-15C1-4181-B861-C9ABCF6897F7}"/>
              </a:ext>
            </a:extLst>
          </p:cNvPr>
          <p:cNvSpPr>
            <a:spLocks noGrp="1"/>
          </p:cNvSpPr>
          <p:nvPr>
            <p:ph type="sldNum" sz="quarter" idx="10"/>
          </p:nvPr>
        </p:nvSpPr>
        <p:spPr/>
        <p:txBody>
          <a:bodyPr/>
          <a:lstStyle/>
          <a:p>
            <a:fld id="{67B19427-F580-D146-B60E-4CADEE75497F}" type="slidenum">
              <a:rPr lang="en-US" smtClean="0"/>
              <a:pPr/>
              <a:t>61</a:t>
            </a:fld>
            <a:endParaRPr lang="en-US" dirty="0"/>
          </a:p>
        </p:txBody>
      </p:sp>
      <p:sp>
        <p:nvSpPr>
          <p:cNvPr id="5" name="Footer Placeholder 4">
            <a:extLst>
              <a:ext uri="{FF2B5EF4-FFF2-40B4-BE49-F238E27FC236}">
                <a16:creationId xmlns:a16="http://schemas.microsoft.com/office/drawing/2014/main" id="{2B74D53C-B3C2-4812-8173-06A9609B3B32}"/>
              </a:ext>
            </a:extLst>
          </p:cNvPr>
          <p:cNvSpPr>
            <a:spLocks noGrp="1"/>
          </p:cNvSpPr>
          <p:nvPr>
            <p:ph type="ftr" sz="quarter" idx="11"/>
          </p:nvPr>
        </p:nvSpPr>
        <p:spPr/>
        <p:txBody>
          <a:bodyPr/>
          <a:lstStyle/>
          <a:p>
            <a:r>
              <a:rPr lang="en-US"/>
              <a:t>Copyright ©2018 John Wiley &amp; Sons, Inc. </a:t>
            </a:r>
            <a:endParaRPr lang="en-US" dirty="0"/>
          </a:p>
        </p:txBody>
      </p:sp>
      <p:grpSp>
        <p:nvGrpSpPr>
          <p:cNvPr id="13" name="Group 12">
            <a:extLst>
              <a:ext uri="{FF2B5EF4-FFF2-40B4-BE49-F238E27FC236}">
                <a16:creationId xmlns:a16="http://schemas.microsoft.com/office/drawing/2014/main" id="{A5B01889-D240-49FF-82AF-9F5289C43EC9}"/>
              </a:ext>
            </a:extLst>
          </p:cNvPr>
          <p:cNvGrpSpPr/>
          <p:nvPr/>
        </p:nvGrpSpPr>
        <p:grpSpPr>
          <a:xfrm>
            <a:off x="1219200" y="4696331"/>
            <a:ext cx="5855001" cy="1323469"/>
            <a:chOff x="1219200" y="4696331"/>
            <a:chExt cx="5855001" cy="1323469"/>
          </a:xfrm>
        </p:grpSpPr>
        <p:pic>
          <p:nvPicPr>
            <p:cNvPr id="11" name="Picture 10">
              <a:extLst>
                <a:ext uri="{FF2B5EF4-FFF2-40B4-BE49-F238E27FC236}">
                  <a16:creationId xmlns:a16="http://schemas.microsoft.com/office/drawing/2014/main" id="{83597062-B5CA-4651-8FA2-092B113B9887}"/>
                </a:ext>
              </a:extLst>
            </p:cNvPr>
            <p:cNvPicPr>
              <a:picLocks noChangeAspect="1"/>
            </p:cNvPicPr>
            <p:nvPr/>
          </p:nvPicPr>
          <p:blipFill>
            <a:blip r:embed="rId3"/>
            <a:stretch>
              <a:fillRect/>
            </a:stretch>
          </p:blipFill>
          <p:spPr>
            <a:xfrm>
              <a:off x="1219200" y="4696331"/>
              <a:ext cx="5855001" cy="787440"/>
            </a:xfrm>
            <a:prstGeom prst="rect">
              <a:avLst/>
            </a:prstGeom>
          </p:spPr>
        </p:pic>
        <p:graphicFrame>
          <p:nvGraphicFramePr>
            <p:cNvPr id="12" name="Content Placeholder 10" descr="Net Income, $211,000, minus Preferred Dividends, $6,000, divided by, Weight-Average Common Shares Outstanding, $102,500 = Earings per Share, $2.00, displayed in red font.">
              <a:extLst>
                <a:ext uri="{FF2B5EF4-FFF2-40B4-BE49-F238E27FC236}">
                  <a16:creationId xmlns:a16="http://schemas.microsoft.com/office/drawing/2014/main" id="{F5C27CF5-9E50-4E5B-AE8C-E2E4ABD744E9}"/>
                </a:ext>
              </a:extLst>
            </p:cNvPr>
            <p:cNvGraphicFramePr>
              <a:graphicFrameLocks noChangeAspect="1"/>
            </p:cNvGraphicFramePr>
            <p:nvPr>
              <p:extLst/>
            </p:nvPr>
          </p:nvGraphicFramePr>
          <p:xfrm>
            <a:off x="1247336" y="5671482"/>
            <a:ext cx="5773702" cy="348318"/>
          </p:xfrm>
          <a:graphic>
            <a:graphicData uri="http://schemas.openxmlformats.org/presentationml/2006/ole">
              <mc:AlternateContent xmlns:mc="http://schemas.openxmlformats.org/markup-compatibility/2006">
                <mc:Choice xmlns:v="urn:schemas-microsoft-com:vml" Requires="v">
                  <p:oleObj spid="_x0000_s17411" name="Equation" r:id="rId4" imgW="3162240" imgH="190440" progId="Equation.DSMT4">
                    <p:embed/>
                  </p:oleObj>
                </mc:Choice>
                <mc:Fallback>
                  <p:oleObj name="Equation" r:id="rId4" imgW="3162240" imgH="190440" progId="Equation.DSMT4">
                    <p:embed/>
                    <p:pic>
                      <p:nvPicPr>
                        <p:cNvPr id="12" name="Content Placeholder 10" descr="Net Income, $211,000, minus Preferred Dividends, $6,000, divided by, Weight-Average Common Shares Outstanding, $102,500 = Earings per Share, $2.00, displayed in red font.">
                          <a:extLst>
                            <a:ext uri="{FF2B5EF4-FFF2-40B4-BE49-F238E27FC236}">
                              <a16:creationId xmlns:a16="http://schemas.microsoft.com/office/drawing/2014/main" id="{F5C27CF5-9E50-4E5B-AE8C-E2E4ABD744E9}"/>
                            </a:ext>
                          </a:extLst>
                        </p:cNvPr>
                        <p:cNvPicPr/>
                        <p:nvPr/>
                      </p:nvPicPr>
                      <p:blipFill>
                        <a:blip r:embed="rId5"/>
                        <a:stretch>
                          <a:fillRect/>
                        </a:stretch>
                      </p:blipFill>
                      <p:spPr>
                        <a:xfrm>
                          <a:off x="1247336" y="5671482"/>
                          <a:ext cx="5773702" cy="348318"/>
                        </a:xfrm>
                        <a:prstGeom prst="rect">
                          <a:avLst/>
                        </a:prstGeom>
                        <a:ln>
                          <a:solidFill>
                            <a:schemeClr val="tx1"/>
                          </a:solidFill>
                        </a:ln>
                      </p:spPr>
                    </p:pic>
                  </p:oleObj>
                </mc:Fallback>
              </mc:AlternateContent>
            </a:graphicData>
          </a:graphic>
        </p:graphicFrame>
      </p:grpSp>
    </p:spTree>
    <p:extLst>
      <p:ext uri="{BB962C8B-B14F-4D97-AF65-F5344CB8AC3E}">
        <p14:creationId xmlns:p14="http://schemas.microsoft.com/office/powerpoint/2010/main" val="19156520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C125F2-05A1-418A-9593-636BE4F30A26}"/>
              </a:ext>
            </a:extLst>
          </p:cNvPr>
          <p:cNvSpPr>
            <a:spLocks noGrp="1"/>
          </p:cNvSpPr>
          <p:nvPr>
            <p:ph type="title"/>
          </p:nvPr>
        </p:nvSpPr>
        <p:spPr>
          <a:xfrm>
            <a:off x="304800" y="762001"/>
            <a:ext cx="8534400" cy="697944"/>
          </a:xfrm>
        </p:spPr>
        <p:txBody>
          <a:bodyPr>
            <a:normAutofit/>
          </a:bodyPr>
          <a:lstStyle/>
          <a:p>
            <a:r>
              <a:rPr lang="en-US" dirty="0">
                <a:ea typeface="Source Sans Pro" charset="0"/>
              </a:rPr>
              <a:t>Do It</a:t>
            </a:r>
            <a:r>
              <a:rPr lang="en-US" dirty="0">
                <a:solidFill>
                  <a:srgbClr val="FF0000"/>
                </a:solidFill>
              </a:rPr>
              <a:t> AT HOME</a:t>
            </a:r>
            <a:r>
              <a:rPr lang="en-US" dirty="0">
                <a:ea typeface="Source Sans Pro" charset="0"/>
              </a:rPr>
              <a:t>! 3: </a:t>
            </a:r>
            <a:r>
              <a:rPr lang="en-US" dirty="0">
                <a:solidFill>
                  <a:srgbClr val="196E78"/>
                </a:solidFill>
                <a:ea typeface="Source Sans Pro" charset="0"/>
              </a:rPr>
              <a:t>E</a:t>
            </a:r>
            <a:r>
              <a:rPr lang="en-US" sz="100" dirty="0">
                <a:solidFill>
                  <a:srgbClr val="196E78"/>
                </a:solidFill>
                <a:ea typeface="Source Sans Pro" charset="0"/>
              </a:rPr>
              <a:t> </a:t>
            </a:r>
            <a:r>
              <a:rPr lang="en-US" dirty="0">
                <a:solidFill>
                  <a:srgbClr val="196E78"/>
                </a:solidFill>
                <a:ea typeface="Source Sans Pro" charset="0"/>
              </a:rPr>
              <a:t>P</a:t>
            </a:r>
            <a:r>
              <a:rPr lang="en-US" sz="100" dirty="0">
                <a:solidFill>
                  <a:srgbClr val="196E78"/>
                </a:solidFill>
                <a:ea typeface="Source Sans Pro" charset="0"/>
              </a:rPr>
              <a:t> </a:t>
            </a:r>
            <a:r>
              <a:rPr lang="en-US" dirty="0">
                <a:solidFill>
                  <a:srgbClr val="196E78"/>
                </a:solidFill>
                <a:ea typeface="Source Sans Pro" charset="0"/>
              </a:rPr>
              <a:t>S </a:t>
            </a:r>
            <a:r>
              <a:rPr lang="en-US" sz="2400" b="0" dirty="0">
                <a:solidFill>
                  <a:srgbClr val="196E78"/>
                </a:solidFill>
                <a:ea typeface="Source Sans Pro" charset="0"/>
              </a:rPr>
              <a:t>(1 of 3)</a:t>
            </a:r>
            <a:endParaRPr lang="en-US" sz="2400" b="0" dirty="0"/>
          </a:p>
        </p:txBody>
      </p:sp>
      <p:sp>
        <p:nvSpPr>
          <p:cNvPr id="3" name="Content Placeholder 2">
            <a:extLst>
              <a:ext uri="{FF2B5EF4-FFF2-40B4-BE49-F238E27FC236}">
                <a16:creationId xmlns:a16="http://schemas.microsoft.com/office/drawing/2014/main" id="{CD0D9BA0-43CF-4278-A425-3A45A890BBAA}"/>
              </a:ext>
            </a:extLst>
          </p:cNvPr>
          <p:cNvSpPr>
            <a:spLocks noGrp="1"/>
          </p:cNvSpPr>
          <p:nvPr>
            <p:ph sz="quarter" idx="16"/>
          </p:nvPr>
        </p:nvSpPr>
        <p:spPr>
          <a:xfrm>
            <a:off x="304800" y="1600200"/>
            <a:ext cx="8610600" cy="697944"/>
          </a:xfrm>
        </p:spPr>
        <p:txBody>
          <a:bodyPr/>
          <a:lstStyle/>
          <a:p>
            <a:r>
              <a:rPr lang="en-US" sz="2200" dirty="0"/>
              <a:t>On January 1, 2020, Siena Corporation purchased 2,000 shares of treasury stock. Other information regarding Siena Corporation is provided below</a:t>
            </a:r>
            <a:r>
              <a:rPr lang="en-US" altLang="en-US" sz="2200" dirty="0"/>
              <a:t>.</a:t>
            </a:r>
            <a:endParaRPr lang="en-US" sz="2200" dirty="0"/>
          </a:p>
        </p:txBody>
      </p:sp>
      <p:graphicFrame>
        <p:nvGraphicFramePr>
          <p:cNvPr id="12" name="Content Placeholder 11" descr="Table is accessible to screenreaders">
            <a:extLst>
              <a:ext uri="{FF2B5EF4-FFF2-40B4-BE49-F238E27FC236}">
                <a16:creationId xmlns:a16="http://schemas.microsoft.com/office/drawing/2014/main" id="{F640397F-0C7F-4B4F-AD64-606382E15ED4}"/>
              </a:ext>
            </a:extLst>
          </p:cNvPr>
          <p:cNvGraphicFramePr>
            <a:graphicFrameLocks noGrp="1"/>
          </p:cNvGraphicFramePr>
          <p:nvPr>
            <p:ph sz="quarter" idx="17"/>
          </p:nvPr>
        </p:nvGraphicFramePr>
        <p:xfrm>
          <a:off x="304799" y="2362200"/>
          <a:ext cx="8525934" cy="2773680"/>
        </p:xfrm>
        <a:graphic>
          <a:graphicData uri="http://schemas.openxmlformats.org/drawingml/2006/table">
            <a:tbl>
              <a:tblPr firstRow="1" bandRow="1">
                <a:tableStyleId>{5C22544A-7EE6-4342-B048-85BDC9FD1C3A}</a:tableStyleId>
              </a:tblPr>
              <a:tblGrid>
                <a:gridCol w="6019801">
                  <a:extLst>
                    <a:ext uri="{9D8B030D-6E8A-4147-A177-3AD203B41FA5}">
                      <a16:colId xmlns:a16="http://schemas.microsoft.com/office/drawing/2014/main" val="4288204268"/>
                    </a:ext>
                  </a:extLst>
                </a:gridCol>
                <a:gridCol w="1219200">
                  <a:extLst>
                    <a:ext uri="{9D8B030D-6E8A-4147-A177-3AD203B41FA5}">
                      <a16:colId xmlns:a16="http://schemas.microsoft.com/office/drawing/2014/main" val="3522940043"/>
                    </a:ext>
                  </a:extLst>
                </a:gridCol>
                <a:gridCol w="1286933">
                  <a:extLst>
                    <a:ext uri="{9D8B030D-6E8A-4147-A177-3AD203B41FA5}">
                      <a16:colId xmlns:a16="http://schemas.microsoft.com/office/drawing/2014/main" val="4087829021"/>
                    </a:ext>
                  </a:extLst>
                </a:gridCol>
              </a:tblGrid>
              <a:tr h="370840">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en-US" sz="2000" b="1" i="0" u="sng" strike="noStrike" baseline="0" dirty="0">
                        <a:solidFill>
                          <a:srgbClr val="000000"/>
                        </a:solidFill>
                        <a:effectLst/>
                        <a:latin typeface="Calibri" panose="020F0502020204030204" pitchFamily="34" charset="0"/>
                      </a:endParaRPr>
                    </a:p>
                  </a:txBody>
                  <a:tcPr anchor="ctr">
                    <a:solidFill>
                      <a:schemeClr val="bg1"/>
                    </a:solidFill>
                  </a:tcPr>
                </a:tc>
                <a:tc>
                  <a:txBody>
                    <a:bodyPr/>
                    <a:lstStyle/>
                    <a:p>
                      <a:pPr algn="ctr" fontAlgn="b">
                        <a:lnSpc>
                          <a:spcPct val="90000"/>
                        </a:lnSpc>
                      </a:pPr>
                      <a:r>
                        <a:rPr lang="en-US" sz="2000" b="1" i="0" u="none" strike="noStrike" baseline="0" dirty="0">
                          <a:solidFill>
                            <a:srgbClr val="000000"/>
                          </a:solidFill>
                          <a:effectLst/>
                          <a:latin typeface="Calibri" panose="020F0502020204030204" pitchFamily="34" charset="0"/>
                        </a:rPr>
                        <a:t>2019</a:t>
                      </a:r>
                    </a:p>
                  </a:txBody>
                  <a:tcPr anchor="b">
                    <a:lnB w="12700" cap="flat" cmpd="sng" algn="ctr">
                      <a:solidFill>
                        <a:schemeClr val="tx1"/>
                      </a:solidFill>
                      <a:prstDash val="solid"/>
                      <a:round/>
                      <a:headEnd type="none" w="med" len="med"/>
                      <a:tailEnd type="none" w="med" len="med"/>
                    </a:lnB>
                    <a:solidFill>
                      <a:schemeClr val="bg1"/>
                    </a:solidFill>
                  </a:tcPr>
                </a:tc>
                <a:tc>
                  <a:txBody>
                    <a:bodyPr/>
                    <a:lstStyle/>
                    <a:p>
                      <a:pPr algn="ctr" fontAlgn="b">
                        <a:lnSpc>
                          <a:spcPct val="90000"/>
                        </a:lnSpc>
                      </a:pPr>
                      <a:r>
                        <a:rPr lang="en-US" sz="2000" b="1" i="0" u="none" strike="noStrike" baseline="0" dirty="0">
                          <a:solidFill>
                            <a:srgbClr val="000000"/>
                          </a:solidFill>
                          <a:effectLst/>
                          <a:latin typeface="Calibri" panose="020F0502020204030204" pitchFamily="34" charset="0"/>
                        </a:rPr>
                        <a:t>2020</a:t>
                      </a:r>
                    </a:p>
                  </a:txBody>
                  <a:tcPr anchor="b">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23258494"/>
                  </a:ext>
                </a:extLst>
              </a:tr>
              <a:tr h="370840">
                <a:tc>
                  <a:txBody>
                    <a:bodyPr/>
                    <a:lstStyle/>
                    <a:p>
                      <a:pPr algn="l" fontAlgn="b"/>
                      <a:r>
                        <a:rPr lang="en-US" sz="2000" b="0" i="0" u="none" strike="noStrike" kern="1200" baseline="0" dirty="0">
                          <a:solidFill>
                            <a:schemeClr val="dk1"/>
                          </a:solidFill>
                          <a:effectLst/>
                          <a:latin typeface="Calibri" panose="020F0502020204030204" pitchFamily="34" charset="0"/>
                          <a:ea typeface="+mn-ea"/>
                          <a:cs typeface="+mn-cs"/>
                        </a:rPr>
                        <a:t>Net income</a:t>
                      </a:r>
                    </a:p>
                  </a:txBody>
                  <a:tcPr anchor="b">
                    <a:solidFill>
                      <a:schemeClr val="bg1"/>
                    </a:solidFill>
                  </a:tcPr>
                </a:tc>
                <a:tc>
                  <a:txBody>
                    <a:bodyPr/>
                    <a:lstStyle/>
                    <a:p>
                      <a:pPr algn="r" fontAlgn="b"/>
                      <a:r>
                        <a:rPr lang="en-US" sz="2000" b="0" i="0" u="none" strike="noStrike" kern="1200" baseline="0" dirty="0">
                          <a:solidFill>
                            <a:schemeClr val="dk1"/>
                          </a:solidFill>
                          <a:effectLst/>
                          <a:latin typeface="Calibri" panose="020F0502020204030204" pitchFamily="34" charset="0"/>
                          <a:ea typeface="+mn-ea"/>
                          <a:cs typeface="+mn-cs"/>
                        </a:rPr>
                        <a:t>$110,000</a:t>
                      </a:r>
                    </a:p>
                  </a:txBody>
                  <a:tcPr anchor="b">
                    <a:lnT w="12700" cap="flat" cmpd="sng" algn="ctr">
                      <a:solidFill>
                        <a:schemeClr val="tx1"/>
                      </a:solidFill>
                      <a:prstDash val="solid"/>
                      <a:round/>
                      <a:headEnd type="none" w="med" len="med"/>
                      <a:tailEnd type="none" w="med" len="med"/>
                    </a:lnT>
                    <a:solidFill>
                      <a:schemeClr val="bg1"/>
                    </a:solidFill>
                  </a:tcPr>
                </a:tc>
                <a:tc>
                  <a:txBody>
                    <a:bodyPr/>
                    <a:lstStyle/>
                    <a:p>
                      <a:pPr algn="r" fontAlgn="b"/>
                      <a:r>
                        <a:rPr lang="en-US" sz="2000" b="0" i="0" u="none" strike="noStrike" kern="1200" baseline="0" dirty="0">
                          <a:solidFill>
                            <a:schemeClr val="dk1"/>
                          </a:solidFill>
                          <a:effectLst/>
                          <a:latin typeface="Calibri" panose="020F0502020204030204" pitchFamily="34" charset="0"/>
                          <a:ea typeface="+mn-ea"/>
                          <a:cs typeface="+mn-cs"/>
                        </a:rPr>
                        <a:t>$110,000</a:t>
                      </a:r>
                    </a:p>
                  </a:txBody>
                  <a:tcPr marR="164592" anchor="b">
                    <a:lnT w="12700" cap="flat" cmpd="sng" algn="ctr">
                      <a:solidFill>
                        <a:schemeClr val="tx1"/>
                      </a:solidFill>
                      <a:prstDash val="solid"/>
                      <a:round/>
                      <a:headEnd type="none" w="med" len="med"/>
                      <a:tailEnd type="none" w="med" len="med"/>
                    </a:lnT>
                    <a:solidFill>
                      <a:schemeClr val="bg1"/>
                    </a:solidFill>
                  </a:tcPr>
                </a:tc>
                <a:extLst>
                  <a:ext uri="{0D108BD9-81ED-4DB2-BD59-A6C34878D82A}">
                    <a16:rowId xmlns:a16="http://schemas.microsoft.com/office/drawing/2014/main" val="3595818142"/>
                  </a:ext>
                </a:extLst>
              </a:tr>
              <a:tr h="370840">
                <a:tc>
                  <a:txBody>
                    <a:bodyPr/>
                    <a:lstStyle/>
                    <a:p>
                      <a:pPr marL="0" algn="l" defTabSz="914400" rtl="0" eaLnBrk="1" fontAlgn="b" latinLnBrk="0" hangingPunct="1"/>
                      <a:r>
                        <a:rPr lang="en-US" sz="2000" b="0" i="0" u="none" strike="noStrike" kern="1200" baseline="0" dirty="0">
                          <a:solidFill>
                            <a:schemeClr val="dk1"/>
                          </a:solidFill>
                          <a:effectLst/>
                          <a:latin typeface="Calibri" panose="020F0502020204030204" pitchFamily="34" charset="0"/>
                          <a:ea typeface="+mn-ea"/>
                          <a:cs typeface="+mn-cs"/>
                        </a:rPr>
                        <a:t>Dividends on preferred stock</a:t>
                      </a:r>
                    </a:p>
                  </a:txBody>
                  <a:tcPr anchor="b">
                    <a:solidFill>
                      <a:schemeClr val="bg1"/>
                    </a:solidFill>
                  </a:tcPr>
                </a:tc>
                <a:tc>
                  <a:txBody>
                    <a:bodyPr/>
                    <a:lstStyle/>
                    <a:p>
                      <a:pPr algn="r" fontAlgn="b"/>
                      <a:r>
                        <a:rPr lang="en-US" sz="2000" b="0" i="0" u="none" strike="noStrike" kern="1200" baseline="0" dirty="0">
                          <a:solidFill>
                            <a:schemeClr val="dk1"/>
                          </a:solidFill>
                          <a:effectLst/>
                          <a:latin typeface="Calibri" panose="020F0502020204030204" pitchFamily="34" charset="0"/>
                          <a:ea typeface="+mn-ea"/>
                          <a:cs typeface="+mn-cs"/>
                        </a:rPr>
                        <a:t>10,000</a:t>
                      </a:r>
                    </a:p>
                  </a:txBody>
                  <a:tcPr anchor="b">
                    <a:solidFill>
                      <a:schemeClr val="bg1"/>
                    </a:solidFill>
                  </a:tcPr>
                </a:tc>
                <a:tc>
                  <a:txBody>
                    <a:bodyPr/>
                    <a:lstStyle/>
                    <a:p>
                      <a:pPr algn="r" fontAlgn="b"/>
                      <a:r>
                        <a:rPr lang="en-US" sz="2000" b="0" i="0" u="none" strike="noStrike" kern="1200" baseline="0" dirty="0">
                          <a:solidFill>
                            <a:schemeClr val="dk1"/>
                          </a:solidFill>
                          <a:effectLst/>
                          <a:latin typeface="Calibri" panose="020F0502020204030204" pitchFamily="34" charset="0"/>
                          <a:ea typeface="+mn-ea"/>
                          <a:cs typeface="+mn-cs"/>
                        </a:rPr>
                        <a:t>10,000</a:t>
                      </a:r>
                    </a:p>
                  </a:txBody>
                  <a:tcPr marR="164592" anchor="b">
                    <a:solidFill>
                      <a:schemeClr val="bg1"/>
                    </a:solidFill>
                  </a:tcPr>
                </a:tc>
                <a:extLst>
                  <a:ext uri="{0D108BD9-81ED-4DB2-BD59-A6C34878D82A}">
                    <a16:rowId xmlns:a16="http://schemas.microsoft.com/office/drawing/2014/main" val="1650250917"/>
                  </a:ext>
                </a:extLst>
              </a:tr>
              <a:tr h="370840">
                <a:tc>
                  <a:txBody>
                    <a:bodyPr/>
                    <a:lstStyle/>
                    <a:p>
                      <a:pPr algn="l" fontAlgn="b"/>
                      <a:r>
                        <a:rPr lang="en-US" sz="2000" b="0" i="0" u="none" strike="noStrike" kern="1200" baseline="0" dirty="0">
                          <a:solidFill>
                            <a:schemeClr val="dk1"/>
                          </a:solidFill>
                          <a:effectLst/>
                          <a:latin typeface="Calibri" panose="020F0502020204030204" pitchFamily="34" charset="0"/>
                          <a:ea typeface="+mn-ea"/>
                          <a:cs typeface="+mn-cs"/>
                        </a:rPr>
                        <a:t>Dividends on common stock</a:t>
                      </a:r>
                    </a:p>
                  </a:txBody>
                  <a:tcPr anchor="b">
                    <a:solidFill>
                      <a:schemeClr val="bg1"/>
                    </a:solidFill>
                  </a:tcPr>
                </a:tc>
                <a:tc>
                  <a:txBody>
                    <a:bodyPr/>
                    <a:lstStyle/>
                    <a:p>
                      <a:pPr algn="r" fontAlgn="b"/>
                      <a:r>
                        <a:rPr lang="en-US" sz="2000" b="0" i="0" u="none" strike="noStrike" kern="1200" baseline="0" dirty="0">
                          <a:solidFill>
                            <a:schemeClr val="dk1"/>
                          </a:solidFill>
                          <a:effectLst/>
                          <a:latin typeface="Calibri" panose="020F0502020204030204" pitchFamily="34" charset="0"/>
                          <a:ea typeface="+mn-ea"/>
                          <a:cs typeface="+mn-cs"/>
                        </a:rPr>
                        <a:t>2,000</a:t>
                      </a:r>
                    </a:p>
                  </a:txBody>
                  <a:tcPr anchor="b">
                    <a:solidFill>
                      <a:schemeClr val="bg1"/>
                    </a:solidFill>
                  </a:tcPr>
                </a:tc>
                <a:tc>
                  <a:txBody>
                    <a:bodyPr/>
                    <a:lstStyle/>
                    <a:p>
                      <a:pPr algn="r" fontAlgn="b"/>
                      <a:r>
                        <a:rPr lang="en-US" sz="2000" b="0" i="0" u="none" strike="noStrike" kern="1200" baseline="0" dirty="0">
                          <a:solidFill>
                            <a:schemeClr val="dk1"/>
                          </a:solidFill>
                          <a:effectLst/>
                          <a:latin typeface="Calibri" panose="020F0502020204030204" pitchFamily="34" charset="0"/>
                          <a:ea typeface="+mn-ea"/>
                          <a:cs typeface="+mn-cs"/>
                        </a:rPr>
                        <a:t>1,600</a:t>
                      </a:r>
                    </a:p>
                  </a:txBody>
                  <a:tcPr marR="164592" anchor="b">
                    <a:solidFill>
                      <a:schemeClr val="bg1"/>
                    </a:solidFill>
                  </a:tcPr>
                </a:tc>
                <a:extLst>
                  <a:ext uri="{0D108BD9-81ED-4DB2-BD59-A6C34878D82A}">
                    <a16:rowId xmlns:a16="http://schemas.microsoft.com/office/drawing/2014/main" val="3733892051"/>
                  </a:ext>
                </a:extLst>
              </a:tr>
              <a:tr h="370840">
                <a:tc>
                  <a:txBody>
                    <a:bodyPr/>
                    <a:lstStyle/>
                    <a:p>
                      <a:pPr algn="l" fontAlgn="b"/>
                      <a:r>
                        <a:rPr lang="en-US" sz="2000" b="0" i="0" u="none" strike="noStrike" kern="1200" baseline="0" dirty="0">
                          <a:solidFill>
                            <a:schemeClr val="dk1"/>
                          </a:solidFill>
                          <a:effectLst/>
                          <a:latin typeface="Calibri" panose="020F0502020204030204" pitchFamily="34" charset="0"/>
                          <a:ea typeface="+mn-ea"/>
                          <a:cs typeface="+mn-cs"/>
                        </a:rPr>
                        <a:t>Weighted-average number of shares outstanding</a:t>
                      </a:r>
                    </a:p>
                  </a:txBody>
                  <a:tcPr anchor="b">
                    <a:solidFill>
                      <a:schemeClr val="bg1"/>
                    </a:solidFill>
                  </a:tcPr>
                </a:tc>
                <a:tc>
                  <a:txBody>
                    <a:bodyPr/>
                    <a:lstStyle/>
                    <a:p>
                      <a:pPr algn="r" fontAlgn="b"/>
                      <a:r>
                        <a:rPr lang="en-US" sz="2000" b="0" i="0" u="none" strike="noStrike" kern="1200" baseline="0" dirty="0">
                          <a:solidFill>
                            <a:schemeClr val="dk1"/>
                          </a:solidFill>
                          <a:effectLst/>
                          <a:latin typeface="Calibri" panose="020F0502020204030204" pitchFamily="34" charset="0"/>
                          <a:ea typeface="+mn-ea"/>
                          <a:cs typeface="+mn-cs"/>
                        </a:rPr>
                        <a:t>10,000</a:t>
                      </a:r>
                    </a:p>
                  </a:txBody>
                  <a:tcPr anchor="b">
                    <a:solidFill>
                      <a:schemeClr val="bg1"/>
                    </a:solidFill>
                  </a:tcPr>
                </a:tc>
                <a:tc>
                  <a:txBody>
                    <a:bodyPr/>
                    <a:lstStyle/>
                    <a:p>
                      <a:pPr algn="r" fontAlgn="b"/>
                      <a:r>
                        <a:rPr lang="en-US" sz="2000" b="0" i="0" u="none" strike="noStrike" kern="1200" baseline="0" dirty="0">
                          <a:solidFill>
                            <a:schemeClr val="dk1"/>
                          </a:solidFill>
                          <a:effectLst/>
                          <a:latin typeface="Calibri" panose="020F0502020204030204" pitchFamily="34" charset="0"/>
                          <a:ea typeface="+mn-ea"/>
                          <a:cs typeface="+mn-cs"/>
                        </a:rPr>
                        <a:t>8,000</a:t>
                      </a:r>
                      <a:r>
                        <a:rPr lang="en-US" sz="2000" b="0" i="0" u="none" strike="noStrike" kern="1200" baseline="30000" dirty="0">
                          <a:solidFill>
                            <a:schemeClr val="dk1"/>
                          </a:solidFill>
                          <a:effectLst/>
                          <a:latin typeface="Calibri" panose="020F0502020204030204" pitchFamily="34" charset="0"/>
                          <a:ea typeface="+mn-ea"/>
                          <a:cs typeface="+mn-cs"/>
                        </a:rPr>
                        <a:t>*</a:t>
                      </a:r>
                    </a:p>
                  </a:txBody>
                  <a:tcPr anchor="b">
                    <a:solidFill>
                      <a:schemeClr val="bg1"/>
                    </a:solidFill>
                  </a:tcPr>
                </a:tc>
                <a:extLst>
                  <a:ext uri="{0D108BD9-81ED-4DB2-BD59-A6C34878D82A}">
                    <a16:rowId xmlns:a16="http://schemas.microsoft.com/office/drawing/2014/main" val="2831335322"/>
                  </a:ext>
                </a:extLst>
              </a:tr>
              <a:tr h="370840">
                <a:tc>
                  <a:txBody>
                    <a:bodyPr/>
                    <a:lstStyle/>
                    <a:p>
                      <a:pPr algn="l" fontAlgn="b"/>
                      <a:r>
                        <a:rPr lang="en-US" sz="2000" b="0" i="0" u="none" strike="noStrike" kern="1200" baseline="0" dirty="0">
                          <a:solidFill>
                            <a:schemeClr val="dk1"/>
                          </a:solidFill>
                          <a:effectLst/>
                          <a:latin typeface="Calibri" panose="020F0502020204030204" pitchFamily="34" charset="0"/>
                          <a:ea typeface="+mn-ea"/>
                          <a:cs typeface="+mn-cs"/>
                        </a:rPr>
                        <a:t>Common stockholders’ equity, beginning of year</a:t>
                      </a:r>
                    </a:p>
                  </a:txBody>
                  <a:tcPr anchor="b">
                    <a:solidFill>
                      <a:schemeClr val="bg1"/>
                    </a:solidFill>
                  </a:tcPr>
                </a:tc>
                <a:tc>
                  <a:txBody>
                    <a:bodyPr/>
                    <a:lstStyle/>
                    <a:p>
                      <a:pPr algn="r" fontAlgn="b"/>
                      <a:r>
                        <a:rPr lang="en-US" sz="2000" b="0" i="0" u="none" strike="noStrike" kern="1200" baseline="0" dirty="0">
                          <a:solidFill>
                            <a:schemeClr val="dk1"/>
                          </a:solidFill>
                          <a:effectLst/>
                          <a:latin typeface="Calibri" panose="020F0502020204030204" pitchFamily="34" charset="0"/>
                          <a:ea typeface="+mn-ea"/>
                          <a:cs typeface="+mn-cs"/>
                        </a:rPr>
                        <a:t>500,000</a:t>
                      </a:r>
                    </a:p>
                  </a:txBody>
                  <a:tcPr anchor="b">
                    <a:solidFill>
                      <a:schemeClr val="bg1"/>
                    </a:solidFill>
                  </a:tcPr>
                </a:tc>
                <a:tc>
                  <a:txBody>
                    <a:bodyPr/>
                    <a:lstStyle/>
                    <a:p>
                      <a:pPr algn="r" fontAlgn="b"/>
                      <a:r>
                        <a:rPr lang="en-US" sz="2000" b="0" i="0" u="none" strike="noStrike" kern="1200" baseline="0" dirty="0">
                          <a:solidFill>
                            <a:schemeClr val="dk1"/>
                          </a:solidFill>
                          <a:effectLst/>
                          <a:latin typeface="Calibri" panose="020F0502020204030204" pitchFamily="34" charset="0"/>
                          <a:ea typeface="+mn-ea"/>
                          <a:cs typeface="+mn-cs"/>
                        </a:rPr>
                        <a:t>400,000</a:t>
                      </a:r>
                      <a:r>
                        <a:rPr lang="en-US" sz="2000" b="0" i="0" u="none" strike="noStrike" kern="1200" baseline="30000" dirty="0">
                          <a:solidFill>
                            <a:schemeClr val="dk1"/>
                          </a:solidFill>
                          <a:effectLst/>
                          <a:latin typeface="Calibri" panose="020F0502020204030204" pitchFamily="34" charset="0"/>
                          <a:ea typeface="+mn-ea"/>
                          <a:cs typeface="+mn-cs"/>
                        </a:rPr>
                        <a:t>*</a:t>
                      </a:r>
                    </a:p>
                  </a:txBody>
                  <a:tcPr anchor="b">
                    <a:solidFill>
                      <a:schemeClr val="bg1"/>
                    </a:solidFill>
                  </a:tcPr>
                </a:tc>
                <a:extLst>
                  <a:ext uri="{0D108BD9-81ED-4DB2-BD59-A6C34878D82A}">
                    <a16:rowId xmlns:a16="http://schemas.microsoft.com/office/drawing/2014/main" val="276525602"/>
                  </a:ext>
                </a:extLst>
              </a:tr>
              <a:tr h="370840">
                <a:tc>
                  <a:txBody>
                    <a:bodyPr/>
                    <a:lstStyle/>
                    <a:p>
                      <a:pPr algn="l" fontAlgn="b"/>
                      <a:r>
                        <a:rPr lang="en-US" sz="2000" b="0" i="0" u="none" strike="noStrike" kern="1200" baseline="0" dirty="0">
                          <a:solidFill>
                            <a:schemeClr val="dk1"/>
                          </a:solidFill>
                          <a:effectLst/>
                          <a:latin typeface="Calibri" panose="020F0502020204030204" pitchFamily="34" charset="0"/>
                          <a:ea typeface="+mn-ea"/>
                          <a:cs typeface="+mn-cs"/>
                        </a:rPr>
                        <a:t>Common stockholders’ equity, ending of year</a:t>
                      </a:r>
                    </a:p>
                  </a:txBody>
                  <a:tcPr anchor="b">
                    <a:solidFill>
                      <a:schemeClr val="bg1"/>
                    </a:solidFill>
                  </a:tcPr>
                </a:tc>
                <a:tc>
                  <a:txBody>
                    <a:bodyPr/>
                    <a:lstStyle/>
                    <a:p>
                      <a:pPr algn="r" fontAlgn="b"/>
                      <a:r>
                        <a:rPr lang="en-US" sz="2000" b="0" i="0" u="none" strike="noStrike" kern="1200" baseline="0" dirty="0">
                          <a:solidFill>
                            <a:schemeClr val="dk1"/>
                          </a:solidFill>
                          <a:effectLst/>
                          <a:latin typeface="Calibri" panose="020F0502020204030204" pitchFamily="34" charset="0"/>
                          <a:ea typeface="+mn-ea"/>
                          <a:cs typeface="+mn-cs"/>
                        </a:rPr>
                        <a:t>500,000</a:t>
                      </a:r>
                    </a:p>
                  </a:txBody>
                  <a:tcPr anchor="b">
                    <a:solidFill>
                      <a:schemeClr val="bg1"/>
                    </a:solidFill>
                  </a:tcPr>
                </a:tc>
                <a:tc>
                  <a:txBody>
                    <a:bodyPr/>
                    <a:lstStyle/>
                    <a:p>
                      <a:pPr algn="r" fontAlgn="b"/>
                      <a:r>
                        <a:rPr lang="en-US" sz="2000" b="0" i="0" u="none" strike="noStrike" kern="1200" baseline="0" dirty="0">
                          <a:solidFill>
                            <a:schemeClr val="dk1"/>
                          </a:solidFill>
                          <a:effectLst/>
                          <a:latin typeface="Calibri" panose="020F0502020204030204" pitchFamily="34" charset="0"/>
                          <a:ea typeface="+mn-ea"/>
                          <a:cs typeface="+mn-cs"/>
                        </a:rPr>
                        <a:t>400,000</a:t>
                      </a:r>
                    </a:p>
                  </a:txBody>
                  <a:tcPr marR="164592" anchor="b">
                    <a:solidFill>
                      <a:schemeClr val="bg1"/>
                    </a:solidFill>
                  </a:tcPr>
                </a:tc>
                <a:extLst>
                  <a:ext uri="{0D108BD9-81ED-4DB2-BD59-A6C34878D82A}">
                    <a16:rowId xmlns:a16="http://schemas.microsoft.com/office/drawing/2014/main" val="507046472"/>
                  </a:ext>
                </a:extLst>
              </a:tr>
            </a:tbl>
          </a:graphicData>
        </a:graphic>
      </p:graphicFrame>
      <p:sp>
        <p:nvSpPr>
          <p:cNvPr id="9" name="Content Placeholder 8">
            <a:extLst>
              <a:ext uri="{FF2B5EF4-FFF2-40B4-BE49-F238E27FC236}">
                <a16:creationId xmlns:a16="http://schemas.microsoft.com/office/drawing/2014/main" id="{0D26C2DF-F0DF-409A-9EC7-DDCE7DE40240}"/>
              </a:ext>
            </a:extLst>
          </p:cNvPr>
          <p:cNvSpPr>
            <a:spLocks noGrp="1"/>
          </p:cNvSpPr>
          <p:nvPr>
            <p:ph sz="quarter" idx="18"/>
          </p:nvPr>
        </p:nvSpPr>
        <p:spPr>
          <a:xfrm>
            <a:off x="304801" y="5257800"/>
            <a:ext cx="3810000" cy="310435"/>
          </a:xfrm>
        </p:spPr>
        <p:txBody>
          <a:bodyPr/>
          <a:lstStyle/>
          <a:p>
            <a:r>
              <a:rPr lang="en-US" sz="1600" dirty="0">
                <a:solidFill>
                  <a:schemeClr val="dk1"/>
                </a:solidFill>
              </a:rPr>
              <a:t>*Adjusted for purchase of treasury stock.</a:t>
            </a:r>
            <a:endParaRPr lang="en-US" sz="1600" dirty="0"/>
          </a:p>
        </p:txBody>
      </p:sp>
      <p:sp>
        <p:nvSpPr>
          <p:cNvPr id="10" name="Content Placeholder 9">
            <a:extLst>
              <a:ext uri="{FF2B5EF4-FFF2-40B4-BE49-F238E27FC236}">
                <a16:creationId xmlns:a16="http://schemas.microsoft.com/office/drawing/2014/main" id="{3A27328F-77B3-44BB-B6D3-0A325AB030F1}"/>
              </a:ext>
            </a:extLst>
          </p:cNvPr>
          <p:cNvSpPr>
            <a:spLocks noGrp="1"/>
          </p:cNvSpPr>
          <p:nvPr>
            <p:ph sz="quarter" idx="19"/>
          </p:nvPr>
        </p:nvSpPr>
        <p:spPr>
          <a:xfrm>
            <a:off x="304800" y="5657134"/>
            <a:ext cx="8458200" cy="591265"/>
          </a:xfrm>
        </p:spPr>
        <p:txBody>
          <a:bodyPr/>
          <a:lstStyle/>
          <a:p>
            <a:r>
              <a:rPr lang="en-US" sz="2200" dirty="0"/>
              <a:t>(a) Compute earnings per share for each year, and (b) discuss the change from 2019 to 2020.</a:t>
            </a:r>
          </a:p>
        </p:txBody>
      </p:sp>
      <p:sp>
        <p:nvSpPr>
          <p:cNvPr id="6" name="Slide Number Placeholder 5">
            <a:extLst>
              <a:ext uri="{FF2B5EF4-FFF2-40B4-BE49-F238E27FC236}">
                <a16:creationId xmlns:a16="http://schemas.microsoft.com/office/drawing/2014/main" id="{D613E082-25AA-418E-B974-59290C6F3DA4}"/>
              </a:ext>
            </a:extLst>
          </p:cNvPr>
          <p:cNvSpPr>
            <a:spLocks noGrp="1"/>
          </p:cNvSpPr>
          <p:nvPr>
            <p:ph type="sldNum" sz="quarter" idx="10"/>
          </p:nvPr>
        </p:nvSpPr>
        <p:spPr/>
        <p:txBody>
          <a:bodyPr/>
          <a:lstStyle/>
          <a:p>
            <a:fld id="{67B19427-F580-D146-B60E-4CADEE75497F}" type="slidenum">
              <a:rPr lang="en-US" smtClean="0"/>
              <a:pPr/>
              <a:t>62</a:t>
            </a:fld>
            <a:endParaRPr lang="en-US" dirty="0"/>
          </a:p>
        </p:txBody>
      </p:sp>
      <p:sp>
        <p:nvSpPr>
          <p:cNvPr id="7" name="Footer Placeholder 6">
            <a:extLst>
              <a:ext uri="{FF2B5EF4-FFF2-40B4-BE49-F238E27FC236}">
                <a16:creationId xmlns:a16="http://schemas.microsoft.com/office/drawing/2014/main" id="{940E6B6E-A0EB-43F1-A559-FEE7F3450772}"/>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418209112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AC944C-073A-4426-9EC9-626B975C6549}"/>
              </a:ext>
            </a:extLst>
          </p:cNvPr>
          <p:cNvSpPr>
            <a:spLocks noGrp="1"/>
          </p:cNvSpPr>
          <p:nvPr>
            <p:ph type="title"/>
          </p:nvPr>
        </p:nvSpPr>
        <p:spPr>
          <a:xfrm>
            <a:off x="304800" y="762000"/>
            <a:ext cx="8534400" cy="754526"/>
          </a:xfrm>
        </p:spPr>
        <p:txBody>
          <a:bodyPr>
            <a:normAutofit/>
          </a:bodyPr>
          <a:lstStyle/>
          <a:p>
            <a:r>
              <a:rPr lang="en-US" dirty="0">
                <a:ea typeface="Source Sans Pro" charset="0"/>
              </a:rPr>
              <a:t>Do It</a:t>
            </a:r>
            <a:r>
              <a:rPr lang="en-US" dirty="0">
                <a:solidFill>
                  <a:srgbClr val="FF0000"/>
                </a:solidFill>
              </a:rPr>
              <a:t> AT HOME</a:t>
            </a:r>
            <a:r>
              <a:rPr lang="en-US" dirty="0">
                <a:ea typeface="Source Sans Pro" charset="0"/>
              </a:rPr>
              <a:t>! 3: </a:t>
            </a:r>
            <a:r>
              <a:rPr lang="en-US" dirty="0">
                <a:solidFill>
                  <a:srgbClr val="196E78"/>
                </a:solidFill>
                <a:ea typeface="Source Sans Pro" charset="0"/>
              </a:rPr>
              <a:t>E</a:t>
            </a:r>
            <a:r>
              <a:rPr lang="en-US" sz="100" dirty="0">
                <a:solidFill>
                  <a:srgbClr val="196E78"/>
                </a:solidFill>
                <a:ea typeface="Source Sans Pro" charset="0"/>
              </a:rPr>
              <a:t> </a:t>
            </a:r>
            <a:r>
              <a:rPr lang="en-US" dirty="0">
                <a:solidFill>
                  <a:srgbClr val="196E78"/>
                </a:solidFill>
                <a:ea typeface="Source Sans Pro" charset="0"/>
              </a:rPr>
              <a:t>P</a:t>
            </a:r>
            <a:r>
              <a:rPr lang="en-US" sz="100" dirty="0">
                <a:solidFill>
                  <a:srgbClr val="196E78"/>
                </a:solidFill>
                <a:ea typeface="Source Sans Pro" charset="0"/>
              </a:rPr>
              <a:t> </a:t>
            </a:r>
            <a:r>
              <a:rPr lang="en-US" dirty="0">
                <a:solidFill>
                  <a:srgbClr val="196E78"/>
                </a:solidFill>
                <a:ea typeface="Source Sans Pro" charset="0"/>
              </a:rPr>
              <a:t>S </a:t>
            </a:r>
            <a:r>
              <a:rPr lang="en-US" sz="2400" b="0" dirty="0">
                <a:solidFill>
                  <a:srgbClr val="196E78"/>
                </a:solidFill>
                <a:ea typeface="Source Sans Pro" charset="0"/>
              </a:rPr>
              <a:t>(2 of 3)</a:t>
            </a:r>
            <a:endParaRPr lang="en-US" dirty="0"/>
          </a:p>
        </p:txBody>
      </p:sp>
      <p:graphicFrame>
        <p:nvGraphicFramePr>
          <p:cNvPr id="14" name="Content Placeholder 13" descr="Table is accessible to screenreaders">
            <a:extLst>
              <a:ext uri="{FF2B5EF4-FFF2-40B4-BE49-F238E27FC236}">
                <a16:creationId xmlns:a16="http://schemas.microsoft.com/office/drawing/2014/main" id="{4CCFD5B5-01F2-4FEB-9069-FB7671D761A1}"/>
              </a:ext>
            </a:extLst>
          </p:cNvPr>
          <p:cNvGraphicFramePr>
            <a:graphicFrameLocks noGrp="1"/>
          </p:cNvGraphicFramePr>
          <p:nvPr>
            <p:ph sz="quarter" idx="16"/>
          </p:nvPr>
        </p:nvGraphicFramePr>
        <p:xfrm>
          <a:off x="304800" y="1595120"/>
          <a:ext cx="8534400" cy="2595880"/>
        </p:xfrm>
        <a:graphic>
          <a:graphicData uri="http://schemas.openxmlformats.org/drawingml/2006/table">
            <a:tbl>
              <a:tblPr firstRow="1" bandRow="1">
                <a:tableStyleId>{5C22544A-7EE6-4342-B048-85BDC9FD1C3A}</a:tableStyleId>
              </a:tblPr>
              <a:tblGrid>
                <a:gridCol w="6019800">
                  <a:extLst>
                    <a:ext uri="{9D8B030D-6E8A-4147-A177-3AD203B41FA5}">
                      <a16:colId xmlns:a16="http://schemas.microsoft.com/office/drawing/2014/main" val="1623574992"/>
                    </a:ext>
                  </a:extLst>
                </a:gridCol>
                <a:gridCol w="1219200">
                  <a:extLst>
                    <a:ext uri="{9D8B030D-6E8A-4147-A177-3AD203B41FA5}">
                      <a16:colId xmlns:a16="http://schemas.microsoft.com/office/drawing/2014/main" val="2333278367"/>
                    </a:ext>
                  </a:extLst>
                </a:gridCol>
                <a:gridCol w="1295400">
                  <a:extLst>
                    <a:ext uri="{9D8B030D-6E8A-4147-A177-3AD203B41FA5}">
                      <a16:colId xmlns:a16="http://schemas.microsoft.com/office/drawing/2014/main" val="1372529634"/>
                    </a:ext>
                  </a:extLst>
                </a:gridCol>
              </a:tblGrid>
              <a:tr h="370840">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en-US" sz="1800" b="1" i="0" u="sng" strike="noStrike" baseline="0" dirty="0">
                        <a:solidFill>
                          <a:srgbClr val="000000"/>
                        </a:solidFill>
                        <a:effectLst/>
                        <a:latin typeface="Calibri" panose="020F0502020204030204" pitchFamily="34" charset="0"/>
                      </a:endParaRPr>
                    </a:p>
                  </a:txBody>
                  <a:tcPr marR="182880" marT="4233" marB="0" anchor="ctr">
                    <a:solidFill>
                      <a:schemeClr val="bg1"/>
                    </a:solidFill>
                  </a:tcPr>
                </a:tc>
                <a:tc>
                  <a:txBody>
                    <a:bodyPr/>
                    <a:lstStyle/>
                    <a:p>
                      <a:pPr algn="ctr" fontAlgn="b">
                        <a:lnSpc>
                          <a:spcPct val="90000"/>
                        </a:lnSpc>
                      </a:pPr>
                      <a:r>
                        <a:rPr lang="en-US" sz="1800" b="1" i="0" u="none" strike="noStrike" baseline="0" dirty="0">
                          <a:solidFill>
                            <a:srgbClr val="000000"/>
                          </a:solidFill>
                          <a:effectLst/>
                          <a:latin typeface="Calibri" panose="020F0502020204030204" pitchFamily="34" charset="0"/>
                        </a:rPr>
                        <a:t>2019</a:t>
                      </a:r>
                    </a:p>
                  </a:txBody>
                  <a:tcPr marL="4233" marR="27432" marT="4233" marB="0" anchor="b">
                    <a:lnB w="12700" cap="flat" cmpd="sng" algn="ctr">
                      <a:solidFill>
                        <a:schemeClr val="tx1"/>
                      </a:solidFill>
                      <a:prstDash val="solid"/>
                      <a:round/>
                      <a:headEnd type="none" w="med" len="med"/>
                      <a:tailEnd type="none" w="med" len="med"/>
                    </a:lnB>
                    <a:solidFill>
                      <a:schemeClr val="bg1"/>
                    </a:solidFill>
                  </a:tcPr>
                </a:tc>
                <a:tc>
                  <a:txBody>
                    <a:bodyPr/>
                    <a:lstStyle/>
                    <a:p>
                      <a:pPr algn="ctr" fontAlgn="b">
                        <a:lnSpc>
                          <a:spcPct val="90000"/>
                        </a:lnSpc>
                      </a:pPr>
                      <a:r>
                        <a:rPr lang="en-US" sz="1800" b="1" i="0" u="none" strike="noStrike" baseline="0" dirty="0">
                          <a:solidFill>
                            <a:srgbClr val="000000"/>
                          </a:solidFill>
                          <a:effectLst/>
                          <a:latin typeface="Calibri" panose="020F0502020204030204" pitchFamily="34" charset="0"/>
                        </a:rPr>
                        <a:t>2020</a:t>
                      </a:r>
                    </a:p>
                  </a:txBody>
                  <a:tcPr marL="4233" marR="27432" marT="4233" marB="0" anchor="b">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97595749"/>
                  </a:ext>
                </a:extLst>
              </a:tr>
              <a:tr h="370840">
                <a:tc>
                  <a:txBody>
                    <a:bodyPr/>
                    <a:lstStyle/>
                    <a:p>
                      <a:pPr algn="l" fontAlgn="b"/>
                      <a:r>
                        <a:rPr lang="en-US" sz="1800" b="0" i="0" u="none" strike="noStrike" kern="1200" baseline="0" dirty="0">
                          <a:solidFill>
                            <a:schemeClr val="dk1"/>
                          </a:solidFill>
                          <a:effectLst/>
                          <a:latin typeface="Calibri" panose="020F0502020204030204" pitchFamily="34" charset="0"/>
                          <a:ea typeface="+mn-ea"/>
                          <a:cs typeface="+mn-cs"/>
                        </a:rPr>
                        <a:t>Net income</a:t>
                      </a:r>
                    </a:p>
                  </a:txBody>
                  <a:tcPr marT="4233" marB="0" anchor="b">
                    <a:solidFill>
                      <a:schemeClr val="bg1"/>
                    </a:solidFill>
                  </a:tcPr>
                </a:tc>
                <a:tc>
                  <a:txBody>
                    <a:bodyPr/>
                    <a:lstStyle/>
                    <a:p>
                      <a:pPr algn="r" fontAlgn="b"/>
                      <a:r>
                        <a:rPr lang="en-US" sz="1800" b="0" i="0" u="none" strike="noStrike" kern="1200" baseline="0" dirty="0">
                          <a:solidFill>
                            <a:schemeClr val="dk1"/>
                          </a:solidFill>
                          <a:effectLst/>
                          <a:latin typeface="Calibri" panose="020F0502020204030204" pitchFamily="34" charset="0"/>
                          <a:ea typeface="+mn-ea"/>
                          <a:cs typeface="+mn-cs"/>
                        </a:rPr>
                        <a:t>$110,000</a:t>
                      </a:r>
                    </a:p>
                  </a:txBody>
                  <a:tcPr marL="4233" marR="27432" marT="4233" marB="0" anchor="b">
                    <a:lnT w="12700" cap="flat" cmpd="sng" algn="ctr">
                      <a:solidFill>
                        <a:schemeClr val="tx1"/>
                      </a:solidFill>
                      <a:prstDash val="solid"/>
                      <a:round/>
                      <a:headEnd type="none" w="med" len="med"/>
                      <a:tailEnd type="none" w="med" len="med"/>
                    </a:lnT>
                    <a:solidFill>
                      <a:schemeClr val="bg1"/>
                    </a:solidFill>
                  </a:tcPr>
                </a:tc>
                <a:tc>
                  <a:txBody>
                    <a:bodyPr/>
                    <a:lstStyle/>
                    <a:p>
                      <a:pPr algn="r" fontAlgn="b"/>
                      <a:r>
                        <a:rPr lang="en-US" sz="1800" b="0" i="0" u="none" strike="noStrike" kern="1200" baseline="0" dirty="0">
                          <a:solidFill>
                            <a:schemeClr val="dk1"/>
                          </a:solidFill>
                          <a:effectLst/>
                          <a:latin typeface="Calibri" panose="020F0502020204030204" pitchFamily="34" charset="0"/>
                          <a:ea typeface="+mn-ea"/>
                          <a:cs typeface="+mn-cs"/>
                        </a:rPr>
                        <a:t>$110,000</a:t>
                      </a:r>
                    </a:p>
                  </a:txBody>
                  <a:tcPr marL="4233" marR="109728" marT="4233" marB="0" anchor="b">
                    <a:lnT w="12700" cap="flat" cmpd="sng" algn="ctr">
                      <a:solidFill>
                        <a:schemeClr val="tx1"/>
                      </a:solidFill>
                      <a:prstDash val="solid"/>
                      <a:round/>
                      <a:headEnd type="none" w="med" len="med"/>
                      <a:tailEnd type="none" w="med" len="med"/>
                    </a:lnT>
                    <a:solidFill>
                      <a:schemeClr val="bg1"/>
                    </a:solidFill>
                  </a:tcPr>
                </a:tc>
                <a:extLst>
                  <a:ext uri="{0D108BD9-81ED-4DB2-BD59-A6C34878D82A}">
                    <a16:rowId xmlns:a16="http://schemas.microsoft.com/office/drawing/2014/main" val="1494319007"/>
                  </a:ext>
                </a:extLst>
              </a:tr>
              <a:tr h="370840">
                <a:tc>
                  <a:txBody>
                    <a:bodyPr/>
                    <a:lstStyle/>
                    <a:p>
                      <a:pPr marL="0" algn="l" defTabSz="914400" rtl="0" eaLnBrk="1" fontAlgn="b" latinLnBrk="0" hangingPunct="1"/>
                      <a:r>
                        <a:rPr lang="en-US" sz="1800" b="0" i="0" u="none" strike="noStrike" kern="1200" baseline="0" dirty="0">
                          <a:solidFill>
                            <a:schemeClr val="dk1"/>
                          </a:solidFill>
                          <a:effectLst/>
                          <a:latin typeface="Calibri" panose="020F0502020204030204" pitchFamily="34" charset="0"/>
                          <a:ea typeface="+mn-ea"/>
                          <a:cs typeface="+mn-cs"/>
                        </a:rPr>
                        <a:t>Dividends on preferred stock</a:t>
                      </a:r>
                    </a:p>
                  </a:txBody>
                  <a:tcPr marT="4233" marB="0" anchor="b">
                    <a:solidFill>
                      <a:schemeClr val="bg1"/>
                    </a:solidFill>
                  </a:tcPr>
                </a:tc>
                <a:tc>
                  <a:txBody>
                    <a:bodyPr/>
                    <a:lstStyle/>
                    <a:p>
                      <a:pPr algn="r" fontAlgn="b"/>
                      <a:r>
                        <a:rPr lang="en-US" sz="1800" b="0" i="0" u="none" strike="noStrike" kern="1200" baseline="0" dirty="0">
                          <a:solidFill>
                            <a:schemeClr val="dk1"/>
                          </a:solidFill>
                          <a:effectLst/>
                          <a:latin typeface="Calibri" panose="020F0502020204030204" pitchFamily="34" charset="0"/>
                          <a:ea typeface="+mn-ea"/>
                          <a:cs typeface="+mn-cs"/>
                        </a:rPr>
                        <a:t>10,000</a:t>
                      </a:r>
                    </a:p>
                  </a:txBody>
                  <a:tcPr marL="4233" marR="27432" marT="4233" marB="0" anchor="b">
                    <a:solidFill>
                      <a:schemeClr val="bg1"/>
                    </a:solidFill>
                  </a:tcPr>
                </a:tc>
                <a:tc>
                  <a:txBody>
                    <a:bodyPr/>
                    <a:lstStyle/>
                    <a:p>
                      <a:pPr algn="r" fontAlgn="b"/>
                      <a:r>
                        <a:rPr lang="en-US" sz="1800" b="0" i="0" u="none" strike="noStrike" kern="1200" baseline="0" dirty="0">
                          <a:solidFill>
                            <a:schemeClr val="dk1"/>
                          </a:solidFill>
                          <a:effectLst/>
                          <a:latin typeface="Calibri" panose="020F0502020204030204" pitchFamily="34" charset="0"/>
                          <a:ea typeface="+mn-ea"/>
                          <a:cs typeface="+mn-cs"/>
                        </a:rPr>
                        <a:t>10,000</a:t>
                      </a:r>
                    </a:p>
                  </a:txBody>
                  <a:tcPr marL="4233" marR="109728" marT="4233" marB="0" anchor="b">
                    <a:solidFill>
                      <a:schemeClr val="bg1"/>
                    </a:solidFill>
                  </a:tcPr>
                </a:tc>
                <a:extLst>
                  <a:ext uri="{0D108BD9-81ED-4DB2-BD59-A6C34878D82A}">
                    <a16:rowId xmlns:a16="http://schemas.microsoft.com/office/drawing/2014/main" val="3243932278"/>
                  </a:ext>
                </a:extLst>
              </a:tr>
              <a:tr h="370840">
                <a:tc>
                  <a:txBody>
                    <a:bodyPr/>
                    <a:lstStyle/>
                    <a:p>
                      <a:pPr algn="l" fontAlgn="b"/>
                      <a:r>
                        <a:rPr lang="en-US" sz="1800" b="0" i="0" u="none" strike="noStrike" kern="1200" baseline="0" dirty="0">
                          <a:solidFill>
                            <a:schemeClr val="dk1"/>
                          </a:solidFill>
                          <a:effectLst/>
                          <a:latin typeface="Calibri" panose="020F0502020204030204" pitchFamily="34" charset="0"/>
                          <a:ea typeface="+mn-ea"/>
                          <a:cs typeface="+mn-cs"/>
                        </a:rPr>
                        <a:t>Dividends on common stock</a:t>
                      </a:r>
                    </a:p>
                  </a:txBody>
                  <a:tcPr marT="4233" marB="0" anchor="b">
                    <a:solidFill>
                      <a:schemeClr val="bg1"/>
                    </a:solidFill>
                  </a:tcPr>
                </a:tc>
                <a:tc>
                  <a:txBody>
                    <a:bodyPr/>
                    <a:lstStyle/>
                    <a:p>
                      <a:pPr algn="r" fontAlgn="b"/>
                      <a:r>
                        <a:rPr lang="en-US" sz="1800" b="0" i="0" u="none" strike="noStrike" kern="1200" baseline="0" dirty="0">
                          <a:solidFill>
                            <a:schemeClr val="dk1"/>
                          </a:solidFill>
                          <a:effectLst/>
                          <a:latin typeface="Calibri" panose="020F0502020204030204" pitchFamily="34" charset="0"/>
                          <a:ea typeface="+mn-ea"/>
                          <a:cs typeface="+mn-cs"/>
                        </a:rPr>
                        <a:t>2,000</a:t>
                      </a:r>
                    </a:p>
                  </a:txBody>
                  <a:tcPr marL="4233" marR="27432" marT="4233" marB="0" anchor="b">
                    <a:solidFill>
                      <a:schemeClr val="bg1"/>
                    </a:solidFill>
                  </a:tcPr>
                </a:tc>
                <a:tc>
                  <a:txBody>
                    <a:bodyPr/>
                    <a:lstStyle/>
                    <a:p>
                      <a:pPr algn="r" fontAlgn="b"/>
                      <a:r>
                        <a:rPr lang="en-US" sz="1800" b="0" i="0" u="none" strike="noStrike" kern="1200" baseline="0" dirty="0">
                          <a:solidFill>
                            <a:schemeClr val="dk1"/>
                          </a:solidFill>
                          <a:effectLst/>
                          <a:latin typeface="Calibri" panose="020F0502020204030204" pitchFamily="34" charset="0"/>
                          <a:ea typeface="+mn-ea"/>
                          <a:cs typeface="+mn-cs"/>
                        </a:rPr>
                        <a:t>1,600</a:t>
                      </a:r>
                    </a:p>
                  </a:txBody>
                  <a:tcPr marL="4233" marR="109728" marT="4233" marB="0" anchor="b">
                    <a:solidFill>
                      <a:schemeClr val="bg1"/>
                    </a:solidFill>
                  </a:tcPr>
                </a:tc>
                <a:extLst>
                  <a:ext uri="{0D108BD9-81ED-4DB2-BD59-A6C34878D82A}">
                    <a16:rowId xmlns:a16="http://schemas.microsoft.com/office/drawing/2014/main" val="647347407"/>
                  </a:ext>
                </a:extLst>
              </a:tr>
              <a:tr h="370840">
                <a:tc>
                  <a:txBody>
                    <a:bodyPr/>
                    <a:lstStyle/>
                    <a:p>
                      <a:pPr algn="l" fontAlgn="b"/>
                      <a:r>
                        <a:rPr lang="en-US" sz="1800" b="0" i="0" u="none" strike="noStrike" kern="1200" baseline="0" dirty="0">
                          <a:solidFill>
                            <a:schemeClr val="dk1"/>
                          </a:solidFill>
                          <a:effectLst/>
                          <a:latin typeface="Calibri" panose="020F0502020204030204" pitchFamily="34" charset="0"/>
                          <a:ea typeface="+mn-ea"/>
                          <a:cs typeface="+mn-cs"/>
                        </a:rPr>
                        <a:t>Weighted-average number of shares outstanding</a:t>
                      </a:r>
                    </a:p>
                  </a:txBody>
                  <a:tcPr marT="4233" marB="0" anchor="b">
                    <a:solidFill>
                      <a:schemeClr val="bg1"/>
                    </a:solidFill>
                  </a:tcPr>
                </a:tc>
                <a:tc>
                  <a:txBody>
                    <a:bodyPr/>
                    <a:lstStyle/>
                    <a:p>
                      <a:pPr algn="r" fontAlgn="b"/>
                      <a:r>
                        <a:rPr lang="en-US" sz="1800" b="0" i="0" u="none" strike="noStrike" kern="1200" baseline="0" dirty="0">
                          <a:solidFill>
                            <a:schemeClr val="dk1"/>
                          </a:solidFill>
                          <a:effectLst/>
                          <a:latin typeface="Calibri" panose="020F0502020204030204" pitchFamily="34" charset="0"/>
                          <a:ea typeface="+mn-ea"/>
                          <a:cs typeface="+mn-cs"/>
                        </a:rPr>
                        <a:t>10,000</a:t>
                      </a:r>
                    </a:p>
                  </a:txBody>
                  <a:tcPr marL="4233" marR="27432" marT="4233" marB="0" anchor="b">
                    <a:solidFill>
                      <a:schemeClr val="bg1"/>
                    </a:solidFill>
                  </a:tcPr>
                </a:tc>
                <a:tc>
                  <a:txBody>
                    <a:bodyPr/>
                    <a:lstStyle/>
                    <a:p>
                      <a:pPr algn="r" fontAlgn="b"/>
                      <a:r>
                        <a:rPr lang="en-US" sz="1800" b="0" i="0" u="none" strike="noStrike" kern="1200" baseline="0" dirty="0">
                          <a:solidFill>
                            <a:schemeClr val="dk1"/>
                          </a:solidFill>
                          <a:effectLst/>
                          <a:latin typeface="Calibri" panose="020F0502020204030204" pitchFamily="34" charset="0"/>
                          <a:ea typeface="+mn-ea"/>
                          <a:cs typeface="+mn-cs"/>
                        </a:rPr>
                        <a:t>8,000</a:t>
                      </a:r>
                      <a:r>
                        <a:rPr lang="en-US" sz="1800" b="0" i="0" u="none" strike="noStrike" kern="1200" baseline="30000" dirty="0">
                          <a:solidFill>
                            <a:schemeClr val="dk1"/>
                          </a:solidFill>
                          <a:effectLst/>
                          <a:latin typeface="Calibri" panose="020F0502020204030204" pitchFamily="34" charset="0"/>
                          <a:ea typeface="+mn-ea"/>
                          <a:cs typeface="+mn-cs"/>
                        </a:rPr>
                        <a:t>*</a:t>
                      </a:r>
                    </a:p>
                  </a:txBody>
                  <a:tcPr marL="4233" marR="27432" marT="4233" marB="0" anchor="b">
                    <a:solidFill>
                      <a:schemeClr val="bg1"/>
                    </a:solidFill>
                  </a:tcPr>
                </a:tc>
                <a:extLst>
                  <a:ext uri="{0D108BD9-81ED-4DB2-BD59-A6C34878D82A}">
                    <a16:rowId xmlns:a16="http://schemas.microsoft.com/office/drawing/2014/main" val="3174579258"/>
                  </a:ext>
                </a:extLst>
              </a:tr>
              <a:tr h="370840">
                <a:tc>
                  <a:txBody>
                    <a:bodyPr/>
                    <a:lstStyle/>
                    <a:p>
                      <a:pPr algn="l" fontAlgn="b"/>
                      <a:r>
                        <a:rPr lang="en-US" sz="1800" b="0" i="0" u="none" strike="noStrike" kern="1200" baseline="0" dirty="0">
                          <a:solidFill>
                            <a:schemeClr val="dk1"/>
                          </a:solidFill>
                          <a:effectLst/>
                          <a:latin typeface="Calibri" panose="020F0502020204030204" pitchFamily="34" charset="0"/>
                          <a:ea typeface="+mn-ea"/>
                          <a:cs typeface="+mn-cs"/>
                        </a:rPr>
                        <a:t>Common stockholders’ equity, beginning of year</a:t>
                      </a:r>
                    </a:p>
                  </a:txBody>
                  <a:tcPr marT="4233" marB="0" anchor="b">
                    <a:solidFill>
                      <a:schemeClr val="bg1"/>
                    </a:solidFill>
                  </a:tcPr>
                </a:tc>
                <a:tc>
                  <a:txBody>
                    <a:bodyPr/>
                    <a:lstStyle/>
                    <a:p>
                      <a:pPr algn="r" fontAlgn="b"/>
                      <a:r>
                        <a:rPr lang="en-US" sz="1800" b="0" i="0" u="none" strike="noStrike" kern="1200" baseline="0" dirty="0">
                          <a:solidFill>
                            <a:schemeClr val="dk1"/>
                          </a:solidFill>
                          <a:effectLst/>
                          <a:latin typeface="Calibri" panose="020F0502020204030204" pitchFamily="34" charset="0"/>
                          <a:ea typeface="+mn-ea"/>
                          <a:cs typeface="+mn-cs"/>
                        </a:rPr>
                        <a:t>500,000</a:t>
                      </a:r>
                    </a:p>
                  </a:txBody>
                  <a:tcPr marL="4233" marR="27432" marT="4233" marB="0" anchor="b">
                    <a:solidFill>
                      <a:schemeClr val="bg1"/>
                    </a:solidFill>
                  </a:tcPr>
                </a:tc>
                <a:tc>
                  <a:txBody>
                    <a:bodyPr/>
                    <a:lstStyle/>
                    <a:p>
                      <a:pPr algn="r" fontAlgn="b"/>
                      <a:r>
                        <a:rPr lang="en-US" sz="1800" b="0" i="0" u="none" strike="noStrike" kern="1200" baseline="0" dirty="0">
                          <a:solidFill>
                            <a:schemeClr val="dk1"/>
                          </a:solidFill>
                          <a:effectLst/>
                          <a:latin typeface="Calibri" panose="020F0502020204030204" pitchFamily="34" charset="0"/>
                          <a:ea typeface="+mn-ea"/>
                          <a:cs typeface="+mn-cs"/>
                        </a:rPr>
                        <a:t>400,000</a:t>
                      </a:r>
                      <a:r>
                        <a:rPr lang="en-US" sz="1800" b="0" i="0" u="none" strike="noStrike" kern="1200" baseline="30000" dirty="0">
                          <a:solidFill>
                            <a:schemeClr val="dk1"/>
                          </a:solidFill>
                          <a:effectLst/>
                          <a:latin typeface="Calibri" panose="020F0502020204030204" pitchFamily="34" charset="0"/>
                          <a:ea typeface="+mn-ea"/>
                          <a:cs typeface="+mn-cs"/>
                        </a:rPr>
                        <a:t>*</a:t>
                      </a:r>
                    </a:p>
                  </a:txBody>
                  <a:tcPr marL="4233" marR="27432" marT="4233" marB="0" anchor="b">
                    <a:solidFill>
                      <a:schemeClr val="bg1"/>
                    </a:solidFill>
                  </a:tcPr>
                </a:tc>
                <a:extLst>
                  <a:ext uri="{0D108BD9-81ED-4DB2-BD59-A6C34878D82A}">
                    <a16:rowId xmlns:a16="http://schemas.microsoft.com/office/drawing/2014/main" val="4205205704"/>
                  </a:ext>
                </a:extLst>
              </a:tr>
              <a:tr h="370840">
                <a:tc>
                  <a:txBody>
                    <a:bodyPr/>
                    <a:lstStyle/>
                    <a:p>
                      <a:pPr algn="l" fontAlgn="b"/>
                      <a:r>
                        <a:rPr lang="en-US" sz="1800" b="0" i="0" u="none" strike="noStrike" kern="1200" baseline="0" dirty="0">
                          <a:solidFill>
                            <a:schemeClr val="dk1"/>
                          </a:solidFill>
                          <a:effectLst/>
                          <a:latin typeface="Calibri" panose="020F0502020204030204" pitchFamily="34" charset="0"/>
                          <a:ea typeface="+mn-ea"/>
                          <a:cs typeface="+mn-cs"/>
                        </a:rPr>
                        <a:t>Common stockholders’ equity, ending of year</a:t>
                      </a:r>
                    </a:p>
                  </a:txBody>
                  <a:tcPr marT="4233" marB="0" anchor="b">
                    <a:solidFill>
                      <a:schemeClr val="bg1"/>
                    </a:solidFill>
                  </a:tcPr>
                </a:tc>
                <a:tc>
                  <a:txBody>
                    <a:bodyPr/>
                    <a:lstStyle/>
                    <a:p>
                      <a:pPr algn="r" fontAlgn="b"/>
                      <a:r>
                        <a:rPr lang="en-US" sz="1800" b="0" i="0" u="none" strike="noStrike" kern="1200" baseline="0" dirty="0">
                          <a:solidFill>
                            <a:schemeClr val="dk1"/>
                          </a:solidFill>
                          <a:effectLst/>
                          <a:latin typeface="Calibri" panose="020F0502020204030204" pitchFamily="34" charset="0"/>
                          <a:ea typeface="+mn-ea"/>
                          <a:cs typeface="+mn-cs"/>
                        </a:rPr>
                        <a:t>500,000</a:t>
                      </a:r>
                    </a:p>
                  </a:txBody>
                  <a:tcPr marL="4233" marR="27432" marT="4233" marB="0" anchor="b">
                    <a:solidFill>
                      <a:schemeClr val="bg1"/>
                    </a:solidFill>
                  </a:tcPr>
                </a:tc>
                <a:tc>
                  <a:txBody>
                    <a:bodyPr/>
                    <a:lstStyle/>
                    <a:p>
                      <a:pPr algn="r" fontAlgn="b"/>
                      <a:r>
                        <a:rPr lang="en-US" sz="1800" b="0" i="0" u="none" strike="noStrike" kern="1200" baseline="0" dirty="0">
                          <a:solidFill>
                            <a:schemeClr val="dk1"/>
                          </a:solidFill>
                          <a:effectLst/>
                          <a:latin typeface="Calibri" panose="020F0502020204030204" pitchFamily="34" charset="0"/>
                          <a:ea typeface="+mn-ea"/>
                          <a:cs typeface="+mn-cs"/>
                        </a:rPr>
                        <a:t>400,000</a:t>
                      </a:r>
                    </a:p>
                  </a:txBody>
                  <a:tcPr marL="4233" marR="109728" marT="4233" marB="0" anchor="b">
                    <a:solidFill>
                      <a:schemeClr val="bg1"/>
                    </a:solidFill>
                  </a:tcPr>
                </a:tc>
                <a:extLst>
                  <a:ext uri="{0D108BD9-81ED-4DB2-BD59-A6C34878D82A}">
                    <a16:rowId xmlns:a16="http://schemas.microsoft.com/office/drawing/2014/main" val="468924353"/>
                  </a:ext>
                </a:extLst>
              </a:tr>
            </a:tbl>
          </a:graphicData>
        </a:graphic>
      </p:graphicFrame>
      <p:sp>
        <p:nvSpPr>
          <p:cNvPr id="4" name="Content Placeholder 3">
            <a:extLst>
              <a:ext uri="{FF2B5EF4-FFF2-40B4-BE49-F238E27FC236}">
                <a16:creationId xmlns:a16="http://schemas.microsoft.com/office/drawing/2014/main" id="{9DE75692-1A42-4255-A0FD-AE9E83C2D9F3}"/>
              </a:ext>
            </a:extLst>
          </p:cNvPr>
          <p:cNvSpPr>
            <a:spLocks noGrp="1"/>
          </p:cNvSpPr>
          <p:nvPr>
            <p:ph sz="quarter" idx="17"/>
          </p:nvPr>
        </p:nvSpPr>
        <p:spPr>
          <a:xfrm>
            <a:off x="304800" y="4343400"/>
            <a:ext cx="3962400" cy="283885"/>
          </a:xfrm>
        </p:spPr>
        <p:txBody>
          <a:bodyPr/>
          <a:lstStyle/>
          <a:p>
            <a:r>
              <a:rPr lang="en-US" sz="1600" dirty="0">
                <a:solidFill>
                  <a:schemeClr val="dk1"/>
                </a:solidFill>
                <a:latin typeface="Calibri" panose="020F0502020204030204" pitchFamily="34" charset="0"/>
              </a:rPr>
              <a:t>*Adjusted for purchase of treasury stock.</a:t>
            </a:r>
            <a:endParaRPr lang="en-US" sz="1600" dirty="0">
              <a:latin typeface="Calibri" panose="020F0502020204030204" pitchFamily="34" charset="0"/>
            </a:endParaRPr>
          </a:p>
        </p:txBody>
      </p:sp>
      <p:sp>
        <p:nvSpPr>
          <p:cNvPr id="5" name="Content Placeholder 4">
            <a:extLst>
              <a:ext uri="{FF2B5EF4-FFF2-40B4-BE49-F238E27FC236}">
                <a16:creationId xmlns:a16="http://schemas.microsoft.com/office/drawing/2014/main" id="{26CA7ABD-719C-431B-A20C-D84108BE83BF}"/>
              </a:ext>
            </a:extLst>
          </p:cNvPr>
          <p:cNvSpPr>
            <a:spLocks noGrp="1"/>
          </p:cNvSpPr>
          <p:nvPr>
            <p:ph sz="quarter" idx="18"/>
          </p:nvPr>
        </p:nvSpPr>
        <p:spPr>
          <a:xfrm>
            <a:off x="304800" y="4716926"/>
            <a:ext cx="4876800" cy="312274"/>
          </a:xfrm>
        </p:spPr>
        <p:txBody>
          <a:bodyPr/>
          <a:lstStyle/>
          <a:p>
            <a:r>
              <a:rPr lang="en-US" sz="2000" dirty="0">
                <a:latin typeface="Calibri" panose="020F0502020204030204" pitchFamily="34" charset="0"/>
              </a:rPr>
              <a:t>(a) Compute earnings per share for each year.</a:t>
            </a:r>
          </a:p>
        </p:txBody>
      </p:sp>
      <p:sp>
        <p:nvSpPr>
          <p:cNvPr id="6" name="Content Placeholder 5">
            <a:extLst>
              <a:ext uri="{FF2B5EF4-FFF2-40B4-BE49-F238E27FC236}">
                <a16:creationId xmlns:a16="http://schemas.microsoft.com/office/drawing/2014/main" id="{E8AF6C9A-ED7E-4035-B531-63AA8F758257}"/>
              </a:ext>
            </a:extLst>
          </p:cNvPr>
          <p:cNvSpPr>
            <a:spLocks noGrp="1"/>
          </p:cNvSpPr>
          <p:nvPr>
            <p:ph sz="quarter" idx="19"/>
          </p:nvPr>
        </p:nvSpPr>
        <p:spPr>
          <a:xfrm>
            <a:off x="1447800" y="5029200"/>
            <a:ext cx="953106" cy="312274"/>
          </a:xfrm>
        </p:spPr>
        <p:txBody>
          <a:bodyPr/>
          <a:lstStyle/>
          <a:p>
            <a:r>
              <a:rPr lang="en-US" sz="2000" b="1" u="sng" dirty="0">
                <a:latin typeface="Calibri" panose="020F0502020204030204" pitchFamily="34" charset="0"/>
              </a:rPr>
              <a:t>2019</a:t>
            </a:r>
          </a:p>
        </p:txBody>
      </p:sp>
      <p:graphicFrame>
        <p:nvGraphicFramePr>
          <p:cNvPr id="16" name="Content Placeholder 15" descr="An illustration displays the computation of earnings per share for each year. In 2019, $110,000 minus $10,000 over $10,000 = $10.">
            <a:extLst>
              <a:ext uri="{FF2B5EF4-FFF2-40B4-BE49-F238E27FC236}">
                <a16:creationId xmlns:a16="http://schemas.microsoft.com/office/drawing/2014/main" id="{87202E6D-B7C5-4579-AD3D-B6A65D51D7B7}"/>
              </a:ext>
            </a:extLst>
          </p:cNvPr>
          <p:cNvGraphicFramePr>
            <a:graphicFrameLocks noGrp="1" noChangeAspect="1"/>
          </p:cNvGraphicFramePr>
          <p:nvPr>
            <p:ph sz="quarter" idx="20"/>
          </p:nvPr>
        </p:nvGraphicFramePr>
        <p:xfrm>
          <a:off x="487179" y="5449253"/>
          <a:ext cx="3062655" cy="742633"/>
        </p:xfrm>
        <a:graphic>
          <a:graphicData uri="http://schemas.openxmlformats.org/presentationml/2006/ole">
            <mc:AlternateContent xmlns:mc="http://schemas.openxmlformats.org/markup-compatibility/2006">
              <mc:Choice xmlns:v="urn:schemas-microsoft-com:vml" Requires="v">
                <p:oleObj spid="_x0000_s18436" name="Equation" r:id="rId3" imgW="2933640" imgH="711000" progId="Equation.DSMT4">
                  <p:embed/>
                </p:oleObj>
              </mc:Choice>
              <mc:Fallback>
                <p:oleObj name="Equation" r:id="rId3" imgW="2933640" imgH="711000" progId="Equation.DSMT4">
                  <p:embed/>
                  <p:pic>
                    <p:nvPicPr>
                      <p:cNvPr id="16" name="Content Placeholder 15" descr="An illustration displays the computation of earnings per share for each year. In 2019, $110,000 minus $10,000 over $10,000 = $10.">
                        <a:extLst>
                          <a:ext uri="{FF2B5EF4-FFF2-40B4-BE49-F238E27FC236}">
                            <a16:creationId xmlns:a16="http://schemas.microsoft.com/office/drawing/2014/main" id="{87202E6D-B7C5-4579-AD3D-B6A65D51D7B7}"/>
                          </a:ext>
                        </a:extLst>
                      </p:cNvPr>
                      <p:cNvPicPr/>
                      <p:nvPr/>
                    </p:nvPicPr>
                    <p:blipFill>
                      <a:blip r:embed="rId4"/>
                      <a:stretch>
                        <a:fillRect/>
                      </a:stretch>
                    </p:blipFill>
                    <p:spPr>
                      <a:xfrm>
                        <a:off x="487179" y="5449253"/>
                        <a:ext cx="3062655" cy="742633"/>
                      </a:xfrm>
                      <a:prstGeom prst="rect">
                        <a:avLst/>
                      </a:prstGeom>
                    </p:spPr>
                  </p:pic>
                </p:oleObj>
              </mc:Fallback>
            </mc:AlternateContent>
          </a:graphicData>
        </a:graphic>
      </p:graphicFrame>
      <p:sp>
        <p:nvSpPr>
          <p:cNvPr id="8" name="Content Placeholder 7">
            <a:extLst>
              <a:ext uri="{FF2B5EF4-FFF2-40B4-BE49-F238E27FC236}">
                <a16:creationId xmlns:a16="http://schemas.microsoft.com/office/drawing/2014/main" id="{C2276E9A-5DB6-4E70-9C04-A2F3A42179CE}"/>
              </a:ext>
            </a:extLst>
          </p:cNvPr>
          <p:cNvSpPr>
            <a:spLocks noGrp="1"/>
          </p:cNvSpPr>
          <p:nvPr>
            <p:ph sz="quarter" idx="21"/>
          </p:nvPr>
        </p:nvSpPr>
        <p:spPr>
          <a:xfrm>
            <a:off x="6553200" y="5041900"/>
            <a:ext cx="787691" cy="336550"/>
          </a:xfrm>
        </p:spPr>
        <p:txBody>
          <a:bodyPr/>
          <a:lstStyle/>
          <a:p>
            <a:r>
              <a:rPr lang="en-US" sz="2000" b="1" u="sng" dirty="0">
                <a:latin typeface="Calibri" panose="020F0502020204030204" pitchFamily="34" charset="0"/>
              </a:rPr>
              <a:t>2020</a:t>
            </a:r>
          </a:p>
        </p:txBody>
      </p:sp>
      <p:graphicFrame>
        <p:nvGraphicFramePr>
          <p:cNvPr id="18" name="Content Placeholder 17" descr="An illustration displays the computation of earnings per share for each year.In 2020, $110,000 minus $10,000 over $8,000 = $12.50.">
            <a:extLst>
              <a:ext uri="{FF2B5EF4-FFF2-40B4-BE49-F238E27FC236}">
                <a16:creationId xmlns:a16="http://schemas.microsoft.com/office/drawing/2014/main" id="{EC593559-27E6-49A3-8AB7-15235CC2B5AA}"/>
              </a:ext>
            </a:extLst>
          </p:cNvPr>
          <p:cNvGraphicFramePr>
            <a:graphicFrameLocks noGrp="1" noChangeAspect="1"/>
          </p:cNvGraphicFramePr>
          <p:nvPr>
            <p:ph sz="quarter" idx="22"/>
          </p:nvPr>
        </p:nvGraphicFramePr>
        <p:xfrm>
          <a:off x="5395370" y="5511963"/>
          <a:ext cx="3128460" cy="671186"/>
        </p:xfrm>
        <a:graphic>
          <a:graphicData uri="http://schemas.openxmlformats.org/presentationml/2006/ole">
            <mc:AlternateContent xmlns:mc="http://schemas.openxmlformats.org/markup-compatibility/2006">
              <mc:Choice xmlns:v="urn:schemas-microsoft-com:vml" Requires="v">
                <p:oleObj spid="_x0000_s18437" name="Equation" r:id="rId5" imgW="3555720" imgH="761760" progId="Equation.DSMT4">
                  <p:embed/>
                </p:oleObj>
              </mc:Choice>
              <mc:Fallback>
                <p:oleObj name="Equation" r:id="rId5" imgW="3555720" imgH="761760" progId="Equation.DSMT4">
                  <p:embed/>
                  <p:pic>
                    <p:nvPicPr>
                      <p:cNvPr id="18" name="Content Placeholder 17" descr="An illustration displays the computation of earnings per share for each year.In 2020, $110,000 minus $10,000 over $8,000 = $12.50.">
                        <a:extLst>
                          <a:ext uri="{FF2B5EF4-FFF2-40B4-BE49-F238E27FC236}">
                            <a16:creationId xmlns:a16="http://schemas.microsoft.com/office/drawing/2014/main" id="{EC593559-27E6-49A3-8AB7-15235CC2B5AA}"/>
                          </a:ext>
                        </a:extLst>
                      </p:cNvPr>
                      <p:cNvPicPr/>
                      <p:nvPr/>
                    </p:nvPicPr>
                    <p:blipFill>
                      <a:blip r:embed="rId6"/>
                      <a:stretch>
                        <a:fillRect/>
                      </a:stretch>
                    </p:blipFill>
                    <p:spPr>
                      <a:xfrm>
                        <a:off x="5395370" y="5511963"/>
                        <a:ext cx="3128460" cy="671186"/>
                      </a:xfrm>
                      <a:prstGeom prst="rect">
                        <a:avLst/>
                      </a:prstGeom>
                    </p:spPr>
                  </p:pic>
                </p:oleObj>
              </mc:Fallback>
            </mc:AlternateContent>
          </a:graphicData>
        </a:graphic>
      </p:graphicFrame>
      <p:sp>
        <p:nvSpPr>
          <p:cNvPr id="12" name="Slide Number Placeholder 11">
            <a:extLst>
              <a:ext uri="{FF2B5EF4-FFF2-40B4-BE49-F238E27FC236}">
                <a16:creationId xmlns:a16="http://schemas.microsoft.com/office/drawing/2014/main" id="{32810344-7882-4413-8B90-F6A6F189D50C}"/>
              </a:ext>
            </a:extLst>
          </p:cNvPr>
          <p:cNvSpPr>
            <a:spLocks noGrp="1"/>
          </p:cNvSpPr>
          <p:nvPr>
            <p:ph type="sldNum" sz="quarter" idx="10"/>
          </p:nvPr>
        </p:nvSpPr>
        <p:spPr/>
        <p:txBody>
          <a:bodyPr/>
          <a:lstStyle/>
          <a:p>
            <a:fld id="{67B19427-F580-D146-B60E-4CADEE75497F}" type="slidenum">
              <a:rPr lang="en-US" smtClean="0"/>
              <a:pPr/>
              <a:t>63</a:t>
            </a:fld>
            <a:endParaRPr lang="en-US" dirty="0"/>
          </a:p>
        </p:txBody>
      </p:sp>
      <p:sp>
        <p:nvSpPr>
          <p:cNvPr id="13" name="Footer Placeholder 12">
            <a:extLst>
              <a:ext uri="{FF2B5EF4-FFF2-40B4-BE49-F238E27FC236}">
                <a16:creationId xmlns:a16="http://schemas.microsoft.com/office/drawing/2014/main" id="{C1659715-1942-4F26-B347-E7E923961A98}"/>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33805610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C125F2-05A1-418A-9593-636BE4F30A26}"/>
              </a:ext>
            </a:extLst>
          </p:cNvPr>
          <p:cNvSpPr>
            <a:spLocks noGrp="1"/>
          </p:cNvSpPr>
          <p:nvPr>
            <p:ph type="title"/>
          </p:nvPr>
        </p:nvSpPr>
        <p:spPr>
          <a:xfrm>
            <a:off x="304800" y="762001"/>
            <a:ext cx="8534400" cy="697944"/>
          </a:xfrm>
        </p:spPr>
        <p:txBody>
          <a:bodyPr>
            <a:normAutofit/>
          </a:bodyPr>
          <a:lstStyle/>
          <a:p>
            <a:r>
              <a:rPr lang="en-US" dirty="0">
                <a:ea typeface="Source Sans Pro" charset="0"/>
              </a:rPr>
              <a:t>Do It</a:t>
            </a:r>
            <a:r>
              <a:rPr lang="en-US" dirty="0">
                <a:solidFill>
                  <a:srgbClr val="FF0000"/>
                </a:solidFill>
              </a:rPr>
              <a:t> AT HOME</a:t>
            </a:r>
            <a:r>
              <a:rPr lang="en-US" dirty="0">
                <a:ea typeface="Source Sans Pro" charset="0"/>
              </a:rPr>
              <a:t>! 3: </a:t>
            </a:r>
            <a:r>
              <a:rPr lang="en-US" dirty="0">
                <a:solidFill>
                  <a:srgbClr val="196E78"/>
                </a:solidFill>
                <a:ea typeface="Source Sans Pro" charset="0"/>
              </a:rPr>
              <a:t>E</a:t>
            </a:r>
            <a:r>
              <a:rPr lang="en-US" sz="100" dirty="0">
                <a:solidFill>
                  <a:srgbClr val="196E78"/>
                </a:solidFill>
                <a:ea typeface="Source Sans Pro" charset="0"/>
              </a:rPr>
              <a:t> </a:t>
            </a:r>
            <a:r>
              <a:rPr lang="en-US" dirty="0">
                <a:solidFill>
                  <a:srgbClr val="196E78"/>
                </a:solidFill>
                <a:ea typeface="Source Sans Pro" charset="0"/>
              </a:rPr>
              <a:t>P</a:t>
            </a:r>
            <a:r>
              <a:rPr lang="en-US" sz="100" dirty="0">
                <a:solidFill>
                  <a:srgbClr val="196E78"/>
                </a:solidFill>
                <a:ea typeface="Source Sans Pro" charset="0"/>
              </a:rPr>
              <a:t> </a:t>
            </a:r>
            <a:r>
              <a:rPr lang="en-US" dirty="0">
                <a:solidFill>
                  <a:srgbClr val="196E78"/>
                </a:solidFill>
                <a:ea typeface="Source Sans Pro" charset="0"/>
              </a:rPr>
              <a:t>S </a:t>
            </a:r>
            <a:r>
              <a:rPr lang="en-US" sz="2400" b="0" dirty="0">
                <a:solidFill>
                  <a:srgbClr val="196E78"/>
                </a:solidFill>
                <a:ea typeface="Source Sans Pro" charset="0"/>
              </a:rPr>
              <a:t>(3 of 3)</a:t>
            </a:r>
            <a:endParaRPr lang="en-US" sz="2400" b="0" dirty="0"/>
          </a:p>
        </p:txBody>
      </p:sp>
      <p:sp>
        <p:nvSpPr>
          <p:cNvPr id="3" name="Content Placeholder 2">
            <a:extLst>
              <a:ext uri="{FF2B5EF4-FFF2-40B4-BE49-F238E27FC236}">
                <a16:creationId xmlns:a16="http://schemas.microsoft.com/office/drawing/2014/main" id="{CD0D9BA0-43CF-4278-A425-3A45A890BBAA}"/>
              </a:ext>
            </a:extLst>
          </p:cNvPr>
          <p:cNvSpPr>
            <a:spLocks noGrp="1"/>
          </p:cNvSpPr>
          <p:nvPr>
            <p:ph sz="quarter" idx="16"/>
          </p:nvPr>
        </p:nvSpPr>
        <p:spPr>
          <a:xfrm>
            <a:off x="304800" y="1676400"/>
            <a:ext cx="8610600" cy="457200"/>
          </a:xfrm>
        </p:spPr>
        <p:txBody>
          <a:bodyPr/>
          <a:lstStyle/>
          <a:p>
            <a:r>
              <a:rPr lang="en-US" sz="2200" dirty="0"/>
              <a:t>(b) Discuss the change from 2019 to 2020.</a:t>
            </a:r>
          </a:p>
        </p:txBody>
      </p:sp>
      <p:sp>
        <p:nvSpPr>
          <p:cNvPr id="10" name="Content Placeholder 9">
            <a:extLst>
              <a:ext uri="{FF2B5EF4-FFF2-40B4-BE49-F238E27FC236}">
                <a16:creationId xmlns:a16="http://schemas.microsoft.com/office/drawing/2014/main" id="{3A27328F-77B3-44BB-B6D3-0A325AB030F1}"/>
              </a:ext>
            </a:extLst>
          </p:cNvPr>
          <p:cNvSpPr>
            <a:spLocks noGrp="1"/>
          </p:cNvSpPr>
          <p:nvPr>
            <p:ph sz="quarter" idx="19"/>
          </p:nvPr>
        </p:nvSpPr>
        <p:spPr>
          <a:xfrm>
            <a:off x="304800" y="2209800"/>
            <a:ext cx="8458200" cy="2438400"/>
          </a:xfrm>
        </p:spPr>
        <p:txBody>
          <a:bodyPr/>
          <a:lstStyle/>
          <a:p>
            <a:r>
              <a:rPr lang="en-US" sz="2200" dirty="0"/>
              <a:t>Between 2019 and 2020, earnings per share increased from $10 to $12.50. While this would appear to be good news for the company’s common stockholders, this increase should be carefully evaluated. It is important to note that net income did not change during this period. The increase was due to the purchase of treasury shares, which reduced the denominator of the ratio. As the company repurchases its own shares, it becomes more reliant on debt and thus increases its risk.</a:t>
            </a:r>
          </a:p>
        </p:txBody>
      </p:sp>
      <p:sp>
        <p:nvSpPr>
          <p:cNvPr id="6" name="Slide Number Placeholder 5">
            <a:extLst>
              <a:ext uri="{FF2B5EF4-FFF2-40B4-BE49-F238E27FC236}">
                <a16:creationId xmlns:a16="http://schemas.microsoft.com/office/drawing/2014/main" id="{D613E082-25AA-418E-B974-59290C6F3DA4}"/>
              </a:ext>
            </a:extLst>
          </p:cNvPr>
          <p:cNvSpPr>
            <a:spLocks noGrp="1"/>
          </p:cNvSpPr>
          <p:nvPr>
            <p:ph type="sldNum" sz="quarter" idx="10"/>
          </p:nvPr>
        </p:nvSpPr>
        <p:spPr/>
        <p:txBody>
          <a:bodyPr/>
          <a:lstStyle/>
          <a:p>
            <a:fld id="{67B19427-F580-D146-B60E-4CADEE75497F}" type="slidenum">
              <a:rPr lang="en-US" smtClean="0"/>
              <a:pPr/>
              <a:t>64</a:t>
            </a:fld>
            <a:endParaRPr lang="en-US" dirty="0"/>
          </a:p>
        </p:txBody>
      </p:sp>
      <p:sp>
        <p:nvSpPr>
          <p:cNvPr id="7" name="Footer Placeholder 6">
            <a:extLst>
              <a:ext uri="{FF2B5EF4-FFF2-40B4-BE49-F238E27FC236}">
                <a16:creationId xmlns:a16="http://schemas.microsoft.com/office/drawing/2014/main" id="{940E6B6E-A0EB-43F1-A559-FEE7F3450772}"/>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3963789047"/>
      </p:ext>
    </p:extLst>
  </p:cSld>
  <p:clrMapOvr>
    <a:masterClrMapping/>
  </p:clrMapOvr>
</p:sld>
</file>

<file path=ppt/theme/theme1.xml><?xml version="1.0" encoding="utf-8"?>
<a:theme xmlns:a="http://schemas.openxmlformats.org/drawingml/2006/main" name="Opener">
  <a:themeElements>
    <a:clrScheme name="Standard Design">
      <a:dk1>
        <a:srgbClr val="000000"/>
      </a:dk1>
      <a:lt1>
        <a:srgbClr val="FFFFFF"/>
      </a:lt1>
      <a:dk2>
        <a:srgbClr val="1A698A"/>
      </a:dk2>
      <a:lt2>
        <a:srgbClr val="FFFEFE"/>
      </a:lt2>
      <a:accent1>
        <a:srgbClr val="196E78"/>
      </a:accent1>
      <a:accent2>
        <a:srgbClr val="911B21"/>
      </a:accent2>
      <a:accent3>
        <a:srgbClr val="73653A"/>
      </a:accent3>
      <a:accent4>
        <a:srgbClr val="15344A"/>
      </a:accent4>
      <a:accent5>
        <a:srgbClr val="5A6F80"/>
      </a:accent5>
      <a:accent6>
        <a:srgbClr val="404140"/>
      </a:accent6>
      <a:hlink>
        <a:srgbClr val="1A698A"/>
      </a:hlink>
      <a:folHlink>
        <a:srgbClr val="4F3B58"/>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apter Outline">
  <a:themeElements>
    <a:clrScheme name="Standard Design">
      <a:dk1>
        <a:srgbClr val="000000"/>
      </a:dk1>
      <a:lt1>
        <a:srgbClr val="FFFFFF"/>
      </a:lt1>
      <a:dk2>
        <a:srgbClr val="1A698A"/>
      </a:dk2>
      <a:lt2>
        <a:srgbClr val="FFFEFE"/>
      </a:lt2>
      <a:accent1>
        <a:srgbClr val="196E78"/>
      </a:accent1>
      <a:accent2>
        <a:srgbClr val="911B21"/>
      </a:accent2>
      <a:accent3>
        <a:srgbClr val="73653A"/>
      </a:accent3>
      <a:accent4>
        <a:srgbClr val="15344A"/>
      </a:accent4>
      <a:accent5>
        <a:srgbClr val="5A6F80"/>
      </a:accent5>
      <a:accent6>
        <a:srgbClr val="404140"/>
      </a:accent6>
      <a:hlink>
        <a:srgbClr val="1A698A"/>
      </a:hlink>
      <a:folHlink>
        <a:srgbClr val="4F3B58"/>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Learning Objectives">
  <a:themeElements>
    <a:clrScheme name="Standard Design">
      <a:dk1>
        <a:srgbClr val="000000"/>
      </a:dk1>
      <a:lt1>
        <a:srgbClr val="FFFFFF"/>
      </a:lt1>
      <a:dk2>
        <a:srgbClr val="1A698A"/>
      </a:dk2>
      <a:lt2>
        <a:srgbClr val="FFFEFE"/>
      </a:lt2>
      <a:accent1>
        <a:srgbClr val="196E78"/>
      </a:accent1>
      <a:accent2>
        <a:srgbClr val="911B21"/>
      </a:accent2>
      <a:accent3>
        <a:srgbClr val="73653A"/>
      </a:accent3>
      <a:accent4>
        <a:srgbClr val="15344A"/>
      </a:accent4>
      <a:accent5>
        <a:srgbClr val="5A6F80"/>
      </a:accent5>
      <a:accent6>
        <a:srgbClr val="404140"/>
      </a:accent6>
      <a:hlink>
        <a:srgbClr val="1A698A"/>
      </a:hlink>
      <a:folHlink>
        <a:srgbClr val="4F3B58"/>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Concept Check Question">
  <a:themeElements>
    <a:clrScheme name="Standard Design">
      <a:dk1>
        <a:srgbClr val="000000"/>
      </a:dk1>
      <a:lt1>
        <a:srgbClr val="FFFFFF"/>
      </a:lt1>
      <a:dk2>
        <a:srgbClr val="1A698A"/>
      </a:dk2>
      <a:lt2>
        <a:srgbClr val="FFFEFE"/>
      </a:lt2>
      <a:accent1>
        <a:srgbClr val="196E78"/>
      </a:accent1>
      <a:accent2>
        <a:srgbClr val="911B21"/>
      </a:accent2>
      <a:accent3>
        <a:srgbClr val="73653A"/>
      </a:accent3>
      <a:accent4>
        <a:srgbClr val="15344A"/>
      </a:accent4>
      <a:accent5>
        <a:srgbClr val="5A6F80"/>
      </a:accent5>
      <a:accent6>
        <a:srgbClr val="404140"/>
      </a:accent6>
      <a:hlink>
        <a:srgbClr val="1A698A"/>
      </a:hlink>
      <a:folHlink>
        <a:srgbClr val="4F3B58"/>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Key Term">
  <a:themeElements>
    <a:clrScheme name="Standard Design">
      <a:dk1>
        <a:srgbClr val="000000"/>
      </a:dk1>
      <a:lt1>
        <a:srgbClr val="FFFFFF"/>
      </a:lt1>
      <a:dk2>
        <a:srgbClr val="1A698A"/>
      </a:dk2>
      <a:lt2>
        <a:srgbClr val="FFFEFE"/>
      </a:lt2>
      <a:accent1>
        <a:srgbClr val="196E78"/>
      </a:accent1>
      <a:accent2>
        <a:srgbClr val="911B21"/>
      </a:accent2>
      <a:accent3>
        <a:srgbClr val="73653A"/>
      </a:accent3>
      <a:accent4>
        <a:srgbClr val="15344A"/>
      </a:accent4>
      <a:accent5>
        <a:srgbClr val="5A6F80"/>
      </a:accent5>
      <a:accent6>
        <a:srgbClr val="404140"/>
      </a:accent6>
      <a:hlink>
        <a:srgbClr val="1A698A"/>
      </a:hlink>
      <a:folHlink>
        <a:srgbClr val="4F3B58"/>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Section">
  <a:themeElements>
    <a:clrScheme name="Standard Design">
      <a:dk1>
        <a:srgbClr val="000000"/>
      </a:dk1>
      <a:lt1>
        <a:srgbClr val="FFFFFF"/>
      </a:lt1>
      <a:dk2>
        <a:srgbClr val="1A698A"/>
      </a:dk2>
      <a:lt2>
        <a:srgbClr val="FFFEFE"/>
      </a:lt2>
      <a:accent1>
        <a:srgbClr val="196E78"/>
      </a:accent1>
      <a:accent2>
        <a:srgbClr val="911B21"/>
      </a:accent2>
      <a:accent3>
        <a:srgbClr val="73653A"/>
      </a:accent3>
      <a:accent4>
        <a:srgbClr val="15344A"/>
      </a:accent4>
      <a:accent5>
        <a:srgbClr val="5A6F80"/>
      </a:accent5>
      <a:accent6>
        <a:srgbClr val="404140"/>
      </a:accent6>
      <a:hlink>
        <a:srgbClr val="1A698A"/>
      </a:hlink>
      <a:folHlink>
        <a:srgbClr val="4F3B58"/>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Image Slide Master">
  <a:themeElements>
    <a:clrScheme name="Standard Design">
      <a:dk1>
        <a:srgbClr val="000000"/>
      </a:dk1>
      <a:lt1>
        <a:srgbClr val="FFFFFF"/>
      </a:lt1>
      <a:dk2>
        <a:srgbClr val="1A698A"/>
      </a:dk2>
      <a:lt2>
        <a:srgbClr val="FFFEFE"/>
      </a:lt2>
      <a:accent1>
        <a:srgbClr val="196E78"/>
      </a:accent1>
      <a:accent2>
        <a:srgbClr val="911B21"/>
      </a:accent2>
      <a:accent3>
        <a:srgbClr val="73653A"/>
      </a:accent3>
      <a:accent4>
        <a:srgbClr val="15344A"/>
      </a:accent4>
      <a:accent5>
        <a:srgbClr val="5A6F80"/>
      </a:accent5>
      <a:accent6>
        <a:srgbClr val="404140"/>
      </a:accent6>
      <a:hlink>
        <a:srgbClr val="1A698A"/>
      </a:hlink>
      <a:folHlink>
        <a:srgbClr val="4F3B58"/>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Files xmlns="991c6ba3-1c6f-40a9-b60d-1b3170aa9e50"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4078D6520EA68A49865606D3C9534DA1" ma:contentTypeVersion="13" ma:contentTypeDescription="Create a new document." ma:contentTypeScope="" ma:versionID="70035eb3428c3adc80d38ad743135323">
  <xsd:schema xmlns:xsd="http://www.w3.org/2001/XMLSchema" xmlns:xs="http://www.w3.org/2001/XMLSchema" xmlns:p="http://schemas.microsoft.com/office/2006/metadata/properties" xmlns:ns2="991c6ba3-1c6f-40a9-b60d-1b3170aa9e50" xmlns:ns3="7a71b9a5-dc42-4723-8d0f-e8d6ba5fbeb6" targetNamespace="http://schemas.microsoft.com/office/2006/metadata/properties" ma:root="true" ma:fieldsID="bd7354960e2e8c08eb9a78d1f0de2318" ns2:_="" ns3:_="">
    <xsd:import namespace="991c6ba3-1c6f-40a9-b60d-1b3170aa9e50"/>
    <xsd:import namespace="7a71b9a5-dc42-4723-8d0f-e8d6ba5fbeb6"/>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OCR" minOccurs="0"/>
                <xsd:element ref="ns2:MediaServiceLocation" minOccurs="0"/>
                <xsd:element ref="ns3:SharedWithUsers" minOccurs="0"/>
                <xsd:element ref="ns3:SharedWithDetails" minOccurs="0"/>
                <xsd:element ref="ns2:MediaServiceGenerationTime" minOccurs="0"/>
                <xsd:element ref="ns2:MediaServiceEventHashCode" minOccurs="0"/>
                <xsd:element ref="ns2:MediaServiceAutoKeyPoints" minOccurs="0"/>
                <xsd:element ref="ns2:MediaServiceKeyPoints" minOccurs="0"/>
                <xsd:element ref="ns2:Fil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91c6ba3-1c6f-40a9-b60d-1b3170aa9e5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Location" ma:index="13" nillable="true" ma:displayName="Location" ma:internalName="MediaServiceLocatio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Files" ma:index="20" nillable="true" ma:displayName="Files" ma:format="Dropdown" ma:internalName="Files" ma:percentage="FALSE">
      <xsd:simpleType>
        <xsd:restriction base="dms:Number"/>
      </xsd:simpleType>
    </xsd:element>
  </xsd:schema>
  <xsd:schema xmlns:xsd="http://www.w3.org/2001/XMLSchema" xmlns:xs="http://www.w3.org/2001/XMLSchema" xmlns:dms="http://schemas.microsoft.com/office/2006/documentManagement/types" xmlns:pc="http://schemas.microsoft.com/office/infopath/2007/PartnerControls" targetNamespace="7a71b9a5-dc42-4723-8d0f-e8d6ba5fbeb6"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F1C71EB-81EB-430C-AADD-7391148CA650}">
  <ds:schemaRefs>
    <ds:schemaRef ds:uri="http://schemas.microsoft.com/office/infopath/2007/PartnerControls"/>
    <ds:schemaRef ds:uri="http://purl.org/dc/dcmitype/"/>
    <ds:schemaRef ds:uri="http://purl.org/dc/terms/"/>
    <ds:schemaRef ds:uri="991c6ba3-1c6f-40a9-b60d-1b3170aa9e50"/>
    <ds:schemaRef ds:uri="http://www.w3.org/XML/1998/namespace"/>
    <ds:schemaRef ds:uri="http://schemas.openxmlformats.org/package/2006/metadata/core-properties"/>
    <ds:schemaRef ds:uri="http://schemas.microsoft.com/office/2006/metadata/properties"/>
    <ds:schemaRef ds:uri="http://schemas.microsoft.com/office/2006/documentManagement/types"/>
    <ds:schemaRef ds:uri="http://purl.org/dc/elements/1.1/"/>
    <ds:schemaRef ds:uri="7a71b9a5-dc42-4723-8d0f-e8d6ba5fbeb6"/>
  </ds:schemaRefs>
</ds:datastoreItem>
</file>

<file path=customXml/itemProps2.xml><?xml version="1.0" encoding="utf-8"?>
<ds:datastoreItem xmlns:ds="http://schemas.openxmlformats.org/officeDocument/2006/customXml" ds:itemID="{CF7DACF8-84DE-4F92-B6C6-E078A935F23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91c6ba3-1c6f-40a9-b60d-1b3170aa9e50"/>
    <ds:schemaRef ds:uri="7a71b9a5-dc42-4723-8d0f-e8d6ba5fbeb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288F1D47-4251-47E8-ACDB-2528FF86B6CA}">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17193</TotalTime>
  <Words>7403</Words>
  <Application>Microsoft Office PowerPoint</Application>
  <PresentationFormat>On-screen Show (4:3)</PresentationFormat>
  <Paragraphs>762</Paragraphs>
  <Slides>64</Slides>
  <Notes>12</Notes>
  <HiddenSlides>0</HiddenSlides>
  <MMClips>0</MMClips>
  <ScaleCrop>false</ScaleCrop>
  <HeadingPairs>
    <vt:vector size="8" baseType="variant">
      <vt:variant>
        <vt:lpstr>Fonts Used</vt:lpstr>
      </vt:variant>
      <vt:variant>
        <vt:i4>8</vt:i4>
      </vt:variant>
      <vt:variant>
        <vt:lpstr>Theme</vt:lpstr>
      </vt:variant>
      <vt:variant>
        <vt:i4>7</vt:i4>
      </vt:variant>
      <vt:variant>
        <vt:lpstr>Embedded OLE Servers</vt:lpstr>
      </vt:variant>
      <vt:variant>
        <vt:i4>1</vt:i4>
      </vt:variant>
      <vt:variant>
        <vt:lpstr>Slide Titles</vt:lpstr>
      </vt:variant>
      <vt:variant>
        <vt:i4>64</vt:i4>
      </vt:variant>
    </vt:vector>
  </HeadingPairs>
  <TitlesOfParts>
    <vt:vector size="80" baseType="lpstr">
      <vt:lpstr>Arial</vt:lpstr>
      <vt:lpstr>Calibri</vt:lpstr>
      <vt:lpstr>Calibri Light</vt:lpstr>
      <vt:lpstr>Courier New</vt:lpstr>
      <vt:lpstr>Source Sans Pro</vt:lpstr>
      <vt:lpstr>STIX</vt:lpstr>
      <vt:lpstr>Times New Roman</vt:lpstr>
      <vt:lpstr>Wingdings</vt:lpstr>
      <vt:lpstr>Opener</vt:lpstr>
      <vt:lpstr>Chapter Outline</vt:lpstr>
      <vt:lpstr>Learning Objectives</vt:lpstr>
      <vt:lpstr>Concept Check Question</vt:lpstr>
      <vt:lpstr>Key Term</vt:lpstr>
      <vt:lpstr>Section</vt:lpstr>
      <vt:lpstr>Image Slide Master</vt:lpstr>
      <vt:lpstr>Equation</vt:lpstr>
      <vt:lpstr>Accounting Principles</vt:lpstr>
      <vt:lpstr>Corporate Form of Organization</vt:lpstr>
      <vt:lpstr>Characteristics of Corporation</vt:lpstr>
      <vt:lpstr>Characteristics of Corporation</vt:lpstr>
      <vt:lpstr>Characteristics of Corporation</vt:lpstr>
      <vt:lpstr>Forming a Corporation</vt:lpstr>
      <vt:lpstr>(Common) Stockholder Rights</vt:lpstr>
      <vt:lpstr>Stock Issue Considerations</vt:lpstr>
      <vt:lpstr>Stock Issue Considerations </vt:lpstr>
      <vt:lpstr>Stock Issue Considerations</vt:lpstr>
      <vt:lpstr>Stock Issue Considerations</vt:lpstr>
      <vt:lpstr>Corporate Capital</vt:lpstr>
      <vt:lpstr>Corporate Capital </vt:lpstr>
      <vt:lpstr>Retained Earnings</vt:lpstr>
      <vt:lpstr>Corporate Capital</vt:lpstr>
      <vt:lpstr>Do It! 1b: Corporate Capital</vt:lpstr>
      <vt:lpstr>Accounting for Stock Transactions</vt:lpstr>
      <vt:lpstr>Issuing Common Stock for Cash</vt:lpstr>
      <vt:lpstr>Accounting for Stock Transactions</vt:lpstr>
      <vt:lpstr>Issuing No-Par Common Stock for Cash</vt:lpstr>
      <vt:lpstr>Issuing No-Par Common Stock for Cash</vt:lpstr>
      <vt:lpstr>Issuing Common Stock for Services or Noncash Assets</vt:lpstr>
      <vt:lpstr>Common Stock for Services</vt:lpstr>
      <vt:lpstr>Common Stock for Noncash Assets</vt:lpstr>
      <vt:lpstr>Accounting for Preferred Stock</vt:lpstr>
      <vt:lpstr>Accounting for Preferred Stock</vt:lpstr>
      <vt:lpstr>Accounting for Treasury Stock (1 of 5)</vt:lpstr>
      <vt:lpstr>Accounting for Treasury Stock (2 of 5)</vt:lpstr>
      <vt:lpstr>Accounting for Treasury Stock (3 of 5)</vt:lpstr>
      <vt:lpstr>Accounting for Treasury Stock (4 of 5)</vt:lpstr>
      <vt:lpstr>Accounting for Treasury Stock (5 of 5)</vt:lpstr>
      <vt:lpstr>Sale of Treasury Stock Above Cost</vt:lpstr>
      <vt:lpstr>Sale of Treasury Stock Below Cost (1 of 2)</vt:lpstr>
      <vt:lpstr>Sale of Treasury Stock Below Cost (2 of 2)</vt:lpstr>
      <vt:lpstr>Do It! 2b: Treasury Stock</vt:lpstr>
      <vt:lpstr>(for the following topics in this slide deck, focus on slides only; no book needed)  Explain the Accounting and Reporting Issues Related to Dividends  </vt:lpstr>
      <vt:lpstr>Dividend and Dividend Policy</vt:lpstr>
      <vt:lpstr>Dividend Policy</vt:lpstr>
      <vt:lpstr>Dividend Policy  Financial Condition and Dividend Distributions</vt:lpstr>
      <vt:lpstr>Types of dividends</vt:lpstr>
      <vt:lpstr>Cash Dividends</vt:lpstr>
      <vt:lpstr>Cash Dividends</vt:lpstr>
      <vt:lpstr>Property Dividends</vt:lpstr>
      <vt:lpstr>Property Dividends</vt:lpstr>
      <vt:lpstr>Liquidating Dividends</vt:lpstr>
      <vt:lpstr>Liquidating Dividends</vt:lpstr>
      <vt:lpstr>Stock Dividends</vt:lpstr>
      <vt:lpstr>Stock Dividends - small stock dividend</vt:lpstr>
      <vt:lpstr>Stock Dividends - large stock dividend</vt:lpstr>
      <vt:lpstr>Stock Splits</vt:lpstr>
      <vt:lpstr>DO IT AT HOME: Stock Dividend &amp; Stock Split Differentiated</vt:lpstr>
      <vt:lpstr>Statement Presentation of Stockholders’ Equity (1 of 2)</vt:lpstr>
      <vt:lpstr>Statement Presentation of Stockholders’ Equity (2 of 2)</vt:lpstr>
      <vt:lpstr>Analysis of Stockholders’ Equity</vt:lpstr>
      <vt:lpstr>Analysis of Stockholders’ Equity</vt:lpstr>
      <vt:lpstr>DO IT AT HOME: Rate of Return on Common Stockholders’ Equity</vt:lpstr>
      <vt:lpstr>Do It AT HOME! 2: Analyzing Stockholders’ Equity (1 of 3)</vt:lpstr>
      <vt:lpstr>Do It AT HOME! 2: Analyzing Stockholders’ Equity (2 of 3)</vt:lpstr>
      <vt:lpstr>Do It AT HOME! 2: Analyzing Stockholders’ Equity (3 of 3)</vt:lpstr>
      <vt:lpstr>Income Statement Presentation</vt:lpstr>
      <vt:lpstr>Income Statement Analysis </vt:lpstr>
      <vt:lpstr>Do It AT HOME! 3: E P S (1 of 3)</vt:lpstr>
      <vt:lpstr>Do It AT HOME! 3: E P S (2 of 3)</vt:lpstr>
      <vt:lpstr>Do It AT HOME! 3: E P S (3 of 3)</vt:lpstr>
    </vt:vector>
  </TitlesOfParts>
  <Company>SPi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Accounting Principles, 13e</dc:title>
  <dc:subject>Accounts</dc:subject>
  <dc:creator>Weygandt/Kimmel/Kieso</dc:creator>
  <cp:lastModifiedBy>USER</cp:lastModifiedBy>
  <cp:revision>1873</cp:revision>
  <cp:lastPrinted>2017-04-26T13:25:47Z</cp:lastPrinted>
  <dcterms:created xsi:type="dcterms:W3CDTF">2017-04-21T14:49:46Z</dcterms:created>
  <dcterms:modified xsi:type="dcterms:W3CDTF">2025-04-17T08:51:05Z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0x0101004078D6520EA68A49865606D3C9534DA1</vt:lpwstr>
  </property>
</Properties>
</file>