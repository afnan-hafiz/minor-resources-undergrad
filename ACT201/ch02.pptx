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46"/>
  </p:notesMasterIdLst>
  <p:sldIdLst>
    <p:sldId id="393" r:id="rId11"/>
    <p:sldId id="258" r:id="rId12"/>
    <p:sldId id="394" r:id="rId13"/>
    <p:sldId id="395" r:id="rId14"/>
    <p:sldId id="396" r:id="rId15"/>
    <p:sldId id="397" r:id="rId16"/>
    <p:sldId id="398" r:id="rId17"/>
    <p:sldId id="399" r:id="rId18"/>
    <p:sldId id="400" r:id="rId19"/>
    <p:sldId id="401" r:id="rId20"/>
    <p:sldId id="402" r:id="rId21"/>
    <p:sldId id="408" r:id="rId22"/>
    <p:sldId id="409" r:id="rId23"/>
    <p:sldId id="410" r:id="rId24"/>
    <p:sldId id="411" r:id="rId25"/>
    <p:sldId id="414" r:id="rId26"/>
    <p:sldId id="415" r:id="rId27"/>
    <p:sldId id="416" r:id="rId28"/>
    <p:sldId id="417" r:id="rId29"/>
    <p:sldId id="421" r:id="rId30"/>
    <p:sldId id="422" r:id="rId31"/>
    <p:sldId id="423" r:id="rId32"/>
    <p:sldId id="424" r:id="rId33"/>
    <p:sldId id="425" r:id="rId34"/>
    <p:sldId id="426" r:id="rId35"/>
    <p:sldId id="427" r:id="rId36"/>
    <p:sldId id="429" r:id="rId37"/>
    <p:sldId id="446" r:id="rId38"/>
    <p:sldId id="430" r:id="rId39"/>
    <p:sldId id="431" r:id="rId40"/>
    <p:sldId id="432" r:id="rId41"/>
    <p:sldId id="433" r:id="rId42"/>
    <p:sldId id="453" r:id="rId43"/>
    <p:sldId id="436" r:id="rId44"/>
    <p:sldId id="437" r:id="rId4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32" autoAdjust="0"/>
    <p:restoredTop sz="94322" autoAdjust="0"/>
  </p:normalViewPr>
  <p:slideViewPr>
    <p:cSldViewPr>
      <p:cViewPr varScale="1">
        <p:scale>
          <a:sx n="59" d="100"/>
          <a:sy n="59" d="100"/>
        </p:scale>
        <p:origin x="1732" y="52"/>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slide" Target="slides/slide3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1/28/2024</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mn-lt"/>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mn-lt"/>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6"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latin typeface="+mn-lt"/>
              </a:defRPr>
            </a:lvl1pPr>
          </a:lstStyle>
          <a:p>
            <a:r>
              <a:rPr lang="en-US"/>
              <a:t>Copyright ©2018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latin typeface="+mn-lt"/>
              </a:defRPr>
            </a:lvl1pPr>
          </a:lstStyle>
          <a:p>
            <a:fld id="{42181430-7FCB-BA4C-90CE-EB7ACCC9EC50}" type="slidenum">
              <a:rPr lang="en-US" smtClean="0"/>
              <a:pPr/>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2</a:t>
            </a:r>
          </a:p>
        </p:txBody>
      </p:sp>
      <p:sp>
        <p:nvSpPr>
          <p:cNvPr id="6" name="CT"/>
          <p:cNvSpPr>
            <a:spLocks noGrp="1"/>
          </p:cNvSpPr>
          <p:nvPr>
            <p:ph sz="quarter" idx="20"/>
          </p:nvPr>
        </p:nvSpPr>
        <p:spPr>
          <a:xfrm>
            <a:off x="152400" y="4856282"/>
            <a:ext cx="8839200" cy="706318"/>
          </a:xfrm>
        </p:spPr>
        <p:txBody>
          <a:bodyPr/>
          <a:lstStyle/>
          <a:p>
            <a:pPr>
              <a:spcBef>
                <a:spcPts val="0"/>
              </a:spcBef>
            </a:pPr>
            <a:r>
              <a:rPr lang="en-US" sz="4000" dirty="0"/>
              <a:t>The Recording Process</a:t>
            </a:r>
          </a:p>
        </p:txBody>
      </p:sp>
      <p:sp>
        <p:nvSpPr>
          <p:cNvPr id="7" name="Content Placeholder 6"/>
          <p:cNvSpPr>
            <a:spLocks noGrp="1"/>
          </p:cNvSpPr>
          <p:nvPr>
            <p:ph sz="quarter" idx="21"/>
          </p:nvPr>
        </p:nvSpPr>
        <p:spPr>
          <a:xfrm>
            <a:off x="152400" y="57912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p:cNvSpPr>
            <a:spLocks noGrp="1"/>
          </p:cNvSpPr>
          <p:nvPr>
            <p:ph type="title"/>
          </p:nvPr>
        </p:nvSpPr>
        <p:spPr>
          <a:xfrm>
            <a:off x="295274" y="777241"/>
            <a:ext cx="8543926" cy="670559"/>
          </a:xfrm>
          <a:prstGeom prst="rect">
            <a:avLst/>
          </a:prstGeom>
        </p:spPr>
        <p:txBody>
          <a:bodyPr/>
          <a:lstStyle/>
          <a:p>
            <a:r>
              <a:rPr lang="en-US" b="1" dirty="0">
                <a:solidFill>
                  <a:schemeClr val="accent1"/>
                </a:solidFill>
                <a:ea typeface="Source Sans Pro" charset="0"/>
              </a:rPr>
              <a:t>Chapter Outline</a:t>
            </a:r>
            <a:endParaRPr lang="en-US" sz="2400" dirty="0">
              <a:solidFill>
                <a:schemeClr val="accent1"/>
              </a:solidFill>
            </a:endParaRPr>
          </a:p>
        </p:txBody>
      </p:sp>
      <p:sp>
        <p:nvSpPr>
          <p:cNvPr id="4" name="COBBL"/>
          <p:cNvSpPr>
            <a:spLocks noGrp="1"/>
          </p:cNvSpPr>
          <p:nvPr>
            <p:ph sz="quarter" idx="10"/>
          </p:nvPr>
        </p:nvSpPr>
        <p:spPr>
          <a:xfrm>
            <a:off x="304800" y="1752600"/>
            <a:ext cx="8534400" cy="3886200"/>
          </a:xfrm>
        </p:spPr>
        <p:txBody>
          <a:bodyPr/>
          <a:lstStyle/>
          <a:p>
            <a:pPr marL="0" lvl="1" indent="0">
              <a:spcBef>
                <a:spcPts val="1000"/>
              </a:spcBef>
              <a:buNone/>
            </a:pPr>
            <a:r>
              <a:rPr lang="en-US" sz="2800" b="1" dirty="0">
                <a:solidFill>
                  <a:schemeClr val="accent2"/>
                </a:solidFill>
                <a:latin typeface="Calibri" panose="020F0502020204030204" pitchFamily="34" charset="0"/>
              </a:rPr>
              <a:t>Learning Objectives</a:t>
            </a:r>
          </a:p>
          <a:p>
            <a:pPr marL="738188" lvl="1" indent="-738188">
              <a:spcBef>
                <a:spcPts val="1000"/>
              </a:spcBef>
              <a:buNone/>
            </a:pPr>
            <a:r>
              <a:rPr lang="en-US" sz="28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800" b="1" dirty="0">
                <a:solidFill>
                  <a:schemeClr val="accent2"/>
                </a:solidFill>
                <a:latin typeface="Calibri" panose="020F0502020204030204" pitchFamily="34" charset="0"/>
              </a:rPr>
              <a:t>O 1 </a:t>
            </a:r>
            <a:r>
              <a:rPr lang="en-US" sz="2800" dirty="0">
                <a:latin typeface="Calibri" panose="020F0502020204030204" pitchFamily="34" charset="0"/>
              </a:rPr>
              <a:t>Describe how accounts, debits, and credits are used to record business transactions.</a:t>
            </a:r>
          </a:p>
          <a:p>
            <a:pPr marL="738188" lvl="1" indent="-738188">
              <a:spcBef>
                <a:spcPts val="1000"/>
              </a:spcBef>
              <a:buNone/>
            </a:pPr>
            <a:r>
              <a:rPr lang="en-US" sz="28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800" b="1" dirty="0">
                <a:solidFill>
                  <a:schemeClr val="accent2"/>
                </a:solidFill>
                <a:latin typeface="Calibri" panose="020F0502020204030204" pitchFamily="34" charset="0"/>
              </a:rPr>
              <a:t>O 2 </a:t>
            </a:r>
            <a:r>
              <a:rPr lang="en-US" sz="2800" dirty="0">
                <a:latin typeface="Calibri" panose="020F0502020204030204" pitchFamily="34" charset="0"/>
              </a:rPr>
              <a:t>Indicate how a journal is used in the recording process.</a:t>
            </a:r>
          </a:p>
          <a:p>
            <a:pPr marL="796925" lvl="1" indent="-796925">
              <a:spcBef>
                <a:spcPts val="1000"/>
              </a:spcBef>
              <a:buNone/>
            </a:pPr>
            <a:r>
              <a:rPr lang="en-US" sz="28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800" b="1" dirty="0">
                <a:solidFill>
                  <a:schemeClr val="accent2"/>
                </a:solidFill>
                <a:latin typeface="Calibri" panose="020F0502020204030204" pitchFamily="34" charset="0"/>
              </a:rPr>
              <a:t>O 3 </a:t>
            </a:r>
            <a:r>
              <a:rPr lang="en-US" sz="2800" dirty="0">
                <a:latin typeface="Calibri" panose="020F0502020204030204" pitchFamily="34" charset="0"/>
              </a:rPr>
              <a:t>Explain how a ledger and posting help in the recording process.</a:t>
            </a:r>
          </a:p>
          <a:p>
            <a:pPr marL="0" lvl="1" indent="0">
              <a:spcBef>
                <a:spcPts val="1000"/>
              </a:spcBef>
              <a:buNone/>
            </a:pPr>
            <a:r>
              <a:rPr lang="en-US" sz="28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800" b="1" dirty="0">
                <a:solidFill>
                  <a:schemeClr val="accent2"/>
                </a:solidFill>
                <a:latin typeface="Calibri" panose="020F0502020204030204" pitchFamily="34" charset="0"/>
              </a:rPr>
              <a:t>O 4 </a:t>
            </a:r>
            <a:r>
              <a:rPr lang="en-US" sz="2800" dirty="0">
                <a:latin typeface="Calibri" panose="020F0502020204030204" pitchFamily="34" charset="0"/>
              </a:rPr>
              <a:t>Prepare a trial balance.</a:t>
            </a:r>
          </a:p>
        </p:txBody>
      </p:sp>
      <p:sp>
        <p:nvSpPr>
          <p:cNvPr id="5" name="Slide Number Placeholder"/>
          <p:cNvSpPr>
            <a:spLocks noGrp="1"/>
          </p:cNvSpPr>
          <p:nvPr>
            <p:ph type="sldNum" sz="quarter" idx="12"/>
          </p:nvPr>
        </p:nvSpPr>
        <p:spPr/>
        <p:txBody>
          <a:bodyPr/>
          <a:lstStyle/>
          <a:p>
            <a:fld id="{67B19427-F580-D146-B60E-4CADEE75497F}" type="slidenum">
              <a:rPr lang="en-US" smtClean="0"/>
              <a:t>2</a:t>
            </a:fld>
            <a:endParaRPr lang="en-US"/>
          </a:p>
        </p:txBody>
      </p:sp>
      <p:sp>
        <p:nvSpPr>
          <p:cNvPr id="6" name="Footer Placeholde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663153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43939-9AC8-4B26-9AE5-BC6A98C0606B}"/>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Accounts, Debits, and Credits </a:t>
            </a:r>
            <a:r>
              <a:rPr lang="en-US" sz="2400" dirty="0">
                <a:latin typeface="Calibri" panose="020F0502020204030204" pitchFamily="34" charset="0"/>
                <a:ea typeface="Source Sans Pro" charset="0"/>
                <a:cs typeface="Calibri" panose="020F0502020204030204" pitchFamily="34" charset="0"/>
              </a:rPr>
              <a:t>(1 of 4)</a:t>
            </a:r>
            <a:endParaRPr lang="en-US" b="1" dirty="0"/>
          </a:p>
        </p:txBody>
      </p:sp>
      <p:sp>
        <p:nvSpPr>
          <p:cNvPr id="3" name="Content Placeholder 2">
            <a:extLst>
              <a:ext uri="{FF2B5EF4-FFF2-40B4-BE49-F238E27FC236}">
                <a16:creationId xmlns:a16="http://schemas.microsoft.com/office/drawing/2014/main" id="{6425FE37-53FC-466A-81B3-F7B2460C6381}"/>
              </a:ext>
            </a:extLst>
          </p:cNvPr>
          <p:cNvSpPr>
            <a:spLocks noGrp="1"/>
          </p:cNvSpPr>
          <p:nvPr>
            <p:ph sz="quarter" idx="16"/>
          </p:nvPr>
        </p:nvSpPr>
        <p:spPr>
          <a:xfrm>
            <a:off x="304800" y="1828800"/>
            <a:ext cx="8534400" cy="2286000"/>
          </a:xfrm>
        </p:spPr>
        <p:txBody>
          <a:bodyPr/>
          <a:lstStyle/>
          <a:p>
            <a:pPr>
              <a:buSzPct val="95000"/>
            </a:pPr>
            <a:r>
              <a:rPr lang="en-US" altLang="en-US" sz="2600" b="1" dirty="0">
                <a:solidFill>
                  <a:schemeClr val="accent2"/>
                </a:solidFill>
                <a:latin typeface="Calibri "/>
              </a:rPr>
              <a:t>The Account</a:t>
            </a:r>
          </a:p>
          <a:p>
            <a:pPr marL="292608" lvl="2" indent="-292608">
              <a:spcBef>
                <a:spcPts val="1000"/>
              </a:spcBef>
              <a:buClr>
                <a:srgbClr val="990000"/>
              </a:buClr>
              <a:buSzPct val="100000"/>
            </a:pPr>
            <a:r>
              <a:rPr lang="en-US" altLang="en-US" sz="2600" dirty="0">
                <a:latin typeface="Calibri "/>
              </a:rPr>
              <a:t>Record of increases and decreases in a specific asset, liability, or owner’s equity item.</a:t>
            </a:r>
          </a:p>
          <a:p>
            <a:pPr marL="292608" lvl="2" indent="-292608">
              <a:spcBef>
                <a:spcPts val="1000"/>
              </a:spcBef>
              <a:buClr>
                <a:srgbClr val="990000"/>
              </a:buClr>
              <a:buSzPct val="100000"/>
            </a:pPr>
            <a:r>
              <a:rPr lang="en-US" altLang="en-US" sz="2600" dirty="0">
                <a:latin typeface="Calibri "/>
              </a:rPr>
              <a:t>Debit = “Left”</a:t>
            </a:r>
          </a:p>
          <a:p>
            <a:pPr marL="292608" lvl="2" indent="-292608">
              <a:spcBef>
                <a:spcPts val="1000"/>
              </a:spcBef>
              <a:buClr>
                <a:srgbClr val="990000"/>
              </a:buClr>
              <a:buSzPct val="100000"/>
            </a:pPr>
            <a:r>
              <a:rPr lang="en-US" altLang="en-US" sz="2600" dirty="0">
                <a:latin typeface="Calibri "/>
              </a:rPr>
              <a:t>Credit = “Right”</a:t>
            </a:r>
          </a:p>
        </p:txBody>
      </p:sp>
      <p:pic>
        <p:nvPicPr>
          <p:cNvPr id="7" name="Content Placeholder 6" descr="An illustration displays a T account that reads, account name on the top with debit on the left side, and credit on the right side.">
            <a:extLst>
              <a:ext uri="{FF2B5EF4-FFF2-40B4-BE49-F238E27FC236}">
                <a16:creationId xmlns:a16="http://schemas.microsoft.com/office/drawing/2014/main" id="{C6256DB8-B6AE-4059-AD22-AC1156EE662E}"/>
              </a:ext>
            </a:extLst>
          </p:cNvPr>
          <p:cNvPicPr>
            <a:picLocks noGrp="1" noChangeAspect="1"/>
          </p:cNvPicPr>
          <p:nvPr>
            <p:ph sz="quarter" idx="17"/>
          </p:nvPr>
        </p:nvPicPr>
        <p:blipFill>
          <a:blip r:embed="rId2"/>
          <a:stretch>
            <a:fillRect/>
          </a:stretch>
        </p:blipFill>
        <p:spPr>
          <a:xfrm>
            <a:off x="1258537" y="4267200"/>
            <a:ext cx="6626927" cy="2024613"/>
          </a:xfrm>
          <a:prstGeom prst="rect">
            <a:avLst/>
          </a:prstGeom>
        </p:spPr>
      </p:pic>
      <p:sp>
        <p:nvSpPr>
          <p:cNvPr id="5" name="Slide Number Placeholder 4">
            <a:extLst>
              <a:ext uri="{FF2B5EF4-FFF2-40B4-BE49-F238E27FC236}">
                <a16:creationId xmlns:a16="http://schemas.microsoft.com/office/drawing/2014/main" id="{216A3B2B-F199-44D6-8181-955BCD65C8E1}"/>
              </a:ext>
            </a:extLst>
          </p:cNvPr>
          <p:cNvSpPr>
            <a:spLocks noGrp="1"/>
          </p:cNvSpPr>
          <p:nvPr>
            <p:ph type="sldNum" sz="quarter" idx="10"/>
          </p:nvPr>
        </p:nvSpPr>
        <p:spPr/>
        <p:txBody>
          <a:bodyPr/>
          <a:lstStyle/>
          <a:p>
            <a:fld id="{67B19427-F580-D146-B60E-4CADEE75497F}" type="slidenum">
              <a:rPr lang="en-US" smtClean="0"/>
              <a:pPr/>
              <a:t>3</a:t>
            </a:fld>
            <a:endParaRPr lang="en-US" dirty="0"/>
          </a:p>
        </p:txBody>
      </p:sp>
      <p:sp>
        <p:nvSpPr>
          <p:cNvPr id="6" name="Footer Placeholder 5">
            <a:extLst>
              <a:ext uri="{FF2B5EF4-FFF2-40B4-BE49-F238E27FC236}">
                <a16:creationId xmlns:a16="http://schemas.microsoft.com/office/drawing/2014/main" id="{B2924C85-4C2E-49A6-B8F0-450F365068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84018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1F7E4-EDF8-4AA1-B892-4077F401DBD6}"/>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Debits and Credits </a:t>
            </a:r>
            <a:r>
              <a:rPr lang="en-US" sz="2400" dirty="0">
                <a:latin typeface="Calibri" panose="020F0502020204030204" pitchFamily="34" charset="0"/>
                <a:ea typeface="Source Sans Pro" charset="0"/>
                <a:cs typeface="Calibri" panose="020F0502020204030204" pitchFamily="34" charset="0"/>
              </a:rPr>
              <a:t>(1 of 3)</a:t>
            </a:r>
            <a:endParaRPr lang="en-US" sz="2400" dirty="0"/>
          </a:p>
        </p:txBody>
      </p:sp>
      <p:sp>
        <p:nvSpPr>
          <p:cNvPr id="6" name="Content Placeholder 5">
            <a:extLst>
              <a:ext uri="{FF2B5EF4-FFF2-40B4-BE49-F238E27FC236}">
                <a16:creationId xmlns:a16="http://schemas.microsoft.com/office/drawing/2014/main" id="{CD1591DB-57F7-4002-875E-277E70BE2274}"/>
              </a:ext>
            </a:extLst>
          </p:cNvPr>
          <p:cNvSpPr>
            <a:spLocks noGrp="1"/>
          </p:cNvSpPr>
          <p:nvPr>
            <p:ph sz="quarter" idx="16"/>
          </p:nvPr>
        </p:nvSpPr>
        <p:spPr>
          <a:xfrm>
            <a:off x="304800" y="1828800"/>
            <a:ext cx="8534400" cy="838200"/>
          </a:xfrm>
        </p:spPr>
        <p:txBody>
          <a:bodyPr/>
          <a:lstStyle/>
          <a:p>
            <a:r>
              <a:rPr lang="en-US" altLang="en-US" dirty="0"/>
              <a:t>If the sum of </a:t>
            </a:r>
            <a:r>
              <a:rPr lang="en-US" altLang="en-US" b="1" dirty="0"/>
              <a:t>Debit</a:t>
            </a:r>
            <a:r>
              <a:rPr lang="en-US" altLang="en-US" dirty="0"/>
              <a:t> entries are </a:t>
            </a:r>
            <a:r>
              <a:rPr lang="en-US" altLang="en-US" b="1" dirty="0">
                <a:solidFill>
                  <a:srgbClr val="990000"/>
                </a:solidFill>
              </a:rPr>
              <a:t>greater</a:t>
            </a:r>
            <a:r>
              <a:rPr lang="en-US" altLang="en-US" dirty="0">
                <a:solidFill>
                  <a:srgbClr val="800000"/>
                </a:solidFill>
              </a:rPr>
              <a:t> </a:t>
            </a:r>
            <a:r>
              <a:rPr lang="en-US" altLang="en-US" b="1" dirty="0">
                <a:solidFill>
                  <a:srgbClr val="990000"/>
                </a:solidFill>
              </a:rPr>
              <a:t>than</a:t>
            </a:r>
            <a:r>
              <a:rPr lang="en-US" altLang="en-US" dirty="0"/>
              <a:t> the sum of </a:t>
            </a:r>
            <a:r>
              <a:rPr lang="en-US" altLang="en-US" b="1" dirty="0"/>
              <a:t>Credit</a:t>
            </a:r>
            <a:r>
              <a:rPr lang="en-US" altLang="en-US" dirty="0"/>
              <a:t> entries, the account will have a debit balance.</a:t>
            </a:r>
          </a:p>
        </p:txBody>
      </p:sp>
      <p:pic>
        <p:nvPicPr>
          <p:cNvPr id="8" name="Content Placeholder 7" descr="A diagram shows an example of posting to a t-account. The account name is displayed on top of the T as Account Name. The account displays debit on the left side and credit on the right side. The first transaction displays the amount of $10,000 on the left side. Just below is transaction 3 with 8,000. On the right side is transaction 2 with amount $3,000. The balance of $15,000 in red font is displayed on the left side below transaction 3.">
            <a:extLst>
              <a:ext uri="{FF2B5EF4-FFF2-40B4-BE49-F238E27FC236}">
                <a16:creationId xmlns:a16="http://schemas.microsoft.com/office/drawing/2014/main" id="{F7BF5357-6E1D-4111-99E3-6E9863A225B5}"/>
              </a:ext>
            </a:extLst>
          </p:cNvPr>
          <p:cNvPicPr>
            <a:picLocks noGrp="1" noChangeAspect="1"/>
          </p:cNvPicPr>
          <p:nvPr>
            <p:ph sz="quarter" idx="17"/>
          </p:nvPr>
        </p:nvPicPr>
        <p:blipFill>
          <a:blip r:embed="rId2"/>
          <a:stretch>
            <a:fillRect/>
          </a:stretch>
        </p:blipFill>
        <p:spPr>
          <a:xfrm>
            <a:off x="823452" y="3200400"/>
            <a:ext cx="7510502" cy="2608113"/>
          </a:xfrm>
          <a:prstGeom prst="rect">
            <a:avLst/>
          </a:prstGeom>
        </p:spPr>
      </p:pic>
      <p:sp>
        <p:nvSpPr>
          <p:cNvPr id="4" name="Slide Number Placeholder 3">
            <a:extLst>
              <a:ext uri="{FF2B5EF4-FFF2-40B4-BE49-F238E27FC236}">
                <a16:creationId xmlns:a16="http://schemas.microsoft.com/office/drawing/2014/main" id="{B481B8BF-3B77-48BF-8A55-3B8997793159}"/>
              </a:ext>
            </a:extLst>
          </p:cNvPr>
          <p:cNvSpPr>
            <a:spLocks noGrp="1"/>
          </p:cNvSpPr>
          <p:nvPr>
            <p:ph type="sldNum" sz="quarter" idx="10"/>
          </p:nvPr>
        </p:nvSpPr>
        <p:spPr/>
        <p:txBody>
          <a:bodyPr/>
          <a:lstStyle/>
          <a:p>
            <a:fld id="{67B19427-F580-D146-B60E-4CADEE75497F}" type="slidenum">
              <a:rPr lang="en-US" smtClean="0"/>
              <a:pPr/>
              <a:t>4</a:t>
            </a:fld>
            <a:endParaRPr lang="en-US" dirty="0"/>
          </a:p>
        </p:txBody>
      </p:sp>
      <p:sp>
        <p:nvSpPr>
          <p:cNvPr id="5" name="Footer Placeholder 4">
            <a:extLst>
              <a:ext uri="{FF2B5EF4-FFF2-40B4-BE49-F238E27FC236}">
                <a16:creationId xmlns:a16="http://schemas.microsoft.com/office/drawing/2014/main" id="{ACA26D19-B104-4627-93B4-52AA6273489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0137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1F7E4-EDF8-4AA1-B892-4077F401DBD6}"/>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Debits and Credits </a:t>
            </a:r>
            <a:r>
              <a:rPr lang="en-US" sz="2400" dirty="0">
                <a:latin typeface="Calibri" panose="020F0502020204030204" pitchFamily="34" charset="0"/>
                <a:ea typeface="Source Sans Pro" charset="0"/>
                <a:cs typeface="Calibri" panose="020F0502020204030204" pitchFamily="34" charset="0"/>
              </a:rPr>
              <a:t>(2 of 3)</a:t>
            </a:r>
            <a:endParaRPr lang="en-US" b="1" dirty="0"/>
          </a:p>
        </p:txBody>
      </p:sp>
      <p:sp>
        <p:nvSpPr>
          <p:cNvPr id="6" name="Content Placeholder 5">
            <a:extLst>
              <a:ext uri="{FF2B5EF4-FFF2-40B4-BE49-F238E27FC236}">
                <a16:creationId xmlns:a16="http://schemas.microsoft.com/office/drawing/2014/main" id="{CD1591DB-57F7-4002-875E-277E70BE2274}"/>
              </a:ext>
            </a:extLst>
          </p:cNvPr>
          <p:cNvSpPr>
            <a:spLocks noGrp="1"/>
          </p:cNvSpPr>
          <p:nvPr>
            <p:ph sz="quarter" idx="16"/>
          </p:nvPr>
        </p:nvSpPr>
        <p:spPr>
          <a:xfrm>
            <a:off x="304800" y="1828800"/>
            <a:ext cx="8534400" cy="838200"/>
          </a:xfrm>
        </p:spPr>
        <p:txBody>
          <a:bodyPr/>
          <a:lstStyle/>
          <a:p>
            <a:pPr>
              <a:buSzPct val="80000"/>
            </a:pPr>
            <a:r>
              <a:rPr lang="en-US" altLang="en-US" dirty="0"/>
              <a:t>If the sum of </a:t>
            </a:r>
            <a:r>
              <a:rPr lang="en-US" altLang="en-US" b="1" dirty="0"/>
              <a:t>Credit</a:t>
            </a:r>
            <a:r>
              <a:rPr lang="en-US" altLang="en-US" dirty="0"/>
              <a:t> entries are </a:t>
            </a:r>
            <a:r>
              <a:rPr lang="en-US" altLang="en-US" b="1" dirty="0">
                <a:solidFill>
                  <a:schemeClr val="accent2"/>
                </a:solidFill>
              </a:rPr>
              <a:t>greater</a:t>
            </a:r>
            <a:r>
              <a:rPr lang="en-US" altLang="en-US" dirty="0">
                <a:solidFill>
                  <a:schemeClr val="accent2"/>
                </a:solidFill>
              </a:rPr>
              <a:t> </a:t>
            </a:r>
            <a:r>
              <a:rPr lang="en-US" altLang="en-US" b="1" dirty="0">
                <a:solidFill>
                  <a:schemeClr val="accent2"/>
                </a:solidFill>
              </a:rPr>
              <a:t>than</a:t>
            </a:r>
            <a:r>
              <a:rPr lang="en-US" altLang="en-US" dirty="0">
                <a:solidFill>
                  <a:schemeClr val="accent2"/>
                </a:solidFill>
              </a:rPr>
              <a:t> </a:t>
            </a:r>
            <a:r>
              <a:rPr lang="en-US" altLang="en-US" dirty="0"/>
              <a:t>the sum of </a:t>
            </a:r>
            <a:r>
              <a:rPr lang="en-US" altLang="en-US" b="1" dirty="0"/>
              <a:t>Debit</a:t>
            </a:r>
            <a:r>
              <a:rPr lang="en-US" altLang="en-US" dirty="0"/>
              <a:t> entries, the account will have a credit balance.</a:t>
            </a:r>
          </a:p>
        </p:txBody>
      </p:sp>
      <p:pic>
        <p:nvPicPr>
          <p:cNvPr id="9" name="Content Placeholder 8" descr="A diagram shows an example of posting to a t-account. The account name is displayed on top of the T as Account Name. The account displays debit on the left side and credit on the right side. The left side shows Transaction 1 with an amount of $10,000. On the right side, transaction 2 displays amount $3,000. Just below, transaction 3 is displayed as 8,000. The balance of $1,000 in red font is displayed on the right side below transaction 3.">
            <a:extLst>
              <a:ext uri="{FF2B5EF4-FFF2-40B4-BE49-F238E27FC236}">
                <a16:creationId xmlns:a16="http://schemas.microsoft.com/office/drawing/2014/main" id="{8881A554-11D9-40B3-A527-BBBF96E6F585}"/>
              </a:ext>
            </a:extLst>
          </p:cNvPr>
          <p:cNvPicPr>
            <a:picLocks noGrp="1" noChangeAspect="1"/>
          </p:cNvPicPr>
          <p:nvPr>
            <p:ph sz="quarter" idx="17"/>
          </p:nvPr>
        </p:nvPicPr>
        <p:blipFill>
          <a:blip r:embed="rId2"/>
          <a:stretch>
            <a:fillRect/>
          </a:stretch>
        </p:blipFill>
        <p:spPr>
          <a:xfrm>
            <a:off x="822960" y="3200400"/>
            <a:ext cx="7504534" cy="2606040"/>
          </a:xfrm>
          <a:prstGeom prst="rect">
            <a:avLst/>
          </a:prstGeom>
        </p:spPr>
      </p:pic>
      <p:sp>
        <p:nvSpPr>
          <p:cNvPr id="4" name="Slide Number Placeholder 3">
            <a:extLst>
              <a:ext uri="{FF2B5EF4-FFF2-40B4-BE49-F238E27FC236}">
                <a16:creationId xmlns:a16="http://schemas.microsoft.com/office/drawing/2014/main" id="{B481B8BF-3B77-48BF-8A55-3B8997793159}"/>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5" name="Footer Placeholder 4">
            <a:extLst>
              <a:ext uri="{FF2B5EF4-FFF2-40B4-BE49-F238E27FC236}">
                <a16:creationId xmlns:a16="http://schemas.microsoft.com/office/drawing/2014/main" id="{ACA26D19-B104-4627-93B4-52AA6273489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7448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6C-A0C5-4B48-A578-35EA096226F7}"/>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Debits and Credits </a:t>
            </a:r>
            <a:r>
              <a:rPr lang="en-US" sz="2400" dirty="0">
                <a:latin typeface="Calibri" panose="020F0502020204030204" pitchFamily="34" charset="0"/>
                <a:ea typeface="Source Sans Pro" charset="0"/>
                <a:cs typeface="Calibri" panose="020F0502020204030204" pitchFamily="34" charset="0"/>
              </a:rPr>
              <a:t>(3 of 3)</a:t>
            </a:r>
            <a:endParaRPr lang="en-US" dirty="0"/>
          </a:p>
        </p:txBody>
      </p:sp>
      <p:sp>
        <p:nvSpPr>
          <p:cNvPr id="3" name="Content Placeholder 2">
            <a:extLst>
              <a:ext uri="{FF2B5EF4-FFF2-40B4-BE49-F238E27FC236}">
                <a16:creationId xmlns:a16="http://schemas.microsoft.com/office/drawing/2014/main" id="{DD63C178-B83F-4DFF-A93F-A95AD4B40262}"/>
              </a:ext>
            </a:extLst>
          </p:cNvPr>
          <p:cNvSpPr>
            <a:spLocks noGrp="1"/>
          </p:cNvSpPr>
          <p:nvPr>
            <p:ph sz="quarter" idx="16"/>
          </p:nvPr>
        </p:nvSpPr>
        <p:spPr>
          <a:xfrm>
            <a:off x="304800" y="1828800"/>
            <a:ext cx="8534400" cy="3429000"/>
          </a:xfrm>
        </p:spPr>
        <p:txBody>
          <a:bodyPr/>
          <a:lstStyle/>
          <a:p>
            <a:pPr>
              <a:buSzPct val="95000"/>
            </a:pPr>
            <a:r>
              <a:rPr lang="en-US" b="1" dirty="0">
                <a:latin typeface="Calibri" panose="020F0502020204030204" pitchFamily="34" charset="0"/>
              </a:rPr>
              <a:t>Debit and Credit Procedure</a:t>
            </a:r>
            <a:endParaRPr lang="en-US" altLang="en-US" b="1" dirty="0">
              <a:latin typeface="Calibri" panose="020F0502020204030204" pitchFamily="34" charset="0"/>
            </a:endParaRPr>
          </a:p>
          <a:p>
            <a:pPr>
              <a:buSzPct val="95000"/>
            </a:pPr>
            <a:r>
              <a:rPr lang="en-US" altLang="en-US" b="1" dirty="0">
                <a:solidFill>
                  <a:schemeClr val="accent4"/>
                </a:solidFill>
                <a:latin typeface="Calibri" panose="020F0502020204030204" pitchFamily="34" charset="0"/>
              </a:rPr>
              <a:t>Double-entry system</a:t>
            </a:r>
          </a:p>
          <a:p>
            <a:pPr marL="292608" lvl="2" indent="-292608">
              <a:spcBef>
                <a:spcPts val="1000"/>
              </a:spcBef>
              <a:buClr>
                <a:srgbClr val="990000"/>
              </a:buClr>
              <a:buSzPct val="100000"/>
            </a:pPr>
            <a:r>
              <a:rPr lang="en-US" altLang="en-US" sz="2800" dirty="0">
                <a:latin typeface="Calibri" panose="020F0502020204030204" pitchFamily="34" charset="0"/>
              </a:rPr>
              <a:t>Each transaction must affect two or more accounts to keep basic accounting equation in balance</a:t>
            </a:r>
          </a:p>
          <a:p>
            <a:pPr marL="292608" lvl="2" indent="-292608">
              <a:spcBef>
                <a:spcPts val="1000"/>
              </a:spcBef>
              <a:buClr>
                <a:srgbClr val="990000"/>
              </a:buClr>
              <a:buSzPct val="100000"/>
            </a:pPr>
            <a:r>
              <a:rPr lang="en-US" altLang="en-US" sz="2800" dirty="0">
                <a:latin typeface="Calibri" panose="020F0502020204030204" pitchFamily="34" charset="0"/>
              </a:rPr>
              <a:t>Recording done by debiting at least one account and crediting at least one other account</a:t>
            </a:r>
          </a:p>
          <a:p>
            <a:pPr marL="292608" lvl="2" indent="-292608">
              <a:spcBef>
                <a:spcPts val="1000"/>
              </a:spcBef>
              <a:buClr>
                <a:srgbClr val="990000"/>
              </a:buClr>
              <a:buSzPct val="100000"/>
            </a:pPr>
            <a:r>
              <a:rPr lang="en-US" altLang="en-US" sz="2800" b="1" dirty="0">
                <a:latin typeface="Calibri" panose="020F0502020204030204" pitchFamily="34" charset="0"/>
              </a:rPr>
              <a:t>DEBITS must equal CREDITS</a:t>
            </a:r>
          </a:p>
        </p:txBody>
      </p:sp>
      <p:sp>
        <p:nvSpPr>
          <p:cNvPr id="4" name="Slide Number Placeholder 3">
            <a:extLst>
              <a:ext uri="{FF2B5EF4-FFF2-40B4-BE49-F238E27FC236}">
                <a16:creationId xmlns:a16="http://schemas.microsoft.com/office/drawing/2014/main" id="{25E477ED-EF47-4200-87F8-DCDFF339AA0C}"/>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5" name="Footer Placeholder 4">
            <a:extLst>
              <a:ext uri="{FF2B5EF4-FFF2-40B4-BE49-F238E27FC236}">
                <a16:creationId xmlns:a16="http://schemas.microsoft.com/office/drawing/2014/main" id="{00633583-8607-485C-8EBD-5B6CA7840676}"/>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55447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76DF9-D6BA-429B-9C2D-BE6742F3F699}"/>
              </a:ext>
            </a:extLst>
          </p:cNvPr>
          <p:cNvSpPr>
            <a:spLocks noGrp="1"/>
          </p:cNvSpPr>
          <p:nvPr>
            <p:ph type="title"/>
          </p:nvPr>
        </p:nvSpPr>
        <p:spPr>
          <a:xfrm>
            <a:off x="304800" y="762001"/>
            <a:ext cx="8534400" cy="771524"/>
          </a:xfrm>
        </p:spPr>
        <p:txBody>
          <a:bodyPr/>
          <a:lstStyle/>
          <a:p>
            <a:r>
              <a:rPr lang="en-US" b="1" dirty="0">
                <a:latin typeface="Calibri" panose="020F0502020204030204" pitchFamily="34" charset="0"/>
                <a:ea typeface="Source Sans Pro" charset="0"/>
                <a:cs typeface="Calibri" panose="020F0502020204030204" pitchFamily="34" charset="0"/>
              </a:rPr>
              <a:t>Accounts, Debits, and Credits </a:t>
            </a:r>
            <a:r>
              <a:rPr lang="en-US" sz="2400" dirty="0">
                <a:latin typeface="Calibri" panose="020F0502020204030204" pitchFamily="34" charset="0"/>
                <a:ea typeface="Source Sans Pro" charset="0"/>
                <a:cs typeface="Calibri" panose="020F0502020204030204" pitchFamily="34" charset="0"/>
              </a:rPr>
              <a:t>(2 of 4)</a:t>
            </a:r>
            <a:endParaRPr lang="en-US" sz="2400" dirty="0"/>
          </a:p>
        </p:txBody>
      </p:sp>
      <p:pic>
        <p:nvPicPr>
          <p:cNvPr id="9" name="Content Placeholder 8" descr="A diagram shows a t-account indicating the debit and credit effects on assets. A blue arrow pointing upward on the left of the t-account implies that debits increase assets. A red arrow pointing downward on the right indicates that credits reduce assets. The account balance is displayed as normal balance, and appears on the left side. ">
            <a:extLst>
              <a:ext uri="{FF2B5EF4-FFF2-40B4-BE49-F238E27FC236}">
                <a16:creationId xmlns:a16="http://schemas.microsoft.com/office/drawing/2014/main" id="{69F5C5BA-1E9F-4CC2-B957-2739428615FA}"/>
              </a:ext>
            </a:extLst>
          </p:cNvPr>
          <p:cNvPicPr>
            <a:picLocks noGrp="1" noChangeAspect="1"/>
          </p:cNvPicPr>
          <p:nvPr>
            <p:ph sz="quarter" idx="16"/>
          </p:nvPr>
        </p:nvPicPr>
        <p:blipFill>
          <a:blip r:embed="rId2"/>
          <a:stretch>
            <a:fillRect/>
          </a:stretch>
        </p:blipFill>
        <p:spPr>
          <a:xfrm>
            <a:off x="518000" y="1905000"/>
            <a:ext cx="3688400" cy="2426418"/>
          </a:xfrm>
          <a:prstGeom prst="rect">
            <a:avLst/>
          </a:prstGeom>
        </p:spPr>
      </p:pic>
      <p:pic>
        <p:nvPicPr>
          <p:cNvPr id="10" name="Content Placeholder 9" descr="A diagram shows a t-account indicating the debit and credit effects on liabilities. A red arrow pointing downward on the left of the t-account implies that debits reduce liabilities. A blue arrow pointing upward on the right indicates that credits increase liabilities. The account balance is displayed as normal balance, and appears on the right side. ">
            <a:extLst>
              <a:ext uri="{FF2B5EF4-FFF2-40B4-BE49-F238E27FC236}">
                <a16:creationId xmlns:a16="http://schemas.microsoft.com/office/drawing/2014/main" id="{E22ED3DD-7AB7-4E46-92A7-87331FE75343}"/>
              </a:ext>
            </a:extLst>
          </p:cNvPr>
          <p:cNvPicPr>
            <a:picLocks noGrp="1" noChangeAspect="1"/>
          </p:cNvPicPr>
          <p:nvPr>
            <p:ph sz="quarter" idx="17"/>
          </p:nvPr>
        </p:nvPicPr>
        <p:blipFill>
          <a:blip r:embed="rId3"/>
          <a:stretch>
            <a:fillRect/>
          </a:stretch>
        </p:blipFill>
        <p:spPr>
          <a:xfrm>
            <a:off x="4937600" y="1905000"/>
            <a:ext cx="3688400" cy="2426418"/>
          </a:xfrm>
          <a:prstGeom prst="rect">
            <a:avLst/>
          </a:prstGeom>
        </p:spPr>
      </p:pic>
      <p:sp>
        <p:nvSpPr>
          <p:cNvPr id="5" name="Content Placeholder 4">
            <a:extLst>
              <a:ext uri="{FF2B5EF4-FFF2-40B4-BE49-F238E27FC236}">
                <a16:creationId xmlns:a16="http://schemas.microsoft.com/office/drawing/2014/main" id="{0008F924-AEE3-4ABB-8780-5333D23FDEB9}"/>
              </a:ext>
            </a:extLst>
          </p:cNvPr>
          <p:cNvSpPr>
            <a:spLocks noGrp="1"/>
          </p:cNvSpPr>
          <p:nvPr>
            <p:ph sz="quarter" idx="18"/>
          </p:nvPr>
        </p:nvSpPr>
        <p:spPr>
          <a:xfrm>
            <a:off x="304800" y="4495800"/>
            <a:ext cx="8382000" cy="1489075"/>
          </a:xfrm>
        </p:spPr>
        <p:txBody>
          <a:bodyPr/>
          <a:lstStyle/>
          <a:p>
            <a:pPr marL="292608" lvl="2" indent="-292608">
              <a:spcBef>
                <a:spcPts val="1000"/>
              </a:spcBef>
              <a:buClr>
                <a:srgbClr val="990000"/>
              </a:buClr>
              <a:buSzPct val="100000"/>
            </a:pPr>
            <a:r>
              <a:rPr lang="en-US" altLang="en-US" sz="2800" b="1" dirty="0"/>
              <a:t>Asset</a:t>
            </a:r>
            <a:r>
              <a:rPr lang="en-US" altLang="en-US" sz="2800" dirty="0"/>
              <a:t> – accounts normally show debit balances</a:t>
            </a:r>
          </a:p>
          <a:p>
            <a:pPr marL="292608" lvl="2" indent="-292608">
              <a:spcBef>
                <a:spcPts val="1000"/>
              </a:spcBef>
              <a:buClr>
                <a:srgbClr val="990000"/>
              </a:buClr>
              <a:buSzPct val="100000"/>
            </a:pPr>
            <a:r>
              <a:rPr lang="en-US" altLang="en-US" sz="2800" b="1" dirty="0"/>
              <a:t>Liabilities</a:t>
            </a:r>
            <a:r>
              <a:rPr lang="en-US" altLang="en-US" sz="2800" dirty="0"/>
              <a:t> – accounts normally show credit balances</a:t>
            </a:r>
          </a:p>
          <a:p>
            <a:pPr marL="292608" lvl="2" indent="-292608">
              <a:spcBef>
                <a:spcPts val="1000"/>
              </a:spcBef>
              <a:buClr>
                <a:srgbClr val="990000"/>
              </a:buClr>
              <a:buSzPct val="100000"/>
            </a:pPr>
            <a:r>
              <a:rPr lang="en-US" altLang="en-US" sz="2800" b="1" dirty="0"/>
              <a:t>Normal</a:t>
            </a:r>
            <a:r>
              <a:rPr lang="en-US" altLang="en-US" sz="2800" dirty="0"/>
              <a:t> </a:t>
            </a:r>
            <a:r>
              <a:rPr lang="en-US" altLang="en-US" sz="2800" b="1" dirty="0"/>
              <a:t>balance</a:t>
            </a:r>
            <a:r>
              <a:rPr lang="en-US" altLang="en-US" sz="2800" dirty="0"/>
              <a:t> is on the increase side</a:t>
            </a:r>
          </a:p>
        </p:txBody>
      </p:sp>
      <p:sp>
        <p:nvSpPr>
          <p:cNvPr id="6" name="Slide Number Placeholder 5">
            <a:extLst>
              <a:ext uri="{FF2B5EF4-FFF2-40B4-BE49-F238E27FC236}">
                <a16:creationId xmlns:a16="http://schemas.microsoft.com/office/drawing/2014/main" id="{90FFA7CD-D7B2-4348-AD1E-E368B4685416}"/>
              </a:ext>
            </a:extLst>
          </p:cNvPr>
          <p:cNvSpPr>
            <a:spLocks noGrp="1"/>
          </p:cNvSpPr>
          <p:nvPr>
            <p:ph type="sldNum" sz="quarter" idx="10"/>
          </p:nvPr>
        </p:nvSpPr>
        <p:spPr/>
        <p:txBody>
          <a:bodyPr/>
          <a:lstStyle/>
          <a:p>
            <a:fld id="{67B19427-F580-D146-B60E-4CADEE75497F}" type="slidenum">
              <a:rPr lang="en-US" smtClean="0"/>
              <a:pPr/>
              <a:t>7</a:t>
            </a:fld>
            <a:endParaRPr lang="en-US" dirty="0"/>
          </a:p>
        </p:txBody>
      </p:sp>
      <p:sp>
        <p:nvSpPr>
          <p:cNvPr id="7" name="Footer Placeholder 6">
            <a:extLst>
              <a:ext uri="{FF2B5EF4-FFF2-40B4-BE49-F238E27FC236}">
                <a16:creationId xmlns:a16="http://schemas.microsoft.com/office/drawing/2014/main" id="{C9C8A2BF-F693-49EB-9901-56D65CE4D3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8221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76DF9-D6BA-429B-9C2D-BE6742F3F699}"/>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Accounts, Debits, and Credits </a:t>
            </a:r>
            <a:r>
              <a:rPr lang="en-US" sz="2400" dirty="0">
                <a:latin typeface="Calibri" panose="020F0502020204030204" pitchFamily="34" charset="0"/>
                <a:ea typeface="Source Sans Pro" charset="0"/>
                <a:cs typeface="Calibri" panose="020F0502020204030204" pitchFamily="34" charset="0"/>
              </a:rPr>
              <a:t>(3 of 4)</a:t>
            </a:r>
            <a:endParaRPr lang="en-US" dirty="0"/>
          </a:p>
        </p:txBody>
      </p:sp>
      <p:pic>
        <p:nvPicPr>
          <p:cNvPr id="12" name="Content Placeholder 11" descr="A diagram shows a t-account indicating the debit and credit effects on owner's drawings. A blue arrow pointing upward on the left of the t-account implies that debits increase owner's drawings. A red arrow pointing downward on the right indicates that credits reduce owner's drawings. The account balance is displayed as normal balance, and appears on the left side. ">
            <a:extLst>
              <a:ext uri="{FF2B5EF4-FFF2-40B4-BE49-F238E27FC236}">
                <a16:creationId xmlns:a16="http://schemas.microsoft.com/office/drawing/2014/main" id="{9B85335E-9942-49E4-BD05-D4690FF379E6}"/>
              </a:ext>
            </a:extLst>
          </p:cNvPr>
          <p:cNvPicPr>
            <a:picLocks noGrp="1" noChangeAspect="1"/>
          </p:cNvPicPr>
          <p:nvPr>
            <p:ph sz="quarter" idx="16"/>
          </p:nvPr>
        </p:nvPicPr>
        <p:blipFill>
          <a:blip r:embed="rId2"/>
          <a:stretch>
            <a:fillRect/>
          </a:stretch>
        </p:blipFill>
        <p:spPr>
          <a:xfrm>
            <a:off x="518000" y="1905000"/>
            <a:ext cx="3688400" cy="2426418"/>
          </a:xfrm>
          <a:prstGeom prst="rect">
            <a:avLst/>
          </a:prstGeom>
        </p:spPr>
      </p:pic>
      <p:pic>
        <p:nvPicPr>
          <p:cNvPr id="13" name="Content Placeholder 12" descr="A diagram shows a t-account indicating the debit and credit effects on owner's capital. A red arrow pointing downward on the left of the t-account implies that debits reduce owner's capital. A blue arrow pointing upward on the right indicates that credits increase owner's capital. The account balance is displayed as normal balance, and appears on the right side. ">
            <a:extLst>
              <a:ext uri="{FF2B5EF4-FFF2-40B4-BE49-F238E27FC236}">
                <a16:creationId xmlns:a16="http://schemas.microsoft.com/office/drawing/2014/main" id="{995DB23A-CEA8-4EF0-8765-B7F55C0FAF36}"/>
              </a:ext>
            </a:extLst>
          </p:cNvPr>
          <p:cNvPicPr>
            <a:picLocks noGrp="1" noChangeAspect="1"/>
          </p:cNvPicPr>
          <p:nvPr>
            <p:ph sz="quarter" idx="17"/>
          </p:nvPr>
        </p:nvPicPr>
        <p:blipFill>
          <a:blip r:embed="rId3"/>
          <a:stretch>
            <a:fillRect/>
          </a:stretch>
        </p:blipFill>
        <p:spPr>
          <a:xfrm>
            <a:off x="4937600" y="1858296"/>
            <a:ext cx="3688400" cy="2505673"/>
          </a:xfrm>
          <a:prstGeom prst="rect">
            <a:avLst/>
          </a:prstGeom>
        </p:spPr>
      </p:pic>
      <p:sp>
        <p:nvSpPr>
          <p:cNvPr id="5" name="Content Placeholder 4">
            <a:extLst>
              <a:ext uri="{FF2B5EF4-FFF2-40B4-BE49-F238E27FC236}">
                <a16:creationId xmlns:a16="http://schemas.microsoft.com/office/drawing/2014/main" id="{0008F924-AEE3-4ABB-8780-5333D23FDEB9}"/>
              </a:ext>
            </a:extLst>
          </p:cNvPr>
          <p:cNvSpPr>
            <a:spLocks noGrp="1"/>
          </p:cNvSpPr>
          <p:nvPr>
            <p:ph sz="quarter" idx="18"/>
          </p:nvPr>
        </p:nvSpPr>
        <p:spPr>
          <a:xfrm>
            <a:off x="304800" y="4496518"/>
            <a:ext cx="8534400" cy="1729658"/>
          </a:xfrm>
        </p:spPr>
        <p:txBody>
          <a:bodyPr/>
          <a:lstStyle/>
          <a:p>
            <a:pPr marL="292608" lvl="2" indent="-292608">
              <a:spcBef>
                <a:spcPts val="1000"/>
              </a:spcBef>
              <a:buClr>
                <a:srgbClr val="990000"/>
              </a:buClr>
              <a:buSzPct val="100000"/>
            </a:pPr>
            <a:r>
              <a:rPr lang="en-US" altLang="en-US" sz="2800" b="1" dirty="0"/>
              <a:t>Owner’s investments </a:t>
            </a:r>
            <a:r>
              <a:rPr lang="en-US" altLang="en-US" sz="2800" dirty="0"/>
              <a:t>and </a:t>
            </a:r>
            <a:r>
              <a:rPr lang="en-US" altLang="en-US" sz="2800" b="1" dirty="0"/>
              <a:t>revenues</a:t>
            </a:r>
            <a:r>
              <a:rPr lang="en-US" altLang="en-US" sz="2800" dirty="0"/>
              <a:t> increase owner’s equity (credit)</a:t>
            </a:r>
          </a:p>
          <a:p>
            <a:pPr marL="292608" lvl="2" indent="-292608">
              <a:spcBef>
                <a:spcPts val="1000"/>
              </a:spcBef>
              <a:buClr>
                <a:srgbClr val="990000"/>
              </a:buClr>
              <a:buSzPct val="100000"/>
            </a:pPr>
            <a:r>
              <a:rPr lang="en-US" altLang="en-US" sz="2800" b="1" dirty="0"/>
              <a:t>Owner’s</a:t>
            </a:r>
            <a:r>
              <a:rPr lang="en-US" altLang="en-US" sz="2800" dirty="0"/>
              <a:t> </a:t>
            </a:r>
            <a:r>
              <a:rPr lang="en-US" altLang="en-US" sz="2800" b="1" dirty="0"/>
              <a:t>drawings</a:t>
            </a:r>
            <a:r>
              <a:rPr lang="en-US" altLang="en-US" sz="2800" dirty="0"/>
              <a:t> and </a:t>
            </a:r>
            <a:r>
              <a:rPr lang="en-US" altLang="en-US" sz="2800" b="1" dirty="0"/>
              <a:t>expenses</a:t>
            </a:r>
            <a:r>
              <a:rPr lang="en-US" altLang="en-US" sz="2800" dirty="0"/>
              <a:t> decrease owner’s equity (debit)</a:t>
            </a:r>
          </a:p>
        </p:txBody>
      </p:sp>
      <p:sp>
        <p:nvSpPr>
          <p:cNvPr id="6" name="Slide Number Placeholder 5">
            <a:extLst>
              <a:ext uri="{FF2B5EF4-FFF2-40B4-BE49-F238E27FC236}">
                <a16:creationId xmlns:a16="http://schemas.microsoft.com/office/drawing/2014/main" id="{90FFA7CD-D7B2-4348-AD1E-E368B4685416}"/>
              </a:ext>
            </a:extLst>
          </p:cNvPr>
          <p:cNvSpPr>
            <a:spLocks noGrp="1"/>
          </p:cNvSpPr>
          <p:nvPr>
            <p:ph type="sldNum" sz="quarter" idx="10"/>
          </p:nvPr>
        </p:nvSpPr>
        <p:spPr/>
        <p:txBody>
          <a:bodyPr/>
          <a:lstStyle/>
          <a:p>
            <a:fld id="{67B19427-F580-D146-B60E-4CADEE75497F}" type="slidenum">
              <a:rPr lang="en-US" smtClean="0"/>
              <a:pPr/>
              <a:t>8</a:t>
            </a:fld>
            <a:endParaRPr lang="en-US" dirty="0"/>
          </a:p>
        </p:txBody>
      </p:sp>
      <p:sp>
        <p:nvSpPr>
          <p:cNvPr id="7" name="Footer Placeholder 6">
            <a:extLst>
              <a:ext uri="{FF2B5EF4-FFF2-40B4-BE49-F238E27FC236}">
                <a16:creationId xmlns:a16="http://schemas.microsoft.com/office/drawing/2014/main" id="{C9C8A2BF-F693-49EB-9901-56D65CE4D3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336649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76DF9-D6BA-429B-9C2D-BE6742F3F699}"/>
              </a:ext>
            </a:extLst>
          </p:cNvPr>
          <p:cNvSpPr>
            <a:spLocks noGrp="1"/>
          </p:cNvSpPr>
          <p:nvPr>
            <p:ph type="title"/>
          </p:nvPr>
        </p:nvSpPr>
        <p:spPr/>
        <p:txBody>
          <a:bodyPr/>
          <a:lstStyle/>
          <a:p>
            <a:r>
              <a:rPr lang="en-US" b="1" dirty="0">
                <a:latin typeface="Calibri" panose="020F0502020204030204" pitchFamily="34" charset="0"/>
                <a:ea typeface="Source Sans Pro" charset="0"/>
                <a:cs typeface="Calibri" panose="020F0502020204030204" pitchFamily="34" charset="0"/>
              </a:rPr>
              <a:t>Accounts, Debits, and Credits </a:t>
            </a:r>
            <a:r>
              <a:rPr lang="en-US" sz="2400" dirty="0">
                <a:latin typeface="Calibri" panose="020F0502020204030204" pitchFamily="34" charset="0"/>
                <a:ea typeface="Source Sans Pro" charset="0"/>
                <a:cs typeface="Calibri" panose="020F0502020204030204" pitchFamily="34" charset="0"/>
              </a:rPr>
              <a:t>(4 of 4)</a:t>
            </a:r>
            <a:endParaRPr lang="en-US" dirty="0"/>
          </a:p>
        </p:txBody>
      </p:sp>
      <p:pic>
        <p:nvPicPr>
          <p:cNvPr id="8" name="Content Placeholder 7" descr="A diagram shows a t-account indicating the debit and credit effects on expenses. A blue arrow pointing upward on the left of the t-account implies that debits increase expenses. A red arrow pointing downward on the right indicates that credits reduce expenses. The account balance is displayed as normal balance, and appears on the left side. ">
            <a:extLst>
              <a:ext uri="{FF2B5EF4-FFF2-40B4-BE49-F238E27FC236}">
                <a16:creationId xmlns:a16="http://schemas.microsoft.com/office/drawing/2014/main" id="{3A488DB7-0B2B-458A-8B75-B2B4418296BD}"/>
              </a:ext>
            </a:extLst>
          </p:cNvPr>
          <p:cNvPicPr>
            <a:picLocks noGrp="1" noChangeAspect="1"/>
          </p:cNvPicPr>
          <p:nvPr>
            <p:ph sz="quarter" idx="16"/>
          </p:nvPr>
        </p:nvPicPr>
        <p:blipFill>
          <a:blip r:embed="rId2"/>
          <a:stretch>
            <a:fillRect/>
          </a:stretch>
        </p:blipFill>
        <p:spPr>
          <a:xfrm>
            <a:off x="518000" y="1905000"/>
            <a:ext cx="3688400" cy="2426418"/>
          </a:xfrm>
          <a:prstGeom prst="rect">
            <a:avLst/>
          </a:prstGeom>
        </p:spPr>
      </p:pic>
      <p:pic>
        <p:nvPicPr>
          <p:cNvPr id="11" name="Content Placeholder 10" descr="A diagram shows a t-account indicating the debit and credit effects on revenues. A red arrow pointing downward on the left of the t-account implies that debits reduce revenues. A blue arrow pointing upward on the right indicates that credits increase revenues. The account balance is displayed as normal balance, and appears on the credit on the right side. ">
            <a:extLst>
              <a:ext uri="{FF2B5EF4-FFF2-40B4-BE49-F238E27FC236}">
                <a16:creationId xmlns:a16="http://schemas.microsoft.com/office/drawing/2014/main" id="{4D880A51-1AEF-488A-97E2-6394364151E3}"/>
              </a:ext>
            </a:extLst>
          </p:cNvPr>
          <p:cNvPicPr>
            <a:picLocks noGrp="1" noChangeAspect="1"/>
          </p:cNvPicPr>
          <p:nvPr>
            <p:ph sz="quarter" idx="17"/>
          </p:nvPr>
        </p:nvPicPr>
        <p:blipFill>
          <a:blip r:embed="rId3"/>
          <a:stretch>
            <a:fillRect/>
          </a:stretch>
        </p:blipFill>
        <p:spPr>
          <a:xfrm>
            <a:off x="4937600" y="1905000"/>
            <a:ext cx="3688400" cy="2426418"/>
          </a:xfrm>
          <a:prstGeom prst="rect">
            <a:avLst/>
          </a:prstGeom>
        </p:spPr>
      </p:pic>
      <p:sp>
        <p:nvSpPr>
          <p:cNvPr id="5" name="Content Placeholder 4">
            <a:extLst>
              <a:ext uri="{FF2B5EF4-FFF2-40B4-BE49-F238E27FC236}">
                <a16:creationId xmlns:a16="http://schemas.microsoft.com/office/drawing/2014/main" id="{0008F924-AEE3-4ABB-8780-5333D23FDEB9}"/>
              </a:ext>
            </a:extLst>
          </p:cNvPr>
          <p:cNvSpPr>
            <a:spLocks noGrp="1"/>
          </p:cNvSpPr>
          <p:nvPr>
            <p:ph sz="quarter" idx="18"/>
          </p:nvPr>
        </p:nvSpPr>
        <p:spPr>
          <a:xfrm>
            <a:off x="304800" y="4430613"/>
            <a:ext cx="8534400" cy="1836068"/>
          </a:xfrm>
        </p:spPr>
        <p:txBody>
          <a:bodyPr/>
          <a:lstStyle/>
          <a:p>
            <a:pPr marL="292608" lvl="2" indent="-292608">
              <a:spcBef>
                <a:spcPts val="1000"/>
              </a:spcBef>
              <a:buClr>
                <a:srgbClr val="990000"/>
              </a:buClr>
              <a:buSzPct val="100000"/>
            </a:pPr>
            <a:r>
              <a:rPr lang="en-US" altLang="en-US" sz="2800" dirty="0"/>
              <a:t>Earning </a:t>
            </a:r>
            <a:r>
              <a:rPr lang="en-US" altLang="en-US" sz="2800" b="1" dirty="0"/>
              <a:t>revenues</a:t>
            </a:r>
            <a:r>
              <a:rPr lang="en-US" altLang="en-US" sz="2800" dirty="0"/>
              <a:t> is to benefit owner(s)</a:t>
            </a:r>
          </a:p>
          <a:p>
            <a:pPr marL="292608" lvl="2" indent="-292608">
              <a:spcBef>
                <a:spcPts val="1000"/>
              </a:spcBef>
              <a:buClr>
                <a:srgbClr val="990000"/>
              </a:buClr>
              <a:buSzPct val="100000"/>
            </a:pPr>
            <a:r>
              <a:rPr lang="en-US" altLang="en-US" sz="2800" dirty="0"/>
              <a:t>Effect of debits and credits on revenue accounts is the </a:t>
            </a:r>
            <a:r>
              <a:rPr lang="en-US" altLang="en-US" sz="2800" b="1" dirty="0"/>
              <a:t>same as </a:t>
            </a:r>
            <a:r>
              <a:rPr lang="en-US" altLang="en-US" sz="2800" dirty="0"/>
              <a:t>effect on Owner’s Capital</a:t>
            </a:r>
          </a:p>
          <a:p>
            <a:pPr marL="292608" lvl="2" indent="-292608">
              <a:spcBef>
                <a:spcPts val="1000"/>
              </a:spcBef>
              <a:buClr>
                <a:srgbClr val="990000"/>
              </a:buClr>
              <a:buSzPct val="100000"/>
            </a:pPr>
            <a:r>
              <a:rPr lang="en-US" altLang="en-US" sz="2800" b="1" dirty="0"/>
              <a:t>Expenses</a:t>
            </a:r>
            <a:r>
              <a:rPr lang="en-US" altLang="en-US" sz="2800" dirty="0"/>
              <a:t> have opposite effect</a:t>
            </a:r>
          </a:p>
        </p:txBody>
      </p:sp>
      <p:sp>
        <p:nvSpPr>
          <p:cNvPr id="6" name="Slide Number Placeholder 5">
            <a:extLst>
              <a:ext uri="{FF2B5EF4-FFF2-40B4-BE49-F238E27FC236}">
                <a16:creationId xmlns:a16="http://schemas.microsoft.com/office/drawing/2014/main" id="{90FFA7CD-D7B2-4348-AD1E-E368B4685416}"/>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7" name="Footer Placeholder 6">
            <a:extLst>
              <a:ext uri="{FF2B5EF4-FFF2-40B4-BE49-F238E27FC236}">
                <a16:creationId xmlns:a16="http://schemas.microsoft.com/office/drawing/2014/main" id="{C9C8A2BF-F693-49EB-9901-56D65CE4D38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731830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7E478-B3C6-4B0F-9D00-71D8DB18ECCC}"/>
              </a:ext>
            </a:extLst>
          </p:cNvPr>
          <p:cNvSpPr>
            <a:spLocks noGrp="1"/>
          </p:cNvSpPr>
          <p:nvPr>
            <p:ph type="title"/>
          </p:nvPr>
        </p:nvSpPr>
        <p:spPr/>
        <p:txBody>
          <a:bodyPr>
            <a:normAutofit/>
          </a:bodyPr>
          <a:lstStyle/>
          <a:p>
            <a:r>
              <a:rPr lang="en-US" b="1" dirty="0">
                <a:latin typeface="Calibri" panose="020F0502020204030204" pitchFamily="34" charset="0"/>
                <a:ea typeface="Source Sans Pro" charset="0"/>
                <a:cs typeface="Calibri" panose="020F0502020204030204" pitchFamily="34" charset="0"/>
              </a:rPr>
              <a:t>Summary of Debit / Credit Rules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pic>
        <p:nvPicPr>
          <p:cNvPr id="7" name="Content Placeholder 6" descr="An illustration displays summary of debit credit rules. The illustration is divided into three columns, the first column contains the debit and credit; second contains the balance sheet; and third contains the income statement. The balance sheet is expanded as assets = liabilities plus equity. The income statement is expanded as revenue minus expense. The debit increases assets and expense; and it decreases liabilities, equity, and revenue. The credit decreases assets and expense; and it increases liabilities, equity, and revenue."/>
          <p:cNvPicPr>
            <a:picLocks noGrp="1" noChangeAspect="1"/>
          </p:cNvPicPr>
          <p:nvPr>
            <p:ph sz="quarter" idx="16"/>
          </p:nvPr>
        </p:nvPicPr>
        <p:blipFill>
          <a:blip r:embed="rId2"/>
          <a:stretch>
            <a:fillRect/>
          </a:stretch>
        </p:blipFill>
        <p:spPr>
          <a:xfrm>
            <a:off x="458697" y="1905000"/>
            <a:ext cx="8226606" cy="3276600"/>
          </a:xfrm>
          <a:prstGeom prst="rect">
            <a:avLst/>
          </a:prstGeom>
        </p:spPr>
      </p:pic>
      <p:sp>
        <p:nvSpPr>
          <p:cNvPr id="5" name="Slide Number Placeholder 4">
            <a:extLst>
              <a:ext uri="{FF2B5EF4-FFF2-40B4-BE49-F238E27FC236}">
                <a16:creationId xmlns:a16="http://schemas.microsoft.com/office/drawing/2014/main" id="{91C648A8-D96D-4109-B618-E74ADB271993}"/>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6" name="Footer Placeholder 5">
            <a:extLst>
              <a:ext uri="{FF2B5EF4-FFF2-40B4-BE49-F238E27FC236}">
                <a16:creationId xmlns:a16="http://schemas.microsoft.com/office/drawing/2014/main" id="{EB2FB7EF-7435-428B-A933-9953152ED70B}"/>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44931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A745-7EE0-4183-BA5E-FA060B81AE5E}"/>
              </a:ext>
            </a:extLst>
          </p:cNvPr>
          <p:cNvSpPr>
            <a:spLocks noGrp="1"/>
          </p:cNvSpPr>
          <p:nvPr>
            <p:ph type="title"/>
          </p:nvPr>
        </p:nvSpPr>
        <p:spPr>
          <a:xfrm>
            <a:off x="304800" y="762001"/>
            <a:ext cx="8534400" cy="775662"/>
          </a:xfrm>
        </p:spPr>
        <p:txBody>
          <a:bodyPr/>
          <a:lstStyle/>
          <a:p>
            <a:r>
              <a:rPr lang="en-US" b="1" dirty="0">
                <a:latin typeface="Calibri" panose="020F0502020204030204" pitchFamily="34" charset="0"/>
                <a:ea typeface="Source Sans Pro" charset="0"/>
                <a:cs typeface="Calibri" panose="020F0502020204030204" pitchFamily="34" charset="0"/>
              </a:rPr>
              <a:t>Summary of Debit / Credit Rules </a:t>
            </a:r>
            <a:r>
              <a:rPr lang="en-US" sz="2400" dirty="0">
                <a:latin typeface="Calibri" panose="020F0502020204030204" pitchFamily="34" charset="0"/>
                <a:ea typeface="Source Sans Pro" charset="0"/>
                <a:cs typeface="Calibri" panose="020F0502020204030204" pitchFamily="34" charset="0"/>
              </a:rPr>
              <a:t>(2 of 2)</a:t>
            </a:r>
            <a:endParaRPr lang="en-US" dirty="0"/>
          </a:p>
        </p:txBody>
      </p:sp>
      <p:sp>
        <p:nvSpPr>
          <p:cNvPr id="3" name="Content Placeholder 2">
            <a:extLst>
              <a:ext uri="{FF2B5EF4-FFF2-40B4-BE49-F238E27FC236}">
                <a16:creationId xmlns:a16="http://schemas.microsoft.com/office/drawing/2014/main" id="{18262E96-125E-407F-8365-8753B32FA7B6}"/>
              </a:ext>
            </a:extLst>
          </p:cNvPr>
          <p:cNvSpPr>
            <a:spLocks noGrp="1"/>
          </p:cNvSpPr>
          <p:nvPr>
            <p:ph sz="quarter" idx="16"/>
          </p:nvPr>
        </p:nvSpPr>
        <p:spPr>
          <a:xfrm>
            <a:off x="304800" y="1828800"/>
            <a:ext cx="8153400" cy="431800"/>
          </a:xfrm>
        </p:spPr>
        <p:txBody>
          <a:bodyPr/>
          <a:lstStyle/>
          <a:p>
            <a:r>
              <a:rPr lang="en-US" dirty="0"/>
              <a:t>Debit/credit rules and effects on each type of account.</a:t>
            </a:r>
            <a:endParaRPr lang="en-US" altLang="en-US" dirty="0"/>
          </a:p>
        </p:txBody>
      </p:sp>
      <p:pic>
        <p:nvPicPr>
          <p:cNvPr id="8" name="Content Placeholder 7" descr="A summary of debit and credit rules. The accounting equation is Assets = Liabilities plus Owner's Equity. Assets and liabilities include T accounts of assets and liabilities. Owner's equity includes four accounts titled, owner's capital, owner's drawing, revenue, and expense. Owner's equity = owner's capital minus owner's drawings plus revenue minus expense. The T account of assets shows increase in debit, and decrease in credit. The T account of liabilities shows decrease in debit, and increase in credit. The T account owner's capital displays decrease in debit, and increase in credit. The owner's drawing displays increase in debit, and decrease in credit. The T account of revenue displays decrease in debit, and increase in credit. The T account of expense displays increase in debit and decrease in credit."/>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880544" y="2615162"/>
            <a:ext cx="7328048" cy="2321920"/>
          </a:xfrm>
        </p:spPr>
      </p:pic>
      <p:sp>
        <p:nvSpPr>
          <p:cNvPr id="5" name="Content Placeholder 4">
            <a:extLst>
              <a:ext uri="{FF2B5EF4-FFF2-40B4-BE49-F238E27FC236}">
                <a16:creationId xmlns:a16="http://schemas.microsoft.com/office/drawing/2014/main" id="{ECB76CB8-9A06-4B49-BCB4-A6AC9291A648}"/>
              </a:ext>
            </a:extLst>
          </p:cNvPr>
          <p:cNvSpPr>
            <a:spLocks noGrp="1"/>
          </p:cNvSpPr>
          <p:nvPr>
            <p:ph sz="quarter" idx="18"/>
          </p:nvPr>
        </p:nvSpPr>
        <p:spPr>
          <a:xfrm>
            <a:off x="304800" y="5212397"/>
            <a:ext cx="7912010" cy="883603"/>
          </a:xfrm>
        </p:spPr>
        <p:txBody>
          <a:bodyPr/>
          <a:lstStyle/>
          <a:p>
            <a:r>
              <a:rPr lang="en-US" altLang="en-US" dirty="0"/>
              <a:t>Equation must be in balance after every transaction. </a:t>
            </a:r>
            <a:r>
              <a:rPr lang="en-US" altLang="en-US" b="1" dirty="0"/>
              <a:t>Total Debits must equal total Credits</a:t>
            </a:r>
            <a:r>
              <a:rPr lang="en-US" altLang="en-US" dirty="0"/>
              <a:t>.</a:t>
            </a:r>
          </a:p>
        </p:txBody>
      </p:sp>
      <p:sp>
        <p:nvSpPr>
          <p:cNvPr id="6" name="Slide Number Placeholder 5">
            <a:extLst>
              <a:ext uri="{FF2B5EF4-FFF2-40B4-BE49-F238E27FC236}">
                <a16:creationId xmlns:a16="http://schemas.microsoft.com/office/drawing/2014/main" id="{E5948901-F59E-4096-9A25-C15314A7F281}"/>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7" name="Footer Placeholder 6">
            <a:extLst>
              <a:ext uri="{FF2B5EF4-FFF2-40B4-BE49-F238E27FC236}">
                <a16:creationId xmlns:a16="http://schemas.microsoft.com/office/drawing/2014/main" id="{7262974E-1B0A-4CA4-B8AD-4E64D86D51F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596011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F5CC-2850-45EA-AA82-ACE476F5142A}"/>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Journal </a:t>
            </a:r>
            <a:r>
              <a:rPr lang="en-US" sz="2400" dirty="0">
                <a:latin typeface="Calibri" panose="020F0502020204030204" pitchFamily="34" charset="0"/>
                <a:ea typeface="Source Sans Pro" charset="0"/>
                <a:cs typeface="Calibri" panose="020F0502020204030204" pitchFamily="34" charset="0"/>
              </a:rPr>
              <a:t>(1 of 2)</a:t>
            </a:r>
            <a:endParaRPr lang="en-US" sz="2400" dirty="0"/>
          </a:p>
        </p:txBody>
      </p:sp>
      <p:pic>
        <p:nvPicPr>
          <p:cNvPr id="7" name="Content Placeholder 6" descr="A flow chart analyzing business transactions. Step 1: analyze business transactions. Step 2: journalize the transactions. Step 3: post to ledger accounts. Step 4: prepare a trial balance. Step 5: journalize and post adjusting entries. Step 6: adjusted trial balance. Step 7: prepare financial statements. Step 8: journalize and post closing entries. Step 9: prepare a post-closing trial balance. The second step of journalize the transactions is highlighted in the chart.">
            <a:extLst>
              <a:ext uri="{FF2B5EF4-FFF2-40B4-BE49-F238E27FC236}">
                <a16:creationId xmlns:a16="http://schemas.microsoft.com/office/drawing/2014/main" id="{08160007-3EF0-443A-85C0-D1251E5BFCDB}"/>
              </a:ext>
            </a:extLst>
          </p:cNvPr>
          <p:cNvPicPr>
            <a:picLocks noGrp="1" noChangeAspect="1"/>
          </p:cNvPicPr>
          <p:nvPr>
            <p:ph sz="quarter" idx="16"/>
          </p:nvPr>
        </p:nvPicPr>
        <p:blipFill>
          <a:blip r:embed="rId2"/>
          <a:stretch>
            <a:fillRect/>
          </a:stretch>
        </p:blipFill>
        <p:spPr>
          <a:xfrm>
            <a:off x="562709" y="1828800"/>
            <a:ext cx="8018582" cy="2082080"/>
          </a:xfrm>
          <a:prstGeom prst="rect">
            <a:avLst/>
          </a:prstGeom>
        </p:spPr>
      </p:pic>
      <p:sp>
        <p:nvSpPr>
          <p:cNvPr id="4" name="Content Placeholder 3">
            <a:extLst>
              <a:ext uri="{FF2B5EF4-FFF2-40B4-BE49-F238E27FC236}">
                <a16:creationId xmlns:a16="http://schemas.microsoft.com/office/drawing/2014/main" id="{0CE6583B-90A5-4F09-ADAB-046B1A73F9A1}"/>
              </a:ext>
            </a:extLst>
          </p:cNvPr>
          <p:cNvSpPr>
            <a:spLocks noGrp="1"/>
          </p:cNvSpPr>
          <p:nvPr>
            <p:ph sz="quarter" idx="17"/>
          </p:nvPr>
        </p:nvSpPr>
        <p:spPr>
          <a:xfrm>
            <a:off x="304800" y="4114800"/>
            <a:ext cx="7467600" cy="2057400"/>
          </a:xfrm>
        </p:spPr>
        <p:txBody>
          <a:bodyPr/>
          <a:lstStyle/>
          <a:p>
            <a:r>
              <a:rPr lang="en-US" altLang="en-US" b="1" dirty="0">
                <a:solidFill>
                  <a:schemeClr val="accent2"/>
                </a:solidFill>
                <a:latin typeface="Calibri" panose="020F0502020204030204" pitchFamily="34" charset="0"/>
              </a:rPr>
              <a:t>The Recording Process</a:t>
            </a:r>
            <a:endParaRPr lang="en-US" altLang="en-US" dirty="0">
              <a:solidFill>
                <a:schemeClr val="accent2"/>
              </a:solidFill>
              <a:latin typeface="Calibri" panose="020F0502020204030204" pitchFamily="34" charset="0"/>
            </a:endParaRPr>
          </a:p>
          <a:p>
            <a:pPr marL="292608" lvl="1" indent="-292608">
              <a:spcBef>
                <a:spcPts val="1000"/>
              </a:spcBef>
              <a:buClr>
                <a:srgbClr val="A50021"/>
              </a:buClr>
              <a:buSzPct val="100000"/>
            </a:pPr>
            <a:r>
              <a:rPr lang="en-US" altLang="en-US" sz="2800" dirty="0">
                <a:latin typeface="Calibri" panose="020F0502020204030204" pitchFamily="34" charset="0"/>
              </a:rPr>
              <a:t>Analyze transaction</a:t>
            </a:r>
          </a:p>
          <a:p>
            <a:pPr marL="292608" lvl="1" indent="-292608">
              <a:spcBef>
                <a:spcPts val="1000"/>
              </a:spcBef>
              <a:buClr>
                <a:srgbClr val="A50021"/>
              </a:buClr>
              <a:buSzPct val="100000"/>
            </a:pPr>
            <a:r>
              <a:rPr lang="en-US" altLang="en-US" sz="2800" dirty="0">
                <a:latin typeface="Calibri" panose="020F0502020204030204" pitchFamily="34" charset="0"/>
              </a:rPr>
              <a:t>Enter transaction in journal</a:t>
            </a:r>
          </a:p>
          <a:p>
            <a:pPr marL="292608" lvl="1" indent="-292608">
              <a:spcBef>
                <a:spcPts val="1000"/>
              </a:spcBef>
              <a:buClr>
                <a:srgbClr val="A50021"/>
              </a:buClr>
              <a:buSzPct val="100000"/>
            </a:pPr>
            <a:r>
              <a:rPr lang="en-US" altLang="en-US" sz="2800" dirty="0">
                <a:latin typeface="Calibri" panose="020F0502020204030204" pitchFamily="34" charset="0"/>
              </a:rPr>
              <a:t>Transfer journal information to ledger accounts</a:t>
            </a:r>
          </a:p>
        </p:txBody>
      </p:sp>
      <p:sp>
        <p:nvSpPr>
          <p:cNvPr id="5" name="Slide Number Placeholder 4">
            <a:extLst>
              <a:ext uri="{FF2B5EF4-FFF2-40B4-BE49-F238E27FC236}">
                <a16:creationId xmlns:a16="http://schemas.microsoft.com/office/drawing/2014/main" id="{545C065E-A2A6-4D53-B8FF-1EB526142EAC}"/>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6" name="Footer Placeholder 5">
            <a:extLst>
              <a:ext uri="{FF2B5EF4-FFF2-40B4-BE49-F238E27FC236}">
                <a16:creationId xmlns:a16="http://schemas.microsoft.com/office/drawing/2014/main" id="{FA30D6C2-A631-4DC2-95A3-70E78841E32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95112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8F614-4149-4039-92D7-55154E33DAAC}"/>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Journal </a:t>
            </a:r>
            <a:r>
              <a:rPr lang="en-US" sz="2400" dirty="0">
                <a:latin typeface="Calibri" panose="020F0502020204030204" pitchFamily="34" charset="0"/>
                <a:ea typeface="Source Sans Pro" charset="0"/>
                <a:cs typeface="Calibri" panose="020F0502020204030204" pitchFamily="34" charset="0"/>
              </a:rPr>
              <a:t>(2 of 2)</a:t>
            </a:r>
            <a:endParaRPr lang="en-US" dirty="0"/>
          </a:p>
        </p:txBody>
      </p:sp>
      <p:sp>
        <p:nvSpPr>
          <p:cNvPr id="3" name="Content Placeholder 2">
            <a:extLst>
              <a:ext uri="{FF2B5EF4-FFF2-40B4-BE49-F238E27FC236}">
                <a16:creationId xmlns:a16="http://schemas.microsoft.com/office/drawing/2014/main" id="{05DE4C92-FA4D-45C8-B855-B7869A33CE8E}"/>
              </a:ext>
            </a:extLst>
          </p:cNvPr>
          <p:cNvSpPr>
            <a:spLocks noGrp="1"/>
          </p:cNvSpPr>
          <p:nvPr>
            <p:ph sz="quarter" idx="16"/>
          </p:nvPr>
        </p:nvSpPr>
        <p:spPr>
          <a:xfrm>
            <a:off x="304800" y="1828799"/>
            <a:ext cx="8534400" cy="4267199"/>
          </a:xfrm>
        </p:spPr>
        <p:txBody>
          <a:bodyPr/>
          <a:lstStyle/>
          <a:p>
            <a:pPr marL="292608" lvl="2" indent="-292608">
              <a:spcBef>
                <a:spcPts val="1000"/>
              </a:spcBef>
              <a:buClr>
                <a:srgbClr val="990000"/>
              </a:buClr>
              <a:buSzPct val="100000"/>
            </a:pPr>
            <a:r>
              <a:rPr lang="en-US" altLang="en-US" sz="2800" dirty="0"/>
              <a:t>Book of original entry</a:t>
            </a:r>
          </a:p>
          <a:p>
            <a:pPr marL="292608" lvl="2" indent="-292608">
              <a:spcBef>
                <a:spcPts val="1000"/>
              </a:spcBef>
              <a:buClr>
                <a:srgbClr val="990000"/>
              </a:buClr>
              <a:buSzPct val="100000"/>
            </a:pPr>
            <a:r>
              <a:rPr lang="en-US" altLang="en-US" sz="2800" dirty="0"/>
              <a:t>Transactions recorded in chronological order</a:t>
            </a:r>
          </a:p>
          <a:p>
            <a:pPr marL="292608" lvl="2" indent="-292608">
              <a:spcBef>
                <a:spcPts val="1000"/>
              </a:spcBef>
              <a:buClr>
                <a:srgbClr val="990000"/>
              </a:buClr>
              <a:buSzPct val="100000"/>
            </a:pPr>
            <a:r>
              <a:rPr lang="en-US" altLang="en-US" sz="2800" dirty="0"/>
              <a:t>Contributions to the recording process:</a:t>
            </a:r>
          </a:p>
          <a:p>
            <a:pPr marL="1124712" lvl="1" indent="-402336">
              <a:spcBef>
                <a:spcPts val="1000"/>
              </a:spcBef>
              <a:buClr>
                <a:schemeClr val="accent2"/>
              </a:buClr>
              <a:buFontTx/>
              <a:buAutoNum type="arabicPeriod"/>
            </a:pPr>
            <a:r>
              <a:rPr lang="en-US" altLang="en-US" sz="2800" dirty="0"/>
              <a:t>Discloses in one place the </a:t>
            </a:r>
            <a:r>
              <a:rPr lang="en-US" altLang="en-US" sz="2800" b="1" dirty="0"/>
              <a:t>complete effects of a transaction</a:t>
            </a:r>
            <a:endParaRPr lang="en-US" altLang="en-US" sz="2800" dirty="0"/>
          </a:p>
          <a:p>
            <a:pPr marL="1124712" lvl="1" indent="-402336">
              <a:spcBef>
                <a:spcPts val="1000"/>
              </a:spcBef>
              <a:buClr>
                <a:schemeClr val="accent2"/>
              </a:buClr>
              <a:buFontTx/>
              <a:buAutoNum type="arabicPeriod"/>
            </a:pPr>
            <a:r>
              <a:rPr lang="en-US" altLang="en-US" sz="2800" dirty="0"/>
              <a:t>Provides a </a:t>
            </a:r>
            <a:r>
              <a:rPr lang="en-US" altLang="en-US" sz="2800" b="1" dirty="0"/>
              <a:t>chronological record</a:t>
            </a:r>
            <a:r>
              <a:rPr lang="en-US" altLang="en-US" sz="2800" dirty="0"/>
              <a:t> of transactions</a:t>
            </a:r>
          </a:p>
          <a:p>
            <a:pPr marL="1124712" lvl="1" indent="-402336">
              <a:spcBef>
                <a:spcPts val="1000"/>
              </a:spcBef>
              <a:buClr>
                <a:schemeClr val="accent2"/>
              </a:buClr>
              <a:buFontTx/>
              <a:buAutoNum type="arabicPeriod"/>
            </a:pPr>
            <a:r>
              <a:rPr lang="en-US" altLang="en-US" sz="2800" dirty="0"/>
              <a:t>Helps to</a:t>
            </a:r>
            <a:r>
              <a:rPr lang="en-US" altLang="en-US" sz="2800" b="1" dirty="0"/>
              <a:t> prevent or locate errors</a:t>
            </a:r>
            <a:r>
              <a:rPr lang="en-US" altLang="en-US" sz="2800" dirty="0"/>
              <a:t> because the debit and credit amounts for each entry can be easily compared</a:t>
            </a:r>
          </a:p>
        </p:txBody>
      </p:sp>
      <p:sp>
        <p:nvSpPr>
          <p:cNvPr id="4" name="Slide Number Placeholder 3">
            <a:extLst>
              <a:ext uri="{FF2B5EF4-FFF2-40B4-BE49-F238E27FC236}">
                <a16:creationId xmlns:a16="http://schemas.microsoft.com/office/drawing/2014/main" id="{86F8B5CB-3634-43C7-8261-C54FFDFA344B}"/>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5" name="Footer Placeholder 4">
            <a:extLst>
              <a:ext uri="{FF2B5EF4-FFF2-40B4-BE49-F238E27FC236}">
                <a16:creationId xmlns:a16="http://schemas.microsoft.com/office/drawing/2014/main" id="{D104A751-4850-42F4-A044-B1BC64E66D0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2475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0CB6E-394C-453F-A8A5-D9168962FE4B}"/>
              </a:ext>
            </a:extLst>
          </p:cNvPr>
          <p:cNvSpPr>
            <a:spLocks noGrp="1"/>
          </p:cNvSpPr>
          <p:nvPr>
            <p:ph type="title"/>
          </p:nvPr>
        </p:nvSpPr>
        <p:spPr>
          <a:xfrm>
            <a:off x="304800" y="762001"/>
            <a:ext cx="8534400" cy="685189"/>
          </a:xfrm>
        </p:spPr>
        <p:txBody>
          <a:bodyPr/>
          <a:lstStyle/>
          <a:p>
            <a:r>
              <a:rPr lang="en-US" b="1" dirty="0">
                <a:latin typeface="Calibri" panose="020F0502020204030204" pitchFamily="34" charset="0"/>
                <a:ea typeface="Source Sans Pro" charset="0"/>
                <a:cs typeface="Calibri" panose="020F0502020204030204" pitchFamily="34" charset="0"/>
              </a:rPr>
              <a:t>Journalizing </a:t>
            </a:r>
            <a:r>
              <a:rPr lang="en-US" sz="2400" dirty="0">
                <a:latin typeface="Calibri" panose="020F0502020204030204" pitchFamily="34" charset="0"/>
                <a:ea typeface="Source Sans Pro" charset="0"/>
                <a:cs typeface="Calibri" panose="020F0502020204030204" pitchFamily="34" charset="0"/>
              </a:rPr>
              <a:t>(1 of 2)</a:t>
            </a:r>
            <a:endParaRPr lang="en-US" sz="2400" b="1" dirty="0"/>
          </a:p>
        </p:txBody>
      </p:sp>
      <p:sp>
        <p:nvSpPr>
          <p:cNvPr id="3" name="Content Placeholder 2">
            <a:extLst>
              <a:ext uri="{FF2B5EF4-FFF2-40B4-BE49-F238E27FC236}">
                <a16:creationId xmlns:a16="http://schemas.microsoft.com/office/drawing/2014/main" id="{E5714837-BC99-42E1-BC12-A244EA836846}"/>
              </a:ext>
            </a:extLst>
          </p:cNvPr>
          <p:cNvSpPr>
            <a:spLocks noGrp="1"/>
          </p:cNvSpPr>
          <p:nvPr>
            <p:ph sz="quarter" idx="16"/>
          </p:nvPr>
        </p:nvSpPr>
        <p:spPr>
          <a:xfrm>
            <a:off x="304800" y="1524000"/>
            <a:ext cx="8534400" cy="1524000"/>
          </a:xfrm>
        </p:spPr>
        <p:txBody>
          <a:bodyPr/>
          <a:lstStyle/>
          <a:p>
            <a:r>
              <a:rPr lang="en-US" altLang="en-US" sz="2400" b="1" dirty="0">
                <a:solidFill>
                  <a:schemeClr val="accent4"/>
                </a:solidFill>
              </a:rPr>
              <a:t>Journalizing</a:t>
            </a:r>
            <a:r>
              <a:rPr lang="en-US" altLang="en-US" sz="2400" dirty="0">
                <a:solidFill>
                  <a:srgbClr val="0000CC"/>
                </a:solidFill>
                <a:cs typeface="Arial" charset="0"/>
              </a:rPr>
              <a:t> </a:t>
            </a:r>
            <a:r>
              <a:rPr lang="en-US" altLang="en-US" sz="2400" dirty="0">
                <a:solidFill>
                  <a:schemeClr val="accent4"/>
                </a:solidFill>
                <a:cs typeface="Arial" charset="0"/>
              </a:rPr>
              <a:t>-</a:t>
            </a:r>
            <a:r>
              <a:rPr lang="en-US" altLang="en-US" sz="2400" dirty="0">
                <a:solidFill>
                  <a:srgbClr val="000000"/>
                </a:solidFill>
                <a:cs typeface="Arial" charset="0"/>
              </a:rPr>
              <a:t> Entering transaction data in the journal.</a:t>
            </a:r>
          </a:p>
          <a:p>
            <a:r>
              <a:rPr lang="en-US" altLang="en-US" sz="2400" b="1" dirty="0"/>
              <a:t>Illustration:</a:t>
            </a:r>
            <a:r>
              <a:rPr lang="en-US" altLang="en-US" sz="2400" dirty="0"/>
              <a:t> On September 1, Ray Neal invested $15,000 cash in the business, and Softbyte purchased computer equipment for $7,000 cash.</a:t>
            </a:r>
            <a:endParaRPr lang="en-US" altLang="en-US" sz="2400" dirty="0">
              <a:cs typeface="Arial" charset="0"/>
            </a:endParaRPr>
          </a:p>
        </p:txBody>
      </p:sp>
      <p:graphicFrame>
        <p:nvGraphicFramePr>
          <p:cNvPr id="9" name="Content Placeholder 8" descr="Table is accessible to screenreaders">
            <a:extLst>
              <a:ext uri="{FF2B5EF4-FFF2-40B4-BE49-F238E27FC236}">
                <a16:creationId xmlns:a16="http://schemas.microsoft.com/office/drawing/2014/main" id="{9D76C7F4-80DA-4427-A6AD-A5A6BEAFE575}"/>
              </a:ext>
            </a:extLst>
          </p:cNvPr>
          <p:cNvGraphicFramePr>
            <a:graphicFrameLocks noGrp="1"/>
          </p:cNvGraphicFramePr>
          <p:nvPr>
            <p:ph sz="quarter" idx="17"/>
            <p:extLst>
              <p:ext uri="{D42A27DB-BD31-4B8C-83A1-F6EECF244321}">
                <p14:modId xmlns:p14="http://schemas.microsoft.com/office/powerpoint/2010/main" val="3599102739"/>
              </p:ext>
            </p:extLst>
          </p:nvPr>
        </p:nvGraphicFramePr>
        <p:xfrm>
          <a:off x="685800" y="3124200"/>
          <a:ext cx="7848600" cy="2754267"/>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162818617"/>
                    </a:ext>
                  </a:extLst>
                </a:gridCol>
                <a:gridCol w="4419600">
                  <a:extLst>
                    <a:ext uri="{9D8B030D-6E8A-4147-A177-3AD203B41FA5}">
                      <a16:colId xmlns:a16="http://schemas.microsoft.com/office/drawing/2014/main" val="2369128522"/>
                    </a:ext>
                  </a:extLst>
                </a:gridCol>
                <a:gridCol w="533400">
                  <a:extLst>
                    <a:ext uri="{9D8B030D-6E8A-4147-A177-3AD203B41FA5}">
                      <a16:colId xmlns:a16="http://schemas.microsoft.com/office/drawing/2014/main" val="2534365079"/>
                    </a:ext>
                  </a:extLst>
                </a:gridCol>
                <a:gridCol w="1066800">
                  <a:extLst>
                    <a:ext uri="{9D8B030D-6E8A-4147-A177-3AD203B41FA5}">
                      <a16:colId xmlns:a16="http://schemas.microsoft.com/office/drawing/2014/main" val="432944227"/>
                    </a:ext>
                  </a:extLst>
                </a:gridCol>
                <a:gridCol w="914400">
                  <a:extLst>
                    <a:ext uri="{9D8B030D-6E8A-4147-A177-3AD203B41FA5}">
                      <a16:colId xmlns:a16="http://schemas.microsoft.com/office/drawing/2014/main" val="2868943461"/>
                    </a:ext>
                  </a:extLst>
                </a:gridCol>
              </a:tblGrid>
              <a:tr h="355212">
                <a:tc>
                  <a:txBody>
                    <a:bodyPr/>
                    <a:lstStyle/>
                    <a:p>
                      <a:endParaRPr lang="en-US" sz="1800" dirty="0">
                        <a:solidFill>
                          <a:schemeClr val="tx1"/>
                        </a:solidFill>
                        <a:latin typeface="+mn-lt"/>
                      </a:endParaRPr>
                    </a:p>
                  </a:txBody>
                  <a:tcPr marT="41804" marB="4180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none" strike="noStrike" dirty="0">
                          <a:solidFill>
                            <a:schemeClr val="tx1"/>
                          </a:solidFill>
                          <a:effectLst/>
                          <a:latin typeface="+mn-lt"/>
                        </a:rPr>
                        <a:t>General Journal</a:t>
                      </a:r>
                      <a:endParaRPr lang="en-US" sz="1800" b="1" i="0" u="none" strike="noStrike" dirty="0">
                        <a:solidFill>
                          <a:schemeClr val="tx1"/>
                        </a:solidFill>
                        <a:effectLst/>
                        <a:latin typeface="+mn-lt"/>
                      </a:endParaRPr>
                    </a:p>
                  </a:txBody>
                  <a:tcPr marT="41804" marB="418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800" dirty="0">
                        <a:solidFill>
                          <a:schemeClr val="tx1"/>
                        </a:solidFill>
                        <a:latin typeface="+mn-lt"/>
                      </a:endParaRPr>
                    </a:p>
                  </a:txBody>
                  <a:tcPr marT="41804" marB="418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800" dirty="0">
                        <a:solidFill>
                          <a:schemeClr val="tx1"/>
                        </a:solidFill>
                        <a:latin typeface="+mn-lt"/>
                      </a:endParaRPr>
                    </a:p>
                  </a:txBody>
                  <a:tcPr marT="41804" marB="418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1" u="none" strike="sngStrike" dirty="0">
                          <a:solidFill>
                            <a:schemeClr val="tx1"/>
                          </a:solidFill>
                          <a:effectLst/>
                          <a:latin typeface="+mn-lt"/>
                        </a:rPr>
                        <a:t>J1</a:t>
                      </a:r>
                      <a:endParaRPr lang="en-US" sz="1800" b="1" i="0" u="none" strike="sngStrike" dirty="0">
                        <a:solidFill>
                          <a:schemeClr val="tx1"/>
                        </a:solidFill>
                        <a:effectLst/>
                        <a:latin typeface="+mn-lt"/>
                      </a:endParaRPr>
                    </a:p>
                  </a:txBody>
                  <a:tcPr marT="41804" marB="4180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7093332"/>
                  </a:ext>
                </a:extLst>
              </a:tr>
              <a:tr h="327872">
                <a:tc>
                  <a:txBody>
                    <a:bodyPr/>
                    <a:lstStyle/>
                    <a:p>
                      <a:pPr algn="ctr" fontAlgn="b"/>
                      <a:r>
                        <a:rPr lang="en-US" sz="1800" b="1" u="none" strike="noStrike" dirty="0">
                          <a:effectLst/>
                          <a:latin typeface="+mn-lt"/>
                        </a:rPr>
                        <a:t>Date</a:t>
                      </a:r>
                      <a:endParaRPr lang="en-US" sz="1800" b="1" i="0" u="none" strike="noStrike" dirty="0">
                        <a:solidFill>
                          <a:srgbClr val="000000"/>
                        </a:solidFill>
                        <a:effectLst/>
                        <a:latin typeface="+mn-lt"/>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b="1" u="none" strike="noStrike" dirty="0">
                          <a:effectLst/>
                          <a:latin typeface="+mn-lt"/>
                        </a:rPr>
                        <a:t>Account Titles </a:t>
                      </a:r>
                      <a:r>
                        <a:rPr lang="en-US" sz="1800" b="1" u="none" strike="sngStrike" dirty="0">
                          <a:effectLst/>
                          <a:latin typeface="+mn-lt"/>
                        </a:rPr>
                        <a:t>and Explanation</a:t>
                      </a:r>
                      <a:endParaRPr lang="en-US" sz="1800" b="1" i="0" u="none" strike="sngStrike" dirty="0">
                        <a:solidFill>
                          <a:srgbClr val="000000"/>
                        </a:solidFill>
                        <a:effectLst/>
                        <a:latin typeface="+mn-lt"/>
                      </a:endParaRPr>
                    </a:p>
                  </a:txBody>
                  <a:tcPr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b="1" u="none" strike="sngStrike" dirty="0">
                          <a:effectLst/>
                          <a:latin typeface="+mn-lt"/>
                        </a:rPr>
                        <a:t>Ref.</a:t>
                      </a:r>
                      <a:endParaRPr lang="en-US" sz="1800" b="1" i="0" u="none" strike="sngStrike" dirty="0">
                        <a:solidFill>
                          <a:srgbClr val="000000"/>
                        </a:solidFill>
                        <a:effectLst/>
                        <a:latin typeface="+mn-lt"/>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b="1" u="none" strike="noStrike" dirty="0">
                          <a:effectLst/>
                          <a:latin typeface="+mn-lt"/>
                        </a:rPr>
                        <a:t>Debit</a:t>
                      </a:r>
                      <a:endParaRPr lang="en-US" sz="1800" b="1" i="0" u="none" strike="noStrike" dirty="0">
                        <a:solidFill>
                          <a:srgbClr val="000000"/>
                        </a:solidFill>
                        <a:effectLst/>
                        <a:latin typeface="+mn-lt"/>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1800" b="1" u="none" strike="noStrike" dirty="0">
                          <a:effectLst/>
                          <a:latin typeface="+mn-lt"/>
                        </a:rPr>
                        <a:t>Credit</a:t>
                      </a:r>
                      <a:endParaRPr lang="en-US" sz="1800" b="1" i="0" u="none" strike="noStrike" dirty="0">
                        <a:solidFill>
                          <a:srgbClr val="000000"/>
                        </a:solidFill>
                        <a:effectLst/>
                        <a:latin typeface="+mn-lt"/>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33187164"/>
                  </a:ext>
                </a:extLst>
              </a:tr>
              <a:tr h="339074">
                <a:tc>
                  <a:txBody>
                    <a:bodyPr/>
                    <a:lstStyle/>
                    <a:p>
                      <a:pPr algn="ctr" fontAlgn="b"/>
                      <a:r>
                        <a:rPr lang="en-US" sz="1800" b="0" i="0" u="none" strike="noStrike" dirty="0">
                          <a:solidFill>
                            <a:srgbClr val="000000"/>
                          </a:solidFill>
                          <a:effectLst/>
                          <a:latin typeface="+mn-lt"/>
                        </a:rPr>
                        <a:t>2020</a:t>
                      </a:r>
                    </a:p>
                    <a:p>
                      <a:pPr algn="ctr" fontAlgn="b"/>
                      <a:r>
                        <a:rPr lang="en-US" sz="1800" b="0" i="0" u="none" strike="noStrike" dirty="0">
                          <a:solidFill>
                            <a:srgbClr val="000000"/>
                          </a:solidFill>
                          <a:effectLst/>
                          <a:latin typeface="+mn-lt"/>
                        </a:rPr>
                        <a:t>Sept.</a:t>
                      </a:r>
                      <a:r>
                        <a:rPr lang="en-US" sz="1800" b="0" i="0" u="none" strike="noStrike" baseline="0" dirty="0">
                          <a:solidFill>
                            <a:srgbClr val="000000"/>
                          </a:solidFill>
                          <a:effectLst/>
                          <a:latin typeface="+mn-lt"/>
                        </a:rPr>
                        <a:t> 1</a:t>
                      </a:r>
                      <a:endParaRPr lang="en-US" sz="1800" b="0" i="0" u="none" strike="noStrike" dirty="0">
                        <a:solidFill>
                          <a:srgbClr val="000000"/>
                        </a:solidFill>
                        <a:effectLst/>
                        <a:latin typeface="+mn-lt"/>
                      </a:endParaRP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r>
                        <a:rPr lang="en-US" sz="1800" u="none" strike="noStrike" dirty="0">
                          <a:effectLst/>
                          <a:latin typeface="+mn-lt"/>
                        </a:rPr>
                        <a:t>Cash</a:t>
                      </a:r>
                      <a:endParaRPr lang="en-US" sz="1800" b="0" i="0" u="none" strike="noStrike" dirty="0">
                        <a:solidFill>
                          <a:srgbClr val="000000"/>
                        </a:solidFill>
                        <a:effectLst/>
                        <a:latin typeface="+mn-lt"/>
                      </a:endParaRPr>
                    </a:p>
                  </a:txBody>
                  <a:tcPr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r" fontAlgn="b"/>
                      <a:r>
                        <a:rPr lang="en-US" sz="1800" u="none" strike="noStrike" dirty="0">
                          <a:effectLst/>
                          <a:latin typeface="+mn-lt"/>
                        </a:rPr>
                        <a:t>15,000</a:t>
                      </a:r>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51534104"/>
                  </a:ext>
                </a:extLst>
              </a:tr>
              <a:tr h="339074">
                <a:tc>
                  <a:txBody>
                    <a:bodyPr/>
                    <a:lstStyle/>
                    <a:p>
                      <a:pPr algn="l" fontAlgn="b"/>
                      <a:endParaRPr lang="en-US" sz="1800" b="0" i="0" u="none" strike="noStrike" dirty="0">
                        <a:solidFill>
                          <a:srgbClr val="000000"/>
                        </a:solidFill>
                        <a:effectLst/>
                        <a:latin typeface="+mn-lt"/>
                      </a:endParaRP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r>
                        <a:rPr lang="en-US" sz="1800" u="none" strike="noStrike" dirty="0">
                          <a:effectLst/>
                          <a:latin typeface="+mn-lt"/>
                        </a:rPr>
                        <a:t>Owner's Capital</a:t>
                      </a:r>
                    </a:p>
                    <a:p>
                      <a:pPr marL="176213" indent="0" algn="l" fontAlgn="b"/>
                      <a:r>
                        <a:rPr lang="en-US" sz="1800" b="0" i="0" u="none" strike="sngStrike" dirty="0">
                          <a:solidFill>
                            <a:srgbClr val="000000"/>
                          </a:solidFill>
                          <a:effectLst/>
                          <a:latin typeface="+mn-lt"/>
                        </a:rPr>
                        <a:t>(Owner’s investment of cash in business)</a:t>
                      </a:r>
                    </a:p>
                  </a:txBody>
                  <a:tcPr marL="365760"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r" fontAlgn="b"/>
                      <a:r>
                        <a:rPr lang="en-US" sz="1800" u="none" strike="noStrike" dirty="0">
                          <a:effectLst/>
                          <a:latin typeface="+mn-lt"/>
                        </a:rPr>
                        <a:t>15,000</a:t>
                      </a:r>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366340166"/>
                  </a:ext>
                </a:extLst>
              </a:tr>
              <a:tr h="339074">
                <a:tc>
                  <a:txBody>
                    <a:bodyPr/>
                    <a:lstStyle/>
                    <a:p>
                      <a:pPr algn="ctr" fontAlgn="b"/>
                      <a:r>
                        <a:rPr lang="en-US" sz="1800" b="0" i="0" u="none" strike="noStrike" dirty="0">
                          <a:solidFill>
                            <a:srgbClr val="000000"/>
                          </a:solidFill>
                          <a:effectLst/>
                          <a:latin typeface="+mn-lt"/>
                        </a:rPr>
                        <a:t>        1</a:t>
                      </a: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r>
                        <a:rPr lang="en-US" sz="1800" u="none" strike="noStrike" kern="1200" dirty="0">
                          <a:solidFill>
                            <a:schemeClr val="dk1"/>
                          </a:solidFill>
                          <a:effectLst/>
                          <a:latin typeface="+mn-lt"/>
                          <a:ea typeface="+mn-ea"/>
                          <a:cs typeface="+mn-cs"/>
                        </a:rPr>
                        <a:t>Equipment</a:t>
                      </a:r>
                    </a:p>
                  </a:txBody>
                  <a:tcPr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r" fontAlgn="b"/>
                      <a:r>
                        <a:rPr lang="en-US" sz="1800" u="none" strike="noStrike" dirty="0">
                          <a:effectLst/>
                          <a:latin typeface="+mn-lt"/>
                        </a:rPr>
                        <a:t>7,000</a:t>
                      </a:r>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60185512"/>
                  </a:ext>
                </a:extLst>
              </a:tr>
              <a:tr h="339074">
                <a:tc>
                  <a:txBody>
                    <a:bodyPr/>
                    <a:lstStyle/>
                    <a:p>
                      <a:pPr algn="l" fontAlgn="b"/>
                      <a:endParaRPr lang="en-US" sz="1800" b="0" i="0" u="none" strike="noStrike" dirty="0">
                        <a:solidFill>
                          <a:srgbClr val="000000"/>
                        </a:solidFill>
                        <a:effectLst/>
                        <a:latin typeface="+mn-lt"/>
                      </a:endParaRP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r>
                        <a:rPr lang="en-US" sz="1800" u="none" strike="noStrike" dirty="0">
                          <a:effectLst/>
                          <a:latin typeface="+mn-lt"/>
                        </a:rPr>
                        <a:t>Cash</a:t>
                      </a:r>
                    </a:p>
                    <a:p>
                      <a:pPr marL="0" indent="176213" algn="l" fontAlgn="b"/>
                      <a:r>
                        <a:rPr lang="en-US" sz="1800" b="0" i="0" u="none" strike="sngStrike" dirty="0">
                          <a:solidFill>
                            <a:srgbClr val="000000"/>
                          </a:solidFill>
                          <a:effectLst/>
                          <a:latin typeface="+mn-lt"/>
                        </a:rPr>
                        <a:t>(Purchase of equipment for cash)</a:t>
                      </a:r>
                    </a:p>
                  </a:txBody>
                  <a:tcPr marL="365760"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R="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r" fontAlgn="b"/>
                      <a:r>
                        <a:rPr lang="en-US" sz="1800" u="none" strike="noStrike" dirty="0">
                          <a:effectLst/>
                          <a:latin typeface="+mn-lt"/>
                        </a:rPr>
                        <a:t>7,000</a:t>
                      </a:r>
                      <a:endParaRPr lang="en-US" sz="1800" b="0" i="0" u="none" strike="noStrike" dirty="0">
                        <a:solidFill>
                          <a:srgbClr val="000000"/>
                        </a:solidFill>
                        <a:effectLst/>
                        <a:latin typeface="+mn-lt"/>
                      </a:endParaRPr>
                    </a:p>
                  </a:txBody>
                  <a:tcPr marL="4233" marT="387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070099555"/>
                  </a:ext>
                </a:extLst>
              </a:tr>
            </a:tbl>
          </a:graphicData>
        </a:graphic>
      </p:graphicFrame>
      <p:sp>
        <p:nvSpPr>
          <p:cNvPr id="6" name="Slide Number Placeholder 5">
            <a:extLst>
              <a:ext uri="{FF2B5EF4-FFF2-40B4-BE49-F238E27FC236}">
                <a16:creationId xmlns:a16="http://schemas.microsoft.com/office/drawing/2014/main" id="{649BB24D-048F-41FF-B6D1-E5D08E733457}"/>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7" name="Footer Placeholder 6">
            <a:extLst>
              <a:ext uri="{FF2B5EF4-FFF2-40B4-BE49-F238E27FC236}">
                <a16:creationId xmlns:a16="http://schemas.microsoft.com/office/drawing/2014/main" id="{5F2520D6-A8BD-475D-BDC6-A069C1FECB1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2248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0CB6E-394C-453F-A8A5-D9168962FE4B}"/>
              </a:ext>
            </a:extLst>
          </p:cNvPr>
          <p:cNvSpPr>
            <a:spLocks noGrp="1"/>
          </p:cNvSpPr>
          <p:nvPr>
            <p:ph type="title"/>
          </p:nvPr>
        </p:nvSpPr>
        <p:spPr>
          <a:xfrm>
            <a:off x="304800" y="762001"/>
            <a:ext cx="8534400" cy="761389"/>
          </a:xfrm>
        </p:spPr>
        <p:txBody>
          <a:bodyPr/>
          <a:lstStyle/>
          <a:p>
            <a:r>
              <a:rPr lang="en-US" b="1" dirty="0">
                <a:latin typeface="Calibri" panose="020F0502020204030204" pitchFamily="34" charset="0"/>
                <a:ea typeface="Source Sans Pro" charset="0"/>
                <a:cs typeface="Calibri" panose="020F0502020204030204" pitchFamily="34" charset="0"/>
              </a:rPr>
              <a:t>Journalizing </a:t>
            </a:r>
            <a:r>
              <a:rPr lang="en-US" sz="2400" dirty="0">
                <a:latin typeface="Calibri" panose="020F0502020204030204" pitchFamily="34" charset="0"/>
                <a:ea typeface="Source Sans Pro" charset="0"/>
                <a:cs typeface="Calibri" panose="020F0502020204030204" pitchFamily="34" charset="0"/>
              </a:rPr>
              <a:t>(2 of 2)</a:t>
            </a:r>
            <a:endParaRPr lang="en-US" b="1" dirty="0"/>
          </a:p>
        </p:txBody>
      </p:sp>
      <p:sp>
        <p:nvSpPr>
          <p:cNvPr id="3" name="Content Placeholder 2">
            <a:extLst>
              <a:ext uri="{FF2B5EF4-FFF2-40B4-BE49-F238E27FC236}">
                <a16:creationId xmlns:a16="http://schemas.microsoft.com/office/drawing/2014/main" id="{E5714837-BC99-42E1-BC12-A244EA836846}"/>
              </a:ext>
            </a:extLst>
          </p:cNvPr>
          <p:cNvSpPr>
            <a:spLocks noGrp="1"/>
          </p:cNvSpPr>
          <p:nvPr>
            <p:ph sz="quarter" idx="16"/>
          </p:nvPr>
        </p:nvSpPr>
        <p:spPr>
          <a:xfrm>
            <a:off x="304800" y="1676400"/>
            <a:ext cx="8534400" cy="1600200"/>
          </a:xfrm>
        </p:spPr>
        <p:txBody>
          <a:bodyPr/>
          <a:lstStyle/>
          <a:p>
            <a:r>
              <a:rPr lang="en-US" sz="2400" b="1" dirty="0"/>
              <a:t>Simple and Compound Entries</a:t>
            </a:r>
          </a:p>
          <a:p>
            <a:r>
              <a:rPr lang="en-US" altLang="en-US" sz="2400" b="1" dirty="0"/>
              <a:t>Illustration:</a:t>
            </a:r>
            <a:r>
              <a:rPr lang="en-US" altLang="en-US" sz="2400" dirty="0"/>
              <a:t> On </a:t>
            </a:r>
            <a:r>
              <a:rPr lang="en-US" sz="2400" dirty="0"/>
              <a:t>July 1, Butler Company purchases a delivery truck costing $14,000. It pays $8,000 cash now and agrees to pay the remaining $6,000 on account (to be paid later).</a:t>
            </a:r>
            <a:endParaRPr lang="en-US" altLang="en-US" sz="2400" dirty="0"/>
          </a:p>
        </p:txBody>
      </p:sp>
      <p:graphicFrame>
        <p:nvGraphicFramePr>
          <p:cNvPr id="9" name="Content Placeholder 8" descr="Table is accessible to screenreaders">
            <a:extLst>
              <a:ext uri="{FF2B5EF4-FFF2-40B4-BE49-F238E27FC236}">
                <a16:creationId xmlns:a16="http://schemas.microsoft.com/office/drawing/2014/main" id="{9D76C7F4-80DA-4427-A6AD-A5A6BEAFE575}"/>
              </a:ext>
            </a:extLst>
          </p:cNvPr>
          <p:cNvGraphicFramePr>
            <a:graphicFrameLocks noGrp="1"/>
          </p:cNvGraphicFramePr>
          <p:nvPr>
            <p:ph sz="quarter" idx="17"/>
            <p:extLst>
              <p:ext uri="{D42A27DB-BD31-4B8C-83A1-F6EECF244321}">
                <p14:modId xmlns:p14="http://schemas.microsoft.com/office/powerpoint/2010/main" val="1588688172"/>
              </p:ext>
            </p:extLst>
          </p:nvPr>
        </p:nvGraphicFramePr>
        <p:xfrm>
          <a:off x="304800" y="3429000"/>
          <a:ext cx="8382000" cy="269016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162818617"/>
                    </a:ext>
                  </a:extLst>
                </a:gridCol>
                <a:gridCol w="4572000">
                  <a:extLst>
                    <a:ext uri="{9D8B030D-6E8A-4147-A177-3AD203B41FA5}">
                      <a16:colId xmlns:a16="http://schemas.microsoft.com/office/drawing/2014/main" val="2369128522"/>
                    </a:ext>
                  </a:extLst>
                </a:gridCol>
                <a:gridCol w="685800">
                  <a:extLst>
                    <a:ext uri="{9D8B030D-6E8A-4147-A177-3AD203B41FA5}">
                      <a16:colId xmlns:a16="http://schemas.microsoft.com/office/drawing/2014/main" val="2534365079"/>
                    </a:ext>
                  </a:extLst>
                </a:gridCol>
                <a:gridCol w="1066800">
                  <a:extLst>
                    <a:ext uri="{9D8B030D-6E8A-4147-A177-3AD203B41FA5}">
                      <a16:colId xmlns:a16="http://schemas.microsoft.com/office/drawing/2014/main" val="432944227"/>
                    </a:ext>
                  </a:extLst>
                </a:gridCol>
                <a:gridCol w="990600">
                  <a:extLst>
                    <a:ext uri="{9D8B030D-6E8A-4147-A177-3AD203B41FA5}">
                      <a16:colId xmlns:a16="http://schemas.microsoft.com/office/drawing/2014/main" val="2868943461"/>
                    </a:ext>
                  </a:extLst>
                </a:gridCol>
              </a:tblGrid>
              <a:tr h="355212">
                <a:tc>
                  <a:txBody>
                    <a:bodyPr/>
                    <a:lstStyle/>
                    <a:p>
                      <a:endParaRPr lang="en-US" sz="2000" dirty="0">
                        <a:solidFill>
                          <a:schemeClr val="tx1"/>
                        </a:solidFill>
                      </a:endParaRPr>
                    </a:p>
                  </a:txBody>
                  <a:tcPr marT="41804" marB="41804">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u="none" strike="noStrike" dirty="0">
                          <a:solidFill>
                            <a:schemeClr val="tx1"/>
                          </a:solidFill>
                          <a:effectLst/>
                        </a:rPr>
                        <a:t>General Journal</a:t>
                      </a:r>
                      <a:endParaRPr lang="en-US" sz="2000" b="1" i="0" u="none" strike="noStrike" dirty="0">
                        <a:solidFill>
                          <a:schemeClr val="tx1"/>
                        </a:solidFill>
                        <a:effectLst/>
                        <a:latin typeface="Calibri" panose="020F0502020204030204" pitchFamily="34" charset="0"/>
                      </a:endParaRPr>
                    </a:p>
                  </a:txBody>
                  <a:tcPr marT="41804" marB="418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000" dirty="0">
                        <a:solidFill>
                          <a:schemeClr val="tx1"/>
                        </a:solidFill>
                      </a:endParaRPr>
                    </a:p>
                  </a:txBody>
                  <a:tcPr marT="41804" marB="418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2000" dirty="0">
                        <a:solidFill>
                          <a:schemeClr val="tx1"/>
                        </a:solidFill>
                      </a:endParaRPr>
                    </a:p>
                  </a:txBody>
                  <a:tcPr marT="41804" marB="418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u="none" strike="sngStrike" dirty="0">
                          <a:solidFill>
                            <a:schemeClr val="tx1"/>
                          </a:solidFill>
                          <a:effectLst/>
                        </a:rPr>
                        <a:t>J1</a:t>
                      </a:r>
                      <a:endParaRPr lang="en-US" sz="2000" b="1" i="0" u="none" strike="sngStrike" dirty="0">
                        <a:solidFill>
                          <a:schemeClr val="tx1"/>
                        </a:solidFill>
                        <a:effectLst/>
                        <a:latin typeface="Calibri" panose="020F0502020204030204" pitchFamily="34" charset="0"/>
                      </a:endParaRPr>
                    </a:p>
                  </a:txBody>
                  <a:tcPr marT="41804" marB="41804">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7093332"/>
                  </a:ext>
                </a:extLst>
              </a:tr>
              <a:tr h="327872">
                <a:tc>
                  <a:txBody>
                    <a:bodyPr/>
                    <a:lstStyle/>
                    <a:p>
                      <a:pPr algn="ctr" fontAlgn="b"/>
                      <a:r>
                        <a:rPr lang="en-US" sz="2000" b="1" u="none" strike="noStrike" dirty="0">
                          <a:effectLst/>
                        </a:rPr>
                        <a:t>Date</a:t>
                      </a:r>
                      <a:endParaRPr lang="en-US" sz="2000" b="1" i="0" u="none" strike="noStrike" dirty="0">
                        <a:solidFill>
                          <a:srgbClr val="000000"/>
                        </a:solidFill>
                        <a:effectLst/>
                        <a:latin typeface="Calibri" panose="020F0502020204030204" pitchFamily="34" charset="0"/>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2000" b="1" u="none" strike="noStrike" dirty="0">
                          <a:effectLst/>
                        </a:rPr>
                        <a:t>Account Titles </a:t>
                      </a:r>
                      <a:r>
                        <a:rPr lang="en-US" sz="2000" b="1" u="none" strike="sngStrike" dirty="0">
                          <a:effectLst/>
                        </a:rPr>
                        <a:t>and Explanation</a:t>
                      </a:r>
                      <a:endParaRPr lang="en-US" sz="2000" b="1" i="0" u="none" strike="sngStrike" dirty="0">
                        <a:solidFill>
                          <a:srgbClr val="000000"/>
                        </a:solidFill>
                        <a:effectLst/>
                        <a:latin typeface="Calibri" panose="020F0502020204030204" pitchFamily="34" charset="0"/>
                      </a:endParaRPr>
                    </a:p>
                  </a:txBody>
                  <a:tcPr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2000" b="1" u="none" strike="sngStrike" dirty="0">
                          <a:effectLst/>
                        </a:rPr>
                        <a:t>Ref.</a:t>
                      </a:r>
                      <a:endParaRPr lang="en-US" sz="2000" b="1" i="0" u="none" strike="sngStrike" dirty="0">
                        <a:solidFill>
                          <a:srgbClr val="000000"/>
                        </a:solidFill>
                        <a:effectLst/>
                        <a:latin typeface="Calibri" panose="020F0502020204030204" pitchFamily="34" charset="0"/>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2000" b="1" u="none" strike="noStrike" dirty="0">
                          <a:effectLst/>
                        </a:rPr>
                        <a:t>Debit</a:t>
                      </a:r>
                      <a:endParaRPr lang="en-US" sz="2000" b="1" i="0" u="none" strike="noStrike" dirty="0">
                        <a:solidFill>
                          <a:srgbClr val="000000"/>
                        </a:solidFill>
                        <a:effectLst/>
                        <a:latin typeface="Calibri" panose="020F0502020204030204" pitchFamily="34" charset="0"/>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b"/>
                      <a:r>
                        <a:rPr lang="en-US" sz="2000" b="1" u="none" strike="noStrike" dirty="0">
                          <a:effectLst/>
                        </a:rPr>
                        <a:t>Credit</a:t>
                      </a:r>
                      <a:endParaRPr lang="en-US" sz="2000" b="1" i="0" u="none" strike="noStrike" dirty="0">
                        <a:solidFill>
                          <a:srgbClr val="000000"/>
                        </a:solidFill>
                        <a:effectLst/>
                        <a:latin typeface="Calibri" panose="020F0502020204030204" pitchFamily="34" charset="0"/>
                      </a:endParaRPr>
                    </a:p>
                  </a:txBody>
                  <a:tcPr marL="4233" marR="4233" marT="83608" marB="41804"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833187164"/>
                  </a:ext>
                </a:extLst>
              </a:tr>
              <a:tr h="339074">
                <a:tc>
                  <a:txBody>
                    <a:bodyPr/>
                    <a:lstStyle/>
                    <a:p>
                      <a:pPr algn="ctr" fontAlgn="b"/>
                      <a:r>
                        <a:rPr lang="en-US" sz="2000" b="0" i="0" u="none" strike="noStrike" dirty="0">
                          <a:solidFill>
                            <a:srgbClr val="000000"/>
                          </a:solidFill>
                          <a:effectLst/>
                          <a:latin typeface="Calibri" panose="020F0502020204030204" pitchFamily="34" charset="0"/>
                        </a:rPr>
                        <a:t>2020</a:t>
                      </a:r>
                    </a:p>
                    <a:p>
                      <a:pPr algn="ctr" fontAlgn="b"/>
                      <a:r>
                        <a:rPr lang="en-US" sz="2000" b="0" i="0" u="none" strike="noStrike" dirty="0">
                          <a:solidFill>
                            <a:srgbClr val="000000"/>
                          </a:solidFill>
                          <a:effectLst/>
                          <a:latin typeface="Calibri" panose="020F0502020204030204" pitchFamily="34" charset="0"/>
                        </a:rPr>
                        <a:t>July</a:t>
                      </a:r>
                      <a:r>
                        <a:rPr lang="en-US" sz="2000" b="0" i="0" u="none" strike="noStrike" baseline="0" dirty="0">
                          <a:solidFill>
                            <a:srgbClr val="000000"/>
                          </a:solidFill>
                          <a:effectLst/>
                          <a:latin typeface="Calibri" panose="020F0502020204030204" pitchFamily="34" charset="0"/>
                        </a:rPr>
                        <a:t> 1</a:t>
                      </a:r>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r>
                        <a:rPr lang="en-US" sz="2000" u="none" strike="noStrike" kern="1200" dirty="0">
                          <a:solidFill>
                            <a:schemeClr val="dk1"/>
                          </a:solidFill>
                          <a:effectLst/>
                          <a:latin typeface="+mn-lt"/>
                          <a:ea typeface="+mn-ea"/>
                          <a:cs typeface="+mn-cs"/>
                        </a:rPr>
                        <a:t>Equipment</a:t>
                      </a:r>
                    </a:p>
                  </a:txBody>
                  <a:tcPr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r" fontAlgn="b"/>
                      <a:r>
                        <a:rPr lang="en-US" sz="2000" u="none" strike="noStrike" dirty="0">
                          <a:effectLst/>
                        </a:rPr>
                        <a:t>14,000</a:t>
                      </a:r>
                      <a:endParaRPr lang="en-US" sz="2000" b="0" i="0" u="none" strike="noStrike" dirty="0">
                        <a:solidFill>
                          <a:srgbClr val="000000"/>
                        </a:solidFill>
                        <a:effectLst/>
                        <a:latin typeface="Calibri" panose="020F0502020204030204" pitchFamily="34" charset="0"/>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51534104"/>
                  </a:ext>
                </a:extLst>
              </a:tr>
              <a:tr h="339074">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lvl="1" algn="l" fontAlgn="b"/>
                      <a:r>
                        <a:rPr lang="en-US" sz="2000" b="0" i="0" u="none" strike="noStrike" dirty="0">
                          <a:solidFill>
                            <a:srgbClr val="000000"/>
                          </a:solidFill>
                          <a:effectLst/>
                          <a:latin typeface="Calibri" panose="020F0502020204030204" pitchFamily="34" charset="0"/>
                        </a:rPr>
                        <a:t>Cash</a:t>
                      </a: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US" sz="2000" u="none" strike="noStrike" kern="1200" dirty="0">
                        <a:solidFill>
                          <a:schemeClr val="dk1"/>
                        </a:solidFill>
                        <a:effectLst/>
                        <a:latin typeface="+mn-lt"/>
                        <a:ea typeface="+mn-ea"/>
                        <a:cs typeface="+mn-cs"/>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r"/>
                      <a:r>
                        <a:rPr lang="en-US" sz="2000" u="none" strike="noStrike" kern="1200" dirty="0">
                          <a:solidFill>
                            <a:schemeClr val="dk1"/>
                          </a:solidFill>
                          <a:effectLst/>
                          <a:latin typeface="+mn-lt"/>
                          <a:ea typeface="+mn-ea"/>
                          <a:cs typeface="+mn-cs"/>
                        </a:rPr>
                        <a:t>8,000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366340166"/>
                  </a:ext>
                </a:extLst>
              </a:tr>
              <a:tr h="339074">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lvl="1" algn="l" fontAlgn="b"/>
                      <a:r>
                        <a:rPr lang="en-US" sz="2000" b="0" i="0" u="none" strike="noStrike" dirty="0">
                          <a:solidFill>
                            <a:srgbClr val="000000"/>
                          </a:solidFill>
                          <a:effectLst/>
                          <a:latin typeface="Calibri" panose="020F0502020204030204" pitchFamily="34" charset="0"/>
                        </a:rPr>
                        <a:t>Accounts</a:t>
                      </a:r>
                      <a:r>
                        <a:rPr lang="en-US" sz="2000" b="0" i="0" u="none" strike="noStrike" baseline="0" dirty="0">
                          <a:solidFill>
                            <a:srgbClr val="000000"/>
                          </a:solidFill>
                          <a:effectLst/>
                          <a:latin typeface="Calibri" panose="020F0502020204030204" pitchFamily="34" charset="0"/>
                        </a:rPr>
                        <a:t> Payable</a:t>
                      </a:r>
                    </a:p>
                    <a:p>
                      <a:pPr marL="738188" lvl="1" indent="0" algn="l" fontAlgn="b"/>
                      <a:r>
                        <a:rPr lang="en-US" sz="2000" b="0" i="0" u="none" strike="sngStrike" dirty="0">
                          <a:solidFill>
                            <a:srgbClr val="000000"/>
                          </a:solidFill>
                          <a:effectLst/>
                          <a:latin typeface="Calibri" panose="020F0502020204030204" pitchFamily="34" charset="0"/>
                        </a:rPr>
                        <a:t>(Purchased truck for cash with balance on account)</a:t>
                      </a: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US" sz="2000" u="none" strike="noStrike" kern="1200" dirty="0">
                        <a:solidFill>
                          <a:schemeClr val="dk1"/>
                        </a:solidFill>
                        <a:effectLst/>
                        <a:latin typeface="+mn-lt"/>
                        <a:ea typeface="+mn-ea"/>
                        <a:cs typeface="+mn-cs"/>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r"/>
                      <a:r>
                        <a:rPr lang="en-US" sz="2000" u="none" strike="noStrike" kern="1200" dirty="0">
                          <a:solidFill>
                            <a:schemeClr val="dk1"/>
                          </a:solidFill>
                          <a:effectLst/>
                          <a:latin typeface="+mn-lt"/>
                          <a:ea typeface="+mn-ea"/>
                          <a:cs typeface="+mn-cs"/>
                        </a:rPr>
                        <a:t>6,000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705735092"/>
                  </a:ext>
                </a:extLst>
              </a:tr>
            </a:tbl>
          </a:graphicData>
        </a:graphic>
      </p:graphicFrame>
      <p:sp>
        <p:nvSpPr>
          <p:cNvPr id="6" name="Slide Number Placeholder 5">
            <a:extLst>
              <a:ext uri="{FF2B5EF4-FFF2-40B4-BE49-F238E27FC236}">
                <a16:creationId xmlns:a16="http://schemas.microsoft.com/office/drawing/2014/main" id="{649BB24D-048F-41FF-B6D1-E5D08E733457}"/>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7" name="Footer Placeholder 6">
            <a:extLst>
              <a:ext uri="{FF2B5EF4-FFF2-40B4-BE49-F238E27FC236}">
                <a16:creationId xmlns:a16="http://schemas.microsoft.com/office/drawing/2014/main" id="{5F2520D6-A8BD-475D-BDC6-A069C1FECB15}"/>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83790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F5CC-2850-45EA-AA82-ACE476F5142A}"/>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Journal and Posting</a:t>
            </a:r>
            <a:endParaRPr lang="en-US" sz="2400" dirty="0"/>
          </a:p>
        </p:txBody>
      </p:sp>
      <p:pic>
        <p:nvPicPr>
          <p:cNvPr id="9" name="Content Placeholder 8" descr="A flow chart analyzing business transactions. Step 1: analyze business transactions. Step 2: journalize the transactions. Step 3: post to ledger accounts. Step 4: prepare a trial balance. Step 5: journalize and post adjusting entries. Step 6: adjusted trial balance. Step 7: prepare financial statements. Step 8: journalize and post closing entries. Step 9: prepare a post-closing trial balance. The third step of post to ledger accounts is highlighted in the chart.">
            <a:extLst>
              <a:ext uri="{FF2B5EF4-FFF2-40B4-BE49-F238E27FC236}">
                <a16:creationId xmlns:a16="http://schemas.microsoft.com/office/drawing/2014/main" id="{45A95069-B3B1-44B1-9C84-76C4DA6FDB64}"/>
              </a:ext>
            </a:extLst>
          </p:cNvPr>
          <p:cNvPicPr>
            <a:picLocks noGrp="1" noChangeAspect="1"/>
          </p:cNvPicPr>
          <p:nvPr>
            <p:ph sz="quarter" idx="16"/>
          </p:nvPr>
        </p:nvPicPr>
        <p:blipFill>
          <a:blip r:embed="rId2"/>
          <a:stretch>
            <a:fillRect/>
          </a:stretch>
        </p:blipFill>
        <p:spPr>
          <a:xfrm>
            <a:off x="482123" y="1789436"/>
            <a:ext cx="8179754" cy="2123929"/>
          </a:xfrm>
          <a:prstGeom prst="rect">
            <a:avLst/>
          </a:prstGeom>
        </p:spPr>
      </p:pic>
      <p:sp>
        <p:nvSpPr>
          <p:cNvPr id="4" name="Content Placeholder 3">
            <a:extLst>
              <a:ext uri="{FF2B5EF4-FFF2-40B4-BE49-F238E27FC236}">
                <a16:creationId xmlns:a16="http://schemas.microsoft.com/office/drawing/2014/main" id="{0CE6583B-90A5-4F09-ADAB-046B1A73F9A1}"/>
              </a:ext>
            </a:extLst>
          </p:cNvPr>
          <p:cNvSpPr>
            <a:spLocks noGrp="1"/>
          </p:cNvSpPr>
          <p:nvPr>
            <p:ph sz="quarter" idx="17"/>
          </p:nvPr>
        </p:nvSpPr>
        <p:spPr>
          <a:xfrm>
            <a:off x="304800" y="4114800"/>
            <a:ext cx="8534400" cy="2057400"/>
          </a:xfrm>
        </p:spPr>
        <p:txBody>
          <a:bodyPr/>
          <a:lstStyle/>
          <a:p>
            <a:r>
              <a:rPr lang="en-US" altLang="en-US" b="1" dirty="0">
                <a:solidFill>
                  <a:schemeClr val="accent2"/>
                </a:solidFill>
                <a:latin typeface="Calibri" panose="020F0502020204030204" pitchFamily="34" charset="0"/>
              </a:rPr>
              <a:t>The Ledger</a:t>
            </a:r>
            <a:endParaRPr lang="en-US" altLang="en-US" dirty="0">
              <a:solidFill>
                <a:schemeClr val="accent2"/>
              </a:solidFill>
              <a:latin typeface="Calibri" panose="020F0502020204030204" pitchFamily="34" charset="0"/>
            </a:endParaRPr>
          </a:p>
          <a:p>
            <a:pPr marL="292608" lvl="1" indent="-292608">
              <a:spcBef>
                <a:spcPts val="1000"/>
              </a:spcBef>
              <a:buClr>
                <a:srgbClr val="A50021"/>
              </a:buClr>
              <a:buSzPct val="100000"/>
            </a:pPr>
            <a:r>
              <a:rPr lang="en-US" altLang="en-US" sz="2800" dirty="0">
                <a:latin typeface="Calibri" panose="020F0502020204030204" pitchFamily="34" charset="0"/>
              </a:rPr>
              <a:t>Entire group of accounts maintained by a company</a:t>
            </a:r>
          </a:p>
          <a:p>
            <a:pPr marL="292608" lvl="1" indent="-292608">
              <a:spcBef>
                <a:spcPts val="1000"/>
              </a:spcBef>
              <a:buClr>
                <a:srgbClr val="A50021"/>
              </a:buClr>
              <a:buSzPct val="100000"/>
            </a:pPr>
            <a:r>
              <a:rPr lang="en-US" altLang="en-US" sz="2800" dirty="0">
                <a:latin typeface="Calibri" panose="020F0502020204030204" pitchFamily="34" charset="0"/>
              </a:rPr>
              <a:t>Provides the balance in each account</a:t>
            </a:r>
          </a:p>
          <a:p>
            <a:pPr marL="292608" lvl="1" indent="-292608">
              <a:spcBef>
                <a:spcPts val="1000"/>
              </a:spcBef>
              <a:buClr>
                <a:srgbClr val="A50021"/>
              </a:buClr>
              <a:buSzPct val="100000"/>
            </a:pPr>
            <a:r>
              <a:rPr lang="en-US" altLang="en-US" sz="2800" dirty="0">
                <a:latin typeface="Calibri" panose="020F0502020204030204" pitchFamily="34" charset="0"/>
              </a:rPr>
              <a:t>Keeps track of changes in account balances</a:t>
            </a:r>
          </a:p>
        </p:txBody>
      </p:sp>
      <p:sp>
        <p:nvSpPr>
          <p:cNvPr id="5" name="Slide Number Placeholder 4">
            <a:extLst>
              <a:ext uri="{FF2B5EF4-FFF2-40B4-BE49-F238E27FC236}">
                <a16:creationId xmlns:a16="http://schemas.microsoft.com/office/drawing/2014/main" id="{545C065E-A2A6-4D53-B8FF-1EB526142EAC}"/>
              </a:ext>
            </a:extLst>
          </p:cNvPr>
          <p:cNvSpPr>
            <a:spLocks noGrp="1"/>
          </p:cNvSpPr>
          <p:nvPr>
            <p:ph type="sldNum" sz="quarter" idx="10"/>
          </p:nvPr>
        </p:nvSpPr>
        <p:spPr/>
        <p:txBody>
          <a:bodyPr/>
          <a:lstStyle/>
          <a:p>
            <a:fld id="{67B19427-F580-D146-B60E-4CADEE75497F}" type="slidenum">
              <a:rPr lang="en-US" smtClean="0"/>
              <a:pPr/>
              <a:t>16</a:t>
            </a:fld>
            <a:endParaRPr lang="en-US" dirty="0"/>
          </a:p>
        </p:txBody>
      </p:sp>
      <p:sp>
        <p:nvSpPr>
          <p:cNvPr id="6" name="Footer Placeholder 5">
            <a:extLst>
              <a:ext uri="{FF2B5EF4-FFF2-40B4-BE49-F238E27FC236}">
                <a16:creationId xmlns:a16="http://schemas.microsoft.com/office/drawing/2014/main" id="{FA30D6C2-A631-4DC2-95A3-70E78841E32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6982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83B7F-59F8-42A4-9558-381C1D467B81}"/>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Ledger </a:t>
            </a:r>
            <a:r>
              <a:rPr lang="en-US" sz="2400" dirty="0">
                <a:latin typeface="Calibri" panose="020F0502020204030204" pitchFamily="34" charset="0"/>
                <a:ea typeface="Source Sans Pro" charset="0"/>
                <a:cs typeface="Calibri" panose="020F0502020204030204" pitchFamily="34" charset="0"/>
              </a:rPr>
              <a:t>(1 of 3)</a:t>
            </a:r>
            <a:endParaRPr lang="en-US" dirty="0"/>
          </a:p>
        </p:txBody>
      </p:sp>
      <p:sp>
        <p:nvSpPr>
          <p:cNvPr id="3" name="Content Placeholder 2">
            <a:extLst>
              <a:ext uri="{FF2B5EF4-FFF2-40B4-BE49-F238E27FC236}">
                <a16:creationId xmlns:a16="http://schemas.microsoft.com/office/drawing/2014/main" id="{A7B28EC8-A9BC-4C2A-8AA6-B47373881A42}"/>
              </a:ext>
            </a:extLst>
          </p:cNvPr>
          <p:cNvSpPr>
            <a:spLocks noGrp="1"/>
          </p:cNvSpPr>
          <p:nvPr>
            <p:ph sz="quarter" idx="16"/>
          </p:nvPr>
        </p:nvSpPr>
        <p:spPr>
          <a:xfrm>
            <a:off x="304800" y="1828800"/>
            <a:ext cx="8534400" cy="825500"/>
          </a:xfrm>
        </p:spPr>
        <p:txBody>
          <a:bodyPr/>
          <a:lstStyle/>
          <a:p>
            <a:r>
              <a:rPr lang="en-US" b="1" dirty="0">
                <a:solidFill>
                  <a:schemeClr val="accent4"/>
                </a:solidFill>
              </a:rPr>
              <a:t>General ledger </a:t>
            </a:r>
            <a:r>
              <a:rPr lang="en-US" dirty="0"/>
              <a:t>contains all asset, liability, and owner’s equity accounts</a:t>
            </a:r>
            <a:endParaRPr lang="en-US" altLang="en-US" dirty="0"/>
          </a:p>
        </p:txBody>
      </p:sp>
      <p:pic>
        <p:nvPicPr>
          <p:cNvPr id="7" name="Content Placeholder 6" descr="An illustration displays a general ledger. It contains three columns titled, asset accounts, liability accounts, and owner's equity accounts. The asset accounts include cash, supplies, equipment, and land. The liability accounts include notes payable, accounts payable, salaries and wages payable, and interest payable. The owner's equity accounts include owner's capital, owner's drawings, service revenue, and salaries and wages expense. ">
            <a:extLst>
              <a:ext uri="{FF2B5EF4-FFF2-40B4-BE49-F238E27FC236}">
                <a16:creationId xmlns:a16="http://schemas.microsoft.com/office/drawing/2014/main" id="{08EBBA41-ADA9-4E75-916F-218FC148B9BE}"/>
              </a:ext>
            </a:extLst>
          </p:cNvPr>
          <p:cNvPicPr>
            <a:picLocks noGrp="1" noChangeAspect="1"/>
          </p:cNvPicPr>
          <p:nvPr>
            <p:ph sz="quarter" idx="17"/>
          </p:nvPr>
        </p:nvPicPr>
        <p:blipFill>
          <a:blip r:embed="rId2"/>
          <a:stretch>
            <a:fillRect/>
          </a:stretch>
        </p:blipFill>
        <p:spPr>
          <a:xfrm>
            <a:off x="927190" y="2819400"/>
            <a:ext cx="7289620" cy="3419358"/>
          </a:xfrm>
          <a:prstGeom prst="rect">
            <a:avLst/>
          </a:prstGeom>
        </p:spPr>
      </p:pic>
      <p:sp>
        <p:nvSpPr>
          <p:cNvPr id="5" name="Slide Number Placeholder 4">
            <a:extLst>
              <a:ext uri="{FF2B5EF4-FFF2-40B4-BE49-F238E27FC236}">
                <a16:creationId xmlns:a16="http://schemas.microsoft.com/office/drawing/2014/main" id="{1AF82FEC-1F07-4A23-8E52-1FFA695B3A56}"/>
              </a:ext>
            </a:extLst>
          </p:cNvPr>
          <p:cNvSpPr>
            <a:spLocks noGrp="1"/>
          </p:cNvSpPr>
          <p:nvPr>
            <p:ph type="sldNum" sz="quarter" idx="10"/>
          </p:nvPr>
        </p:nvSpPr>
        <p:spPr/>
        <p:txBody>
          <a:bodyPr/>
          <a:lstStyle/>
          <a:p>
            <a:fld id="{67B19427-F580-D146-B60E-4CADEE75497F}" type="slidenum">
              <a:rPr lang="en-US" smtClean="0"/>
              <a:pPr/>
              <a:t>17</a:t>
            </a:fld>
            <a:endParaRPr lang="en-US" dirty="0"/>
          </a:p>
        </p:txBody>
      </p:sp>
      <p:sp>
        <p:nvSpPr>
          <p:cNvPr id="6" name="Footer Placeholder 5">
            <a:extLst>
              <a:ext uri="{FF2B5EF4-FFF2-40B4-BE49-F238E27FC236}">
                <a16:creationId xmlns:a16="http://schemas.microsoft.com/office/drawing/2014/main" id="{F214493C-F9FE-4E34-BB10-9C4F8DCF000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31555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2F3ED-1951-4AB2-8444-91C50C780C57}"/>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Ledger </a:t>
            </a:r>
            <a:r>
              <a:rPr lang="en-US" sz="2400" dirty="0">
                <a:latin typeface="Calibri" panose="020F0502020204030204" pitchFamily="34" charset="0"/>
                <a:ea typeface="Source Sans Pro" charset="0"/>
                <a:cs typeface="Calibri" panose="020F0502020204030204" pitchFamily="34" charset="0"/>
              </a:rPr>
              <a:t>(2 of 3)</a:t>
            </a:r>
            <a:endParaRPr lang="en-US" dirty="0"/>
          </a:p>
        </p:txBody>
      </p:sp>
      <p:sp>
        <p:nvSpPr>
          <p:cNvPr id="3" name="Content Placeholder 2">
            <a:extLst>
              <a:ext uri="{FF2B5EF4-FFF2-40B4-BE49-F238E27FC236}">
                <a16:creationId xmlns:a16="http://schemas.microsoft.com/office/drawing/2014/main" id="{A7AFCC02-4F61-4574-9FB0-7680862FDD82}"/>
              </a:ext>
            </a:extLst>
          </p:cNvPr>
          <p:cNvSpPr>
            <a:spLocks noGrp="1"/>
          </p:cNvSpPr>
          <p:nvPr>
            <p:ph sz="quarter" idx="16"/>
          </p:nvPr>
        </p:nvSpPr>
        <p:spPr>
          <a:xfrm>
            <a:off x="304800" y="1828800"/>
            <a:ext cx="4089400" cy="457200"/>
          </a:xfrm>
        </p:spPr>
        <p:txBody>
          <a:bodyPr/>
          <a:lstStyle/>
          <a:p>
            <a:r>
              <a:rPr lang="en-US" altLang="en-US" b="1" dirty="0"/>
              <a:t>Standard Form of Account</a:t>
            </a:r>
          </a:p>
        </p:txBody>
      </p:sp>
      <p:graphicFrame>
        <p:nvGraphicFramePr>
          <p:cNvPr id="8" name="Content Placeholder 7" descr="Table is accessible to screenreaders">
            <a:extLst>
              <a:ext uri="{FF2B5EF4-FFF2-40B4-BE49-F238E27FC236}">
                <a16:creationId xmlns:a16="http://schemas.microsoft.com/office/drawing/2014/main" id="{5B9D7516-EFC8-47E7-BEB4-C0560BA6EBD2}"/>
              </a:ext>
            </a:extLst>
          </p:cNvPr>
          <p:cNvGraphicFramePr>
            <a:graphicFrameLocks noGrp="1"/>
          </p:cNvGraphicFramePr>
          <p:nvPr>
            <p:ph sz="quarter" idx="17"/>
            <p:extLst>
              <p:ext uri="{D42A27DB-BD31-4B8C-83A1-F6EECF244321}">
                <p14:modId xmlns:p14="http://schemas.microsoft.com/office/powerpoint/2010/main" val="3857499279"/>
              </p:ext>
            </p:extLst>
          </p:nvPr>
        </p:nvGraphicFramePr>
        <p:xfrm>
          <a:off x="304800" y="2362200"/>
          <a:ext cx="8534400" cy="34340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4059890367"/>
                    </a:ext>
                  </a:extLst>
                </a:gridCol>
                <a:gridCol w="2590800">
                  <a:extLst>
                    <a:ext uri="{9D8B030D-6E8A-4147-A177-3AD203B41FA5}">
                      <a16:colId xmlns:a16="http://schemas.microsoft.com/office/drawing/2014/main" val="2990759911"/>
                    </a:ext>
                  </a:extLst>
                </a:gridCol>
                <a:gridCol w="609600">
                  <a:extLst>
                    <a:ext uri="{9D8B030D-6E8A-4147-A177-3AD203B41FA5}">
                      <a16:colId xmlns:a16="http://schemas.microsoft.com/office/drawing/2014/main" val="1511773774"/>
                    </a:ext>
                  </a:extLst>
                </a:gridCol>
                <a:gridCol w="1117600">
                  <a:extLst>
                    <a:ext uri="{9D8B030D-6E8A-4147-A177-3AD203B41FA5}">
                      <a16:colId xmlns:a16="http://schemas.microsoft.com/office/drawing/2014/main" val="3580129203"/>
                    </a:ext>
                  </a:extLst>
                </a:gridCol>
                <a:gridCol w="1422400">
                  <a:extLst>
                    <a:ext uri="{9D8B030D-6E8A-4147-A177-3AD203B41FA5}">
                      <a16:colId xmlns:a16="http://schemas.microsoft.com/office/drawing/2014/main" val="3078807662"/>
                    </a:ext>
                  </a:extLst>
                </a:gridCol>
                <a:gridCol w="1422400">
                  <a:extLst>
                    <a:ext uri="{9D8B030D-6E8A-4147-A177-3AD203B41FA5}">
                      <a16:colId xmlns:a16="http://schemas.microsoft.com/office/drawing/2014/main" val="68641779"/>
                    </a:ext>
                  </a:extLst>
                </a:gridCol>
              </a:tblGrid>
              <a:tr h="370840">
                <a:tc>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u="none" strike="noStrike" dirty="0">
                          <a:solidFill>
                            <a:schemeClr val="tx1"/>
                          </a:solidFill>
                          <a:effectLst/>
                        </a:rPr>
                        <a:t>Cash</a:t>
                      </a:r>
                      <a:endParaRPr lang="en-US" sz="2000" b="1" i="0" u="none" strike="noStrike" dirty="0">
                        <a:solidFill>
                          <a:schemeClr val="tx1"/>
                        </a:solidFill>
                        <a:effectLst/>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u="none" strike="sngStrike" dirty="0">
                          <a:solidFill>
                            <a:schemeClr val="tx1"/>
                          </a:solidFill>
                          <a:effectLst/>
                        </a:rPr>
                        <a:t>NO. 101</a:t>
                      </a:r>
                      <a:endParaRPr lang="en-US" sz="2000" b="1" i="0" u="none" strike="sngStrike" dirty="0">
                        <a:solidFill>
                          <a:schemeClr val="tx1"/>
                        </a:solidFill>
                        <a:effectLst/>
                        <a:latin typeface="Calibri" panose="020F050202020403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851856"/>
                  </a:ext>
                </a:extLst>
              </a:tr>
              <a:tr h="370840">
                <a:tc>
                  <a:txBody>
                    <a:bodyPr/>
                    <a:lstStyle/>
                    <a:p>
                      <a:pPr algn="ctr" fontAlgn="b"/>
                      <a:r>
                        <a:rPr lang="en-US" sz="2000" b="1" u="none" strike="noStrike" dirty="0">
                          <a:effectLst/>
                        </a:rPr>
                        <a:t>Date</a:t>
                      </a:r>
                      <a:endParaRPr lang="en-US" sz="2000" b="1" i="0" u="none" strike="noStrike" dirty="0">
                        <a:solidFill>
                          <a:srgbClr val="000000"/>
                        </a:solidFill>
                        <a:effectLst/>
                        <a:latin typeface="Calibri" panose="020F0502020204030204" pitchFamily="34" charset="0"/>
                      </a:endParaRP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u="none" strike="noStrike" dirty="0">
                          <a:effectLst/>
                        </a:rPr>
                        <a:t>Explanation</a:t>
                      </a:r>
                      <a:endParaRPr lang="en-US" sz="2000" b="1" i="0" u="none" strike="noStrike" dirty="0">
                        <a:solidFill>
                          <a:srgbClr val="000000"/>
                        </a:solidFill>
                        <a:effectLst/>
                        <a:latin typeface="Calibri" panose="020F0502020204030204" pitchFamily="34" charset="0"/>
                      </a:endParaRPr>
                    </a:p>
                  </a:txBody>
                  <a:tcPr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u="none" strike="sngStrike" dirty="0">
                          <a:effectLst/>
                        </a:rPr>
                        <a:t>Ref.</a:t>
                      </a:r>
                      <a:endParaRPr lang="en-US" sz="2000" b="1" i="0" u="none" strike="sngStrike" dirty="0">
                        <a:solidFill>
                          <a:srgbClr val="000000"/>
                        </a:solidFill>
                        <a:effectLst/>
                        <a:latin typeface="Calibri" panose="020F0502020204030204" pitchFamily="34" charset="0"/>
                      </a:endParaRP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u="none" strike="noStrike" dirty="0">
                          <a:effectLst/>
                        </a:rPr>
                        <a:t>Debit</a:t>
                      </a:r>
                      <a:endParaRPr lang="en-US" sz="2000" b="1" i="0" u="none" strike="noStrike" dirty="0">
                        <a:solidFill>
                          <a:srgbClr val="000000"/>
                        </a:solidFill>
                        <a:effectLst/>
                        <a:latin typeface="Calibri" panose="020F0502020204030204" pitchFamily="34" charset="0"/>
                      </a:endParaRP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b="1" u="none" strike="noStrike" dirty="0">
                          <a:effectLst/>
                        </a:rPr>
                        <a:t>Credit</a:t>
                      </a:r>
                      <a:endParaRPr lang="en-US" sz="2000" b="1" i="0" u="none" strike="noStrike" dirty="0">
                        <a:solidFill>
                          <a:srgbClr val="000000"/>
                        </a:solidFill>
                        <a:effectLst/>
                        <a:latin typeface="Calibri" panose="020F0502020204030204" pitchFamily="34" charset="0"/>
                      </a:endParaRP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i="0" u="none" strike="noStrike" dirty="0">
                          <a:solidFill>
                            <a:srgbClr val="000000"/>
                          </a:solidFill>
                          <a:effectLst/>
                          <a:latin typeface="Calibri" panose="020F0502020204030204" pitchFamily="34" charset="0"/>
                        </a:rPr>
                        <a:t>Balance</a:t>
                      </a: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40516005"/>
                  </a:ext>
                </a:extLst>
              </a:tr>
              <a:tr h="370840">
                <a:tc>
                  <a:txBody>
                    <a:bodyPr/>
                    <a:lstStyle/>
                    <a:p>
                      <a:pPr algn="r" fontAlgn="b"/>
                      <a:r>
                        <a:rPr lang="en-US" sz="2000" b="0" i="0" u="none" strike="noStrike" baseline="0" dirty="0">
                          <a:solidFill>
                            <a:srgbClr val="000000"/>
                          </a:solidFill>
                          <a:effectLst/>
                          <a:latin typeface="Calibri" panose="020F0502020204030204" pitchFamily="34" charset="0"/>
                        </a:rPr>
                        <a:t>2020 June 1</a:t>
                      </a:r>
                      <a:endParaRPr lang="en-US" sz="2000" b="0" i="0" u="none" strike="noStrike" dirty="0">
                        <a:solidFill>
                          <a:srgbClr val="000000"/>
                        </a:solidFill>
                        <a:effectLst/>
                        <a:latin typeface="Calibri" panose="020F0502020204030204" pitchFamily="34" charset="0"/>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FF0000"/>
                          </a:solidFill>
                        </a:rPr>
                        <a:t>(names of opposite a/c)</a:t>
                      </a:r>
                    </a:p>
                  </a:txBody>
                  <a:tcPr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25,000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20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25,000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143071045"/>
                  </a:ext>
                </a:extLst>
              </a:tr>
              <a:tr h="370840">
                <a:tc>
                  <a:txBody>
                    <a:bodyPr/>
                    <a:lstStyle/>
                    <a:p>
                      <a:pPr algn="r" fontAlgn="b"/>
                      <a:r>
                        <a:rPr lang="en-US" sz="2000" b="0" i="0" u="none" strike="noStrike" kern="1200" dirty="0">
                          <a:solidFill>
                            <a:srgbClr val="000000"/>
                          </a:solidFill>
                          <a:effectLst/>
                          <a:latin typeface="Calibri" panose="020F0502020204030204" pitchFamily="34" charset="0"/>
                          <a:ea typeface="+mn-ea"/>
                          <a:cs typeface="+mn-cs"/>
                        </a:rPr>
                        <a:t>2</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20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8,000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17,000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84527915"/>
                  </a:ext>
                </a:extLst>
              </a:tr>
              <a:tr h="370840">
                <a:tc>
                  <a:txBody>
                    <a:bodyPr/>
                    <a:lstStyle/>
                    <a:p>
                      <a:pPr algn="r" fontAlgn="b"/>
                      <a:r>
                        <a:rPr lang="en-US" sz="2000" b="0" i="0" u="none" strike="noStrike" kern="1200" dirty="0">
                          <a:solidFill>
                            <a:srgbClr val="000000"/>
                          </a:solidFill>
                          <a:effectLst/>
                          <a:latin typeface="Calibri" panose="020F0502020204030204" pitchFamily="34" charset="0"/>
                          <a:ea typeface="+mn-ea"/>
                          <a:cs typeface="+mn-cs"/>
                        </a:rPr>
                        <a:t>3</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4,200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20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21,200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10835224"/>
                  </a:ext>
                </a:extLst>
              </a:tr>
              <a:tr h="370840">
                <a:tc>
                  <a:txBody>
                    <a:bodyPr/>
                    <a:lstStyle/>
                    <a:p>
                      <a:pPr algn="r" fontAlgn="b"/>
                      <a:r>
                        <a:rPr lang="en-US" sz="2000" b="0" i="0" u="none" strike="noStrike" kern="1200" dirty="0">
                          <a:solidFill>
                            <a:srgbClr val="000000"/>
                          </a:solidFill>
                          <a:effectLst/>
                          <a:latin typeface="Calibri" panose="020F0502020204030204" pitchFamily="34" charset="0"/>
                          <a:ea typeface="+mn-ea"/>
                          <a:cs typeface="+mn-cs"/>
                        </a:rPr>
                        <a:t>9</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7,500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20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28,700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587341039"/>
                  </a:ext>
                </a:extLst>
              </a:tr>
              <a:tr h="370840">
                <a:tc>
                  <a:txBody>
                    <a:bodyPr/>
                    <a:lstStyle/>
                    <a:p>
                      <a:pPr algn="r" fontAlgn="b"/>
                      <a:r>
                        <a:rPr lang="en-US" sz="2000" b="0" i="0" u="none" strike="noStrike" kern="1200" dirty="0">
                          <a:solidFill>
                            <a:srgbClr val="000000"/>
                          </a:solidFill>
                          <a:effectLst/>
                          <a:latin typeface="Calibri" panose="020F0502020204030204" pitchFamily="34" charset="0"/>
                          <a:ea typeface="+mn-ea"/>
                          <a:cs typeface="+mn-cs"/>
                        </a:rPr>
                        <a:t>17</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20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11,700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17,000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323290675"/>
                  </a:ext>
                </a:extLst>
              </a:tr>
              <a:tr h="370840">
                <a:tc>
                  <a:txBody>
                    <a:bodyPr/>
                    <a:lstStyle/>
                    <a:p>
                      <a:pPr algn="r" fontAlgn="b"/>
                      <a:r>
                        <a:rPr lang="en-US" sz="2000" b="0" i="0" u="none" strike="noStrike" kern="1200" dirty="0">
                          <a:solidFill>
                            <a:srgbClr val="000000"/>
                          </a:solidFill>
                          <a:effectLst/>
                          <a:latin typeface="Calibri" panose="020F0502020204030204" pitchFamily="34" charset="0"/>
                          <a:ea typeface="+mn-ea"/>
                          <a:cs typeface="+mn-cs"/>
                        </a:rPr>
                        <a:t>20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20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250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dirty="0"/>
                        <a:t>16,750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545925444"/>
                  </a:ext>
                </a:extLst>
              </a:tr>
              <a:tr h="370840">
                <a:tc>
                  <a:txBody>
                    <a:bodyPr/>
                    <a:lstStyle/>
                    <a:p>
                      <a:pPr algn="r" fontAlgn="b"/>
                      <a:r>
                        <a:rPr lang="en-US" sz="2000" b="0" i="0" u="none" strike="noStrike" kern="1200" dirty="0">
                          <a:solidFill>
                            <a:srgbClr val="000000"/>
                          </a:solidFill>
                          <a:effectLst/>
                          <a:latin typeface="Calibri" panose="020F0502020204030204" pitchFamily="34" charset="0"/>
                          <a:ea typeface="+mn-ea"/>
                          <a:cs typeface="+mn-cs"/>
                        </a:rPr>
                        <a:t>30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US" sz="20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dirty="0"/>
                        <a:t>7,300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dirty="0"/>
                        <a:t>9,450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4996342"/>
                  </a:ext>
                </a:extLst>
              </a:tr>
            </a:tbl>
          </a:graphicData>
        </a:graphic>
      </p:graphicFrame>
      <p:sp>
        <p:nvSpPr>
          <p:cNvPr id="6" name="Slide Number Placeholder 5">
            <a:extLst>
              <a:ext uri="{FF2B5EF4-FFF2-40B4-BE49-F238E27FC236}">
                <a16:creationId xmlns:a16="http://schemas.microsoft.com/office/drawing/2014/main" id="{5CCD7577-109F-45C7-BA2B-9CF01B2B9E16}"/>
              </a:ext>
            </a:extLst>
          </p:cNvPr>
          <p:cNvSpPr>
            <a:spLocks noGrp="1"/>
          </p:cNvSpPr>
          <p:nvPr>
            <p:ph type="sldNum" sz="quarter" idx="10"/>
          </p:nvPr>
        </p:nvSpPr>
        <p:spPr/>
        <p:txBody>
          <a:bodyPr/>
          <a:lstStyle/>
          <a:p>
            <a:fld id="{67B19427-F580-D146-B60E-4CADEE75497F}" type="slidenum">
              <a:rPr lang="en-US" smtClean="0"/>
              <a:pPr/>
              <a:t>18</a:t>
            </a:fld>
            <a:endParaRPr lang="en-US" dirty="0"/>
          </a:p>
        </p:txBody>
      </p:sp>
      <p:sp>
        <p:nvSpPr>
          <p:cNvPr id="7" name="Footer Placeholder 6">
            <a:extLst>
              <a:ext uri="{FF2B5EF4-FFF2-40B4-BE49-F238E27FC236}">
                <a16:creationId xmlns:a16="http://schemas.microsoft.com/office/drawing/2014/main" id="{AF583777-865D-42AF-A378-EFB23E80C2F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052462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D79FF-63C7-4ED4-B293-31F13E97329A}"/>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Ledger </a:t>
            </a:r>
            <a:r>
              <a:rPr lang="en-US" sz="2400" dirty="0">
                <a:latin typeface="Calibri" panose="020F0502020204030204" pitchFamily="34" charset="0"/>
                <a:ea typeface="Source Sans Pro" charset="0"/>
                <a:cs typeface="Calibri" panose="020F0502020204030204" pitchFamily="34" charset="0"/>
              </a:rPr>
              <a:t>(3 of 3)</a:t>
            </a:r>
            <a:endParaRPr lang="en-US" dirty="0"/>
          </a:p>
        </p:txBody>
      </p:sp>
      <p:pic>
        <p:nvPicPr>
          <p:cNvPr id="7" name="Content Placeholder 6" descr="An illustration displays a journal entry. A general journal on the top is numbered J1 on the right title bar. It has five columns titled, date, account titles and explanation, reference, debit, and credit. Row 1: date, 2020 September 1; account titles and explanation, cash; reference, 101; debit, 15,000; credit, blank. Row 2: date, blank; account titles and explanation, owner's capital; reference, 301; debit, blank; credit, 15,000. A general ledger titled cash is numbered No. 101 on the right side of the title bar. It has six columns titled, date, explanation, reference, debit, credit, and balance. Row 1: date, 2020 September 1; explanation, blank; reference, J1; debit, 15,000; credit, blank; balance, 15,000. An illustration of owner's capital is numbered No. 301 on the right side of the title bar. It has six columns titled, date, explanation, reference, debit, credit, and balance. Row: date, 2020 September 1; explanation, blank; reference, J1; debit, blank; credit, 15,000; balance, 15,000.">
            <a:extLst>
              <a:ext uri="{FF2B5EF4-FFF2-40B4-BE49-F238E27FC236}">
                <a16:creationId xmlns:a16="http://schemas.microsoft.com/office/drawing/2014/main" id="{00D86896-3BA7-4BB9-8631-6085817F0F71}"/>
              </a:ext>
            </a:extLst>
          </p:cNvPr>
          <p:cNvPicPr>
            <a:picLocks noGrp="1" noChangeAspect="1"/>
          </p:cNvPicPr>
          <p:nvPr>
            <p:ph sz="quarter" idx="16"/>
          </p:nvPr>
        </p:nvPicPr>
        <p:blipFill>
          <a:blip r:embed="rId2"/>
          <a:stretch>
            <a:fillRect/>
          </a:stretch>
        </p:blipFill>
        <p:spPr>
          <a:xfrm>
            <a:off x="1729361" y="1752600"/>
            <a:ext cx="5685277" cy="4404767"/>
          </a:xfrm>
          <a:prstGeom prst="rect">
            <a:avLst/>
          </a:prstGeom>
        </p:spPr>
      </p:pic>
      <p:sp>
        <p:nvSpPr>
          <p:cNvPr id="5" name="Slide Number Placeholder 4">
            <a:extLst>
              <a:ext uri="{FF2B5EF4-FFF2-40B4-BE49-F238E27FC236}">
                <a16:creationId xmlns:a16="http://schemas.microsoft.com/office/drawing/2014/main" id="{22E2A3DF-77DA-4F60-9F43-C84B8B13CCD7}"/>
              </a:ext>
            </a:extLst>
          </p:cNvPr>
          <p:cNvSpPr>
            <a:spLocks noGrp="1"/>
          </p:cNvSpPr>
          <p:nvPr>
            <p:ph type="sldNum" sz="quarter" idx="10"/>
          </p:nvPr>
        </p:nvSpPr>
        <p:spPr/>
        <p:txBody>
          <a:bodyPr/>
          <a:lstStyle/>
          <a:p>
            <a:fld id="{67B19427-F580-D146-B60E-4CADEE75497F}" type="slidenum">
              <a:rPr lang="en-US" smtClean="0"/>
              <a:pPr/>
              <a:t>19</a:t>
            </a:fld>
            <a:endParaRPr lang="en-US" dirty="0"/>
          </a:p>
        </p:txBody>
      </p:sp>
      <p:sp>
        <p:nvSpPr>
          <p:cNvPr id="6" name="Footer Placeholder 5">
            <a:extLst>
              <a:ext uri="{FF2B5EF4-FFF2-40B4-BE49-F238E27FC236}">
                <a16:creationId xmlns:a16="http://schemas.microsoft.com/office/drawing/2014/main" id="{E071A1E8-F7AB-4249-AD14-6EB367BD7BD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64082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9FF6-8A63-427B-8CD6-F0046D4B90DD}"/>
              </a:ext>
            </a:extLst>
          </p:cNvPr>
          <p:cNvSpPr>
            <a:spLocks noGrp="1"/>
          </p:cNvSpPr>
          <p:nvPr>
            <p:ph type="title"/>
          </p:nvPr>
        </p:nvSpPr>
        <p:spPr>
          <a:xfrm>
            <a:off x="304800" y="762001"/>
            <a:ext cx="8534400" cy="761999"/>
          </a:xfrm>
        </p:spPr>
        <p:txBody>
          <a:bodyPr>
            <a:normAutofit/>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(1 of 10)</a:t>
            </a:r>
            <a:endParaRPr lang="en-US" sz="2400" dirty="0"/>
          </a:p>
        </p:txBody>
      </p:sp>
      <p:sp>
        <p:nvSpPr>
          <p:cNvPr id="3" name="Content Placeholder 2">
            <a:extLst>
              <a:ext uri="{FF2B5EF4-FFF2-40B4-BE49-F238E27FC236}">
                <a16:creationId xmlns:a16="http://schemas.microsoft.com/office/drawing/2014/main" id="{14618AEA-EBE5-458B-B9FF-CC78E7C61144}"/>
              </a:ext>
            </a:extLst>
          </p:cNvPr>
          <p:cNvSpPr>
            <a:spLocks noGrp="1"/>
          </p:cNvSpPr>
          <p:nvPr>
            <p:ph sz="quarter" idx="16"/>
          </p:nvPr>
        </p:nvSpPr>
        <p:spPr>
          <a:xfrm>
            <a:off x="304800" y="1828800"/>
            <a:ext cx="8534400" cy="2971800"/>
          </a:xfrm>
        </p:spPr>
        <p:txBody>
          <a:bodyPr/>
          <a:lstStyle/>
          <a:p>
            <a:r>
              <a:rPr lang="en-US" altLang="en-US" b="1" dirty="0"/>
              <a:t>Follow these steps:</a:t>
            </a:r>
          </a:p>
          <a:p>
            <a:pPr marL="402336" indent="-402336">
              <a:buClr>
                <a:schemeClr val="accent2"/>
              </a:buClr>
              <a:buFont typeface="+mj-lt"/>
              <a:buAutoNum type="arabicPeriod"/>
            </a:pPr>
            <a:r>
              <a:rPr lang="en-US" altLang="en-US" dirty="0"/>
              <a:t>Determine what type of account is involved.</a:t>
            </a:r>
          </a:p>
          <a:p>
            <a:pPr marL="402336" indent="-402336">
              <a:buClr>
                <a:schemeClr val="accent2"/>
              </a:buClr>
              <a:buFont typeface="+mj-lt"/>
              <a:buAutoNum type="arabicPeriod"/>
            </a:pPr>
            <a:r>
              <a:rPr lang="en-US" altLang="en-US" dirty="0"/>
              <a:t>Determine whether the account increased or decreased and by how much.</a:t>
            </a:r>
          </a:p>
          <a:p>
            <a:pPr marL="402336" indent="-402336">
              <a:buClr>
                <a:schemeClr val="accent2"/>
              </a:buClr>
              <a:buFont typeface="+mj-lt"/>
              <a:buAutoNum type="arabicPeriod"/>
            </a:pPr>
            <a:r>
              <a:rPr lang="en-US" altLang="en-US" dirty="0"/>
              <a:t>Translate the increases and decreases into debits and credits.</a:t>
            </a:r>
          </a:p>
        </p:txBody>
      </p:sp>
      <p:sp>
        <p:nvSpPr>
          <p:cNvPr id="4" name="Slide Number Placeholder 3">
            <a:extLst>
              <a:ext uri="{FF2B5EF4-FFF2-40B4-BE49-F238E27FC236}">
                <a16:creationId xmlns:a16="http://schemas.microsoft.com/office/drawing/2014/main" id="{5F90FC57-FF7B-4673-B0C6-9E28F998B7AC}"/>
              </a:ext>
            </a:extLst>
          </p:cNvPr>
          <p:cNvSpPr>
            <a:spLocks noGrp="1"/>
          </p:cNvSpPr>
          <p:nvPr>
            <p:ph type="sldNum" sz="quarter" idx="10"/>
          </p:nvPr>
        </p:nvSpPr>
        <p:spPr/>
        <p:txBody>
          <a:bodyPr/>
          <a:lstStyle/>
          <a:p>
            <a:fld id="{67B19427-F580-D146-B60E-4CADEE75497F}" type="slidenum">
              <a:rPr lang="en-US" smtClean="0"/>
              <a:pPr/>
              <a:t>20</a:t>
            </a:fld>
            <a:endParaRPr lang="en-US" dirty="0"/>
          </a:p>
        </p:txBody>
      </p:sp>
      <p:sp>
        <p:nvSpPr>
          <p:cNvPr id="5" name="Footer Placeholder 4">
            <a:extLst>
              <a:ext uri="{FF2B5EF4-FFF2-40B4-BE49-F238E27FC236}">
                <a16:creationId xmlns:a16="http://schemas.microsoft.com/office/drawing/2014/main" id="{1260893B-DFB0-4072-AAD2-9A02DA4ABDC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298963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(2 of 10)</a:t>
            </a:r>
            <a:endParaRPr lang="en-US" dirty="0"/>
          </a:p>
        </p:txBody>
      </p:sp>
      <p:pic>
        <p:nvPicPr>
          <p:cNvPr id="8" name="Content Placeholder 7" descr="Illustration shows a transaction that reads, on October 1, C R Byrd invests $10,000 cash in an advertising company called Pioneer advertising. The five steps are Basic Analysis, Equation Analysis, Debit-Credit Analysis, Journal Entry, and Posting. The first step is labeled basic analysis. The asset Cash increases $10,000, owner's equity, specifically Owner's capital, increases $10,000. The equation analysis step displays the transaction in account analysis format which begins with the accounting equation expressed as: Assets = Liabilities plus Owner's Equity. Under the Assets section, Cash is displayed as plus $10,000, and no items are shown under Liabilities. Under the Owner's Equity section, Owner's capital is displayed as $10,000. The debit-credit analysis step indicates: Debits increase assets: debit Cash $10,000; and credits increase owner's equity: credit Owner's capital $10,000. The journal entry is displayed in general journal form. The date is displayed as October 1. The debit part of the transaction is recorded by displaying the title, Cash, adjacent to the date in the next column and its amount of 10,000 in the debit column with reference 101. The second part of the transaction is illustrated by displaying the credit title, Owner's capital, slightly indented on the next line with its 10,000 amount in the credit column with reference 301. Finally, the Posting section shows the journal entry posted to the Cash and Owner's capital t-accounts. The Cash t-account name displays the beginning balance dated October 1 in the amount of 10,000 on the left (debit) side. The Owner's capital t-account name displays a single posting on the right (credit) side dated October 1 with the 10,000 posting amount.">
            <a:extLst>
              <a:ext uri="{FF2B5EF4-FFF2-40B4-BE49-F238E27FC236}">
                <a16:creationId xmlns:a16="http://schemas.microsoft.com/office/drawing/2014/main" id="{1CF6247C-9B93-4A24-A70A-23DF28DB95FD}"/>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713765" y="1482893"/>
            <a:ext cx="5716470" cy="4788598"/>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1388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609599"/>
          </a:xfrm>
        </p:spPr>
        <p:txBody>
          <a:bodyPr>
            <a:normAutofit fontScale="90000"/>
          </a:bodyPr>
          <a:lstStyle/>
          <a:p>
            <a:r>
              <a:rPr lang="en-US" sz="4400" b="1" dirty="0">
                <a:latin typeface="Calibri" panose="020F0502020204030204" pitchFamily="34" charset="0"/>
                <a:ea typeface="Source Sans Pro" charset="0"/>
                <a:cs typeface="Calibri" panose="020F0502020204030204" pitchFamily="34" charset="0"/>
              </a:rPr>
              <a:t>The Recording Process Illustrated </a:t>
            </a:r>
            <a:r>
              <a:rPr lang="en-US" sz="2700" dirty="0">
                <a:latin typeface="Calibri" panose="020F0502020204030204" pitchFamily="34" charset="0"/>
                <a:ea typeface="Source Sans Pro" charset="0"/>
                <a:cs typeface="Calibri" panose="020F0502020204030204" pitchFamily="34" charset="0"/>
              </a:rPr>
              <a:t>(3 of 10)</a:t>
            </a:r>
            <a:endParaRPr lang="en-US" sz="2700" dirty="0"/>
          </a:p>
        </p:txBody>
      </p:sp>
      <p:pic>
        <p:nvPicPr>
          <p:cNvPr id="9" name="Content Placeholder 8" descr="Illustration shows a transaction that reads, on October 1, Pioneer purchases office equipment costing $5,000 by signing a 3 month, 12%, $5,000 note payable. The five steps are Basic Analysis, Equation Analysis, Debit-Credit Analysis, Journal Entry, and Posting. The first step is labeled basic analysis. The asset Equipment increases $5,000; the liability notes payable increase $5,000. The equation analysis step displays the transaction in account analysis format which begins with the accounting equation expressed as: Assets = Liabilities plus Owner's Equity. Under the Assets section, Equipment is displayed as plus $5,000, under liabilities section notes payable is displayed as plus $5,000; and no items are shown under Owner's equity. The debit-credit analysis step indicates: Debits increase assets: debit equipment $5,000; and credits increase liability: credit notes payable $5,000. The journal entry is displayed in general journal form. The date is displayed as October 1. The debit part of the transaction is recorded by displaying the title, equipment, adjacent to the date in the next column and its amount of 5,000 in the debit column with reference 157. The second part of the transaction is illustrated by displaying the credit title, notes payable, slightly indented on the next line with its 5,000 amount in the credit column with reference 200. Finally, the Posting section shows the journal entry posted to the Equipment and Notes payable t-accounts. The Equipment t-account name displays the beginning balance dated October 1 in the amount of 5,000 on the left (debit) side. The Notes payable t-account name displays a single posting on the right (credit) side dated October 1 with the 5,000 posting amount.">
            <a:extLst>
              <a:ext uri="{FF2B5EF4-FFF2-40B4-BE49-F238E27FC236}">
                <a16:creationId xmlns:a16="http://schemas.microsoft.com/office/drawing/2014/main" id="{D94D4041-3752-4551-9A91-498829AA4959}"/>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406116" y="1635233"/>
            <a:ext cx="6331769" cy="4578135"/>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22</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84027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(4 of 10)</a:t>
            </a:r>
            <a:endParaRPr lang="en-US" dirty="0"/>
          </a:p>
        </p:txBody>
      </p:sp>
      <p:pic>
        <p:nvPicPr>
          <p:cNvPr id="8" name="Content Placeholder 7" descr="Illustration shows a transaction that reads, on October 2, Pioneer receives $1,200 cash for advertising services that are expected to be completed by December 31. The five steps are Basic Analysis, Equation Analysis, Debit-Credit Analysis, Journal Entry, and Posting. The first step is labeled basic analysis. The asset cash increases $10,200; the liability Unearned Revenue increases $1,200. The equation analysis step displays the transaction in account analysis format which begins with the accounting equation expressed as: Assets = Liabilities plus Owner's Equity. Under the Assets section, Cash is displayed as plus $1,200, under liabilities section Unearned Revenue is displayed as plus $1,200; and no items are shown under Owner's equity. The debit-credit analysis step indicates: Debits increase assets: debit Cash $1,200; and credits increase liability: credit Unearned Revenue $1,200. The journal entry is displayed in general journal form. The date is displayed as October 2. The debit part of the transaction is recorded by displaying the title, Cash, adjacent to the date in the next column and its amount of 1,200 in the debit column with reference 101. The second part of the transaction is illustrated by displaying the credit title, Unearned Revenue, slightly indented on the next line with its 1,200 amount in the credit column with reference 209. Finally, the Posting section shows the journal entry posted to the Cash and Unearned Revenue t-accounts. The Cash t-account name displays the beginning balance dated October 1 in the amount of 10,000; and October 2 in the amount 1,200 on the left (debit) side. The Unearned Revenue t-account name displays a single posting on the right (credit) side dated October 2 with the 1,200 posting amount.">
            <a:extLst>
              <a:ext uri="{FF2B5EF4-FFF2-40B4-BE49-F238E27FC236}">
                <a16:creationId xmlns:a16="http://schemas.microsoft.com/office/drawing/2014/main" id="{2E4D76B7-82BD-46CA-9F14-47A06CDB3219}"/>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955566" y="1517290"/>
            <a:ext cx="5232867" cy="4769570"/>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23</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35266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(5 of 10)</a:t>
            </a:r>
            <a:endParaRPr lang="en-US" dirty="0"/>
          </a:p>
        </p:txBody>
      </p:sp>
      <p:pic>
        <p:nvPicPr>
          <p:cNvPr id="9" name="Content Placeholder 8" descr="Illustration shows a transaction that reads, on October 3, Pioneer pays office rent for October in cash of $900. The five steps are Basic Analysis, Equation Analysis, Debit-Credit Analysis, Journal Entry, and Posting. The first step is labeled basic analysis. The expense account Rent Expense increases $900 the asset Cash decreases $900. The equation analysis step displays the transaction in account analysis format which begins with the accounting equation expressed as: Assets = Liabilities plus Owner's Equity. Under the Assets section, Cash is displayed as negative $900, and no items are shown under Liabilities. Under the Owner's Equity section, Rent Expense is displayed as negative $900. The debit-credit analysis step indicates: Debits increase expenses: debit Rent Expense $900; credits decrease assets: credit cash $900. The journal entry is displayed in general journal form. The date is displayed as October 3. The debit part of the transaction is recorded by displaying the title, Rent Expense, adjacent to the date in the next column and its amount of 900 in the debit column with reference 729. The second part of the transaction is illustrated by displaying the credit title, Cash, slightly indented on the next line with its 900 amount in the credit column with reference 101. Finally, the Posting section shows the journal entry posted to the Cash and Rent Expense t-accounts. The Cash t-account name displays the beginning balance dated October 1 in the amount of 10,000; and October 2 in the amount of 1,200 on the left (debit) side. It displays balance dated October 3 in the amount of 900 on the right (credit) side. The Rent Expense t-account name displays a single posting on the left (debit) side dated October 3 with the 900 posting amount.">
            <a:extLst>
              <a:ext uri="{FF2B5EF4-FFF2-40B4-BE49-F238E27FC236}">
                <a16:creationId xmlns:a16="http://schemas.microsoft.com/office/drawing/2014/main" id="{4E0A8D87-108F-4FD8-BA6A-9551B4224972}"/>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477819" y="1626790"/>
            <a:ext cx="6188362" cy="4636006"/>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24</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4664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2"/>
            <a:ext cx="8534400" cy="732826"/>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(6 of 10)</a:t>
            </a:r>
            <a:endParaRPr lang="en-US" dirty="0"/>
          </a:p>
        </p:txBody>
      </p:sp>
      <p:pic>
        <p:nvPicPr>
          <p:cNvPr id="9" name="Content Placeholder 8" descr="Illustration shows a transaction that reads, on October 4, Pioneer pays $600 for a one year insurance policy that will expire next year on September 30. The five steps are Basic Analysis, Equation Analysis, Debit-Credit Analysis, Journal Entry, and Posting. The first step is labeled basic analysis. The asset Prepaid insurance increases $600 the asset Cash decreases $600. The equation analysis step displays the transaction in account analysis format which begins with the accounting equation expressed as: Assets = Liabilities plus Owner's Equity. Under the Assets section, Cash is displayed as negative $600, and prepaid insurance is displayed as 600. Assets is the sum of cash and prepaid insurance. No items are shown under Liabilities, and owner's equity. The debit-credit analysis step indicates: Debits increase assets: debit prepaid insurance $600; credits decrease assets: credit cash $600. The journal entry is displayed in general journal form. The date is displayed as October 4. The debit part of the transaction is recorded by displaying the title, Prepaid insurance, adjacent to the date in the next column and its amount of 600 in the debit column with reference 130. The second part of the transaction is illustrated by displaying the credit title, Cash, slightly indented on the next line with its 600 amount in the credit column with reference 101. Finally, the Posting section shows the journal entry posted to the Cash and Rent Expense t-accounts. The Cash t-account name displays the beginning balance dated October 1 in the amount of 10,000; and October 2 in the amount of 1,200 on the left (debit) side. It displays balance dated October 3 in the amount of 900; and October 4 in the amount of 600 on the right (credit) side. The Prepaid insurance t-account name displays a single posting on the left (debit) side dated October 4 with the 600 posting amount.">
            <a:extLst>
              <a:ext uri="{FF2B5EF4-FFF2-40B4-BE49-F238E27FC236}">
                <a16:creationId xmlns:a16="http://schemas.microsoft.com/office/drawing/2014/main" id="{CCAB8B61-F25E-4FF0-B69C-03247B108E00}"/>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958537" y="1600200"/>
            <a:ext cx="5226926" cy="4650777"/>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21346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(7 of 10)</a:t>
            </a:r>
            <a:endParaRPr lang="en-US" dirty="0"/>
          </a:p>
        </p:txBody>
      </p:sp>
      <p:pic>
        <p:nvPicPr>
          <p:cNvPr id="9" name="Content Placeholder 8" descr="Illustration shows a transaction that reads, on October 5, Pioneer purchases a 3 - month supply of advertising materials on account from Aero Supply for $2,500. The five steps are Basic Analysis, Equation Analysis, Debit-Credit Analysis, Journal Entry, and Posting. The first step is labeled basic analysis. The asset Supplies increase $2,500 and the liabilities Accounts payable decreases $2,500. The equation analysis step displays the transaction in account analysis format which begins with the accounting equation expressed as: Assets = Liabilities plus Owner's Equity. Under the Assets section, Supplies is displayed as $2,500. Under the liabilities section Accounts Payable is displayed as plus2,500. No items are shown under owner's equity. The debit-credit analysis step indicates: Debits increase assets: debit Supplies $2,500; credits decrease liabilities: credit Accounts payable $2,500. The journal entry is displayed in general journal form. The date is displayed as October 5. The debit part of the transaction is recorded by displaying the title, Supplies, adjacent to the date in the next column and its amount of 2,500 in the debit column with reference 126. The second part of the transaction is illustrated by displaying the credit title, Accounts payable, slightly indented on the next line with its 2,500 amount in the credit column with reference 201. Finally, the Posting section shows the journal entry posted to the Supplies and Accounts payable t-accounts. The Supplies t-account name displays the beginning balance dated October 5 in the amount of 2,500 on the left (debit) side. The Accounts payable t-account name displays a single posting on the left (debit) side dated October 5 with the 2,500 posting amount.">
            <a:extLst>
              <a:ext uri="{FF2B5EF4-FFF2-40B4-BE49-F238E27FC236}">
                <a16:creationId xmlns:a16="http://schemas.microsoft.com/office/drawing/2014/main" id="{B6A53C90-C0CB-4F56-872F-B458F42CD26D}"/>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564049" y="1560657"/>
            <a:ext cx="6015902" cy="4682836"/>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983677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(8 of 10)</a:t>
            </a:r>
            <a:endParaRPr lang="en-US" dirty="0"/>
          </a:p>
        </p:txBody>
      </p:sp>
      <p:pic>
        <p:nvPicPr>
          <p:cNvPr id="9" name="Content Placeholder 8" descr="Illustration shows a transaction that reads, on October 20, C R Byrd withdraws $500 cash from personal use. The five steps are Basic Analysis, Equation Analysis, Debit-Credit Analysis, Journal Entry, and Posting. The first step is the basic analysis. The owner's equity account Owner's Drawings increases $500; the asset cash decreases $500. The equation analysis step displays the transaction in account analysis format which begins with the accounting equation expressed as: Assets = Liabilities plus Owner's Equity. Under the Assets section, Cash is displayed as negative $500, and no items are shown under Liabilities. Under the Owner's Equity section, Owner's Drawings is displayed as negative $500. The debit-credit analysis step indicates: Debits increase drawings: debit Owner's Drawings $500; credits decrease assets: credit cash $500. The journal entry is displayed in general journal form. The date is displayed as October 20. The debit part of the transaction is recorded by displaying the title, Owner's Drawings, adjacent to the date in the next column and its amount of 500 in the debit column with reference 306. The second part of the transaction is illustrated by displaying the credit title, Cash, slightly indented on the next line with its 500 amount in the credit column with reference 101. Finally, the Posting section shows the journal entry posted to the Cash and Owner's Drawings t-accounts. The Cash t-account name displays the beginning balance dated October 1 in the amount of 10,000; and October 2 in the amount of 1,200 on the left (debit) side. It displays balance dated October 3 in the amount of 900; October 4 in the amount of 600; October 20 in the amount of 500 on the right (credit) side. The Owner's Drawings t-account name displays a single posting on the left (debit) side dated October 20 with the 500 posting amount.">
            <a:extLst>
              <a:ext uri="{FF2B5EF4-FFF2-40B4-BE49-F238E27FC236}">
                <a16:creationId xmlns:a16="http://schemas.microsoft.com/office/drawing/2014/main" id="{FE2DCB68-C4F9-4FD1-86CB-79CC7FD1C3BE}"/>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514533" y="1559163"/>
            <a:ext cx="6134042" cy="4685824"/>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27</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79821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(9 of 10)</a:t>
            </a:r>
            <a:endParaRPr lang="en-US" dirty="0"/>
          </a:p>
        </p:txBody>
      </p:sp>
      <p:pic>
        <p:nvPicPr>
          <p:cNvPr id="9" name="Content Placeholder 8" descr="Illustration shows a transaction that reads, on October 26, Pioneer owes employees salaries of $4,000 and pays them in cash(see October 9 event). The five steps are Basic Analysis, Equation Analysis, Debit-Credit Analysis, Journal Entry, and Posting. The first step is the basic analysis: Expense account Salaries and Wages Expense increases $4,000; the asset cash decreases $4,000. The equation analysis step displays the transaction in account analysis format which begins with the accounting equation expressed as: Assets = Liabilities plus Owner's Equity. Under the Assets section, Cash is displayed as negative $4,000, and no items are shown under Liabilities. Under the Owner's Equity section, Salaries and Wages Expense is displayed as negative $4,000. The debit-credit analysis step indicates: Debits increase expenses: debit Salaries and Wages Expenses $4,000; credits decrease assets: credit cash $4,000. The journal entry is displayed in general journal form. The date is displayed as October 26. The debit part of the transaction is recorded by displaying the title, Salaries and Wages Expenses, adjacent to the date in the next column and its amount of 4,000 in the debit column with reference 726. The second part of the transaction is illustrated by displaying the credit title, Cash, slightly indented on the next line with its 4,000 amount in the credit column with reference 101. Finally, the Posting section shows the journal entry posted to the Cash and Salaries and Wages Expenses t-accounts. The Cash t-account name displays the beginning balance dated October 1 in the amount of 10,000; and October 2 in the amount of 1,200 on the left (debit) side. It displays balance dated October 3 in the amount of 900; October 4 in the amount of 600; October 20 in the amount of 500; and October 26 in the amount of 4,000 on the right (credit) side. The Salaries and Wages Expenses t-account name displays a single posting on the left (debit) side dated October 26 with the 4,000 posting amount.">
            <a:extLst>
              <a:ext uri="{FF2B5EF4-FFF2-40B4-BE49-F238E27FC236}">
                <a16:creationId xmlns:a16="http://schemas.microsoft.com/office/drawing/2014/main" id="{2428A3F6-AC9A-40DC-B2EB-63E2083D38CD}"/>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697191" y="1588517"/>
            <a:ext cx="5749619" cy="4671567"/>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28</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2817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11F9E5-EF67-4F21-B04C-86C15E46692B}"/>
              </a:ext>
            </a:extLst>
          </p:cNvPr>
          <p:cNvSpPr>
            <a:spLocks noGrp="1"/>
          </p:cNvSpPr>
          <p:nvPr>
            <p:ph type="title"/>
          </p:nvPr>
        </p:nvSpPr>
        <p:spPr>
          <a:xfrm>
            <a:off x="304800" y="762001"/>
            <a:ext cx="8534400" cy="685799"/>
          </a:xfrm>
        </p:spPr>
        <p:txBody>
          <a:bodyPr/>
          <a:lstStyle/>
          <a:p>
            <a:r>
              <a:rPr lang="en-US" b="1" dirty="0">
                <a:latin typeface="Calibri" panose="020F0502020204030204" pitchFamily="34" charset="0"/>
                <a:ea typeface="Source Sans Pro" charset="0"/>
                <a:cs typeface="Calibri" panose="020F0502020204030204" pitchFamily="34" charset="0"/>
              </a:rPr>
              <a:t>The Recording Process Illustrated </a:t>
            </a:r>
            <a:r>
              <a:rPr lang="en-US" sz="2400" dirty="0">
                <a:latin typeface="Calibri" panose="020F0502020204030204" pitchFamily="34" charset="0"/>
                <a:ea typeface="Source Sans Pro" charset="0"/>
                <a:cs typeface="Calibri" panose="020F0502020204030204" pitchFamily="34" charset="0"/>
              </a:rPr>
              <a:t>(10 of 10)</a:t>
            </a:r>
            <a:endParaRPr lang="en-US" dirty="0"/>
          </a:p>
        </p:txBody>
      </p:sp>
      <p:pic>
        <p:nvPicPr>
          <p:cNvPr id="8" name="Content Placeholder 7" descr="Illustration shows a transaction that reads, on October 31, Pioneer receives $10,000 in cash from Copa company for advertising services performed in October. The five steps are Basic Analysis, Equation Analysis, Debit-Credit Analysis, Journal Entry, and Posting. The first step is the basic analysis: Expense account Salaries and Wages Expense increases $4,000; the asset cash decreases $4,000. The equation analysis step displays the transaction in account analysis format which begins with the accounting equation expressed as: Assets = Liabilities plus Owner's Equity. Under the Assets section, Cash is displayed as plus $10,000, and no items are shown under Liabilities. Under the Owner's Equity section, Service Revenue is displayed as negative $10,000. The debit-credit analysis step indicates: Debits increase assets: debit cash plus $10,000; credits increase revenues: credit Service Revenue $10,000. The journal entry is displayed in general journal form. The date is displayed as October 31. The debit part of the transaction is recorded by displaying the title, Cash, adjacent to the date in the next column and its amount of 10,000 in the debit column with reference 101. The second part of the transaction is illustrated by displaying the credit title, Service Revenue, slightly indented on the next line with its 10,000 amount in the credit column with reference 400. Finally, the Posting section shows the journal entry posted to the Cash and Service Revenue t-accounts. The Cash t-account name displays the beginning balance dated October 1 in the amount of 10,000; October 2 in the amount of 1,200; and October 31 in the amount of 10,000 on the left (debit) side. It displays balance dated October 3 in the amount of 900; October 4 in the amount of 600; October 20 in the amount of 500; and October 31 in the amount of 10,000 on the right (credit) side. The Service Revenue t-account name displays a single posting on the right (credit) side dated October 31 with the 10,000 posting amount.">
            <a:extLst>
              <a:ext uri="{FF2B5EF4-FFF2-40B4-BE49-F238E27FC236}">
                <a16:creationId xmlns:a16="http://schemas.microsoft.com/office/drawing/2014/main" id="{DF5C01A7-B85E-4927-8A69-225DE507FAC9}"/>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801091" y="1600200"/>
            <a:ext cx="5541818" cy="4622382"/>
          </a:xfrm>
        </p:spPr>
      </p:pic>
      <p:sp>
        <p:nvSpPr>
          <p:cNvPr id="4" name="Slide Number Placeholder 3">
            <a:extLst>
              <a:ext uri="{FF2B5EF4-FFF2-40B4-BE49-F238E27FC236}">
                <a16:creationId xmlns:a16="http://schemas.microsoft.com/office/drawing/2014/main" id="{FB5A6029-B947-4A13-8986-163E00B9A47F}"/>
              </a:ext>
            </a:extLst>
          </p:cNvPr>
          <p:cNvSpPr>
            <a:spLocks noGrp="1"/>
          </p:cNvSpPr>
          <p:nvPr>
            <p:ph type="sldNum" sz="quarter" idx="10"/>
          </p:nvPr>
        </p:nvSpPr>
        <p:spPr/>
        <p:txBody>
          <a:bodyPr/>
          <a:lstStyle/>
          <a:p>
            <a:fld id="{67B19427-F580-D146-B60E-4CADEE75497F}" type="slidenum">
              <a:rPr lang="en-US" smtClean="0"/>
              <a:pPr/>
              <a:t>29</a:t>
            </a:fld>
            <a:endParaRPr lang="en-US" dirty="0"/>
          </a:p>
        </p:txBody>
      </p:sp>
      <p:sp>
        <p:nvSpPr>
          <p:cNvPr id="5" name="Footer Placeholder 4">
            <a:extLst>
              <a:ext uri="{FF2B5EF4-FFF2-40B4-BE49-F238E27FC236}">
                <a16:creationId xmlns:a16="http://schemas.microsoft.com/office/drawing/2014/main" id="{C7823EAD-9BC5-41C4-985E-5B777A4CC0B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1524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1A020-7F23-4C3C-8BFD-77715A7C7A46}"/>
              </a:ext>
            </a:extLst>
          </p:cNvPr>
          <p:cNvSpPr>
            <a:spLocks noGrp="1"/>
          </p:cNvSpPr>
          <p:nvPr>
            <p:ph type="title"/>
          </p:nvPr>
        </p:nvSpPr>
        <p:spPr>
          <a:xfrm>
            <a:off x="304800" y="762001"/>
            <a:ext cx="8534400" cy="761999"/>
          </a:xfrm>
        </p:spPr>
        <p:txBody>
          <a:bodyPr>
            <a:normAutofit/>
          </a:bodyPr>
          <a:lstStyle/>
          <a:p>
            <a:r>
              <a:rPr lang="en-US" b="1" dirty="0">
                <a:latin typeface="Calibri" panose="020F0502020204030204" pitchFamily="34" charset="0"/>
                <a:ea typeface="Source Sans Pro" charset="0"/>
                <a:cs typeface="Calibri" panose="020F0502020204030204" pitchFamily="34" charset="0"/>
              </a:rPr>
              <a:t>Journalizing and Posting Summary </a:t>
            </a:r>
            <a:r>
              <a:rPr lang="en-US" sz="2400" dirty="0">
                <a:latin typeface="Calibri" panose="020F0502020204030204" pitchFamily="34" charset="0"/>
                <a:ea typeface="Source Sans Pro" charset="0"/>
                <a:cs typeface="Calibri" panose="020F0502020204030204" pitchFamily="34" charset="0"/>
              </a:rPr>
              <a:t>(1 of 3)</a:t>
            </a:r>
            <a:endParaRPr lang="en-US" dirty="0"/>
          </a:p>
        </p:txBody>
      </p:sp>
      <p:graphicFrame>
        <p:nvGraphicFramePr>
          <p:cNvPr id="6" name="Content Placeholder 5" descr="Table is accessible to screenreaders">
            <a:extLst>
              <a:ext uri="{FF2B5EF4-FFF2-40B4-BE49-F238E27FC236}">
                <a16:creationId xmlns:a16="http://schemas.microsoft.com/office/drawing/2014/main" id="{C44D3CD6-B61C-43AE-93C8-803E3C939537}"/>
              </a:ext>
            </a:extLst>
          </p:cNvPr>
          <p:cNvGraphicFramePr>
            <a:graphicFrameLocks noGrp="1"/>
          </p:cNvGraphicFramePr>
          <p:nvPr>
            <p:ph sz="quarter" idx="16"/>
            <p:extLst>
              <p:ext uri="{D42A27DB-BD31-4B8C-83A1-F6EECF244321}">
                <p14:modId xmlns:p14="http://schemas.microsoft.com/office/powerpoint/2010/main" val="698427261"/>
              </p:ext>
            </p:extLst>
          </p:nvPr>
        </p:nvGraphicFramePr>
        <p:xfrm>
          <a:off x="304800" y="1676400"/>
          <a:ext cx="8534400" cy="449156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478557849"/>
                    </a:ext>
                  </a:extLst>
                </a:gridCol>
                <a:gridCol w="5105400">
                  <a:extLst>
                    <a:ext uri="{9D8B030D-6E8A-4147-A177-3AD203B41FA5}">
                      <a16:colId xmlns:a16="http://schemas.microsoft.com/office/drawing/2014/main" val="4216296292"/>
                    </a:ext>
                  </a:extLst>
                </a:gridCol>
                <a:gridCol w="685800">
                  <a:extLst>
                    <a:ext uri="{9D8B030D-6E8A-4147-A177-3AD203B41FA5}">
                      <a16:colId xmlns:a16="http://schemas.microsoft.com/office/drawing/2014/main" val="955413643"/>
                    </a:ext>
                  </a:extLst>
                </a:gridCol>
                <a:gridCol w="990600">
                  <a:extLst>
                    <a:ext uri="{9D8B030D-6E8A-4147-A177-3AD203B41FA5}">
                      <a16:colId xmlns:a16="http://schemas.microsoft.com/office/drawing/2014/main" val="1194125682"/>
                    </a:ext>
                  </a:extLst>
                </a:gridCol>
                <a:gridCol w="990600">
                  <a:extLst>
                    <a:ext uri="{9D8B030D-6E8A-4147-A177-3AD203B41FA5}">
                      <a16:colId xmlns:a16="http://schemas.microsoft.com/office/drawing/2014/main" val="2874147452"/>
                    </a:ext>
                  </a:extLst>
                </a:gridCol>
              </a:tblGrid>
              <a:tr h="370840">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dirty="0">
                          <a:solidFill>
                            <a:schemeClr val="tx1"/>
                          </a:solidFill>
                          <a:effectLst/>
                        </a:rPr>
                        <a:t>General journal</a:t>
                      </a:r>
                      <a:endParaRPr lang="en-US" sz="1600" b="1" i="0" u="none" strike="noStrike" dirty="0">
                        <a:solidFill>
                          <a:schemeClr val="tx1"/>
                        </a:solidFill>
                        <a:effectLst/>
                        <a:latin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sngStrike" dirty="0">
                          <a:solidFill>
                            <a:schemeClr val="tx1"/>
                          </a:solidFill>
                          <a:effectLst/>
                          <a:latin typeface="+mn-lt"/>
                        </a:rPr>
                        <a:t>Page</a:t>
                      </a:r>
                      <a:r>
                        <a:rPr lang="en-US" sz="1600" b="1" i="0" u="none" strike="sngStrike" baseline="0" dirty="0">
                          <a:solidFill>
                            <a:schemeClr val="tx1"/>
                          </a:solidFill>
                          <a:effectLst/>
                          <a:latin typeface="+mn-lt"/>
                        </a:rPr>
                        <a:t> J1</a:t>
                      </a:r>
                      <a:endParaRPr lang="en-US" sz="1600" b="1" i="0" u="none" strike="sngStrike" dirty="0">
                        <a:solidFill>
                          <a:schemeClr val="tx1"/>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4842171"/>
                  </a:ext>
                </a:extLst>
              </a:tr>
              <a:tr h="218440">
                <a:tc>
                  <a:txBody>
                    <a:bodyPr/>
                    <a:lstStyle/>
                    <a:p>
                      <a:pPr algn="ctr" fontAlgn="b"/>
                      <a:r>
                        <a:rPr lang="en-US" sz="1600" b="1" u="none" strike="noStrike" dirty="0">
                          <a:effectLst/>
                        </a:rPr>
                        <a:t>Date</a:t>
                      </a:r>
                      <a:endParaRPr lang="en-US" sz="1600" b="1" i="0" u="none" strike="noStrike" dirty="0">
                        <a:solidFill>
                          <a:srgbClr val="000000"/>
                        </a:solidFill>
                        <a:effectLst/>
                        <a:latin typeface="Calibri" panose="020F0502020204030204" pitchFamily="34" charset="0"/>
                      </a:endParaRP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u="none" strike="noStrike" dirty="0">
                          <a:effectLst/>
                        </a:rPr>
                        <a:t>Account Titles </a:t>
                      </a:r>
                      <a:r>
                        <a:rPr lang="en-US" sz="1600" b="1" u="none" strike="sngStrike" dirty="0">
                          <a:effectLst/>
                        </a:rPr>
                        <a:t>and Explanation</a:t>
                      </a:r>
                    </a:p>
                  </a:txBody>
                  <a:tcPr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u="none" strike="sngStrike" dirty="0">
                          <a:effectLst/>
                        </a:rPr>
                        <a:t>Ref.</a:t>
                      </a:r>
                      <a:endParaRPr lang="en-US" sz="1600" b="1" i="0" u="none" strike="sngStrike" dirty="0">
                        <a:solidFill>
                          <a:srgbClr val="000000"/>
                        </a:solidFill>
                        <a:effectLst/>
                        <a:latin typeface="Calibri" panose="020F0502020204030204" pitchFamily="34" charset="0"/>
                      </a:endParaRP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u="none" strike="noStrike" dirty="0">
                          <a:effectLst/>
                        </a:rPr>
                        <a:t>Debit</a:t>
                      </a:r>
                      <a:endParaRPr lang="en-US" sz="1600" b="1" i="0" u="none" strike="noStrike" dirty="0">
                        <a:solidFill>
                          <a:srgbClr val="000000"/>
                        </a:solidFill>
                        <a:effectLst/>
                        <a:latin typeface="Calibri" panose="020F0502020204030204" pitchFamily="34" charset="0"/>
                      </a:endParaRP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i="0" u="none" strike="noStrike" dirty="0">
                          <a:solidFill>
                            <a:srgbClr val="000000"/>
                          </a:solidFill>
                          <a:effectLst/>
                          <a:latin typeface="Calibri" panose="020F0502020204030204" pitchFamily="34" charset="0"/>
                        </a:rPr>
                        <a:t>Credit</a:t>
                      </a:r>
                    </a:p>
                  </a:txBody>
                  <a:tcPr marL="4233" marR="4233" marT="9144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9428483"/>
                  </a:ext>
                </a:extLst>
              </a:tr>
              <a:tr h="370840">
                <a:tc>
                  <a:txBody>
                    <a:bodyPr/>
                    <a:lstStyle/>
                    <a:p>
                      <a:pPr algn="r" fontAlgn="b"/>
                      <a:r>
                        <a:rPr lang="en-US" sz="1600" b="0" i="0" u="none" strike="noStrike" baseline="0" dirty="0">
                          <a:solidFill>
                            <a:srgbClr val="000000"/>
                          </a:solidFill>
                          <a:effectLst/>
                          <a:latin typeface="Calibri" panose="020F0502020204030204" pitchFamily="34" charset="0"/>
                        </a:rPr>
                        <a:t>2020</a:t>
                      </a:r>
                    </a:p>
                    <a:p>
                      <a:pPr algn="r" fontAlgn="b"/>
                      <a:r>
                        <a:rPr lang="en-US" sz="1600" b="0" i="0" u="none" strike="noStrike" baseline="0" dirty="0">
                          <a:solidFill>
                            <a:srgbClr val="000000"/>
                          </a:solidFill>
                          <a:effectLst/>
                          <a:latin typeface="Calibri" panose="020F0502020204030204" pitchFamily="34" charset="0"/>
                        </a:rPr>
                        <a:t>Oct. 1</a:t>
                      </a:r>
                      <a:endParaRPr lang="en-US" sz="1600" b="0" i="0" u="none" strike="noStrike" dirty="0">
                        <a:solidFill>
                          <a:srgbClr val="000000"/>
                        </a:solidFill>
                        <a:effectLst/>
                        <a:latin typeface="Calibri" panose="020F0502020204030204" pitchFamily="34" charset="0"/>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600" dirty="0"/>
                        <a:t>Cash</a:t>
                      </a:r>
                    </a:p>
                  </a:txBody>
                  <a:tcPr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b"/>
                      <a:r>
                        <a:rPr lang="en-US" sz="1600" b="0" i="0" u="none" strike="sngStrike">
                          <a:solidFill>
                            <a:srgbClr val="000000"/>
                          </a:solidFill>
                          <a:effectLst/>
                          <a:latin typeface="Calibri" panose="020F0502020204030204" pitchFamily="34" charset="0"/>
                        </a:rPr>
                        <a:t>101</a:t>
                      </a:r>
                      <a:endParaRPr lang="en-US" sz="1600" b="0" i="0" u="none" strike="sng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10,000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203021409"/>
                  </a:ext>
                </a:extLst>
              </a:tr>
              <a:tr h="370840">
                <a:tc>
                  <a:txBody>
                    <a:bodyPr/>
                    <a:lstStyle/>
                    <a:p>
                      <a:endParaRPr lang="en-US" sz="16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457200" lvl="1" indent="0"/>
                      <a:r>
                        <a:rPr lang="en-US" sz="1600" dirty="0"/>
                        <a:t>Owners’ Capital</a:t>
                      </a:r>
                    </a:p>
                    <a:p>
                      <a:pPr marL="628650" lvl="1" indent="0"/>
                      <a:r>
                        <a:rPr lang="en-US" sz="1600" strike="sngStrike" dirty="0"/>
                        <a:t>(Owner’s investment of cash in business)</a:t>
                      </a:r>
                    </a:p>
                  </a:txBody>
                  <a:tcPr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b"/>
                      <a:r>
                        <a:rPr lang="en-US" sz="1600" b="0" i="0" u="none" strike="sngStrike">
                          <a:solidFill>
                            <a:srgbClr val="000000"/>
                          </a:solidFill>
                          <a:effectLst/>
                          <a:latin typeface="Calibri" panose="020F0502020204030204" pitchFamily="34" charset="0"/>
                        </a:rPr>
                        <a:t>301</a:t>
                      </a:r>
                      <a:endParaRPr lang="en-US" sz="1600" b="0" i="0" u="none" strike="sngStrike" dirty="0">
                        <a:solidFill>
                          <a:srgbClr val="000000"/>
                        </a:solidFill>
                        <a:effectLst/>
                        <a:latin typeface="Calibri" panose="020F0502020204030204" pitchFamily="34" charset="0"/>
                      </a:endParaRP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10,000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796348142"/>
                  </a:ext>
                </a:extLst>
              </a:tr>
              <a:tr h="370840">
                <a:tc>
                  <a:txBody>
                    <a:bodyPr/>
                    <a:lstStyle/>
                    <a:p>
                      <a:pPr algn="r"/>
                      <a:r>
                        <a:rPr lang="en-US" sz="1600" dirty="0"/>
                        <a:t>1</a:t>
                      </a: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indent="0"/>
                      <a:r>
                        <a:rPr lang="en-US" sz="1600" kern="1200" dirty="0">
                          <a:solidFill>
                            <a:schemeClr val="dk1"/>
                          </a:solidFill>
                          <a:latin typeface="+mn-lt"/>
                          <a:ea typeface="+mn-ea"/>
                          <a:cs typeface="+mn-cs"/>
                        </a:rPr>
                        <a:t>Equipment</a:t>
                      </a:r>
                    </a:p>
                  </a:txBody>
                  <a:tcPr marR="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b"/>
                      <a:r>
                        <a:rPr lang="en-US" sz="1600" b="0" i="0" u="none" strike="sngStrike">
                          <a:solidFill>
                            <a:srgbClr val="000000"/>
                          </a:solidFill>
                          <a:effectLst/>
                          <a:latin typeface="Calibri" panose="020F0502020204030204" pitchFamily="34" charset="0"/>
                        </a:rPr>
                        <a:t>157</a:t>
                      </a:r>
                      <a:endParaRPr lang="en-US" sz="1600" b="0" i="0" u="none" strike="sngStrike" dirty="0">
                        <a:solidFill>
                          <a:srgbClr val="000000"/>
                        </a:solidFill>
                        <a:effectLst/>
                        <a:latin typeface="Calibri" panose="020F0502020204030204" pitchFamily="34" charset="0"/>
                      </a:endParaRPr>
                    </a:p>
                  </a:txBody>
                  <a:tcPr marL="4233" marR="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5,000</a:t>
                      </a: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95868298"/>
                  </a:ext>
                </a:extLst>
              </a:tr>
              <a:tr h="370840">
                <a:tc>
                  <a:txBody>
                    <a:bodyPr/>
                    <a:lstStyle/>
                    <a:p>
                      <a:pPr algn="r"/>
                      <a:endParaRPr lang="en-US" sz="16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457200" lvl="1" indent="0"/>
                      <a:r>
                        <a:rPr lang="en-US" sz="1600" dirty="0"/>
                        <a:t>Notes Payable</a:t>
                      </a:r>
                    </a:p>
                    <a:p>
                      <a:pPr marL="628650" lvl="1" indent="0"/>
                      <a:r>
                        <a:rPr lang="en-US" sz="1600" strike="sngStrike" dirty="0"/>
                        <a:t>(Issued 3-month, 12% note for office equipment)</a:t>
                      </a:r>
                    </a:p>
                  </a:txBody>
                  <a:tcPr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a:t>200</a:t>
                      </a:r>
                      <a:endParaRPr lang="en-US" sz="1600" strike="sngStrike"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5,000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281838452"/>
                  </a:ext>
                </a:extLst>
              </a:tr>
              <a:tr h="370840">
                <a:tc>
                  <a:txBody>
                    <a:bodyPr/>
                    <a:lstStyle/>
                    <a:p>
                      <a:pPr algn="r"/>
                      <a:r>
                        <a:rPr lang="en-US" sz="1600" dirty="0"/>
                        <a:t>2</a:t>
                      </a: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indent="0"/>
                      <a:r>
                        <a:rPr lang="en-US" sz="1600" dirty="0"/>
                        <a:t>Cash</a:t>
                      </a:r>
                    </a:p>
                  </a:txBody>
                  <a:tcPr marR="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a:t>101</a:t>
                      </a:r>
                      <a:endParaRPr lang="en-US" sz="1600" strike="sngStrike" dirty="0"/>
                    </a:p>
                  </a:txBody>
                  <a:tcPr marL="4233" marR="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1,200</a:t>
                      </a: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28332721"/>
                  </a:ext>
                </a:extLst>
              </a:tr>
              <a:tr h="370840">
                <a:tc>
                  <a:txBody>
                    <a:bodyPr/>
                    <a:lstStyle/>
                    <a:p>
                      <a:pPr algn="r"/>
                      <a:endParaRPr lang="en-US" sz="16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457200" lvl="1" indent="0"/>
                      <a:r>
                        <a:rPr lang="en-US" sz="1600" dirty="0"/>
                        <a:t>Unearned Revenue</a:t>
                      </a:r>
                    </a:p>
                    <a:p>
                      <a:pPr marL="628650" lvl="1" indent="0"/>
                      <a:r>
                        <a:rPr lang="en-US" sz="1600" strike="sngStrike" dirty="0"/>
                        <a:t>(Received cash from R. Knox for future services)</a:t>
                      </a:r>
                    </a:p>
                  </a:txBody>
                  <a:tcPr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a:t>209</a:t>
                      </a:r>
                      <a:endParaRPr lang="en-US" sz="1600" strike="sngStrike" dirty="0"/>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1,200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71390292"/>
                  </a:ext>
                </a:extLst>
              </a:tr>
              <a:tr h="370840">
                <a:tc>
                  <a:txBody>
                    <a:bodyPr/>
                    <a:lstStyle/>
                    <a:p>
                      <a:pPr algn="r"/>
                      <a:r>
                        <a:rPr lang="en-US" sz="1600" dirty="0"/>
                        <a:t>3</a:t>
                      </a: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indent="0"/>
                      <a:r>
                        <a:rPr lang="en-US" sz="1600" dirty="0"/>
                        <a:t>Rent</a:t>
                      </a:r>
                      <a:r>
                        <a:rPr lang="en-US" sz="1600" baseline="0" dirty="0"/>
                        <a:t> Expense</a:t>
                      </a:r>
                      <a:endParaRPr lang="en-US" sz="1600" dirty="0"/>
                    </a:p>
                  </a:txBody>
                  <a:tcPr marR="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a:t>729</a:t>
                      </a:r>
                      <a:endParaRPr lang="en-US" sz="1600" strike="sngStrike" dirty="0"/>
                    </a:p>
                  </a:txBody>
                  <a:tcPr marL="4233" marR="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900</a:t>
                      </a: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18288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44469476"/>
                  </a:ext>
                </a:extLst>
              </a:tr>
              <a:tr h="370840">
                <a:tc>
                  <a:txBody>
                    <a:bodyPr/>
                    <a:lstStyle/>
                    <a:p>
                      <a:pPr algn="r"/>
                      <a:endParaRPr lang="en-US" sz="1600" dirty="0"/>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57200" lvl="1" indent="0"/>
                      <a:r>
                        <a:rPr lang="en-US" sz="1600" dirty="0"/>
                        <a:t>Cash</a:t>
                      </a:r>
                    </a:p>
                    <a:p>
                      <a:pPr marL="628650" lvl="1" indent="0"/>
                      <a:r>
                        <a:rPr lang="en-US" sz="1600" strike="sngStrike" dirty="0"/>
                        <a:t>(Paid cash for October office rent)</a:t>
                      </a:r>
                    </a:p>
                  </a:txBody>
                  <a:tcPr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sngStrike" dirty="0"/>
                        <a:t>101</a:t>
                      </a:r>
                    </a:p>
                  </a:txBody>
                  <a:tcPr marL="4233" marR="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US" sz="1600" kern="1200" dirty="0">
                        <a:solidFill>
                          <a:schemeClr val="dk1"/>
                        </a:solidFill>
                        <a:latin typeface="+mn-lt"/>
                        <a:ea typeface="+mn-ea"/>
                        <a:cs typeface="+mn-cs"/>
                      </a:endParaRP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600" kern="1200" dirty="0">
                          <a:solidFill>
                            <a:schemeClr val="dk1"/>
                          </a:solidFill>
                          <a:latin typeface="+mn-lt"/>
                          <a:ea typeface="+mn-ea"/>
                          <a:cs typeface="+mn-cs"/>
                        </a:rPr>
                        <a:t>900</a:t>
                      </a:r>
                    </a:p>
                  </a:txBody>
                  <a:tcPr marL="4233" marT="42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9923384"/>
                  </a:ext>
                </a:extLst>
              </a:tr>
            </a:tbl>
          </a:graphicData>
        </a:graphic>
      </p:graphicFrame>
      <p:sp>
        <p:nvSpPr>
          <p:cNvPr id="4" name="Slide Number Placeholder 3">
            <a:extLst>
              <a:ext uri="{FF2B5EF4-FFF2-40B4-BE49-F238E27FC236}">
                <a16:creationId xmlns:a16="http://schemas.microsoft.com/office/drawing/2014/main" id="{E8C0B533-07AA-4D8B-8911-7B5E47D9720B}"/>
              </a:ext>
            </a:extLst>
          </p:cNvPr>
          <p:cNvSpPr>
            <a:spLocks noGrp="1"/>
          </p:cNvSpPr>
          <p:nvPr>
            <p:ph type="sldNum" sz="quarter" idx="10"/>
          </p:nvPr>
        </p:nvSpPr>
        <p:spPr/>
        <p:txBody>
          <a:bodyPr/>
          <a:lstStyle/>
          <a:p>
            <a:fld id="{67B19427-F580-D146-B60E-4CADEE75497F}" type="slidenum">
              <a:rPr lang="en-US" smtClean="0"/>
              <a:pPr/>
              <a:t>30</a:t>
            </a:fld>
            <a:endParaRPr lang="en-US" dirty="0"/>
          </a:p>
        </p:txBody>
      </p:sp>
      <p:sp>
        <p:nvSpPr>
          <p:cNvPr id="5" name="Footer Placeholder 4">
            <a:extLst>
              <a:ext uri="{FF2B5EF4-FFF2-40B4-BE49-F238E27FC236}">
                <a16:creationId xmlns:a16="http://schemas.microsoft.com/office/drawing/2014/main" id="{E75B68BA-CB87-4316-A23C-603BC6E5C79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323531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1A020-7F23-4C3C-8BFD-77715A7C7A46}"/>
              </a:ext>
            </a:extLst>
          </p:cNvPr>
          <p:cNvSpPr>
            <a:spLocks noGrp="1"/>
          </p:cNvSpPr>
          <p:nvPr>
            <p:ph type="title"/>
          </p:nvPr>
        </p:nvSpPr>
        <p:spPr>
          <a:xfrm>
            <a:off x="304800" y="554184"/>
            <a:ext cx="8534400" cy="609599"/>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Journalizing and Posting Summary </a:t>
            </a:r>
            <a:r>
              <a:rPr lang="en-US" sz="2400" dirty="0">
                <a:latin typeface="Calibri" panose="020F0502020204030204" pitchFamily="34" charset="0"/>
                <a:ea typeface="Source Sans Pro" charset="0"/>
                <a:cs typeface="Calibri" panose="020F0502020204030204" pitchFamily="34" charset="0"/>
              </a:rPr>
              <a:t>(2 of 3)</a:t>
            </a:r>
            <a:endParaRPr lang="en-US" dirty="0"/>
          </a:p>
        </p:txBody>
      </p:sp>
      <p:graphicFrame>
        <p:nvGraphicFramePr>
          <p:cNvPr id="6" name="Content Placeholder 5" descr="Table is accessible to screenreaders">
            <a:extLst>
              <a:ext uri="{FF2B5EF4-FFF2-40B4-BE49-F238E27FC236}">
                <a16:creationId xmlns:a16="http://schemas.microsoft.com/office/drawing/2014/main" id="{C44D3CD6-B61C-43AE-93C8-803E3C939537}"/>
              </a:ext>
            </a:extLst>
          </p:cNvPr>
          <p:cNvGraphicFramePr>
            <a:graphicFrameLocks noGrp="1"/>
          </p:cNvGraphicFramePr>
          <p:nvPr>
            <p:ph sz="quarter" idx="16"/>
            <p:extLst>
              <p:ext uri="{D42A27DB-BD31-4B8C-83A1-F6EECF244321}">
                <p14:modId xmlns:p14="http://schemas.microsoft.com/office/powerpoint/2010/main" val="1453397137"/>
              </p:ext>
            </p:extLst>
          </p:nvPr>
        </p:nvGraphicFramePr>
        <p:xfrm>
          <a:off x="381000" y="1200727"/>
          <a:ext cx="8534400" cy="5084817"/>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478557849"/>
                    </a:ext>
                  </a:extLst>
                </a:gridCol>
                <a:gridCol w="5257800">
                  <a:extLst>
                    <a:ext uri="{9D8B030D-6E8A-4147-A177-3AD203B41FA5}">
                      <a16:colId xmlns:a16="http://schemas.microsoft.com/office/drawing/2014/main" val="4216296292"/>
                    </a:ext>
                  </a:extLst>
                </a:gridCol>
                <a:gridCol w="838200">
                  <a:extLst>
                    <a:ext uri="{9D8B030D-6E8A-4147-A177-3AD203B41FA5}">
                      <a16:colId xmlns:a16="http://schemas.microsoft.com/office/drawing/2014/main" val="955413643"/>
                    </a:ext>
                  </a:extLst>
                </a:gridCol>
                <a:gridCol w="838200">
                  <a:extLst>
                    <a:ext uri="{9D8B030D-6E8A-4147-A177-3AD203B41FA5}">
                      <a16:colId xmlns:a16="http://schemas.microsoft.com/office/drawing/2014/main" val="1194125682"/>
                    </a:ext>
                  </a:extLst>
                </a:gridCol>
                <a:gridCol w="838200">
                  <a:extLst>
                    <a:ext uri="{9D8B030D-6E8A-4147-A177-3AD203B41FA5}">
                      <a16:colId xmlns:a16="http://schemas.microsoft.com/office/drawing/2014/main" val="2874147452"/>
                    </a:ext>
                  </a:extLst>
                </a:gridCol>
              </a:tblGrid>
              <a:tr h="0">
                <a:tc>
                  <a:txBody>
                    <a:bodyPr/>
                    <a:lstStyle/>
                    <a:p>
                      <a:endParaRPr lang="en-US" sz="1600" dirty="0">
                        <a:solidFill>
                          <a:schemeClr val="tx1"/>
                        </a:solidFill>
                      </a:endParaRPr>
                    </a:p>
                  </a:txBody>
                  <a:tcPr marT="32273" marB="32273">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u="none" strike="noStrike" dirty="0">
                          <a:solidFill>
                            <a:schemeClr val="tx1"/>
                          </a:solidFill>
                          <a:effectLst/>
                        </a:rPr>
                        <a:t>General journal</a:t>
                      </a:r>
                      <a:endParaRPr lang="en-US" sz="1600" b="1" i="0" u="none" strike="noStrike" dirty="0">
                        <a:solidFill>
                          <a:schemeClr val="tx1"/>
                        </a:solidFill>
                        <a:effectLst/>
                        <a:latin typeface="Calibri" panose="020F0502020204030204" pitchFamily="34" charset="0"/>
                      </a:endParaRPr>
                    </a:p>
                  </a:txBody>
                  <a:tcPr marT="32273" marB="322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dirty="0">
                        <a:solidFill>
                          <a:schemeClr val="tx1"/>
                        </a:solidFill>
                      </a:endParaRPr>
                    </a:p>
                  </a:txBody>
                  <a:tcPr marT="32273" marB="322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600" dirty="0">
                        <a:solidFill>
                          <a:schemeClr val="tx1"/>
                        </a:solidFill>
                      </a:endParaRPr>
                    </a:p>
                  </a:txBody>
                  <a:tcPr marT="32273" marB="32273">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u="none" strike="sngStrike" dirty="0">
                          <a:solidFill>
                            <a:schemeClr val="tx1"/>
                          </a:solidFill>
                          <a:effectLst/>
                          <a:latin typeface="+mn-lt"/>
                        </a:rPr>
                        <a:t>Page</a:t>
                      </a:r>
                      <a:r>
                        <a:rPr lang="en-US" sz="1600" b="1" i="0" u="none" strike="sngStrike" baseline="0" dirty="0">
                          <a:solidFill>
                            <a:schemeClr val="tx1"/>
                          </a:solidFill>
                          <a:effectLst/>
                          <a:latin typeface="+mn-lt"/>
                        </a:rPr>
                        <a:t> J1</a:t>
                      </a:r>
                      <a:endParaRPr lang="en-US" sz="1600" b="1" i="0" u="none" strike="sngStrike" dirty="0">
                        <a:solidFill>
                          <a:schemeClr val="tx1"/>
                        </a:solidFill>
                        <a:effectLst/>
                        <a:latin typeface="Calibri" panose="020F0502020204030204" pitchFamily="34" charset="0"/>
                      </a:endParaRPr>
                    </a:p>
                  </a:txBody>
                  <a:tcPr marT="32273" marB="322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4842171"/>
                  </a:ext>
                </a:extLst>
              </a:tr>
              <a:tr h="157593">
                <a:tc>
                  <a:txBody>
                    <a:bodyPr/>
                    <a:lstStyle/>
                    <a:p>
                      <a:pPr algn="ctr" fontAlgn="b"/>
                      <a:r>
                        <a:rPr lang="en-US" sz="1600" b="1" u="none" strike="noStrike" dirty="0">
                          <a:solidFill>
                            <a:schemeClr val="tx1"/>
                          </a:solidFill>
                          <a:effectLst/>
                        </a:rPr>
                        <a:t>Date</a:t>
                      </a:r>
                      <a:endParaRPr lang="en-US" sz="1600" b="1" i="0" u="none" strike="noStrike" dirty="0">
                        <a:solidFill>
                          <a:schemeClr val="tx1"/>
                        </a:solidFill>
                        <a:effectLst/>
                        <a:latin typeface="Calibri" panose="020F0502020204030204" pitchFamily="34" charset="0"/>
                      </a:endParaRPr>
                    </a:p>
                  </a:txBody>
                  <a:tcPr marL="4233" marR="4233" marT="64550" marB="32273"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u="none" strike="noStrike" dirty="0">
                          <a:effectLst/>
                        </a:rPr>
                        <a:t>Account Titles </a:t>
                      </a:r>
                      <a:r>
                        <a:rPr lang="en-US" sz="1600" b="1" u="none" strike="sngStrike" dirty="0">
                          <a:effectLst/>
                        </a:rPr>
                        <a:t>and Explanation</a:t>
                      </a:r>
                    </a:p>
                  </a:txBody>
                  <a:tcPr marR="4233" marT="64550" marB="32273"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u="none" strike="sngStrike" dirty="0">
                          <a:solidFill>
                            <a:schemeClr val="tx1"/>
                          </a:solidFill>
                          <a:effectLst/>
                        </a:rPr>
                        <a:t>Ref.</a:t>
                      </a:r>
                      <a:endParaRPr lang="en-US" sz="1600" b="1" i="0" u="none" strike="sngStrike" dirty="0">
                        <a:solidFill>
                          <a:schemeClr val="tx1"/>
                        </a:solidFill>
                        <a:effectLst/>
                        <a:latin typeface="Calibri" panose="020F0502020204030204" pitchFamily="34" charset="0"/>
                      </a:endParaRPr>
                    </a:p>
                  </a:txBody>
                  <a:tcPr marL="4233" marR="4233" marT="64550" marB="32273"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u="none" strike="noStrike" dirty="0">
                          <a:solidFill>
                            <a:schemeClr val="tx1"/>
                          </a:solidFill>
                          <a:effectLst/>
                        </a:rPr>
                        <a:t>Debit</a:t>
                      </a:r>
                      <a:endParaRPr lang="en-US" sz="1600" b="1" i="0" u="none" strike="noStrike" dirty="0">
                        <a:solidFill>
                          <a:schemeClr val="tx1"/>
                        </a:solidFill>
                        <a:effectLst/>
                        <a:latin typeface="Calibri" panose="020F0502020204030204" pitchFamily="34" charset="0"/>
                      </a:endParaRPr>
                    </a:p>
                  </a:txBody>
                  <a:tcPr marL="4233" marR="4233" marT="64550" marB="32273"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600" b="1" i="0" u="none" strike="noStrike" dirty="0">
                          <a:solidFill>
                            <a:schemeClr val="tx1"/>
                          </a:solidFill>
                          <a:effectLst/>
                          <a:latin typeface="Calibri" panose="020F0502020204030204" pitchFamily="34" charset="0"/>
                        </a:rPr>
                        <a:t>Credit</a:t>
                      </a:r>
                    </a:p>
                  </a:txBody>
                  <a:tcPr marL="4233" marR="4233" marT="64550" marB="32273"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9428483"/>
                  </a:ext>
                </a:extLst>
              </a:tr>
              <a:tr h="310644">
                <a:tc>
                  <a:txBody>
                    <a:bodyPr/>
                    <a:lstStyle/>
                    <a:p>
                      <a:pPr algn="r" fontAlgn="b"/>
                      <a:r>
                        <a:rPr lang="en-US" sz="1600" b="0" i="0" u="none" strike="noStrike" baseline="0" dirty="0">
                          <a:solidFill>
                            <a:schemeClr val="tx1"/>
                          </a:solidFill>
                          <a:effectLst/>
                          <a:latin typeface="Calibri" panose="020F0502020204030204" pitchFamily="34" charset="0"/>
                        </a:rPr>
                        <a:t>2020</a:t>
                      </a:r>
                    </a:p>
                    <a:p>
                      <a:pPr algn="r" fontAlgn="b"/>
                      <a:r>
                        <a:rPr lang="en-US" sz="1600" b="0" i="0" u="none" strike="noStrike" baseline="0" dirty="0">
                          <a:solidFill>
                            <a:schemeClr val="tx1"/>
                          </a:solidFill>
                          <a:effectLst/>
                          <a:latin typeface="Calibri" panose="020F0502020204030204" pitchFamily="34" charset="0"/>
                        </a:rPr>
                        <a:t>Oct. 4</a:t>
                      </a:r>
                      <a:endParaRPr lang="en-US" sz="1600" b="0" i="0" u="none" strike="noStrike" dirty="0">
                        <a:solidFill>
                          <a:schemeClr val="tx1"/>
                        </a:solidFill>
                        <a:effectLst/>
                        <a:latin typeface="Calibri" panose="020F0502020204030204" pitchFamily="34" charset="0"/>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600" dirty="0">
                          <a:solidFill>
                            <a:schemeClr val="tx1"/>
                          </a:solidFill>
                        </a:rPr>
                        <a:t>Prepaid Insurance</a:t>
                      </a:r>
                    </a:p>
                  </a:txBody>
                  <a:tcPr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b"/>
                      <a:r>
                        <a:rPr lang="en-US" sz="1600" b="0" i="0" u="none" strike="sngStrike" dirty="0">
                          <a:solidFill>
                            <a:schemeClr val="tx1"/>
                          </a:solidFill>
                          <a:effectLst/>
                          <a:latin typeface="Calibri" panose="020F0502020204030204" pitchFamily="34" charset="0"/>
                        </a:rPr>
                        <a:t>130</a:t>
                      </a:r>
                    </a:p>
                  </a:txBody>
                  <a:tcPr marL="4233"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600</a:t>
                      </a: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203021409"/>
                  </a:ext>
                </a:extLst>
              </a:tr>
              <a:tr h="304772">
                <a:tc>
                  <a:txBody>
                    <a:bodyPr/>
                    <a:lstStyle/>
                    <a:p>
                      <a:endParaRPr lang="en-US" sz="1600" dirty="0">
                        <a:solidFill>
                          <a:schemeClr val="tx1"/>
                        </a:solidFill>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457200" lvl="1" indent="0"/>
                      <a:r>
                        <a:rPr lang="en-US" sz="1600" dirty="0">
                          <a:solidFill>
                            <a:schemeClr val="tx1"/>
                          </a:solidFill>
                        </a:rPr>
                        <a:t>Cash</a:t>
                      </a:r>
                    </a:p>
                    <a:p>
                      <a:pPr marL="457200" lvl="1" indent="171450"/>
                      <a:r>
                        <a:rPr lang="en-US" sz="1600" strike="sngStrike" dirty="0">
                          <a:solidFill>
                            <a:schemeClr val="tx1"/>
                          </a:solidFill>
                        </a:rPr>
                        <a:t>(Paid one-year policy; effective date October 1)</a:t>
                      </a:r>
                    </a:p>
                  </a:txBody>
                  <a:tcPr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b"/>
                      <a:r>
                        <a:rPr lang="en-US" sz="1600" b="0" i="0" u="none" strike="sngStrike" dirty="0">
                          <a:solidFill>
                            <a:schemeClr val="tx1"/>
                          </a:solidFill>
                          <a:effectLst/>
                          <a:latin typeface="Calibri" panose="020F0502020204030204" pitchFamily="34" charset="0"/>
                        </a:rPr>
                        <a:t>101</a:t>
                      </a:r>
                    </a:p>
                  </a:txBody>
                  <a:tcPr marL="4233"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600</a:t>
                      </a: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796348142"/>
                  </a:ext>
                </a:extLst>
              </a:tr>
              <a:tr h="0">
                <a:tc>
                  <a:txBody>
                    <a:bodyPr/>
                    <a:lstStyle/>
                    <a:p>
                      <a:pPr algn="r"/>
                      <a:r>
                        <a:rPr lang="en-US" sz="1600" dirty="0">
                          <a:solidFill>
                            <a:schemeClr val="tx1"/>
                          </a:solidFill>
                        </a:rPr>
                        <a:t>5</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indent="0"/>
                      <a:r>
                        <a:rPr lang="en-US" sz="1600" kern="1200" dirty="0">
                          <a:solidFill>
                            <a:schemeClr val="tx1"/>
                          </a:solidFill>
                          <a:latin typeface="+mn-lt"/>
                          <a:ea typeface="+mn-ea"/>
                          <a:cs typeface="+mn-cs"/>
                        </a:rPr>
                        <a:t>Supplies</a:t>
                      </a:r>
                    </a:p>
                  </a:txBody>
                  <a:tcPr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b"/>
                      <a:r>
                        <a:rPr lang="en-US" sz="1600" b="0" i="0" u="none" strike="sngStrike" dirty="0">
                          <a:solidFill>
                            <a:schemeClr val="tx1"/>
                          </a:solidFill>
                          <a:effectLst/>
                          <a:latin typeface="Calibri" panose="020F0502020204030204" pitchFamily="34" charset="0"/>
                        </a:rPr>
                        <a:t>126</a:t>
                      </a:r>
                    </a:p>
                  </a:txBody>
                  <a:tcPr marL="4233"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2,500</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95868298"/>
                  </a:ext>
                </a:extLst>
              </a:tr>
              <a:tr h="304772">
                <a:tc>
                  <a:txBody>
                    <a:bodyPr/>
                    <a:lstStyle/>
                    <a:p>
                      <a:pPr algn="r"/>
                      <a:endParaRPr lang="en-US" sz="1600" dirty="0">
                        <a:solidFill>
                          <a:schemeClr val="tx1"/>
                        </a:solidFill>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457200" lvl="1" indent="0"/>
                      <a:r>
                        <a:rPr lang="en-US" sz="1600" dirty="0">
                          <a:solidFill>
                            <a:schemeClr val="tx1"/>
                          </a:solidFill>
                        </a:rPr>
                        <a:t>Accounts Payable</a:t>
                      </a:r>
                    </a:p>
                    <a:p>
                      <a:pPr marL="457200" lvl="1" indent="171450"/>
                      <a:r>
                        <a:rPr lang="en-US" sz="1600" strike="sngStrike" dirty="0">
                          <a:solidFill>
                            <a:schemeClr val="tx1"/>
                          </a:solidFill>
                        </a:rPr>
                        <a:t>(Purchased supplies on account from Aero Supply)</a:t>
                      </a:r>
                    </a:p>
                  </a:txBody>
                  <a:tcPr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dirty="0">
                          <a:solidFill>
                            <a:schemeClr val="tx1"/>
                          </a:solidFill>
                        </a:rPr>
                        <a:t>201</a:t>
                      </a:r>
                    </a:p>
                  </a:txBody>
                  <a:tcPr marL="4233"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2,500</a:t>
                      </a: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281838452"/>
                  </a:ext>
                </a:extLst>
              </a:tr>
              <a:tr h="0">
                <a:tc>
                  <a:txBody>
                    <a:bodyPr/>
                    <a:lstStyle/>
                    <a:p>
                      <a:pPr algn="r"/>
                      <a:r>
                        <a:rPr lang="en-US" sz="1600" dirty="0">
                          <a:solidFill>
                            <a:schemeClr val="tx1"/>
                          </a:solidFill>
                        </a:rPr>
                        <a:t>20</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indent="0"/>
                      <a:r>
                        <a:rPr lang="en-US" sz="1600" dirty="0">
                          <a:solidFill>
                            <a:schemeClr val="tx1"/>
                          </a:solidFill>
                        </a:rPr>
                        <a:t>Owner’s Drawings</a:t>
                      </a:r>
                    </a:p>
                  </a:txBody>
                  <a:tcPr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dirty="0">
                          <a:solidFill>
                            <a:schemeClr val="tx1"/>
                          </a:solidFill>
                        </a:rPr>
                        <a:t>306</a:t>
                      </a:r>
                    </a:p>
                  </a:txBody>
                  <a:tcPr marL="4233"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500</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28332721"/>
                  </a:ext>
                </a:extLst>
              </a:tr>
              <a:tr h="304772">
                <a:tc>
                  <a:txBody>
                    <a:bodyPr/>
                    <a:lstStyle/>
                    <a:p>
                      <a:pPr algn="r"/>
                      <a:endParaRPr lang="en-US" sz="1600" dirty="0">
                        <a:solidFill>
                          <a:schemeClr val="tx1"/>
                        </a:solidFill>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457200" lvl="1" indent="0"/>
                      <a:r>
                        <a:rPr lang="en-US" sz="1600" dirty="0">
                          <a:solidFill>
                            <a:schemeClr val="tx1"/>
                          </a:solidFill>
                        </a:rPr>
                        <a:t>Cash</a:t>
                      </a:r>
                    </a:p>
                    <a:p>
                      <a:pPr marL="457200" lvl="1" indent="171450"/>
                      <a:r>
                        <a:rPr lang="en-US" sz="1600" strike="sngStrike" dirty="0">
                          <a:solidFill>
                            <a:schemeClr val="tx1"/>
                          </a:solidFill>
                        </a:rPr>
                        <a:t>(Withdrew cash for personal use)</a:t>
                      </a:r>
                    </a:p>
                  </a:txBody>
                  <a:tcPr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dirty="0">
                          <a:solidFill>
                            <a:schemeClr val="tx1"/>
                          </a:solidFill>
                        </a:rPr>
                        <a:t>101</a:t>
                      </a:r>
                    </a:p>
                  </a:txBody>
                  <a:tcPr marL="4233"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500</a:t>
                      </a: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71390292"/>
                  </a:ext>
                </a:extLst>
              </a:tr>
              <a:tr h="0">
                <a:tc>
                  <a:txBody>
                    <a:bodyPr/>
                    <a:lstStyle/>
                    <a:p>
                      <a:pPr algn="r"/>
                      <a:r>
                        <a:rPr lang="en-US" sz="1600" dirty="0">
                          <a:solidFill>
                            <a:schemeClr val="tx1"/>
                          </a:solidFill>
                        </a:rPr>
                        <a:t>26</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indent="0"/>
                      <a:r>
                        <a:rPr lang="en-US" sz="1600" dirty="0">
                          <a:solidFill>
                            <a:schemeClr val="tx1"/>
                          </a:solidFill>
                        </a:rPr>
                        <a:t>Salaries and Wages Expense</a:t>
                      </a:r>
                    </a:p>
                  </a:txBody>
                  <a:tcPr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dirty="0">
                          <a:solidFill>
                            <a:schemeClr val="tx1"/>
                          </a:solidFill>
                        </a:rPr>
                        <a:t>726</a:t>
                      </a:r>
                    </a:p>
                  </a:txBody>
                  <a:tcPr marL="4233"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4,000</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44469476"/>
                  </a:ext>
                </a:extLst>
              </a:tr>
              <a:tr h="304772">
                <a:tc>
                  <a:txBody>
                    <a:bodyPr/>
                    <a:lstStyle/>
                    <a:p>
                      <a:pPr algn="r"/>
                      <a:endParaRPr lang="en-US" sz="1600" dirty="0">
                        <a:solidFill>
                          <a:schemeClr val="tx1"/>
                        </a:solidFill>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457200" lvl="1" indent="0"/>
                      <a:r>
                        <a:rPr lang="en-US" sz="1600" dirty="0">
                          <a:solidFill>
                            <a:schemeClr val="tx1"/>
                          </a:solidFill>
                        </a:rPr>
                        <a:t>Cash</a:t>
                      </a:r>
                    </a:p>
                    <a:p>
                      <a:pPr marL="457200" lvl="1" indent="171450"/>
                      <a:r>
                        <a:rPr lang="en-US" sz="1600" strike="sngStrike" dirty="0">
                          <a:solidFill>
                            <a:schemeClr val="tx1"/>
                          </a:solidFill>
                        </a:rPr>
                        <a:t>(Paid salaries to date)</a:t>
                      </a:r>
                    </a:p>
                  </a:txBody>
                  <a:tcPr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dirty="0">
                          <a:solidFill>
                            <a:schemeClr val="tx1"/>
                          </a:solidFill>
                        </a:rPr>
                        <a:t>101</a:t>
                      </a:r>
                    </a:p>
                  </a:txBody>
                  <a:tcPr marL="4233"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4,000</a:t>
                      </a: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949923384"/>
                  </a:ext>
                </a:extLst>
              </a:tr>
              <a:tr h="0">
                <a:tc>
                  <a:txBody>
                    <a:bodyPr/>
                    <a:lstStyle/>
                    <a:p>
                      <a:pPr algn="r"/>
                      <a:r>
                        <a:rPr lang="en-US" sz="1600" dirty="0">
                          <a:solidFill>
                            <a:schemeClr val="tx1"/>
                          </a:solidFill>
                        </a:rPr>
                        <a:t>31</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lvl="1" indent="0"/>
                      <a:r>
                        <a:rPr lang="en-US" sz="1600" dirty="0">
                          <a:solidFill>
                            <a:schemeClr val="tx1"/>
                          </a:solidFill>
                        </a:rPr>
                        <a:t>Cash</a:t>
                      </a:r>
                    </a:p>
                  </a:txBody>
                  <a:tcPr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a:r>
                        <a:rPr lang="en-US" sz="1600" strike="sngStrike" dirty="0">
                          <a:solidFill>
                            <a:schemeClr val="tx1"/>
                          </a:solidFill>
                        </a:rPr>
                        <a:t>101</a:t>
                      </a:r>
                    </a:p>
                  </a:txBody>
                  <a:tcPr marL="4233" marR="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10,000</a:t>
                      </a: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12909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304880769"/>
                  </a:ext>
                </a:extLst>
              </a:tr>
              <a:tr h="304772">
                <a:tc>
                  <a:txBody>
                    <a:bodyPr/>
                    <a:lstStyle/>
                    <a:p>
                      <a:pPr algn="r"/>
                      <a:endParaRPr lang="en-US" sz="1600" dirty="0">
                        <a:solidFill>
                          <a:schemeClr val="tx1"/>
                        </a:solidFill>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57200" lvl="1" indent="0"/>
                      <a:r>
                        <a:rPr lang="en-US" sz="1600" dirty="0">
                          <a:solidFill>
                            <a:schemeClr val="tx1"/>
                          </a:solidFill>
                        </a:rPr>
                        <a:t>Service</a:t>
                      </a:r>
                      <a:r>
                        <a:rPr lang="en-US" sz="1600" baseline="0" dirty="0">
                          <a:solidFill>
                            <a:schemeClr val="tx1"/>
                          </a:solidFill>
                        </a:rPr>
                        <a:t> Revenue</a:t>
                      </a:r>
                    </a:p>
                    <a:p>
                      <a:pPr marL="457200" lvl="1" indent="171450"/>
                      <a:r>
                        <a:rPr lang="en-US" sz="1600" b="0" i="0" u="none" strike="sngStrike" kern="1200" baseline="0" dirty="0">
                          <a:solidFill>
                            <a:schemeClr val="dk1"/>
                          </a:solidFill>
                          <a:latin typeface="+mn-lt"/>
                          <a:ea typeface="+mn-ea"/>
                          <a:cs typeface="+mn-cs"/>
                        </a:rPr>
                        <a:t>(Received cash for services performed)</a:t>
                      </a:r>
                      <a:endParaRPr lang="en-US" sz="1600" strike="sngStrike" dirty="0">
                        <a:solidFill>
                          <a:schemeClr val="tx1"/>
                        </a:solidFill>
                      </a:endParaRPr>
                    </a:p>
                  </a:txBody>
                  <a:tcPr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sngStrike" dirty="0">
                          <a:solidFill>
                            <a:schemeClr val="tx1"/>
                          </a:solidFill>
                        </a:rPr>
                        <a:t>400</a:t>
                      </a:r>
                    </a:p>
                  </a:txBody>
                  <a:tcPr marL="4233" marR="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endParaRPr lang="en-US" sz="1600" kern="1200" dirty="0">
                        <a:solidFill>
                          <a:schemeClr val="tx1"/>
                        </a:solidFill>
                        <a:latin typeface="+mn-lt"/>
                        <a:ea typeface="+mn-ea"/>
                        <a:cs typeface="+mn-cs"/>
                      </a:endParaRP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600" kern="1200" dirty="0">
                          <a:solidFill>
                            <a:schemeClr val="tx1"/>
                          </a:solidFill>
                          <a:latin typeface="+mn-lt"/>
                          <a:ea typeface="+mn-ea"/>
                          <a:cs typeface="+mn-cs"/>
                        </a:rPr>
                        <a:t>10,000</a:t>
                      </a:r>
                    </a:p>
                  </a:txBody>
                  <a:tcPr marL="4233" marT="299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6043417"/>
                  </a:ext>
                </a:extLst>
              </a:tr>
            </a:tbl>
          </a:graphicData>
        </a:graphic>
      </p:graphicFrame>
      <p:sp>
        <p:nvSpPr>
          <p:cNvPr id="4" name="Slide Number Placeholder 3">
            <a:extLst>
              <a:ext uri="{FF2B5EF4-FFF2-40B4-BE49-F238E27FC236}">
                <a16:creationId xmlns:a16="http://schemas.microsoft.com/office/drawing/2014/main" id="{E8C0B533-07AA-4D8B-8911-7B5E47D9720B}"/>
              </a:ext>
            </a:extLst>
          </p:cNvPr>
          <p:cNvSpPr>
            <a:spLocks noGrp="1"/>
          </p:cNvSpPr>
          <p:nvPr>
            <p:ph type="sldNum" sz="quarter" idx="10"/>
          </p:nvPr>
        </p:nvSpPr>
        <p:spPr/>
        <p:txBody>
          <a:bodyPr/>
          <a:lstStyle/>
          <a:p>
            <a:fld id="{67B19427-F580-D146-B60E-4CADEE75497F}" type="slidenum">
              <a:rPr lang="en-US" smtClean="0"/>
              <a:pPr/>
              <a:t>31</a:t>
            </a:fld>
            <a:endParaRPr lang="en-US" dirty="0"/>
          </a:p>
        </p:txBody>
      </p:sp>
      <p:sp>
        <p:nvSpPr>
          <p:cNvPr id="5" name="Footer Placeholder 4">
            <a:extLst>
              <a:ext uri="{FF2B5EF4-FFF2-40B4-BE49-F238E27FC236}">
                <a16:creationId xmlns:a16="http://schemas.microsoft.com/office/drawing/2014/main" id="{E75B68BA-CB87-4316-A23C-603BC6E5C79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92558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9E63-55FF-42AC-B27A-ECD5C04C8037}"/>
              </a:ext>
            </a:extLst>
          </p:cNvPr>
          <p:cNvSpPr>
            <a:spLocks noGrp="1"/>
          </p:cNvSpPr>
          <p:nvPr>
            <p:ph type="title"/>
          </p:nvPr>
        </p:nvSpPr>
        <p:spPr>
          <a:xfrm>
            <a:off x="304800" y="614997"/>
            <a:ext cx="7772400" cy="228599"/>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Journalizing and Posting Summary </a:t>
            </a:r>
            <a:r>
              <a:rPr lang="en-US" sz="2400" dirty="0">
                <a:latin typeface="Calibri" panose="020F0502020204030204" pitchFamily="34" charset="0"/>
                <a:ea typeface="Source Sans Pro" charset="0"/>
                <a:cs typeface="Calibri" panose="020F0502020204030204" pitchFamily="34" charset="0"/>
              </a:rPr>
              <a:t>(3 of 3)</a:t>
            </a:r>
            <a:endParaRPr lang="en-US" dirty="0"/>
          </a:p>
        </p:txBody>
      </p:sp>
      <p:sp>
        <p:nvSpPr>
          <p:cNvPr id="5" name="Slide Number Placeholder 4">
            <a:extLst>
              <a:ext uri="{FF2B5EF4-FFF2-40B4-BE49-F238E27FC236}">
                <a16:creationId xmlns:a16="http://schemas.microsoft.com/office/drawing/2014/main" id="{1B572DBA-F752-4C89-946A-E6F5982EA971}"/>
              </a:ext>
            </a:extLst>
          </p:cNvPr>
          <p:cNvSpPr>
            <a:spLocks noGrp="1"/>
          </p:cNvSpPr>
          <p:nvPr>
            <p:ph type="sldNum" sz="quarter" idx="10"/>
          </p:nvPr>
        </p:nvSpPr>
        <p:spPr/>
        <p:txBody>
          <a:bodyPr/>
          <a:lstStyle/>
          <a:p>
            <a:fld id="{67B19427-F580-D146-B60E-4CADEE75497F}" type="slidenum">
              <a:rPr lang="en-US" smtClean="0"/>
              <a:pPr/>
              <a:t>32</a:t>
            </a:fld>
            <a:endParaRPr lang="en-US" dirty="0"/>
          </a:p>
        </p:txBody>
      </p:sp>
      <p:sp>
        <p:nvSpPr>
          <p:cNvPr id="6" name="Footer Placeholder 5">
            <a:extLst>
              <a:ext uri="{FF2B5EF4-FFF2-40B4-BE49-F238E27FC236}">
                <a16:creationId xmlns:a16="http://schemas.microsoft.com/office/drawing/2014/main" id="{CF68635A-9318-463E-BA5F-4A4DCC120ED1}"/>
              </a:ext>
            </a:extLst>
          </p:cNvPr>
          <p:cNvSpPr>
            <a:spLocks noGrp="1"/>
          </p:cNvSpPr>
          <p:nvPr>
            <p:ph type="ftr" sz="quarter" idx="11"/>
          </p:nvPr>
        </p:nvSpPr>
        <p:spPr/>
        <p:txBody>
          <a:bodyPr/>
          <a:lstStyle/>
          <a:p>
            <a:r>
              <a:rPr lang="en-US"/>
              <a:t>Copyright ©2018 John Wiley &amp; Sons, Inc. </a:t>
            </a:r>
            <a:endParaRPr lang="en-US" dirty="0"/>
          </a:p>
        </p:txBody>
      </p:sp>
      <p:pic>
        <p:nvPicPr>
          <p:cNvPr id="8" name="Content Placeholder 6" descr="An illustration displays a general ledger. It has two columns. The first column contains five general ledgers titled, cash, supplies, prepaid insurance, equipment, and notes payable. The second column contains seven general ledgers titled, accounts payable, service revenue, owner's capital, owner's drawings, service revenue, salaries and wages expense, and rent expense. Each general ledger contains six columns titled, date, explanation, reference, debit, credit, and balance. Explanation is left blank for all ledgers. The content of the general ledger titled cash numbered 101 is as follows: Row 1: Date, 2020 October 1. Reference, J1. Debit, 10,000. Credit, blank. Balance, 10,000. Row 2: Date, October 2. Reference, J1. Debit, 1,200. Credit, blank, Balance, 11,200. Row 3: Date, October 3. Reference, J1. Debit, blank. Credit, 900. Balance, 10,300. Row 4: Date, October 4. Reference, J1. Debit, blank. Credit, 600. Balance, 9,700. Row 5: Date, October 20. Reference, J1. Debit, blank. Credit, 500. Balance, 9,200. Row 6: Date, October 26. Reference, J1. Debit, blank. Credit, 4,000. Balance, 5,200. Row 7: Date, October 31. Reference, J1. Debit, 10,000. Credit, blank. Balance, 15,200, displayed in red font. The content of the general ledger titled supplies numbered 126 is as follows: Row 1: Date, 2020 October 5. Reference, J1. Debit, 2,500. Credit, blank. Balance, 2,500 displayed in red font. The content of the general ledger titled prepaid insurance numbered 130 is as follows: Row 1: Date, 2020 October 4. Reference, J1. Debit, 600. Credit, blank. Balance, 600, displayed in red font. The content of the general ledger titled equipment numbered 157 is as follows: Row 1: Date, 2020 October 1. Reference, J1. Debit, 5,000. Credit, blank. Balance, 5,000 displayed in red font. The content of the general ledger titled notes payable numbered 200 is as follows: Row 1: Date, 2020 October 1. Reference, J1. Debit, blank. Credit, 5,000. Balance, 5,000 displayed in red font. The content of general ledger titled accounts payable numbered 201 is as follows: Row 1: Date, 2020 October 5. Reference, J1. Debit, blank. Credit, 2,500. Balance, 2,500 displayed in red font. The content of the general ledger titled service revenue numbered 209 is as follows: Row 1: Date, 2020 October 2. Reference, J1. Debit, blank. Credit, 1,200. Balance, 1,200 displayed in red font. The content of general ledger titled owner's capital numbered 301 is as follows: Row 1: Date, 2020 October 1. Reference, J1. Debit, blank. Credit, 10,000. Balance, 10,000 displayed in red font. The content of the general ledger titled owner's drawings numbered 306 is as follows: Row 1: Date, 2020 October 20. Reference, J1. Debit, 500. Credit, blank. Balance, 500, displayed in red font. The content of the general ledger titled service revenue numbered 400 is as follows: Row 1: Date, 2020 October 31. Reference, J1. Debit, blank. Credit, 10,000. Balance, 10,000 displayed in red font. The content of general ledger titled salaries and wages expense numbered 726 is as follows: Row 1: Date, 2020 October 26. Reference, J1. Debit, 4,000. Credit, blank. Balance, 4,000 displayed in red font. The content of the general ledger titled rent expense numbered 729 is as follows: Row 1: Date, 2020 October 3. Reference, J1. Debit, 900. Credit, blank. Balance, 900, displayed in red font. ">
            <a:extLst>
              <a:ext uri="{FF2B5EF4-FFF2-40B4-BE49-F238E27FC236}">
                <a16:creationId xmlns:a16="http://schemas.microsoft.com/office/drawing/2014/main" id="{9AD2ED95-3981-4D09-AD8B-554C9F9E2A35}"/>
              </a:ext>
            </a:extLst>
          </p:cNvPr>
          <p:cNvPicPr>
            <a:picLocks noChangeAspect="1"/>
          </p:cNvPicPr>
          <p:nvPr/>
        </p:nvPicPr>
        <p:blipFill>
          <a:blip r:embed="rId2"/>
          <a:stretch>
            <a:fillRect/>
          </a:stretch>
        </p:blipFill>
        <p:spPr>
          <a:xfrm>
            <a:off x="199436" y="1140527"/>
            <a:ext cx="6429964" cy="5182045"/>
          </a:xfrm>
          <a:prstGeom prst="rect">
            <a:avLst/>
          </a:prstGeom>
        </p:spPr>
      </p:pic>
      <p:sp>
        <p:nvSpPr>
          <p:cNvPr id="9" name="Rectangle 8">
            <a:extLst>
              <a:ext uri="{FF2B5EF4-FFF2-40B4-BE49-F238E27FC236}">
                <a16:creationId xmlns:a16="http://schemas.microsoft.com/office/drawing/2014/main" id="{7709B674-B313-4E7F-BCB0-BF2C49F96AD4}"/>
              </a:ext>
            </a:extLst>
          </p:cNvPr>
          <p:cNvSpPr/>
          <p:nvPr/>
        </p:nvSpPr>
        <p:spPr>
          <a:xfrm>
            <a:off x="6781800" y="4648200"/>
            <a:ext cx="2143125" cy="1477328"/>
          </a:xfrm>
          <a:prstGeom prst="rect">
            <a:avLst/>
          </a:prstGeom>
        </p:spPr>
        <p:txBody>
          <a:bodyPr wrap="square">
            <a:spAutoFit/>
          </a:bodyPr>
          <a:lstStyle/>
          <a:p>
            <a:r>
              <a:rPr lang="en-AU" b="1" dirty="0">
                <a:solidFill>
                  <a:srgbClr val="FF0000"/>
                </a:solidFill>
              </a:rPr>
              <a:t>WRITE THE OPPOSITE ACCOUNT NAME UNDER THE “EXPLANATION” COLUMN!</a:t>
            </a:r>
          </a:p>
        </p:txBody>
      </p:sp>
      <p:sp>
        <p:nvSpPr>
          <p:cNvPr id="10" name="TextBox 9">
            <a:extLst>
              <a:ext uri="{FF2B5EF4-FFF2-40B4-BE49-F238E27FC236}">
                <a16:creationId xmlns:a16="http://schemas.microsoft.com/office/drawing/2014/main" id="{94ABA3B6-70E3-4879-A39C-8C5AB0E19AEB}"/>
              </a:ext>
            </a:extLst>
          </p:cNvPr>
          <p:cNvSpPr txBox="1"/>
          <p:nvPr/>
        </p:nvSpPr>
        <p:spPr>
          <a:xfrm>
            <a:off x="762000" y="1905000"/>
            <a:ext cx="762000" cy="553998"/>
          </a:xfrm>
          <a:prstGeom prst="rect">
            <a:avLst/>
          </a:prstGeom>
          <a:noFill/>
        </p:spPr>
        <p:txBody>
          <a:bodyPr wrap="square">
            <a:spAutoFit/>
          </a:bodyPr>
          <a:lstStyle/>
          <a:p>
            <a:r>
              <a:rPr lang="en-AU" sz="1000" b="1" dirty="0">
                <a:solidFill>
                  <a:srgbClr val="FF0000"/>
                </a:solidFill>
              </a:rPr>
              <a:t>OPPOSITE </a:t>
            </a:r>
          </a:p>
          <a:p>
            <a:r>
              <a:rPr lang="en-AU" sz="1000" b="1" dirty="0">
                <a:solidFill>
                  <a:srgbClr val="FF0000"/>
                </a:solidFill>
              </a:rPr>
              <a:t>ACCOUNT </a:t>
            </a:r>
          </a:p>
          <a:p>
            <a:r>
              <a:rPr lang="en-AU" sz="1000" b="1" dirty="0">
                <a:solidFill>
                  <a:srgbClr val="FF0000"/>
                </a:solidFill>
              </a:rPr>
              <a:t>NAMES</a:t>
            </a:r>
            <a:endParaRPr lang="en-AU" sz="1000" dirty="0"/>
          </a:p>
        </p:txBody>
      </p:sp>
    </p:spTree>
    <p:extLst>
      <p:ext uri="{BB962C8B-B14F-4D97-AF65-F5344CB8AC3E}">
        <p14:creationId xmlns:p14="http://schemas.microsoft.com/office/powerpoint/2010/main" val="3917948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9880-4E68-4978-9A36-49750A8AB304}"/>
              </a:ext>
            </a:extLst>
          </p:cNvPr>
          <p:cNvSpPr>
            <a:spLocks noGrp="1"/>
          </p:cNvSpPr>
          <p:nvPr>
            <p:ph type="title"/>
          </p:nvPr>
        </p:nvSpPr>
        <p:spPr>
          <a:xfrm>
            <a:off x="304800" y="611400"/>
            <a:ext cx="8534400" cy="990600"/>
          </a:xfrm>
        </p:spPr>
        <p:txBody>
          <a:bodyPr>
            <a:normAutofit/>
          </a:bodyPr>
          <a:lstStyle/>
          <a:p>
            <a:r>
              <a:rPr lang="en-AU" dirty="0"/>
              <a:t>Trial Balance</a:t>
            </a:r>
          </a:p>
        </p:txBody>
      </p:sp>
      <p:sp>
        <p:nvSpPr>
          <p:cNvPr id="3" name="Content Placeholder 2">
            <a:extLst>
              <a:ext uri="{FF2B5EF4-FFF2-40B4-BE49-F238E27FC236}">
                <a16:creationId xmlns:a16="http://schemas.microsoft.com/office/drawing/2014/main" id="{08D8F15B-CFFE-45C2-BB7D-1C91A45A2016}"/>
              </a:ext>
            </a:extLst>
          </p:cNvPr>
          <p:cNvSpPr>
            <a:spLocks noGrp="1"/>
          </p:cNvSpPr>
          <p:nvPr>
            <p:ph sz="quarter" idx="16"/>
          </p:nvPr>
        </p:nvSpPr>
        <p:spPr>
          <a:xfrm>
            <a:off x="457200" y="3065639"/>
            <a:ext cx="4267200" cy="2669684"/>
          </a:xfrm>
        </p:spPr>
        <p:txBody>
          <a:bodyPr/>
          <a:lstStyle/>
          <a:p>
            <a:r>
              <a:rPr lang="en-US" sz="1800" dirty="0"/>
              <a:t>The trial balance proves the mathematical equality of debits and credits after posting.</a:t>
            </a:r>
          </a:p>
          <a:p>
            <a:r>
              <a:rPr lang="en-US" sz="1800" b="1" dirty="0"/>
              <a:t>Steps</a:t>
            </a:r>
            <a:r>
              <a:rPr lang="en-US" sz="1800" dirty="0"/>
              <a:t>:</a:t>
            </a:r>
          </a:p>
          <a:p>
            <a:pPr marL="457200" indent="-457200">
              <a:buFont typeface="+mj-lt"/>
              <a:buAutoNum type="arabicPeriod"/>
            </a:pPr>
            <a:r>
              <a:rPr lang="en-US" sz="1800" dirty="0"/>
              <a:t>List the account titles and their balances in the appropriate debit or credit column.</a:t>
            </a:r>
          </a:p>
          <a:p>
            <a:pPr marL="457200" indent="-457200">
              <a:buFont typeface="+mj-lt"/>
              <a:buAutoNum type="arabicPeriod"/>
            </a:pPr>
            <a:r>
              <a:rPr lang="en-US" sz="1800" dirty="0"/>
              <a:t>Total the debit and credit columns.</a:t>
            </a:r>
          </a:p>
          <a:p>
            <a:pPr marL="457200" indent="-457200">
              <a:buFont typeface="+mj-lt"/>
              <a:buAutoNum type="arabicPeriod"/>
            </a:pPr>
            <a:r>
              <a:rPr lang="en-US" sz="1800" dirty="0"/>
              <a:t>Prove the equality of the two columns.</a:t>
            </a:r>
            <a:endParaRPr lang="en-AU" sz="1800" dirty="0"/>
          </a:p>
        </p:txBody>
      </p:sp>
      <p:sp>
        <p:nvSpPr>
          <p:cNvPr id="4" name="Slide Number Placeholder 3">
            <a:extLst>
              <a:ext uri="{FF2B5EF4-FFF2-40B4-BE49-F238E27FC236}">
                <a16:creationId xmlns:a16="http://schemas.microsoft.com/office/drawing/2014/main" id="{46471C49-0F84-4DD9-B6FD-9B1D0D27E04B}"/>
              </a:ext>
            </a:extLst>
          </p:cNvPr>
          <p:cNvSpPr>
            <a:spLocks noGrp="1"/>
          </p:cNvSpPr>
          <p:nvPr>
            <p:ph type="sldNum" sz="quarter" idx="10"/>
          </p:nvPr>
        </p:nvSpPr>
        <p:spPr/>
        <p:txBody>
          <a:bodyPr/>
          <a:lstStyle/>
          <a:p>
            <a:fld id="{67B19427-F580-D146-B60E-4CADEE75497F}" type="slidenum">
              <a:rPr lang="en-US" smtClean="0"/>
              <a:pPr/>
              <a:t>33</a:t>
            </a:fld>
            <a:endParaRPr lang="en-US" dirty="0"/>
          </a:p>
        </p:txBody>
      </p:sp>
      <p:sp>
        <p:nvSpPr>
          <p:cNvPr id="5" name="Footer Placeholder 4">
            <a:extLst>
              <a:ext uri="{FF2B5EF4-FFF2-40B4-BE49-F238E27FC236}">
                <a16:creationId xmlns:a16="http://schemas.microsoft.com/office/drawing/2014/main" id="{A9A764A9-D2B0-4A40-8910-991F619ECA2D}"/>
              </a:ext>
            </a:extLst>
          </p:cNvPr>
          <p:cNvSpPr>
            <a:spLocks noGrp="1"/>
          </p:cNvSpPr>
          <p:nvPr>
            <p:ph type="ftr" sz="quarter" idx="11"/>
          </p:nvPr>
        </p:nvSpPr>
        <p:spPr/>
        <p:txBody>
          <a:bodyPr/>
          <a:lstStyle/>
          <a:p>
            <a:r>
              <a:rPr lang="en-US"/>
              <a:t>Copyright ©2018 John Wiley &amp; Sons, Inc. </a:t>
            </a:r>
            <a:endParaRPr lang="en-US" dirty="0"/>
          </a:p>
        </p:txBody>
      </p:sp>
      <p:pic>
        <p:nvPicPr>
          <p:cNvPr id="6" name="Content Placeholder 6" descr="An illustration displays a trial balance. The illustration has a three-line heading with the name of the company, Pioneer Advertising; type of statement, trial balance; and the date, October 31, 2020. The statement is divided into three columns, the first contains the parameters, the second and third contain the debit and credit respectively. Cash, debit, $15,200. Supplies, debit, 2,500. Prepaid insurance, debit, 600. Equipment, debit, 5,000. Notes payable, credit, $5,000. Accounts payable, credit, 2,500. Unearned revenue, credit, 1,200. Owner's capital, credit, 10,000. Owner's drawings, debit, 500. Service revenue, credit, 10,000. Salaries and Wages Expense, debit, 4,000. Rent expense, debit, 900. The total debits and credits are displayed in red font as $28,700, and $28,700 respectively.">
            <a:extLst>
              <a:ext uri="{FF2B5EF4-FFF2-40B4-BE49-F238E27FC236}">
                <a16:creationId xmlns:a16="http://schemas.microsoft.com/office/drawing/2014/main" id="{B7288D17-A470-4E20-B754-AA493D8062A6}"/>
              </a:ext>
            </a:extLst>
          </p:cNvPr>
          <p:cNvPicPr>
            <a:picLocks noChangeAspect="1"/>
          </p:cNvPicPr>
          <p:nvPr/>
        </p:nvPicPr>
        <p:blipFill>
          <a:blip r:embed="rId2"/>
          <a:stretch>
            <a:fillRect/>
          </a:stretch>
        </p:blipFill>
        <p:spPr>
          <a:xfrm>
            <a:off x="5284671" y="2534923"/>
            <a:ext cx="3534104" cy="3200400"/>
          </a:xfrm>
          <a:prstGeom prst="rect">
            <a:avLst/>
          </a:prstGeom>
          <a:ln>
            <a:solidFill>
              <a:schemeClr val="accent1"/>
            </a:solidFill>
          </a:ln>
        </p:spPr>
      </p:pic>
      <p:pic>
        <p:nvPicPr>
          <p:cNvPr id="12" name="Picture 11">
            <a:extLst>
              <a:ext uri="{FF2B5EF4-FFF2-40B4-BE49-F238E27FC236}">
                <a16:creationId xmlns:a16="http://schemas.microsoft.com/office/drawing/2014/main" id="{5251EF69-5AA8-3BC1-827D-14D5B70F395F}"/>
              </a:ext>
            </a:extLst>
          </p:cNvPr>
          <p:cNvPicPr>
            <a:picLocks noChangeAspect="1"/>
          </p:cNvPicPr>
          <p:nvPr/>
        </p:nvPicPr>
        <p:blipFill>
          <a:blip r:embed="rId3"/>
          <a:stretch>
            <a:fillRect/>
          </a:stretch>
        </p:blipFill>
        <p:spPr>
          <a:xfrm>
            <a:off x="318640" y="1327116"/>
            <a:ext cx="7436232" cy="895396"/>
          </a:xfrm>
          <a:prstGeom prst="rect">
            <a:avLst/>
          </a:prstGeom>
        </p:spPr>
      </p:pic>
    </p:spTree>
    <p:extLst>
      <p:ext uri="{BB962C8B-B14F-4D97-AF65-F5344CB8AC3E}">
        <p14:creationId xmlns:p14="http://schemas.microsoft.com/office/powerpoint/2010/main" val="182398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8A4D9-9BA7-4EE2-978C-B3F68BA2963D}"/>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Limitation of a Trial Balance</a:t>
            </a:r>
            <a:endParaRPr lang="en-US" dirty="0"/>
          </a:p>
        </p:txBody>
      </p:sp>
      <p:sp>
        <p:nvSpPr>
          <p:cNvPr id="3" name="Content Placeholder 2">
            <a:extLst>
              <a:ext uri="{FF2B5EF4-FFF2-40B4-BE49-F238E27FC236}">
                <a16:creationId xmlns:a16="http://schemas.microsoft.com/office/drawing/2014/main" id="{17025796-C319-4106-A04E-E71CF8B17A19}"/>
              </a:ext>
            </a:extLst>
          </p:cNvPr>
          <p:cNvSpPr>
            <a:spLocks noGrp="1"/>
          </p:cNvSpPr>
          <p:nvPr>
            <p:ph sz="quarter" idx="16"/>
          </p:nvPr>
        </p:nvSpPr>
        <p:spPr>
          <a:xfrm>
            <a:off x="304800" y="1828800"/>
            <a:ext cx="8382000" cy="3657600"/>
          </a:xfrm>
        </p:spPr>
        <p:txBody>
          <a:bodyPr/>
          <a:lstStyle/>
          <a:p>
            <a:pPr>
              <a:buSzPct val="80000"/>
            </a:pPr>
            <a:r>
              <a:rPr lang="en-US" altLang="en-US" dirty="0">
                <a:latin typeface="Calibri" panose="020F0502020204030204" pitchFamily="34" charset="0"/>
              </a:rPr>
              <a:t>Trial balance may balance even when: </a:t>
            </a:r>
          </a:p>
          <a:p>
            <a:pPr marL="402336" lvl="1" indent="-402336">
              <a:spcBef>
                <a:spcPts val="1000"/>
              </a:spcBef>
              <a:buClr>
                <a:schemeClr val="accent2"/>
              </a:buClr>
              <a:buFontTx/>
              <a:buAutoNum type="arabicPeriod"/>
            </a:pPr>
            <a:r>
              <a:rPr lang="en-US" altLang="en-US" sz="2800" dirty="0">
                <a:latin typeface="Calibri" panose="020F0502020204030204" pitchFamily="34" charset="0"/>
              </a:rPr>
              <a:t>A transaction is not journalized. </a:t>
            </a:r>
          </a:p>
          <a:p>
            <a:pPr marL="402336" lvl="1" indent="-402336">
              <a:spcBef>
                <a:spcPts val="1000"/>
              </a:spcBef>
              <a:buClr>
                <a:schemeClr val="accent2"/>
              </a:buClr>
              <a:buFontTx/>
              <a:buAutoNum type="arabicPeriod"/>
            </a:pPr>
            <a:r>
              <a:rPr lang="en-US" altLang="en-US" sz="2800" dirty="0">
                <a:latin typeface="Calibri" panose="020F0502020204030204" pitchFamily="34" charset="0"/>
              </a:rPr>
              <a:t>A correct journal entry is not posted.</a:t>
            </a:r>
          </a:p>
          <a:p>
            <a:pPr marL="402336" lvl="1" indent="-402336">
              <a:spcBef>
                <a:spcPts val="1000"/>
              </a:spcBef>
              <a:buClr>
                <a:schemeClr val="accent2"/>
              </a:buClr>
              <a:buFontTx/>
              <a:buAutoNum type="arabicPeriod"/>
            </a:pPr>
            <a:r>
              <a:rPr lang="en-US" altLang="en-US" sz="2800" dirty="0">
                <a:latin typeface="Calibri" panose="020F0502020204030204" pitchFamily="34" charset="0"/>
              </a:rPr>
              <a:t>A journal entry is posted twice.</a:t>
            </a:r>
          </a:p>
          <a:p>
            <a:pPr marL="402336" lvl="1" indent="-402336">
              <a:spcBef>
                <a:spcPts val="1000"/>
              </a:spcBef>
              <a:buClr>
                <a:schemeClr val="accent2"/>
              </a:buClr>
              <a:buFontTx/>
              <a:buAutoNum type="arabicPeriod"/>
            </a:pPr>
            <a:r>
              <a:rPr lang="en-US" altLang="en-US" sz="2800" dirty="0">
                <a:latin typeface="Calibri" panose="020F0502020204030204" pitchFamily="34" charset="0"/>
              </a:rPr>
              <a:t>Incorrect accounts are used in journalizing or posting. </a:t>
            </a:r>
          </a:p>
          <a:p>
            <a:pPr marL="402336" lvl="1" indent="-402336">
              <a:spcBef>
                <a:spcPts val="1000"/>
              </a:spcBef>
              <a:buClr>
                <a:schemeClr val="accent2"/>
              </a:buClr>
              <a:buFontTx/>
              <a:buAutoNum type="arabicPeriod"/>
            </a:pPr>
            <a:r>
              <a:rPr lang="en-US" altLang="en-US" sz="2800" dirty="0">
                <a:latin typeface="Calibri" panose="020F0502020204030204" pitchFamily="34" charset="0"/>
              </a:rPr>
              <a:t>Offsetting errors are made in recording the amount of a transaction.</a:t>
            </a:r>
            <a:endParaRPr lang="en-US"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551AD0A8-E426-418A-A19C-0269802C5247}"/>
              </a:ext>
            </a:extLst>
          </p:cNvPr>
          <p:cNvSpPr>
            <a:spLocks noGrp="1"/>
          </p:cNvSpPr>
          <p:nvPr>
            <p:ph type="sldNum" sz="quarter" idx="10"/>
          </p:nvPr>
        </p:nvSpPr>
        <p:spPr/>
        <p:txBody>
          <a:bodyPr/>
          <a:lstStyle/>
          <a:p>
            <a:fld id="{67B19427-F580-D146-B60E-4CADEE75497F}" type="slidenum">
              <a:rPr lang="en-US" smtClean="0"/>
              <a:pPr/>
              <a:t>34</a:t>
            </a:fld>
            <a:endParaRPr lang="en-US" dirty="0"/>
          </a:p>
        </p:txBody>
      </p:sp>
      <p:sp>
        <p:nvSpPr>
          <p:cNvPr id="5" name="Footer Placeholder 4">
            <a:extLst>
              <a:ext uri="{FF2B5EF4-FFF2-40B4-BE49-F238E27FC236}">
                <a16:creationId xmlns:a16="http://schemas.microsoft.com/office/drawing/2014/main" id="{71D7DA67-6FF0-4A10-B105-BD2C475C81C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8156043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8A4D9-9BA7-4EE2-978C-B3F68BA2963D}"/>
              </a:ext>
            </a:extLst>
          </p:cNvPr>
          <p:cNvSpPr>
            <a:spLocks noGrp="1"/>
          </p:cNvSpPr>
          <p:nvPr>
            <p:ph type="title"/>
          </p:nvPr>
        </p:nvSpPr>
        <p:spPr>
          <a:xfrm>
            <a:off x="304800" y="762001"/>
            <a:ext cx="8534400" cy="761999"/>
          </a:xfrm>
        </p:spPr>
        <p:txBody>
          <a:bodyPr/>
          <a:lstStyle/>
          <a:p>
            <a:r>
              <a:rPr lang="en-US" b="1" dirty="0">
                <a:latin typeface="Calibri" panose="020F0502020204030204" pitchFamily="34" charset="0"/>
                <a:ea typeface="Source Sans Pro" charset="0"/>
                <a:cs typeface="Calibri" panose="020F0502020204030204" pitchFamily="34" charset="0"/>
              </a:rPr>
              <a:t>Trial Balance</a:t>
            </a:r>
            <a:endParaRPr lang="en-US" dirty="0"/>
          </a:p>
        </p:txBody>
      </p:sp>
      <p:sp>
        <p:nvSpPr>
          <p:cNvPr id="3" name="Content Placeholder 2">
            <a:extLst>
              <a:ext uri="{FF2B5EF4-FFF2-40B4-BE49-F238E27FC236}">
                <a16:creationId xmlns:a16="http://schemas.microsoft.com/office/drawing/2014/main" id="{17025796-C319-4106-A04E-E71CF8B17A19}"/>
              </a:ext>
            </a:extLst>
          </p:cNvPr>
          <p:cNvSpPr>
            <a:spLocks noGrp="1"/>
          </p:cNvSpPr>
          <p:nvPr>
            <p:ph sz="quarter" idx="16"/>
          </p:nvPr>
        </p:nvSpPr>
        <p:spPr>
          <a:xfrm>
            <a:off x="304800" y="1828800"/>
            <a:ext cx="8534400" cy="2743200"/>
          </a:xfrm>
        </p:spPr>
        <p:txBody>
          <a:bodyPr/>
          <a:lstStyle/>
          <a:p>
            <a:r>
              <a:rPr lang="en-US" b="1" dirty="0">
                <a:solidFill>
                  <a:schemeClr val="accent2"/>
                </a:solidFill>
                <a:ea typeface="Source Sans Pro" charset="0"/>
                <a:cs typeface="Calibri" panose="020F0502020204030204" pitchFamily="34" charset="0"/>
              </a:rPr>
              <a:t>Locating Errors</a:t>
            </a:r>
            <a:endParaRPr lang="en-US" dirty="0">
              <a:solidFill>
                <a:schemeClr val="accent2"/>
              </a:solidFill>
            </a:endParaRPr>
          </a:p>
          <a:p>
            <a:r>
              <a:rPr lang="en-US" dirty="0"/>
              <a:t>Errors in a trial balance generally result from </a:t>
            </a:r>
          </a:p>
          <a:p>
            <a:pPr marL="292608" indent="-292608">
              <a:buClr>
                <a:srgbClr val="990000"/>
              </a:buClr>
              <a:buFont typeface="Arial" panose="020B0604020202020204" pitchFamily="34" charset="0"/>
              <a:buChar char="•"/>
            </a:pPr>
            <a:r>
              <a:rPr lang="en-US" dirty="0"/>
              <a:t>mathematical mistakes, </a:t>
            </a:r>
          </a:p>
          <a:p>
            <a:pPr marL="292608" indent="-292608">
              <a:buClr>
                <a:srgbClr val="990000"/>
              </a:buClr>
              <a:buFont typeface="Arial" panose="020B0604020202020204" pitchFamily="34" charset="0"/>
              <a:buChar char="•"/>
            </a:pPr>
            <a:r>
              <a:rPr lang="en-US" dirty="0"/>
              <a:t>incorrect postings,</a:t>
            </a:r>
          </a:p>
          <a:p>
            <a:pPr marL="292608" indent="-292608">
              <a:buClr>
                <a:srgbClr val="990000"/>
              </a:buClr>
              <a:buFont typeface="Arial" panose="020B0604020202020204" pitchFamily="34" charset="0"/>
              <a:buChar char="•"/>
            </a:pPr>
            <a:r>
              <a:rPr lang="en-US" dirty="0"/>
              <a:t>or simply transcribing data incorrectly.</a:t>
            </a:r>
          </a:p>
        </p:txBody>
      </p:sp>
      <p:sp>
        <p:nvSpPr>
          <p:cNvPr id="4" name="Slide Number Placeholder 3">
            <a:extLst>
              <a:ext uri="{FF2B5EF4-FFF2-40B4-BE49-F238E27FC236}">
                <a16:creationId xmlns:a16="http://schemas.microsoft.com/office/drawing/2014/main" id="{551AD0A8-E426-418A-A19C-0269802C5247}"/>
              </a:ext>
            </a:extLst>
          </p:cNvPr>
          <p:cNvSpPr>
            <a:spLocks noGrp="1"/>
          </p:cNvSpPr>
          <p:nvPr>
            <p:ph type="sldNum" sz="quarter" idx="10"/>
          </p:nvPr>
        </p:nvSpPr>
        <p:spPr/>
        <p:txBody>
          <a:bodyPr/>
          <a:lstStyle/>
          <a:p>
            <a:fld id="{67B19427-F580-D146-B60E-4CADEE75497F}" type="slidenum">
              <a:rPr lang="en-US" smtClean="0"/>
              <a:pPr/>
              <a:t>35</a:t>
            </a:fld>
            <a:endParaRPr lang="en-US" dirty="0"/>
          </a:p>
        </p:txBody>
      </p:sp>
      <p:sp>
        <p:nvSpPr>
          <p:cNvPr id="5" name="Footer Placeholder 4">
            <a:extLst>
              <a:ext uri="{FF2B5EF4-FFF2-40B4-BE49-F238E27FC236}">
                <a16:creationId xmlns:a16="http://schemas.microsoft.com/office/drawing/2014/main" id="{71D7DA67-6FF0-4A10-B105-BD2C475C81C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85093270"/>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Props1.xml><?xml version="1.0" encoding="utf-8"?>
<ds:datastoreItem xmlns:ds="http://schemas.openxmlformats.org/officeDocument/2006/customXml" ds:itemID="{1F02C547-0245-47EF-BE9B-026E2E38CA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8F1D47-4251-47E8-ACDB-2528FF86B6CA}">
  <ds:schemaRefs>
    <ds:schemaRef ds:uri="http://schemas.microsoft.com/sharepoint/v3/contenttype/forms"/>
  </ds:schemaRefs>
</ds:datastoreItem>
</file>

<file path=customXml/itemProps3.xml><?xml version="1.0" encoding="utf-8"?>
<ds:datastoreItem xmlns:ds="http://schemas.openxmlformats.org/officeDocument/2006/customXml" ds:itemID="{EF1C71EB-81EB-430C-AADD-7391148CA650}">
  <ds:schemaRefs>
    <ds:schemaRef ds:uri="http://purl.org/dc/terms/"/>
    <ds:schemaRef ds:uri="http://schemas.microsoft.com/office/2006/documentManagement/types"/>
    <ds:schemaRef ds:uri="http://purl.org/dc/elements/1.1/"/>
    <ds:schemaRef ds:uri="http://purl.org/dc/dcmitype/"/>
    <ds:schemaRef ds:uri="2e108766-8a5d-4dd6-bf2d-0e83b2e3ea10"/>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991c6ba3-1c6f-40a9-b60d-1b3170aa9e50"/>
  </ds:schemaRefs>
</ds:datastoreItem>
</file>

<file path=docProps/app.xml><?xml version="1.0" encoding="utf-8"?>
<Properties xmlns="http://schemas.openxmlformats.org/officeDocument/2006/extended-properties" xmlns:vt="http://schemas.openxmlformats.org/officeDocument/2006/docPropsVTypes">
  <Template/>
  <TotalTime>16021</TotalTime>
  <Words>1591</Words>
  <Application>Microsoft Office PowerPoint</Application>
  <PresentationFormat>On-screen Show (4:3)</PresentationFormat>
  <Paragraphs>332</Paragraphs>
  <Slides>35</Slides>
  <Notes>0</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35</vt:i4>
      </vt:variant>
    </vt:vector>
  </HeadingPairs>
  <TitlesOfParts>
    <vt:vector size="49" baseType="lpstr">
      <vt:lpstr>Arial</vt:lpstr>
      <vt:lpstr>Calibri</vt:lpstr>
      <vt:lpstr>Calibri </vt:lpstr>
      <vt:lpstr>Calibri Light</vt:lpstr>
      <vt:lpstr>Courier New</vt:lpstr>
      <vt:lpstr>Source Sans Pro</vt:lpstr>
      <vt:lpstr>STIX</vt:lpstr>
      <vt:lpstr>Opener</vt:lpstr>
      <vt:lpstr>Chapter Outline</vt:lpstr>
      <vt:lpstr>Learning Objectives</vt:lpstr>
      <vt:lpstr>Concept Check Question</vt:lpstr>
      <vt:lpstr>Key Term</vt:lpstr>
      <vt:lpstr>Section</vt:lpstr>
      <vt:lpstr>Image Slide Master</vt:lpstr>
      <vt:lpstr>Accounting Principles</vt:lpstr>
      <vt:lpstr>Chapter Outline</vt:lpstr>
      <vt:lpstr>Accounts, Debits, and Credits (1 of 4)</vt:lpstr>
      <vt:lpstr>Debits and Credits (1 of 3)</vt:lpstr>
      <vt:lpstr>Debits and Credits (2 of 3)</vt:lpstr>
      <vt:lpstr>Debits and Credits (3 of 3)</vt:lpstr>
      <vt:lpstr>Accounts, Debits, and Credits (2 of 4)</vt:lpstr>
      <vt:lpstr>Accounts, Debits, and Credits (3 of 4)</vt:lpstr>
      <vt:lpstr>Accounts, Debits, and Credits (4 of 4)</vt:lpstr>
      <vt:lpstr>Summary of Debit / Credit Rules (1 of 2)</vt:lpstr>
      <vt:lpstr>Summary of Debit / Credit Rules (2 of 2)</vt:lpstr>
      <vt:lpstr>The Journal (1 of 2)</vt:lpstr>
      <vt:lpstr>The Journal (2 of 2)</vt:lpstr>
      <vt:lpstr>Journalizing (1 of 2)</vt:lpstr>
      <vt:lpstr>Journalizing (2 of 2)</vt:lpstr>
      <vt:lpstr>The Journal and Posting</vt:lpstr>
      <vt:lpstr>The Ledger (1 of 3)</vt:lpstr>
      <vt:lpstr>The Ledger (2 of 3)</vt:lpstr>
      <vt:lpstr>The Ledger (3 of 3)</vt:lpstr>
      <vt:lpstr>The Recording Process Illustrated (1 of 10)</vt:lpstr>
      <vt:lpstr>The Recording Process Illustrated (2 of 10)</vt:lpstr>
      <vt:lpstr>The Recording Process Illustrated (3 of 10)</vt:lpstr>
      <vt:lpstr>The Recording Process Illustrated (4 of 10)</vt:lpstr>
      <vt:lpstr>The Recording Process Illustrated (5 of 10)</vt:lpstr>
      <vt:lpstr>The Recording Process Illustrated (6 of 10)</vt:lpstr>
      <vt:lpstr>The Recording Process Illustrated (7 of 10)</vt:lpstr>
      <vt:lpstr>The Recording Process Illustrated (8 of 10)</vt:lpstr>
      <vt:lpstr>The Recording Process Illustrated (9 of 10)</vt:lpstr>
      <vt:lpstr>The Recording Process Illustrated (10 of 10)</vt:lpstr>
      <vt:lpstr>Journalizing and Posting Summary (1 of 3)</vt:lpstr>
      <vt:lpstr>Journalizing and Posting Summary (2 of 3)</vt:lpstr>
      <vt:lpstr>Journalizing and Posting Summary (3 of 3)</vt:lpstr>
      <vt:lpstr>Trial Balance</vt:lpstr>
      <vt:lpstr>Limitation of a Trial Balance</vt:lpstr>
      <vt:lpstr>Trial Balance</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USER</cp:lastModifiedBy>
  <cp:revision>1372</cp:revision>
  <cp:lastPrinted>2017-04-26T13:25:47Z</cp:lastPrinted>
  <dcterms:created xsi:type="dcterms:W3CDTF">2017-04-21T14:49:46Z</dcterms:created>
  <dcterms:modified xsi:type="dcterms:W3CDTF">2024-01-28T10:29:41Z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