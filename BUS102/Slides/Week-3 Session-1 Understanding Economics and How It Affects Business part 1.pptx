
<file path=[Content_Types].xml><?xml version="1.0" encoding="utf-8"?>
<Types xmlns="http://schemas.openxmlformats.org/package/2006/content-types"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83" r:id="rId17"/>
  </p:sldIdLst>
  <p:sldSz cx="12192000" cy="6858000"/>
  <p:notesSz cx="6858000" cy="9144000"/>
  <p:embeddedFontLst>
    <p:embeddedFont>
      <p:font typeface="Century Gothic" panose="020B0502020202020204"/>
      <p:regular r:id="rId21"/>
    </p:embeddedFont>
    <p:embeddedFont>
      <p:font typeface="Calibri" panose="020F0502020204030204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4" name="Google Shape;254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0" name="Google Shape;260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7" name="Google Shape;267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4" name="Google Shape;274;p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2" name="Google Shape;282;p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9" name="Google Shape;289;p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6" name="Google Shape;296;p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3" name="Google Shape;303;p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0" name="Google Shape;310;p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8" name="Google Shape;318;p1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5" name="Google Shape;325;p1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3" name="Google Shape;333;p1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0" name="Google Shape;340;p1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1" name="Google Shape;451;p2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matchingName="Title Slid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" name="Google Shape;28;p32"/>
          <p:cNvSpPr/>
          <p:nvPr/>
        </p:nvSpPr>
        <p:spPr>
          <a:xfrm>
            <a:off x="3220" y="2667000"/>
            <a:ext cx="4191000" cy="4191000"/>
          </a:xfrm>
          <a:prstGeom prst="ellipse">
            <a:avLst/>
          </a:prstGeom>
          <a:gradFill>
            <a:gsLst>
              <a:gs pos="0">
                <a:srgbClr val="F7F7F7">
                  <a:alpha val="10980"/>
                </a:srgbClr>
              </a:gs>
              <a:gs pos="36000">
                <a:srgbClr val="F7F7F7">
                  <a:alpha val="9803"/>
                </a:srgbClr>
              </a:gs>
              <a:gs pos="75000">
                <a:srgbClr val="F7F7F7">
                  <a:alpha val="0"/>
                </a:srgbClr>
              </a:gs>
              <a:gs pos="100000">
                <a:srgbClr val="F7F7F7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" name="Google Shape;29;p32"/>
          <p:cNvSpPr/>
          <p:nvPr/>
        </p:nvSpPr>
        <p:spPr>
          <a:xfrm>
            <a:off x="1750" y="2895600"/>
            <a:ext cx="2362200" cy="2362200"/>
          </a:xfrm>
          <a:prstGeom prst="ellipse">
            <a:avLst/>
          </a:prstGeom>
          <a:gradFill>
            <a:gsLst>
              <a:gs pos="0">
                <a:srgbClr val="F7F7F7">
                  <a:alpha val="7843"/>
                </a:srgbClr>
              </a:gs>
              <a:gs pos="36000">
                <a:srgbClr val="F7F7F7">
                  <a:alpha val="7843"/>
                </a:srgbClr>
              </a:gs>
              <a:gs pos="72000">
                <a:srgbClr val="F7F7F7">
                  <a:alpha val="0"/>
                </a:srgbClr>
              </a:gs>
              <a:gs pos="100000">
                <a:srgbClr val="F7F7F7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" name="Google Shape;30;p32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>
            <a:gsLst>
              <a:gs pos="0">
                <a:srgbClr val="F7F7F7">
                  <a:alpha val="6666"/>
                </a:srgbClr>
              </a:gs>
              <a:gs pos="36000">
                <a:srgbClr val="F7F7F7">
                  <a:alpha val="5882"/>
                </a:srgbClr>
              </a:gs>
              <a:gs pos="69000">
                <a:srgbClr val="F7F7F7">
                  <a:alpha val="0"/>
                </a:srgbClr>
              </a:gs>
              <a:gs pos="100000">
                <a:srgbClr val="F7F7F7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" name="Google Shape;31;p32"/>
          <p:cNvSpPr/>
          <p:nvPr/>
        </p:nvSpPr>
        <p:spPr>
          <a:xfrm>
            <a:off x="7999412" y="-2373"/>
            <a:ext cx="1600200" cy="1600200"/>
          </a:xfrm>
          <a:prstGeom prst="ellipse">
            <a:avLst/>
          </a:prstGeom>
          <a:gradFill>
            <a:gsLst>
              <a:gs pos="0">
                <a:srgbClr val="F7F7F7">
                  <a:alpha val="13725"/>
                </a:srgbClr>
              </a:gs>
              <a:gs pos="36000">
                <a:srgbClr val="F7F7F7">
                  <a:alpha val="6666"/>
                </a:srgbClr>
              </a:gs>
              <a:gs pos="73000">
                <a:srgbClr val="F7F7F7">
                  <a:alpha val="0"/>
                </a:srgbClr>
              </a:gs>
              <a:gs pos="100000">
                <a:srgbClr val="F7F7F7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32" name="Google Shape;32;p32"/>
          <p:cNvSpPr/>
          <p:nvPr/>
        </p:nvSpPr>
        <p:spPr>
          <a:xfrm>
            <a:off x="8609012" y="5874054"/>
            <a:ext cx="990600" cy="990600"/>
          </a:xfrm>
          <a:prstGeom prst="ellipse">
            <a:avLst/>
          </a:prstGeom>
          <a:gradFill>
            <a:gsLst>
              <a:gs pos="0">
                <a:srgbClr val="F7F7F7">
                  <a:alpha val="13725"/>
                </a:srgbClr>
              </a:gs>
              <a:gs pos="36000">
                <a:srgbClr val="F7F7F7">
                  <a:alpha val="6666"/>
                </a:srgbClr>
              </a:gs>
              <a:gs pos="66000">
                <a:srgbClr val="F7F7F7">
                  <a:alpha val="0"/>
                </a:srgbClr>
              </a:gs>
              <a:gs pos="100000">
                <a:srgbClr val="F7F7F7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" name="Google Shape;33;p32"/>
          <p:cNvSpPr/>
          <p:nvPr/>
        </p:nvSpPr>
        <p:spPr>
          <a:xfrm>
            <a:off x="0" y="1587"/>
            <a:ext cx="12192000" cy="6856413"/>
          </a:xfrm>
          <a:custGeom>
            <a:avLst/>
            <a:gdLst/>
            <a:ahLst/>
            <a:cxnLst/>
            <a:rect l="l" t="t" r="r" b="b"/>
            <a:pathLst>
              <a:path w="15356" h="8638" extrusionOk="0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34" name="Google Shape;34;p32"/>
          <p:cNvSpPr txBox="1"/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Century Gothic" panose="020B0502020202020204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2"/>
          <p:cNvSpPr txBox="1"/>
          <p:nvPr>
            <p:ph type="subTitle" idx="1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440"/>
              <a:buNone/>
              <a:defRPr cap="none">
                <a:solidFill>
                  <a:schemeClr val="lt1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32"/>
          <p:cNvSpPr txBox="1"/>
          <p:nvPr>
            <p:ph type="dt" idx="10"/>
          </p:nvPr>
        </p:nvSpPr>
        <p:spPr>
          <a:xfrm rot="5400000">
            <a:off x="10089390" y="1792223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2"/>
          <p:cNvSpPr txBox="1"/>
          <p:nvPr>
            <p:ph type="ftr" idx="11"/>
          </p:nvPr>
        </p:nvSpPr>
        <p:spPr>
          <a:xfrm rot="5400000">
            <a:off x="8959592" y="3226820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" name="Google Shape;39;p32"/>
          <p:cNvSpPr txBox="1"/>
          <p:nvPr>
            <p:ph type="sldNum" idx="12"/>
          </p:nvPr>
        </p:nvSpPr>
        <p:spPr>
          <a:xfrm>
            <a:off x="10351008" y="292608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3"/>
          <p:cNvSpPr txBox="1"/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43" name="Google Shape;43;p33"/>
          <p:cNvSpPr txBox="1"/>
          <p:nvPr>
            <p:ph type="dt" idx="10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3"/>
          <p:cNvSpPr txBox="1"/>
          <p:nvPr>
            <p:ph type="ftr" idx="11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3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4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 panose="020B0502020202020204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4"/>
          <p:cNvSpPr txBox="1"/>
          <p:nvPr>
            <p:ph type="body" idx="1"/>
          </p:nvPr>
        </p:nvSpPr>
        <p:spPr>
          <a:xfrm>
            <a:off x="1154954" y="2603500"/>
            <a:ext cx="4825157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/>
        </p:txBody>
      </p:sp>
      <p:sp>
        <p:nvSpPr>
          <p:cNvPr id="49" name="Google Shape;49;p34"/>
          <p:cNvSpPr txBox="1"/>
          <p:nvPr>
            <p:ph type="body" idx="2"/>
          </p:nvPr>
        </p:nvSpPr>
        <p:spPr>
          <a:xfrm>
            <a:off x="1154954" y="3179762"/>
            <a:ext cx="4825158" cy="2840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0" name="Google Shape;50;p34"/>
          <p:cNvSpPr txBox="1"/>
          <p:nvPr>
            <p:ph type="body" idx="3"/>
          </p:nvPr>
        </p:nvSpPr>
        <p:spPr>
          <a:xfrm>
            <a:off x="6208712" y="2603500"/>
            <a:ext cx="4825159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/>
        </p:txBody>
      </p:sp>
      <p:sp>
        <p:nvSpPr>
          <p:cNvPr id="51" name="Google Shape;51;p34"/>
          <p:cNvSpPr txBox="1"/>
          <p:nvPr>
            <p:ph type="body" idx="4"/>
          </p:nvPr>
        </p:nvSpPr>
        <p:spPr>
          <a:xfrm>
            <a:off x="6208710" y="3179762"/>
            <a:ext cx="4825159" cy="2840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type="dt" idx="10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type="ftr" idx="11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4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matchingName="Section Header">
  <p:cSld name="SECTION_HEAD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3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57" name="Google Shape;57;p3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" name="Google Shape;58;p3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59;p3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60;p3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61;p3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" name="Google Shape;62;p35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" name="Google Shape;63;p35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" name="Google Shape;64;p35"/>
            <p:cNvSpPr/>
            <p:nvPr/>
          </p:nvSpPr>
          <p:spPr>
            <a:xfrm rot="-5677511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" name="Google Shape;65;p35"/>
            <p:cNvSpPr/>
            <p:nvPr/>
          </p:nvSpPr>
          <p:spPr>
            <a:xfrm rot="-54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66" name="Google Shape;66;p35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67" name="Google Shape;67;p35"/>
          <p:cNvSpPr txBox="1"/>
          <p:nvPr>
            <p:ph type="title"/>
          </p:nvPr>
        </p:nvSpPr>
        <p:spPr>
          <a:xfrm>
            <a:off x="1154956" y="2677645"/>
            <a:ext cx="4351023" cy="2283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 panose="020B0502020202020204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5"/>
          <p:cNvSpPr txBox="1"/>
          <p:nvPr>
            <p:ph type="body" idx="1"/>
          </p:nvPr>
        </p:nvSpPr>
        <p:spPr>
          <a:xfrm>
            <a:off x="6895558" y="2677644"/>
            <a:ext cx="3755379" cy="2283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35"/>
          <p:cNvSpPr txBox="1"/>
          <p:nvPr>
            <p:ph type="dt" idx="10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5"/>
          <p:cNvSpPr txBox="1"/>
          <p:nvPr>
            <p:ph type="ftr" idx="11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2" name="Google Shape;72;p35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- left">
  <p:cSld name="Title Only - lef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36"/>
          <p:cNvGrpSpPr/>
          <p:nvPr/>
        </p:nvGrpSpPr>
        <p:grpSpPr>
          <a:xfrm>
            <a:off x="16303" y="0"/>
            <a:ext cx="12192000" cy="6858000"/>
            <a:chOff x="16303" y="6430358"/>
            <a:chExt cx="12192000" cy="6858000"/>
          </a:xfrm>
        </p:grpSpPr>
        <p:sp>
          <p:nvSpPr>
            <p:cNvPr id="75" name="Google Shape;75;p36"/>
            <p:cNvSpPr/>
            <p:nvPr/>
          </p:nvSpPr>
          <p:spPr>
            <a:xfrm>
              <a:off x="236937" y="6430358"/>
              <a:ext cx="5078012" cy="6858000"/>
            </a:xfrm>
            <a:prstGeom prst="rect">
              <a:avLst/>
            </a:prstGeom>
            <a:blipFill rotWithShape="1">
              <a:blip r:embed="rId2"/>
              <a:stretch>
                <a:fillRect r="-140090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" name="Google Shape;76;p36"/>
            <p:cNvSpPr/>
            <p:nvPr/>
          </p:nvSpPr>
          <p:spPr>
            <a:xfrm rot="-5677511">
              <a:off x="3144589" y="8256436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" name="Google Shape;77;p36"/>
            <p:cNvSpPr/>
            <p:nvPr/>
          </p:nvSpPr>
          <p:spPr>
            <a:xfrm rot="-5400000">
              <a:off x="2233481" y="9232079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78" name="Google Shape;78;p36"/>
            <p:cNvSpPr/>
            <p:nvPr/>
          </p:nvSpPr>
          <p:spPr>
            <a:xfrm>
              <a:off x="16303" y="6431945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79" name="Google Shape;79;p36"/>
          <p:cNvSpPr txBox="1"/>
          <p:nvPr>
            <p:ph type="title"/>
          </p:nvPr>
        </p:nvSpPr>
        <p:spPr>
          <a:xfrm>
            <a:off x="1154956" y="2287088"/>
            <a:ext cx="3438881" cy="2283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Century Gothic" panose="020B0502020202020204"/>
              <a:buNone/>
              <a:defRPr sz="23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6"/>
          <p:cNvSpPr txBox="1"/>
          <p:nvPr>
            <p:ph type="dt" idx="10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6"/>
          <p:cNvSpPr txBox="1"/>
          <p:nvPr>
            <p:ph type="ftr" idx="11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" name="Google Shape;83;p36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ullets as Icons 5X Vertical">
  <p:cSld name="Bullets as Icons 5X Vertical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7"/>
          <p:cNvSpPr/>
          <p:nvPr>
            <p:ph type="body" idx="1"/>
          </p:nvPr>
        </p:nvSpPr>
        <p:spPr>
          <a:xfrm>
            <a:off x="6792913" y="1748812"/>
            <a:ext cx="3852000" cy="7200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dk1"/>
                </a:solidFill>
              </a:defRPr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86" name="Google Shape;86;p37"/>
          <p:cNvSpPr/>
          <p:nvPr>
            <p:ph type="body" idx="2"/>
          </p:nvPr>
        </p:nvSpPr>
        <p:spPr>
          <a:xfrm>
            <a:off x="6792913" y="2561156"/>
            <a:ext cx="3852000" cy="7200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dk1"/>
                </a:solidFill>
              </a:defRPr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87" name="Google Shape;87;p37"/>
          <p:cNvSpPr/>
          <p:nvPr>
            <p:ph type="body" idx="3"/>
          </p:nvPr>
        </p:nvSpPr>
        <p:spPr>
          <a:xfrm>
            <a:off x="6792913" y="3373501"/>
            <a:ext cx="3852000" cy="7200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317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dk1"/>
                </a:solidFill>
              </a:defRPr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88" name="Google Shape;88;p37"/>
          <p:cNvSpPr/>
          <p:nvPr>
            <p:ph type="body" idx="4"/>
          </p:nvPr>
        </p:nvSpPr>
        <p:spPr>
          <a:xfrm>
            <a:off x="6792913" y="4185846"/>
            <a:ext cx="3852000" cy="7200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317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dk1"/>
                </a:solidFill>
              </a:defRPr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89" name="Google Shape;89;p37"/>
          <p:cNvSpPr/>
          <p:nvPr>
            <p:ph type="body" idx="5"/>
          </p:nvPr>
        </p:nvSpPr>
        <p:spPr>
          <a:xfrm>
            <a:off x="6792913" y="4998190"/>
            <a:ext cx="3852000" cy="7200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317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80"/>
              <a:buNone/>
              <a:defRPr sz="2100">
                <a:solidFill>
                  <a:schemeClr val="dk1"/>
                </a:solidFill>
              </a:defRPr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grpSp>
        <p:nvGrpSpPr>
          <p:cNvPr id="90" name="Google Shape;90;p37"/>
          <p:cNvGrpSpPr/>
          <p:nvPr/>
        </p:nvGrpSpPr>
        <p:grpSpPr>
          <a:xfrm>
            <a:off x="16303" y="0"/>
            <a:ext cx="12192000" cy="6858000"/>
            <a:chOff x="16303" y="6430358"/>
            <a:chExt cx="12192000" cy="6858000"/>
          </a:xfrm>
        </p:grpSpPr>
        <p:sp>
          <p:nvSpPr>
            <p:cNvPr id="91" name="Google Shape;91;p37"/>
            <p:cNvSpPr/>
            <p:nvPr/>
          </p:nvSpPr>
          <p:spPr>
            <a:xfrm>
              <a:off x="236937" y="6430358"/>
              <a:ext cx="5078012" cy="6858000"/>
            </a:xfrm>
            <a:prstGeom prst="rect">
              <a:avLst/>
            </a:prstGeom>
            <a:blipFill rotWithShape="1">
              <a:blip r:embed="rId2"/>
              <a:stretch>
                <a:fillRect r="-140090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" name="Google Shape;92;p37"/>
            <p:cNvSpPr/>
            <p:nvPr/>
          </p:nvSpPr>
          <p:spPr>
            <a:xfrm rot="-5677511">
              <a:off x="3144589" y="8256436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" name="Google Shape;93;p37"/>
            <p:cNvSpPr/>
            <p:nvPr/>
          </p:nvSpPr>
          <p:spPr>
            <a:xfrm rot="-5400000">
              <a:off x="2233481" y="9232079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94" name="Google Shape;94;p37"/>
            <p:cNvSpPr/>
            <p:nvPr/>
          </p:nvSpPr>
          <p:spPr>
            <a:xfrm>
              <a:off x="16303" y="6431945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95" name="Google Shape;95;p37"/>
          <p:cNvSpPr txBox="1"/>
          <p:nvPr>
            <p:ph type="title"/>
          </p:nvPr>
        </p:nvSpPr>
        <p:spPr>
          <a:xfrm>
            <a:off x="1154956" y="2287088"/>
            <a:ext cx="3438881" cy="2283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Century Gothic" panose="020B0502020202020204"/>
              <a:buNone/>
              <a:defRPr sz="23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7"/>
          <p:cNvSpPr txBox="1"/>
          <p:nvPr>
            <p:ph type="dt" idx="10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7"/>
          <p:cNvSpPr txBox="1"/>
          <p:nvPr>
            <p:ph type="ftr" idx="11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9" name="Google Shape;99;p37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00" name="Google Shape;100;p37"/>
          <p:cNvSpPr/>
          <p:nvPr>
            <p:ph type="pic" idx="6"/>
          </p:nvPr>
        </p:nvSpPr>
        <p:spPr>
          <a:xfrm>
            <a:off x="5870575" y="1840504"/>
            <a:ext cx="536616" cy="536616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37"/>
          <p:cNvSpPr/>
          <p:nvPr>
            <p:ph type="pic" idx="7"/>
          </p:nvPr>
        </p:nvSpPr>
        <p:spPr>
          <a:xfrm>
            <a:off x="5870575" y="2652849"/>
            <a:ext cx="536616" cy="536616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37"/>
          <p:cNvSpPr/>
          <p:nvPr>
            <p:ph type="pic" idx="8"/>
          </p:nvPr>
        </p:nvSpPr>
        <p:spPr>
          <a:xfrm>
            <a:off x="5870575" y="3465194"/>
            <a:ext cx="536616" cy="536616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37"/>
          <p:cNvSpPr/>
          <p:nvPr>
            <p:ph type="pic" idx="9"/>
          </p:nvPr>
        </p:nvSpPr>
        <p:spPr>
          <a:xfrm>
            <a:off x="5870575" y="4277539"/>
            <a:ext cx="536616" cy="536616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37"/>
          <p:cNvSpPr/>
          <p:nvPr>
            <p:ph type="pic" idx="13"/>
          </p:nvPr>
        </p:nvSpPr>
        <p:spPr>
          <a:xfrm>
            <a:off x="5870575" y="5089882"/>
            <a:ext cx="536616" cy="53661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 Icon Bullets Vertical Light">
  <p:cSld name="4 Icon Bullets Vertical Ligh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8"/>
          <p:cNvSpPr/>
          <p:nvPr/>
        </p:nvSpPr>
        <p:spPr>
          <a:xfrm>
            <a:off x="8699143" y="3702940"/>
            <a:ext cx="1261872" cy="1261872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107" name="Google Shape;107;p38"/>
          <p:cNvSpPr/>
          <p:nvPr>
            <p:ph type="pic" idx="2"/>
          </p:nvPr>
        </p:nvSpPr>
        <p:spPr>
          <a:xfrm>
            <a:off x="8865103" y="3869836"/>
            <a:ext cx="929952" cy="929952"/>
          </a:xfrm>
          <a:prstGeom prst="ellipse">
            <a:avLst/>
          </a:prstGeom>
          <a:noFill/>
          <a:ln>
            <a:noFill/>
          </a:ln>
        </p:spPr>
      </p:sp>
      <p:sp>
        <p:nvSpPr>
          <p:cNvPr id="108" name="Google Shape;108;p38"/>
          <p:cNvSpPr/>
          <p:nvPr/>
        </p:nvSpPr>
        <p:spPr>
          <a:xfrm>
            <a:off x="6287247" y="3706777"/>
            <a:ext cx="1261872" cy="1261872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109" name="Google Shape;109;p38"/>
          <p:cNvSpPr/>
          <p:nvPr>
            <p:ph type="pic" idx="3"/>
          </p:nvPr>
        </p:nvSpPr>
        <p:spPr>
          <a:xfrm>
            <a:off x="6452271" y="3873673"/>
            <a:ext cx="929952" cy="929952"/>
          </a:xfrm>
          <a:prstGeom prst="ellipse">
            <a:avLst/>
          </a:prstGeom>
          <a:noFill/>
          <a:ln>
            <a:noFill/>
          </a:ln>
        </p:spPr>
      </p:sp>
      <p:sp>
        <p:nvSpPr>
          <p:cNvPr id="110" name="Google Shape;110;p38"/>
          <p:cNvSpPr/>
          <p:nvPr/>
        </p:nvSpPr>
        <p:spPr>
          <a:xfrm>
            <a:off x="8699143" y="799317"/>
            <a:ext cx="1261872" cy="1261872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111" name="Google Shape;111;p38"/>
          <p:cNvSpPr/>
          <p:nvPr/>
        </p:nvSpPr>
        <p:spPr>
          <a:xfrm>
            <a:off x="6289119" y="799317"/>
            <a:ext cx="1261872" cy="1261872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grpSp>
        <p:nvGrpSpPr>
          <p:cNvPr id="112" name="Google Shape;112;p38"/>
          <p:cNvGrpSpPr/>
          <p:nvPr/>
        </p:nvGrpSpPr>
        <p:grpSpPr>
          <a:xfrm>
            <a:off x="16303" y="0"/>
            <a:ext cx="12192000" cy="6858000"/>
            <a:chOff x="16303" y="6430358"/>
            <a:chExt cx="12192000" cy="6858000"/>
          </a:xfrm>
        </p:grpSpPr>
        <p:sp>
          <p:nvSpPr>
            <p:cNvPr id="113" name="Google Shape;113;p38"/>
            <p:cNvSpPr/>
            <p:nvPr/>
          </p:nvSpPr>
          <p:spPr>
            <a:xfrm>
              <a:off x="236937" y="6430358"/>
              <a:ext cx="5078012" cy="6858000"/>
            </a:xfrm>
            <a:prstGeom prst="rect">
              <a:avLst/>
            </a:prstGeom>
            <a:blipFill rotWithShape="1">
              <a:blip r:embed="rId2"/>
              <a:stretch>
                <a:fillRect r="-140090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" name="Google Shape;114;p38"/>
            <p:cNvSpPr/>
            <p:nvPr/>
          </p:nvSpPr>
          <p:spPr>
            <a:xfrm rot="-5677511">
              <a:off x="3144589" y="8256436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" name="Google Shape;115;p38"/>
            <p:cNvSpPr/>
            <p:nvPr/>
          </p:nvSpPr>
          <p:spPr>
            <a:xfrm rot="-5400000">
              <a:off x="2233481" y="9232079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16" name="Google Shape;116;p38"/>
            <p:cNvSpPr/>
            <p:nvPr/>
          </p:nvSpPr>
          <p:spPr>
            <a:xfrm>
              <a:off x="16303" y="6431945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17" name="Google Shape;117;p38"/>
          <p:cNvSpPr txBox="1"/>
          <p:nvPr>
            <p:ph type="title"/>
          </p:nvPr>
        </p:nvSpPr>
        <p:spPr>
          <a:xfrm>
            <a:off x="1154956" y="2287088"/>
            <a:ext cx="3438881" cy="2283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Century Gothic" panose="020B0502020202020204"/>
              <a:buNone/>
              <a:defRPr sz="23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8"/>
          <p:cNvSpPr txBox="1"/>
          <p:nvPr>
            <p:ph type="dt" idx="10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8"/>
          <p:cNvSpPr txBox="1"/>
          <p:nvPr>
            <p:ph type="ftr" idx="11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1" name="Google Shape;121;p38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22" name="Google Shape;122;p38"/>
          <p:cNvSpPr txBox="1"/>
          <p:nvPr>
            <p:ph type="body" idx="1"/>
          </p:nvPr>
        </p:nvSpPr>
        <p:spPr>
          <a:xfrm>
            <a:off x="5756275" y="2351088"/>
            <a:ext cx="2325688" cy="7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3" name="Google Shape;123;p38"/>
          <p:cNvSpPr txBox="1"/>
          <p:nvPr>
            <p:ph type="body" idx="4"/>
          </p:nvPr>
        </p:nvSpPr>
        <p:spPr>
          <a:xfrm>
            <a:off x="8167235" y="2351088"/>
            <a:ext cx="2325688" cy="7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4" name="Google Shape;124;p38"/>
          <p:cNvSpPr txBox="1"/>
          <p:nvPr>
            <p:ph type="body" idx="5"/>
          </p:nvPr>
        </p:nvSpPr>
        <p:spPr>
          <a:xfrm>
            <a:off x="5756275" y="5258548"/>
            <a:ext cx="2325688" cy="7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5" name="Google Shape;125;p38"/>
          <p:cNvSpPr txBox="1"/>
          <p:nvPr>
            <p:ph type="body" idx="6"/>
          </p:nvPr>
        </p:nvSpPr>
        <p:spPr>
          <a:xfrm>
            <a:off x="8167235" y="5258548"/>
            <a:ext cx="2325688" cy="7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6" name="Google Shape;126;p38"/>
          <p:cNvSpPr/>
          <p:nvPr>
            <p:ph type="pic" idx="7"/>
          </p:nvPr>
        </p:nvSpPr>
        <p:spPr>
          <a:xfrm>
            <a:off x="6454143" y="966213"/>
            <a:ext cx="929952" cy="929952"/>
          </a:xfrm>
          <a:prstGeom prst="ellipse">
            <a:avLst/>
          </a:prstGeom>
          <a:noFill/>
          <a:ln>
            <a:noFill/>
          </a:ln>
        </p:spPr>
      </p:sp>
      <p:sp>
        <p:nvSpPr>
          <p:cNvPr id="127" name="Google Shape;127;p38"/>
          <p:cNvSpPr/>
          <p:nvPr>
            <p:ph type="pic" idx="8"/>
          </p:nvPr>
        </p:nvSpPr>
        <p:spPr>
          <a:xfrm>
            <a:off x="8865103" y="965277"/>
            <a:ext cx="929952" cy="929952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 Icon Bullets Vertical">
  <p:cSld name="4 Icon Bullets Vertical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9"/>
          <p:cNvSpPr/>
          <p:nvPr/>
        </p:nvSpPr>
        <p:spPr>
          <a:xfrm>
            <a:off x="8699143" y="3702940"/>
            <a:ext cx="1261872" cy="126187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130" name="Google Shape;130;p39"/>
          <p:cNvSpPr/>
          <p:nvPr>
            <p:ph type="pic" idx="2"/>
          </p:nvPr>
        </p:nvSpPr>
        <p:spPr>
          <a:xfrm>
            <a:off x="8865103" y="3869836"/>
            <a:ext cx="929952" cy="929952"/>
          </a:xfrm>
          <a:prstGeom prst="ellipse">
            <a:avLst/>
          </a:prstGeom>
          <a:noFill/>
          <a:ln>
            <a:noFill/>
          </a:ln>
        </p:spPr>
      </p:sp>
      <p:sp>
        <p:nvSpPr>
          <p:cNvPr id="131" name="Google Shape;131;p39"/>
          <p:cNvSpPr/>
          <p:nvPr/>
        </p:nvSpPr>
        <p:spPr>
          <a:xfrm>
            <a:off x="6288183" y="3706777"/>
            <a:ext cx="1261872" cy="12618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132" name="Google Shape;132;p39"/>
          <p:cNvSpPr/>
          <p:nvPr>
            <p:ph type="pic" idx="3"/>
          </p:nvPr>
        </p:nvSpPr>
        <p:spPr>
          <a:xfrm>
            <a:off x="6454143" y="3873673"/>
            <a:ext cx="929952" cy="929952"/>
          </a:xfrm>
          <a:prstGeom prst="ellipse">
            <a:avLst/>
          </a:prstGeom>
          <a:noFill/>
          <a:ln>
            <a:noFill/>
          </a:ln>
        </p:spPr>
      </p:sp>
      <p:sp>
        <p:nvSpPr>
          <p:cNvPr id="133" name="Google Shape;133;p39"/>
          <p:cNvSpPr/>
          <p:nvPr/>
        </p:nvSpPr>
        <p:spPr>
          <a:xfrm>
            <a:off x="8699143" y="799317"/>
            <a:ext cx="1261872" cy="12618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134" name="Google Shape;134;p39"/>
          <p:cNvSpPr/>
          <p:nvPr/>
        </p:nvSpPr>
        <p:spPr>
          <a:xfrm>
            <a:off x="6288183" y="799317"/>
            <a:ext cx="1261872" cy="12618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135" name="Google Shape;135;p39"/>
          <p:cNvSpPr/>
          <p:nvPr>
            <p:ph type="pic" idx="4"/>
          </p:nvPr>
        </p:nvSpPr>
        <p:spPr>
          <a:xfrm>
            <a:off x="6454143" y="966213"/>
            <a:ext cx="929952" cy="929952"/>
          </a:xfrm>
          <a:prstGeom prst="ellipse">
            <a:avLst/>
          </a:prstGeom>
          <a:noFill/>
          <a:ln>
            <a:noFill/>
          </a:ln>
        </p:spPr>
      </p:sp>
      <p:sp>
        <p:nvSpPr>
          <p:cNvPr id="136" name="Google Shape;136;p39"/>
          <p:cNvSpPr/>
          <p:nvPr>
            <p:ph type="pic" idx="5"/>
          </p:nvPr>
        </p:nvSpPr>
        <p:spPr>
          <a:xfrm>
            <a:off x="8865103" y="965277"/>
            <a:ext cx="929952" cy="929952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137" name="Google Shape;137;p39"/>
          <p:cNvGrpSpPr/>
          <p:nvPr/>
        </p:nvGrpSpPr>
        <p:grpSpPr>
          <a:xfrm>
            <a:off x="16303" y="0"/>
            <a:ext cx="12192000" cy="6858000"/>
            <a:chOff x="16303" y="6430358"/>
            <a:chExt cx="12192000" cy="6858000"/>
          </a:xfrm>
        </p:grpSpPr>
        <p:sp>
          <p:nvSpPr>
            <p:cNvPr id="138" name="Google Shape;138;p39"/>
            <p:cNvSpPr/>
            <p:nvPr/>
          </p:nvSpPr>
          <p:spPr>
            <a:xfrm>
              <a:off x="236937" y="6430358"/>
              <a:ext cx="5078012" cy="6858000"/>
            </a:xfrm>
            <a:prstGeom prst="rect">
              <a:avLst/>
            </a:prstGeom>
            <a:blipFill rotWithShape="1">
              <a:blip r:embed="rId2"/>
              <a:stretch>
                <a:fillRect r="-140090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" name="Google Shape;139;p39"/>
            <p:cNvSpPr/>
            <p:nvPr/>
          </p:nvSpPr>
          <p:spPr>
            <a:xfrm rot="-5677511">
              <a:off x="3144589" y="8256436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" name="Google Shape;140;p39"/>
            <p:cNvSpPr/>
            <p:nvPr/>
          </p:nvSpPr>
          <p:spPr>
            <a:xfrm rot="-5400000">
              <a:off x="2233481" y="9232079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41" name="Google Shape;141;p39"/>
            <p:cNvSpPr/>
            <p:nvPr/>
          </p:nvSpPr>
          <p:spPr>
            <a:xfrm>
              <a:off x="16303" y="6431945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42" name="Google Shape;142;p39"/>
          <p:cNvSpPr txBox="1"/>
          <p:nvPr>
            <p:ph type="title"/>
          </p:nvPr>
        </p:nvSpPr>
        <p:spPr>
          <a:xfrm>
            <a:off x="1154956" y="2287088"/>
            <a:ext cx="3438881" cy="2283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Century Gothic" panose="020B0502020202020204"/>
              <a:buNone/>
              <a:defRPr sz="23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9"/>
          <p:cNvSpPr txBox="1"/>
          <p:nvPr>
            <p:ph type="dt" idx="10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9"/>
          <p:cNvSpPr txBox="1"/>
          <p:nvPr>
            <p:ph type="ftr" idx="11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6" name="Google Shape;146;p39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47" name="Google Shape;147;p39"/>
          <p:cNvSpPr txBox="1"/>
          <p:nvPr>
            <p:ph type="body" idx="1"/>
          </p:nvPr>
        </p:nvSpPr>
        <p:spPr>
          <a:xfrm>
            <a:off x="5756275" y="2351088"/>
            <a:ext cx="2325688" cy="7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8" name="Google Shape;148;p39"/>
          <p:cNvSpPr txBox="1"/>
          <p:nvPr>
            <p:ph type="body" idx="6"/>
          </p:nvPr>
        </p:nvSpPr>
        <p:spPr>
          <a:xfrm>
            <a:off x="8167235" y="2351088"/>
            <a:ext cx="2325688" cy="7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9" name="Google Shape;149;p39"/>
          <p:cNvSpPr txBox="1"/>
          <p:nvPr>
            <p:ph type="body" idx="7"/>
          </p:nvPr>
        </p:nvSpPr>
        <p:spPr>
          <a:xfrm>
            <a:off x="5756275" y="5258548"/>
            <a:ext cx="2325688" cy="7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50" name="Google Shape;150;p39"/>
          <p:cNvSpPr txBox="1"/>
          <p:nvPr>
            <p:ph type="body" idx="8"/>
          </p:nvPr>
        </p:nvSpPr>
        <p:spPr>
          <a:xfrm>
            <a:off x="8167235" y="5258548"/>
            <a:ext cx="2325688" cy="7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 Icon Bullets Vertical">
  <p:cSld name="2 Icon Bullets Vertical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0"/>
          <p:cNvSpPr/>
          <p:nvPr/>
        </p:nvSpPr>
        <p:spPr>
          <a:xfrm>
            <a:off x="8699143" y="2234226"/>
            <a:ext cx="1261872" cy="12618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153" name="Google Shape;153;p40"/>
          <p:cNvSpPr/>
          <p:nvPr/>
        </p:nvSpPr>
        <p:spPr>
          <a:xfrm>
            <a:off x="6288183" y="2234226"/>
            <a:ext cx="1261872" cy="12618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154" name="Google Shape;154;p40"/>
          <p:cNvSpPr/>
          <p:nvPr>
            <p:ph type="pic" idx="2"/>
          </p:nvPr>
        </p:nvSpPr>
        <p:spPr>
          <a:xfrm>
            <a:off x="6454143" y="2401122"/>
            <a:ext cx="929952" cy="929952"/>
          </a:xfrm>
          <a:prstGeom prst="ellipse">
            <a:avLst/>
          </a:prstGeom>
          <a:noFill/>
          <a:ln>
            <a:noFill/>
          </a:ln>
        </p:spPr>
      </p:sp>
      <p:sp>
        <p:nvSpPr>
          <p:cNvPr id="155" name="Google Shape;155;p40"/>
          <p:cNvSpPr/>
          <p:nvPr>
            <p:ph type="pic" idx="3"/>
          </p:nvPr>
        </p:nvSpPr>
        <p:spPr>
          <a:xfrm>
            <a:off x="8865103" y="2400186"/>
            <a:ext cx="929952" cy="929952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156" name="Google Shape;156;p40"/>
          <p:cNvGrpSpPr/>
          <p:nvPr/>
        </p:nvGrpSpPr>
        <p:grpSpPr>
          <a:xfrm>
            <a:off x="16303" y="0"/>
            <a:ext cx="12192000" cy="6858000"/>
            <a:chOff x="16303" y="6430358"/>
            <a:chExt cx="12192000" cy="6858000"/>
          </a:xfrm>
        </p:grpSpPr>
        <p:sp>
          <p:nvSpPr>
            <p:cNvPr id="157" name="Google Shape;157;p40"/>
            <p:cNvSpPr/>
            <p:nvPr/>
          </p:nvSpPr>
          <p:spPr>
            <a:xfrm>
              <a:off x="236937" y="6430358"/>
              <a:ext cx="5078012" cy="6858000"/>
            </a:xfrm>
            <a:prstGeom prst="rect">
              <a:avLst/>
            </a:prstGeom>
            <a:blipFill rotWithShape="1">
              <a:blip r:embed="rId2"/>
              <a:stretch>
                <a:fillRect r="-140090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" name="Google Shape;158;p40"/>
            <p:cNvSpPr/>
            <p:nvPr/>
          </p:nvSpPr>
          <p:spPr>
            <a:xfrm rot="-5677511">
              <a:off x="3144589" y="8256436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" name="Google Shape;159;p40"/>
            <p:cNvSpPr/>
            <p:nvPr/>
          </p:nvSpPr>
          <p:spPr>
            <a:xfrm rot="-5400000">
              <a:off x="2233481" y="9232079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60" name="Google Shape;160;p40"/>
            <p:cNvSpPr/>
            <p:nvPr/>
          </p:nvSpPr>
          <p:spPr>
            <a:xfrm>
              <a:off x="16303" y="6431945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61" name="Google Shape;161;p40"/>
          <p:cNvSpPr txBox="1"/>
          <p:nvPr>
            <p:ph type="title"/>
          </p:nvPr>
        </p:nvSpPr>
        <p:spPr>
          <a:xfrm>
            <a:off x="1154956" y="2287088"/>
            <a:ext cx="3438881" cy="2283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Century Gothic" panose="020B0502020202020204"/>
              <a:buNone/>
              <a:defRPr sz="23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40"/>
          <p:cNvSpPr txBox="1"/>
          <p:nvPr>
            <p:ph type="dt" idx="10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40"/>
          <p:cNvSpPr txBox="1"/>
          <p:nvPr>
            <p:ph type="ftr" idx="11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4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5" name="Google Shape;165;p40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66" name="Google Shape;166;p40"/>
          <p:cNvSpPr txBox="1"/>
          <p:nvPr>
            <p:ph type="body" idx="1"/>
          </p:nvPr>
        </p:nvSpPr>
        <p:spPr>
          <a:xfrm>
            <a:off x="5756275" y="3785996"/>
            <a:ext cx="2325688" cy="1503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67" name="Google Shape;167;p40"/>
          <p:cNvSpPr txBox="1"/>
          <p:nvPr>
            <p:ph type="body" idx="4"/>
          </p:nvPr>
        </p:nvSpPr>
        <p:spPr>
          <a:xfrm>
            <a:off x="8167235" y="3785996"/>
            <a:ext cx="2325688" cy="1503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 Icon Bullets Horizontal">
  <p:cSld name="4 Icon Bullets Horizontal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1"/>
          <p:cNvSpPr/>
          <p:nvPr/>
        </p:nvSpPr>
        <p:spPr>
          <a:xfrm>
            <a:off x="8404601" y="3981394"/>
            <a:ext cx="1042415" cy="104241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170" name="Google Shape;170;p41"/>
          <p:cNvSpPr/>
          <p:nvPr>
            <p:ph type="pic" idx="2"/>
          </p:nvPr>
        </p:nvSpPr>
        <p:spPr>
          <a:xfrm>
            <a:off x="8535100" y="4123125"/>
            <a:ext cx="781417" cy="758952"/>
          </a:xfrm>
          <a:prstGeom prst="ellipse">
            <a:avLst/>
          </a:prstGeom>
          <a:noFill/>
          <a:ln>
            <a:noFill/>
          </a:ln>
        </p:spPr>
      </p:sp>
      <p:sp>
        <p:nvSpPr>
          <p:cNvPr id="171" name="Google Shape;171;p41"/>
          <p:cNvSpPr/>
          <p:nvPr/>
        </p:nvSpPr>
        <p:spPr>
          <a:xfrm>
            <a:off x="8404601" y="1932281"/>
            <a:ext cx="1042415" cy="104241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172" name="Google Shape;172;p41"/>
          <p:cNvSpPr/>
          <p:nvPr>
            <p:ph type="pic" idx="3"/>
          </p:nvPr>
        </p:nvSpPr>
        <p:spPr>
          <a:xfrm>
            <a:off x="8535100" y="2074012"/>
            <a:ext cx="781417" cy="758952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173" name="Google Shape;173;p41"/>
          <p:cNvGrpSpPr/>
          <p:nvPr/>
        </p:nvGrpSpPr>
        <p:grpSpPr>
          <a:xfrm>
            <a:off x="16303" y="0"/>
            <a:ext cx="12192000" cy="6858000"/>
            <a:chOff x="16303" y="6430358"/>
            <a:chExt cx="12192000" cy="6858000"/>
          </a:xfrm>
        </p:grpSpPr>
        <p:sp>
          <p:nvSpPr>
            <p:cNvPr id="174" name="Google Shape;174;p41"/>
            <p:cNvSpPr/>
            <p:nvPr/>
          </p:nvSpPr>
          <p:spPr>
            <a:xfrm>
              <a:off x="236937" y="6430358"/>
              <a:ext cx="5078012" cy="6858000"/>
            </a:xfrm>
            <a:prstGeom prst="rect">
              <a:avLst/>
            </a:prstGeom>
            <a:blipFill rotWithShape="1">
              <a:blip r:embed="rId2"/>
              <a:stretch>
                <a:fillRect r="-140090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" name="Google Shape;175;p41"/>
            <p:cNvSpPr/>
            <p:nvPr/>
          </p:nvSpPr>
          <p:spPr>
            <a:xfrm rot="-5677511">
              <a:off x="3144589" y="8256436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" name="Google Shape;176;p41"/>
            <p:cNvSpPr/>
            <p:nvPr/>
          </p:nvSpPr>
          <p:spPr>
            <a:xfrm rot="-5400000">
              <a:off x="2233481" y="9232079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77" name="Google Shape;177;p41"/>
            <p:cNvSpPr/>
            <p:nvPr/>
          </p:nvSpPr>
          <p:spPr>
            <a:xfrm>
              <a:off x="16303" y="6431945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78" name="Google Shape;178;p41"/>
          <p:cNvSpPr txBox="1"/>
          <p:nvPr>
            <p:ph type="title"/>
          </p:nvPr>
        </p:nvSpPr>
        <p:spPr>
          <a:xfrm>
            <a:off x="1154956" y="2287088"/>
            <a:ext cx="3438881" cy="2283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Century Gothic" panose="020B0502020202020204"/>
              <a:buNone/>
              <a:defRPr sz="23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41"/>
          <p:cNvSpPr txBox="1"/>
          <p:nvPr>
            <p:ph type="dt" idx="10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41"/>
          <p:cNvSpPr txBox="1"/>
          <p:nvPr>
            <p:ph type="ftr" idx="11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4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2" name="Google Shape;182;p41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83" name="Google Shape;183;p41"/>
          <p:cNvSpPr txBox="1"/>
          <p:nvPr>
            <p:ph type="body" idx="1"/>
          </p:nvPr>
        </p:nvSpPr>
        <p:spPr>
          <a:xfrm>
            <a:off x="6189670" y="1840992"/>
            <a:ext cx="2095046" cy="1225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84" name="Google Shape;184;p41"/>
          <p:cNvSpPr txBox="1"/>
          <p:nvPr>
            <p:ph type="body" idx="4"/>
          </p:nvPr>
        </p:nvSpPr>
        <p:spPr>
          <a:xfrm>
            <a:off x="9519533" y="1840992"/>
            <a:ext cx="2095046" cy="1225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85" name="Google Shape;185;p41"/>
          <p:cNvSpPr txBox="1"/>
          <p:nvPr>
            <p:ph type="body" idx="5"/>
          </p:nvPr>
        </p:nvSpPr>
        <p:spPr>
          <a:xfrm>
            <a:off x="6189670" y="3891529"/>
            <a:ext cx="2095046" cy="1222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86" name="Google Shape;186;p41"/>
          <p:cNvSpPr txBox="1"/>
          <p:nvPr>
            <p:ph type="body" idx="6"/>
          </p:nvPr>
        </p:nvSpPr>
        <p:spPr>
          <a:xfrm>
            <a:off x="9519533" y="3891529"/>
            <a:ext cx="2095046" cy="1222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87" name="Google Shape;187;p41"/>
          <p:cNvSpPr/>
          <p:nvPr/>
        </p:nvSpPr>
        <p:spPr>
          <a:xfrm>
            <a:off x="5070995" y="1932281"/>
            <a:ext cx="1042415" cy="104241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188" name="Google Shape;188;p41"/>
          <p:cNvSpPr/>
          <p:nvPr>
            <p:ph type="pic" idx="7"/>
          </p:nvPr>
        </p:nvSpPr>
        <p:spPr>
          <a:xfrm>
            <a:off x="5201494" y="2074012"/>
            <a:ext cx="781417" cy="758952"/>
          </a:xfrm>
          <a:prstGeom prst="ellipse">
            <a:avLst/>
          </a:prstGeom>
          <a:noFill/>
          <a:ln>
            <a:noFill/>
          </a:ln>
        </p:spPr>
      </p:sp>
      <p:sp>
        <p:nvSpPr>
          <p:cNvPr id="189" name="Google Shape;189;p41"/>
          <p:cNvSpPr/>
          <p:nvPr/>
        </p:nvSpPr>
        <p:spPr>
          <a:xfrm>
            <a:off x="5070995" y="3981394"/>
            <a:ext cx="1042415" cy="104241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190" name="Google Shape;190;p41"/>
          <p:cNvSpPr/>
          <p:nvPr>
            <p:ph type="pic" idx="8"/>
          </p:nvPr>
        </p:nvSpPr>
        <p:spPr>
          <a:xfrm>
            <a:off x="5201494" y="4123125"/>
            <a:ext cx="781417" cy="758952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>
  <p:cSld name="Picture with Caption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4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93" name="Google Shape;193;p4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" name="Google Shape;194;p4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5" name="Google Shape;195;p42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6" name="Google Shape;196;p4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" name="Google Shape;197;p42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" name="Google Shape;198;p42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9" name="Google Shape;199;p42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" name="Google Shape;200;p42"/>
            <p:cNvSpPr/>
            <p:nvPr/>
          </p:nvSpPr>
          <p:spPr>
            <a:xfrm rot="-54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01" name="Google Shape;201;p42"/>
            <p:cNvSpPr/>
            <p:nvPr/>
          </p:nvSpPr>
          <p:spPr>
            <a:xfrm rot="-5677511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" name="Google Shape;202;p42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203" name="Google Shape;203;p42"/>
          <p:cNvSpPr txBox="1"/>
          <p:nvPr>
            <p:ph type="title"/>
          </p:nvPr>
        </p:nvSpPr>
        <p:spPr>
          <a:xfrm>
            <a:off x="1153907" y="1693332"/>
            <a:ext cx="3860260" cy="1735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Century Gothic" panose="020B0502020202020204"/>
              <a:buNone/>
              <a:defRPr sz="23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42"/>
          <p:cNvSpPr/>
          <p:nvPr>
            <p:ph type="pic" idx="2"/>
          </p:nvPr>
        </p:nvSpPr>
        <p:spPr>
          <a:xfrm>
            <a:off x="6058861" y="478881"/>
            <a:ext cx="5582675" cy="5908526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42"/>
          <p:cNvSpPr txBox="1"/>
          <p:nvPr>
            <p:ph type="body" idx="1"/>
          </p:nvPr>
        </p:nvSpPr>
        <p:spPr>
          <a:xfrm>
            <a:off x="1154955" y="3657600"/>
            <a:ext cx="385921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9720" algn="l">
              <a:spcBef>
                <a:spcPts val="1000"/>
              </a:spcBef>
              <a:spcAft>
                <a:spcPts val="0"/>
              </a:spcAft>
              <a:buSzPts val="1120"/>
              <a:buFont typeface="Arial" panose="020B0604020202020204"/>
              <a:buChar char="•"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06" name="Google Shape;206;p42"/>
          <p:cNvSpPr txBox="1"/>
          <p:nvPr>
            <p:ph type="dt" idx="10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42"/>
          <p:cNvSpPr txBox="1"/>
          <p:nvPr>
            <p:ph type="ftr" idx="11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4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9" name="Google Shape;209;p42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>
  <p:cSld name="Content with Caption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4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12" name="Google Shape;212;p4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" name="Google Shape;213;p4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" name="Google Shape;214;p4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" name="Google Shape;215;p4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" name="Google Shape;216;p4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" name="Google Shape;217;p43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" name="Google Shape;218;p43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" name="Google Shape;219;p43"/>
            <p:cNvSpPr/>
            <p:nvPr/>
          </p:nvSpPr>
          <p:spPr>
            <a:xfrm rot="-54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20" name="Google Shape;220;p43"/>
            <p:cNvSpPr/>
            <p:nvPr/>
          </p:nvSpPr>
          <p:spPr>
            <a:xfrm rot="-5677511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" name="Google Shape;221;p43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222" name="Google Shape;222;p43"/>
          <p:cNvSpPr txBox="1"/>
          <p:nvPr>
            <p:ph type="body" idx="1"/>
          </p:nvPr>
        </p:nvSpPr>
        <p:spPr>
          <a:xfrm>
            <a:off x="6058861" y="478880"/>
            <a:ext cx="5582675" cy="5900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23" name="Google Shape;223;p43"/>
          <p:cNvSpPr txBox="1"/>
          <p:nvPr>
            <p:ph type="title"/>
          </p:nvPr>
        </p:nvSpPr>
        <p:spPr>
          <a:xfrm>
            <a:off x="1153907" y="1693332"/>
            <a:ext cx="3860260" cy="1735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Century Gothic" panose="020B0502020202020204"/>
              <a:buNone/>
              <a:defRPr sz="23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43"/>
          <p:cNvSpPr txBox="1"/>
          <p:nvPr>
            <p:ph type="body" idx="2"/>
          </p:nvPr>
        </p:nvSpPr>
        <p:spPr>
          <a:xfrm>
            <a:off x="1154955" y="3657600"/>
            <a:ext cx="385921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9720" algn="l">
              <a:spcBef>
                <a:spcPts val="1000"/>
              </a:spcBef>
              <a:spcAft>
                <a:spcPts val="0"/>
              </a:spcAft>
              <a:buSzPts val="1120"/>
              <a:buFont typeface="Arial" panose="020B0604020202020204"/>
              <a:buChar char="•"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25" name="Google Shape;225;p43"/>
          <p:cNvSpPr txBox="1"/>
          <p:nvPr>
            <p:ph type="dt" idx="10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43"/>
          <p:cNvSpPr txBox="1"/>
          <p:nvPr>
            <p:ph type="ftr" idx="11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4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8" name="Google Shape;228;p43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4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44"/>
          <p:cNvSpPr txBox="1"/>
          <p:nvPr>
            <p:ph type="body" idx="1"/>
          </p:nvPr>
        </p:nvSpPr>
        <p:spPr>
          <a:xfrm>
            <a:off x="1154954" y="2603500"/>
            <a:ext cx="4825158" cy="3416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32" name="Google Shape;232;p44"/>
          <p:cNvSpPr txBox="1"/>
          <p:nvPr>
            <p:ph type="body" idx="2"/>
          </p:nvPr>
        </p:nvSpPr>
        <p:spPr>
          <a:xfrm>
            <a:off x="6208712" y="2603500"/>
            <a:ext cx="4825159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33" name="Google Shape;233;p44"/>
          <p:cNvSpPr txBox="1"/>
          <p:nvPr>
            <p:ph type="dt" idx="10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44"/>
          <p:cNvSpPr txBox="1"/>
          <p:nvPr>
            <p:ph type="ftr" idx="11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44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5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45"/>
          <p:cNvSpPr txBox="1"/>
          <p:nvPr>
            <p:ph type="dt" idx="10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45"/>
          <p:cNvSpPr txBox="1"/>
          <p:nvPr>
            <p:ph type="ftr" idx="11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45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6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46"/>
          <p:cNvSpPr txBox="1"/>
          <p:nvPr>
            <p:ph type="dt" idx="10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46"/>
          <p:cNvSpPr txBox="1"/>
          <p:nvPr>
            <p:ph type="ftr" idx="11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46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46" name="Google Shape;246;p46"/>
          <p:cNvSpPr txBox="1"/>
          <p:nvPr>
            <p:ph type="body" idx="1"/>
          </p:nvPr>
        </p:nvSpPr>
        <p:spPr>
          <a:xfrm>
            <a:off x="1764150" y="2406650"/>
            <a:ext cx="8663700" cy="3477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1000"/>
              </a:spcBef>
              <a:spcAft>
                <a:spcPts val="0"/>
              </a:spcAft>
              <a:buSzPts val="4800"/>
              <a:buNone/>
              <a:defRPr sz="60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 matchingName="Blank">
  <p:cSld name="BLANK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7"/>
          <p:cNvSpPr txBox="1"/>
          <p:nvPr>
            <p:ph type="dt" idx="10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47"/>
          <p:cNvSpPr txBox="1"/>
          <p:nvPr>
            <p:ph type="ftr" idx="11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4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1" name="Google Shape;251;p47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1.png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Google Shape;11;p3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17"/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12;p31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10980"/>
                  </a:srgbClr>
                </a:gs>
                <a:gs pos="36000">
                  <a:srgbClr val="F7F7F7">
                    <a:alpha val="9803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13;p3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7843"/>
                  </a:srgbClr>
                </a:gs>
                <a:gs pos="36000">
                  <a:srgbClr val="F7F7F7">
                    <a:alpha val="7843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14;p3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5882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5;p31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16;p31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3725"/>
                  </a:srgbClr>
                </a:gs>
                <a:gs pos="36000">
                  <a:srgbClr val="F7F7F7">
                    <a:alpha val="6666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17;p31"/>
            <p:cNvSpPr/>
            <p:nvPr/>
          </p:nvSpPr>
          <p:spPr>
            <a:xfrm rot="-589932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18;p31"/>
            <p:cNvSpPr/>
            <p:nvPr/>
          </p:nvSpPr>
          <p:spPr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l" t="t" r="r" b="b"/>
              <a:pathLst>
                <a:path w="7104" h="2856" extrusionOk="0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9" name="Google Shape;19;p31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20" name="Google Shape;20;p31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 panose="020B0502020202020204"/>
              <a:buNone/>
              <a:defRPr sz="3600" b="0" i="0" u="none" strike="noStrike" cap="none">
                <a:solidFill>
                  <a:schemeClr val="lt2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" name="Google Shape;21;p31"/>
          <p:cNvSpPr txBox="1"/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sz="1800" b="0" i="0" u="none" strike="noStrike" cap="none">
                <a:solidFill>
                  <a:srgbClr val="3F3F3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3F3F3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1371600" marR="0" lvl="2" indent="-29972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3F3F3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3657600" marR="0" lvl="7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4114800" marR="0" lvl="8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/>
        </p:txBody>
      </p:sp>
      <p:sp>
        <p:nvSpPr>
          <p:cNvPr id="22" name="Google Shape;22;p31"/>
          <p:cNvSpPr txBox="1"/>
          <p:nvPr>
            <p:ph type="dt" idx="10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1" i="0" u="none" strike="noStrike" cap="none">
                <a:solidFill>
                  <a:srgbClr val="3F3F3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/>
        </p:txBody>
      </p:sp>
      <p:sp>
        <p:nvSpPr>
          <p:cNvPr id="23" name="Google Shape;23;p31"/>
          <p:cNvSpPr txBox="1"/>
          <p:nvPr>
            <p:ph type="ftr" idx="11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1" i="0" u="none" strike="noStrike" cap="none">
                <a:solidFill>
                  <a:srgbClr val="3F3F3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/>
        </p:txBody>
      </p:sp>
      <p:sp>
        <p:nvSpPr>
          <p:cNvPr id="24" name="Google Shape;24;p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" name="Google Shape;25;p31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GI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GI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"/>
          <p:cNvSpPr txBox="1"/>
          <p:nvPr>
            <p:ph type="ctrTitle"/>
          </p:nvPr>
        </p:nvSpPr>
        <p:spPr>
          <a:xfrm>
            <a:off x="1271270" y="620395"/>
            <a:ext cx="8714740" cy="1941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 panose="02020603050405020304"/>
              <a:buNone/>
            </a:pPr>
            <a:r>
              <a:rPr lang="en-GB" altLang="en-US" sz="360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Week-3</a:t>
            </a:r>
            <a:br>
              <a:rPr lang="en-GB" altLang="en-US" sz="360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GB" altLang="en-US" sz="360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Session-1</a:t>
            </a:r>
            <a:br>
              <a:rPr lang="en-US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</p:txBody>
      </p:sp>
      <p:sp>
        <p:nvSpPr>
          <p:cNvPr id="257" name="Google Shape;257;p1"/>
          <p:cNvSpPr txBox="1"/>
          <p:nvPr>
            <p:ph type="subTitle" idx="1"/>
          </p:nvPr>
        </p:nvSpPr>
        <p:spPr>
          <a:xfrm>
            <a:off x="1055370" y="2348865"/>
            <a:ext cx="8825865" cy="2164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3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Understanding Economics and How It Affects Business</a:t>
            </a:r>
            <a:endParaRPr lang="en-US" sz="360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Times New Roman" panose="02020603050405020304"/>
              <a:buNone/>
            </a:pPr>
            <a:r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Topics to be Covered</a:t>
            </a:r>
            <a:endParaRPr lang="en-US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3" name="Google Shape;263;p2"/>
          <p:cNvSpPr txBox="1"/>
          <p:nvPr>
            <p:ph type="body" idx="1"/>
          </p:nvPr>
        </p:nvSpPr>
        <p:spPr>
          <a:xfrm>
            <a:off x="1154954" y="2357120"/>
            <a:ext cx="10203926" cy="4500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760"/>
              <a:buFont typeface="Noto Sans Symbols"/>
              <a:buChar char="❑"/>
            </a:pPr>
            <a:r>
              <a:rPr lang="en-US"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major branches of economics </a:t>
            </a:r>
            <a:endParaRPr lang="en-US" sz="22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760"/>
              <a:buFont typeface="Noto Sans Symbols"/>
              <a:buChar char="❑"/>
            </a:pPr>
            <a:r>
              <a:rPr lang="en-US"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Resource development </a:t>
            </a:r>
            <a:endParaRPr lang="en-US" sz="22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760"/>
              <a:buFont typeface="Noto Sans Symbols"/>
              <a:buChar char="❑"/>
            </a:pPr>
            <a:r>
              <a:rPr lang="en-US"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Key Economic Indicators</a:t>
            </a:r>
            <a:endParaRPr lang="en-US" sz="22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760"/>
              <a:buFont typeface="Noto Sans Symbols"/>
              <a:buChar char="❑"/>
            </a:pPr>
            <a:r>
              <a:rPr lang="en-US"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Invisible Hand Theory</a:t>
            </a:r>
            <a:endParaRPr lang="en-US" sz="22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760"/>
              <a:buFont typeface="Noto Sans Symbols"/>
              <a:buChar char="❑"/>
            </a:pPr>
            <a:r>
              <a:rPr lang="en-US"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Free market Capitalism, foundations of capitalism, Socialism and Communism</a:t>
            </a:r>
            <a:endParaRPr lang="en-US" sz="22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760"/>
              <a:buFont typeface="Noto Sans Symbols"/>
              <a:buChar char="❑"/>
            </a:pPr>
            <a:r>
              <a:rPr lang="en-US"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Trend Towards Mixed Economies</a:t>
            </a:r>
            <a:endParaRPr lang="en-US" sz="22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760"/>
              <a:buFont typeface="Noto Sans Symbols"/>
              <a:buChar char="❑"/>
            </a:pPr>
            <a:r>
              <a:rPr lang="en-US"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Competition within Free Markets</a:t>
            </a:r>
            <a:endParaRPr lang="en-US" sz="22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760"/>
              <a:buFont typeface="Noto Sans Symbols"/>
              <a:buChar char="❑"/>
            </a:pPr>
            <a:r>
              <a:rPr lang="en-US"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Demand and its determinants</a:t>
            </a:r>
            <a:endParaRPr lang="en-US" sz="22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760"/>
              <a:buFont typeface="Noto Sans Symbols"/>
              <a:buChar char="❑"/>
            </a:pPr>
            <a:r>
              <a:rPr lang="en-US"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Supply and its determinants</a:t>
            </a:r>
            <a:endParaRPr lang="en-US" sz="22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760"/>
              <a:buFont typeface="Noto Sans Symbols"/>
              <a:buChar char="❑"/>
            </a:pPr>
            <a:r>
              <a:rPr lang="en-US" sz="2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Equilibrium, shortage and surplus</a:t>
            </a:r>
            <a:endParaRPr lang="en-US" sz="22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241300" algn="l" rtl="0">
              <a:spcBef>
                <a:spcPts val="1000"/>
              </a:spcBef>
              <a:spcAft>
                <a:spcPts val="0"/>
              </a:spcAft>
              <a:buSzPts val="1600"/>
              <a:buFont typeface="Arial" panose="020B0604020202020204"/>
              <a:buNone/>
            </a:pPr>
            <a:endParaRPr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220980" algn="l" rtl="0">
              <a:spcBef>
                <a:spcPts val="1000"/>
              </a:spcBef>
              <a:spcAft>
                <a:spcPts val="0"/>
              </a:spcAft>
              <a:buSzPts val="1920"/>
              <a:buFont typeface="Arial" panose="020B0604020202020204"/>
              <a:buNone/>
            </a:pPr>
            <a:endParaRPr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220980" algn="l" rtl="0">
              <a:spcBef>
                <a:spcPts val="1000"/>
              </a:spcBef>
              <a:spcAft>
                <a:spcPts val="0"/>
              </a:spcAft>
              <a:buSzPts val="1920"/>
              <a:buFont typeface="Arial" panose="020B0604020202020204"/>
              <a:buNone/>
            </a:pPr>
            <a:endParaRPr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241300" algn="l" rtl="0">
              <a:spcBef>
                <a:spcPts val="1000"/>
              </a:spcBef>
              <a:spcAft>
                <a:spcPts val="0"/>
              </a:spcAft>
              <a:buSzPts val="1600"/>
              <a:buFont typeface="Arial" panose="020B0604020202020204"/>
              <a:buNone/>
            </a:pPr>
            <a:endParaRPr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4" name="Google Shape;264;p2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Times New Roman" panose="02020603050405020304"/>
              <a:buNone/>
            </a:pPr>
            <a:r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Major Branches of Economics</a:t>
            </a:r>
            <a:endParaRPr lang="en-US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0" name="Google Shape;270;p3"/>
          <p:cNvSpPr txBox="1"/>
          <p:nvPr>
            <p:ph type="body" idx="1"/>
          </p:nvPr>
        </p:nvSpPr>
        <p:spPr>
          <a:xfrm>
            <a:off x="1154955" y="2603500"/>
            <a:ext cx="10035784" cy="37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Char char="❑"/>
            </a:pPr>
            <a:r>
              <a:rPr lang="en-US" sz="2400" b="1" i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Economics: </a:t>
            </a:r>
            <a:endParaRPr lang="en-US" sz="2400" b="1" i="0" u="none" strike="noStrik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Font typeface="Courier New" panose="02070309020205020404"/>
              <a:buChar char="o"/>
            </a:pPr>
            <a:r>
              <a:rPr lang="en-US" sz="2400" b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study of how society employs resources to produce goods and services and distribute them for consumption among various competing groups and individuals.</a:t>
            </a:r>
            <a:r>
              <a:rPr lang="en-US" sz="2400"/>
              <a:t> </a:t>
            </a:r>
            <a:endParaRPr lang="en-US" sz="240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Font typeface="Courier New" panose="02070309020205020404"/>
              <a:buChar char="o"/>
            </a:pP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It is the science of scarcity. </a:t>
            </a:r>
            <a:endParaRPr 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540"/>
              </a:spcBef>
              <a:spcAft>
                <a:spcPts val="0"/>
              </a:spcAft>
              <a:buSzPts val="1920"/>
              <a:buFont typeface="Noto Sans Symbols"/>
              <a:buChar char="❑"/>
            </a:pPr>
            <a:r>
              <a:rPr lang="en-US" sz="2400" b="1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Macroeconomics: </a:t>
            </a:r>
            <a:r>
              <a:rPr lang="en-US" sz="240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branch of economics that focuses </a:t>
            </a:r>
            <a:r>
              <a:rPr lang="en-US" sz="2400" b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on the operation of a nation’s economy as a whole.</a:t>
            </a:r>
            <a:endParaRPr sz="2400" b="1" u="none" strike="noStrik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540"/>
              </a:spcBef>
              <a:spcAft>
                <a:spcPts val="0"/>
              </a:spcAft>
              <a:buSzPts val="1920"/>
              <a:buFont typeface="Noto Sans Symbols"/>
              <a:buChar char="❑"/>
            </a:pPr>
            <a:r>
              <a:rPr lang="en-US" sz="2400" b="1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Microeconomics: </a:t>
            </a:r>
            <a:r>
              <a:rPr lang="en-US" sz="240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branch of economics that focuses </a:t>
            </a:r>
            <a:r>
              <a:rPr lang="en-US" sz="2400" b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on the behavior of people and organizations in markets for particular products or services.</a:t>
            </a:r>
            <a:endParaRPr sz="2400" b="1" u="none" strike="noStrik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251460" algn="l" rtl="0">
              <a:spcBef>
                <a:spcPts val="1000"/>
              </a:spcBef>
              <a:spcAft>
                <a:spcPts val="0"/>
              </a:spcAft>
              <a:buSzPts val="1440"/>
              <a:buNone/>
            </a:pPr>
          </a:p>
        </p:txBody>
      </p:sp>
      <p:sp>
        <p:nvSpPr>
          <p:cNvPr id="271" name="Google Shape;271;p3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Times New Roman" panose="02020603050405020304"/>
              <a:buNone/>
            </a:pPr>
            <a:r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Resource Development</a:t>
            </a:r>
            <a:endParaRPr lang="en-US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7" name="Google Shape;277;p4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78" name="Google Shape;278;p4"/>
          <p:cNvSpPr txBox="1"/>
          <p:nvPr>
            <p:ph type="body" idx="2"/>
          </p:nvPr>
        </p:nvSpPr>
        <p:spPr>
          <a:xfrm>
            <a:off x="1270000" y="2611120"/>
            <a:ext cx="5252719" cy="4246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ct val="80000"/>
              <a:buFont typeface="Noto Sans Symbols"/>
              <a:buChar char="❑"/>
            </a:pPr>
            <a:r>
              <a:rPr lang="en-US" sz="5100" b="1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Resource Development: </a:t>
            </a:r>
            <a:r>
              <a:rPr lang="en-US" sz="510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study of how to increase resources and create conditions that will make better use of those resources. </a:t>
            </a:r>
            <a:endParaRPr lang="en-US" sz="5100" u="none" strike="noStrik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endParaRPr sz="5100" u="none" strike="noStrik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ct val="80000"/>
              <a:buFont typeface="Courier New" panose="02070309020205020404"/>
              <a:buChar char="o"/>
            </a:pPr>
            <a:r>
              <a:rPr lang="en-US" sz="51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</a:t>
            </a:r>
            <a:r>
              <a:rPr lang="en-US" sz="510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ew energy sources (hydrogen fuel for autos)</a:t>
            </a:r>
            <a:endParaRPr lang="en-US" sz="5100" u="none" strike="noStrik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ct val="80000"/>
              <a:buFont typeface="Courier New" panose="02070309020205020404"/>
              <a:buChar char="o"/>
            </a:pPr>
            <a:r>
              <a:rPr lang="en-US" sz="510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New ways of growing food (hydroponic)</a:t>
            </a:r>
            <a:endParaRPr lang="en-US" sz="5100" u="none" strike="noStrik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ct val="80000"/>
              <a:buFont typeface="Courier New" panose="02070309020205020404"/>
              <a:buChar char="o"/>
            </a:pPr>
            <a:r>
              <a:rPr lang="en-US" sz="510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New ways of creating needed goods and services (mariculture and nanotechnology).</a:t>
            </a:r>
            <a:endParaRPr lang="en-US" sz="5100" u="none" strike="noStrik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299720" algn="l" rtl="0">
              <a:spcBef>
                <a:spcPts val="1000"/>
              </a:spcBef>
              <a:spcAft>
                <a:spcPts val="0"/>
              </a:spcAft>
              <a:buSzPct val="80000"/>
              <a:buNone/>
            </a:pPr>
          </a:p>
        </p:txBody>
      </p:sp>
      <p:pic>
        <p:nvPicPr>
          <p:cNvPr id="279" name="Google Shape;279;p4"/>
          <p:cNvPicPr preferRelativeResize="0"/>
          <p:nvPr>
            <p:ph type="body" idx="4"/>
          </p:nvPr>
        </p:nvPicPr>
        <p:blipFill rotWithShape="1">
          <a:blip r:embed="rId1"/>
          <a:srcRect/>
          <a:stretch>
            <a:fillRect/>
          </a:stretch>
        </p:blipFill>
        <p:spPr>
          <a:xfrm>
            <a:off x="7058818" y="3179762"/>
            <a:ext cx="3863181" cy="2443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Times New Roman" panose="02020603050405020304"/>
              <a:buNone/>
            </a:pPr>
            <a:r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Key Economic Indicators</a:t>
            </a:r>
            <a:endParaRPr lang="en-US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5" name="Google Shape;285;p5"/>
          <p:cNvSpPr txBox="1"/>
          <p:nvPr>
            <p:ph type="body" idx="1"/>
          </p:nvPr>
        </p:nvSpPr>
        <p:spPr>
          <a:xfrm>
            <a:off x="650240" y="2529840"/>
            <a:ext cx="11115040" cy="410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Char char="❑"/>
            </a:pPr>
            <a:r>
              <a:rPr lang="en-US" sz="24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GDP: </a:t>
            </a: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total value of final goods and services produced in a country in a given year.</a:t>
            </a:r>
            <a:endParaRPr 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920"/>
              <a:buFont typeface="Noto Sans Symbols"/>
              <a:buChar char="❑"/>
            </a:pPr>
            <a:r>
              <a:rPr lang="en-US" sz="24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Unemployment Rate: </a:t>
            </a: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percentage of civilians at least 16 years old who are unemployed and tried to find a job within the prior four weeks. Types of unemployment include frictional, structural, cyclical and seasonal. </a:t>
            </a:r>
            <a:endParaRPr 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0" algn="l" rtl="0">
              <a:spcBef>
                <a:spcPts val="1000"/>
              </a:spcBef>
              <a:spcAft>
                <a:spcPts val="0"/>
              </a:spcAft>
              <a:buNone/>
            </a:pPr>
          </a:p>
        </p:txBody>
      </p:sp>
      <p:sp>
        <p:nvSpPr>
          <p:cNvPr id="286" name="Google Shape;286;p5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6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 panose="020B0502020202020204"/>
              <a:buNone/>
            </a:pPr>
            <a:r>
              <a:rPr lang="en-US"/>
              <a:t>GDP (continued)</a:t>
            </a:r>
            <a:endParaRPr lang="en-US"/>
          </a:p>
        </p:txBody>
      </p:sp>
      <p:sp>
        <p:nvSpPr>
          <p:cNvPr id="292" name="Google Shape;292;p6"/>
          <p:cNvSpPr txBox="1"/>
          <p:nvPr>
            <p:ph type="body" idx="1"/>
          </p:nvPr>
        </p:nvSpPr>
        <p:spPr>
          <a:xfrm>
            <a:off x="687898" y="2407640"/>
            <a:ext cx="10981188" cy="4026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b="1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Included in GDP:</a:t>
            </a:r>
            <a:endParaRPr lang="en-US" b="1">
              <a:solidFill>
                <a:srgbClr val="22222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39725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222222"/>
              </a:buClr>
              <a:buSzPts val="1750"/>
              <a:buFont typeface="Noto Sans Symbols"/>
              <a:buChar char="❑"/>
            </a:pPr>
            <a:r>
              <a:rPr lang="en-US" b="1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Final </a:t>
            </a:r>
            <a:r>
              <a:rPr lang="en-US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goods and services </a:t>
            </a:r>
            <a:r>
              <a:rPr lang="en-US" b="1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sold for money</a:t>
            </a:r>
            <a:r>
              <a:rPr lang="en-US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  <a:endParaRPr lang="en-US">
              <a:solidFill>
                <a:srgbClr val="22222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b="1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Not included in GDP:</a:t>
            </a:r>
            <a:endParaRPr lang="en-US" b="1">
              <a:solidFill>
                <a:srgbClr val="22222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39725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222222"/>
              </a:buClr>
              <a:buSzPts val="1750"/>
              <a:buFont typeface="Noto Sans Symbols"/>
              <a:buChar char="❑"/>
            </a:pPr>
            <a:r>
              <a:rPr lang="en-US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unpaid work: work performed within the family, volunteer work, etc.</a:t>
            </a:r>
            <a:endParaRPr lang="en-US">
              <a:solidFill>
                <a:srgbClr val="22222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397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50"/>
              <a:buFont typeface="Noto Sans Symbols"/>
              <a:buChar char="❑"/>
            </a:pPr>
            <a:r>
              <a:rPr lang="en-US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goods not produced for sale in the marketplace</a:t>
            </a:r>
            <a:endParaRPr lang="en-US">
              <a:solidFill>
                <a:srgbClr val="22222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397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50"/>
              <a:buFont typeface="Noto Sans Symbols"/>
              <a:buChar char="❑"/>
            </a:pPr>
            <a:r>
              <a:rPr lang="en-US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bartered goods and services</a:t>
            </a:r>
            <a:endParaRPr lang="en-US">
              <a:solidFill>
                <a:srgbClr val="22222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397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50"/>
              <a:buFont typeface="Noto Sans Symbols"/>
              <a:buChar char="❑"/>
            </a:pPr>
            <a:r>
              <a:rPr lang="en-US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black market</a:t>
            </a:r>
            <a:endParaRPr lang="en-US">
              <a:solidFill>
                <a:srgbClr val="22222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397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50"/>
              <a:buFont typeface="Noto Sans Symbols"/>
              <a:buChar char="❑"/>
            </a:pPr>
            <a:r>
              <a:rPr lang="en-US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illegal activities</a:t>
            </a:r>
            <a:endParaRPr lang="en-US">
              <a:solidFill>
                <a:srgbClr val="22222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397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50"/>
              <a:buFont typeface="Noto Sans Symbols"/>
              <a:buChar char="❑"/>
            </a:pPr>
            <a:r>
              <a:rPr lang="en-US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sales of used goods</a:t>
            </a:r>
            <a:endParaRPr lang="en-US">
              <a:solidFill>
                <a:srgbClr val="22222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397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50"/>
              <a:buFont typeface="Noto Sans Symbols"/>
              <a:buChar char="❑"/>
            </a:pPr>
            <a:r>
              <a:rPr lang="en-US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intermediate goods and services that are used to produce other final goods and services</a:t>
            </a:r>
            <a:endParaRPr lang="en-US">
              <a:solidFill>
                <a:srgbClr val="22222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241300" algn="l" rtl="0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endParaRPr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93" name="Google Shape;293;p6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7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Times New Roman" panose="02020603050405020304"/>
              <a:buNone/>
            </a:pPr>
            <a:r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Key economic indicators</a:t>
            </a:r>
            <a:endParaRPr lang="en-US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99" name="Google Shape;299;p7"/>
          <p:cNvSpPr txBox="1"/>
          <p:nvPr>
            <p:ph type="body" idx="1"/>
          </p:nvPr>
        </p:nvSpPr>
        <p:spPr>
          <a:xfrm>
            <a:off x="1154954" y="2603500"/>
            <a:ext cx="10153125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Font typeface="Arial" panose="020B0604020202020204"/>
              <a:buChar char="•"/>
            </a:pPr>
            <a:r>
              <a:rPr 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Inflation is a general rise in the prices of goods and services over time.</a:t>
            </a:r>
            <a:endParaRPr lang="en-US"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920"/>
              <a:buFont typeface="Arial" panose="020B0604020202020204"/>
              <a:buChar char="•"/>
            </a:pPr>
            <a:r>
              <a:rPr 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Deflation means that prices are declining; It occurs when countries produce so many goods that people cannot afford to buy them all. </a:t>
            </a:r>
            <a:endParaRPr lang="en-US"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920"/>
              <a:buFont typeface="Arial" panose="020B0604020202020204"/>
              <a:buChar char="•"/>
            </a:pPr>
            <a:r>
              <a:rPr 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Recession: Two or more consecutive quarters of decline in the GDP.</a:t>
            </a:r>
            <a:endParaRPr lang="en-US"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00" name="Google Shape;300;p7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8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 panose="020B0502020202020204"/>
              <a:buNone/>
            </a:pPr>
            <a:r>
              <a:rPr lang="en-US"/>
              <a:t>The Business Cycle</a:t>
            </a:r>
            <a:endParaRPr lang="en-US"/>
          </a:p>
        </p:txBody>
      </p:sp>
      <p:sp>
        <p:nvSpPr>
          <p:cNvPr id="306" name="Google Shape;306;p8"/>
          <p:cNvSpPr txBox="1"/>
          <p:nvPr>
            <p:ph type="body" idx="1"/>
          </p:nvPr>
        </p:nvSpPr>
        <p:spPr>
          <a:xfrm>
            <a:off x="1154954" y="2603500"/>
            <a:ext cx="10254073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Business cycles are the periodic rises and falls that occur in economies over time.</a:t>
            </a:r>
            <a:endParaRPr lang="en-US"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1920"/>
              <a:buNone/>
            </a:pPr>
            <a:endParaRPr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four phases of long-term business cycles are:</a:t>
            </a:r>
            <a:endParaRPr lang="en-US"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 An </a:t>
            </a:r>
            <a:r>
              <a:rPr lang="en-US" sz="24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economic boom </a:t>
            </a:r>
            <a:r>
              <a:rPr 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is business is booming.</a:t>
            </a:r>
            <a:endParaRPr lang="en-US"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</a:t>
            </a:r>
            <a:r>
              <a:rPr lang="en-US" sz="24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Recession</a:t>
            </a:r>
            <a:r>
              <a:rPr 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is two or more consecutive quarters of decline in the GDP.</a:t>
            </a:r>
            <a:endParaRPr lang="en-US"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3. A </a:t>
            </a:r>
            <a:r>
              <a:rPr lang="en-US" sz="24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depression</a:t>
            </a:r>
            <a:r>
              <a:rPr 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is a severe recession, usually accompanied by deflation.</a:t>
            </a:r>
            <a:endParaRPr lang="en-US"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4. A</a:t>
            </a:r>
            <a:r>
              <a:rPr lang="en-US" sz="24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recovery</a:t>
            </a:r>
            <a:r>
              <a:rPr 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occurs when the economy stabilizes and starts to grow. This eventually leads to an economic boom, starting the cycle all over again.</a:t>
            </a:r>
            <a:endParaRPr lang="en-US"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just" rtl="0">
              <a:spcBef>
                <a:spcPts val="360"/>
              </a:spcBef>
              <a:spcAft>
                <a:spcPts val="0"/>
              </a:spcAft>
              <a:buSzPts val="1920"/>
              <a:buNone/>
            </a:pPr>
            <a:endParaRPr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251460" algn="l" rtl="0">
              <a:spcBef>
                <a:spcPts val="1000"/>
              </a:spcBef>
              <a:spcAft>
                <a:spcPts val="0"/>
              </a:spcAft>
              <a:buSzPts val="1440"/>
              <a:buNone/>
            </a:pPr>
          </a:p>
        </p:txBody>
      </p:sp>
      <p:sp>
        <p:nvSpPr>
          <p:cNvPr id="307" name="Google Shape;307;p8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9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Times New Roman" panose="02020603050405020304"/>
              <a:buNone/>
            </a:pPr>
            <a:r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Key Economic Indicators (continued)</a:t>
            </a:r>
            <a:endParaRPr lang="en-US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13" name="Google Shape;313;p9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314" name="Google Shape;314;p9" descr="Bangladesh - unemployment rate 1999 to 2021 | Statista"/>
          <p:cNvPicPr preferRelativeResize="0"/>
          <p:nvPr>
            <p:ph type="body" idx="2"/>
          </p:nvPr>
        </p:nvPicPr>
        <p:blipFill rotWithShape="1">
          <a:blip r:embed="rId1"/>
          <a:srcRect/>
          <a:stretch>
            <a:fillRect/>
          </a:stretch>
        </p:blipFill>
        <p:spPr>
          <a:xfrm>
            <a:off x="1056640" y="2489200"/>
            <a:ext cx="5415280" cy="3789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9" descr="Chart, line chart&#10;&#10;Description automatically generated"/>
          <p:cNvPicPr preferRelativeResize="0"/>
          <p:nvPr>
            <p:ph type="body" idx="4"/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6766560" y="2489200"/>
            <a:ext cx="4521199" cy="3839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0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Times New Roman" panose="02020603050405020304"/>
              <a:buNone/>
            </a:pPr>
            <a:r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Macroeconomic policy objectives</a:t>
            </a:r>
            <a:endParaRPr lang="en-US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21" name="Google Shape;321;p10"/>
          <p:cNvSpPr txBox="1"/>
          <p:nvPr>
            <p:ph type="body" idx="1"/>
          </p:nvPr>
        </p:nvSpPr>
        <p:spPr>
          <a:xfrm>
            <a:off x="873761" y="2489200"/>
            <a:ext cx="10637520" cy="43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Char char="❑"/>
            </a:pPr>
            <a:r>
              <a:rPr lang="en-US" sz="2400" b="0" u="none" strike="noStrik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four key macroeconomic policy objectives:</a:t>
            </a:r>
            <a:endParaRPr lang="en-US" sz="2400" b="0" u="none" strike="noStrik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Font typeface="Courier New" panose="02070309020205020404"/>
              <a:buChar char="o"/>
            </a:pPr>
            <a:r>
              <a:rPr lang="en-US" sz="2400" b="0" u="none" strike="noStrik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Low Inflation</a:t>
            </a:r>
            <a:endParaRPr lang="en-US" sz="2400" b="0" u="none" strike="noStrik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Font typeface="Courier New" panose="02070309020205020404"/>
              <a:buChar char="o"/>
            </a:pPr>
            <a:r>
              <a:rPr lang="en-US" sz="2400" b="0" u="none" strike="noStrik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Low unemployment</a:t>
            </a:r>
            <a:endParaRPr lang="en-US" sz="2400" b="0" u="none" strike="noStrik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Font typeface="Courier New" panose="02070309020205020404"/>
              <a:buChar char="o"/>
            </a:pPr>
            <a:r>
              <a:rPr lang="en-US" sz="2400" b="0" u="none" strike="noStrik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Stable economic growth</a:t>
            </a:r>
            <a:endParaRPr lang="en-US" sz="2400" b="0" u="none" strike="noStrik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Font typeface="Courier New" panose="02070309020205020404"/>
              <a:buChar char="o"/>
            </a:pPr>
            <a:r>
              <a:rPr lang="en-US" sz="2400" b="0" u="none" strike="noStrik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 good current account and capital account position </a:t>
            </a:r>
            <a:endParaRPr lang="en-US" sz="2400" b="0" u="none" strike="noStrik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220980" algn="l" rtl="0">
              <a:spcBef>
                <a:spcPts val="0"/>
              </a:spcBef>
              <a:spcAft>
                <a:spcPts val="0"/>
              </a:spcAft>
              <a:buSzPts val="1920"/>
              <a:buFont typeface="Courier New" panose="02070309020205020404"/>
              <a:buNone/>
            </a:pPr>
            <a:endParaRPr sz="2400" b="0" u="none" strike="noStrik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Char char="❑"/>
            </a:pPr>
            <a:r>
              <a:rPr lang="en-US" sz="2400" b="1" u="sng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Monetary Policy</a:t>
            </a:r>
            <a:r>
              <a:rPr lang="en-US" sz="2400" b="0" u="none" strike="noStrik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**An econo</a:t>
            </a: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mic policy whereby the Central bank controls the money supply, strategically changes the interest rate, manages inflation, unemployment and maintains currency exchange rates.</a:t>
            </a:r>
            <a:endParaRPr sz="2400" b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Char char="❑"/>
            </a:pPr>
            <a:r>
              <a:rPr lang="en-US" sz="2400" b="1" u="sng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Fiscal Policy: </a:t>
            </a:r>
            <a:r>
              <a:rPr lang="en-US" sz="2400" b="0" u="none" strike="noStrik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Government Policy whereby Government aims to achieve its objectives through government expenditure and taxation.</a:t>
            </a:r>
            <a:endParaRPr sz="2400" b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br>
              <a:rPr 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22" name="Google Shape;322;p10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1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Times New Roman" panose="02020603050405020304"/>
              <a:buNone/>
            </a:pPr>
            <a:r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Invisible Hand Theory</a:t>
            </a:r>
            <a:endParaRPr lang="en-US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28" name="Google Shape;328;p11"/>
          <p:cNvSpPr txBox="1"/>
          <p:nvPr>
            <p:ph type="body" idx="2"/>
          </p:nvPr>
        </p:nvSpPr>
        <p:spPr>
          <a:xfrm>
            <a:off x="1209040" y="2396490"/>
            <a:ext cx="5689600" cy="362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Char char="❑"/>
            </a:pPr>
            <a:r>
              <a:rPr lang="en-US" sz="25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Times New Roman" panose="02020603050405020304"/>
                <a:cs typeface="+mj-lt"/>
                <a:sym typeface="Times New Roman" panose="02020603050405020304"/>
              </a:rPr>
              <a:t>Invisible Hand: </a:t>
            </a:r>
            <a:r>
              <a:rPr lang="en-US" sz="25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Times New Roman" panose="02020603050405020304"/>
                <a:cs typeface="+mj-lt"/>
                <a:sym typeface="Times New Roman" panose="02020603050405020304"/>
              </a:rPr>
              <a:t>A phrase coined by Adam Smith to describe the process that turns self-directed gain into social and economic benefits for all.</a:t>
            </a:r>
            <a:endParaRPr lang="en-US" sz="25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Times New Roman" panose="02020603050405020304"/>
              <a:cs typeface="+mj-lt"/>
              <a:sym typeface="Times New Roman" panose="02020603050405020304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Char char="❑"/>
            </a:pPr>
            <a:r>
              <a:rPr lang="en-US" sz="25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+mj-lt"/>
                <a:sym typeface="+mn-ea"/>
              </a:rPr>
              <a:t>The term "invisible hand"</a:t>
            </a:r>
            <a:r>
              <a:rPr lang="en-GB" altLang="en-US" sz="25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+mj-lt"/>
                <a:sym typeface="+mn-ea"/>
              </a:rPr>
              <a:t> theory</a:t>
            </a:r>
            <a:r>
              <a:rPr lang="en-US" sz="25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+mj-lt"/>
                <a:sym typeface="+mn-ea"/>
              </a:rPr>
              <a:t> first appeared in Adam Smith's famous work "The Wealth of Nations" to describe how free markets can motivate individuals, acting in their own self-interest, to produce what is societally necessary.</a:t>
            </a:r>
            <a:endParaRPr lang="en-US" sz="25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cs typeface="+mj-lt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Char char="❑"/>
            </a:pPr>
            <a:endParaRPr lang="en-US" sz="25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Times New Roman" panose="02020603050405020304"/>
              <a:cs typeface="+mj-lt"/>
              <a:sym typeface="Times New Roman" panose="02020603050405020304"/>
            </a:endParaRPr>
          </a:p>
        </p:txBody>
      </p:sp>
      <p:sp>
        <p:nvSpPr>
          <p:cNvPr id="329" name="Google Shape;329;p11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330" name="Google Shape;330;p11"/>
          <p:cNvPicPr preferRelativeResize="0"/>
          <p:nvPr>
            <p:ph type="body" idx="4"/>
          </p:nvPr>
        </p:nvPicPr>
        <p:blipFill rotWithShape="1">
          <a:blip r:embed="rId1"/>
          <a:srcRect/>
          <a:stretch>
            <a:fillRect/>
          </a:stretch>
        </p:blipFill>
        <p:spPr>
          <a:xfrm>
            <a:off x="7691452" y="2743200"/>
            <a:ext cx="3499287" cy="3555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Times New Roman" panose="02020603050405020304"/>
              <a:buNone/>
            </a:pPr>
            <a:r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Free market Capitalism </a:t>
            </a:r>
            <a:endParaRPr lang="en-US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36" name="Google Shape;336;p12"/>
          <p:cNvSpPr txBox="1"/>
          <p:nvPr>
            <p:ph type="body" idx="1"/>
          </p:nvPr>
        </p:nvSpPr>
        <p:spPr>
          <a:xfrm>
            <a:off x="1154954" y="2603499"/>
            <a:ext cx="10366485" cy="3958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Char char="❑"/>
            </a:pPr>
            <a:r>
              <a:rPr lang="en-US" sz="24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Free market: </a:t>
            </a: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 free market is one in which decisions about what and how much to produce are made by the market. </a:t>
            </a:r>
            <a:endParaRPr 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920"/>
              <a:buFont typeface="Noto Sans Symbols"/>
              <a:buChar char="❑"/>
            </a:pPr>
            <a:r>
              <a:rPr lang="en-US" sz="24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Capitalism: </a:t>
            </a: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 economic system in which all or most of the factors of production and distribution are privately owned and operated for profit.</a:t>
            </a:r>
            <a:endParaRPr 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920"/>
              <a:buFont typeface="Noto Sans Symbols"/>
              <a:buChar char="❑"/>
            </a:pPr>
            <a:r>
              <a:rPr lang="en-US" sz="24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Foundations of Capitalism: </a:t>
            </a:r>
            <a:endParaRPr lang="en-US" sz="24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Font typeface="Courier New" panose="02070309020205020404"/>
              <a:buChar char="o"/>
            </a:pPr>
            <a:r>
              <a:rPr lang="en-US" sz="2400" b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right to own private property.</a:t>
            </a:r>
            <a:endParaRPr lang="en-US" sz="2400" b="0" u="none" strike="noStrik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500"/>
              </a:spcBef>
              <a:spcAft>
                <a:spcPts val="0"/>
              </a:spcAft>
              <a:buSzPts val="1920"/>
              <a:buFont typeface="Courier New" panose="02070309020205020404"/>
              <a:buChar char="o"/>
            </a:pPr>
            <a:r>
              <a:rPr lang="en-US" sz="2400" b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right to own a business and keep all that business’ profits.</a:t>
            </a:r>
            <a:endParaRPr lang="en-US" sz="2400" b="0" u="none" strike="noStrik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500"/>
              </a:spcBef>
              <a:spcAft>
                <a:spcPts val="0"/>
              </a:spcAft>
              <a:buSzPts val="1920"/>
              <a:buFont typeface="Courier New" panose="02070309020205020404"/>
              <a:buChar char="o"/>
            </a:pPr>
            <a:r>
              <a:rPr lang="en-US" sz="2400" b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right to freedom of competition.</a:t>
            </a:r>
            <a:endParaRPr lang="en-US" sz="2400" b="0" u="none" strike="noStrik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500"/>
              </a:spcBef>
              <a:spcAft>
                <a:spcPts val="0"/>
              </a:spcAft>
              <a:buSzPts val="1920"/>
              <a:buFont typeface="Courier New" panose="02070309020205020404"/>
              <a:buChar char="o"/>
            </a:pPr>
            <a:r>
              <a:rPr lang="en-US" sz="2400" b="0" u="none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right to freedom of choice.</a:t>
            </a:r>
            <a:br>
              <a:rPr lang="en-US" sz="2400" b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37" name="Google Shape;337;p12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3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Times New Roman" panose="02020603050405020304"/>
              <a:buNone/>
            </a:pPr>
            <a:r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Socialism and Communism</a:t>
            </a:r>
            <a:endParaRPr lang="en-US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43" name="Google Shape;343;p13"/>
          <p:cNvSpPr txBox="1"/>
          <p:nvPr>
            <p:ph type="body" idx="1"/>
          </p:nvPr>
        </p:nvSpPr>
        <p:spPr>
          <a:xfrm>
            <a:off x="1154954" y="2603500"/>
            <a:ext cx="10447765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Char char="❑"/>
            </a:pPr>
            <a:r>
              <a:rPr lang="en-US" sz="24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Socialism:</a:t>
            </a:r>
            <a:r>
              <a:rPr 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An economic system based on the premise that some, if not most, basic businesses should be owned by the government so that profits can be more evenly distributed among the people.</a:t>
            </a:r>
            <a:endParaRPr lang="en-US"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endParaRPr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920"/>
              <a:buFont typeface="Noto Sans Symbols"/>
              <a:buChar char="❑"/>
            </a:pPr>
            <a:r>
              <a:rPr lang="en-US" sz="24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Communism: </a:t>
            </a:r>
            <a:r>
              <a:rPr 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 economic and political system in which the government makes almost all economic decisions and owns almost all the major factors of production.</a:t>
            </a:r>
            <a:endParaRPr lang="en-US"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44" name="Google Shape;344;p13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8"/>
          <p:cNvSpPr txBox="1"/>
          <p:nvPr>
            <p:ph type="title"/>
          </p:nvPr>
        </p:nvSpPr>
        <p:spPr>
          <a:xfrm>
            <a:off x="1154953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Times New Roman" panose="02020603050405020304"/>
              <a:buNone/>
            </a:pPr>
            <a:r>
              <a:rPr lang="en-US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References</a:t>
            </a:r>
            <a:endParaRPr lang="en-US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54" name="Google Shape;454;p28"/>
          <p:cNvSpPr txBox="1"/>
          <p:nvPr>
            <p:ph type="body" idx="1"/>
          </p:nvPr>
        </p:nvSpPr>
        <p:spPr>
          <a:xfrm>
            <a:off x="1154954" y="2603500"/>
            <a:ext cx="10630645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Char char="❑"/>
            </a:pP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Arnold, R. A. (2014) </a:t>
            </a:r>
            <a:r>
              <a:rPr lang="en-US" sz="2400" i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Macroeconomics </a:t>
            </a: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(11</a:t>
            </a:r>
            <a:r>
              <a:rPr lang="en-US" sz="2400" baseline="30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</a:t>
            </a: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ed.). South-Western.</a:t>
            </a:r>
            <a:endParaRPr 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920"/>
              <a:buFont typeface="Noto Sans Symbols"/>
              <a:buChar char="❑"/>
            </a:pP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Mankiw, N.G. (2018) </a:t>
            </a:r>
            <a:r>
              <a:rPr lang="en-US" sz="2400" i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Principles of Microeconomics (</a:t>
            </a: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8</a:t>
            </a:r>
            <a:r>
              <a:rPr lang="en-US" sz="2400" baseline="30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</a:t>
            </a: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ed.). Cengage Learning.</a:t>
            </a:r>
            <a:endParaRPr 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920"/>
              <a:buFont typeface="Noto Sans Symbols"/>
              <a:buChar char="❑"/>
            </a:pP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Nickels, W. G., McHugh, J. M. &amp; McHugh, S. (2014) </a:t>
            </a:r>
            <a:r>
              <a:rPr lang="en-US" sz="2400" i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Understanding Business</a:t>
            </a: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(11</a:t>
            </a:r>
            <a:r>
              <a:rPr lang="en-US" sz="2400" baseline="30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</a:t>
            </a:r>
            <a:r>
              <a:rPr 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ed.). McGraw-Hill. </a:t>
            </a:r>
            <a:endParaRPr 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lvl="0" indent="-251460" algn="l" rtl="0">
              <a:spcBef>
                <a:spcPts val="1000"/>
              </a:spcBef>
              <a:spcAft>
                <a:spcPts val="0"/>
              </a:spcAft>
              <a:buSzPts val="1440"/>
              <a:buFont typeface="Noto Sans Symbols"/>
              <a:buNone/>
            </a:pPr>
          </a:p>
        </p:txBody>
      </p:sp>
      <p:sp>
        <p:nvSpPr>
          <p:cNvPr id="455" name="Google Shape;455;p28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4715</Words>
  <Application>WPS Presentation</Application>
  <PresentationFormat/>
  <Paragraphs>146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SimSun</vt:lpstr>
      <vt:lpstr>Wingdings</vt:lpstr>
      <vt:lpstr>Arial</vt:lpstr>
      <vt:lpstr>Century Gothic</vt:lpstr>
      <vt:lpstr>Noto Sans Symbols</vt:lpstr>
      <vt:lpstr>Segoe Print</vt:lpstr>
      <vt:lpstr>Calibri</vt:lpstr>
      <vt:lpstr>Times New Roman</vt:lpstr>
      <vt:lpstr>Courier New</vt:lpstr>
      <vt:lpstr>Microsoft YaHei</vt:lpstr>
      <vt:lpstr>Arial Unicode MS</vt:lpstr>
      <vt:lpstr>Ion Boardroom</vt:lpstr>
      <vt:lpstr>Understanding Economics and How It Affects Business </vt:lpstr>
      <vt:lpstr>Topics to be Covered</vt:lpstr>
      <vt:lpstr>The Major Branches of Economics</vt:lpstr>
      <vt:lpstr>Resource Development</vt:lpstr>
      <vt:lpstr>Key Economic Indicators</vt:lpstr>
      <vt:lpstr>GDP (continued)</vt:lpstr>
      <vt:lpstr>Key economic indicators</vt:lpstr>
      <vt:lpstr>The Business Cycle</vt:lpstr>
      <vt:lpstr>Key Economic Indicators (continued)</vt:lpstr>
      <vt:lpstr>Macroeconomic policy objectives</vt:lpstr>
      <vt:lpstr>The Invisible Hand Theory</vt:lpstr>
      <vt:lpstr>Free market Capitalism </vt:lpstr>
      <vt:lpstr>Socialism and Communism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Economics and How It Affects Business </dc:title>
  <dc:creator>prioty_t@outlook.com</dc:creator>
  <cp:lastModifiedBy>Zoeb-Ur- Rahman</cp:lastModifiedBy>
  <cp:revision>4</cp:revision>
  <dcterms:created xsi:type="dcterms:W3CDTF">2024-10-22T16:21:00Z</dcterms:created>
  <dcterms:modified xsi:type="dcterms:W3CDTF">2024-11-04T15:57:34Z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712E181AE536466A9BD377B25C0A5D53_13</vt:lpwstr>
  </property>
  <property fmtid="{D5CDD505-2E9C-101B-9397-08002B2CF9AE}" pid="4" name="KSOProductBuildVer">
    <vt:lpwstr>1033-12.2.0.18607</vt:lpwstr>
  </property>
</Properties>
</file>