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75" r:id="rId4"/>
    <p:sldId id="277" r:id="rId6"/>
    <p:sldId id="278" r:id="rId7"/>
    <p:sldId id="279" r:id="rId8"/>
    <p:sldId id="280" r:id="rId9"/>
    <p:sldId id="281" r:id="rId10"/>
    <p:sldId id="283" r:id="rId11"/>
    <p:sldId id="285" r:id="rId12"/>
    <p:sldId id="287" r:id="rId13"/>
    <p:sldId id="28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5" name="Shape 295"/>
        <p:cNvGrpSpPr/>
        <p:nvPr/>
      </p:nvGrpSpPr>
      <p:grpSpPr>
        <a:xfrm>
          <a:off x="0" y="0"/>
          <a:ext cx="0" cy="0"/>
          <a:chOff x="0" y="0"/>
          <a:chExt cx="0" cy="0"/>
        </a:xfrm>
      </p:grpSpPr>
      <p:sp>
        <p:nvSpPr>
          <p:cNvPr id="296" name="Google Shape;296;p20: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7" name="Google Shape;297;p20: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p22: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1" name="Google Shape;311;p22: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23: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18" name="Google Shape;318;p23: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p24: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25" name="Google Shape;325;p24: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0" name="Shape 330"/>
        <p:cNvGrpSpPr/>
        <p:nvPr/>
      </p:nvGrpSpPr>
      <p:grpSpPr>
        <a:xfrm>
          <a:off x="0" y="0"/>
          <a:ext cx="0" cy="0"/>
          <a:chOff x="0" y="0"/>
          <a:chExt cx="0" cy="0"/>
        </a:xfrm>
      </p:grpSpPr>
      <p:sp>
        <p:nvSpPr>
          <p:cNvPr id="331" name="Google Shape;331;p25: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2" name="Google Shape;332;p25: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7" name="Shape 337"/>
        <p:cNvGrpSpPr/>
        <p:nvPr/>
      </p:nvGrpSpPr>
      <p:grpSpPr>
        <a:xfrm>
          <a:off x="0" y="0"/>
          <a:ext cx="0" cy="0"/>
          <a:chOff x="0" y="0"/>
          <a:chExt cx="0" cy="0"/>
        </a:xfrm>
      </p:grpSpPr>
      <p:sp>
        <p:nvSpPr>
          <p:cNvPr id="338" name="Google Shape;338;p26: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39" name="Google Shape;339;p26: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28: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54" name="Google Shape;354;p28: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7" name="Shape 367"/>
        <p:cNvGrpSpPr/>
        <p:nvPr/>
      </p:nvGrpSpPr>
      <p:grpSpPr>
        <a:xfrm>
          <a:off x="0" y="0"/>
          <a:ext cx="0" cy="0"/>
          <a:chOff x="0" y="0"/>
          <a:chExt cx="0" cy="0"/>
        </a:xfrm>
      </p:grpSpPr>
      <p:sp>
        <p:nvSpPr>
          <p:cNvPr id="368" name="Google Shape;368;p30: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69" name="Google Shape;369;p30: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4" name="Shape 384"/>
        <p:cNvGrpSpPr/>
        <p:nvPr/>
      </p:nvGrpSpPr>
      <p:grpSpPr>
        <a:xfrm>
          <a:off x="0" y="0"/>
          <a:ext cx="0" cy="0"/>
          <a:chOff x="0" y="0"/>
          <a:chExt cx="0" cy="0"/>
        </a:xfrm>
      </p:grpSpPr>
      <p:sp>
        <p:nvSpPr>
          <p:cNvPr id="385" name="Google Shape;385;p32: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86" name="Google Shape;386;p32: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96" name="Shape 396"/>
        <p:cNvGrpSpPr/>
        <p:nvPr/>
      </p:nvGrpSpPr>
      <p:grpSpPr>
        <a:xfrm>
          <a:off x="0" y="0"/>
          <a:ext cx="0" cy="0"/>
          <a:chOff x="0" y="0"/>
          <a:chExt cx="0" cy="0"/>
        </a:xfrm>
      </p:grpSpPr>
      <p:sp>
        <p:nvSpPr>
          <p:cNvPr id="397" name="Google Shape;397;p33: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398" name="Google Shape;398;p33: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4CD68"/>
            </a:gs>
            <a:gs pos="100000">
              <a:srgbClr val="0B6E38"/>
            </a:gs>
          </a:gsLst>
          <a:lin ang="5400000" scaled="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GB" altLang="en-US"/>
              <a:t>Week-7</a:t>
            </a:r>
            <a:br>
              <a:rPr lang="en-GB" altLang="en-US"/>
            </a:br>
            <a:r>
              <a:rPr lang="en-GB" altLang="en-US"/>
              <a:t>Session-1</a:t>
            </a:r>
            <a:endParaRPr lang="en-GB" altLang="en-US"/>
          </a:p>
        </p:txBody>
      </p:sp>
      <p:sp>
        <p:nvSpPr>
          <p:cNvPr id="3" name="Subtitle 2"/>
          <p:cNvSpPr>
            <a:spLocks noGrp="1"/>
          </p:cNvSpPr>
          <p:nvPr>
            <p:ph type="subTitle" idx="1"/>
          </p:nvPr>
        </p:nvSpPr>
        <p:spPr/>
        <p:txBody>
          <a:bodyPr>
            <a:noAutofit/>
          </a:bodyPr>
          <a:p>
            <a:r>
              <a:rPr lang="en-GB" altLang="en-US" sz="2700"/>
              <a:t>Human Resource Management</a:t>
            </a:r>
            <a:endParaRPr lang="en-GB" altLang="en-US" sz="2700"/>
          </a:p>
          <a:p>
            <a:r>
              <a:rPr lang="en-GB" altLang="en-US" sz="2700"/>
              <a:t>Compensation</a:t>
            </a:r>
            <a:endParaRPr lang="en-GB" altLang="en-US" sz="2700"/>
          </a:p>
          <a:p>
            <a:r>
              <a:rPr lang="en-GB" altLang="en-US" sz="2700"/>
              <a:t>Training and Development</a:t>
            </a:r>
            <a:endParaRPr lang="en-GB" altLang="en-US" sz="2700"/>
          </a:p>
          <a:p>
            <a:r>
              <a:rPr lang="en-GB" altLang="en-US" sz="2700"/>
              <a:t>Performance Appraisal</a:t>
            </a:r>
            <a:endParaRPr lang="en-GB" altLang="en-US" sz="2700"/>
          </a:p>
          <a:p>
            <a:r>
              <a:rPr lang="en-GB" altLang="en-US" sz="2700"/>
              <a:t>Ethical HRM</a:t>
            </a:r>
            <a:endParaRPr lang="en-GB" altLang="en-US" sz="27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298" name="Shape 298"/>
        <p:cNvGrpSpPr/>
        <p:nvPr/>
      </p:nvGrpSpPr>
      <p:grpSpPr>
        <a:xfrm>
          <a:off x="0" y="0"/>
          <a:ext cx="0" cy="0"/>
          <a:chOff x="0" y="0"/>
          <a:chExt cx="0" cy="0"/>
        </a:xfrm>
      </p:grpSpPr>
      <p:sp>
        <p:nvSpPr>
          <p:cNvPr id="299" name="Google Shape;299;p20"/>
          <p:cNvSpPr txBox="1"/>
          <p:nvPr>
            <p:ph type="title"/>
          </p:nvPr>
        </p:nvSpPr>
        <p:spPr>
          <a:xfrm>
            <a:off x="2212340" y="629285"/>
            <a:ext cx="6791960" cy="68961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a:t>COMPENSATION</a:t>
            </a:r>
            <a:endParaRPr lang="en-US"/>
          </a:p>
        </p:txBody>
      </p:sp>
      <p:sp>
        <p:nvSpPr>
          <p:cNvPr id="301" name="Google Shape;301;p20"/>
          <p:cNvSpPr txBox="1"/>
          <p:nvPr/>
        </p:nvSpPr>
        <p:spPr>
          <a:xfrm>
            <a:off x="2212340" y="1856740"/>
            <a:ext cx="9405620" cy="4316095"/>
          </a:xfrm>
          <a:prstGeom prst="rect">
            <a:avLst/>
          </a:prstGeom>
          <a:noFill/>
          <a:ln>
            <a:noFill/>
          </a:ln>
        </p:spPr>
        <p:txBody>
          <a:bodyPr spcFirstLastPara="1" wrap="square" lIns="0" tIns="112375" rIns="0" bIns="0" anchor="t" anchorCtr="0">
            <a:spAutoFit/>
          </a:bodyPr>
          <a:lstStyle/>
          <a:p>
            <a:pPr marL="12700" marR="0" lvl="0" indent="0" algn="l" rtl="0">
              <a:lnSpc>
                <a:spcPct val="100000"/>
              </a:lnSpc>
              <a:spcBef>
                <a:spcPts val="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The objectives of compensation policy are as follows −</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79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Allure suitable staff.</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79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Keep qualified personnel.</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5080" lvl="0" indent="-343535" algn="l" rtl="0">
              <a:lnSpc>
                <a:spcPct val="108000"/>
              </a:lnSpc>
              <a:spcBef>
                <a:spcPts val="103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Develop reward structures that are equitable with logical  and fair pay relationships between differently valued jobs.</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76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Manage pay structures to mirror inflationary effects.</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407035" lvl="0" indent="-343535" algn="l" rtl="0">
              <a:lnSpc>
                <a:spcPct val="108000"/>
              </a:lnSpc>
              <a:spcBef>
                <a:spcPts val="102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Assure that rewards and salary costs handle changes in  market rates or organizational change.</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210820" lvl="0" indent="-343535" algn="l" rtl="0">
              <a:lnSpc>
                <a:spcPct val="108000"/>
              </a:lnSpc>
              <a:spcBef>
                <a:spcPts val="100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Appraise performance, duty, and loyalty, and provide for  progression.</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76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Abide with legal requirements.</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571500" lvl="0" indent="-343535" algn="l" rtl="0">
              <a:lnSpc>
                <a:spcPct val="108000"/>
              </a:lnSpc>
              <a:spcBef>
                <a:spcPts val="102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Maintain compensation levels and differentials under  review and control salary or wage costs.</a:t>
            </a:r>
            <a:endParaRPr lang="en-US" sz="1700">
              <a:solidFill>
                <a:schemeClr val="tx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12" name="Shape 312"/>
        <p:cNvGrpSpPr/>
        <p:nvPr/>
      </p:nvGrpSpPr>
      <p:grpSpPr>
        <a:xfrm>
          <a:off x="0" y="0"/>
          <a:ext cx="0" cy="0"/>
          <a:chOff x="0" y="0"/>
          <a:chExt cx="0" cy="0"/>
        </a:xfrm>
      </p:grpSpPr>
      <p:sp>
        <p:nvSpPr>
          <p:cNvPr id="313" name="Google Shape;313;p22"/>
          <p:cNvSpPr txBox="1"/>
          <p:nvPr>
            <p:ph type="title"/>
          </p:nvPr>
        </p:nvSpPr>
        <p:spPr>
          <a:xfrm>
            <a:off x="2212340" y="629285"/>
            <a:ext cx="6504305" cy="68961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Types of Compensations</a:t>
            </a:r>
            <a:endParaRPr lang="en-US"/>
          </a:p>
        </p:txBody>
      </p:sp>
      <p:sp>
        <p:nvSpPr>
          <p:cNvPr id="315" name="Google Shape;315;p22"/>
          <p:cNvSpPr txBox="1"/>
          <p:nvPr/>
        </p:nvSpPr>
        <p:spPr>
          <a:xfrm>
            <a:off x="2212340" y="1758950"/>
            <a:ext cx="8203565" cy="4514850"/>
          </a:xfrm>
          <a:prstGeom prst="rect">
            <a:avLst/>
          </a:prstGeom>
          <a:noFill/>
          <a:ln>
            <a:noFill/>
          </a:ln>
        </p:spPr>
        <p:txBody>
          <a:bodyPr spcFirstLastPara="1" wrap="square" lIns="0" tIns="51425" rIns="0" bIns="0" anchor="t" anchorCtr="0">
            <a:noAutofit/>
          </a:bodyPr>
          <a:lstStyle/>
          <a:p>
            <a:pPr marL="355600" marR="71120" lvl="0" indent="-343535" algn="l" rtl="0">
              <a:lnSpc>
                <a:spcPct val="80000"/>
              </a:lnSpc>
              <a:spcBef>
                <a:spcPts val="0"/>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We have learnt about what compensation and its importance is. However,  when it comes to an organization, be it private or public, compensations are  further divided into the following −</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685"/>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b="1">
                <a:solidFill>
                  <a:schemeClr val="tx1"/>
                </a:solidFill>
                <a:latin typeface="Trebuchet MS" panose="020B0603020202020204"/>
                <a:ea typeface="Trebuchet MS" panose="020B0603020202020204"/>
                <a:cs typeface="Trebuchet MS" panose="020B0603020202020204"/>
                <a:sym typeface="Trebuchet MS" panose="020B0603020202020204"/>
              </a:rPr>
              <a:t>Direct Compensation</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97790" lvl="0" indent="-343535" algn="just" rtl="0">
              <a:lnSpc>
                <a:spcPct val="80000"/>
              </a:lnSpc>
              <a:spcBef>
                <a:spcPts val="1010"/>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It is naturally made up of salary payments and health benefits. The creation  of salary ranges and pay scales for different positions within an organization  are the central responsibility of compensation management staff.</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12065" lvl="0" indent="-343535" algn="l" rtl="0">
              <a:lnSpc>
                <a:spcPct val="96000"/>
              </a:lnSpc>
              <a:spcBef>
                <a:spcPts val="985"/>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Direct compensation that is in line with the industry standards facilitates  employees with the assurance that they are getting paid fairly. This helps the  employer not to worry about the costly loss of trained staff to a competitor.</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690"/>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b="1">
                <a:solidFill>
                  <a:schemeClr val="tx1"/>
                </a:solidFill>
                <a:latin typeface="Trebuchet MS" panose="020B0603020202020204"/>
                <a:ea typeface="Trebuchet MS" panose="020B0603020202020204"/>
                <a:cs typeface="Trebuchet MS" panose="020B0603020202020204"/>
                <a:sym typeface="Trebuchet MS" panose="020B0603020202020204"/>
              </a:rPr>
              <a:t>Indirect Compensation</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8000"/>
              </a:lnSpc>
              <a:spcBef>
                <a:spcPts val="695"/>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It focuses on the personal encouragements of each individual to work.</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179070" lvl="0" indent="0" algn="l" rtl="0">
              <a:lnSpc>
                <a:spcPct val="80000"/>
              </a:lnSpc>
              <a:spcBef>
                <a:spcPts val="160"/>
              </a:spcBef>
              <a:spcAft>
                <a:spcPts val="0"/>
              </a:spcAft>
              <a:buNone/>
            </a:pP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Although salary is essential, people are most productive in jobs where they  share the company's values and priorities.</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471170" lvl="0" indent="-343535" algn="l" rtl="0">
              <a:lnSpc>
                <a:spcPct val="96000"/>
              </a:lnSpc>
              <a:spcBef>
                <a:spcPts val="985"/>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These benefits can include things like free staff development courses,  subsidized day care, the chances for promotion or transfer within the  company, public recognition, the ability to effect change or bring some  changes in the workplace, and service to others.</a:t>
            </a:r>
            <a:endParaRPr sz="14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5080" lvl="0" indent="-343535" algn="l" rtl="0">
              <a:lnSpc>
                <a:spcPct val="80000"/>
              </a:lnSpc>
              <a:spcBef>
                <a:spcPts val="995"/>
              </a:spcBef>
              <a:spcAft>
                <a:spcPts val="0"/>
              </a:spcAft>
              <a:buNone/>
            </a:pPr>
            <a:r>
              <a:rPr lang="en-US" sz="14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400">
                <a:solidFill>
                  <a:schemeClr val="tx1"/>
                </a:solidFill>
                <a:latin typeface="Trebuchet MS" panose="020B0603020202020204"/>
                <a:ea typeface="Trebuchet MS" panose="020B0603020202020204"/>
                <a:cs typeface="Trebuchet MS" panose="020B0603020202020204"/>
                <a:sym typeface="Trebuchet MS" panose="020B0603020202020204"/>
              </a:rPr>
              <a:t>These are the two types of compensation that need to be managed and have  its own contribution in the development of the organization. Moving forward,  we will see the different components of compensation.</a:t>
            </a:r>
            <a:endParaRPr lang="en-US" sz="1400">
              <a:solidFill>
                <a:schemeClr val="tx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19" name="Shape 319"/>
        <p:cNvGrpSpPr/>
        <p:nvPr/>
      </p:nvGrpSpPr>
      <p:grpSpPr>
        <a:xfrm>
          <a:off x="0" y="0"/>
          <a:ext cx="0" cy="0"/>
          <a:chOff x="0" y="0"/>
          <a:chExt cx="0" cy="0"/>
        </a:xfrm>
      </p:grpSpPr>
      <p:sp>
        <p:nvSpPr>
          <p:cNvPr id="320" name="Google Shape;320;p23"/>
          <p:cNvSpPr txBox="1"/>
          <p:nvPr>
            <p:ph type="title"/>
          </p:nvPr>
        </p:nvSpPr>
        <p:spPr>
          <a:xfrm>
            <a:off x="1755140" y="19050"/>
            <a:ext cx="6792595" cy="68961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a:t>TYPES OF PAY</a:t>
            </a:r>
            <a:endParaRPr lang="en-US"/>
          </a:p>
        </p:txBody>
      </p:sp>
      <p:sp>
        <p:nvSpPr>
          <p:cNvPr id="322" name="Google Shape;322;p23"/>
          <p:cNvSpPr txBox="1"/>
          <p:nvPr/>
        </p:nvSpPr>
        <p:spPr>
          <a:xfrm>
            <a:off x="1983740" y="941578"/>
            <a:ext cx="5788025" cy="3735705"/>
          </a:xfrm>
          <a:prstGeom prst="rect">
            <a:avLst/>
          </a:prstGeom>
          <a:noFill/>
          <a:ln>
            <a:noFill/>
          </a:ln>
        </p:spPr>
        <p:txBody>
          <a:bodyPr spcFirstLastPara="1" wrap="square" lIns="0" tIns="165100" rIns="0" bIns="0" anchor="t" anchorCtr="0">
            <a:spAutoFit/>
          </a:bodyPr>
          <a:lstStyle/>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Salary</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Hourly Wage/Day Work</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Piecework System</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Commission Plans</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Bonus Plans-monetary &amp; cashless</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Profit Sharing Plans/Performance-based pay (annual)</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5"/>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Gain-Sharing Plans (annual)</a:t>
            </a:r>
            <a:endParaRPr sz="18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120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Stock Options</a:t>
            </a:r>
            <a:endParaRPr lang="en-US" sz="180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26" name="Shape 326"/>
        <p:cNvGrpSpPr/>
        <p:nvPr/>
      </p:nvGrpSpPr>
      <p:grpSpPr>
        <a:xfrm>
          <a:off x="0" y="0"/>
          <a:ext cx="0" cy="0"/>
          <a:chOff x="0" y="0"/>
          <a:chExt cx="0" cy="0"/>
        </a:xfrm>
      </p:grpSpPr>
      <p:sp>
        <p:nvSpPr>
          <p:cNvPr id="327" name="Google Shape;327;p24"/>
          <p:cNvSpPr txBox="1"/>
          <p:nvPr>
            <p:ph type="title"/>
          </p:nvPr>
        </p:nvSpPr>
        <p:spPr>
          <a:xfrm>
            <a:off x="1602740" y="92710"/>
            <a:ext cx="6703695" cy="68961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FRINGE BENEFITS</a:t>
            </a:r>
            <a:endParaRPr lang="en-US"/>
          </a:p>
        </p:txBody>
      </p:sp>
      <p:sp>
        <p:nvSpPr>
          <p:cNvPr id="329" name="Google Shape;329;p24"/>
          <p:cNvSpPr txBox="1"/>
          <p:nvPr/>
        </p:nvSpPr>
        <p:spPr>
          <a:xfrm>
            <a:off x="2212340" y="835278"/>
            <a:ext cx="6094095" cy="4749165"/>
          </a:xfrm>
          <a:prstGeom prst="rect">
            <a:avLst/>
          </a:prstGeom>
          <a:noFill/>
          <a:ln>
            <a:noFill/>
          </a:ln>
        </p:spPr>
        <p:txBody>
          <a:bodyPr spcFirstLastPara="1" wrap="square" lIns="0" tIns="43800" rIns="0" bIns="0" anchor="t" anchorCtr="0">
            <a:spAutoFit/>
          </a:bodyPr>
          <a:lstStyle/>
          <a:p>
            <a:pPr marL="355600" marR="6350" lvl="0" indent="-343535" algn="l" rtl="0">
              <a:lnSpc>
                <a:spcPct val="108000"/>
              </a:lnSpc>
              <a:spcBef>
                <a:spcPts val="0"/>
              </a:spcBef>
              <a:spcAft>
                <a:spcPts val="0"/>
              </a:spcAft>
              <a:buNone/>
            </a:pPr>
            <a:r>
              <a:rPr lang="en-US" sz="1800" i="1">
                <a:solidFill>
                  <a:srgbClr val="006FC0"/>
                </a:solidFill>
                <a:latin typeface="Arial" panose="020B0604020202020204"/>
                <a:ea typeface="Arial" panose="020B0604020202020204"/>
                <a:cs typeface="Arial" panose="020B0604020202020204"/>
                <a:sym typeface="Arial" panose="020B0604020202020204"/>
              </a:rPr>
              <a:t>FRINGE BENEFITS </a:t>
            </a:r>
            <a:r>
              <a:rPr lang="en-US" sz="1800">
                <a:solidFill>
                  <a:srgbClr val="404040"/>
                </a:solidFill>
                <a:latin typeface="Arial" panose="020B0604020202020204"/>
                <a:ea typeface="Arial" panose="020B0604020202020204"/>
                <a:cs typeface="Arial" panose="020B0604020202020204"/>
                <a:sym typeface="Arial" panose="020B0604020202020204"/>
              </a:rPr>
              <a:t>include sick-leave pay, vacation pay,  pension plans, and health plans that represent additional  compensation to employees beyond base wages.</a:t>
            </a:r>
            <a:endParaRPr sz="1800">
              <a:solidFill>
                <a:schemeClr val="dk1"/>
              </a:solidFill>
              <a:latin typeface="Arial" panose="020B0604020202020204"/>
              <a:ea typeface="Arial" panose="020B0604020202020204"/>
              <a:cs typeface="Arial" panose="020B0604020202020204"/>
              <a:sym typeface="Arial" panose="020B0604020202020204"/>
            </a:endParaRPr>
          </a:p>
          <a:p>
            <a:pPr marL="469900" marR="168910" lvl="0" indent="-114300" algn="l" rtl="0">
              <a:lnSpc>
                <a:spcPct val="108000"/>
              </a:lnSpc>
              <a:spcBef>
                <a:spcPts val="15"/>
              </a:spcBef>
              <a:spcAft>
                <a:spcPts val="0"/>
              </a:spcAft>
              <a:buClr>
                <a:srgbClr val="404040"/>
              </a:buClr>
              <a:buSzPts val="1800"/>
              <a:buFont typeface="Arial" panose="020B0604020202020204"/>
              <a:buAutoNum type="alphaLcPeriod"/>
            </a:pPr>
            <a:r>
              <a:rPr lang="en-US" sz="1800">
                <a:solidFill>
                  <a:srgbClr val="404040"/>
                </a:solidFill>
                <a:latin typeface="Arial" panose="020B0604020202020204"/>
                <a:ea typeface="Arial" panose="020B0604020202020204"/>
                <a:cs typeface="Arial" panose="020B0604020202020204"/>
                <a:sym typeface="Arial" panose="020B0604020202020204"/>
              </a:rPr>
              <a:t>In recent years benefit programs grew faster than  wages.</a:t>
            </a:r>
            <a:endParaRPr sz="1800">
              <a:solidFill>
                <a:schemeClr val="dk1"/>
              </a:solidFill>
              <a:latin typeface="Arial" panose="020B0604020202020204"/>
              <a:ea typeface="Arial" panose="020B0604020202020204"/>
              <a:cs typeface="Arial" panose="020B0604020202020204"/>
              <a:sym typeface="Arial" panose="020B0604020202020204"/>
            </a:endParaRPr>
          </a:p>
          <a:p>
            <a:pPr marL="927100" marR="0" lvl="0" indent="-457835" algn="l" rtl="0">
              <a:lnSpc>
                <a:spcPct val="101000"/>
              </a:lnSpc>
              <a:spcBef>
                <a:spcPts val="0"/>
              </a:spcBef>
              <a:spcAft>
                <a:spcPts val="0"/>
              </a:spcAft>
              <a:buClr>
                <a:srgbClr val="404040"/>
              </a:buClr>
              <a:buSzPts val="1800"/>
              <a:buFont typeface="Arial" panose="020B0604020202020204"/>
              <a:buAutoNum type="alphaLcPeriod"/>
            </a:pPr>
            <a:r>
              <a:rPr lang="en-US" sz="1800">
                <a:solidFill>
                  <a:srgbClr val="404040"/>
                </a:solidFill>
                <a:latin typeface="Arial" panose="020B0604020202020204"/>
                <a:ea typeface="Arial" panose="020B0604020202020204"/>
                <a:cs typeface="Arial" panose="020B0604020202020204"/>
                <a:sym typeface="Arial" panose="020B0604020202020204"/>
              </a:rPr>
              <a:t>Benefits account for about 30% OF PAYROLLS</a:t>
            </a:r>
            <a:endParaRPr sz="1800">
              <a:solidFill>
                <a:schemeClr val="dk1"/>
              </a:solidFill>
              <a:latin typeface="Arial" panose="020B0604020202020204"/>
              <a:ea typeface="Arial" panose="020B0604020202020204"/>
              <a:cs typeface="Arial" panose="020B0604020202020204"/>
              <a:sym typeface="Arial" panose="020B0604020202020204"/>
            </a:endParaRPr>
          </a:p>
          <a:p>
            <a:pPr marL="355600" marR="0" lvl="0" indent="0" algn="l" rtl="0">
              <a:lnSpc>
                <a:spcPct val="108000"/>
              </a:lnSpc>
              <a:spcBef>
                <a:spcPts val="0"/>
              </a:spcBef>
              <a:spcAft>
                <a:spcPts val="0"/>
              </a:spcAft>
              <a:buNone/>
            </a:pPr>
            <a:r>
              <a:rPr lang="en-US" sz="1800">
                <a:solidFill>
                  <a:srgbClr val="404040"/>
                </a:solidFill>
                <a:latin typeface="Arial" panose="020B0604020202020204"/>
                <a:ea typeface="Arial" panose="020B0604020202020204"/>
                <a:cs typeface="Arial" panose="020B0604020202020204"/>
                <a:sym typeface="Arial" panose="020B0604020202020204"/>
              </a:rPr>
              <a:t>today.</a:t>
            </a:r>
            <a:endParaRPr sz="1800">
              <a:solidFill>
                <a:schemeClr val="dk1"/>
              </a:solidFill>
              <a:latin typeface="Arial" panose="020B0604020202020204"/>
              <a:ea typeface="Arial" panose="020B0604020202020204"/>
              <a:cs typeface="Arial" panose="020B0604020202020204"/>
              <a:sym typeface="Arial" panose="020B0604020202020204"/>
            </a:endParaRPr>
          </a:p>
          <a:p>
            <a:pPr marL="469900" marR="5080" lvl="0" indent="-114300" algn="l" rtl="0">
              <a:lnSpc>
                <a:spcPct val="108000"/>
              </a:lnSpc>
              <a:spcBef>
                <a:spcPts val="140"/>
              </a:spcBef>
              <a:spcAft>
                <a:spcPts val="0"/>
              </a:spcAft>
              <a:buClr>
                <a:srgbClr val="404040"/>
              </a:buClr>
              <a:buSzPts val="1800"/>
              <a:buFont typeface="Arial" panose="020B0604020202020204"/>
              <a:buAutoNum type="alphaLcPeriod" startAt="3"/>
            </a:pPr>
            <a:r>
              <a:rPr lang="en-US" sz="1800">
                <a:solidFill>
                  <a:srgbClr val="404040"/>
                </a:solidFill>
                <a:latin typeface="Arial" panose="020B0604020202020204"/>
                <a:ea typeface="Arial" panose="020B0604020202020204"/>
                <a:cs typeface="Arial" panose="020B0604020202020204"/>
                <a:sym typeface="Arial" panose="020B0604020202020204"/>
              </a:rPr>
              <a:t>Many employees want more fringe benefits instead  of more salary to avoid higher taxes.</a:t>
            </a:r>
            <a:endParaRPr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5"/>
              </a:spcBef>
              <a:spcAft>
                <a:spcPts val="0"/>
              </a:spcAft>
              <a:buNone/>
            </a:pPr>
            <a:endParaRPr sz="1650">
              <a:solidFill>
                <a:schemeClr val="dk1"/>
              </a:solidFill>
              <a:latin typeface="Arial" panose="020B0604020202020204"/>
              <a:ea typeface="Arial" panose="020B0604020202020204"/>
              <a:cs typeface="Arial" panose="020B0604020202020204"/>
              <a:sym typeface="Arial" panose="020B0604020202020204"/>
            </a:endParaRPr>
          </a:p>
          <a:p>
            <a:pPr marL="355600" marR="215265" lvl="0" indent="-343535" algn="l" rtl="0">
              <a:lnSpc>
                <a:spcPct val="108000"/>
              </a:lnSpc>
              <a:spcBef>
                <a:spcPts val="0"/>
              </a:spcBef>
              <a:spcAft>
                <a:spcPts val="0"/>
              </a:spcAft>
              <a:buNone/>
            </a:pPr>
            <a:r>
              <a:rPr lang="en-US" sz="1800" i="1">
                <a:solidFill>
                  <a:srgbClr val="404040"/>
                </a:solidFill>
                <a:latin typeface="Arial" panose="020B0604020202020204"/>
                <a:ea typeface="Arial" panose="020B0604020202020204"/>
                <a:cs typeface="Arial" panose="020B0604020202020204"/>
                <a:sym typeface="Arial" panose="020B0604020202020204"/>
              </a:rPr>
              <a:t>SOFT-BENEFITS help workers maintain balance between  work &amp; family life.</a:t>
            </a:r>
            <a:endParaRPr sz="18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endParaRPr sz="1700">
              <a:solidFill>
                <a:schemeClr val="dk1"/>
              </a:solidFill>
              <a:latin typeface="Arial" panose="020B0604020202020204"/>
              <a:ea typeface="Arial" panose="020B0604020202020204"/>
              <a:cs typeface="Arial" panose="020B0604020202020204"/>
              <a:sym typeface="Arial" panose="020B0604020202020204"/>
            </a:endParaRPr>
          </a:p>
          <a:p>
            <a:pPr marL="355600" marR="133985" lvl="0" indent="-343535" algn="l" rtl="0">
              <a:lnSpc>
                <a:spcPct val="108000"/>
              </a:lnSpc>
              <a:spcBef>
                <a:spcPts val="0"/>
              </a:spcBef>
              <a:spcAft>
                <a:spcPts val="0"/>
              </a:spcAft>
              <a:buNone/>
            </a:pPr>
            <a:r>
              <a:rPr lang="en-US" sz="1800" i="1">
                <a:solidFill>
                  <a:srgbClr val="404040"/>
                </a:solidFill>
                <a:latin typeface="Arial" panose="020B0604020202020204"/>
                <a:ea typeface="Arial" panose="020B0604020202020204"/>
                <a:cs typeface="Arial" panose="020B0604020202020204"/>
                <a:sym typeface="Arial" panose="020B0604020202020204"/>
              </a:rPr>
              <a:t>CAFETERIA-STYLE FRINGE BENEFITS allow employees  to choose the benefits they want up to a certain dollar  amount.</a:t>
            </a:r>
            <a:endParaRPr sz="18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33" name="Shape 333"/>
        <p:cNvGrpSpPr/>
        <p:nvPr/>
      </p:nvGrpSpPr>
      <p:grpSpPr>
        <a:xfrm>
          <a:off x="0" y="0"/>
          <a:ext cx="0" cy="0"/>
          <a:chOff x="0" y="0"/>
          <a:chExt cx="0" cy="0"/>
        </a:xfrm>
      </p:grpSpPr>
      <p:sp>
        <p:nvSpPr>
          <p:cNvPr id="334" name="Google Shape;334;p25"/>
          <p:cNvSpPr txBox="1"/>
          <p:nvPr>
            <p:ph type="title"/>
          </p:nvPr>
        </p:nvSpPr>
        <p:spPr>
          <a:xfrm>
            <a:off x="2212340" y="629158"/>
            <a:ext cx="6028690" cy="56642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3600"/>
              <a:t>TRAINING AND DEVELOPMENT</a:t>
            </a:r>
            <a:endParaRPr lang="en-US" sz="3600"/>
          </a:p>
        </p:txBody>
      </p:sp>
      <p:sp>
        <p:nvSpPr>
          <p:cNvPr id="336" name="Google Shape;336;p25"/>
          <p:cNvSpPr txBox="1"/>
          <p:nvPr/>
        </p:nvSpPr>
        <p:spPr>
          <a:xfrm>
            <a:off x="2212340" y="1525270"/>
            <a:ext cx="7920990" cy="4657725"/>
          </a:xfrm>
          <a:prstGeom prst="rect">
            <a:avLst/>
          </a:prstGeom>
          <a:noFill/>
          <a:ln>
            <a:noFill/>
          </a:ln>
        </p:spPr>
        <p:txBody>
          <a:bodyPr spcFirstLastPara="1" wrap="square" lIns="0" tIns="41900" rIns="0" bIns="0" anchor="t" anchorCtr="0">
            <a:spAutoFit/>
          </a:bodyPr>
          <a:lstStyle/>
          <a:p>
            <a:pPr marL="355600" marR="5080" lvl="0" indent="-343535" algn="just" rtl="0">
              <a:lnSpc>
                <a:spcPct val="108000"/>
              </a:lnSpc>
              <a:spcBef>
                <a:spcPts val="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In training, the line manager again describes what he or she expects the  employee to be able to do. Then the human resource team (Staff) develops a  training program, which the line manager then (usually) administers.</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just" rtl="0">
              <a:lnSpc>
                <a:spcPct val="114000"/>
              </a:lnSpc>
              <a:spcBef>
                <a:spcPts val="76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Trebuchet MS" panose="020B0603020202020204"/>
                <a:ea typeface="Trebuchet MS" panose="020B0603020202020204"/>
                <a:cs typeface="Trebuchet MS" panose="020B0603020202020204"/>
                <a:sym typeface="Trebuchet MS" panose="020B0603020202020204"/>
              </a:rPr>
              <a:t>Again, Without cooperating each other this would difficult</a:t>
            </a:r>
            <a:endParaRPr sz="17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355600" marR="5715" lvl="0" indent="-343535" algn="just" rtl="0">
              <a:lnSpc>
                <a:spcPct val="108000"/>
              </a:lnSpc>
              <a:spcBef>
                <a:spcPts val="12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b="1">
                <a:solidFill>
                  <a:schemeClr val="tx1"/>
                </a:solidFill>
                <a:latin typeface="Arial" panose="020B0604020202020204"/>
                <a:ea typeface="Arial" panose="020B0604020202020204"/>
                <a:cs typeface="Arial" panose="020B0604020202020204"/>
                <a:sym typeface="Arial" panose="020B0604020202020204"/>
              </a:rPr>
              <a:t>Training and Development -- </a:t>
            </a:r>
            <a:r>
              <a:rPr lang="en-US" sz="1700" i="1">
                <a:solidFill>
                  <a:schemeClr val="tx1"/>
                </a:solidFill>
                <a:latin typeface="Arial" panose="020B0604020202020204"/>
                <a:ea typeface="Arial" panose="020B0604020202020204"/>
                <a:cs typeface="Arial" panose="020B0604020202020204"/>
                <a:sym typeface="Arial" panose="020B0604020202020204"/>
              </a:rPr>
              <a:t>All attempts to improve productivity by  increasing an employee’s ability to perform.</a:t>
            </a:r>
            <a:endParaRPr sz="17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just" rtl="0">
              <a:lnSpc>
                <a:spcPct val="100000"/>
              </a:lnSpc>
              <a:spcBef>
                <a:spcPts val="156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Arial" panose="020B0604020202020204"/>
                <a:ea typeface="Arial" panose="020B0604020202020204"/>
                <a:cs typeface="Arial" panose="020B0604020202020204"/>
                <a:sym typeface="Arial" panose="020B0604020202020204"/>
              </a:rPr>
              <a:t>Training focuses on short-term skills.</a:t>
            </a:r>
            <a:endParaRPr sz="17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just" rtl="0">
              <a:lnSpc>
                <a:spcPct val="100000"/>
              </a:lnSpc>
              <a:spcBef>
                <a:spcPts val="1595"/>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a:solidFill>
                  <a:schemeClr val="tx1"/>
                </a:solidFill>
                <a:latin typeface="Arial" panose="020B0604020202020204"/>
                <a:ea typeface="Arial" panose="020B0604020202020204"/>
                <a:cs typeface="Arial" panose="020B0604020202020204"/>
                <a:sym typeface="Arial" panose="020B0604020202020204"/>
              </a:rPr>
              <a:t>Development focuses on long-term abilities.</a:t>
            </a:r>
            <a:endParaRPr sz="17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just" rtl="0">
              <a:lnSpc>
                <a:spcPct val="100000"/>
              </a:lnSpc>
              <a:spcBef>
                <a:spcPts val="1600"/>
              </a:spcBef>
              <a:spcAft>
                <a:spcPts val="0"/>
              </a:spcAft>
              <a:buNone/>
            </a:pPr>
            <a:r>
              <a:rPr lang="en-US" sz="13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700" i="1">
                <a:solidFill>
                  <a:schemeClr val="tx1"/>
                </a:solidFill>
                <a:latin typeface="Arial" panose="020B0604020202020204"/>
                <a:ea typeface="Arial" panose="020B0604020202020204"/>
                <a:cs typeface="Arial" panose="020B0604020202020204"/>
                <a:sym typeface="Arial" panose="020B0604020202020204"/>
              </a:rPr>
              <a:t>Both include 3 steps:</a:t>
            </a:r>
            <a:endParaRPr sz="1700">
              <a:solidFill>
                <a:schemeClr val="tx1"/>
              </a:solidFill>
              <a:latin typeface="Arial" panose="020B0604020202020204"/>
              <a:ea typeface="Arial" panose="020B0604020202020204"/>
              <a:cs typeface="Arial" panose="020B0604020202020204"/>
              <a:sym typeface="Arial" panose="020B0604020202020204"/>
            </a:endParaRPr>
          </a:p>
          <a:p>
            <a:pPr marL="311785" marR="0" lvl="0" indent="-238760" algn="l" rtl="0">
              <a:lnSpc>
                <a:spcPct val="100000"/>
              </a:lnSpc>
              <a:spcBef>
                <a:spcPts val="1595"/>
              </a:spcBef>
              <a:spcAft>
                <a:spcPts val="0"/>
              </a:spcAft>
              <a:buClr>
                <a:srgbClr val="404040"/>
              </a:buClr>
              <a:buSzPts val="1700"/>
              <a:buFont typeface="Arial" panose="020B0604020202020204"/>
              <a:buAutoNum type="romanLcParenBoth"/>
            </a:pPr>
            <a:r>
              <a:rPr lang="en-US" sz="1700">
                <a:solidFill>
                  <a:schemeClr val="tx1"/>
                </a:solidFill>
                <a:latin typeface="Arial" panose="020B0604020202020204"/>
                <a:ea typeface="Arial" panose="020B0604020202020204"/>
                <a:cs typeface="Arial" panose="020B0604020202020204"/>
                <a:sym typeface="Arial" panose="020B0604020202020204"/>
              </a:rPr>
              <a:t>Assessing organization needs and employee skills to determine training needs;</a:t>
            </a:r>
            <a:endParaRPr sz="1700">
              <a:solidFill>
                <a:schemeClr val="tx1"/>
              </a:solidFill>
              <a:latin typeface="Arial" panose="020B0604020202020204"/>
              <a:ea typeface="Arial" panose="020B0604020202020204"/>
              <a:cs typeface="Arial" panose="020B0604020202020204"/>
              <a:sym typeface="Arial" panose="020B0604020202020204"/>
            </a:endParaRPr>
          </a:p>
          <a:p>
            <a:pPr marL="311150" marR="0" lvl="0" indent="-299085" algn="l" rtl="0">
              <a:lnSpc>
                <a:spcPct val="100000"/>
              </a:lnSpc>
              <a:spcBef>
                <a:spcPts val="1595"/>
              </a:spcBef>
              <a:spcAft>
                <a:spcPts val="0"/>
              </a:spcAft>
              <a:buClr>
                <a:srgbClr val="6F2F9F"/>
              </a:buClr>
              <a:buSzPts val="1700"/>
              <a:buFont typeface="Arial" panose="020B0604020202020204"/>
              <a:buAutoNum type="romanLcParenBoth"/>
            </a:pPr>
            <a:r>
              <a:rPr lang="en-US" sz="1700">
                <a:solidFill>
                  <a:schemeClr val="tx1"/>
                </a:solidFill>
                <a:latin typeface="Arial" panose="020B0604020202020204"/>
                <a:ea typeface="Arial" panose="020B0604020202020204"/>
                <a:cs typeface="Arial" panose="020B0604020202020204"/>
                <a:sym typeface="Arial" panose="020B0604020202020204"/>
              </a:rPr>
              <a:t>Designing training activities to meet identified needs;</a:t>
            </a:r>
            <a:endParaRPr sz="1700">
              <a:solidFill>
                <a:schemeClr val="tx1"/>
              </a:solidFill>
              <a:latin typeface="Arial" panose="020B0604020202020204"/>
              <a:ea typeface="Arial" panose="020B0604020202020204"/>
              <a:cs typeface="Arial" panose="020B0604020202020204"/>
              <a:sym typeface="Arial" panose="020B0604020202020204"/>
            </a:endParaRPr>
          </a:p>
          <a:p>
            <a:pPr marL="358140" marR="0" lvl="0" indent="-346075" algn="l" rtl="0">
              <a:lnSpc>
                <a:spcPct val="100000"/>
              </a:lnSpc>
              <a:spcBef>
                <a:spcPts val="1600"/>
              </a:spcBef>
              <a:spcAft>
                <a:spcPts val="0"/>
              </a:spcAft>
              <a:buClr>
                <a:srgbClr val="6F2F9F"/>
              </a:buClr>
              <a:buSzPts val="1700"/>
              <a:buFont typeface="Arial" panose="020B0604020202020204"/>
              <a:buAutoNum type="romanLcParenBoth"/>
            </a:pPr>
            <a:r>
              <a:rPr lang="en-US" sz="1700">
                <a:solidFill>
                  <a:schemeClr val="tx1"/>
                </a:solidFill>
                <a:latin typeface="Arial" panose="020B0604020202020204"/>
                <a:ea typeface="Arial" panose="020B0604020202020204"/>
                <a:cs typeface="Arial" panose="020B0604020202020204"/>
                <a:sym typeface="Arial" panose="020B0604020202020204"/>
              </a:rPr>
              <a:t>Evaluating the training effectiveness.</a:t>
            </a:r>
            <a:endParaRPr lang="en-US" sz="170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40" name="Shape 340"/>
        <p:cNvGrpSpPr/>
        <p:nvPr/>
      </p:nvGrpSpPr>
      <p:grpSpPr>
        <a:xfrm>
          <a:off x="0" y="0"/>
          <a:ext cx="0" cy="0"/>
          <a:chOff x="0" y="0"/>
          <a:chExt cx="0" cy="0"/>
        </a:xfrm>
      </p:grpSpPr>
      <p:sp>
        <p:nvSpPr>
          <p:cNvPr id="341" name="Google Shape;341;p26"/>
          <p:cNvSpPr txBox="1"/>
          <p:nvPr>
            <p:ph type="title"/>
          </p:nvPr>
        </p:nvSpPr>
        <p:spPr>
          <a:xfrm>
            <a:off x="1602739" y="171399"/>
            <a:ext cx="8098790"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TRAINING AND DEVELOPMENT METHODS</a:t>
            </a:r>
            <a:endParaRPr lang="en-US"/>
          </a:p>
        </p:txBody>
      </p:sp>
      <p:sp>
        <p:nvSpPr>
          <p:cNvPr id="343" name="Google Shape;343;p26"/>
          <p:cNvSpPr txBox="1"/>
          <p:nvPr/>
        </p:nvSpPr>
        <p:spPr>
          <a:xfrm>
            <a:off x="2212340" y="1551305"/>
            <a:ext cx="6492875" cy="33966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Orientation</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On-the-Job Training</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5"/>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Apprentice Programs</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Off-the-Job Training</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5"/>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Online Training</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Vestibule Training</a:t>
            </a:r>
            <a:endParaRPr sz="1800">
              <a:solidFill>
                <a:schemeClr val="tx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20"/>
              </a:spcBef>
              <a:spcAft>
                <a:spcPts val="0"/>
              </a:spcAft>
              <a:buNone/>
            </a:pPr>
            <a:endParaRPr sz="155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Arial" panose="020B0604020202020204"/>
                <a:ea typeface="Arial" panose="020B0604020202020204"/>
                <a:cs typeface="Arial" panose="020B0604020202020204"/>
                <a:sym typeface="Arial" panose="020B0604020202020204"/>
              </a:rPr>
              <a:t>Job Simulation</a:t>
            </a:r>
            <a:endParaRPr lang="en-US" sz="1800">
              <a:solidFill>
                <a:schemeClr val="tx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55" name="Shape 355"/>
        <p:cNvGrpSpPr/>
        <p:nvPr/>
      </p:nvGrpSpPr>
      <p:grpSpPr>
        <a:xfrm>
          <a:off x="0" y="0"/>
          <a:ext cx="0" cy="0"/>
          <a:chOff x="0" y="0"/>
          <a:chExt cx="0" cy="0"/>
        </a:xfrm>
      </p:grpSpPr>
      <p:sp>
        <p:nvSpPr>
          <p:cNvPr id="356" name="Google Shape;356;p28"/>
          <p:cNvSpPr txBox="1"/>
          <p:nvPr>
            <p:ph type="title"/>
          </p:nvPr>
        </p:nvSpPr>
        <p:spPr>
          <a:xfrm>
            <a:off x="1602739" y="18999"/>
            <a:ext cx="5285740"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PERFORMANCE APPRAISAL</a:t>
            </a:r>
            <a:endParaRPr lang="en-US"/>
          </a:p>
        </p:txBody>
      </p:sp>
      <p:sp>
        <p:nvSpPr>
          <p:cNvPr id="358" name="Google Shape;358;p28"/>
          <p:cNvSpPr txBox="1"/>
          <p:nvPr>
            <p:ph type="body" idx="1"/>
          </p:nvPr>
        </p:nvSpPr>
        <p:spPr>
          <a:xfrm>
            <a:off x="2136140" y="1706321"/>
            <a:ext cx="7919719" cy="4427855"/>
          </a:xfrm>
          <a:prstGeom prst="rect">
            <a:avLst/>
          </a:prstGeom>
          <a:noFill/>
          <a:ln>
            <a:noFill/>
          </a:ln>
        </p:spPr>
        <p:txBody>
          <a:bodyPr spcFirstLastPara="1" wrap="square" lIns="0" tIns="83175" rIns="0" bIns="0" anchor="t" anchorCtr="0">
            <a:spAutoFit/>
          </a:bodyPr>
          <a:lstStyle/>
          <a:p>
            <a:pPr marL="12700" marR="5080" lvl="0" indent="0" algn="l" rtl="0">
              <a:lnSpc>
                <a:spcPct val="80000"/>
              </a:lnSpc>
              <a:spcBef>
                <a:spcPts val="0"/>
              </a:spcBef>
              <a:spcAft>
                <a:spcPts val="0"/>
              </a:spcAft>
              <a:buNone/>
            </a:pPr>
            <a:r>
              <a:rPr lang="en-US" b="1" i="1">
                <a:latin typeface="Arial" panose="020B0604020202020204"/>
                <a:ea typeface="Arial" panose="020B0604020202020204"/>
                <a:cs typeface="Arial" panose="020B0604020202020204"/>
                <a:sym typeface="Arial" panose="020B0604020202020204"/>
              </a:rPr>
              <a:t>PERFORMANCE APPRAISAL </a:t>
            </a:r>
            <a:r>
              <a:rPr lang="en-US"/>
              <a:t>is an evaluation in which the  performance level of employees is measured against  established standards to make decisions about promotions,  compensation, additional training, or firing.</a:t>
            </a:r>
            <a:endParaRPr lang="en-US"/>
          </a:p>
          <a:p>
            <a:pPr marL="12700" marR="1042035" lvl="0" indent="0" algn="l" rtl="0">
              <a:lnSpc>
                <a:spcPct val="80000"/>
              </a:lnSpc>
              <a:spcBef>
                <a:spcPts val="0"/>
              </a:spcBef>
              <a:spcAft>
                <a:spcPts val="0"/>
              </a:spcAft>
              <a:buNone/>
            </a:pPr>
            <a:r>
              <a:rPr lang="en-US"/>
              <a:t>Almost all workers undergo a performance appraisal  annually at large corporations.</a:t>
            </a:r>
            <a:endParaRPr lang="en-US"/>
          </a:p>
          <a:p>
            <a:pPr marL="12700" marR="493395" lvl="0" indent="0" algn="l" rtl="0">
              <a:lnSpc>
                <a:spcPct val="96000"/>
              </a:lnSpc>
              <a:spcBef>
                <a:spcPts val="2190"/>
              </a:spcBef>
              <a:spcAft>
                <a:spcPts val="0"/>
              </a:spcAft>
              <a:buNone/>
            </a:pPr>
            <a:r>
              <a:rPr lang="en-US" i="1">
                <a:latin typeface="Arial" panose="020B0604020202020204"/>
                <a:ea typeface="Arial" panose="020B0604020202020204"/>
                <a:cs typeface="Arial" panose="020B0604020202020204"/>
                <a:sym typeface="Arial" panose="020B0604020202020204"/>
              </a:rPr>
              <a:t>In the 360-degree review, management gathers opinions  from all around the employees in order to get a  comprehensive idea of the worker’s abilities.</a:t>
            </a:r>
            <a:endParaRPr lang="en-US" i="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70" name="Shape 370"/>
        <p:cNvGrpSpPr/>
        <p:nvPr/>
      </p:nvGrpSpPr>
      <p:grpSpPr>
        <a:xfrm>
          <a:off x="0" y="0"/>
          <a:ext cx="0" cy="0"/>
          <a:chOff x="0" y="0"/>
          <a:chExt cx="0" cy="0"/>
        </a:xfrm>
      </p:grpSpPr>
      <p:sp>
        <p:nvSpPr>
          <p:cNvPr id="371" name="Google Shape;371;p30"/>
          <p:cNvSpPr txBox="1"/>
          <p:nvPr>
            <p:ph type="title"/>
          </p:nvPr>
        </p:nvSpPr>
        <p:spPr>
          <a:xfrm>
            <a:off x="1755140" y="130302"/>
            <a:ext cx="6400165" cy="99758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a:t>ETHICAL HRM </a:t>
            </a:r>
            <a:r>
              <a:rPr lang="en-US" sz="3200"/>
              <a:t>– 6 guidelines for HR Teams</a:t>
            </a:r>
            <a:endParaRPr sz="3200"/>
          </a:p>
        </p:txBody>
      </p:sp>
      <p:sp>
        <p:nvSpPr>
          <p:cNvPr id="373" name="Google Shape;373;p30"/>
          <p:cNvSpPr txBox="1"/>
          <p:nvPr/>
        </p:nvSpPr>
        <p:spPr>
          <a:xfrm>
            <a:off x="1831340" y="1157986"/>
            <a:ext cx="6907530" cy="4795520"/>
          </a:xfrm>
          <a:prstGeom prst="rect">
            <a:avLst/>
          </a:prstGeom>
          <a:noFill/>
          <a:ln>
            <a:noFill/>
          </a:ln>
        </p:spPr>
        <p:txBody>
          <a:bodyPr spcFirstLastPara="1" wrap="square" lIns="0" tIns="139050" rIns="0" bIns="0" anchor="t" anchorCtr="0">
            <a:spAutoFit/>
          </a:bodyPr>
          <a:lstStyle/>
          <a:p>
            <a:pPr marL="12700" marR="0" lvl="0" indent="0" algn="l" rtl="0">
              <a:lnSpc>
                <a:spcPct val="100000"/>
              </a:lnSpc>
              <a:spcBef>
                <a:spcPts val="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1) Know the laws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2</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Prioritize professional development</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3) Be an ethical HR leader</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469900" marR="0" lvl="0" indent="0" algn="l" rtl="0">
              <a:lnSpc>
                <a:spcPct val="100000"/>
              </a:lnSpc>
              <a:spcBef>
                <a:spcPts val="1005"/>
              </a:spcBef>
              <a:spcAft>
                <a:spcPts val="0"/>
              </a:spcAft>
              <a:buNone/>
            </a:pPr>
            <a:r>
              <a:rPr lang="en-US" sz="12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600">
                <a:solidFill>
                  <a:srgbClr val="404040"/>
                </a:solidFill>
                <a:latin typeface="Trebuchet MS" panose="020B0603020202020204"/>
                <a:ea typeface="Trebuchet MS" panose="020B0603020202020204"/>
                <a:cs typeface="Trebuchet MS" panose="020B0603020202020204"/>
                <a:sym typeface="Trebuchet MS" panose="020B0603020202020204"/>
              </a:rPr>
              <a:t>Commitment: “The desire to do the right thing regardless of the</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756285" marR="0" lvl="0" indent="0" algn="l" rtl="0">
              <a:lnSpc>
                <a:spcPct val="100000"/>
              </a:lnSpc>
              <a:spcBef>
                <a:spcPts val="5"/>
              </a:spcBef>
              <a:spcAft>
                <a:spcPts val="0"/>
              </a:spcAft>
              <a:buNone/>
            </a:pPr>
            <a:r>
              <a:rPr lang="en-US" sz="1600">
                <a:solidFill>
                  <a:srgbClr val="404040"/>
                </a:solidFill>
                <a:latin typeface="Trebuchet MS" panose="020B0603020202020204"/>
                <a:ea typeface="Trebuchet MS" panose="020B0603020202020204"/>
                <a:cs typeface="Trebuchet MS" panose="020B0603020202020204"/>
                <a:sym typeface="Trebuchet MS" panose="020B0603020202020204"/>
              </a:rPr>
              <a:t>cost.”</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469900" marR="0" lvl="0" indent="0" algn="l" rtl="0">
              <a:lnSpc>
                <a:spcPct val="100000"/>
              </a:lnSpc>
              <a:spcBef>
                <a:spcPts val="1005"/>
              </a:spcBef>
              <a:spcAft>
                <a:spcPts val="0"/>
              </a:spcAft>
              <a:buNone/>
            </a:pPr>
            <a:r>
              <a:rPr lang="en-US" sz="12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600">
                <a:solidFill>
                  <a:srgbClr val="404040"/>
                </a:solidFill>
                <a:latin typeface="Trebuchet MS" panose="020B0603020202020204"/>
                <a:ea typeface="Trebuchet MS" panose="020B0603020202020204"/>
                <a:cs typeface="Trebuchet MS" panose="020B0603020202020204"/>
                <a:sym typeface="Trebuchet MS" panose="020B0603020202020204"/>
              </a:rPr>
              <a:t>Consciousness: “The awareness to act consistently and apply moral</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756285" marR="0" lvl="0" indent="0" algn="l" rtl="0">
              <a:lnSpc>
                <a:spcPct val="100000"/>
              </a:lnSpc>
              <a:spcBef>
                <a:spcPts val="0"/>
              </a:spcBef>
              <a:spcAft>
                <a:spcPts val="0"/>
              </a:spcAft>
              <a:buNone/>
            </a:pPr>
            <a:r>
              <a:rPr lang="en-US" sz="1600">
                <a:solidFill>
                  <a:srgbClr val="404040"/>
                </a:solidFill>
                <a:latin typeface="Trebuchet MS" panose="020B0603020202020204"/>
                <a:ea typeface="Trebuchet MS" panose="020B0603020202020204"/>
                <a:cs typeface="Trebuchet MS" panose="020B0603020202020204"/>
                <a:sym typeface="Trebuchet MS" panose="020B0603020202020204"/>
              </a:rPr>
              <a:t>convictions to daily behavior.”</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756285" marR="420370" lvl="0" indent="-287020" algn="l" rtl="0">
              <a:lnSpc>
                <a:spcPct val="100000"/>
              </a:lnSpc>
              <a:spcBef>
                <a:spcPts val="995"/>
              </a:spcBef>
              <a:spcAft>
                <a:spcPts val="0"/>
              </a:spcAft>
              <a:buNone/>
            </a:pPr>
            <a:r>
              <a:rPr lang="en-US" sz="12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600">
                <a:solidFill>
                  <a:srgbClr val="404040"/>
                </a:solidFill>
                <a:latin typeface="Trebuchet MS" panose="020B0603020202020204"/>
                <a:ea typeface="Trebuchet MS" panose="020B0603020202020204"/>
                <a:cs typeface="Trebuchet MS" panose="020B0603020202020204"/>
                <a:sym typeface="Trebuchet MS" panose="020B0603020202020204"/>
              </a:rPr>
              <a:t>Competency: “The ability to collect and evaluate information,  develop alternatives and foresee potential consequences and  risks.”</a:t>
            </a:r>
            <a:endParaRPr sz="16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0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4) Understand conflicts of interest</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5) Implement diversity and inclusion practices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b="1">
                <a:solidFill>
                  <a:srgbClr val="404040"/>
                </a:solidFill>
                <a:latin typeface="Trebuchet MS" panose="020B0603020202020204"/>
                <a:ea typeface="Trebuchet MS" panose="020B0603020202020204"/>
                <a:cs typeface="Trebuchet MS" panose="020B0603020202020204"/>
                <a:sym typeface="Trebuchet MS" panose="020B0603020202020204"/>
              </a:rPr>
              <a:t>6) Keep information confidential</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87" name="Shape 387"/>
        <p:cNvGrpSpPr/>
        <p:nvPr/>
      </p:nvGrpSpPr>
      <p:grpSpPr>
        <a:xfrm>
          <a:off x="0" y="0"/>
          <a:ext cx="0" cy="0"/>
          <a:chOff x="0" y="0"/>
          <a:chExt cx="0" cy="0"/>
        </a:xfrm>
      </p:grpSpPr>
      <p:sp>
        <p:nvSpPr>
          <p:cNvPr id="388" name="Google Shape;388;p32"/>
          <p:cNvSpPr txBox="1"/>
          <p:nvPr>
            <p:ph type="title"/>
          </p:nvPr>
        </p:nvSpPr>
        <p:spPr>
          <a:xfrm>
            <a:off x="1831340" y="247599"/>
            <a:ext cx="2904490"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Trends in HRM</a:t>
            </a:r>
            <a:endParaRPr lang="en-US"/>
          </a:p>
        </p:txBody>
      </p:sp>
      <p:pic>
        <p:nvPicPr>
          <p:cNvPr id="389" name="Google Shape;389;p32"/>
          <p:cNvPicPr preferRelativeResize="0"/>
          <p:nvPr/>
        </p:nvPicPr>
        <p:blipFill rotWithShape="1">
          <a:blip r:embed="rId1"/>
          <a:srcRect/>
          <a:stretch>
            <a:fillRect/>
          </a:stretch>
        </p:blipFill>
        <p:spPr>
          <a:xfrm>
            <a:off x="7530972" y="4048633"/>
            <a:ext cx="204215" cy="236219"/>
          </a:xfrm>
          <a:prstGeom prst="rect">
            <a:avLst/>
          </a:prstGeom>
          <a:noFill/>
          <a:ln>
            <a:noFill/>
          </a:ln>
        </p:spPr>
      </p:pic>
      <p:pic>
        <p:nvPicPr>
          <p:cNvPr id="390" name="Google Shape;390;p32"/>
          <p:cNvPicPr preferRelativeResize="0"/>
          <p:nvPr/>
        </p:nvPicPr>
        <p:blipFill rotWithShape="1">
          <a:blip r:embed="rId1"/>
          <a:srcRect/>
          <a:stretch>
            <a:fillRect/>
          </a:stretch>
        </p:blipFill>
        <p:spPr>
          <a:xfrm>
            <a:off x="5785739" y="4292472"/>
            <a:ext cx="204215" cy="236219"/>
          </a:xfrm>
          <a:prstGeom prst="rect">
            <a:avLst/>
          </a:prstGeom>
          <a:noFill/>
          <a:ln>
            <a:noFill/>
          </a:ln>
        </p:spPr>
      </p:pic>
      <p:pic>
        <p:nvPicPr>
          <p:cNvPr id="391" name="Google Shape;391;p32"/>
          <p:cNvPicPr preferRelativeResize="0"/>
          <p:nvPr/>
        </p:nvPicPr>
        <p:blipFill rotWithShape="1">
          <a:blip r:embed="rId1"/>
          <a:srcRect/>
          <a:stretch>
            <a:fillRect/>
          </a:stretch>
        </p:blipFill>
        <p:spPr>
          <a:xfrm>
            <a:off x="2453639" y="4536313"/>
            <a:ext cx="204825" cy="236219"/>
          </a:xfrm>
          <a:prstGeom prst="rect">
            <a:avLst/>
          </a:prstGeom>
          <a:noFill/>
          <a:ln>
            <a:noFill/>
          </a:ln>
        </p:spPr>
      </p:pic>
      <p:pic>
        <p:nvPicPr>
          <p:cNvPr id="392" name="Google Shape;392;p32"/>
          <p:cNvPicPr preferRelativeResize="0"/>
          <p:nvPr/>
        </p:nvPicPr>
        <p:blipFill rotWithShape="1">
          <a:blip r:embed="rId1"/>
          <a:srcRect/>
          <a:stretch>
            <a:fillRect/>
          </a:stretch>
        </p:blipFill>
        <p:spPr>
          <a:xfrm>
            <a:off x="5090795" y="4536313"/>
            <a:ext cx="204215" cy="236219"/>
          </a:xfrm>
          <a:prstGeom prst="rect">
            <a:avLst/>
          </a:prstGeom>
          <a:noFill/>
          <a:ln>
            <a:noFill/>
          </a:ln>
        </p:spPr>
      </p:pic>
      <p:pic>
        <p:nvPicPr>
          <p:cNvPr id="393" name="Google Shape;393;p32"/>
          <p:cNvPicPr preferRelativeResize="0"/>
          <p:nvPr/>
        </p:nvPicPr>
        <p:blipFill rotWithShape="1">
          <a:blip r:embed="rId1"/>
          <a:srcRect/>
          <a:stretch>
            <a:fillRect/>
          </a:stretch>
        </p:blipFill>
        <p:spPr>
          <a:xfrm>
            <a:off x="7572121" y="4536313"/>
            <a:ext cx="204215" cy="236219"/>
          </a:xfrm>
          <a:prstGeom prst="rect">
            <a:avLst/>
          </a:prstGeom>
          <a:noFill/>
          <a:ln>
            <a:noFill/>
          </a:ln>
        </p:spPr>
      </p:pic>
      <p:sp>
        <p:nvSpPr>
          <p:cNvPr id="394" name="Google Shape;394;p32"/>
          <p:cNvSpPr txBox="1"/>
          <p:nvPr/>
        </p:nvSpPr>
        <p:spPr>
          <a:xfrm>
            <a:off x="1983740" y="720999"/>
            <a:ext cx="8341359" cy="5856605"/>
          </a:xfrm>
          <a:prstGeom prst="rect">
            <a:avLst/>
          </a:prstGeom>
          <a:noFill/>
          <a:ln>
            <a:noFill/>
          </a:ln>
        </p:spPr>
        <p:txBody>
          <a:bodyPr spcFirstLastPara="1" wrap="square" lIns="0" tIns="156825" rIns="0" bIns="0" anchor="t" anchorCtr="0">
            <a:spAutoFit/>
          </a:bodyPr>
          <a:lstStyle/>
          <a:p>
            <a:pPr marL="12700" marR="0" lvl="0" indent="0" algn="l" rtl="0">
              <a:lnSpc>
                <a:spcPct val="100000"/>
              </a:lnSpc>
              <a:spcBef>
                <a:spcPts val="0"/>
              </a:spcBef>
              <a:spcAft>
                <a:spcPts val="0"/>
              </a:spcAft>
              <a:buNone/>
            </a:pPr>
            <a:r>
              <a:rPr lang="en-US" sz="1800" b="1">
                <a:solidFill>
                  <a:schemeClr val="tx1"/>
                </a:solidFill>
                <a:latin typeface="Trebuchet MS" panose="020B0603020202020204"/>
                <a:ea typeface="Trebuchet MS" panose="020B0603020202020204"/>
                <a:cs typeface="Trebuchet MS" panose="020B0603020202020204"/>
                <a:sym typeface="Trebuchet MS" panose="020B0603020202020204"/>
              </a:rPr>
              <a:t>Start With Focusing On Worker Wellbeing</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20955" lvl="0" indent="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(Many companies concerned about the future of work focus on the massive disruption  of jobs, automation, and workforce demographics. All of this is important but as HR  leader, one needs to start with making worker wellbeing a priority! )</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0"/>
              </a:spcBef>
              <a:spcAft>
                <a:spcPts val="0"/>
              </a:spcAft>
              <a:buNone/>
            </a:pPr>
            <a:r>
              <a:rPr lang="en-US" sz="1800" b="1">
                <a:solidFill>
                  <a:schemeClr val="tx1"/>
                </a:solidFill>
                <a:latin typeface="Trebuchet MS" panose="020B0603020202020204"/>
                <a:ea typeface="Trebuchet MS" panose="020B0603020202020204"/>
                <a:cs typeface="Trebuchet MS" panose="020B0603020202020204"/>
                <a:sym typeface="Trebuchet MS" panose="020B0603020202020204"/>
              </a:rPr>
              <a:t>Consider Soft Skills to Be Power Skills</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223520" lvl="0" indent="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(Soft skills are a cluster of productive personality traits that characterize one's  relationships in a situation. These skills can include social behavior, communication  abilities, language skills, personal habits, cognitive or emotional empathy, time  management, teamwork and leadership traits. )</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00"/>
              </a:spcBef>
              <a:spcAft>
                <a:spcPts val="0"/>
              </a:spcAft>
              <a:buNone/>
            </a:pPr>
            <a:r>
              <a:rPr lang="en-US" sz="1800" b="1">
                <a:solidFill>
                  <a:schemeClr val="tx1"/>
                </a:solidFill>
                <a:latin typeface="Trebuchet MS" panose="020B0603020202020204"/>
                <a:ea typeface="Trebuchet MS" panose="020B0603020202020204"/>
                <a:cs typeface="Trebuchet MS" panose="020B0603020202020204"/>
                <a:sym typeface="Trebuchet MS" panose="020B0603020202020204"/>
              </a:rPr>
              <a:t>Holistic HR</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161925" lvl="0" indent="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(Using advanced technologies and being human centric		Adding value to all  stakeholders, not only management	Combining intuition and thorough analytics  Internal and external focus	Strategic and operational	Short-term and long-term )</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00"/>
              </a:spcBef>
              <a:spcAft>
                <a:spcPts val="0"/>
              </a:spcAft>
              <a:buNone/>
            </a:pPr>
            <a:r>
              <a:rPr lang="en-US" sz="1800" b="1">
                <a:solidFill>
                  <a:schemeClr val="tx1"/>
                </a:solidFill>
                <a:latin typeface="Trebuchet MS" panose="020B0603020202020204"/>
                <a:ea typeface="Trebuchet MS" panose="020B0603020202020204"/>
                <a:cs typeface="Trebuchet MS" panose="020B0603020202020204"/>
                <a:sym typeface="Trebuchet MS" panose="020B0603020202020204"/>
              </a:rPr>
              <a:t>Inclusive Leadership</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5080" lvl="0" indent="45720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(Transforming leadership into more inclusive leadership can be beneficial to  organizations. Inclusive leaders are people- oriented, great listeners, able to tap into the  talents and motivations of their teams. They are patient, understanding, soft- spoken, and  genuinely interested in others.</a:t>
            </a:r>
            <a:endParaRPr lang="en-US" sz="1600">
              <a:solidFill>
                <a:schemeClr val="tx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99" name="Shape 399"/>
        <p:cNvGrpSpPr/>
        <p:nvPr/>
      </p:nvGrpSpPr>
      <p:grpSpPr>
        <a:xfrm>
          <a:off x="0" y="0"/>
          <a:ext cx="0" cy="0"/>
          <a:chOff x="0" y="0"/>
          <a:chExt cx="0" cy="0"/>
        </a:xfrm>
      </p:grpSpPr>
      <p:sp>
        <p:nvSpPr>
          <p:cNvPr id="400" name="Google Shape;400;p33"/>
          <p:cNvSpPr txBox="1"/>
          <p:nvPr>
            <p:ph type="title"/>
          </p:nvPr>
        </p:nvSpPr>
        <p:spPr>
          <a:xfrm>
            <a:off x="2212340" y="288925"/>
            <a:ext cx="5943600" cy="68961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a:t>Trends in HRM</a:t>
            </a:r>
            <a:endParaRPr lang="en-US"/>
          </a:p>
        </p:txBody>
      </p:sp>
      <p:pic>
        <p:nvPicPr>
          <p:cNvPr id="401" name="Google Shape;401;p33"/>
          <p:cNvPicPr preferRelativeResize="0"/>
          <p:nvPr/>
        </p:nvPicPr>
        <p:blipFill rotWithShape="1">
          <a:blip r:embed="rId1"/>
          <a:srcRect/>
          <a:stretch>
            <a:fillRect/>
          </a:stretch>
        </p:blipFill>
        <p:spPr>
          <a:xfrm>
            <a:off x="2757220" y="3778961"/>
            <a:ext cx="204215" cy="236524"/>
          </a:xfrm>
          <a:prstGeom prst="rect">
            <a:avLst/>
          </a:prstGeom>
          <a:noFill/>
          <a:ln>
            <a:noFill/>
          </a:ln>
        </p:spPr>
      </p:pic>
      <p:sp>
        <p:nvSpPr>
          <p:cNvPr id="402" name="Google Shape;402;p33"/>
          <p:cNvSpPr txBox="1"/>
          <p:nvPr/>
        </p:nvSpPr>
        <p:spPr>
          <a:xfrm>
            <a:off x="2212340" y="980713"/>
            <a:ext cx="6179185" cy="3556635"/>
          </a:xfrm>
          <a:prstGeom prst="rect">
            <a:avLst/>
          </a:prstGeom>
          <a:noFill/>
          <a:ln>
            <a:noFill/>
          </a:ln>
        </p:spPr>
        <p:txBody>
          <a:bodyPr spcFirstLastPara="1" wrap="square" lIns="0" tIns="156825" rIns="0" bIns="0" anchor="t" anchorCtr="0">
            <a:spAutoFit/>
          </a:bodyPr>
          <a:lstStyle/>
          <a:p>
            <a:pPr marL="12700" marR="0" lvl="0" indent="0" algn="l" rtl="0">
              <a:lnSpc>
                <a:spcPct val="100000"/>
              </a:lnSpc>
              <a:spcBef>
                <a:spcPts val="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Trebuchet MS" panose="020B0603020202020204"/>
                <a:ea typeface="Trebuchet MS" panose="020B0603020202020204"/>
                <a:cs typeface="Trebuchet MS" panose="020B0603020202020204"/>
                <a:sym typeface="Trebuchet MS" panose="020B0603020202020204"/>
              </a:rPr>
              <a:t>HR Analytics</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5080" lvl="0" indent="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(HR analytics is a data-driven approach to identifying and  analyze people- related problems. With the help of HR  analytics, HR professionals can combine and analyze the data  they collect in order to discover new and useful insights. This  provides the information needed to make better decisions,  which are based on objective data rather than intuition or gut  feeling.)</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0"/>
              </a:spcBef>
              <a:spcAft>
                <a:spcPts val="0"/>
              </a:spcAft>
              <a:buNone/>
            </a:pPr>
            <a:r>
              <a:rPr lang="en-US" sz="145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800">
                <a:solidFill>
                  <a:schemeClr val="tx1"/>
                </a:solidFill>
                <a:latin typeface="Trebuchet MS" panose="020B0603020202020204"/>
                <a:ea typeface="Trebuchet MS" panose="020B0603020202020204"/>
                <a:cs typeface="Trebuchet MS" panose="020B0603020202020204"/>
                <a:sym typeface="Trebuchet MS" panose="020B0603020202020204"/>
              </a:rPr>
              <a:t>Remote Employees</a:t>
            </a:r>
            <a:endParaRPr sz="18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96520" lvl="0" indent="0" algn="l" rtl="0">
              <a:lnSpc>
                <a:spcPct val="100000"/>
              </a:lnSpc>
              <a:spcBef>
                <a:spcPts val="1005"/>
              </a:spcBef>
              <a:spcAft>
                <a:spcPts val="0"/>
              </a:spcAft>
              <a:buNone/>
            </a:pP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 Another trend is the growing popularity and acceptance of  remote work. Many companies offer flexible work from home  days as a benefit.)</a:t>
            </a:r>
            <a:endParaRPr lang="en-US" sz="1600">
              <a:solidFill>
                <a:schemeClr val="tx1"/>
              </a:solidFill>
              <a:latin typeface="Trebuchet MS" panose="020B0603020202020204"/>
              <a:ea typeface="Trebuchet MS" panose="020B0603020202020204"/>
              <a:cs typeface="Trebuchet MS" panose="020B0603020202020204"/>
              <a:sym typeface="Trebuchet MS" panose="020B0603020202020204"/>
            </a:endParaRPr>
          </a:p>
        </p:txBody>
      </p:sp>
      <p:grpSp>
        <p:nvGrpSpPr>
          <p:cNvPr id="403" name="Google Shape;403;p33"/>
          <p:cNvGrpSpPr/>
          <p:nvPr/>
        </p:nvGrpSpPr>
        <p:grpSpPr>
          <a:xfrm>
            <a:off x="2133600" y="4839970"/>
            <a:ext cx="7569200" cy="1748155"/>
            <a:chOff x="609600" y="4840223"/>
            <a:chExt cx="6022848" cy="1748028"/>
          </a:xfrm>
        </p:grpSpPr>
        <p:pic>
          <p:nvPicPr>
            <p:cNvPr id="404" name="Google Shape;404;p33"/>
            <p:cNvPicPr preferRelativeResize="0"/>
            <p:nvPr/>
          </p:nvPicPr>
          <p:blipFill rotWithShape="1">
            <a:blip r:embed="rId2"/>
            <a:srcRect/>
            <a:stretch>
              <a:fillRect/>
            </a:stretch>
          </p:blipFill>
          <p:spPr>
            <a:xfrm>
              <a:off x="3429000" y="4840223"/>
              <a:ext cx="3203448" cy="1676400"/>
            </a:xfrm>
            <a:prstGeom prst="rect">
              <a:avLst/>
            </a:prstGeom>
            <a:noFill/>
            <a:ln>
              <a:noFill/>
            </a:ln>
          </p:spPr>
        </p:pic>
        <p:pic>
          <p:nvPicPr>
            <p:cNvPr id="405" name="Google Shape;405;p33"/>
            <p:cNvPicPr preferRelativeResize="0"/>
            <p:nvPr/>
          </p:nvPicPr>
          <p:blipFill rotWithShape="1">
            <a:blip r:embed="rId3"/>
            <a:srcRect/>
            <a:stretch>
              <a:fillRect/>
            </a:stretch>
          </p:blipFill>
          <p:spPr>
            <a:xfrm>
              <a:off x="609600" y="4911851"/>
              <a:ext cx="2983992" cy="1676400"/>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6452</Words>
  <Application>WPS Presentation</Application>
  <PresentationFormat>Widescreen</PresentationFormat>
  <Paragraphs>121</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SimSun</vt:lpstr>
      <vt:lpstr>Wingdings</vt:lpstr>
      <vt:lpstr>Lucida Sans</vt:lpstr>
      <vt:lpstr>Trebuchet MS</vt:lpstr>
      <vt:lpstr>Arial</vt:lpstr>
      <vt:lpstr>Calibri Light</vt:lpstr>
      <vt:lpstr>Calibri</vt:lpstr>
      <vt:lpstr>Microsoft YaHei</vt:lpstr>
      <vt:lpstr>Arial Unicode MS</vt:lpstr>
      <vt:lpstr>Office Theme</vt:lpstr>
      <vt:lpstr>Week-7 Session-1</vt:lpstr>
      <vt:lpstr>COMPENSATION</vt:lpstr>
      <vt:lpstr>Types of Compensations</vt:lpstr>
      <vt:lpstr>TYPES OF PAY</vt:lpstr>
      <vt:lpstr>FRINGE BENEFITS</vt:lpstr>
      <vt:lpstr>TRAINING AND DEVELOPMENT</vt:lpstr>
      <vt:lpstr>TRAINING AND DEVELOPMENT METHODS</vt:lpstr>
      <vt:lpstr>PERFORMANCE APPRAISAL</vt:lpstr>
      <vt:lpstr>ETHICAL HRM – 6 guidelines for HR Teams</vt:lpstr>
      <vt:lpstr>Trends in HRM</vt:lpstr>
      <vt:lpstr>Trends in HRM</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Week-5 Session-2</dc:title>
  <dc:creator>User</dc:creator>
  <cp:lastModifiedBy>Zoeb-Ur- Rahman</cp:lastModifiedBy>
  <cp:revision>9</cp:revision>
  <dcterms:created xsi:type="dcterms:W3CDTF">2024-07-01T17:55:00Z</dcterms:created>
  <dcterms:modified xsi:type="dcterms:W3CDTF">2024-11-30T14:43:42Z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A1CD7B5AF0CD4D748F22780E676C2504_13</vt:lpwstr>
  </property>
  <property fmtid="{D5CDD505-2E9C-101B-9397-08002B2CF9AE}" pid="3" name="KSOProductBuildVer">
    <vt:lpwstr>1033-12.2.0.18911</vt:lpwstr>
  </property>
</Properties>
</file>