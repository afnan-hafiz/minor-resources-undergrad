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  <p:sldMasterId id="2147483673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6858000"/>
  <p:notesSz cx="6858000" cy="9144000"/>
  <p:embeddedFontLst>
    <p:embeddedFont>
      <p:font typeface="Calibri" panose="020F0502020204030204"/>
      <p:regular r:id="rId21"/>
    </p:embeddedFont>
    <p:embeddedFont>
      <p:font typeface="Century Gothic" panose="020B0502020202020204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If this PowerPoint presentation contains mathematical equations, you may need to check that your computer has the following installed:</a:t>
            </a:r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1) MathType Plugin</a:t>
            </a:r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2) Math Player (free versions available)</a:t>
            </a:r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3) NVDA Reader (free versions available)</a:t>
            </a:r>
            <a:endParaRPr lang="en-US"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1:notes"/>
          <p:cNvSpPr txBox="1"/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 sz="1200" i="1"/>
              <a:t>R&amp;D=research and development, HR= human resource, PR=public relation</a:t>
            </a:r>
            <a:endParaRPr lang="en-US" sz="1200" i="1"/>
          </a:p>
        </p:txBody>
      </p:sp>
      <p:sp>
        <p:nvSpPr>
          <p:cNvPr id="265" name="Google Shape;265;p2:notes"/>
          <p:cNvSpPr txBox="1"/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306" name="Google Shape;306;p3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432" name="Google Shape;432;p4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474" name="Google Shape;474;p5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p6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/>
              <a:t>Manufacturing products are mostly tangible. On the other hand services are mostly related to actions. </a:t>
            </a:r>
            <a:endParaRPr lang="en-US"/>
          </a:p>
        </p:txBody>
      </p:sp>
      <p:sp>
        <p:nvSpPr>
          <p:cNvPr id="509" name="Google Shape;509;p6:notes"/>
          <p:cNvSpPr txBox="1"/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1" name="Google Shape;531;p7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r>
              <a:rPr lang="en-US"/>
              <a:t>These are some real life examples of manufacturing and service firms </a:t>
            </a:r>
            <a:endParaRPr lang="en-US"/>
          </a:p>
        </p:txBody>
      </p:sp>
      <p:sp>
        <p:nvSpPr>
          <p:cNvPr id="532" name="Google Shape;532;p7:notes"/>
          <p:cNvSpPr txBox="1"/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538" name="Google Shape;538;p8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544" name="Google Shape;544;p9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611" name="Google Shape;611;p10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1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617" name="Google Shape;617;p11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2:notes"/>
          <p:cNvSpPr txBox="1"/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</a:p>
        </p:txBody>
      </p:sp>
      <p:sp>
        <p:nvSpPr>
          <p:cNvPr id="623" name="Google Shape;623;p12:notes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Opener">
  <p:cSld name="Chapter Open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400"/>
              <a:buFont typeface="Times New Roman" panose="02020603050405020304"/>
              <a:buNone/>
              <a:defRPr sz="3400" b="1" i="0" u="none" strike="noStrike" cap="none">
                <a:solidFill>
                  <a:srgbClr val="007FA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" name="Google Shape;17;p29"/>
          <p:cNvSpPr txBox="1"/>
          <p:nvPr>
            <p:ph type="body" idx="1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007FA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type="body" idx="2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0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Noto Sans Symbols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9" name="Google Shape;19;p29"/>
          <p:cNvSpPr txBox="1"/>
          <p:nvPr>
            <p:ph type="body" idx="3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0" name="Google Shape;20;p29"/>
          <p:cNvSpPr txBox="1"/>
          <p:nvPr>
            <p:ph type="ftr" idx="11"/>
          </p:nvPr>
        </p:nvSpPr>
        <p:spPr>
          <a:xfrm>
            <a:off x="93969" y="6165337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1" name="Google Shape;21;p29"/>
          <p:cNvSpPr txBox="1"/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2" name="Google Shape;22;p29"/>
          <p:cNvSpPr txBox="1"/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3" name="Google Shape;23;p29"/>
          <p:cNvSpPr txBox="1"/>
          <p:nvPr>
            <p:ph type="body" idx="4"/>
          </p:nvPr>
        </p:nvSpPr>
        <p:spPr>
          <a:xfrm>
            <a:off x="474779" y="1500547"/>
            <a:ext cx="8229600" cy="20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007FA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4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7" name="Google Shape;27;p54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54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56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56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56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57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52" name="Google Shape;52;p58"/>
          <p:cNvSpPr txBox="1"/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54" name="Google Shape;54;p58"/>
          <p:cNvSpPr txBox="1"/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8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58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59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59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0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60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1"/>
          <p:cNvSpPr txBox="1"/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0" name="Google Shape;70;p61"/>
          <p:cNvSpPr txBox="1"/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61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/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62"/>
          <p:cNvSpPr txBox="1"/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8" name="Google Shape;78;p62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3"/>
          <p:cNvSpPr txBox="1"/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63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4"/>
          <p:cNvSpPr txBox="1"/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64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bg>
      <p:bgPr>
        <a:solidFill>
          <a:srgbClr val="E5E5E5"/>
        </a:solidFill>
        <a:effectLst/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/>
            </a:lvl2pPr>
            <a:lvl3pPr lvl="2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  <a:defRPr/>
            </a:lvl3pPr>
            <a:lvl4pPr lvl="3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4pPr>
            <a:lvl5pPr lvl="4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5pPr>
            <a:lvl6pPr lvl="5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6pPr>
            <a:lvl7pPr lvl="6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7pPr>
            <a:lvl8pPr lvl="7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8pPr>
            <a:lvl9pPr lvl="8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Sp="0" matchingName="Title and Content">
  <p:cSld name="OBJECT">
    <p:bg>
      <p:bgPr>
        <a:solidFill>
          <a:srgbClr val="CCCCCC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type="title"/>
          </p:nvPr>
        </p:nvSpPr>
        <p:spPr>
          <a:xfrm>
            <a:off x="0" y="57150"/>
            <a:ext cx="766932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type="body" idx="1"/>
          </p:nvPr>
        </p:nvSpPr>
        <p:spPr>
          <a:xfrm>
            <a:off x="381000" y="1238250"/>
            <a:ext cx="8739188" cy="49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4pPr>
            <a:lvl5pPr marL="2286000" lvl="4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5pPr>
            <a:lvl6pPr marL="2743200" lvl="5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6pPr>
            <a:lvl7pPr marL="3200400" lvl="6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7pPr>
            <a:lvl8pPr marL="3657600" lvl="7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8pPr>
            <a:lvl9pPr marL="4114800" lvl="8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6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7"/>
          <p:cNvSpPr txBox="1"/>
          <p:nvPr>
            <p:ph type="title"/>
          </p:nvPr>
        </p:nvSpPr>
        <p:spPr>
          <a:xfrm>
            <a:off x="0" y="57150"/>
            <a:ext cx="766932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7"/>
          <p:cNvSpPr txBox="1"/>
          <p:nvPr>
            <p:ph type="body" idx="1"/>
          </p:nvPr>
        </p:nvSpPr>
        <p:spPr>
          <a:xfrm>
            <a:off x="381000" y="1238250"/>
            <a:ext cx="4292600" cy="49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  <a:defRPr sz="2800"/>
            </a:lvl1pPr>
            <a:lvl2pPr marL="914400" lvl="1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∙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4pPr>
            <a:lvl5pPr marL="2286000" lvl="4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5pPr>
            <a:lvl6pPr marL="2743200" lvl="5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6pPr>
            <a:lvl7pPr marL="3200400" lvl="6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7pPr>
            <a:lvl8pPr marL="3657600" lvl="7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8pPr>
            <a:lvl9pPr marL="4114800" lvl="8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9pPr>
          </a:lstStyle>
          <a:p/>
        </p:txBody>
      </p:sp>
      <p:sp>
        <p:nvSpPr>
          <p:cNvPr id="130" name="Google Shape;130;p47"/>
          <p:cNvSpPr txBox="1"/>
          <p:nvPr>
            <p:ph type="body" idx="2"/>
          </p:nvPr>
        </p:nvSpPr>
        <p:spPr>
          <a:xfrm>
            <a:off x="4826000" y="1238250"/>
            <a:ext cx="4294188" cy="49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  <a:defRPr sz="2800"/>
            </a:lvl1pPr>
            <a:lvl2pPr marL="914400" lvl="1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∙"/>
              <a:defRPr sz="24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4pPr>
            <a:lvl5pPr marL="2286000" lvl="4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5pPr>
            <a:lvl6pPr marL="2743200" lvl="5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6pPr>
            <a:lvl7pPr marL="3200400" lvl="6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7pPr>
            <a:lvl8pPr marL="3657600" lvl="7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8pPr>
            <a:lvl9pPr marL="4114800" lvl="8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9pPr>
          </a:lstStyle>
          <a:p/>
        </p:txBody>
      </p:sp>
      <p:sp>
        <p:nvSpPr>
          <p:cNvPr id="134" name="Google Shape;134;p48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∙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3pPr>
            <a:lvl4pPr marL="1828800" lvl="3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4pPr>
            <a:lvl5pPr marL="2286000" lvl="4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5pPr>
            <a:lvl6pPr marL="2743200" lvl="5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6pPr>
            <a:lvl7pPr marL="3200400" lvl="6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7pPr>
            <a:lvl8pPr marL="3657600" lvl="7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8pPr>
            <a:lvl9pPr marL="4114800" lvl="8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9pPr>
          </a:lstStyle>
          <a:p/>
        </p:txBody>
      </p:sp>
      <p:sp>
        <p:nvSpPr>
          <p:cNvPr id="135" name="Google Shape;135;p48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9pPr>
          </a:lstStyle>
          <a:p/>
        </p:txBody>
      </p:sp>
      <p:sp>
        <p:nvSpPr>
          <p:cNvPr id="136" name="Google Shape;136;p48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∙"/>
              <a:defRPr sz="24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 sz="1800"/>
            </a:lvl3pPr>
            <a:lvl4pPr marL="1828800" lvl="3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4pPr>
            <a:lvl5pPr marL="2286000" lvl="4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5pPr>
            <a:lvl6pPr marL="2743200" lvl="5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6pPr>
            <a:lvl7pPr marL="3200400" lvl="6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7pPr>
            <a:lvl8pPr marL="3657600" lvl="7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8pPr>
            <a:lvl9pPr marL="4114800" lvl="8" indent="-29972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∙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9"/>
          <p:cNvSpPr txBox="1"/>
          <p:nvPr>
            <p:ph type="title"/>
          </p:nvPr>
        </p:nvSpPr>
        <p:spPr>
          <a:xfrm>
            <a:off x="0" y="57150"/>
            <a:ext cx="766932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Sp="0" matchingName="Content with Caption">
  <p:cSld name="OBJECT_WITH_CAPTIO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50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∙"/>
              <a:defRPr sz="3200"/>
            </a:lvl1pPr>
            <a:lvl2pPr marL="914400" lvl="1" indent="-35306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  <a:defRPr sz="2800"/>
            </a:lvl2pPr>
            <a:lvl3pPr marL="1371600" lvl="2" indent="-33528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∙"/>
              <a:defRPr sz="2400"/>
            </a:lvl3pPr>
            <a:lvl4pPr marL="1828800" lvl="3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4pPr>
            <a:lvl5pPr marL="2286000" lvl="4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5pPr>
            <a:lvl6pPr marL="2743200" lvl="5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6pPr>
            <a:lvl7pPr marL="3200400" lvl="6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7pPr>
            <a:lvl8pPr marL="3657600" lvl="7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8pPr>
            <a:lvl9pPr marL="4114800" lvl="8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∙"/>
              <a:defRPr sz="2000"/>
            </a:lvl9pPr>
          </a:lstStyle>
          <a:p/>
        </p:txBody>
      </p:sp>
      <p:sp>
        <p:nvSpPr>
          <p:cNvPr id="142" name="Google Shape;142;p50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Sp="0" matchingName="Picture with Caption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1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51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showMasterSp="0" matchingName="Title and Vertical Text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2"/>
          <p:cNvSpPr txBox="1"/>
          <p:nvPr>
            <p:ph type="title"/>
          </p:nvPr>
        </p:nvSpPr>
        <p:spPr>
          <a:xfrm>
            <a:off x="0" y="57150"/>
            <a:ext cx="766932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2"/>
          <p:cNvSpPr txBox="1"/>
          <p:nvPr>
            <p:ph type="body" idx="1"/>
          </p:nvPr>
        </p:nvSpPr>
        <p:spPr>
          <a:xfrm rot="5400000">
            <a:off x="2279650" y="-660400"/>
            <a:ext cx="4941888" cy="8739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4pPr>
            <a:lvl5pPr marL="2286000" lvl="4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5pPr>
            <a:lvl6pPr marL="2743200" lvl="5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6pPr>
            <a:lvl7pPr marL="3200400" lvl="6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7pPr>
            <a:lvl8pPr marL="3657600" lvl="7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8pPr>
            <a:lvl9pPr marL="4114800" lvl="8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Sp="0" matchingName="Vertical Title and Text">
  <p:cSld name="VERTICAL_TITLE_AND_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3"/>
          <p:cNvSpPr txBox="1"/>
          <p:nvPr>
            <p:ph type="title"/>
          </p:nvPr>
        </p:nvSpPr>
        <p:spPr>
          <a:xfrm rot="5400000">
            <a:off x="4939506" y="1975644"/>
            <a:ext cx="6122988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type="body" idx="1"/>
          </p:nvPr>
        </p:nvSpPr>
        <p:spPr>
          <a:xfrm rot="5400000">
            <a:off x="291306" y="-234156"/>
            <a:ext cx="6122988" cy="67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1pPr>
            <a:lvl2pPr marL="914400" lvl="1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2pPr>
            <a:lvl3pPr marL="1371600" lvl="2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4pPr>
            <a:lvl5pPr marL="2286000" lvl="4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5pPr>
            <a:lvl6pPr marL="2743200" lvl="5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6pPr>
            <a:lvl7pPr marL="3200400" lvl="6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7pPr>
            <a:lvl8pPr marL="3657600" lvl="7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8pPr>
            <a:lvl9pPr marL="4114800" lvl="8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∙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Opener">
  <p:cSld name="Chapter Opener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6"/>
          <p:cNvSpPr txBox="1"/>
          <p:nvPr>
            <p:ph type="title"/>
          </p:nvPr>
        </p:nvSpPr>
        <p:spPr>
          <a:xfrm>
            <a:off x="457200" y="215371"/>
            <a:ext cx="8229600" cy="62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400"/>
              <a:buFont typeface="Times New Roman" panose="02020603050405020304"/>
              <a:buNone/>
              <a:defRPr sz="3400" b="1" i="0" u="none" strike="noStrike" cap="none">
                <a:solidFill>
                  <a:srgbClr val="007FA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44" name="Google Shape;244;p66"/>
          <p:cNvSpPr txBox="1"/>
          <p:nvPr>
            <p:ph type="body" idx="1"/>
          </p:nvPr>
        </p:nvSpPr>
        <p:spPr>
          <a:xfrm>
            <a:off x="457200" y="816429"/>
            <a:ext cx="8229600" cy="47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007FA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5" name="Google Shape;245;p66"/>
          <p:cNvSpPr txBox="1"/>
          <p:nvPr>
            <p:ph type="body" idx="2"/>
          </p:nvPr>
        </p:nvSpPr>
        <p:spPr>
          <a:xfrm>
            <a:off x="5029200" y="1600200"/>
            <a:ext cx="3657600" cy="1600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000"/>
              <a:buFont typeface="Arial" panose="020B0604020202020204"/>
              <a:buNone/>
              <a:defRPr sz="3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Noto Sans Symbols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4400"/>
              <a:buFont typeface="Arial" panose="020B0604020202020204"/>
              <a:buNone/>
              <a:defRPr sz="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6" name="Google Shape;246;p66"/>
          <p:cNvSpPr txBox="1"/>
          <p:nvPr>
            <p:ph type="body" idx="3"/>
          </p:nvPr>
        </p:nvSpPr>
        <p:spPr>
          <a:xfrm>
            <a:off x="5029200" y="3200400"/>
            <a:ext cx="3657600" cy="292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200"/>
              <a:buFont typeface="Arial" panose="020B0604020202020204"/>
              <a:buNone/>
              <a:defRPr sz="2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None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7" name="Google Shape;247;p66"/>
          <p:cNvSpPr txBox="1"/>
          <p:nvPr>
            <p:ph type="ftr" idx="11"/>
          </p:nvPr>
        </p:nvSpPr>
        <p:spPr>
          <a:xfrm>
            <a:off x="93969" y="6165337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8" name="Google Shape;248;p66"/>
          <p:cNvSpPr txBox="1"/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9" name="Google Shape;249;p66"/>
          <p:cNvSpPr txBox="1"/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250" name="Google Shape;250;p66"/>
          <p:cNvSpPr txBox="1"/>
          <p:nvPr>
            <p:ph type="body" idx="4"/>
          </p:nvPr>
        </p:nvSpPr>
        <p:spPr>
          <a:xfrm>
            <a:off x="474779" y="1500547"/>
            <a:ext cx="8229600" cy="20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rgbClr val="007FA3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7"/>
          <p:cNvSpPr txBox="1"/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3" name="Google Shape;253;p67"/>
          <p:cNvSpPr txBox="1"/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4" name="Google Shape;254;p67"/>
          <p:cNvSpPr txBox="1"/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0"/>
          <p:cNvSpPr/>
          <p:nvPr/>
        </p:nvSpPr>
        <p:spPr>
          <a:xfrm>
            <a:off x="11113" y="0"/>
            <a:ext cx="9144000" cy="968375"/>
          </a:xfrm>
          <a:prstGeom prst="rect">
            <a:avLst/>
          </a:prstGeom>
          <a:gradFill>
            <a:gsLst>
              <a:gs pos="0">
                <a:srgbClr val="74B632">
                  <a:alpha val="35294"/>
                </a:srgbClr>
              </a:gs>
              <a:gs pos="100000">
                <a:srgbClr val="BCDD7B">
                  <a:alpha val="2823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30"/>
          <p:cNvSpPr/>
          <p:nvPr/>
        </p:nvSpPr>
        <p:spPr>
          <a:xfrm rot="1048392">
            <a:off x="146050" y="100013"/>
            <a:ext cx="4364038" cy="181768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99" y="10800"/>
                </a:moveTo>
                <a:cubicBezTo>
                  <a:pt x="299" y="5000"/>
                  <a:pt x="5000" y="299"/>
                  <a:pt x="10800" y="299"/>
                </a:cubicBezTo>
                <a:cubicBezTo>
                  <a:pt x="16599" y="298"/>
                  <a:pt x="21300" y="5000"/>
                  <a:pt x="2130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0ECD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30"/>
          <p:cNvSpPr/>
          <p:nvPr/>
        </p:nvSpPr>
        <p:spPr>
          <a:xfrm>
            <a:off x="206375" y="244475"/>
            <a:ext cx="2741613" cy="1430338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30"/>
          <p:cNvSpPr/>
          <p:nvPr/>
        </p:nvSpPr>
        <p:spPr>
          <a:xfrm rot="10800000" flipH="1">
            <a:off x="174625" y="1455738"/>
            <a:ext cx="8924925" cy="3609975"/>
          </a:xfrm>
          <a:custGeom>
            <a:avLst/>
            <a:gdLst/>
            <a:ahLst/>
            <a:cxnLst/>
            <a:rect l="l" t="t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 cap="flat" cmpd="sng">
            <a:solidFill>
              <a:srgbClr val="ECF3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30"/>
          <p:cNvSpPr/>
          <p:nvPr/>
        </p:nvSpPr>
        <p:spPr>
          <a:xfrm rot="10800000" flipH="1">
            <a:off x="184150" y="1443038"/>
            <a:ext cx="8924925" cy="3609975"/>
          </a:xfrm>
          <a:custGeom>
            <a:avLst/>
            <a:gdLst/>
            <a:ahLst/>
            <a:cxnLst/>
            <a:rect l="l" t="t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76200" cap="flat" cmpd="sng">
            <a:solidFill>
              <a:srgbClr val="FDF8F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30"/>
          <p:cNvSpPr/>
          <p:nvPr/>
        </p:nvSpPr>
        <p:spPr>
          <a:xfrm>
            <a:off x="1588" y="1412875"/>
            <a:ext cx="196850" cy="366395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0" name="Google Shape;100;p30"/>
          <p:cNvSpPr/>
          <p:nvPr/>
        </p:nvSpPr>
        <p:spPr>
          <a:xfrm rot="8291696" flipH="1">
            <a:off x="4637088" y="219075"/>
            <a:ext cx="4364037" cy="23717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99" y="10800"/>
                </a:moveTo>
                <a:cubicBezTo>
                  <a:pt x="299" y="5000"/>
                  <a:pt x="5000" y="299"/>
                  <a:pt x="10800" y="299"/>
                </a:cubicBezTo>
                <a:cubicBezTo>
                  <a:pt x="16599" y="298"/>
                  <a:pt x="21300" y="5000"/>
                  <a:pt x="2130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99" y="10800"/>
                </a:lnTo>
                <a:close/>
              </a:path>
            </a:pathLst>
          </a:custGeom>
          <a:solidFill>
            <a:srgbClr val="CDE6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30"/>
          <p:cNvSpPr/>
          <p:nvPr/>
        </p:nvSpPr>
        <p:spPr>
          <a:xfrm rot="7243304" flipH="1">
            <a:off x="4114006" y="472281"/>
            <a:ext cx="4364038" cy="280035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99" y="10800"/>
                </a:moveTo>
                <a:cubicBezTo>
                  <a:pt x="299" y="5000"/>
                  <a:pt x="5000" y="299"/>
                  <a:pt x="10800" y="299"/>
                </a:cubicBezTo>
                <a:cubicBezTo>
                  <a:pt x="16599" y="298"/>
                  <a:pt x="21300" y="5000"/>
                  <a:pt x="2130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99" y="10800"/>
                </a:lnTo>
                <a:close/>
              </a:path>
            </a:pathLst>
          </a:custGeom>
          <a:solidFill>
            <a:srgbClr val="CDE6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30"/>
          <p:cNvSpPr/>
          <p:nvPr/>
        </p:nvSpPr>
        <p:spPr>
          <a:xfrm>
            <a:off x="111125" y="9525"/>
            <a:ext cx="4364038" cy="188912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99" y="10800"/>
                </a:moveTo>
                <a:cubicBezTo>
                  <a:pt x="299" y="5000"/>
                  <a:pt x="5000" y="299"/>
                  <a:pt x="10800" y="299"/>
                </a:cubicBezTo>
                <a:cubicBezTo>
                  <a:pt x="16599" y="298"/>
                  <a:pt x="21300" y="5000"/>
                  <a:pt x="2130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E0ECDA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30"/>
          <p:cNvSpPr/>
          <p:nvPr/>
        </p:nvSpPr>
        <p:spPr>
          <a:xfrm>
            <a:off x="11113" y="6350"/>
            <a:ext cx="207962" cy="104457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hlink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30"/>
          <p:cNvSpPr/>
          <p:nvPr/>
        </p:nvSpPr>
        <p:spPr>
          <a:xfrm>
            <a:off x="71438" y="969963"/>
            <a:ext cx="1679575" cy="71437"/>
          </a:xfrm>
          <a:prstGeom prst="rect">
            <a:avLst/>
          </a:prstGeom>
          <a:gradFill>
            <a:gsLst>
              <a:gs pos="0">
                <a:schemeClr val="hlink"/>
              </a:gs>
              <a:gs pos="100000">
                <a:srgbClr val="CEDE7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30"/>
          <p:cNvSpPr/>
          <p:nvPr/>
        </p:nvSpPr>
        <p:spPr>
          <a:xfrm>
            <a:off x="1588" y="0"/>
            <a:ext cx="77787" cy="1843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30"/>
          <p:cNvSpPr/>
          <p:nvPr/>
        </p:nvSpPr>
        <p:spPr>
          <a:xfrm>
            <a:off x="1741488" y="969963"/>
            <a:ext cx="1679575" cy="71437"/>
          </a:xfrm>
          <a:prstGeom prst="rect">
            <a:avLst/>
          </a:prstGeom>
          <a:gradFill>
            <a:gsLst>
              <a:gs pos="0">
                <a:srgbClr val="CEDE73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30"/>
          <p:cNvSpPr/>
          <p:nvPr/>
        </p:nvSpPr>
        <p:spPr>
          <a:xfrm>
            <a:off x="3411538" y="969963"/>
            <a:ext cx="1679575" cy="71437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30"/>
          <p:cNvSpPr/>
          <p:nvPr/>
        </p:nvSpPr>
        <p:spPr>
          <a:xfrm>
            <a:off x="5070475" y="969963"/>
            <a:ext cx="3335338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30"/>
          <p:cNvSpPr/>
          <p:nvPr/>
        </p:nvSpPr>
        <p:spPr>
          <a:xfrm>
            <a:off x="73025" y="917575"/>
            <a:ext cx="9051925" cy="5940425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chemeClr val="lt1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0" name="Google Shape;110;p30"/>
          <p:cNvSpPr txBox="1"/>
          <p:nvPr>
            <p:ph type="title"/>
          </p:nvPr>
        </p:nvSpPr>
        <p:spPr>
          <a:xfrm>
            <a:off x="0" y="57150"/>
            <a:ext cx="7669320" cy="91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600" b="0" i="0" u="none" strike="noStrike" cap="none">
                <a:solidFill>
                  <a:schemeClr val="dk2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defRPr>
            </a:lvl9pPr>
          </a:lstStyle>
          <a:p/>
        </p:txBody>
      </p:sp>
      <p:sp>
        <p:nvSpPr>
          <p:cNvPr id="111" name="Google Shape;111;p30"/>
          <p:cNvSpPr txBox="1"/>
          <p:nvPr>
            <p:ph type="body" idx="1"/>
          </p:nvPr>
        </p:nvSpPr>
        <p:spPr>
          <a:xfrm>
            <a:off x="381000" y="1238250"/>
            <a:ext cx="8739188" cy="49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∙"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∙"/>
              <a:defRPr sz="3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306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∙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85EA6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85EA6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85EA6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85EA6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352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285EA6"/>
              </a:buClr>
              <a:buSzPts val="1680"/>
              <a:buFont typeface="Noto Sans Symbols"/>
              <a:buChar char="∙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12" name="Google Shape;112;p30"/>
          <p:cNvSpPr txBox="1"/>
          <p:nvPr/>
        </p:nvSpPr>
        <p:spPr>
          <a:xfrm>
            <a:off x="152400" y="-57150"/>
            <a:ext cx="8382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 panose="020B0604020202020204"/>
              <a:buNone/>
            </a:pPr>
            <a:r>
              <a:rPr lang="en-US" sz="1600" b="0" i="1" u="none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1-</a:t>
            </a:r>
            <a:fld id="{00000000-1234-1234-1234-123412341234}" type="slidenum">
              <a:rPr lang="en-US" sz="1600" b="0" i="1" u="none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600" b="1" i="1" u="none" strike="noStrike" cap="none">
              <a:solidFill>
                <a:schemeClr val="hlink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30"/>
          <p:cNvSpPr txBox="1"/>
          <p:nvPr/>
        </p:nvSpPr>
        <p:spPr>
          <a:xfrm>
            <a:off x="704850" y="-57150"/>
            <a:ext cx="792480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00"/>
              <a:buFont typeface="Arial" panose="020B0604020202020204"/>
              <a:buNone/>
            </a:pPr>
            <a:r>
              <a:rPr lang="en-US" sz="1600" b="0" i="1" u="none" strike="noStrike" cap="none">
                <a:solidFill>
                  <a:schemeClr val="hlink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Introduction to Operations Management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30" descr="Homepage | BBS - ICBM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30" descr="Homepage | BBS - ICBM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6" name="Google Shape;116;p30"/>
          <p:cNvPicPr preferRelativeResize="0"/>
          <p:nvPr/>
        </p:nvPicPr>
        <p:blipFill rotWithShape="1">
          <a:blip r:embed="rId12"/>
          <a:srcRect/>
          <a:stretch>
            <a:fillRect/>
          </a:stretch>
        </p:blipFill>
        <p:spPr>
          <a:xfrm>
            <a:off x="7699963" y="104546"/>
            <a:ext cx="1444037" cy="75928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5"/>
          <p:cNvSpPr txBox="1"/>
          <p:nvPr>
            <p:ph type="title"/>
          </p:nvPr>
        </p:nvSpPr>
        <p:spPr>
          <a:xfrm>
            <a:off x="457200" y="215371"/>
            <a:ext cx="8229600" cy="1097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400"/>
              <a:buFont typeface="Times New Roman" panose="02020603050405020304"/>
              <a:buNone/>
              <a:defRPr sz="3400" b="1" i="0" u="none" strike="noStrike" cap="none">
                <a:solidFill>
                  <a:srgbClr val="007FA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7" name="Google Shape;237;p65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FA3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8" name="Google Shape;238;p65"/>
          <p:cNvSpPr txBox="1"/>
          <p:nvPr>
            <p:ph type="ftr" idx="11"/>
          </p:nvPr>
        </p:nvSpPr>
        <p:spPr>
          <a:xfrm>
            <a:off x="93969" y="6172200"/>
            <a:ext cx="8595359" cy="2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  <a:defRPr sz="1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39" name="Google Shape;239;p65"/>
          <p:cNvSpPr txBox="1"/>
          <p:nvPr>
            <p:ph type="dt" idx="10"/>
          </p:nvPr>
        </p:nvSpPr>
        <p:spPr>
          <a:xfrm>
            <a:off x="6335712" y="113071"/>
            <a:ext cx="2133599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40" name="Google Shape;240;p65"/>
          <p:cNvSpPr txBox="1"/>
          <p:nvPr>
            <p:ph type="sldNum" idx="12"/>
          </p:nvPr>
        </p:nvSpPr>
        <p:spPr>
          <a:xfrm>
            <a:off x="8469311" y="113071"/>
            <a:ext cx="551783" cy="182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"/>
              <a:buFont typeface="Arial" panose="020B0604020202020204"/>
              <a:buNone/>
              <a:defRPr sz="9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41" name="Google Shape;241;p65" descr="Pearson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3972" y="6429709"/>
            <a:ext cx="917999" cy="27991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"/>
          <p:cNvSpPr txBox="1"/>
          <p:nvPr>
            <p:ph type="title"/>
          </p:nvPr>
        </p:nvSpPr>
        <p:spPr>
          <a:xfrm>
            <a:off x="457199" y="1405601"/>
            <a:ext cx="8363663" cy="1554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 altLang="en-US" sz="4890"/>
              <a:t>Week- 9</a:t>
            </a:r>
            <a:br>
              <a:rPr lang="en-GB" altLang="en-US" sz="4890"/>
            </a:br>
            <a:r>
              <a:rPr lang="en-GB" altLang="en-US" sz="4890"/>
              <a:t>Session-2</a:t>
            </a:r>
            <a:br>
              <a:rPr lang="en-US" sz="4890"/>
            </a:br>
            <a:br>
              <a:rPr lang="en-US" sz="4890"/>
            </a:br>
            <a:br>
              <a:rPr lang="en-US" sz="4890"/>
            </a:br>
            <a:r>
              <a:rPr lang="en-GB" altLang="en-US" sz="4890"/>
              <a:t>Operations Management</a:t>
            </a:r>
            <a:endParaRPr lang="en-GB" altLang="en-US" sz="489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"/>
          <p:cNvSpPr/>
          <p:nvPr/>
        </p:nvSpPr>
        <p:spPr>
          <a:xfrm>
            <a:off x="0" y="190500"/>
            <a:ext cx="9144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Operations Management (OM)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8" name="Google Shape;268;p2"/>
          <p:cNvSpPr/>
          <p:nvPr/>
        </p:nvSpPr>
        <p:spPr>
          <a:xfrm>
            <a:off x="595313" y="1219200"/>
            <a:ext cx="7761287" cy="157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2"/>
          <p:cNvSpPr/>
          <p:nvPr/>
        </p:nvSpPr>
        <p:spPr>
          <a:xfrm>
            <a:off x="0" y="914400"/>
            <a:ext cx="9144000" cy="222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2800"/>
              <a:buFont typeface="Noto Sans Symbols"/>
              <a:buNone/>
            </a:pPr>
            <a:r>
              <a:rPr lang="en-US" sz="2800" b="1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Definition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OM is the management of systems, which transform inputs into </a:t>
            </a:r>
            <a:r>
              <a:rPr lang="en-US" sz="2800" b="1" i="0" u="sng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value-added</a:t>
            </a:r>
            <a:r>
              <a:rPr lang="en-US" sz="28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products</a:t>
            </a:r>
            <a:r>
              <a:rPr lang="en-US" sz="2800" b="0" i="1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and/or </a:t>
            </a:r>
            <a:r>
              <a:rPr lang="en-US" sz="28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services.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14829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2800"/>
              <a:buFont typeface="Noto Sans Symbols"/>
              <a:buNone/>
            </a:pPr>
            <a:r>
              <a:rPr lang="en-US" sz="2800" b="1" i="1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Primary Functions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0" name="Google Shape;270;p2"/>
          <p:cNvSpPr/>
          <p:nvPr/>
        </p:nvSpPr>
        <p:spPr>
          <a:xfrm>
            <a:off x="1219200" y="381000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 panose="020B0604020202020204"/>
              <a:buNone/>
            </a:pPr>
            <a:endParaRPr sz="3600" b="0" i="0" u="none" strike="noStrike" cap="none">
              <a:solidFill>
                <a:srgbClr val="F84700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grpSp>
        <p:nvGrpSpPr>
          <p:cNvPr id="271" name="Google Shape;271;p2"/>
          <p:cNvGrpSpPr/>
          <p:nvPr/>
        </p:nvGrpSpPr>
        <p:grpSpPr>
          <a:xfrm>
            <a:off x="571500" y="3200400"/>
            <a:ext cx="7974013" cy="2730500"/>
            <a:chOff x="384" y="1832"/>
            <a:chExt cx="5023" cy="1720"/>
          </a:xfrm>
        </p:grpSpPr>
        <p:grpSp>
          <p:nvGrpSpPr>
            <p:cNvPr id="272" name="Google Shape;272;p2"/>
            <p:cNvGrpSpPr/>
            <p:nvPr/>
          </p:nvGrpSpPr>
          <p:grpSpPr>
            <a:xfrm>
              <a:off x="2185" y="1832"/>
              <a:ext cx="1408" cy="498"/>
              <a:chOff x="2153" y="1876"/>
              <a:chExt cx="1408" cy="498"/>
            </a:xfrm>
          </p:grpSpPr>
          <p:sp>
            <p:nvSpPr>
              <p:cNvPr id="273" name="Google Shape;273;p2"/>
              <p:cNvSpPr/>
              <p:nvPr/>
            </p:nvSpPr>
            <p:spPr>
              <a:xfrm>
                <a:off x="2153" y="2138"/>
                <a:ext cx="1385" cy="2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4" name="Google Shape;274;p2"/>
              <p:cNvSpPr/>
              <p:nvPr/>
            </p:nvSpPr>
            <p:spPr>
              <a:xfrm>
                <a:off x="2248" y="2143"/>
                <a:ext cx="1209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5" name="Google Shape;275;p2"/>
              <p:cNvSpPr/>
              <p:nvPr/>
            </p:nvSpPr>
            <p:spPr>
              <a:xfrm>
                <a:off x="2262" y="1954"/>
                <a:ext cx="1204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847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F847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Organization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76" name="Google Shape;276;p2"/>
              <p:cNvSpPr/>
              <p:nvPr/>
            </p:nvSpPr>
            <p:spPr>
              <a:xfrm>
                <a:off x="2177" y="1876"/>
                <a:ext cx="1384" cy="472"/>
              </a:xfrm>
              <a:prstGeom prst="rect">
                <a:avLst/>
              </a:prstGeom>
              <a:noFill/>
              <a:ln w="12700" cap="flat" cmpd="sng">
                <a:solidFill>
                  <a:srgbClr val="00008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77" name="Google Shape;277;p2"/>
            <p:cNvGrpSpPr/>
            <p:nvPr/>
          </p:nvGrpSpPr>
          <p:grpSpPr>
            <a:xfrm>
              <a:off x="384" y="2304"/>
              <a:ext cx="5023" cy="1248"/>
              <a:chOff x="497" y="2016"/>
              <a:chExt cx="5023" cy="1248"/>
            </a:xfrm>
          </p:grpSpPr>
          <p:cxnSp>
            <p:nvCxnSpPr>
              <p:cNvPr id="278" name="Google Shape;278;p2"/>
              <p:cNvCxnSpPr/>
              <p:nvPr/>
            </p:nvCxnSpPr>
            <p:spPr>
              <a:xfrm>
                <a:off x="3024" y="2016"/>
                <a:ext cx="1" cy="288"/>
              </a:xfrm>
              <a:prstGeom prst="straightConnector1">
                <a:avLst/>
              </a:prstGeom>
              <a:noFill/>
              <a:ln w="12700" cap="flat" cmpd="sng">
                <a:solidFill>
                  <a:srgbClr val="206FB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279" name="Google Shape;279;p2"/>
              <p:cNvGrpSpPr/>
              <p:nvPr/>
            </p:nvGrpSpPr>
            <p:grpSpPr>
              <a:xfrm>
                <a:off x="497" y="2304"/>
                <a:ext cx="5023" cy="960"/>
                <a:chOff x="497" y="2304"/>
                <a:chExt cx="5023" cy="960"/>
              </a:xfrm>
            </p:grpSpPr>
            <p:grpSp>
              <p:nvGrpSpPr>
                <p:cNvPr id="280" name="Google Shape;280;p2"/>
                <p:cNvGrpSpPr/>
                <p:nvPr/>
              </p:nvGrpSpPr>
              <p:grpSpPr>
                <a:xfrm>
                  <a:off x="497" y="2547"/>
                  <a:ext cx="5023" cy="717"/>
                  <a:chOff x="352" y="2879"/>
                  <a:chExt cx="5023" cy="717"/>
                </a:xfrm>
              </p:grpSpPr>
              <p:sp>
                <p:nvSpPr>
                  <p:cNvPr id="281" name="Google Shape;281;p2"/>
                  <p:cNvSpPr/>
                  <p:nvPr/>
                </p:nvSpPr>
                <p:spPr>
                  <a:xfrm>
                    <a:off x="2853" y="2918"/>
                    <a:ext cx="5" cy="2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endParaRPr>
                  </a:p>
                </p:txBody>
              </p:sp>
              <p:sp>
                <p:nvSpPr>
                  <p:cNvPr id="282" name="Google Shape;282;p2"/>
                  <p:cNvSpPr/>
                  <p:nvPr/>
                </p:nvSpPr>
                <p:spPr>
                  <a:xfrm>
                    <a:off x="3686" y="2903"/>
                    <a:ext cx="1384" cy="2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endParaRPr>
                  </a:p>
                </p:txBody>
              </p:sp>
              <p:grpSp>
                <p:nvGrpSpPr>
                  <p:cNvPr id="283" name="Google Shape;283;p2"/>
                  <p:cNvGrpSpPr/>
                  <p:nvPr/>
                </p:nvGrpSpPr>
                <p:grpSpPr>
                  <a:xfrm>
                    <a:off x="352" y="2879"/>
                    <a:ext cx="1423" cy="717"/>
                    <a:chOff x="352" y="2879"/>
                    <a:chExt cx="1423" cy="717"/>
                  </a:xfrm>
                </p:grpSpPr>
                <p:sp>
                  <p:nvSpPr>
                    <p:cNvPr id="284" name="Google Shape;284;p2"/>
                    <p:cNvSpPr/>
                    <p:nvPr/>
                  </p:nvSpPr>
                  <p:spPr>
                    <a:xfrm>
                      <a:off x="352" y="2927"/>
                      <a:ext cx="1384" cy="4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85" name="Google Shape;285;p2"/>
                    <p:cNvSpPr/>
                    <p:nvPr/>
                  </p:nvSpPr>
                  <p:spPr>
                    <a:xfrm>
                      <a:off x="424" y="2920"/>
                      <a:ext cx="1257" cy="36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86" name="Google Shape;286;p2"/>
                    <p:cNvSpPr/>
                    <p:nvPr/>
                  </p:nvSpPr>
                  <p:spPr>
                    <a:xfrm>
                      <a:off x="433" y="3000"/>
                      <a:ext cx="1342" cy="2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0475" tIns="44450" rIns="90475" bIns="4445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47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F847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Finance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87" name="Google Shape;287;p2"/>
                    <p:cNvSpPr/>
                    <p:nvPr/>
                  </p:nvSpPr>
                  <p:spPr>
                    <a:xfrm>
                      <a:off x="376" y="2879"/>
                      <a:ext cx="1384" cy="717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00008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</p:grpSp>
              <p:sp>
                <p:nvSpPr>
                  <p:cNvPr id="288" name="Google Shape;288;p2"/>
                  <p:cNvSpPr/>
                  <p:nvPr/>
                </p:nvSpPr>
                <p:spPr>
                  <a:xfrm>
                    <a:off x="4031" y="2909"/>
                    <a:ext cx="756" cy="1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Noto Sans Symbols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  <a:sym typeface="Arial" panose="020B0604020202020204"/>
                    </a:endParaRPr>
                  </a:p>
                </p:txBody>
              </p:sp>
              <p:grpSp>
                <p:nvGrpSpPr>
                  <p:cNvPr id="289" name="Google Shape;289;p2"/>
                  <p:cNvGrpSpPr/>
                  <p:nvPr/>
                </p:nvGrpSpPr>
                <p:grpSpPr>
                  <a:xfrm>
                    <a:off x="1920" y="2884"/>
                    <a:ext cx="1868" cy="702"/>
                    <a:chOff x="1920" y="2884"/>
                    <a:chExt cx="1868" cy="702"/>
                  </a:xfrm>
                </p:grpSpPr>
                <p:sp>
                  <p:nvSpPr>
                    <p:cNvPr id="290" name="Google Shape;290;p2"/>
                    <p:cNvSpPr/>
                    <p:nvPr/>
                  </p:nvSpPr>
                  <p:spPr>
                    <a:xfrm>
                      <a:off x="1920" y="2932"/>
                      <a:ext cx="1835" cy="4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1" name="Google Shape;291;p2"/>
                    <p:cNvSpPr/>
                    <p:nvPr/>
                  </p:nvSpPr>
                  <p:spPr>
                    <a:xfrm>
                      <a:off x="2016" y="2923"/>
                      <a:ext cx="1666" cy="3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2" name="Google Shape;292;p2"/>
                    <p:cNvSpPr/>
                    <p:nvPr/>
                  </p:nvSpPr>
                  <p:spPr>
                    <a:xfrm>
                      <a:off x="2246" y="3001"/>
                      <a:ext cx="1342" cy="2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0475" tIns="44450" rIns="90475" bIns="4445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47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F847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Operations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3" name="Google Shape;293;p2"/>
                    <p:cNvSpPr/>
                    <p:nvPr/>
                  </p:nvSpPr>
                  <p:spPr>
                    <a:xfrm>
                      <a:off x="1951" y="2884"/>
                      <a:ext cx="1837" cy="702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00008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</p:grpSp>
              <p:grpSp>
                <p:nvGrpSpPr>
                  <p:cNvPr id="294" name="Google Shape;294;p2"/>
                  <p:cNvGrpSpPr/>
                  <p:nvPr/>
                </p:nvGrpSpPr>
                <p:grpSpPr>
                  <a:xfrm>
                    <a:off x="3952" y="2879"/>
                    <a:ext cx="1423" cy="717"/>
                    <a:chOff x="3952" y="2879"/>
                    <a:chExt cx="1423" cy="717"/>
                  </a:xfrm>
                </p:grpSpPr>
                <p:sp>
                  <p:nvSpPr>
                    <p:cNvPr id="295" name="Google Shape;295;p2"/>
                    <p:cNvSpPr/>
                    <p:nvPr/>
                  </p:nvSpPr>
                  <p:spPr>
                    <a:xfrm>
                      <a:off x="3952" y="2927"/>
                      <a:ext cx="1384" cy="4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6" name="Google Shape;296;p2"/>
                    <p:cNvSpPr/>
                    <p:nvPr/>
                  </p:nvSpPr>
                  <p:spPr>
                    <a:xfrm>
                      <a:off x="4024" y="2920"/>
                      <a:ext cx="1257" cy="35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7" name="Google Shape;297;p2"/>
                    <p:cNvSpPr/>
                    <p:nvPr/>
                  </p:nvSpPr>
                  <p:spPr>
                    <a:xfrm>
                      <a:off x="4033" y="3000"/>
                      <a:ext cx="1342" cy="28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0475" tIns="44450" rIns="90475" bIns="44450" anchor="t" anchorCtr="0">
                      <a:spAutoFit/>
                    </a:bodyPr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84700"/>
                        </a:buClr>
                        <a:buSzPts val="2400"/>
                        <a:buFont typeface="Noto Sans Symbols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F847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Marketing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  <p:sp>
                  <p:nvSpPr>
                    <p:cNvPr id="298" name="Google Shape;298;p2"/>
                    <p:cNvSpPr/>
                    <p:nvPr/>
                  </p:nvSpPr>
                  <p:spPr>
                    <a:xfrm>
                      <a:off x="3976" y="2879"/>
                      <a:ext cx="1384" cy="717"/>
                    </a:xfrm>
                    <a:prstGeom prst="rect">
                      <a:avLst/>
                    </a:prstGeom>
                    <a:noFill/>
                    <a:ln w="12700" cap="flat" cmpd="sng">
                      <a:solidFill>
                        <a:srgbClr val="000080"/>
                      </a:solidFill>
                      <a:prstDash val="solid"/>
                      <a:miter lim="800000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endParaRPr sz="18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p:txBody>
                </p:sp>
              </p:grpSp>
            </p:grpSp>
            <p:cxnSp>
              <p:nvCxnSpPr>
                <p:cNvPr id="299" name="Google Shape;299;p2"/>
                <p:cNvCxnSpPr/>
                <p:nvPr/>
              </p:nvCxnSpPr>
              <p:spPr>
                <a:xfrm>
                  <a:off x="965" y="2308"/>
                  <a:ext cx="4024" cy="0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206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00" name="Google Shape;300;p2"/>
                <p:cNvCxnSpPr/>
                <p:nvPr/>
              </p:nvCxnSpPr>
              <p:spPr>
                <a:xfrm>
                  <a:off x="4993" y="2312"/>
                  <a:ext cx="0" cy="23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206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01" name="Google Shape;301;p2"/>
                <p:cNvCxnSpPr/>
                <p:nvPr/>
              </p:nvCxnSpPr>
              <p:spPr>
                <a:xfrm>
                  <a:off x="961" y="2312"/>
                  <a:ext cx="0" cy="232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206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302" name="Google Shape;302;p2"/>
                <p:cNvCxnSpPr/>
                <p:nvPr/>
              </p:nvCxnSpPr>
              <p:spPr>
                <a:xfrm>
                  <a:off x="3024" y="2304"/>
                  <a:ext cx="0" cy="256"/>
                </a:xfrm>
                <a:prstGeom prst="straightConnector1">
                  <a:avLst/>
                </a:prstGeom>
                <a:noFill/>
                <a:ln w="12700" cap="flat" cmpd="sng">
                  <a:solidFill>
                    <a:srgbClr val="206FB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</p:grpSp>
      </p:grpSp>
      <p:sp>
        <p:nvSpPr>
          <p:cNvPr id="303" name="Google Shape;303;p2"/>
          <p:cNvSpPr txBox="1"/>
          <p:nvPr>
            <p:ph type="subTitle" idx="1"/>
          </p:nvPr>
        </p:nvSpPr>
        <p:spPr>
          <a:xfrm>
            <a:off x="1257300" y="6134100"/>
            <a:ext cx="6972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US" sz="2400" i="1"/>
              <a:t>Support Functions – R&amp;D, HR, PR, Accounting, etc.</a:t>
            </a:r>
            <a:endParaRPr sz="2400" i="1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"/>
          <p:cNvSpPr/>
          <p:nvPr/>
        </p:nvSpPr>
        <p:spPr>
          <a:xfrm>
            <a:off x="228600" y="190500"/>
            <a:ext cx="88360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Value-Added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9" name="Google Shape;309;p3"/>
          <p:cNvSpPr/>
          <p:nvPr/>
        </p:nvSpPr>
        <p:spPr>
          <a:xfrm>
            <a:off x="228600" y="1295400"/>
            <a:ext cx="8915400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000"/>
              <a:buFont typeface="Noto Sans Symbols"/>
              <a:buNone/>
            </a:pPr>
            <a: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difference between the cost of inputs </a:t>
            </a:r>
            <a:b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br>
            <a: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the value or price of outputs.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310" name="Google Shape;310;p3"/>
          <p:cNvGrpSpPr/>
          <p:nvPr/>
        </p:nvGrpSpPr>
        <p:grpSpPr>
          <a:xfrm>
            <a:off x="1295400" y="2336800"/>
            <a:ext cx="6983413" cy="3683000"/>
            <a:chOff x="875" y="1536"/>
            <a:chExt cx="4399" cy="2320"/>
          </a:xfrm>
        </p:grpSpPr>
        <p:sp>
          <p:nvSpPr>
            <p:cNvPr id="311" name="Google Shape;311;p3"/>
            <p:cNvSpPr/>
            <p:nvPr/>
          </p:nvSpPr>
          <p:spPr>
            <a:xfrm>
              <a:off x="875" y="1858"/>
              <a:ext cx="877" cy="997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879" y="1884"/>
              <a:ext cx="649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Inputs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879" y="2114"/>
              <a:ext cx="696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Land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879" y="2344"/>
              <a:ext cx="770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Labor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879" y="2574"/>
              <a:ext cx="866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Capital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291" y="2019"/>
              <a:ext cx="1441" cy="757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295" y="2040"/>
              <a:ext cx="1479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Transformation/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2439" y="2270"/>
              <a:ext cx="1053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Conversion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2631" y="2500"/>
              <a:ext cx="770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process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4283" y="2002"/>
              <a:ext cx="949" cy="709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4307" y="1999"/>
              <a:ext cx="863" cy="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Outputs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4287" y="2229"/>
              <a:ext cx="837" cy="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 Goods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4287" y="2459"/>
              <a:ext cx="987" cy="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  Services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2603" y="3202"/>
              <a:ext cx="901" cy="469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2680" y="3309"/>
              <a:ext cx="754" cy="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400"/>
                <a:buFont typeface="Noto Sans Symbols"/>
                <a:buNone/>
              </a:pPr>
              <a:r>
                <a:rPr lang="en-US" sz="24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Control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326" name="Google Shape;326;p3"/>
            <p:cNvGrpSpPr/>
            <p:nvPr/>
          </p:nvGrpSpPr>
          <p:grpSpPr>
            <a:xfrm>
              <a:off x="4906" y="2764"/>
              <a:ext cx="1" cy="633"/>
              <a:chOff x="4645" y="2929"/>
              <a:chExt cx="1" cy="633"/>
            </a:xfrm>
          </p:grpSpPr>
          <p:sp>
            <p:nvSpPr>
              <p:cNvPr id="327" name="Google Shape;327;p3"/>
              <p:cNvSpPr/>
              <p:nvPr/>
            </p:nvSpPr>
            <p:spPr>
              <a:xfrm>
                <a:off x="4645" y="2929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28" name="Google Shape;328;p3"/>
              <p:cNvSpPr/>
              <p:nvPr/>
            </p:nvSpPr>
            <p:spPr>
              <a:xfrm>
                <a:off x="4645" y="2985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29" name="Google Shape;329;p3"/>
              <p:cNvSpPr/>
              <p:nvPr/>
            </p:nvSpPr>
            <p:spPr>
              <a:xfrm>
                <a:off x="4645" y="3041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0" name="Google Shape;330;p3"/>
              <p:cNvSpPr/>
              <p:nvPr/>
            </p:nvSpPr>
            <p:spPr>
              <a:xfrm>
                <a:off x="4645" y="3097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1" name="Google Shape;331;p3"/>
              <p:cNvSpPr/>
              <p:nvPr/>
            </p:nvSpPr>
            <p:spPr>
              <a:xfrm>
                <a:off x="4645" y="3153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2" name="Google Shape;332;p3"/>
              <p:cNvSpPr/>
              <p:nvPr/>
            </p:nvSpPr>
            <p:spPr>
              <a:xfrm>
                <a:off x="4645" y="3209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3" name="Google Shape;333;p3"/>
              <p:cNvSpPr/>
              <p:nvPr/>
            </p:nvSpPr>
            <p:spPr>
              <a:xfrm>
                <a:off x="4645" y="3265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4" name="Google Shape;334;p3"/>
              <p:cNvSpPr/>
              <p:nvPr/>
            </p:nvSpPr>
            <p:spPr>
              <a:xfrm>
                <a:off x="4645" y="3321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5" name="Google Shape;335;p3"/>
              <p:cNvSpPr/>
              <p:nvPr/>
            </p:nvSpPr>
            <p:spPr>
              <a:xfrm>
                <a:off x="4645" y="3377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6" name="Google Shape;336;p3"/>
              <p:cNvSpPr/>
              <p:nvPr/>
            </p:nvSpPr>
            <p:spPr>
              <a:xfrm>
                <a:off x="4645" y="3433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7" name="Google Shape;337;p3"/>
              <p:cNvSpPr/>
              <p:nvPr/>
            </p:nvSpPr>
            <p:spPr>
              <a:xfrm>
                <a:off x="4645" y="3489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38" name="Google Shape;338;p3"/>
              <p:cNvSpPr/>
              <p:nvPr/>
            </p:nvSpPr>
            <p:spPr>
              <a:xfrm>
                <a:off x="4645" y="3545"/>
                <a:ext cx="1" cy="17"/>
              </a:xfrm>
              <a:custGeom>
                <a:avLst/>
                <a:gdLst/>
                <a:ahLst/>
                <a:cxnLst/>
                <a:rect l="l" t="t" r="r" b="b"/>
                <a:pathLst>
                  <a:path w="1" h="17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6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39" name="Google Shape;339;p3"/>
            <p:cNvGrpSpPr/>
            <p:nvPr/>
          </p:nvGrpSpPr>
          <p:grpSpPr>
            <a:xfrm>
              <a:off x="3557" y="3406"/>
              <a:ext cx="1350" cy="60"/>
              <a:chOff x="3373" y="3571"/>
              <a:chExt cx="1305" cy="60"/>
            </a:xfrm>
          </p:grpSpPr>
          <p:sp>
            <p:nvSpPr>
              <p:cNvPr id="340" name="Google Shape;340;p3"/>
              <p:cNvSpPr/>
              <p:nvPr/>
            </p:nvSpPr>
            <p:spPr>
              <a:xfrm>
                <a:off x="465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1" name="Google Shape;341;p3"/>
              <p:cNvSpPr/>
              <p:nvPr/>
            </p:nvSpPr>
            <p:spPr>
              <a:xfrm>
                <a:off x="459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2" name="Google Shape;342;p3"/>
              <p:cNvSpPr/>
              <p:nvPr/>
            </p:nvSpPr>
            <p:spPr>
              <a:xfrm>
                <a:off x="454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3" name="Google Shape;343;p3"/>
              <p:cNvSpPr/>
              <p:nvPr/>
            </p:nvSpPr>
            <p:spPr>
              <a:xfrm>
                <a:off x="448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4" name="Google Shape;344;p3"/>
              <p:cNvSpPr/>
              <p:nvPr/>
            </p:nvSpPr>
            <p:spPr>
              <a:xfrm>
                <a:off x="442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5" name="Google Shape;345;p3"/>
              <p:cNvSpPr/>
              <p:nvPr/>
            </p:nvSpPr>
            <p:spPr>
              <a:xfrm>
                <a:off x="437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6" name="Google Shape;346;p3"/>
              <p:cNvSpPr/>
              <p:nvPr/>
            </p:nvSpPr>
            <p:spPr>
              <a:xfrm>
                <a:off x="431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7" name="Google Shape;347;p3"/>
              <p:cNvSpPr/>
              <p:nvPr/>
            </p:nvSpPr>
            <p:spPr>
              <a:xfrm>
                <a:off x="426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8" name="Google Shape;348;p3"/>
              <p:cNvSpPr/>
              <p:nvPr/>
            </p:nvSpPr>
            <p:spPr>
              <a:xfrm>
                <a:off x="420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49" name="Google Shape;349;p3"/>
              <p:cNvSpPr/>
              <p:nvPr/>
            </p:nvSpPr>
            <p:spPr>
              <a:xfrm>
                <a:off x="414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0" name="Google Shape;350;p3"/>
              <p:cNvSpPr/>
              <p:nvPr/>
            </p:nvSpPr>
            <p:spPr>
              <a:xfrm>
                <a:off x="409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1" name="Google Shape;351;p3"/>
              <p:cNvSpPr/>
              <p:nvPr/>
            </p:nvSpPr>
            <p:spPr>
              <a:xfrm>
                <a:off x="403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2" name="Google Shape;352;p3"/>
              <p:cNvSpPr/>
              <p:nvPr/>
            </p:nvSpPr>
            <p:spPr>
              <a:xfrm>
                <a:off x="398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3" name="Google Shape;353;p3"/>
              <p:cNvSpPr/>
              <p:nvPr/>
            </p:nvSpPr>
            <p:spPr>
              <a:xfrm>
                <a:off x="392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4" name="Google Shape;354;p3"/>
              <p:cNvSpPr/>
              <p:nvPr/>
            </p:nvSpPr>
            <p:spPr>
              <a:xfrm>
                <a:off x="386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5" name="Google Shape;355;p3"/>
              <p:cNvSpPr/>
              <p:nvPr/>
            </p:nvSpPr>
            <p:spPr>
              <a:xfrm>
                <a:off x="381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6" name="Google Shape;356;p3"/>
              <p:cNvSpPr/>
              <p:nvPr/>
            </p:nvSpPr>
            <p:spPr>
              <a:xfrm>
                <a:off x="375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7" name="Google Shape;357;p3"/>
              <p:cNvSpPr/>
              <p:nvPr/>
            </p:nvSpPr>
            <p:spPr>
              <a:xfrm>
                <a:off x="370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8" name="Google Shape;358;p3"/>
              <p:cNvSpPr/>
              <p:nvPr/>
            </p:nvSpPr>
            <p:spPr>
              <a:xfrm>
                <a:off x="364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59" name="Google Shape;359;p3"/>
              <p:cNvSpPr/>
              <p:nvPr/>
            </p:nvSpPr>
            <p:spPr>
              <a:xfrm>
                <a:off x="358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0" name="Google Shape;360;p3"/>
              <p:cNvSpPr/>
              <p:nvPr/>
            </p:nvSpPr>
            <p:spPr>
              <a:xfrm>
                <a:off x="353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1" name="Google Shape;361;p3"/>
              <p:cNvSpPr/>
              <p:nvPr/>
            </p:nvSpPr>
            <p:spPr>
              <a:xfrm>
                <a:off x="347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2" name="Google Shape;362;p3"/>
              <p:cNvSpPr/>
              <p:nvPr/>
            </p:nvSpPr>
            <p:spPr>
              <a:xfrm>
                <a:off x="3438" y="3601"/>
                <a:ext cx="8" cy="1"/>
              </a:xfrm>
              <a:custGeom>
                <a:avLst/>
                <a:gdLst/>
                <a:ahLst/>
                <a:cxnLst/>
                <a:rect l="l" t="t" r="r" b="b"/>
                <a:pathLst>
                  <a:path w="8" h="1" extrusionOk="0">
                    <a:moveTo>
                      <a:pt x="7" y="0"/>
                    </a:moveTo>
                    <a:lnTo>
                      <a:pt x="7" y="0"/>
                    </a:lnTo>
                    <a:lnTo>
                      <a:pt x="0" y="0"/>
                    </a:lnTo>
                    <a:lnTo>
                      <a:pt x="7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3" name="Google Shape;363;p3"/>
              <p:cNvSpPr/>
              <p:nvPr/>
            </p:nvSpPr>
            <p:spPr>
              <a:xfrm>
                <a:off x="3373" y="3571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59" y="0"/>
                    </a:moveTo>
                    <a:lnTo>
                      <a:pt x="0" y="30"/>
                    </a:lnTo>
                    <a:lnTo>
                      <a:pt x="59" y="59"/>
                    </a:lnTo>
                    <a:lnTo>
                      <a:pt x="59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64" name="Google Shape;364;p3"/>
            <p:cNvGrpSpPr/>
            <p:nvPr/>
          </p:nvGrpSpPr>
          <p:grpSpPr>
            <a:xfrm>
              <a:off x="1253" y="3436"/>
              <a:ext cx="1257" cy="1"/>
              <a:chOff x="1069" y="3601"/>
              <a:chExt cx="1257" cy="1"/>
            </a:xfrm>
          </p:grpSpPr>
          <p:sp>
            <p:nvSpPr>
              <p:cNvPr id="365" name="Google Shape;365;p3"/>
              <p:cNvSpPr/>
              <p:nvPr/>
            </p:nvSpPr>
            <p:spPr>
              <a:xfrm>
                <a:off x="230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6" name="Google Shape;366;p3"/>
              <p:cNvSpPr/>
              <p:nvPr/>
            </p:nvSpPr>
            <p:spPr>
              <a:xfrm>
                <a:off x="224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7" name="Google Shape;367;p3"/>
              <p:cNvSpPr/>
              <p:nvPr/>
            </p:nvSpPr>
            <p:spPr>
              <a:xfrm>
                <a:off x="218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8" name="Google Shape;368;p3"/>
              <p:cNvSpPr/>
              <p:nvPr/>
            </p:nvSpPr>
            <p:spPr>
              <a:xfrm>
                <a:off x="213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69" name="Google Shape;369;p3"/>
              <p:cNvSpPr/>
              <p:nvPr/>
            </p:nvSpPr>
            <p:spPr>
              <a:xfrm>
                <a:off x="207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0" name="Google Shape;370;p3"/>
              <p:cNvSpPr/>
              <p:nvPr/>
            </p:nvSpPr>
            <p:spPr>
              <a:xfrm>
                <a:off x="202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1" name="Google Shape;371;p3"/>
              <p:cNvSpPr/>
              <p:nvPr/>
            </p:nvSpPr>
            <p:spPr>
              <a:xfrm>
                <a:off x="196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2" name="Google Shape;372;p3"/>
              <p:cNvSpPr/>
              <p:nvPr/>
            </p:nvSpPr>
            <p:spPr>
              <a:xfrm>
                <a:off x="190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3" name="Google Shape;373;p3"/>
              <p:cNvSpPr/>
              <p:nvPr/>
            </p:nvSpPr>
            <p:spPr>
              <a:xfrm>
                <a:off x="185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4" name="Google Shape;374;p3"/>
              <p:cNvSpPr/>
              <p:nvPr/>
            </p:nvSpPr>
            <p:spPr>
              <a:xfrm>
                <a:off x="179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5" name="Google Shape;375;p3"/>
              <p:cNvSpPr/>
              <p:nvPr/>
            </p:nvSpPr>
            <p:spPr>
              <a:xfrm>
                <a:off x="174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6" name="Google Shape;376;p3"/>
              <p:cNvSpPr/>
              <p:nvPr/>
            </p:nvSpPr>
            <p:spPr>
              <a:xfrm>
                <a:off x="168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7" name="Google Shape;377;p3"/>
              <p:cNvSpPr/>
              <p:nvPr/>
            </p:nvSpPr>
            <p:spPr>
              <a:xfrm>
                <a:off x="162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8" name="Google Shape;378;p3"/>
              <p:cNvSpPr/>
              <p:nvPr/>
            </p:nvSpPr>
            <p:spPr>
              <a:xfrm>
                <a:off x="157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79" name="Google Shape;379;p3"/>
              <p:cNvSpPr/>
              <p:nvPr/>
            </p:nvSpPr>
            <p:spPr>
              <a:xfrm>
                <a:off x="151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0" name="Google Shape;380;p3"/>
              <p:cNvSpPr/>
              <p:nvPr/>
            </p:nvSpPr>
            <p:spPr>
              <a:xfrm>
                <a:off x="146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1" name="Google Shape;381;p3"/>
              <p:cNvSpPr/>
              <p:nvPr/>
            </p:nvSpPr>
            <p:spPr>
              <a:xfrm>
                <a:off x="140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2" name="Google Shape;382;p3"/>
              <p:cNvSpPr/>
              <p:nvPr/>
            </p:nvSpPr>
            <p:spPr>
              <a:xfrm>
                <a:off x="134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3" name="Google Shape;383;p3"/>
              <p:cNvSpPr/>
              <p:nvPr/>
            </p:nvSpPr>
            <p:spPr>
              <a:xfrm>
                <a:off x="1293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4" name="Google Shape;384;p3"/>
              <p:cNvSpPr/>
              <p:nvPr/>
            </p:nvSpPr>
            <p:spPr>
              <a:xfrm>
                <a:off x="1237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5" name="Google Shape;385;p3"/>
              <p:cNvSpPr/>
              <p:nvPr/>
            </p:nvSpPr>
            <p:spPr>
              <a:xfrm>
                <a:off x="1181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6" name="Google Shape;386;p3"/>
              <p:cNvSpPr/>
              <p:nvPr/>
            </p:nvSpPr>
            <p:spPr>
              <a:xfrm>
                <a:off x="1125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87" name="Google Shape;387;p3"/>
              <p:cNvSpPr/>
              <p:nvPr/>
            </p:nvSpPr>
            <p:spPr>
              <a:xfrm>
                <a:off x="1069" y="3601"/>
                <a:ext cx="25" cy="1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4" y="0"/>
                    </a:moveTo>
                    <a:lnTo>
                      <a:pt x="24" y="0"/>
                    </a:lnTo>
                    <a:lnTo>
                      <a:pt x="0" y="0"/>
                    </a:lnTo>
                    <a:lnTo>
                      <a:pt x="24" y="0"/>
                    </a:lnTo>
                  </a:path>
                </a:pathLst>
              </a:custGeom>
              <a:solidFill>
                <a:srgbClr val="B22A9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388" name="Google Shape;388;p3"/>
            <p:cNvGrpSpPr/>
            <p:nvPr/>
          </p:nvGrpSpPr>
          <p:grpSpPr>
            <a:xfrm>
              <a:off x="1211" y="2791"/>
              <a:ext cx="60" cy="633"/>
              <a:chOff x="1064" y="2997"/>
              <a:chExt cx="60" cy="633"/>
            </a:xfrm>
          </p:grpSpPr>
          <p:sp>
            <p:nvSpPr>
              <p:cNvPr id="389" name="Google Shape;389;p3"/>
              <p:cNvSpPr/>
              <p:nvPr/>
            </p:nvSpPr>
            <p:spPr>
              <a:xfrm>
                <a:off x="1093" y="3605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0" name="Google Shape;390;p3"/>
              <p:cNvSpPr/>
              <p:nvPr/>
            </p:nvSpPr>
            <p:spPr>
              <a:xfrm>
                <a:off x="1093" y="3549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1" name="Google Shape;391;p3"/>
              <p:cNvSpPr/>
              <p:nvPr/>
            </p:nvSpPr>
            <p:spPr>
              <a:xfrm>
                <a:off x="1093" y="3493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2" name="Google Shape;392;p3"/>
              <p:cNvSpPr/>
              <p:nvPr/>
            </p:nvSpPr>
            <p:spPr>
              <a:xfrm>
                <a:off x="1093" y="3437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3" name="Google Shape;393;p3"/>
              <p:cNvSpPr/>
              <p:nvPr/>
            </p:nvSpPr>
            <p:spPr>
              <a:xfrm>
                <a:off x="1093" y="3381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4" name="Google Shape;394;p3"/>
              <p:cNvSpPr/>
              <p:nvPr/>
            </p:nvSpPr>
            <p:spPr>
              <a:xfrm>
                <a:off x="1093" y="3325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5" name="Google Shape;395;p3"/>
              <p:cNvSpPr/>
              <p:nvPr/>
            </p:nvSpPr>
            <p:spPr>
              <a:xfrm>
                <a:off x="1093" y="3269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6" name="Google Shape;396;p3"/>
              <p:cNvSpPr/>
              <p:nvPr/>
            </p:nvSpPr>
            <p:spPr>
              <a:xfrm>
                <a:off x="1093" y="3213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7" name="Google Shape;397;p3"/>
              <p:cNvSpPr/>
              <p:nvPr/>
            </p:nvSpPr>
            <p:spPr>
              <a:xfrm>
                <a:off x="1093" y="3157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8" name="Google Shape;398;p3"/>
              <p:cNvSpPr/>
              <p:nvPr/>
            </p:nvSpPr>
            <p:spPr>
              <a:xfrm>
                <a:off x="1093" y="3101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24"/>
                    </a:moveTo>
                    <a:lnTo>
                      <a:pt x="0" y="24"/>
                    </a:lnTo>
                    <a:lnTo>
                      <a:pt x="0" y="0"/>
                    </a:lnTo>
                    <a:lnTo>
                      <a:pt x="0" y="24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399" name="Google Shape;399;p3"/>
              <p:cNvSpPr/>
              <p:nvPr/>
            </p:nvSpPr>
            <p:spPr>
              <a:xfrm>
                <a:off x="1093" y="3062"/>
                <a:ext cx="1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8" extrusionOk="0">
                    <a:moveTo>
                      <a:pt x="0" y="7"/>
                    </a:moveTo>
                    <a:lnTo>
                      <a:pt x="0" y="7"/>
                    </a:lnTo>
                    <a:lnTo>
                      <a:pt x="0" y="0"/>
                    </a:lnTo>
                    <a:lnTo>
                      <a:pt x="0" y="7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0" name="Google Shape;400;p3"/>
              <p:cNvSpPr/>
              <p:nvPr/>
            </p:nvSpPr>
            <p:spPr>
              <a:xfrm>
                <a:off x="1064" y="2997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59" y="59"/>
                    </a:moveTo>
                    <a:lnTo>
                      <a:pt x="29" y="0"/>
                    </a:lnTo>
                    <a:lnTo>
                      <a:pt x="0" y="59"/>
                    </a:lnTo>
                    <a:lnTo>
                      <a:pt x="59" y="59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01" name="Google Shape;401;p3"/>
            <p:cNvGrpSpPr/>
            <p:nvPr/>
          </p:nvGrpSpPr>
          <p:grpSpPr>
            <a:xfrm>
              <a:off x="2784" y="2860"/>
              <a:ext cx="60" cy="249"/>
              <a:chOff x="2600" y="3025"/>
              <a:chExt cx="60" cy="249"/>
            </a:xfrm>
          </p:grpSpPr>
          <p:sp>
            <p:nvSpPr>
              <p:cNvPr id="402" name="Google Shape;402;p3"/>
              <p:cNvSpPr/>
              <p:nvPr/>
            </p:nvSpPr>
            <p:spPr>
              <a:xfrm>
                <a:off x="2629" y="3090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3" name="Google Shape;403;p3"/>
              <p:cNvSpPr/>
              <p:nvPr/>
            </p:nvSpPr>
            <p:spPr>
              <a:xfrm>
                <a:off x="2629" y="3146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4" name="Google Shape;404;p3"/>
              <p:cNvSpPr/>
              <p:nvPr/>
            </p:nvSpPr>
            <p:spPr>
              <a:xfrm>
                <a:off x="2629" y="3202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5" name="Google Shape;405;p3"/>
              <p:cNvSpPr/>
              <p:nvPr/>
            </p:nvSpPr>
            <p:spPr>
              <a:xfrm>
                <a:off x="2629" y="3258"/>
                <a:ext cx="1" cy="16"/>
              </a:xfrm>
              <a:custGeom>
                <a:avLst/>
                <a:gdLst/>
                <a:ahLst/>
                <a:cxnLst/>
                <a:rect l="l" t="t" r="r" b="b"/>
                <a:pathLst>
                  <a:path w="1" h="16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6" name="Google Shape;406;p3"/>
              <p:cNvSpPr/>
              <p:nvPr/>
            </p:nvSpPr>
            <p:spPr>
              <a:xfrm>
                <a:off x="2600" y="3025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59" y="59"/>
                    </a:moveTo>
                    <a:lnTo>
                      <a:pt x="29" y="0"/>
                    </a:lnTo>
                    <a:lnTo>
                      <a:pt x="0" y="59"/>
                    </a:lnTo>
                    <a:lnTo>
                      <a:pt x="59" y="59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07" name="Google Shape;407;p3"/>
            <p:cNvGrpSpPr/>
            <p:nvPr/>
          </p:nvGrpSpPr>
          <p:grpSpPr>
            <a:xfrm>
              <a:off x="3179" y="2860"/>
              <a:ext cx="60" cy="249"/>
              <a:chOff x="3079" y="3025"/>
              <a:chExt cx="60" cy="249"/>
            </a:xfrm>
          </p:grpSpPr>
          <p:sp>
            <p:nvSpPr>
              <p:cNvPr id="408" name="Google Shape;408;p3"/>
              <p:cNvSpPr/>
              <p:nvPr/>
            </p:nvSpPr>
            <p:spPr>
              <a:xfrm>
                <a:off x="3109" y="3025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09" name="Google Shape;409;p3"/>
              <p:cNvSpPr/>
              <p:nvPr/>
            </p:nvSpPr>
            <p:spPr>
              <a:xfrm>
                <a:off x="3109" y="3081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0" name="Google Shape;410;p3"/>
              <p:cNvSpPr/>
              <p:nvPr/>
            </p:nvSpPr>
            <p:spPr>
              <a:xfrm>
                <a:off x="3109" y="3137"/>
                <a:ext cx="1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25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1" name="Google Shape;411;p3"/>
              <p:cNvSpPr/>
              <p:nvPr/>
            </p:nvSpPr>
            <p:spPr>
              <a:xfrm>
                <a:off x="3109" y="3193"/>
                <a:ext cx="1" cy="16"/>
              </a:xfrm>
              <a:custGeom>
                <a:avLst/>
                <a:gdLst/>
                <a:ahLst/>
                <a:cxnLst/>
                <a:rect l="l" t="t" r="r" b="b"/>
                <a:pathLst>
                  <a:path w="1" h="16" extrusionOk="0">
                    <a:moveTo>
                      <a:pt x="0" y="0"/>
                    </a:moveTo>
                    <a:lnTo>
                      <a:pt x="0" y="0"/>
                    </a:lnTo>
                    <a:lnTo>
                      <a:pt x="0" y="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412" name="Google Shape;412;p3"/>
              <p:cNvSpPr/>
              <p:nvPr/>
            </p:nvSpPr>
            <p:spPr>
              <a:xfrm>
                <a:off x="3079" y="3214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0" y="0"/>
                    </a:moveTo>
                    <a:lnTo>
                      <a:pt x="30" y="59"/>
                    </a:lnTo>
                    <a:lnTo>
                      <a:pt x="59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413" name="Google Shape;413;p3"/>
            <p:cNvSpPr/>
            <p:nvPr/>
          </p:nvSpPr>
          <p:spPr>
            <a:xfrm>
              <a:off x="3330" y="2878"/>
              <a:ext cx="773" cy="249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3334" y="2892"/>
              <a:ext cx="772" cy="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Feedback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032" y="3600"/>
              <a:ext cx="780" cy="256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Feedback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1440" y="3600"/>
              <a:ext cx="780" cy="256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000"/>
                <a:buFont typeface="Noto Sans Symbols"/>
                <a:buNone/>
              </a:pPr>
              <a:r>
                <a:rPr lang="en-US" sz="2000" b="1" i="0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Feedback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17" name="Google Shape;417;p3"/>
            <p:cNvGrpSpPr/>
            <p:nvPr/>
          </p:nvGrpSpPr>
          <p:grpSpPr>
            <a:xfrm>
              <a:off x="1739" y="2355"/>
              <a:ext cx="579" cy="56"/>
              <a:chOff x="1497" y="2516"/>
              <a:chExt cx="637" cy="60"/>
            </a:xfrm>
          </p:grpSpPr>
          <p:cxnSp>
            <p:nvCxnSpPr>
              <p:cNvPr id="418" name="Google Shape;418;p3"/>
              <p:cNvCxnSpPr/>
              <p:nvPr/>
            </p:nvCxnSpPr>
            <p:spPr>
              <a:xfrm rot="10800000">
                <a:off x="1497" y="2549"/>
                <a:ext cx="583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19" name="Google Shape;419;p3"/>
              <p:cNvSpPr/>
              <p:nvPr/>
            </p:nvSpPr>
            <p:spPr>
              <a:xfrm>
                <a:off x="2074" y="2516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0" y="59"/>
                    </a:moveTo>
                    <a:lnTo>
                      <a:pt x="59" y="29"/>
                    </a:lnTo>
                    <a:lnTo>
                      <a:pt x="0" y="0"/>
                    </a:lnTo>
                    <a:lnTo>
                      <a:pt x="0" y="59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420" name="Google Shape;420;p3"/>
            <p:cNvGrpSpPr/>
            <p:nvPr/>
          </p:nvGrpSpPr>
          <p:grpSpPr>
            <a:xfrm>
              <a:off x="3733" y="2356"/>
              <a:ext cx="553" cy="60"/>
              <a:chOff x="3549" y="2521"/>
              <a:chExt cx="553" cy="60"/>
            </a:xfrm>
          </p:grpSpPr>
          <p:cxnSp>
            <p:nvCxnSpPr>
              <p:cNvPr id="421" name="Google Shape;421;p3"/>
              <p:cNvCxnSpPr/>
              <p:nvPr/>
            </p:nvCxnSpPr>
            <p:spPr>
              <a:xfrm rot="10800000">
                <a:off x="3549" y="2554"/>
                <a:ext cx="499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422" name="Google Shape;422;p3"/>
              <p:cNvSpPr/>
              <p:nvPr/>
            </p:nvSpPr>
            <p:spPr>
              <a:xfrm>
                <a:off x="4042" y="2521"/>
                <a:ext cx="60" cy="60"/>
              </a:xfrm>
              <a:custGeom>
                <a:avLst/>
                <a:gdLst/>
                <a:ahLst/>
                <a:cxnLst/>
                <a:rect l="l" t="t" r="r" b="b"/>
                <a:pathLst>
                  <a:path w="60" h="60" extrusionOk="0">
                    <a:moveTo>
                      <a:pt x="0" y="59"/>
                    </a:moveTo>
                    <a:lnTo>
                      <a:pt x="59" y="29"/>
                    </a:lnTo>
                    <a:lnTo>
                      <a:pt x="0" y="0"/>
                    </a:lnTo>
                    <a:lnTo>
                      <a:pt x="0" y="59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cxnSp>
          <p:nvCxnSpPr>
            <p:cNvPr id="423" name="Google Shape;423;p3"/>
            <p:cNvCxnSpPr/>
            <p:nvPr/>
          </p:nvCxnSpPr>
          <p:spPr>
            <a:xfrm>
              <a:off x="1233" y="1616"/>
              <a:ext cx="0" cy="152"/>
            </a:xfrm>
            <a:prstGeom prst="straightConnector1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4" name="Google Shape;424;p3"/>
            <p:cNvCxnSpPr/>
            <p:nvPr/>
          </p:nvCxnSpPr>
          <p:spPr>
            <a:xfrm>
              <a:off x="4881" y="1616"/>
              <a:ext cx="0" cy="152"/>
            </a:xfrm>
            <a:prstGeom prst="straightConnector1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5" name="Google Shape;425;p3"/>
            <p:cNvCxnSpPr/>
            <p:nvPr/>
          </p:nvCxnSpPr>
          <p:spPr>
            <a:xfrm>
              <a:off x="1281" y="1712"/>
              <a:ext cx="680" cy="0"/>
            </a:xfrm>
            <a:prstGeom prst="straightConnector1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26" name="Google Shape;426;p3"/>
            <p:cNvSpPr/>
            <p:nvPr/>
          </p:nvSpPr>
          <p:spPr>
            <a:xfrm>
              <a:off x="2226" y="1536"/>
              <a:ext cx="1349" cy="326"/>
            </a:xfrm>
            <a:prstGeom prst="rect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2230" y="1555"/>
              <a:ext cx="1264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84700"/>
                </a:buClr>
                <a:buSzPts val="2800"/>
                <a:buFont typeface="Noto Sans Symbols"/>
                <a:buNone/>
              </a:pPr>
              <a:r>
                <a:rPr lang="en-US" sz="2800" b="1" i="1" u="none" strike="noStrike" cap="none">
                  <a:solidFill>
                    <a:srgbClr val="F8470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Value added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428" name="Google Shape;428;p3"/>
            <p:cNvCxnSpPr/>
            <p:nvPr/>
          </p:nvCxnSpPr>
          <p:spPr>
            <a:xfrm>
              <a:off x="3633" y="1712"/>
              <a:ext cx="1208" cy="0"/>
            </a:xfrm>
            <a:prstGeom prst="straightConnector1">
              <a:avLst/>
            </a:prstGeom>
            <a:noFill/>
            <a:ln w="12700" cap="flat" cmpd="sng">
              <a:solidFill>
                <a:srgbClr val="B02A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9" name="Google Shape;429;p3"/>
            <p:cNvCxnSpPr/>
            <p:nvPr/>
          </p:nvCxnSpPr>
          <p:spPr>
            <a:xfrm>
              <a:off x="1259" y="3424"/>
              <a:ext cx="1344" cy="0"/>
            </a:xfrm>
            <a:prstGeom prst="straightConnector1">
              <a:avLst/>
            </a:prstGeom>
            <a:noFill/>
            <a:ln w="1270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"/>
          <p:cNvSpPr/>
          <p:nvPr/>
        </p:nvSpPr>
        <p:spPr>
          <a:xfrm>
            <a:off x="3657600" y="2171700"/>
            <a:ext cx="2514600" cy="30861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5" name="Google Shape;435;p4"/>
          <p:cNvSpPr/>
          <p:nvPr/>
        </p:nvSpPr>
        <p:spPr>
          <a:xfrm>
            <a:off x="819150" y="2171700"/>
            <a:ext cx="2838450" cy="30861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6" name="Google Shape;436;p4"/>
          <p:cNvSpPr/>
          <p:nvPr/>
        </p:nvSpPr>
        <p:spPr>
          <a:xfrm>
            <a:off x="0" y="166688"/>
            <a:ext cx="9144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Food Processor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7" name="Google Shape;437;p4"/>
          <p:cNvSpPr/>
          <p:nvPr/>
        </p:nvSpPr>
        <p:spPr>
          <a:xfrm>
            <a:off x="514350" y="1828800"/>
            <a:ext cx="9132888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8" name="Google Shape;438;p4"/>
          <p:cNvSpPr/>
          <p:nvPr/>
        </p:nvSpPr>
        <p:spPr>
          <a:xfrm>
            <a:off x="971550" y="1462088"/>
            <a:ext cx="128587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Inputs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39" name="Google Shape;439;p4"/>
          <p:cNvSpPr/>
          <p:nvPr/>
        </p:nvSpPr>
        <p:spPr>
          <a:xfrm>
            <a:off x="3883025" y="1462088"/>
            <a:ext cx="218916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40" name="Google Shape;440;p4"/>
          <p:cNvSpPr/>
          <p:nvPr/>
        </p:nvSpPr>
        <p:spPr>
          <a:xfrm>
            <a:off x="6310313" y="1447800"/>
            <a:ext cx="1601787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41" name="Google Shape;441;p4"/>
          <p:cNvGrpSpPr/>
          <p:nvPr/>
        </p:nvGrpSpPr>
        <p:grpSpPr>
          <a:xfrm>
            <a:off x="892175" y="2111375"/>
            <a:ext cx="8070850" cy="2968625"/>
            <a:chOff x="240" y="1345"/>
            <a:chExt cx="5084" cy="1870"/>
          </a:xfrm>
        </p:grpSpPr>
        <p:sp>
          <p:nvSpPr>
            <p:cNvPr id="442" name="Google Shape;442;p4"/>
            <p:cNvSpPr/>
            <p:nvPr/>
          </p:nvSpPr>
          <p:spPr>
            <a:xfrm>
              <a:off x="3674" y="1345"/>
              <a:ext cx="888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489" y="1452"/>
              <a:ext cx="1393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240" y="1408"/>
              <a:ext cx="1810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Raw Vegetables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2187" y="1452"/>
              <a:ext cx="753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2178" y="1408"/>
              <a:ext cx="1001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Cleaning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3674" y="1645"/>
              <a:ext cx="1650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3696" y="1410"/>
              <a:ext cx="1200" cy="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Canned </a:t>
              </a:r>
              <a:b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vegetables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489" y="1699"/>
              <a:ext cx="1114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240" y="1655"/>
              <a:ext cx="1485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Metal Sheets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2187" y="1699"/>
              <a:ext cx="1072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2178" y="1655"/>
              <a:ext cx="1374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Making cans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489" y="1946"/>
              <a:ext cx="505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88" y="1902"/>
              <a:ext cx="712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Water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2187" y="1946"/>
              <a:ext cx="602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2178" y="1902"/>
              <a:ext cx="825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Cutting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489" y="2193"/>
              <a:ext cx="602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88" y="2149"/>
              <a:ext cx="825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Energy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187" y="2193"/>
              <a:ext cx="699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178" y="2149"/>
              <a:ext cx="938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Cooking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489" y="2440"/>
              <a:ext cx="485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88" y="2396"/>
              <a:ext cx="689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Labor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187" y="2440"/>
              <a:ext cx="677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178" y="2396"/>
              <a:ext cx="912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Packing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489" y="2687"/>
              <a:ext cx="678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288" y="2643"/>
              <a:ext cx="913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Building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2187" y="2687"/>
              <a:ext cx="721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2178" y="2643"/>
              <a:ext cx="964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Labeling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489" y="2934"/>
              <a:ext cx="912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288" y="2890"/>
              <a:ext cx="1187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Equipment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471" name="Google Shape;471;p4"/>
          <p:cNvCxnSpPr/>
          <p:nvPr/>
        </p:nvCxnSpPr>
        <p:spPr>
          <a:xfrm>
            <a:off x="819150" y="1981200"/>
            <a:ext cx="702945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"/>
          <p:cNvSpPr/>
          <p:nvPr/>
        </p:nvSpPr>
        <p:spPr>
          <a:xfrm>
            <a:off x="3886200" y="1943100"/>
            <a:ext cx="2495550" cy="30861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7" name="Google Shape;477;p5"/>
          <p:cNvSpPr/>
          <p:nvPr/>
        </p:nvSpPr>
        <p:spPr>
          <a:xfrm>
            <a:off x="1028700" y="1943100"/>
            <a:ext cx="2743200" cy="30861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8" name="Google Shape;478;p5"/>
          <p:cNvSpPr/>
          <p:nvPr/>
        </p:nvSpPr>
        <p:spPr>
          <a:xfrm>
            <a:off x="0" y="171450"/>
            <a:ext cx="91154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Hospital Process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79" name="Google Shape;479;p5"/>
          <p:cNvSpPr/>
          <p:nvPr/>
        </p:nvSpPr>
        <p:spPr>
          <a:xfrm>
            <a:off x="1011238" y="1400175"/>
            <a:ext cx="1285875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Inputs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0" name="Google Shape;480;p5"/>
          <p:cNvSpPr/>
          <p:nvPr/>
        </p:nvSpPr>
        <p:spPr>
          <a:xfrm>
            <a:off x="3878263" y="1400175"/>
            <a:ext cx="2189162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Processing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1" name="Google Shape;481;p5"/>
          <p:cNvSpPr/>
          <p:nvPr/>
        </p:nvSpPr>
        <p:spPr>
          <a:xfrm>
            <a:off x="6419850" y="1400175"/>
            <a:ext cx="160178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200"/>
              <a:buFont typeface="Noto Sans Symbols"/>
              <a:buNone/>
            </a:pPr>
            <a:r>
              <a:rPr lang="en-US" sz="32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Outputs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82" name="Google Shape;482;p5"/>
          <p:cNvGrpSpPr/>
          <p:nvPr/>
        </p:nvGrpSpPr>
        <p:grpSpPr>
          <a:xfrm>
            <a:off x="1011238" y="2414588"/>
            <a:ext cx="7523162" cy="2081212"/>
            <a:chOff x="599" y="1429"/>
            <a:chExt cx="4739" cy="1311"/>
          </a:xfrm>
        </p:grpSpPr>
        <p:sp>
          <p:nvSpPr>
            <p:cNvPr id="483" name="Google Shape;483;p5"/>
            <p:cNvSpPr/>
            <p:nvPr/>
          </p:nvSpPr>
          <p:spPr>
            <a:xfrm>
              <a:off x="848" y="1473"/>
              <a:ext cx="1338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599" y="1429"/>
              <a:ext cx="1685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Doctors, nurses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2491" y="1473"/>
              <a:ext cx="1051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2482" y="1429"/>
              <a:ext cx="1349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Examination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3967" y="1473"/>
              <a:ext cx="1371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4006" y="1429"/>
              <a:ext cx="937" cy="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Healthy </a:t>
              </a:r>
              <a:b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</a:b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patients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848" y="1720"/>
              <a:ext cx="688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599" y="1676"/>
              <a:ext cx="925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Hospital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2491" y="1720"/>
              <a:ext cx="666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2482" y="1676"/>
              <a:ext cx="900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Surgery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848" y="1967"/>
              <a:ext cx="1447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599" y="1923"/>
              <a:ext cx="1811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Medical Supplies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2491" y="1967"/>
              <a:ext cx="891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2482" y="1923"/>
              <a:ext cx="1163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Monitoring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848" y="2213"/>
              <a:ext cx="912" cy="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599" y="2168"/>
              <a:ext cx="1187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Equipment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2491" y="2213"/>
              <a:ext cx="923" cy="2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2482" y="2168"/>
              <a:ext cx="1200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Medication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848" y="2459"/>
              <a:ext cx="1062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599" y="2415"/>
              <a:ext cx="1363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Laboratories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2491" y="2459"/>
              <a:ext cx="698" cy="2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2482" y="2415"/>
              <a:ext cx="938" cy="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Noto Sans Symbols"/>
                <a:buNone/>
              </a:pPr>
              <a:r>
                <a:rPr lang="en-US" sz="2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Therapy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cxnSp>
        <p:nvCxnSpPr>
          <p:cNvPr id="505" name="Google Shape;505;p5"/>
          <p:cNvCxnSpPr/>
          <p:nvPr/>
        </p:nvCxnSpPr>
        <p:spPr>
          <a:xfrm>
            <a:off x="1135063" y="1900238"/>
            <a:ext cx="67818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"/>
          <p:cNvSpPr/>
          <p:nvPr/>
        </p:nvSpPr>
        <p:spPr>
          <a:xfrm>
            <a:off x="7032625" y="5951538"/>
            <a:ext cx="1893888" cy="446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2" name="Google Shape;512;p6"/>
          <p:cNvSpPr/>
          <p:nvPr/>
        </p:nvSpPr>
        <p:spPr>
          <a:xfrm>
            <a:off x="3175" y="1089025"/>
            <a:ext cx="9132888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13" name="Google Shape;513;p6"/>
          <p:cNvSpPr/>
          <p:nvPr/>
        </p:nvSpPr>
        <p:spPr>
          <a:xfrm>
            <a:off x="0" y="185738"/>
            <a:ext cx="9144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Manufacturing or Service?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14" name="Google Shape;514;p6"/>
          <p:cNvGrpSpPr/>
          <p:nvPr/>
        </p:nvGrpSpPr>
        <p:grpSpPr>
          <a:xfrm>
            <a:off x="685800" y="2500313"/>
            <a:ext cx="7691438" cy="1919287"/>
            <a:chOff x="432" y="1383"/>
            <a:chExt cx="4845" cy="1209"/>
          </a:xfrm>
        </p:grpSpPr>
        <p:sp>
          <p:nvSpPr>
            <p:cNvPr id="515" name="Google Shape;515;p6"/>
            <p:cNvSpPr/>
            <p:nvPr/>
          </p:nvSpPr>
          <p:spPr>
            <a:xfrm>
              <a:off x="1070" y="2011"/>
              <a:ext cx="3585" cy="81"/>
            </a:xfrm>
            <a:prstGeom prst="rect">
              <a:avLst/>
            </a:prstGeom>
            <a:solidFill>
              <a:srgbClr val="B02A00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901" y="1593"/>
              <a:ext cx="1017" cy="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901" y="1610"/>
              <a:ext cx="1081" cy="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37A0"/>
                </a:buClr>
                <a:buSzPts val="3200"/>
                <a:buFont typeface="Noto Sans Symbols"/>
                <a:buNone/>
              </a:pPr>
              <a:r>
                <a:rPr lang="en-US" sz="3200" b="1" i="0" u="none" strike="noStrike" cap="none">
                  <a:solidFill>
                    <a:srgbClr val="2237A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Tangible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4357" y="1641"/>
              <a:ext cx="477" cy="3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4357" y="1658"/>
              <a:ext cx="498" cy="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37A0"/>
                </a:buClr>
                <a:buSzPts val="3200"/>
                <a:buFont typeface="Noto Sans Symbols"/>
                <a:buNone/>
              </a:pPr>
              <a:r>
                <a:rPr lang="en-US" sz="3200" b="1" i="0" u="none" strike="noStrike" cap="none">
                  <a:solidFill>
                    <a:srgbClr val="2237A0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Act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2534" y="2107"/>
              <a:ext cx="665" cy="473"/>
            </a:xfrm>
            <a:custGeom>
              <a:avLst/>
              <a:gdLst/>
              <a:ahLst/>
              <a:cxnLst/>
              <a:rect l="l" t="t" r="r" b="b"/>
              <a:pathLst>
                <a:path w="665" h="473" extrusionOk="0">
                  <a:moveTo>
                    <a:pt x="331" y="0"/>
                  </a:moveTo>
                  <a:lnTo>
                    <a:pt x="0" y="472"/>
                  </a:lnTo>
                  <a:lnTo>
                    <a:pt x="664" y="472"/>
                  </a:lnTo>
                  <a:lnTo>
                    <a:pt x="331" y="0"/>
                  </a:lnTo>
                </a:path>
              </a:pathLst>
            </a:custGeom>
            <a:solidFill>
              <a:srgbClr val="B02A00"/>
            </a:solidFill>
            <a:ln w="1270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20204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521" name="Google Shape;521;p6"/>
            <p:cNvGrpSpPr/>
            <p:nvPr/>
          </p:nvGrpSpPr>
          <p:grpSpPr>
            <a:xfrm>
              <a:off x="432" y="1383"/>
              <a:ext cx="515" cy="1197"/>
              <a:chOff x="424" y="1637"/>
              <a:chExt cx="515" cy="1197"/>
            </a:xfrm>
          </p:grpSpPr>
          <p:sp>
            <p:nvSpPr>
              <p:cNvPr id="522" name="Google Shape;522;p6"/>
              <p:cNvSpPr/>
              <p:nvPr/>
            </p:nvSpPr>
            <p:spPr>
              <a:xfrm>
                <a:off x="424" y="1680"/>
                <a:ext cx="436" cy="1120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120" extrusionOk="0">
                    <a:moveTo>
                      <a:pt x="331" y="1119"/>
                    </a:moveTo>
                    <a:lnTo>
                      <a:pt x="295" y="1101"/>
                    </a:lnTo>
                    <a:lnTo>
                      <a:pt x="260" y="1081"/>
                    </a:lnTo>
                    <a:lnTo>
                      <a:pt x="227" y="1057"/>
                    </a:lnTo>
                    <a:lnTo>
                      <a:pt x="196" y="1032"/>
                    </a:lnTo>
                    <a:lnTo>
                      <a:pt x="167" y="1003"/>
                    </a:lnTo>
                    <a:lnTo>
                      <a:pt x="140" y="973"/>
                    </a:lnTo>
                    <a:lnTo>
                      <a:pt x="115" y="940"/>
                    </a:lnTo>
                    <a:lnTo>
                      <a:pt x="92" y="906"/>
                    </a:lnTo>
                    <a:lnTo>
                      <a:pt x="71" y="869"/>
                    </a:lnTo>
                    <a:lnTo>
                      <a:pt x="53" y="831"/>
                    </a:lnTo>
                    <a:lnTo>
                      <a:pt x="37" y="792"/>
                    </a:lnTo>
                    <a:lnTo>
                      <a:pt x="24" y="751"/>
                    </a:lnTo>
                    <a:lnTo>
                      <a:pt x="14" y="709"/>
                    </a:lnTo>
                    <a:lnTo>
                      <a:pt x="6" y="665"/>
                    </a:lnTo>
                    <a:lnTo>
                      <a:pt x="2" y="621"/>
                    </a:lnTo>
                    <a:lnTo>
                      <a:pt x="0" y="576"/>
                    </a:lnTo>
                    <a:lnTo>
                      <a:pt x="1" y="549"/>
                    </a:lnTo>
                    <a:lnTo>
                      <a:pt x="2" y="522"/>
                    </a:lnTo>
                    <a:lnTo>
                      <a:pt x="5" y="496"/>
                    </a:lnTo>
                    <a:lnTo>
                      <a:pt x="9" y="470"/>
                    </a:lnTo>
                    <a:lnTo>
                      <a:pt x="13" y="445"/>
                    </a:lnTo>
                    <a:lnTo>
                      <a:pt x="19" y="420"/>
                    </a:lnTo>
                    <a:lnTo>
                      <a:pt x="33" y="371"/>
                    </a:lnTo>
                    <a:lnTo>
                      <a:pt x="51" y="324"/>
                    </a:lnTo>
                    <a:lnTo>
                      <a:pt x="73" y="279"/>
                    </a:lnTo>
                    <a:lnTo>
                      <a:pt x="97" y="237"/>
                    </a:lnTo>
                    <a:lnTo>
                      <a:pt x="125" y="197"/>
                    </a:lnTo>
                    <a:lnTo>
                      <a:pt x="156" y="160"/>
                    </a:lnTo>
                    <a:lnTo>
                      <a:pt x="189" y="127"/>
                    </a:lnTo>
                    <a:lnTo>
                      <a:pt x="225" y="96"/>
                    </a:lnTo>
                    <a:lnTo>
                      <a:pt x="263" y="69"/>
                    </a:lnTo>
                    <a:lnTo>
                      <a:pt x="303" y="46"/>
                    </a:lnTo>
                    <a:lnTo>
                      <a:pt x="324" y="36"/>
                    </a:lnTo>
                    <a:lnTo>
                      <a:pt x="345" y="26"/>
                    </a:lnTo>
                    <a:lnTo>
                      <a:pt x="367" y="18"/>
                    </a:lnTo>
                    <a:lnTo>
                      <a:pt x="389" y="11"/>
                    </a:lnTo>
                    <a:lnTo>
                      <a:pt x="412" y="5"/>
                    </a:lnTo>
                    <a:lnTo>
                      <a:pt x="435" y="0"/>
                    </a:lnTo>
                  </a:path>
                </a:pathLst>
              </a:custGeom>
              <a:noFill/>
              <a:ln w="254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3" name="Google Shape;523;p6"/>
              <p:cNvSpPr/>
              <p:nvPr/>
            </p:nvSpPr>
            <p:spPr>
              <a:xfrm>
                <a:off x="741" y="2758"/>
                <a:ext cx="90" cy="76"/>
              </a:xfrm>
              <a:custGeom>
                <a:avLst/>
                <a:gdLst/>
                <a:ahLst/>
                <a:cxnLst/>
                <a:rect l="l" t="t" r="r" b="b"/>
                <a:pathLst>
                  <a:path w="90" h="76" extrusionOk="0">
                    <a:moveTo>
                      <a:pt x="0" y="75"/>
                    </a:moveTo>
                    <a:lnTo>
                      <a:pt x="89" y="62"/>
                    </a:lnTo>
                    <a:lnTo>
                      <a:pt x="27" y="0"/>
                    </a:lnTo>
                    <a:lnTo>
                      <a:pt x="0" y="75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4" name="Google Shape;524;p6"/>
              <p:cNvSpPr/>
              <p:nvPr/>
            </p:nvSpPr>
            <p:spPr>
              <a:xfrm>
                <a:off x="855" y="1637"/>
                <a:ext cx="84" cy="80"/>
              </a:xfrm>
              <a:custGeom>
                <a:avLst/>
                <a:gdLst/>
                <a:ahLst/>
                <a:cxnLst/>
                <a:rect l="l" t="t" r="r" b="b"/>
                <a:pathLst>
                  <a:path w="84" h="80" extrusionOk="0">
                    <a:moveTo>
                      <a:pt x="7" y="79"/>
                    </a:moveTo>
                    <a:lnTo>
                      <a:pt x="83" y="32"/>
                    </a:lnTo>
                    <a:lnTo>
                      <a:pt x="0" y="0"/>
                    </a:lnTo>
                    <a:lnTo>
                      <a:pt x="7" y="79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525" name="Google Shape;525;p6"/>
            <p:cNvGrpSpPr/>
            <p:nvPr/>
          </p:nvGrpSpPr>
          <p:grpSpPr>
            <a:xfrm>
              <a:off x="4853" y="1387"/>
              <a:ext cx="424" cy="1205"/>
              <a:chOff x="4845" y="1641"/>
              <a:chExt cx="424" cy="1205"/>
            </a:xfrm>
          </p:grpSpPr>
          <p:sp>
            <p:nvSpPr>
              <p:cNvPr id="526" name="Google Shape;526;p6"/>
              <p:cNvSpPr/>
              <p:nvPr/>
            </p:nvSpPr>
            <p:spPr>
              <a:xfrm>
                <a:off x="4929" y="1684"/>
                <a:ext cx="340" cy="1131"/>
              </a:xfrm>
              <a:custGeom>
                <a:avLst/>
                <a:gdLst/>
                <a:ahLst/>
                <a:cxnLst/>
                <a:rect l="l" t="t" r="r" b="b"/>
                <a:pathLst>
                  <a:path w="340" h="1131" extrusionOk="0">
                    <a:moveTo>
                      <a:pt x="0" y="1"/>
                    </a:moveTo>
                    <a:lnTo>
                      <a:pt x="0" y="1"/>
                    </a:lnTo>
                    <a:lnTo>
                      <a:pt x="2" y="0"/>
                    </a:lnTo>
                    <a:lnTo>
                      <a:pt x="20" y="6"/>
                    </a:lnTo>
                    <a:lnTo>
                      <a:pt x="37" y="12"/>
                    </a:lnTo>
                    <a:lnTo>
                      <a:pt x="55" y="20"/>
                    </a:lnTo>
                    <a:lnTo>
                      <a:pt x="72" y="29"/>
                    </a:lnTo>
                    <a:lnTo>
                      <a:pt x="104" y="50"/>
                    </a:lnTo>
                    <a:lnTo>
                      <a:pt x="136" y="74"/>
                    </a:lnTo>
                    <a:lnTo>
                      <a:pt x="165" y="102"/>
                    </a:lnTo>
                    <a:lnTo>
                      <a:pt x="193" y="133"/>
                    </a:lnTo>
                    <a:lnTo>
                      <a:pt x="219" y="168"/>
                    </a:lnTo>
                    <a:lnTo>
                      <a:pt x="243" y="205"/>
                    </a:lnTo>
                    <a:lnTo>
                      <a:pt x="264" y="245"/>
                    </a:lnTo>
                    <a:lnTo>
                      <a:pt x="283" y="288"/>
                    </a:lnTo>
                    <a:lnTo>
                      <a:pt x="300" y="333"/>
                    </a:lnTo>
                    <a:lnTo>
                      <a:pt x="313" y="380"/>
                    </a:lnTo>
                    <a:lnTo>
                      <a:pt x="324" y="429"/>
                    </a:lnTo>
                    <a:lnTo>
                      <a:pt x="332" y="480"/>
                    </a:lnTo>
                    <a:lnTo>
                      <a:pt x="337" y="532"/>
                    </a:lnTo>
                    <a:lnTo>
                      <a:pt x="339" y="586"/>
                    </a:lnTo>
                    <a:lnTo>
                      <a:pt x="338" y="630"/>
                    </a:lnTo>
                    <a:lnTo>
                      <a:pt x="334" y="674"/>
                    </a:lnTo>
                    <a:lnTo>
                      <a:pt x="329" y="716"/>
                    </a:lnTo>
                    <a:lnTo>
                      <a:pt x="321" y="758"/>
                    </a:lnTo>
                    <a:lnTo>
                      <a:pt x="312" y="798"/>
                    </a:lnTo>
                    <a:lnTo>
                      <a:pt x="300" y="837"/>
                    </a:lnTo>
                    <a:lnTo>
                      <a:pt x="286" y="875"/>
                    </a:lnTo>
                    <a:lnTo>
                      <a:pt x="271" y="911"/>
                    </a:lnTo>
                    <a:lnTo>
                      <a:pt x="254" y="946"/>
                    </a:lnTo>
                    <a:lnTo>
                      <a:pt x="235" y="979"/>
                    </a:lnTo>
                    <a:lnTo>
                      <a:pt x="215" y="1009"/>
                    </a:lnTo>
                    <a:lnTo>
                      <a:pt x="193" y="1038"/>
                    </a:lnTo>
                    <a:lnTo>
                      <a:pt x="170" y="1065"/>
                    </a:lnTo>
                    <a:lnTo>
                      <a:pt x="145" y="1089"/>
                    </a:lnTo>
                    <a:lnTo>
                      <a:pt x="119" y="1111"/>
                    </a:lnTo>
                    <a:lnTo>
                      <a:pt x="92" y="1130"/>
                    </a:lnTo>
                  </a:path>
                </a:pathLst>
              </a:custGeom>
              <a:noFill/>
              <a:ln w="254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7" name="Google Shape;527;p6"/>
              <p:cNvSpPr/>
              <p:nvPr/>
            </p:nvSpPr>
            <p:spPr>
              <a:xfrm>
                <a:off x="4845" y="1641"/>
                <a:ext cx="85" cy="80"/>
              </a:xfrm>
              <a:custGeom>
                <a:avLst/>
                <a:gdLst/>
                <a:ahLst/>
                <a:cxnLst/>
                <a:rect l="l" t="t" r="r" b="b"/>
                <a:pathLst>
                  <a:path w="85" h="80" extrusionOk="0">
                    <a:moveTo>
                      <a:pt x="84" y="0"/>
                    </a:moveTo>
                    <a:lnTo>
                      <a:pt x="0" y="29"/>
                    </a:lnTo>
                    <a:lnTo>
                      <a:pt x="73" y="79"/>
                    </a:lnTo>
                    <a:lnTo>
                      <a:pt x="8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28" name="Google Shape;528;p6"/>
              <p:cNvSpPr/>
              <p:nvPr/>
            </p:nvSpPr>
            <p:spPr>
              <a:xfrm>
                <a:off x="4942" y="2775"/>
                <a:ext cx="90" cy="71"/>
              </a:xfrm>
              <a:custGeom>
                <a:avLst/>
                <a:gdLst/>
                <a:ahLst/>
                <a:cxnLst/>
                <a:rect l="l" t="t" r="r" b="b"/>
                <a:pathLst>
                  <a:path w="90" h="71" extrusionOk="0">
                    <a:moveTo>
                      <a:pt x="54" y="0"/>
                    </a:moveTo>
                    <a:lnTo>
                      <a:pt x="0" y="69"/>
                    </a:lnTo>
                    <a:lnTo>
                      <a:pt x="89" y="70"/>
                    </a:lnTo>
                    <a:lnTo>
                      <a:pt x="54" y="0"/>
                    </a:lnTo>
                  </a:path>
                </a:pathLst>
              </a:custGeom>
              <a:solidFill>
                <a:srgbClr val="B22A92"/>
              </a:solidFill>
              <a:ln w="12700" cap="rnd" cmpd="sng">
                <a:solidFill>
                  <a:srgbClr val="B02A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20204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3644" y="1371600"/>
            <a:ext cx="9036709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7"/>
          <p:cNvSpPr txBox="1"/>
          <p:nvPr/>
        </p:nvSpPr>
        <p:spPr>
          <a:xfrm>
            <a:off x="571500" y="228600"/>
            <a:ext cx="68531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The goods–service continuum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8"/>
          <p:cNvSpPr txBox="1"/>
          <p:nvPr>
            <p:ph type="title"/>
          </p:nvPr>
        </p:nvSpPr>
        <p:spPr>
          <a:xfrm>
            <a:off x="215900" y="-152400"/>
            <a:ext cx="8928100" cy="143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000"/>
              <a:t>Production of Goods vs. Delivery of Services</a:t>
            </a:r>
            <a:endParaRPr lang="en-US" sz="3000"/>
          </a:p>
        </p:txBody>
      </p:sp>
      <p:sp>
        <p:nvSpPr>
          <p:cNvPr id="541" name="Google Shape;541;p8"/>
          <p:cNvSpPr txBox="1"/>
          <p:nvPr>
            <p:ph type="body" idx="1"/>
          </p:nvPr>
        </p:nvSpPr>
        <p:spPr>
          <a:xfrm>
            <a:off x="552450" y="1257300"/>
            <a:ext cx="84582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17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∙"/>
            </a:pPr>
            <a:r>
              <a:rPr lang="en-US" sz="3000"/>
              <a:t>Production of goods – tangible output</a:t>
            </a:r>
            <a:endParaRPr lang="en-US" sz="3000"/>
          </a:p>
          <a:p>
            <a:pPr marL="231775" lvl="0" indent="-2317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 sz="3000"/>
              <a:t>Delivery of services – an act (Intangible)</a:t>
            </a:r>
            <a:endParaRPr lang="en-US" sz="3000"/>
          </a:p>
          <a:p>
            <a:pPr marL="231775" lvl="0" indent="-2317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 sz="3000"/>
              <a:t>Service job categories</a:t>
            </a:r>
            <a:endParaRPr lang="en-US" sz="30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Government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Wholesale/retail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Financial services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Healthcare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Personal services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Business services</a:t>
            </a:r>
            <a:endParaRPr lang="en-US" sz="2800"/>
          </a:p>
          <a:p>
            <a:pPr marL="567055" lvl="1" indent="-21907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∙"/>
            </a:pPr>
            <a:r>
              <a:rPr lang="en-US" sz="2800"/>
              <a:t>Education</a:t>
            </a: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"/>
          <p:cNvSpPr/>
          <p:nvPr/>
        </p:nvSpPr>
        <p:spPr>
          <a:xfrm>
            <a:off x="5372100" y="2286000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5372100" y="2833688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5372100" y="3382963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5372100" y="3930650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5372100" y="4479925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5372100" y="5029200"/>
            <a:ext cx="3314700" cy="4572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0" y="185738"/>
            <a:ext cx="906462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Manufacturing vs 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1081088" y="1311275"/>
            <a:ext cx="1854200" cy="35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609600" y="1219200"/>
            <a:ext cx="2506663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000"/>
              <a:buFont typeface="Noto Sans Symbols"/>
              <a:buNone/>
            </a:pPr>
            <a: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Characteristic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4471988" y="1311275"/>
            <a:ext cx="1922462" cy="35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4495800" y="1219200"/>
            <a:ext cx="25908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000"/>
              <a:buFont typeface="Noto Sans Symbols"/>
              <a:buNone/>
            </a:pPr>
            <a: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Manufacturing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6884988" y="1311275"/>
            <a:ext cx="1006475" cy="35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7175500" y="1219200"/>
            <a:ext cx="1449388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8298"/>
              </a:buClr>
              <a:buSzPts val="3000"/>
              <a:buFont typeface="Noto Sans Symbols"/>
              <a:buNone/>
            </a:pPr>
            <a:r>
              <a:rPr lang="en-US" sz="3000" b="0" i="0" u="none" strike="noStrike" cap="none">
                <a:solidFill>
                  <a:srgbClr val="14829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Service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559" name="Google Shape;559;p9"/>
          <p:cNvGrpSpPr/>
          <p:nvPr/>
        </p:nvGrpSpPr>
        <p:grpSpPr>
          <a:xfrm>
            <a:off x="681038" y="1714500"/>
            <a:ext cx="7924800" cy="4241800"/>
            <a:chOff x="429" y="1440"/>
            <a:chExt cx="4992" cy="2469"/>
          </a:xfrm>
        </p:grpSpPr>
        <p:sp>
          <p:nvSpPr>
            <p:cNvPr id="560" name="Google Shape;560;p9"/>
            <p:cNvSpPr/>
            <p:nvPr/>
          </p:nvSpPr>
          <p:spPr>
            <a:xfrm>
              <a:off x="681" y="1485"/>
              <a:ext cx="517" cy="1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1" name="Google Shape;561;p9"/>
            <p:cNvSpPr/>
            <p:nvPr/>
          </p:nvSpPr>
          <p:spPr>
            <a:xfrm>
              <a:off x="432" y="1440"/>
              <a:ext cx="690" cy="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Output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2" name="Google Shape;562;p9"/>
            <p:cNvSpPr/>
            <p:nvPr/>
          </p:nvSpPr>
          <p:spPr>
            <a:xfrm>
              <a:off x="681" y="1818"/>
              <a:ext cx="1353" cy="1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3" name="Google Shape;563;p9"/>
            <p:cNvSpPr/>
            <p:nvPr/>
          </p:nvSpPr>
          <p:spPr>
            <a:xfrm>
              <a:off x="429" y="1773"/>
              <a:ext cx="1619" cy="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Customer contact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4" name="Google Shape;564;p9"/>
            <p:cNvSpPr/>
            <p:nvPr/>
          </p:nvSpPr>
          <p:spPr>
            <a:xfrm>
              <a:off x="681" y="2150"/>
              <a:ext cx="1422" cy="1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5" name="Google Shape;565;p9"/>
            <p:cNvSpPr/>
            <p:nvPr/>
          </p:nvSpPr>
          <p:spPr>
            <a:xfrm>
              <a:off x="432" y="2105"/>
              <a:ext cx="1662" cy="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Uniformity of input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6" name="Google Shape;566;p9"/>
            <p:cNvSpPr/>
            <p:nvPr/>
          </p:nvSpPr>
          <p:spPr>
            <a:xfrm>
              <a:off x="681" y="2483"/>
              <a:ext cx="1060" cy="1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7" name="Google Shape;567;p9"/>
            <p:cNvSpPr/>
            <p:nvPr/>
          </p:nvSpPr>
          <p:spPr>
            <a:xfrm>
              <a:off x="432" y="2437"/>
              <a:ext cx="1289" cy="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Labor content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8" name="Google Shape;568;p9"/>
            <p:cNvSpPr/>
            <p:nvPr/>
          </p:nvSpPr>
          <p:spPr>
            <a:xfrm>
              <a:off x="681" y="2815"/>
              <a:ext cx="1529" cy="1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69" name="Google Shape;569;p9"/>
            <p:cNvSpPr/>
            <p:nvPr/>
          </p:nvSpPr>
          <p:spPr>
            <a:xfrm>
              <a:off x="432" y="2770"/>
              <a:ext cx="1779" cy="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Uniformity of output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0" name="Google Shape;570;p9"/>
            <p:cNvSpPr/>
            <p:nvPr/>
          </p:nvSpPr>
          <p:spPr>
            <a:xfrm>
              <a:off x="781" y="3148"/>
              <a:ext cx="2386" cy="1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1" name="Google Shape;571;p9"/>
            <p:cNvSpPr/>
            <p:nvPr/>
          </p:nvSpPr>
          <p:spPr>
            <a:xfrm>
              <a:off x="432" y="3095"/>
              <a:ext cx="2527" cy="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Measurement of productivity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72" name="Google Shape;572;p9"/>
            <p:cNvSpPr/>
            <p:nvPr/>
          </p:nvSpPr>
          <p:spPr>
            <a:xfrm>
              <a:off x="432" y="3435"/>
              <a:ext cx="1960" cy="2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Opportunity to correct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573" name="Google Shape;573;p9"/>
            <p:cNvGrpSpPr/>
            <p:nvPr/>
          </p:nvGrpSpPr>
          <p:grpSpPr>
            <a:xfrm>
              <a:off x="3352" y="1464"/>
              <a:ext cx="852" cy="2265"/>
              <a:chOff x="3352" y="1487"/>
              <a:chExt cx="852" cy="2265"/>
            </a:xfrm>
          </p:grpSpPr>
          <p:sp>
            <p:nvSpPr>
              <p:cNvPr id="574" name="Google Shape;574;p9"/>
              <p:cNvSpPr/>
              <p:nvPr/>
            </p:nvSpPr>
            <p:spPr>
              <a:xfrm>
                <a:off x="3409" y="1532"/>
                <a:ext cx="651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75" name="Google Shape;575;p9"/>
              <p:cNvSpPr/>
              <p:nvPr/>
            </p:nvSpPr>
            <p:spPr>
              <a:xfrm>
                <a:off x="3352" y="1487"/>
                <a:ext cx="852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Tangible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76" name="Google Shape;576;p9"/>
              <p:cNvSpPr/>
              <p:nvPr/>
            </p:nvSpPr>
            <p:spPr>
              <a:xfrm>
                <a:off x="3409" y="1871"/>
                <a:ext cx="313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77" name="Google Shape;577;p9"/>
              <p:cNvSpPr/>
              <p:nvPr/>
            </p:nvSpPr>
            <p:spPr>
              <a:xfrm>
                <a:off x="3352" y="1826"/>
                <a:ext cx="46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Low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78" name="Google Shape;578;p9"/>
              <p:cNvSpPr/>
              <p:nvPr/>
            </p:nvSpPr>
            <p:spPr>
              <a:xfrm>
                <a:off x="3409" y="2203"/>
                <a:ext cx="34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79" name="Google Shape;579;p9"/>
              <p:cNvSpPr/>
              <p:nvPr/>
            </p:nvSpPr>
            <p:spPr>
              <a:xfrm>
                <a:off x="3352" y="2158"/>
                <a:ext cx="510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High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0" name="Google Shape;580;p9"/>
              <p:cNvSpPr/>
              <p:nvPr/>
            </p:nvSpPr>
            <p:spPr>
              <a:xfrm>
                <a:off x="3441" y="2535"/>
                <a:ext cx="313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1" name="Google Shape;581;p9"/>
              <p:cNvSpPr/>
              <p:nvPr/>
            </p:nvSpPr>
            <p:spPr>
              <a:xfrm>
                <a:off x="3384" y="2490"/>
                <a:ext cx="46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Low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2" name="Google Shape;582;p9"/>
              <p:cNvSpPr/>
              <p:nvPr/>
            </p:nvSpPr>
            <p:spPr>
              <a:xfrm>
                <a:off x="3409" y="2868"/>
                <a:ext cx="34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3" name="Google Shape;583;p9"/>
              <p:cNvSpPr/>
              <p:nvPr/>
            </p:nvSpPr>
            <p:spPr>
              <a:xfrm>
                <a:off x="3352" y="2823"/>
                <a:ext cx="51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High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4" name="Google Shape;584;p9"/>
              <p:cNvSpPr/>
              <p:nvPr/>
            </p:nvSpPr>
            <p:spPr>
              <a:xfrm>
                <a:off x="3409" y="3200"/>
                <a:ext cx="367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5" name="Google Shape;585;p9"/>
              <p:cNvSpPr/>
              <p:nvPr/>
            </p:nvSpPr>
            <p:spPr>
              <a:xfrm>
                <a:off x="3352" y="3155"/>
                <a:ext cx="541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Easy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6" name="Google Shape;586;p9"/>
              <p:cNvSpPr/>
              <p:nvPr/>
            </p:nvSpPr>
            <p:spPr>
              <a:xfrm>
                <a:off x="3409" y="3533"/>
                <a:ext cx="34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87" name="Google Shape;587;p9"/>
              <p:cNvSpPr/>
              <p:nvPr/>
            </p:nvSpPr>
            <p:spPr>
              <a:xfrm>
                <a:off x="3352" y="3488"/>
                <a:ext cx="510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High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sp>
          <p:nvSpPr>
            <p:cNvPr id="588" name="Google Shape;588;p9"/>
            <p:cNvSpPr/>
            <p:nvPr/>
          </p:nvSpPr>
          <p:spPr>
            <a:xfrm>
              <a:off x="4472" y="1464"/>
              <a:ext cx="948" cy="2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Noto Sans Symbols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Intangible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589" name="Google Shape;589;p9"/>
            <p:cNvGrpSpPr/>
            <p:nvPr/>
          </p:nvGrpSpPr>
          <p:grpSpPr>
            <a:xfrm>
              <a:off x="4616" y="1509"/>
              <a:ext cx="805" cy="2214"/>
              <a:chOff x="4616" y="1532"/>
              <a:chExt cx="805" cy="2214"/>
            </a:xfrm>
          </p:grpSpPr>
          <p:sp>
            <p:nvSpPr>
              <p:cNvPr id="590" name="Google Shape;590;p9"/>
              <p:cNvSpPr/>
              <p:nvPr/>
            </p:nvSpPr>
            <p:spPr>
              <a:xfrm>
                <a:off x="4673" y="1532"/>
                <a:ext cx="748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1" name="Google Shape;591;p9"/>
              <p:cNvSpPr/>
              <p:nvPr/>
            </p:nvSpPr>
            <p:spPr>
              <a:xfrm>
                <a:off x="4673" y="1864"/>
                <a:ext cx="34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2" name="Google Shape;592;p9"/>
              <p:cNvSpPr/>
              <p:nvPr/>
            </p:nvSpPr>
            <p:spPr>
              <a:xfrm>
                <a:off x="4616" y="1819"/>
                <a:ext cx="510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High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3" name="Google Shape;593;p9"/>
              <p:cNvSpPr/>
              <p:nvPr/>
            </p:nvSpPr>
            <p:spPr>
              <a:xfrm>
                <a:off x="4673" y="2197"/>
                <a:ext cx="313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4" name="Google Shape;594;p9"/>
              <p:cNvSpPr/>
              <p:nvPr/>
            </p:nvSpPr>
            <p:spPr>
              <a:xfrm>
                <a:off x="4616" y="2152"/>
                <a:ext cx="467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Low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5" name="Google Shape;595;p9"/>
              <p:cNvSpPr/>
              <p:nvPr/>
            </p:nvSpPr>
            <p:spPr>
              <a:xfrm>
                <a:off x="4673" y="2529"/>
                <a:ext cx="34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6" name="Google Shape;596;p9"/>
              <p:cNvSpPr/>
              <p:nvPr/>
            </p:nvSpPr>
            <p:spPr>
              <a:xfrm>
                <a:off x="4616" y="2484"/>
                <a:ext cx="510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High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7" name="Google Shape;597;p9"/>
              <p:cNvSpPr/>
              <p:nvPr/>
            </p:nvSpPr>
            <p:spPr>
              <a:xfrm>
                <a:off x="4673" y="2861"/>
                <a:ext cx="313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8" name="Google Shape;598;p9"/>
              <p:cNvSpPr/>
              <p:nvPr/>
            </p:nvSpPr>
            <p:spPr>
              <a:xfrm>
                <a:off x="4616" y="2816"/>
                <a:ext cx="46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Low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599" name="Google Shape;599;p9"/>
              <p:cNvSpPr/>
              <p:nvPr/>
            </p:nvSpPr>
            <p:spPr>
              <a:xfrm>
                <a:off x="4673" y="3194"/>
                <a:ext cx="587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0" name="Google Shape;600;p9"/>
              <p:cNvSpPr/>
              <p:nvPr/>
            </p:nvSpPr>
            <p:spPr>
              <a:xfrm>
                <a:off x="4616" y="3149"/>
                <a:ext cx="744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Difficult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1" name="Google Shape;601;p9"/>
              <p:cNvSpPr/>
              <p:nvPr/>
            </p:nvSpPr>
            <p:spPr>
              <a:xfrm>
                <a:off x="4673" y="3527"/>
                <a:ext cx="313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2" name="Google Shape;602;p9"/>
              <p:cNvSpPr/>
              <p:nvPr/>
            </p:nvSpPr>
            <p:spPr>
              <a:xfrm>
                <a:off x="4616" y="3482"/>
                <a:ext cx="46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Low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603" name="Google Shape;603;p9"/>
            <p:cNvGrpSpPr/>
            <p:nvPr/>
          </p:nvGrpSpPr>
          <p:grpSpPr>
            <a:xfrm>
              <a:off x="432" y="3480"/>
              <a:ext cx="1746" cy="429"/>
              <a:chOff x="532" y="3503"/>
              <a:chExt cx="1746" cy="429"/>
            </a:xfrm>
          </p:grpSpPr>
          <p:sp>
            <p:nvSpPr>
              <p:cNvPr id="604" name="Google Shape;604;p9"/>
              <p:cNvSpPr/>
              <p:nvPr/>
            </p:nvSpPr>
            <p:spPr>
              <a:xfrm>
                <a:off x="589" y="3503"/>
                <a:ext cx="1689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5" name="Google Shape;605;p9"/>
              <p:cNvSpPr/>
              <p:nvPr/>
            </p:nvSpPr>
            <p:spPr>
              <a:xfrm>
                <a:off x="589" y="3670"/>
                <a:ext cx="1272" cy="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6" name="Google Shape;606;p9"/>
              <p:cNvSpPr/>
              <p:nvPr/>
            </p:nvSpPr>
            <p:spPr>
              <a:xfrm>
                <a:off x="532" y="3625"/>
                <a:ext cx="1514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quality problems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07" name="Google Shape;607;p9"/>
              <p:cNvSpPr/>
              <p:nvPr/>
            </p:nvSpPr>
            <p:spPr>
              <a:xfrm>
                <a:off x="542" y="3929"/>
                <a:ext cx="9" cy="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</p:grpSp>
      <p:cxnSp>
        <p:nvCxnSpPr>
          <p:cNvPr id="608" name="Google Shape;608;p9"/>
          <p:cNvCxnSpPr/>
          <p:nvPr/>
        </p:nvCxnSpPr>
        <p:spPr>
          <a:xfrm>
            <a:off x="304800" y="1693863"/>
            <a:ext cx="85344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"/>
          <p:cNvSpPr txBox="1"/>
          <p:nvPr>
            <p:ph type="body" idx="1"/>
          </p:nvPr>
        </p:nvSpPr>
        <p:spPr>
          <a:xfrm>
            <a:off x="342900" y="914400"/>
            <a:ext cx="8382000" cy="55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17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∙"/>
            </a:pPr>
            <a:r>
              <a:rPr lang="en-US"/>
              <a:t>Operations Management includes: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Forecasting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Capacity planning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Scheduling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Managing inventories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Assuring quality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Motivating employees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Deciding where to locate facilities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Supply Chain Management (SCM)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And more .</a:t>
            </a:r>
            <a:r>
              <a:rPr lang="en-US" sz="2800"/>
              <a:t> . .</a:t>
            </a:r>
            <a:endParaRPr lang="en-US" sz="2800"/>
          </a:p>
        </p:txBody>
      </p:sp>
      <p:sp>
        <p:nvSpPr>
          <p:cNvPr id="614" name="Google Shape;614;p10"/>
          <p:cNvSpPr/>
          <p:nvPr/>
        </p:nvSpPr>
        <p:spPr>
          <a:xfrm>
            <a:off x="0" y="190500"/>
            <a:ext cx="9144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Scope of Operations Management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"/>
          <p:cNvSpPr txBox="1"/>
          <p:nvPr>
            <p:ph type="title"/>
          </p:nvPr>
        </p:nvSpPr>
        <p:spPr>
          <a:xfrm>
            <a:off x="354013" y="258763"/>
            <a:ext cx="8018462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Operations Function</a:t>
            </a:r>
            <a:endParaRPr lang="en-US"/>
          </a:p>
        </p:txBody>
      </p:sp>
      <p:sp>
        <p:nvSpPr>
          <p:cNvPr id="620" name="Google Shape;620;p11"/>
          <p:cNvSpPr txBox="1"/>
          <p:nvPr>
            <p:ph type="body" idx="1"/>
          </p:nvPr>
        </p:nvSpPr>
        <p:spPr>
          <a:xfrm>
            <a:off x="0" y="1181100"/>
            <a:ext cx="9144000" cy="494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1775" lvl="0" indent="-2317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∙"/>
            </a:pPr>
            <a:r>
              <a:rPr lang="en-US"/>
              <a:t>The operations function</a:t>
            </a:r>
            <a:endParaRPr lang="en-US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Char char="∙"/>
            </a:pPr>
            <a:r>
              <a:rPr lang="en-US"/>
              <a:t>Consists of all activities directly related to producing </a:t>
            </a:r>
            <a:r>
              <a:rPr lang="en-US" b="1"/>
              <a:t>goods</a:t>
            </a:r>
            <a:r>
              <a:rPr lang="en-US"/>
              <a:t> or providing </a:t>
            </a:r>
            <a:r>
              <a:rPr lang="en-US" b="1"/>
              <a:t>services</a:t>
            </a:r>
            <a:endParaRPr lang="en-US" b="1"/>
          </a:p>
          <a:p>
            <a:pPr marL="567055" lvl="1" indent="-2190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Noto Sans Symbols"/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2"/>
          <p:cNvSpPr/>
          <p:nvPr/>
        </p:nvSpPr>
        <p:spPr>
          <a:xfrm>
            <a:off x="4114800" y="2286000"/>
            <a:ext cx="4686300" cy="3429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4114800" y="3048000"/>
            <a:ext cx="4686300" cy="639763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4114800" y="4114800"/>
            <a:ext cx="4686300" cy="3429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4114800" y="4826000"/>
            <a:ext cx="4686300" cy="365125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4114800" y="5600700"/>
            <a:ext cx="4686300" cy="342900"/>
          </a:xfrm>
          <a:prstGeom prst="rect">
            <a:avLst/>
          </a:prstGeom>
          <a:solidFill>
            <a:srgbClr val="FBFC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392113" y="419100"/>
            <a:ext cx="9132887" cy="57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0" y="190500"/>
            <a:ext cx="91440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4700"/>
              </a:buClr>
              <a:buSzPts val="3600"/>
              <a:buFont typeface="Century Gothic" panose="020B0502020202020204"/>
              <a:buNone/>
            </a:pPr>
            <a:r>
              <a:rPr lang="en-US" sz="3600" b="0" i="0" u="none" strike="noStrike" cap="none">
                <a:solidFill>
                  <a:srgbClr val="F84700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Types of Operations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632" name="Google Shape;632;p12"/>
          <p:cNvGrpSpPr/>
          <p:nvPr/>
        </p:nvGrpSpPr>
        <p:grpSpPr>
          <a:xfrm>
            <a:off x="228600" y="1333500"/>
            <a:ext cx="8591550" cy="5013325"/>
            <a:chOff x="156" y="1104"/>
            <a:chExt cx="5412" cy="3158"/>
          </a:xfrm>
        </p:grpSpPr>
        <p:sp>
          <p:nvSpPr>
            <p:cNvPr id="633" name="Google Shape;633;p12"/>
            <p:cNvSpPr/>
            <p:nvPr/>
          </p:nvSpPr>
          <p:spPr>
            <a:xfrm>
              <a:off x="892" y="1162"/>
              <a:ext cx="1243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672" y="1104"/>
              <a:ext cx="1286" cy="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8298"/>
                </a:buClr>
                <a:buSzPts val="3000"/>
                <a:buFont typeface="Noto Sans Symbols"/>
                <a:buNone/>
              </a:pPr>
              <a:r>
                <a:rPr lang="en-US" sz="3000" b="0" i="0" u="none" strike="noStrike" cap="none">
                  <a:solidFill>
                    <a:srgbClr val="14829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Operations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3576" y="1162"/>
              <a:ext cx="1116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3456" y="1104"/>
              <a:ext cx="1166" cy="3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8298"/>
                </a:buClr>
                <a:buSzPts val="3000"/>
                <a:buFont typeface="Noto Sans Symbols"/>
                <a:buNone/>
              </a:pPr>
              <a:r>
                <a:rPr lang="en-US" sz="3000" b="0" i="0" u="none" strike="noStrike" cap="none">
                  <a:solidFill>
                    <a:srgbClr val="14829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Examples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637" name="Google Shape;637;p12"/>
            <p:cNvGrpSpPr/>
            <p:nvPr/>
          </p:nvGrpSpPr>
          <p:grpSpPr>
            <a:xfrm>
              <a:off x="432" y="1442"/>
              <a:ext cx="5090" cy="2820"/>
              <a:chOff x="433" y="1384"/>
              <a:chExt cx="5090" cy="2820"/>
            </a:xfrm>
          </p:grpSpPr>
          <p:sp>
            <p:nvSpPr>
              <p:cNvPr id="638" name="Google Shape;638;p12"/>
              <p:cNvSpPr/>
              <p:nvPr/>
            </p:nvSpPr>
            <p:spPr>
              <a:xfrm>
                <a:off x="490" y="1399"/>
                <a:ext cx="1478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39" name="Google Shape;639;p12"/>
              <p:cNvSpPr/>
              <p:nvPr/>
            </p:nvSpPr>
            <p:spPr>
              <a:xfrm>
                <a:off x="433" y="1384"/>
                <a:ext cx="1599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Goods Producing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0" name="Google Shape;640;p12"/>
              <p:cNvSpPr/>
              <p:nvPr/>
            </p:nvSpPr>
            <p:spPr>
              <a:xfrm>
                <a:off x="2634" y="1399"/>
                <a:ext cx="2566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1" name="Google Shape;641;p12"/>
              <p:cNvSpPr/>
              <p:nvPr/>
            </p:nvSpPr>
            <p:spPr>
              <a:xfrm>
                <a:off x="2577" y="1384"/>
                <a:ext cx="2634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Farming, mining, construction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2" name="Google Shape;642;p12"/>
              <p:cNvSpPr/>
              <p:nvPr/>
            </p:nvSpPr>
            <p:spPr>
              <a:xfrm>
                <a:off x="5097" y="1384"/>
                <a:ext cx="167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,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3" name="Google Shape;643;p12"/>
              <p:cNvSpPr/>
              <p:nvPr/>
            </p:nvSpPr>
            <p:spPr>
              <a:xfrm>
                <a:off x="2634" y="1629"/>
                <a:ext cx="2803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4" name="Google Shape;644;p12"/>
              <p:cNvSpPr/>
              <p:nvPr/>
            </p:nvSpPr>
            <p:spPr>
              <a:xfrm>
                <a:off x="2577" y="1614"/>
                <a:ext cx="2924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manufacturing, power generation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5" name="Google Shape;645;p12"/>
              <p:cNvSpPr/>
              <p:nvPr/>
            </p:nvSpPr>
            <p:spPr>
              <a:xfrm>
                <a:off x="490" y="1860"/>
                <a:ext cx="1958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6" name="Google Shape;646;p12"/>
              <p:cNvSpPr/>
              <p:nvPr/>
            </p:nvSpPr>
            <p:spPr>
              <a:xfrm>
                <a:off x="433" y="1845"/>
                <a:ext cx="2079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Storage/Transportation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7" name="Google Shape;647;p12"/>
              <p:cNvSpPr/>
              <p:nvPr/>
            </p:nvSpPr>
            <p:spPr>
              <a:xfrm>
                <a:off x="2634" y="1860"/>
                <a:ext cx="2364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8" name="Google Shape;648;p12"/>
              <p:cNvSpPr/>
              <p:nvPr/>
            </p:nvSpPr>
            <p:spPr>
              <a:xfrm>
                <a:off x="2577" y="1845"/>
                <a:ext cx="2485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Warehousing, trucking, mail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49" name="Google Shape;649;p12"/>
              <p:cNvSpPr/>
              <p:nvPr/>
            </p:nvSpPr>
            <p:spPr>
              <a:xfrm>
                <a:off x="2634" y="2090"/>
                <a:ext cx="2501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0" name="Google Shape;650;p12"/>
              <p:cNvSpPr/>
              <p:nvPr/>
            </p:nvSpPr>
            <p:spPr>
              <a:xfrm>
                <a:off x="2577" y="2075"/>
                <a:ext cx="2622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service, moving, taxis, buses,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1" name="Google Shape;651;p12"/>
              <p:cNvSpPr/>
              <p:nvPr/>
            </p:nvSpPr>
            <p:spPr>
              <a:xfrm>
                <a:off x="2634" y="2320"/>
                <a:ext cx="1222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2" name="Google Shape;652;p12"/>
              <p:cNvSpPr/>
              <p:nvPr/>
            </p:nvSpPr>
            <p:spPr>
              <a:xfrm>
                <a:off x="2577" y="2305"/>
                <a:ext cx="1343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hotels, airlines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3" name="Google Shape;653;p12"/>
              <p:cNvSpPr/>
              <p:nvPr/>
            </p:nvSpPr>
            <p:spPr>
              <a:xfrm>
                <a:off x="490" y="2551"/>
                <a:ext cx="848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4" name="Google Shape;654;p12"/>
              <p:cNvSpPr/>
              <p:nvPr/>
            </p:nvSpPr>
            <p:spPr>
              <a:xfrm>
                <a:off x="433" y="2536"/>
                <a:ext cx="969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Exchange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5" name="Google Shape;655;p12"/>
              <p:cNvSpPr/>
              <p:nvPr/>
            </p:nvSpPr>
            <p:spPr>
              <a:xfrm>
                <a:off x="2634" y="2551"/>
                <a:ext cx="2687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6" name="Google Shape;656;p12"/>
              <p:cNvSpPr/>
              <p:nvPr/>
            </p:nvSpPr>
            <p:spPr>
              <a:xfrm>
                <a:off x="2577" y="2536"/>
                <a:ext cx="2081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Retailing, wholesaling, 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7" name="Google Shape;657;p12"/>
              <p:cNvSpPr/>
              <p:nvPr/>
            </p:nvSpPr>
            <p:spPr>
              <a:xfrm>
                <a:off x="2634" y="2781"/>
                <a:ext cx="2493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8" name="Google Shape;658;p12"/>
              <p:cNvSpPr/>
              <p:nvPr/>
            </p:nvSpPr>
            <p:spPr>
              <a:xfrm>
                <a:off x="2577" y="2766"/>
                <a:ext cx="2665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banking,</a:t>
                </a: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renting, library, loans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59" name="Google Shape;659;p12"/>
              <p:cNvSpPr/>
              <p:nvPr/>
            </p:nvSpPr>
            <p:spPr>
              <a:xfrm>
                <a:off x="490" y="3012"/>
                <a:ext cx="1189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0" name="Google Shape;660;p12"/>
              <p:cNvSpPr/>
              <p:nvPr/>
            </p:nvSpPr>
            <p:spPr>
              <a:xfrm>
                <a:off x="433" y="2997"/>
                <a:ext cx="1310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Entertainment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1" name="Google Shape;661;p12"/>
              <p:cNvSpPr/>
              <p:nvPr/>
            </p:nvSpPr>
            <p:spPr>
              <a:xfrm>
                <a:off x="2634" y="3012"/>
                <a:ext cx="2268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2" name="Google Shape;662;p12"/>
              <p:cNvSpPr/>
              <p:nvPr/>
            </p:nvSpPr>
            <p:spPr>
              <a:xfrm>
                <a:off x="2577" y="2997"/>
                <a:ext cx="2389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Films, radio and television,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3" name="Google Shape;663;p12"/>
              <p:cNvSpPr/>
              <p:nvPr/>
            </p:nvSpPr>
            <p:spPr>
              <a:xfrm>
                <a:off x="2634" y="3242"/>
                <a:ext cx="1627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4" name="Google Shape;664;p12"/>
              <p:cNvSpPr/>
              <p:nvPr/>
            </p:nvSpPr>
            <p:spPr>
              <a:xfrm>
                <a:off x="2577" y="3227"/>
                <a:ext cx="1748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concerts, recording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5" name="Google Shape;665;p12"/>
              <p:cNvSpPr/>
              <p:nvPr/>
            </p:nvSpPr>
            <p:spPr>
              <a:xfrm>
                <a:off x="490" y="3473"/>
                <a:ext cx="1329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6" name="Google Shape;666;p12"/>
              <p:cNvSpPr/>
              <p:nvPr/>
            </p:nvSpPr>
            <p:spPr>
              <a:xfrm>
                <a:off x="433" y="3458"/>
                <a:ext cx="1450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Communication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7" name="Google Shape;667;p12"/>
              <p:cNvSpPr/>
              <p:nvPr/>
            </p:nvSpPr>
            <p:spPr>
              <a:xfrm>
                <a:off x="2634" y="3473"/>
                <a:ext cx="2825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8" name="Google Shape;668;p12"/>
              <p:cNvSpPr/>
              <p:nvPr/>
            </p:nvSpPr>
            <p:spPr>
              <a:xfrm>
                <a:off x="2577" y="3458"/>
                <a:ext cx="2946" cy="2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Newspapers, radio and television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69" name="Google Shape;669;p12"/>
              <p:cNvSpPr/>
              <p:nvPr/>
            </p:nvSpPr>
            <p:spPr>
              <a:xfrm>
                <a:off x="2634" y="3703"/>
                <a:ext cx="2695" cy="2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670" name="Google Shape;670;p12"/>
              <p:cNvSpPr/>
              <p:nvPr/>
            </p:nvSpPr>
            <p:spPr>
              <a:xfrm>
                <a:off x="2577" y="3688"/>
                <a:ext cx="2634" cy="5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newscasts, email, telephone, 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Noto Sans Symbols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satellites</a:t>
                </a:r>
                <a:endPara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cxnSp>
          <p:nvCxnSpPr>
            <p:cNvPr id="671" name="Google Shape;671;p12"/>
            <p:cNvCxnSpPr/>
            <p:nvPr/>
          </p:nvCxnSpPr>
          <p:spPr>
            <a:xfrm>
              <a:off x="192" y="1920"/>
              <a:ext cx="5376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2" name="Google Shape;672;p12"/>
            <p:cNvCxnSpPr/>
            <p:nvPr/>
          </p:nvCxnSpPr>
          <p:spPr>
            <a:xfrm>
              <a:off x="192" y="2616"/>
              <a:ext cx="5376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3" name="Google Shape;673;p12"/>
            <p:cNvCxnSpPr/>
            <p:nvPr/>
          </p:nvCxnSpPr>
          <p:spPr>
            <a:xfrm>
              <a:off x="192" y="3072"/>
              <a:ext cx="5376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4" name="Google Shape;674;p12"/>
            <p:cNvCxnSpPr/>
            <p:nvPr/>
          </p:nvCxnSpPr>
          <p:spPr>
            <a:xfrm>
              <a:off x="156" y="3540"/>
              <a:ext cx="5376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5" name="Google Shape;675;p12"/>
            <p:cNvCxnSpPr/>
            <p:nvPr/>
          </p:nvCxnSpPr>
          <p:spPr>
            <a:xfrm>
              <a:off x="192" y="1428"/>
              <a:ext cx="5376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00312 Stevenson">
  <a:themeElements>
    <a:clrScheme name="200312 Stevenson 13">
      <a:dk1>
        <a:srgbClr val="000000"/>
      </a:dk1>
      <a:lt1>
        <a:srgbClr val="FBFCDF"/>
      </a:lt1>
      <a:dk2>
        <a:srgbClr val="F84700"/>
      </a:dk2>
      <a:lt2>
        <a:srgbClr val="808080"/>
      </a:lt2>
      <a:accent1>
        <a:srgbClr val="74B632"/>
      </a:accent1>
      <a:accent2>
        <a:srgbClr val="EFBE09"/>
      </a:accent2>
      <a:accent3>
        <a:srgbClr val="FDFDEC"/>
      </a:accent3>
      <a:accent4>
        <a:srgbClr val="000000"/>
      </a:accent4>
      <a:accent5>
        <a:srgbClr val="BCD7AD"/>
      </a:accent5>
      <a:accent6>
        <a:srgbClr val="D9AC07"/>
      </a:accent6>
      <a:hlink>
        <a:srgbClr val="148298"/>
      </a:hlink>
      <a:folHlink>
        <a:srgbClr val="F806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508 Lecture">
  <a:themeElements>
    <a:clrScheme name="Custom 7">
      <a:dk1>
        <a:srgbClr val="000000"/>
      </a:dk1>
      <a:lt1>
        <a:srgbClr val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2169</Words>
  <Application>WPS Presentation</Application>
  <PresentationFormat/>
  <Paragraphs>252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Times New Roman</vt:lpstr>
      <vt:lpstr>Noto Sans Symbols</vt:lpstr>
      <vt:lpstr>Segoe Print</vt:lpstr>
      <vt:lpstr>Century Gothic</vt:lpstr>
      <vt:lpstr>Verdana</vt:lpstr>
      <vt:lpstr>Microsoft YaHei</vt:lpstr>
      <vt:lpstr>Arial Unicode MS</vt:lpstr>
      <vt:lpstr>Office Theme</vt:lpstr>
      <vt:lpstr>200312 Stevenson</vt:lpstr>
      <vt:lpstr>1_508 Lecture</vt:lpstr>
      <vt:lpstr>Operations and Supply Chain Management   BUS102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Production of Goods vs. Delivery of Services</vt:lpstr>
      <vt:lpstr>PowerPoint 演示文稿</vt:lpstr>
      <vt:lpstr>PowerPoint 演示文稿</vt:lpstr>
      <vt:lpstr>Operations Function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and Supply Chain Management   BUS102</dc:title>
  <dc:creator>Chopra</dc:creator>
  <cp:lastModifiedBy>Zoeb-Ur- Rahman</cp:lastModifiedBy>
  <cp:revision>4</cp:revision>
  <dcterms:created xsi:type="dcterms:W3CDTF">2024-10-22T16:28:00Z</dcterms:created>
  <dcterms:modified xsi:type="dcterms:W3CDTF">2024-12-21T17:13:40Z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UniqueId">
    <vt:lpwstr>682739</vt:lpwstr>
  </property>
  <property fmtid="{D5CDD505-2E9C-101B-9397-08002B2CF9AE}" pid="3" name="Offisync_ServerID">
    <vt:lpwstr>7e960520-0e88-4f05-9fa0-24079b61e486</vt:lpwstr>
  </property>
  <property fmtid="{D5CDD505-2E9C-101B-9397-08002B2CF9AE}" pid="4" name="Offisync_UpdateToken">
    <vt:lpwstr>2</vt:lpwstr>
  </property>
  <property fmtid="{D5CDD505-2E9C-101B-9397-08002B2CF9AE}" pid="5" name="Jive_VersionGuid">
    <vt:lpwstr>2e874262-9747-49d3-bf1e-677aeb587663</vt:lpwstr>
  </property>
  <property fmtid="{D5CDD505-2E9C-101B-9397-08002B2CF9AE}" pid="6" name="Offisync_ProviderInitializationData">
    <vt:lpwstr>https://neo.pearson.com</vt:lpwstr>
  </property>
  <property fmtid="{D5CDD505-2E9C-101B-9397-08002B2CF9AE}" pid="7" name="Jive_LatestUserAccountName">
    <vt:lpwstr>joel</vt:lpwstr>
  </property>
  <property fmtid="{D5CDD505-2E9C-101B-9397-08002B2CF9AE}" pid="8" name="ICV">
    <vt:lpwstr>F9C7027C89D94DFCA1BAA2840B4B6CC0_13</vt:lpwstr>
  </property>
  <property fmtid="{D5CDD505-2E9C-101B-9397-08002B2CF9AE}" pid="9" name="KSOProductBuildVer">
    <vt:lpwstr>1033-12.2.0.19307</vt:lpwstr>
  </property>
</Properties>
</file>