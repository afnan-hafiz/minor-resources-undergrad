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8" r:id="rId4"/>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84539A5-1BCC-4E72-9A8D-9ECDA0AB841D}"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2" name="Google Shape;112;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7" name="Google Shape;127;p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 name="Google Shape;128;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3" name="Google Shape;143;p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 name="Google Shape;144;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9" name="Google Shape;159;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4" name="Google Shape;164;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0" name="Google Shape;170;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6" name="Google Shape;176;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82" name="Google Shape;182;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1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6" name="Google Shape;196;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02" name="Google Shape;202;p11: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a:solidFill>
                  <a:srgbClr val="000000"/>
                </a:solidFill>
                <a:latin typeface="Arial" panose="020B0604020202020204"/>
                <a:ea typeface="Arial" panose="020B0604020202020204"/>
                <a:cs typeface="Arial" panose="020B0604020202020204"/>
                <a:sym typeface="Arial" panose="020B0604020202020204"/>
              </a:rPr>
              <a:t>© 2013 Cengage Learning. All rights reserved. May not be copied, scanned, or duplicated, in whole or in part, except for use as permitted in a license distributed with a certain product or service or otherwise on a password-protected website for classroom use.</a:t>
            </a:r>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3" name="Google Shape;203;p1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r>
              <a:rPr lang="en-US" sz="1800" b="0" i="0" u="none">
                <a:solidFill>
                  <a:srgbClr val="000000"/>
                </a:solidFill>
                <a:latin typeface="Arial" panose="020B0604020202020204"/>
                <a:ea typeface="Arial" panose="020B0604020202020204"/>
                <a:cs typeface="Arial" panose="020B0604020202020204"/>
                <a:sym typeface="Arial" panose="020B0604020202020204"/>
              </a:rPr>
              <a:t>7–</a:t>
            </a: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11:notes"/>
          <p:cNvSpPr txBox="1"/>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a:solidFill>
                  <a:srgbClr val="000000"/>
                </a:solidFill>
                <a:latin typeface="Arial" panose="020B0604020202020204"/>
                <a:ea typeface="Arial" panose="020B0604020202020204"/>
                <a:cs typeface="Arial" panose="020B0604020202020204"/>
                <a:sym typeface="Arial" panose="020B0604020202020204"/>
              </a:rPr>
              <a:t>Management 11e</a:t>
            </a:r>
            <a:br>
              <a:rPr lang="en-US" sz="1800" b="0" i="0" u="none">
                <a:solidFill>
                  <a:srgbClr val="000000"/>
                </a:solidFill>
                <a:latin typeface="Arial" panose="020B0604020202020204"/>
                <a:ea typeface="Arial" panose="020B0604020202020204"/>
                <a:cs typeface="Arial" panose="020B0604020202020204"/>
                <a:sym typeface="Arial" panose="020B0604020202020204"/>
              </a:rPr>
            </a:br>
            <a:r>
              <a:rPr lang="en-US" sz="1800" b="0" i="0" u="none">
                <a:solidFill>
                  <a:srgbClr val="000000"/>
                </a:solidFill>
                <a:latin typeface="Arial" panose="020B0604020202020204"/>
                <a:ea typeface="Arial" panose="020B0604020202020204"/>
                <a:cs typeface="Arial" panose="020B0604020202020204"/>
                <a:sym typeface="Arial" panose="020B0604020202020204"/>
              </a:rPr>
              <a:t>Griffin</a:t>
            </a:r>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1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15" name="Google Shape;215;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29" name="Google Shape;229;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45" name="Google Shape;245;p1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7" name="Shape 257"/>
        <p:cNvGrpSpPr/>
        <p:nvPr/>
      </p:nvGrpSpPr>
      <p:grpSpPr>
        <a:xfrm>
          <a:off x="0" y="0"/>
          <a:ext cx="0" cy="0"/>
          <a:chOff x="0" y="0"/>
          <a:chExt cx="0" cy="0"/>
        </a:xfrm>
      </p:grpSpPr>
      <p:sp>
        <p:nvSpPr>
          <p:cNvPr id="258" name="Google Shape;258;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59" name="Google Shape;259;p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 name="Shape 271"/>
        <p:cNvGrpSpPr/>
        <p:nvPr/>
      </p:nvGrpSpPr>
      <p:grpSpPr>
        <a:xfrm>
          <a:off x="0" y="0"/>
          <a:ext cx="0" cy="0"/>
          <a:chOff x="0" y="0"/>
          <a:chExt cx="0" cy="0"/>
        </a:xfrm>
      </p:grpSpPr>
      <p:sp>
        <p:nvSpPr>
          <p:cNvPr id="272" name="Google Shape;272;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73" name="Google Shape;273;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matchingName="Title, Clip Art and Text">
  <p:cSld name="CLIPART_AND_TEXT">
    <p:spTree>
      <p:nvGrpSpPr>
        <p:cNvPr id="88" name="Shape 88"/>
        <p:cNvGrpSpPr/>
        <p:nvPr/>
      </p:nvGrpSpPr>
      <p:grpSpPr>
        <a:xfrm>
          <a:off x="0" y="0"/>
          <a:ext cx="0" cy="0"/>
          <a:chOff x="0" y="0"/>
          <a:chExt cx="0" cy="0"/>
        </a:xfrm>
      </p:grpSpPr>
      <p:sp>
        <p:nvSpPr>
          <p:cNvPr id="89" name="Google Shape;89;p40"/>
          <p:cNvSpPr txBox="1"/>
          <p:nvPr>
            <p:ph type="title"/>
          </p:nvPr>
        </p:nvSpPr>
        <p:spPr>
          <a:xfrm>
            <a:off x="309033" y="38100"/>
            <a:ext cx="11523133" cy="13557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40"/>
          <p:cNvSpPr/>
          <p:nvPr>
            <p:ph type="clipArt" idx="2"/>
          </p:nvPr>
        </p:nvSpPr>
        <p:spPr>
          <a:xfrm>
            <a:off x="359833" y="1393825"/>
            <a:ext cx="5607051" cy="49149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1" name="Google Shape;91;p40"/>
          <p:cNvSpPr txBox="1"/>
          <p:nvPr>
            <p:ph type="body" idx="1"/>
          </p:nvPr>
        </p:nvSpPr>
        <p:spPr>
          <a:xfrm>
            <a:off x="6170084" y="1393825"/>
            <a:ext cx="5609167" cy="4914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92" name="Google Shape;92;p40"/>
          <p:cNvSpPr txBox="1"/>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r>
              <a:rPr lang="en-US"/>
              <a:t>7-</a:t>
            </a: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6.GI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261303"/>
            <a:ext cx="9144000" cy="2387600"/>
          </a:xfrm>
        </p:spPr>
        <p:txBody>
          <a:bodyPr/>
          <a:p>
            <a:r>
              <a:rPr lang="en-GB" altLang="en-US"/>
              <a:t>Week-4</a:t>
            </a:r>
            <a:br>
              <a:rPr lang="en-GB" altLang="en-US"/>
            </a:br>
            <a:r>
              <a:rPr lang="en-GB" altLang="en-US"/>
              <a:t>Session-1 </a:t>
            </a:r>
            <a:endParaRPr lang="en-GB" altLang="en-US"/>
          </a:p>
        </p:txBody>
      </p:sp>
      <p:sp>
        <p:nvSpPr>
          <p:cNvPr id="3" name="Subtitle 2"/>
          <p:cNvSpPr>
            <a:spLocks noGrp="1"/>
          </p:cNvSpPr>
          <p:nvPr>
            <p:ph type="subTitle" idx="1"/>
          </p:nvPr>
        </p:nvSpPr>
        <p:spPr>
          <a:xfrm>
            <a:off x="1337945" y="2411095"/>
            <a:ext cx="9330055" cy="2846705"/>
          </a:xfrm>
        </p:spPr>
        <p:txBody>
          <a:bodyPr>
            <a:normAutofit/>
          </a:bodyPr>
          <a:p>
            <a:r>
              <a:rPr lang="en-US"/>
              <a:t>●Management and Leadership</a:t>
            </a:r>
            <a:endParaRPr lang="en-US"/>
          </a:p>
          <a:p>
            <a:r>
              <a:rPr lang="en-US"/>
              <a:t>oFour functions of management</a:t>
            </a:r>
            <a:endParaRPr lang="en-US"/>
          </a:p>
          <a:p>
            <a:r>
              <a:rPr lang="en-US"/>
              <a:t>-Sharing the vision</a:t>
            </a:r>
            <a:endParaRPr lang="en-US"/>
          </a:p>
          <a:p>
            <a:r>
              <a:rPr lang="en-US"/>
              <a:t>-Defining mission, goals &amp; objectives</a:t>
            </a:r>
            <a:endParaRPr lang="en-US"/>
          </a:p>
          <a:p>
            <a:r>
              <a:rPr lang="en-US"/>
              <a:t>-Types of planning</a:t>
            </a:r>
            <a:endParaRPr lang="en-US"/>
          </a:p>
          <a:p>
            <a:r>
              <a:rPr lang="en-US"/>
              <a:t>-Steps of decision making process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2"/>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115" name="Google Shape;115;p2"/>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16" name="Google Shape;116;p2"/>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17" name="Google Shape;117;p2"/>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118" name="Google Shape;118;p2"/>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119" name="Google Shape;119;p2"/>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Managers’ Roles Are Evolving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20" name="Google Shape;120;p2"/>
          <p:cNvSpPr txBox="1"/>
          <p:nvPr/>
        </p:nvSpPr>
        <p:spPr>
          <a:xfrm>
            <a:off x="2057400" y="1801812"/>
            <a:ext cx="4953000" cy="310642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800"/>
              <a:buFont typeface="Arial" panose="020B0604020202020204"/>
              <a:buChar char="•"/>
            </a:pPr>
            <a:r>
              <a:rPr lang="en-US" sz="2800" b="0" i="0" u="sng">
                <a:solidFill>
                  <a:schemeClr val="dk1"/>
                </a:solidFill>
                <a:latin typeface="Arial" panose="020B0604020202020204"/>
                <a:ea typeface="Arial" panose="020B0604020202020204"/>
                <a:cs typeface="Arial" panose="020B0604020202020204"/>
                <a:sym typeface="Arial" panose="020B0604020202020204"/>
              </a:rPr>
              <a:t>Management</a:t>
            </a:r>
            <a:r>
              <a:rPr lang="en-US" sz="2800" b="0" i="0" u="none">
                <a:solidFill>
                  <a:schemeClr val="dk1"/>
                </a:solidFill>
                <a:latin typeface="Arial" panose="020B0604020202020204"/>
                <a:ea typeface="Arial" panose="020B0604020202020204"/>
                <a:cs typeface="Arial" panose="020B0604020202020204"/>
                <a:sym typeface="Arial" panose="020B0604020202020204"/>
              </a:rPr>
              <a:t> is the process used to accomplish organizational goals through </a:t>
            </a:r>
            <a:r>
              <a:rPr lang="en-US" sz="2800" b="0" i="1" u="none">
                <a:solidFill>
                  <a:schemeClr val="dk1"/>
                </a:solidFill>
                <a:latin typeface="Arial" panose="020B0604020202020204"/>
                <a:ea typeface="Arial" panose="020B0604020202020204"/>
                <a:cs typeface="Arial" panose="020B0604020202020204"/>
                <a:sym typeface="Arial" panose="020B0604020202020204"/>
              </a:rPr>
              <a:t>planning, organizing, leading and controlling</a:t>
            </a:r>
            <a:r>
              <a:rPr lang="en-US" sz="2800" b="0" i="0" u="none">
                <a:solidFill>
                  <a:schemeClr val="dk1"/>
                </a:solidFill>
                <a:latin typeface="Arial" panose="020B0604020202020204"/>
                <a:ea typeface="Arial" panose="020B0604020202020204"/>
                <a:cs typeface="Arial" panose="020B0604020202020204"/>
                <a:sym typeface="Arial" panose="020B0604020202020204"/>
              </a:rPr>
              <a:t> people and other organizational resources.</a:t>
            </a:r>
            <a:endParaRPr lang="en-US" sz="2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21" name="Google Shape;121;p2"/>
          <p:cNvSpPr txBox="1"/>
          <p:nvPr>
            <p:ph type="ctrTitle"/>
          </p:nvPr>
        </p:nvSpPr>
        <p:spPr>
          <a:xfrm>
            <a:off x="2057400" y="762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TODAY’S MANAGEMENT</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22" name="Google Shape;122;p2"/>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LG1</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123" name="Google Shape;123;p2" descr="Woman.gif"/>
          <p:cNvPicPr preferRelativeResize="0"/>
          <p:nvPr/>
        </p:nvPicPr>
        <p:blipFill rotWithShape="1">
          <a:blip r:embed="rId1"/>
          <a:srcRect/>
          <a:stretch>
            <a:fillRect/>
          </a:stretch>
        </p:blipFill>
        <p:spPr>
          <a:xfrm>
            <a:off x="7010400" y="1917700"/>
            <a:ext cx="3473450" cy="3721100"/>
          </a:xfrm>
          <a:prstGeom prst="rect">
            <a:avLst/>
          </a:prstGeom>
          <a:noFill/>
          <a:ln>
            <a:noFill/>
          </a:ln>
        </p:spPr>
      </p:pic>
      <p:sp>
        <p:nvSpPr>
          <p:cNvPr id="124" name="Google Shape;124;p2"/>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3"/>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131" name="Google Shape;131;p3"/>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2" name="Google Shape;132;p3"/>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3" name="Google Shape;133;p3"/>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134" name="Google Shape;134;p3"/>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135" name="Google Shape;135;p3"/>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Four Functions</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of Management </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36" name="Google Shape;136;p3"/>
          <p:cNvSpPr txBox="1"/>
          <p:nvPr/>
        </p:nvSpPr>
        <p:spPr>
          <a:xfrm>
            <a:off x="2743200" y="2438400"/>
            <a:ext cx="2590800" cy="2444115"/>
          </a:xfrm>
          <a:prstGeom prst="rect">
            <a:avLst/>
          </a:prstGeom>
          <a:noFill/>
          <a:ln>
            <a:noFill/>
          </a:ln>
        </p:spPr>
        <p:txBody>
          <a:bodyPr spcFirstLastPara="1" wrap="square" lIns="91425" tIns="45700" rIns="91425" bIns="45700" anchor="t" anchorCtr="0">
            <a:spAutoFit/>
          </a:bodyPr>
          <a:lstStyle/>
          <a:p>
            <a:pPr marL="334645" marR="0" lvl="1" indent="-334645" algn="l" rtl="0">
              <a:lnSpc>
                <a:spcPct val="100000"/>
              </a:lnSpc>
              <a:spcBef>
                <a:spcPts val="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Planning</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34645" marR="0" lvl="1" indent="-334645" algn="l" rtl="0">
              <a:lnSpc>
                <a:spcPct val="100000"/>
              </a:lnSpc>
              <a:spcBef>
                <a:spcPts val="18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Organizing</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34645" marR="0" lvl="1" indent="-334645" algn="l" rtl="0">
              <a:lnSpc>
                <a:spcPct val="100000"/>
              </a:lnSpc>
              <a:spcBef>
                <a:spcPts val="18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Leading</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34645" marR="0" lvl="1" indent="-334645" algn="l" rtl="0">
              <a:lnSpc>
                <a:spcPct val="100000"/>
              </a:lnSpc>
              <a:spcBef>
                <a:spcPts val="18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Controlling</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37" name="Google Shape;137;p3"/>
          <p:cNvSpPr txBox="1"/>
          <p:nvPr>
            <p:ph type="ctrTitle"/>
          </p:nvPr>
        </p:nvSpPr>
        <p:spPr>
          <a:xfrm>
            <a:off x="19812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FOUR FUNCTIONS of </a:t>
            </a:r>
            <a:b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b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MANAGEMENT</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38" name="Google Shape;138;p3"/>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LG2</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139" name="Google Shape;139;p3" descr="New Manager.psd"/>
          <p:cNvPicPr preferRelativeResize="0"/>
          <p:nvPr/>
        </p:nvPicPr>
        <p:blipFill rotWithShape="1">
          <a:blip r:embed="rId1"/>
          <a:srcRect/>
          <a:stretch>
            <a:fillRect/>
          </a:stretch>
        </p:blipFill>
        <p:spPr>
          <a:xfrm>
            <a:off x="6057900" y="1844675"/>
            <a:ext cx="2628900" cy="4140200"/>
          </a:xfrm>
          <a:prstGeom prst="rect">
            <a:avLst/>
          </a:prstGeom>
          <a:noFill/>
          <a:ln>
            <a:noFill/>
          </a:ln>
        </p:spPr>
      </p:pic>
      <p:sp>
        <p:nvSpPr>
          <p:cNvPr id="140" name="Google Shape;140;p3"/>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5" name="Shape 145"/>
        <p:cNvGrpSpPr/>
        <p:nvPr/>
      </p:nvGrpSpPr>
      <p:grpSpPr>
        <a:xfrm>
          <a:off x="0" y="0"/>
          <a:ext cx="0" cy="0"/>
          <a:chOff x="0" y="0"/>
          <a:chExt cx="0" cy="0"/>
        </a:xfrm>
      </p:grpSpPr>
      <p:sp>
        <p:nvSpPr>
          <p:cNvPr id="146" name="Google Shape;146;p4"/>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147" name="Google Shape;147;p4"/>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48" name="Google Shape;148;p4"/>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49" name="Google Shape;149;p4"/>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150" name="Google Shape;150;p4"/>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151" name="Google Shape;151;p4"/>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Planning &amp; Decision Making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52" name="Google Shape;152;p4"/>
          <p:cNvSpPr txBox="1"/>
          <p:nvPr/>
        </p:nvSpPr>
        <p:spPr>
          <a:xfrm>
            <a:off x="2057400" y="1295400"/>
            <a:ext cx="5745162" cy="624586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a:buChar char="•"/>
            </a:pPr>
            <a:r>
              <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Vision -- </a:t>
            </a:r>
            <a:r>
              <a:rPr lang="en-US" sz="2400" b="0" i="1" u="none">
                <a:solidFill>
                  <a:srgbClr val="000000"/>
                </a:solidFill>
                <a:latin typeface="Helvetica Neue" panose="020B0604020202020204"/>
                <a:ea typeface="Helvetica Neue" panose="020B0604020202020204"/>
                <a:cs typeface="Helvetica Neue" panose="020B0604020202020204"/>
                <a:sym typeface="Helvetica Neue" panose="020B0604020202020204"/>
              </a:rPr>
              <a:t>More than a goal, it’s a broad explanation of why the organization exists and where it’s trying to go. (future)</a:t>
            </a:r>
            <a:endParaRPr lang="en-US" sz="24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0" indent="-342900" algn="l" rtl="0">
              <a:lnSpc>
                <a:spcPct val="100000"/>
              </a:lnSpc>
              <a:spcBef>
                <a:spcPts val="1800"/>
              </a:spcBef>
              <a:spcAft>
                <a:spcPts val="0"/>
              </a:spcAft>
              <a:buClr>
                <a:schemeClr val="dk1"/>
              </a:buClr>
              <a:buSzPts val="2400"/>
              <a:buFont typeface="Arial" panose="020B0604020202020204"/>
              <a:buChar char="•"/>
            </a:pPr>
            <a:r>
              <a:rPr lang="en-US" sz="2400" b="0" i="1" u="none">
                <a:solidFill>
                  <a:schemeClr val="dk1"/>
                </a:solidFill>
                <a:latin typeface="Arial" panose="020B0604020202020204"/>
                <a:ea typeface="Arial" panose="020B0604020202020204"/>
                <a:cs typeface="Arial" panose="020B0604020202020204"/>
                <a:sym typeface="Arial" panose="020B0604020202020204"/>
              </a:rPr>
              <a:t>A </a:t>
            </a:r>
            <a:r>
              <a:rPr lang="en-US" sz="2400" b="1" i="0" u="none">
                <a:solidFill>
                  <a:schemeClr val="dk1"/>
                </a:solidFill>
                <a:latin typeface="Arial" panose="020B0604020202020204"/>
                <a:ea typeface="Arial" panose="020B0604020202020204"/>
                <a:cs typeface="Arial" panose="020B0604020202020204"/>
                <a:sym typeface="Arial" panose="020B0604020202020204"/>
              </a:rPr>
              <a:t>mission statement </a:t>
            </a:r>
            <a:r>
              <a:rPr lang="en-US" sz="2400" b="0" i="1" u="none">
                <a:solidFill>
                  <a:schemeClr val="dk1"/>
                </a:solidFill>
                <a:latin typeface="Arial" panose="020B0604020202020204"/>
                <a:ea typeface="Arial" panose="020B0604020202020204"/>
                <a:cs typeface="Arial" panose="020B0604020202020204"/>
                <a:sym typeface="Arial" panose="020B0604020202020204"/>
              </a:rPr>
              <a:t>outlines the organization’s fundamental purposes. (present)</a:t>
            </a:r>
            <a:endParaRPr lang="en-US" sz="2400" b="0" i="1"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800"/>
              </a:spcBef>
              <a:spcAft>
                <a:spcPts val="0"/>
              </a:spcAft>
              <a:buClr>
                <a:schemeClr val="dk1"/>
              </a:buClr>
              <a:buSzPts val="2400"/>
              <a:buFont typeface="Arial" panose="020B0604020202020204"/>
              <a:buChar char="•"/>
            </a:pPr>
            <a:r>
              <a:rPr lang="en-US" sz="2400" b="1" i="0" u="none">
                <a:solidFill>
                  <a:schemeClr val="dk1"/>
                </a:solidFill>
                <a:latin typeface="Arial" panose="020B0604020202020204"/>
                <a:ea typeface="Arial" panose="020B0604020202020204"/>
                <a:cs typeface="Arial" panose="020B0604020202020204"/>
                <a:sym typeface="Arial" panose="020B0604020202020204"/>
              </a:rPr>
              <a:t>Goals</a:t>
            </a:r>
            <a:r>
              <a:rPr lang="en-US" sz="2400" b="0" i="1" u="none">
                <a:solidFill>
                  <a:schemeClr val="dk1"/>
                </a:solidFill>
                <a:latin typeface="Arial" panose="020B0604020202020204"/>
                <a:ea typeface="Arial" panose="020B0604020202020204"/>
                <a:cs typeface="Arial" panose="020B0604020202020204"/>
                <a:sym typeface="Arial" panose="020B0604020202020204"/>
              </a:rPr>
              <a:t> are the broad, long term accomplishments an organization wishes to attain</a:t>
            </a:r>
            <a:r>
              <a:rPr lang="en-US" sz="2800" b="0" i="0" u="none">
                <a:solidFill>
                  <a:schemeClr val="dk1"/>
                </a:solidFill>
                <a:latin typeface="Arial" panose="020B0604020202020204"/>
                <a:ea typeface="Arial" panose="020B0604020202020204"/>
                <a:cs typeface="Arial" panose="020B0604020202020204"/>
                <a:sym typeface="Arial" panose="020B0604020202020204"/>
              </a:rPr>
              <a:t>.</a:t>
            </a:r>
            <a:endParaRPr lang="en-US" sz="28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800"/>
              </a:spcBef>
              <a:spcAft>
                <a:spcPts val="0"/>
              </a:spcAft>
              <a:buClr>
                <a:schemeClr val="dk1"/>
              </a:buClr>
              <a:buSzPts val="2400"/>
              <a:buFont typeface="Arial" panose="020B0604020202020204"/>
              <a:buChar char="•"/>
            </a:pPr>
            <a:r>
              <a:rPr lang="en-US" sz="2400" b="1" i="0" u="none">
                <a:solidFill>
                  <a:schemeClr val="dk1"/>
                </a:solidFill>
                <a:latin typeface="Arial" panose="020B0604020202020204"/>
                <a:ea typeface="Arial" panose="020B0604020202020204"/>
                <a:cs typeface="Arial" panose="020B0604020202020204"/>
                <a:sym typeface="Arial" panose="020B0604020202020204"/>
              </a:rPr>
              <a:t>Objectives</a:t>
            </a:r>
            <a:r>
              <a:rPr lang="en-US" sz="2400" b="0" i="1" u="none">
                <a:solidFill>
                  <a:schemeClr val="dk1"/>
                </a:solidFill>
                <a:latin typeface="Arial" panose="020B0604020202020204"/>
                <a:ea typeface="Arial" panose="020B0604020202020204"/>
                <a:cs typeface="Arial" panose="020B0604020202020204"/>
                <a:sym typeface="Arial" panose="020B0604020202020204"/>
              </a:rPr>
              <a:t> are specific, short term statements detailing how to achieve the organization’s goals.</a:t>
            </a:r>
            <a:endParaRPr lang="en-US" sz="2400" b="0" i="1"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800"/>
              </a:spcBef>
              <a:spcAft>
                <a:spcPts val="0"/>
              </a:spcAft>
              <a:buNone/>
            </a:pPr>
            <a:endParaRPr sz="2400" b="0" i="1"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3" name="Google Shape;153;p4"/>
          <p:cNvSpPr txBox="1"/>
          <p:nvPr>
            <p:ph type="ctrTitle"/>
          </p:nvPr>
        </p:nvSpPr>
        <p:spPr>
          <a:xfrm>
            <a:off x="1905000" y="762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SHARING the VISION</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54" name="Google Shape;154;p4"/>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155" name="Google Shape;155;p4" descr="Manager.gif"/>
          <p:cNvPicPr preferRelativeResize="0"/>
          <p:nvPr/>
        </p:nvPicPr>
        <p:blipFill rotWithShape="1">
          <a:blip r:embed="rId1"/>
          <a:srcRect/>
          <a:stretch>
            <a:fillRect/>
          </a:stretch>
        </p:blipFill>
        <p:spPr>
          <a:xfrm>
            <a:off x="7803092" y="1798638"/>
            <a:ext cx="2864908" cy="4297362"/>
          </a:xfrm>
          <a:prstGeom prst="rect">
            <a:avLst/>
          </a:prstGeom>
          <a:noFill/>
          <a:ln>
            <a:noFill/>
          </a:ln>
        </p:spPr>
      </p:pic>
      <p:sp>
        <p:nvSpPr>
          <p:cNvPr id="156" name="Google Shape;156;p4"/>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60" name="Shape 160"/>
        <p:cNvGrpSpPr/>
        <p:nvPr/>
      </p:nvGrpSpPr>
      <p:grpSpPr>
        <a:xfrm>
          <a:off x="0" y="0"/>
          <a:ext cx="0" cy="0"/>
          <a:chOff x="0" y="0"/>
          <a:chExt cx="0" cy="0"/>
        </a:xfrm>
      </p:grpSpPr>
      <p:sp>
        <p:nvSpPr>
          <p:cNvPr id="161" name="Google Shape;161;p5"/>
          <p:cNvSpPr txBox="1"/>
          <p:nvPr/>
        </p:nvSpPr>
        <p:spPr>
          <a:xfrm>
            <a:off x="3124200" y="844550"/>
            <a:ext cx="7543800" cy="47986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1" i="0" u="none">
                <a:solidFill>
                  <a:schemeClr val="dk1"/>
                </a:solidFill>
                <a:latin typeface="Arial" panose="020B0604020202020204"/>
                <a:ea typeface="Arial" panose="020B0604020202020204"/>
                <a:cs typeface="Arial" panose="020B0604020202020204"/>
                <a:sym typeface="Arial" panose="020B0604020202020204"/>
              </a:rPr>
              <a:t>BRAC</a:t>
            </a:r>
            <a:endParaRPr lang="en-US"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1" i="0" u="none">
                <a:solidFill>
                  <a:schemeClr val="dk1"/>
                </a:solidFill>
                <a:latin typeface="Arial" panose="020B0604020202020204"/>
                <a:ea typeface="Arial" panose="020B0604020202020204"/>
                <a:cs typeface="Arial" panose="020B0604020202020204"/>
                <a:sym typeface="Arial" panose="020B0604020202020204"/>
              </a:rPr>
              <a:t>Our Vision</a:t>
            </a:r>
            <a:endParaRPr lang="en-US"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A world free from all forms of exploitation and discrimination where everyone has the opportunity to realise their potential. </a:t>
            </a:r>
            <a:r>
              <a:rPr lang="en-US" sz="1800" b="1" i="0" u="none">
                <a:solidFill>
                  <a:schemeClr val="dk1"/>
                </a:solidFill>
                <a:latin typeface="Arial" panose="020B0604020202020204"/>
                <a:ea typeface="Arial" panose="020B0604020202020204"/>
                <a:cs typeface="Arial" panose="020B0604020202020204"/>
                <a:sym typeface="Arial" panose="020B0604020202020204"/>
              </a:rPr>
              <a:t> </a:t>
            </a:r>
            <a:endParaRPr sz="18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1" i="0" u="none">
                <a:solidFill>
                  <a:schemeClr val="dk1"/>
                </a:solidFill>
                <a:latin typeface="Arial" panose="020B0604020202020204"/>
                <a:ea typeface="Arial" panose="020B0604020202020204"/>
                <a:cs typeface="Arial" panose="020B0604020202020204"/>
                <a:sym typeface="Arial" panose="020B0604020202020204"/>
              </a:rPr>
              <a:t>Our Mission </a:t>
            </a:r>
            <a:endParaRPr lang="en-US"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Our mission is to empower people and communities in situations of poverty, illiteracy, disease and social injustice. Our interventions aim to achieve large scale, positive changes through economic and social programmes that enable men and women to realise their potential.</a:t>
            </a:r>
            <a:endParaRPr lang="en-US" sz="18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1" i="0" u="none">
                <a:solidFill>
                  <a:schemeClr val="dk1"/>
                </a:solidFill>
                <a:latin typeface="Arial" panose="020B0604020202020204"/>
                <a:ea typeface="Arial" panose="020B0604020202020204"/>
                <a:cs typeface="Arial" panose="020B0604020202020204"/>
                <a:sym typeface="Arial" panose="020B0604020202020204"/>
              </a:rPr>
              <a:t>Our Values </a:t>
            </a:r>
            <a:endParaRPr lang="en-US" sz="1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Innovation</a:t>
            </a:r>
            <a:endParaRPr lang="en-US" sz="18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Integrity</a:t>
            </a:r>
            <a:endParaRPr lang="en-US" sz="18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Inclusiveness</a:t>
            </a:r>
            <a:endParaRPr lang="en-US" sz="18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a:solidFill>
                  <a:schemeClr val="dk1"/>
                </a:solidFill>
                <a:latin typeface="Arial" panose="020B0604020202020204"/>
                <a:ea typeface="Arial" panose="020B0604020202020204"/>
                <a:cs typeface="Arial" panose="020B0604020202020204"/>
                <a:sym typeface="Arial" panose="020B0604020202020204"/>
              </a:rPr>
              <a:t>Effectiveness</a:t>
            </a:r>
            <a:endParaRPr lang="en-US" sz="1800" b="0" i="0" u="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6"/>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sz="4400">
                <a:solidFill>
                  <a:schemeClr val="dk1"/>
                </a:solidFill>
                <a:latin typeface="Calibri" panose="020F0502020204030204"/>
                <a:ea typeface="Calibri" panose="020F0502020204030204"/>
                <a:cs typeface="Calibri" panose="020F0502020204030204"/>
                <a:sym typeface="Calibri" panose="020F0502020204030204"/>
              </a:rPr>
              <a:t>Vision</a:t>
            </a:r>
            <a:endParaRPr lang="en-GB"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7" name="Google Shape;167;p6"/>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panose="020B0604020202020204"/>
              <a:buChar char="•"/>
            </a:pPr>
            <a:r>
              <a:rPr lang="en-US" sz="3200" b="1" i="0" u="none" strike="noStrike" cap="none">
                <a:solidFill>
                  <a:schemeClr val="dk1"/>
                </a:solidFill>
                <a:latin typeface="Calibri" panose="020F0502020204030204"/>
                <a:ea typeface="Calibri" panose="020F0502020204030204"/>
                <a:cs typeface="Calibri" panose="020F0502020204030204"/>
                <a:sym typeface="Calibri" panose="020F0502020204030204"/>
              </a:rPr>
              <a:t>Amazon </a:t>
            </a:r>
            <a:endParaRPr lang="en-US" sz="32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640"/>
              </a:spcBef>
              <a:spcAft>
                <a:spcPts val="0"/>
              </a:spcAft>
              <a:buClr>
                <a:schemeClr val="dk1"/>
              </a:buClr>
              <a:buSzPts val="3200"/>
              <a:buFont typeface="Arial" panose="020B0604020202020204"/>
              <a:buChar char="•"/>
            </a:pPr>
            <a:r>
              <a:rPr lang="en-US" sz="3200" b="0" i="0" u="none" strike="noStrike" cap="none">
                <a:solidFill>
                  <a:schemeClr val="dk1"/>
                </a:solidFill>
                <a:latin typeface="Calibri" panose="020F0502020204030204"/>
                <a:ea typeface="Calibri" panose="020F0502020204030204"/>
                <a:cs typeface="Calibri" panose="020F0502020204030204"/>
                <a:sym typeface="Calibri" panose="020F0502020204030204"/>
              </a:rPr>
              <a:t>"Our [Amazon's] vision is to be earth's most customer centric company; to build a place where people can come to find and discover anything they might want to buy online."</a:t>
            </a:r>
            <a:endParaRPr lang="en-US"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39700" algn="l" rtl="0">
              <a:spcBef>
                <a:spcPts val="640"/>
              </a:spcBef>
              <a:spcAft>
                <a:spcPts val="0"/>
              </a:spcAft>
              <a:buClr>
                <a:schemeClr val="dk1"/>
              </a:buClr>
              <a:buSzPts val="3200"/>
              <a:buFont typeface="Arial" panose="020B0604020202020204"/>
              <a:buNone/>
            </a:pPr>
            <a:endParaRPr sz="32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1" name="Shape 171"/>
        <p:cNvGrpSpPr/>
        <p:nvPr/>
      </p:nvGrpSpPr>
      <p:grpSpPr>
        <a:xfrm>
          <a:off x="0" y="0"/>
          <a:ext cx="0" cy="0"/>
          <a:chOff x="0" y="0"/>
          <a:chExt cx="0" cy="0"/>
        </a:xfrm>
      </p:grpSpPr>
      <p:sp>
        <p:nvSpPr>
          <p:cNvPr id="172" name="Google Shape;172;p7"/>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sz="4400">
                <a:solidFill>
                  <a:schemeClr val="dk1"/>
                </a:solidFill>
                <a:latin typeface="Calibri" panose="020F0502020204030204"/>
                <a:ea typeface="Calibri" panose="020F0502020204030204"/>
                <a:cs typeface="Calibri" panose="020F0502020204030204"/>
                <a:sym typeface="Calibri" panose="020F0502020204030204"/>
              </a:rPr>
              <a:t>Mission</a:t>
            </a:r>
            <a:endParaRPr lang="en-GB"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3" name="Google Shape;173;p7"/>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panose="020B0604020202020204"/>
              <a:buChar char="•"/>
            </a:pPr>
            <a:r>
              <a:rPr lang="en-US" sz="3200" b="1" i="0" u="none">
                <a:solidFill>
                  <a:schemeClr val="dk1"/>
                </a:solidFill>
                <a:latin typeface="Calibri" panose="020F0502020204030204"/>
                <a:ea typeface="Calibri" panose="020F0502020204030204"/>
                <a:cs typeface="Calibri" panose="020F0502020204030204"/>
                <a:sym typeface="Calibri" panose="020F0502020204030204"/>
              </a:rPr>
              <a:t>MISSION</a:t>
            </a:r>
            <a:br>
              <a:rPr lang="en-US" sz="3200" b="0" i="0" u="none">
                <a:solidFill>
                  <a:schemeClr val="dk1"/>
                </a:solidFill>
                <a:latin typeface="Calibri" panose="020F0502020204030204"/>
                <a:ea typeface="Calibri" panose="020F0502020204030204"/>
                <a:cs typeface="Calibri" panose="020F0502020204030204"/>
                <a:sym typeface="Calibri" panose="020F0502020204030204"/>
              </a:rPr>
            </a:br>
            <a:r>
              <a:rPr lang="en-US" sz="3200" b="0" i="0" u="none">
                <a:solidFill>
                  <a:schemeClr val="dk1"/>
                </a:solidFill>
                <a:latin typeface="Calibri" panose="020F0502020204030204"/>
                <a:ea typeface="Calibri" panose="020F0502020204030204"/>
                <a:cs typeface="Calibri" panose="020F0502020204030204"/>
                <a:sym typeface="Calibri" panose="020F0502020204030204"/>
              </a:rPr>
              <a:t>The mission of BRAC University is to foster the national development process through the creation of a centre of excellence in higher education that is responsive to society's needs, and able to develop creative leaders and actively contributes to learning and creation of knowledge. - See more at: http://www.bracu.ac.bd/about#sthash.z6eMkYZA.dpuf</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39700" algn="l" rtl="0">
              <a:spcBef>
                <a:spcPts val="640"/>
              </a:spcBef>
              <a:spcAft>
                <a:spcPts val="0"/>
              </a:spcAft>
              <a:buClr>
                <a:schemeClr val="dk1"/>
              </a:buClr>
              <a:buSzPts val="3200"/>
              <a:buFont typeface="Arial" panose="020B0604020202020204"/>
              <a:buNone/>
            </a:pPr>
            <a:endParaRPr sz="32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178" name="Google Shape;178;p8"/>
          <p:cNvSpPr txBox="1"/>
          <p:nvPr>
            <p:ph type="title"/>
          </p:nvPr>
        </p:nvSpPr>
        <p:spPr>
          <a:xfrm>
            <a:off x="1981200" y="304800"/>
            <a:ext cx="8229600" cy="236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alibri" panose="020F0502020204030204"/>
              <a:buNone/>
            </a:pPr>
            <a:r>
              <a:rPr lang="en-US" sz="2800" b="0" i="0" u="none">
                <a:solidFill>
                  <a:schemeClr val="dk1"/>
                </a:solidFill>
                <a:latin typeface="Calibri" panose="020F0502020204030204"/>
                <a:ea typeface="Calibri" panose="020F0502020204030204"/>
                <a:cs typeface="Calibri" panose="020F0502020204030204"/>
                <a:sym typeface="Calibri" panose="020F0502020204030204"/>
              </a:rPr>
              <a:t>Growing sales revenue in North America can be considered a goal.  </a:t>
            </a: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r>
              <a:rPr lang="en-US" sz="2800" b="0" i="0" u="none">
                <a:solidFill>
                  <a:schemeClr val="dk1"/>
                </a:solidFill>
                <a:latin typeface="Calibri" panose="020F0502020204030204"/>
                <a:ea typeface="Calibri" panose="020F0502020204030204"/>
                <a:cs typeface="Calibri" panose="020F0502020204030204"/>
                <a:sym typeface="Calibri" panose="020F0502020204030204"/>
              </a:rPr>
              <a:t>Expanding your distribution network is an objective used to reach the goal of raising company revenue.</a:t>
            </a: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endParaRPr lang="en-US" sz="28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8"/>
          <p:cNvSpPr txBox="1"/>
          <p:nvPr>
            <p:ph type="body" idx="1"/>
          </p:nvPr>
        </p:nvSpPr>
        <p:spPr>
          <a:xfrm>
            <a:off x="1981200" y="28194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panose="020B0604020202020204"/>
              <a:buChar char="•"/>
            </a:pPr>
            <a:r>
              <a:rPr lang="en-US" sz="2800" b="0" i="1" u="none">
                <a:solidFill>
                  <a:schemeClr val="dk1"/>
                </a:solidFill>
                <a:latin typeface="Calibri" panose="020F0502020204030204"/>
                <a:ea typeface="Calibri" panose="020F0502020204030204"/>
                <a:cs typeface="Calibri" panose="020F0502020204030204"/>
                <a:sym typeface="Calibri" panose="020F0502020204030204"/>
              </a:rPr>
              <a:t>Examples of Goals and Objectives</a:t>
            </a: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r>
              <a:rPr lang="en-US" sz="2800" b="0" i="0" u="none">
                <a:solidFill>
                  <a:schemeClr val="dk1"/>
                </a:solidFill>
                <a:latin typeface="Calibri" panose="020F0502020204030204"/>
                <a:ea typeface="Calibri" panose="020F0502020204030204"/>
                <a:cs typeface="Calibri" panose="020F0502020204030204"/>
                <a:sym typeface="Calibri" panose="020F0502020204030204"/>
              </a:rPr>
              <a:t>Goals ‘“ I want to be a better cricket player. I want to learn more about Chinese history. I want to maximize my professional performance.</a:t>
            </a: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endParaRPr lang="en-US" sz="2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560"/>
              </a:spcBef>
              <a:spcAft>
                <a:spcPts val="0"/>
              </a:spcAft>
              <a:buClr>
                <a:schemeClr val="dk1"/>
              </a:buClr>
              <a:buSzPts val="2800"/>
              <a:buFont typeface="Arial" panose="020B0604020202020204"/>
              <a:buChar char="•"/>
            </a:pPr>
            <a:r>
              <a:rPr lang="en-US" sz="2800" b="0" i="0" u="none">
                <a:solidFill>
                  <a:schemeClr val="dk1"/>
                </a:solidFill>
                <a:latin typeface="Calibri" panose="020F0502020204030204"/>
                <a:ea typeface="Calibri" panose="020F0502020204030204"/>
                <a:cs typeface="Calibri" panose="020F0502020204030204"/>
                <a:sym typeface="Calibri" panose="020F0502020204030204"/>
              </a:rPr>
              <a:t>Objectives ‘“ I want to memorize the periodic table before my next quiz. I want to increase my sales by 10% this month. I want learn to play ‘Freebird’ on the guitar.</a:t>
            </a: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br>
              <a:rPr lang="en-US" sz="2800" b="0" i="0" u="none">
                <a:solidFill>
                  <a:schemeClr val="dk1"/>
                </a:solidFill>
                <a:latin typeface="Calibri" panose="020F0502020204030204"/>
                <a:ea typeface="Calibri" panose="020F0502020204030204"/>
                <a:cs typeface="Calibri" panose="020F0502020204030204"/>
                <a:sym typeface="Calibri" panose="020F0502020204030204"/>
              </a:rPr>
            </a:br>
            <a:endParaRPr lang="en-US" sz="2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65100" algn="l" rtl="0">
              <a:spcBef>
                <a:spcPts val="560"/>
              </a:spcBef>
              <a:spcAft>
                <a:spcPts val="0"/>
              </a:spcAft>
              <a:buClr>
                <a:schemeClr val="dk1"/>
              </a:buClr>
              <a:buSzPts val="2800"/>
              <a:buFont typeface="Arial" panose="020B0604020202020204"/>
              <a:buNone/>
            </a:pPr>
            <a:endParaRPr sz="28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9"/>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185" name="Google Shape;185;p9"/>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86" name="Google Shape;186;p9"/>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87" name="Google Shape;187;p9"/>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188" name="Google Shape;188;p9"/>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189" name="Google Shape;189;p9"/>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Planning &amp; Decision Making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0" name="Google Shape;190;p9"/>
          <p:cNvSpPr txBox="1"/>
          <p:nvPr/>
        </p:nvSpPr>
        <p:spPr>
          <a:xfrm>
            <a:off x="2057400" y="1905000"/>
            <a:ext cx="8077200" cy="4275455"/>
          </a:xfrm>
          <a:prstGeom prst="rect">
            <a:avLst/>
          </a:prstGeom>
          <a:noFill/>
          <a:ln>
            <a:noFill/>
          </a:ln>
        </p:spPr>
        <p:txBody>
          <a:bodyPr spcFirstLastPara="1" wrap="square" lIns="91425" tIns="45700" rIns="91425" bIns="45700" anchor="t" anchorCtr="0">
            <a:spAutoFit/>
          </a:bodyPr>
          <a:lstStyle/>
          <a:p>
            <a:pPr marL="342900" marR="0" lvl="1" indent="-342900" algn="l" rtl="0">
              <a:lnSpc>
                <a:spcPct val="100000"/>
              </a:lnSpc>
              <a:spcBef>
                <a:spcPts val="0"/>
              </a:spcBef>
              <a:spcAft>
                <a:spcPts val="0"/>
              </a:spcAft>
              <a:buClr>
                <a:srgbClr val="000000"/>
              </a:buClr>
              <a:buSzPts val="2700"/>
              <a:buFont typeface="Arial" panose="020B0604020202020204"/>
              <a:buChar char="•"/>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What is the situation now?</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920750" marR="0" lvl="2" indent="-342900" algn="l" rtl="0">
              <a:lnSpc>
                <a:spcPct val="100000"/>
              </a:lnSpc>
              <a:spcBef>
                <a:spcPts val="600"/>
              </a:spcBef>
              <a:spcAft>
                <a:spcPts val="0"/>
              </a:spcAft>
              <a:buClr>
                <a:srgbClr val="000000"/>
              </a:buClr>
              <a:buSzPts val="2700"/>
              <a:buFont typeface="Helvetica Neue" panose="020B0604020202020204"/>
              <a:buNone/>
            </a:pPr>
            <a:r>
              <a:rPr lang="en-US" sz="27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SWOT Analysis </a:t>
            </a:r>
            <a:r>
              <a:rPr lang="en-US" sz="25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 </a:t>
            </a:r>
            <a:r>
              <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Analyzes the organization’s </a:t>
            </a:r>
            <a:r>
              <a:rPr lang="en-US" sz="2300" b="1" i="1" u="sng"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S</a:t>
            </a:r>
            <a:r>
              <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trengths, </a:t>
            </a:r>
            <a:r>
              <a:rPr lang="en-US" sz="2300" b="1" i="1" u="sng"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W</a:t>
            </a:r>
            <a:r>
              <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eaknesses, </a:t>
            </a:r>
            <a:r>
              <a:rPr lang="en-US" sz="2300" b="1" i="1" u="sng"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O</a:t>
            </a:r>
            <a:r>
              <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pportunities and </a:t>
            </a:r>
            <a:r>
              <a:rPr lang="en-US" sz="2300" b="1" i="1" u="sng"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T</a:t>
            </a:r>
            <a:r>
              <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hreats.</a:t>
            </a:r>
            <a:endParaRPr lang="en-US" sz="23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1" indent="-342900" algn="l" rtl="0">
              <a:lnSpc>
                <a:spcPct val="100000"/>
              </a:lnSpc>
              <a:spcBef>
                <a:spcPts val="2400"/>
              </a:spcBef>
              <a:spcAft>
                <a:spcPts val="0"/>
              </a:spcAft>
              <a:buClr>
                <a:srgbClr val="000000"/>
              </a:buClr>
              <a:buSzPts val="2700"/>
              <a:buFont typeface="Arial" panose="020B0604020202020204"/>
              <a:buChar char="•"/>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How can we get to our goal from here?</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920750" marR="0" lvl="2" indent="-342900" algn="l" rtl="0">
              <a:lnSpc>
                <a:spcPct val="100000"/>
              </a:lnSpc>
              <a:spcBef>
                <a:spcPts val="600"/>
              </a:spcBef>
              <a:spcAft>
                <a:spcPts val="0"/>
              </a:spcAft>
              <a:buClr>
                <a:srgbClr val="000000"/>
              </a:buClr>
              <a:buSzPts val="2500"/>
              <a:buFont typeface="Merriweather Sans"/>
              <a:buChar char="-"/>
            </a:pPr>
            <a:r>
              <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Strategic planning</a:t>
            </a:r>
            <a:endPar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920750" marR="0" lvl="2" indent="-342900" algn="l" rtl="0">
              <a:lnSpc>
                <a:spcPct val="100000"/>
              </a:lnSpc>
              <a:spcBef>
                <a:spcPts val="600"/>
              </a:spcBef>
              <a:spcAft>
                <a:spcPts val="0"/>
              </a:spcAft>
              <a:buClr>
                <a:srgbClr val="000000"/>
              </a:buClr>
              <a:buSzPts val="2500"/>
              <a:buFont typeface="Merriweather Sans"/>
              <a:buChar char="-"/>
            </a:pPr>
            <a:r>
              <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Tactical planning</a:t>
            </a:r>
            <a:endPar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920750" marR="0" lvl="2" indent="-342900" algn="l" rtl="0">
              <a:lnSpc>
                <a:spcPct val="100000"/>
              </a:lnSpc>
              <a:spcBef>
                <a:spcPts val="600"/>
              </a:spcBef>
              <a:spcAft>
                <a:spcPts val="0"/>
              </a:spcAft>
              <a:buClr>
                <a:srgbClr val="000000"/>
              </a:buClr>
              <a:buSzPts val="2500"/>
              <a:buFont typeface="Merriweather Sans"/>
              <a:buChar char="-"/>
            </a:pPr>
            <a:r>
              <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Operational planning</a:t>
            </a:r>
            <a:endPar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920750" marR="0" lvl="2" indent="-342900" algn="l" rtl="0">
              <a:lnSpc>
                <a:spcPct val="100000"/>
              </a:lnSpc>
              <a:spcBef>
                <a:spcPts val="600"/>
              </a:spcBef>
              <a:spcAft>
                <a:spcPts val="0"/>
              </a:spcAft>
              <a:buClr>
                <a:srgbClr val="000000"/>
              </a:buClr>
              <a:buSzPts val="2500"/>
              <a:buFont typeface="Merriweather Sans"/>
              <a:buChar char="-"/>
            </a:pPr>
            <a:r>
              <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Contingency planning</a:t>
            </a:r>
            <a:endParaRPr lang="en-US" sz="25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1" name="Google Shape;191;p9"/>
          <p:cNvSpPr txBox="1"/>
          <p:nvPr>
            <p:ph type="ctrTitle"/>
          </p:nvPr>
        </p:nvSpPr>
        <p:spPr>
          <a:xfrm>
            <a:off x="19050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PLANNING ANSWERS </a:t>
            </a:r>
            <a:b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b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FUNDAMENTAL QUESTIONS</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2" name="Google Shape;192;p9"/>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3" name="Google Shape;193;p9"/>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10"/>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139700" algn="ctr" rtl="0">
              <a:spcBef>
                <a:spcPts val="0"/>
              </a:spcBef>
              <a:spcAft>
                <a:spcPts val="0"/>
              </a:spcAft>
              <a:buClr>
                <a:schemeClr val="dk1"/>
              </a:buClr>
              <a:buSzPts val="3200"/>
              <a:buFont typeface="Arial" panose="020B0604020202020204"/>
              <a:buNone/>
            </a:pPr>
            <a:r>
              <a:rPr lang="en-GB" sz="3200">
                <a:solidFill>
                  <a:schemeClr val="dk1"/>
                </a:solidFill>
                <a:latin typeface="Calibri" panose="020F0502020204030204"/>
                <a:ea typeface="Calibri" panose="020F0502020204030204"/>
                <a:cs typeface="Calibri" panose="020F0502020204030204"/>
                <a:sym typeface="Calibri" panose="020F0502020204030204"/>
              </a:rPr>
              <a:t>SWOT</a:t>
            </a:r>
            <a:endParaRPr lang="en-GB" sz="3200">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199" name="Google Shape;199;p10"/>
          <p:cNvGraphicFramePr/>
          <p:nvPr/>
        </p:nvGraphicFramePr>
        <p:xfrm>
          <a:off x="2209800" y="1981200"/>
          <a:ext cx="7772400" cy="4495165"/>
        </p:xfrm>
        <a:graphic>
          <a:graphicData uri="http://schemas.openxmlformats.org/drawingml/2006/table">
            <a:tbl>
              <a:tblPr>
                <a:noFill/>
                <a:tableStyleId>{C84539A5-1BCC-4E72-9A8D-9ECDA0AB841D}</a:tableStyleId>
              </a:tblPr>
              <a:tblGrid>
                <a:gridCol w="3886200"/>
                <a:gridCol w="3886200"/>
              </a:tblGrid>
              <a:tr h="2331085">
                <a:tc>
                  <a:txBody>
                    <a:bodyPr/>
                    <a:lstStyle/>
                    <a:p>
                      <a:pPr marL="0" marR="0" lvl="0" indent="0" algn="l" rtl="0">
                        <a:lnSpc>
                          <a:spcPct val="100000"/>
                        </a:lnSpc>
                        <a:spcBef>
                          <a:spcPts val="0"/>
                        </a:spcBef>
                        <a:spcAft>
                          <a:spcPts val="0"/>
                        </a:spcAft>
                        <a:buClr>
                          <a:srgbClr val="FF0000"/>
                        </a:buClr>
                        <a:buSzPts val="1800"/>
                        <a:buFont typeface="Arial" panose="020B0604020202020204"/>
                        <a:buNone/>
                      </a:pP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Potential Strengths</a:t>
                      </a:r>
                      <a:endPar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FEFED6"/>
                        </a:buClr>
                        <a:buSzPts val="1800"/>
                        <a:buFont typeface="Arial" panose="020B0604020202020204"/>
                        <a:buChar char="•"/>
                      </a:pPr>
                      <a:r>
                        <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rPr>
                        <a:t> Market leadership</a:t>
                      </a:r>
                      <a:endPar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FEFED6"/>
                        </a:buClr>
                        <a:buSzPts val="1800"/>
                        <a:buFont typeface="Arial" panose="020B0604020202020204"/>
                        <a:buChar char="•"/>
                      </a:pPr>
                      <a:r>
                        <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rPr>
                        <a:t> Strong research and development</a:t>
                      </a:r>
                      <a:endPar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FEFED6"/>
                        </a:buClr>
                        <a:buSzPts val="1800"/>
                        <a:buFont typeface="Arial" panose="020B0604020202020204"/>
                        <a:buChar char="•"/>
                      </a:pPr>
                      <a:r>
                        <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rPr>
                        <a:t> High-quality products</a:t>
                      </a:r>
                      <a:endPar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FEFED6"/>
                        </a:buClr>
                        <a:buSzPts val="1800"/>
                        <a:buFont typeface="Arial" panose="020B0604020202020204"/>
                        <a:buChar char="•"/>
                      </a:pPr>
                      <a:r>
                        <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rPr>
                        <a:t>Cost advantages</a:t>
                      </a:r>
                      <a:endPar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FEFED6"/>
                        </a:buClr>
                        <a:buSzPts val="1800"/>
                        <a:buFont typeface="Arial" panose="020B0604020202020204"/>
                        <a:buChar char="•"/>
                      </a:pPr>
                      <a:r>
                        <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rPr>
                        <a:t>Patents</a:t>
                      </a:r>
                      <a:endParaRPr lang="en-US" sz="1800" b="1" i="0" u="none" strike="noStrike" cap="none">
                        <a:solidFill>
                          <a:srgbClr val="FEFED6"/>
                        </a:solidFill>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0000"/>
                        </a:buClr>
                        <a:buSzPts val="1800"/>
                        <a:buFont typeface="Arial" panose="020B0604020202020204"/>
                        <a:buNone/>
                      </a:pP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Potential Weaknesses</a:t>
                      </a:r>
                      <a:endPar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Large inventories</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 Excess capacity for markets</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 Management turnover</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 Weak market image</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 Lack of management depth</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 </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r>
              <a:tr h="2164080">
                <a:tc>
                  <a:txBody>
                    <a:bodyPr/>
                    <a:lstStyle/>
                    <a:p>
                      <a:pPr marL="0" marR="0" lvl="0" indent="0" algn="l" rtl="0">
                        <a:lnSpc>
                          <a:spcPct val="100000"/>
                        </a:lnSpc>
                        <a:spcBef>
                          <a:spcPts val="0"/>
                        </a:spcBef>
                        <a:spcAft>
                          <a:spcPts val="0"/>
                        </a:spcAft>
                        <a:buClr>
                          <a:srgbClr val="FF0000"/>
                        </a:buClr>
                        <a:buSzPts val="1800"/>
                        <a:buFont typeface="Arial" panose="020B0604020202020204"/>
                        <a:buNone/>
                      </a:pP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Potential Opportunities</a:t>
                      </a:r>
                      <a:endPar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New overseas markets</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Falling trade barriers</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Competitors failing</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Diversification</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Economy rebounding</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E8DB"/>
                    </a:solidFill>
                  </a:tcPr>
                </a:tc>
                <a:tc>
                  <a:txBody>
                    <a:bodyPr/>
                    <a:lstStyle/>
                    <a:p>
                      <a:pPr marL="0" marR="0" lvl="0" indent="0" algn="l" rtl="0">
                        <a:lnSpc>
                          <a:spcPct val="100000"/>
                        </a:lnSpc>
                        <a:spcBef>
                          <a:spcPts val="0"/>
                        </a:spcBef>
                        <a:spcAft>
                          <a:spcPts val="0"/>
                        </a:spcAft>
                        <a:buClr>
                          <a:srgbClr val="FF0000"/>
                        </a:buClr>
                        <a:buSzPts val="1800"/>
                        <a:buFont typeface="Arial" panose="020B0604020202020204"/>
                        <a:buNone/>
                      </a:pP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Potential Threats</a:t>
                      </a:r>
                      <a:endPar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Market saturation</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Threat of takeover</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Low-cost foreign competition</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Slower market growth</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8383AD"/>
                        </a:buClr>
                        <a:buSzPts val="1800"/>
                        <a:buFont typeface="Arial" panose="020B0604020202020204"/>
                        <a:buChar char="•"/>
                      </a:pPr>
                      <a:r>
                        <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rPr>
                        <a:t> Growing government regulation</a:t>
                      </a:r>
                      <a:endParaRPr lang="en-US" sz="1800" b="1" i="0" u="none" strike="noStrike" cap="none">
                        <a:solidFill>
                          <a:srgbClr val="8383AD"/>
                        </a:solidFill>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E8D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pic>
        <p:nvPicPr>
          <p:cNvPr id="207" name="Google Shape;207;p11" descr="1439080992-007-F002"/>
          <p:cNvPicPr preferRelativeResize="0"/>
          <p:nvPr/>
        </p:nvPicPr>
        <p:blipFill rotWithShape="1">
          <a:blip r:embed="rId1"/>
          <a:srcRect/>
          <a:stretch>
            <a:fillRect/>
          </a:stretch>
        </p:blipFill>
        <p:spPr>
          <a:xfrm>
            <a:off x="3657600" y="320675"/>
            <a:ext cx="7576185" cy="6033770"/>
          </a:xfrm>
          <a:prstGeom prst="rect">
            <a:avLst/>
          </a:prstGeom>
          <a:noFill/>
          <a:ln>
            <a:noFill/>
          </a:ln>
        </p:spPr>
      </p:pic>
      <p:sp>
        <p:nvSpPr>
          <p:cNvPr id="208" name="Google Shape;208;p11"/>
          <p:cNvSpPr txBox="1"/>
          <p:nvPr/>
        </p:nvSpPr>
        <p:spPr>
          <a:xfrm>
            <a:off x="9571037" y="6354762"/>
            <a:ext cx="731837" cy="36671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r>
              <a:rPr lang="en-US" sz="1200" b="0" i="0" u="none">
                <a:solidFill>
                  <a:srgbClr val="898989"/>
                </a:solidFill>
                <a:latin typeface="Calibri" panose="020F0502020204030204"/>
                <a:ea typeface="Calibri" panose="020F0502020204030204"/>
                <a:cs typeface="Calibri" panose="020F0502020204030204"/>
                <a:sym typeface="Calibri" panose="020F0502020204030204"/>
              </a:rPr>
              <a:t>7–</a:t>
            </a: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209" name="Google Shape;209;p11"/>
          <p:cNvPicPr preferRelativeResize="0"/>
          <p:nvPr/>
        </p:nvPicPr>
        <p:blipFill rotWithShape="1">
          <a:blip r:embed="rId2"/>
          <a:srcRect/>
          <a:stretch>
            <a:fillRect/>
          </a:stretch>
        </p:blipFill>
        <p:spPr>
          <a:xfrm>
            <a:off x="1889125" y="395287"/>
            <a:ext cx="788987" cy="263525"/>
          </a:xfrm>
          <a:prstGeom prst="rect">
            <a:avLst/>
          </a:prstGeom>
          <a:noFill/>
          <a:ln>
            <a:noFill/>
          </a:ln>
        </p:spPr>
      </p:pic>
      <p:cxnSp>
        <p:nvCxnSpPr>
          <p:cNvPr id="210" name="Google Shape;210;p11"/>
          <p:cNvCxnSpPr/>
          <p:nvPr/>
        </p:nvCxnSpPr>
        <p:spPr>
          <a:xfrm>
            <a:off x="1889125" y="685800"/>
            <a:ext cx="1646237" cy="0"/>
          </a:xfrm>
          <a:prstGeom prst="straightConnector1">
            <a:avLst/>
          </a:prstGeom>
          <a:noFill/>
          <a:ln w="19050" cap="flat" cmpd="sng">
            <a:solidFill>
              <a:schemeClr val="dk1"/>
            </a:solidFill>
            <a:prstDash val="solid"/>
            <a:miter lim="800000"/>
            <a:headEnd type="none" w="med" len="med"/>
            <a:tailEnd type="none" w="med" len="med"/>
          </a:ln>
        </p:spPr>
      </p:cxnSp>
      <p:sp>
        <p:nvSpPr>
          <p:cNvPr id="211" name="Google Shape;211;p11"/>
          <p:cNvSpPr txBox="1"/>
          <p:nvPr/>
        </p:nvSpPr>
        <p:spPr>
          <a:xfrm>
            <a:off x="1798637" y="685800"/>
            <a:ext cx="2833687" cy="10134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953735"/>
              </a:buClr>
              <a:buSzPts val="2000"/>
              <a:buFont typeface="Tahoma" panose="020B0604030504040204"/>
              <a:buNone/>
            </a:pPr>
            <a:r>
              <a:rPr lang="en-US" sz="2000" b="0" i="0" u="none">
                <a:solidFill>
                  <a:srgbClr val="953735"/>
                </a:solidFill>
                <a:latin typeface="Tahoma" panose="020B0604030504040204"/>
                <a:ea typeface="Tahoma" panose="020B0604030504040204"/>
                <a:cs typeface="Tahoma" panose="020B0604030504040204"/>
                <a:sym typeface="Tahoma" panose="020B0604030504040204"/>
              </a:rPr>
              <a:t>Kinds of Organizational Goals for a Regional Fast-Food Chain</a:t>
            </a:r>
            <a:endParaRPr lang="en-US" sz="2000" b="0" i="0" u="none">
              <a:solidFill>
                <a:srgbClr val="953735"/>
              </a:solidFill>
              <a:latin typeface="Tahoma" panose="020B0604030504040204"/>
              <a:ea typeface="Tahoma" panose="020B0604030504040204"/>
              <a:cs typeface="Tahoma" panose="020B0604030504040204"/>
              <a:sym typeface="Tahoma" panose="020B0604030504040204"/>
            </a:endParaRPr>
          </a:p>
        </p:txBody>
      </p:sp>
      <p:sp>
        <p:nvSpPr>
          <p:cNvPr id="212" name="Google Shape;212;p11"/>
          <p:cNvSpPr txBox="1"/>
          <p:nvPr/>
        </p:nvSpPr>
        <p:spPr>
          <a:xfrm>
            <a:off x="2713037" y="323850"/>
            <a:ext cx="822325" cy="397510"/>
          </a:xfrm>
          <a:prstGeom prst="rect">
            <a:avLst/>
          </a:prstGeom>
          <a:noFill/>
          <a:ln>
            <a:noFill/>
          </a:ln>
        </p:spPr>
        <p:txBody>
          <a:bodyPr spcFirstLastPara="1" wrap="square" lIns="91425" tIns="45700" rIns="91425" bIns="45700" anchor="t" anchorCtr="0">
            <a:spAutoFit/>
          </a:bodyPr>
          <a:lstStyle/>
          <a:p>
            <a:pPr marL="463550" marR="0" lvl="0" indent="-463550" algn="l" rtl="0">
              <a:lnSpc>
                <a:spcPct val="100000"/>
              </a:lnSpc>
              <a:spcBef>
                <a:spcPts val="0"/>
              </a:spcBef>
              <a:spcAft>
                <a:spcPts val="0"/>
              </a:spcAft>
              <a:buClr>
                <a:schemeClr val="dk1"/>
              </a:buClr>
              <a:buSzPts val="2000"/>
              <a:buFont typeface="Calibri" panose="020F0502020204030204"/>
              <a:buNone/>
            </a:pPr>
            <a:r>
              <a:rPr lang="en-US" sz="2000" b="1" i="0" u="none">
                <a:solidFill>
                  <a:schemeClr val="dk1"/>
                </a:solidFill>
                <a:latin typeface="Calibri" panose="020F0502020204030204"/>
                <a:ea typeface="Calibri" panose="020F0502020204030204"/>
                <a:cs typeface="Calibri" panose="020F0502020204030204"/>
                <a:sym typeface="Calibri" panose="020F0502020204030204"/>
              </a:rPr>
              <a:t>7.2</a:t>
            </a:r>
            <a:endParaRPr lang="en-US" sz="2000" b="1"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12"/>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218" name="Google Shape;218;p12"/>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19" name="Google Shape;219;p12"/>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20" name="Google Shape;220;p12"/>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221" name="Google Shape;221;p12"/>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22" name="Google Shape;222;p12"/>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Planning &amp; Decision Making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23" name="Google Shape;223;p12"/>
          <p:cNvSpPr txBox="1"/>
          <p:nvPr/>
        </p:nvSpPr>
        <p:spPr>
          <a:xfrm>
            <a:off x="2057400" y="2106612"/>
            <a:ext cx="8077200" cy="399859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700"/>
              <a:buFont typeface="Arial" panose="020B0604020202020204"/>
              <a:buChar char="•"/>
            </a:pPr>
            <a:r>
              <a:rPr lang="en-US" sz="27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Strategic Planning -- </a:t>
            </a:r>
            <a:r>
              <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rPr>
              <a:t>Done by top management and determines the major goals of the organization and the policies, procedures, strategies and resources it will need to achieve them.</a:t>
            </a:r>
            <a:endPar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0" indent="-342900" algn="l" rtl="0">
              <a:lnSpc>
                <a:spcPct val="100000"/>
              </a:lnSpc>
              <a:spcBef>
                <a:spcPts val="3000"/>
              </a:spcBef>
              <a:spcAft>
                <a:spcPts val="0"/>
              </a:spcAft>
              <a:buClr>
                <a:srgbClr val="000000"/>
              </a:buClr>
              <a:buSzPts val="2700"/>
              <a:buFont typeface="Arial" panose="020B0604020202020204"/>
              <a:buChar char="•"/>
            </a:pPr>
            <a:r>
              <a:rPr lang="en-US" sz="27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Tactical Planning -- </a:t>
            </a:r>
            <a:r>
              <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rPr>
              <a:t>The process of developing detailed, short-term statements about what is to be done, who is to do it and how.</a:t>
            </a:r>
            <a:endPar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24" name="Google Shape;224;p12"/>
          <p:cNvSpPr txBox="1"/>
          <p:nvPr>
            <p:ph type="ctrTitle"/>
          </p:nvPr>
        </p:nvSpPr>
        <p:spPr>
          <a:xfrm>
            <a:off x="18288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STRATEGIC and TACTICAL </a:t>
            </a:r>
            <a:b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b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PLANNING</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25" name="Google Shape;225;p12"/>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26" name="Google Shape;226;p12"/>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13"/>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232" name="Google Shape;232;p13"/>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33" name="Google Shape;233;p13"/>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34" name="Google Shape;234;p13"/>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235" name="Google Shape;235;p13"/>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36" name="Google Shape;236;p13"/>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Planning &amp; Decision Making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37" name="Google Shape;237;p13"/>
          <p:cNvSpPr txBox="1"/>
          <p:nvPr/>
        </p:nvSpPr>
        <p:spPr>
          <a:xfrm>
            <a:off x="2057400" y="1905000"/>
            <a:ext cx="7924800" cy="165925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700"/>
              <a:buFont typeface="Arial" panose="020B0604020202020204"/>
              <a:buChar char="•"/>
            </a:pPr>
            <a:r>
              <a:rPr lang="en-US" sz="27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Operational Planning -- </a:t>
            </a:r>
            <a:r>
              <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rPr>
              <a:t>The process of setting work standards and schedules necessary to implement the company’s tactical objectives.</a:t>
            </a:r>
            <a:endPar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38" name="Google Shape;238;p13"/>
          <p:cNvSpPr txBox="1"/>
          <p:nvPr>
            <p:ph type="ctrTitle"/>
          </p:nvPr>
        </p:nvSpPr>
        <p:spPr>
          <a:xfrm>
            <a:off x="16764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000"/>
              <a:buFont typeface="Helvetica Neue" panose="020B0604020202020204"/>
              <a:buNone/>
            </a:pPr>
            <a:r>
              <a:rPr lang="en-US" sz="30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OPERATIONAL and CONTINGENCY PLANNING</a:t>
            </a:r>
            <a:endParaRPr lang="en-US" sz="30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39" name="Google Shape;239;p13"/>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40" name="Google Shape;240;p13" descr="NYC Cops.gif"/>
          <p:cNvPicPr preferRelativeResize="0"/>
          <p:nvPr/>
        </p:nvPicPr>
        <p:blipFill rotWithShape="1">
          <a:blip r:embed="rId1"/>
          <a:srcRect/>
          <a:stretch>
            <a:fillRect/>
          </a:stretch>
        </p:blipFill>
        <p:spPr>
          <a:xfrm>
            <a:off x="6591300" y="3352800"/>
            <a:ext cx="3467100" cy="2730500"/>
          </a:xfrm>
          <a:prstGeom prst="rect">
            <a:avLst/>
          </a:prstGeom>
          <a:noFill/>
          <a:ln>
            <a:noFill/>
          </a:ln>
        </p:spPr>
      </p:pic>
      <p:sp>
        <p:nvSpPr>
          <p:cNvPr id="241" name="Google Shape;241;p13"/>
          <p:cNvSpPr txBox="1"/>
          <p:nvPr/>
        </p:nvSpPr>
        <p:spPr>
          <a:xfrm>
            <a:off x="2057400" y="3387725"/>
            <a:ext cx="4724400" cy="319849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700"/>
              <a:buFont typeface="Arial" panose="020B0604020202020204"/>
              <a:buChar char="•"/>
            </a:pPr>
            <a:r>
              <a:rPr lang="en-US" sz="27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Contingency Planning -- </a:t>
            </a:r>
            <a:r>
              <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rPr>
              <a:t>The process of preparing alternative courses of action the firm can use if its primary plans don’t work out.</a:t>
            </a:r>
            <a:endParaRPr lang="en-US"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3000"/>
              </a:spcBef>
              <a:spcAft>
                <a:spcPts val="0"/>
              </a:spcAft>
              <a:buNone/>
            </a:pPr>
            <a:endParaRPr sz="25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42" name="Google Shape;242;p13"/>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14"/>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248" name="Google Shape;248;p14"/>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49" name="Google Shape;249;p14"/>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50" name="Google Shape;250;p14"/>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251" name="Google Shape;251;p14"/>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52" name="Google Shape;252;p14"/>
          <p:cNvSpPr txBox="1"/>
          <p:nvPr/>
        </p:nvSpPr>
        <p:spPr>
          <a:xfrm>
            <a:off x="8839200" y="603250"/>
            <a:ext cx="1828800"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Planning &amp; Decision Making</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53" name="Google Shape;253;p14"/>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54" name="Google Shape;254;p14"/>
          <p:cNvSpPr txBox="1"/>
          <p:nvPr>
            <p:ph type="ctrTitle"/>
          </p:nvPr>
        </p:nvSpPr>
        <p:spPr>
          <a:xfrm>
            <a:off x="1981200" y="762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PLANNING FUNCTIONS</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55" name="Google Shape;255;p14" descr="F704.psd"/>
          <p:cNvPicPr preferRelativeResize="0"/>
          <p:nvPr/>
        </p:nvPicPr>
        <p:blipFill rotWithShape="1">
          <a:blip r:embed="rId1"/>
          <a:srcRect/>
          <a:stretch>
            <a:fillRect/>
          </a:stretch>
        </p:blipFill>
        <p:spPr>
          <a:xfrm>
            <a:off x="3244850" y="1828800"/>
            <a:ext cx="5594350" cy="3857625"/>
          </a:xfrm>
          <a:prstGeom prst="rect">
            <a:avLst/>
          </a:prstGeom>
          <a:noFill/>
          <a:ln>
            <a:noFill/>
          </a:ln>
        </p:spPr>
      </p:pic>
      <p:sp>
        <p:nvSpPr>
          <p:cNvPr id="256" name="Google Shape;256;p14"/>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60" name="Shape 260"/>
        <p:cNvGrpSpPr/>
        <p:nvPr/>
      </p:nvGrpSpPr>
      <p:grpSpPr>
        <a:xfrm>
          <a:off x="0" y="0"/>
          <a:ext cx="0" cy="0"/>
          <a:chOff x="0" y="0"/>
          <a:chExt cx="0" cy="0"/>
        </a:xfrm>
      </p:grpSpPr>
      <p:sp>
        <p:nvSpPr>
          <p:cNvPr id="261" name="Google Shape;261;p15"/>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262" name="Google Shape;262;p15"/>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63" name="Google Shape;263;p15"/>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64" name="Google Shape;264;p15"/>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265" name="Google Shape;265;p15"/>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66" name="Google Shape;266;p15"/>
          <p:cNvSpPr txBox="1"/>
          <p:nvPr/>
        </p:nvSpPr>
        <p:spPr>
          <a:xfrm>
            <a:off x="8839200" y="533400"/>
            <a:ext cx="1828800" cy="782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500"/>
              <a:buFont typeface="Helvetica Neue" panose="020B0604020202020204"/>
              <a:buNone/>
            </a:pPr>
            <a:r>
              <a:rPr lang="en-US" sz="15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Decision Making: Finding the Best Alternative</a:t>
            </a:r>
            <a:endParaRPr lang="en-US" sz="15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67" name="Google Shape;267;p15"/>
          <p:cNvSpPr txBox="1"/>
          <p:nvPr/>
        </p:nvSpPr>
        <p:spPr>
          <a:xfrm>
            <a:off x="2057400" y="1739900"/>
            <a:ext cx="8077200" cy="4645025"/>
          </a:xfrm>
          <a:prstGeom prst="rect">
            <a:avLst/>
          </a:prstGeom>
          <a:noFill/>
          <a:ln>
            <a:noFill/>
          </a:ln>
        </p:spPr>
        <p:txBody>
          <a:bodyPr spcFirstLastPara="1" wrap="square" lIns="91425" tIns="45700" rIns="91425" bIns="45700" anchor="t" anchorCtr="0">
            <a:spAutoFit/>
          </a:bodyPr>
          <a:lstStyle/>
          <a:p>
            <a:pPr marL="518795" marR="0" lvl="2" indent="-518795" algn="l" rtl="0">
              <a:lnSpc>
                <a:spcPct val="100000"/>
              </a:lnSpc>
              <a:spcBef>
                <a:spcPts val="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Define the situation.</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Describe and collect needed information.</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Develop alternatives.</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Develop agreement among those involved.</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Decide which alternative is best.</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Do what is indicated.</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518795" marR="0" lvl="2" indent="-518795" algn="l" rtl="0">
              <a:lnSpc>
                <a:spcPct val="100000"/>
              </a:lnSpc>
              <a:spcBef>
                <a:spcPts val="1600"/>
              </a:spcBef>
              <a:spcAft>
                <a:spcPts val="0"/>
              </a:spcAft>
              <a:buClr>
                <a:srgbClr val="000000"/>
              </a:buClr>
              <a:buSzPts val="2700"/>
              <a:buFont typeface="Calibri" panose="020F0502020204030204"/>
              <a:buAutoNum type="arabicPeriod"/>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Determine whether the decision was a good one and follow up.</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68" name="Google Shape;268;p15"/>
          <p:cNvSpPr txBox="1"/>
          <p:nvPr>
            <p:ph type="ctrTitle"/>
          </p:nvPr>
        </p:nvSpPr>
        <p:spPr>
          <a:xfrm>
            <a:off x="18288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RATIONAL DECISION-MAKING </a:t>
            </a:r>
            <a:b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b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MODEL (7D’s)</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69" name="Google Shape;269;p15"/>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70" name="Google Shape;270;p15"/>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74" name="Shape 274"/>
        <p:cNvGrpSpPr/>
        <p:nvPr/>
      </p:nvGrpSpPr>
      <p:grpSpPr>
        <a:xfrm>
          <a:off x="0" y="0"/>
          <a:ext cx="0" cy="0"/>
          <a:chOff x="0" y="0"/>
          <a:chExt cx="0" cy="0"/>
        </a:xfrm>
      </p:grpSpPr>
      <p:sp>
        <p:nvSpPr>
          <p:cNvPr id="275" name="Google Shape;275;p16"/>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276" name="Google Shape;276;p16"/>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77" name="Google Shape;277;p16"/>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78" name="Google Shape;278;p16"/>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279" name="Google Shape;279;p16"/>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80" name="Google Shape;280;p16"/>
          <p:cNvSpPr txBox="1"/>
          <p:nvPr/>
        </p:nvSpPr>
        <p:spPr>
          <a:xfrm>
            <a:off x="8839200" y="533400"/>
            <a:ext cx="1828800" cy="782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500"/>
              <a:buFont typeface="Helvetica Neue" panose="020B0604020202020204"/>
              <a:buNone/>
            </a:pPr>
            <a:r>
              <a:rPr lang="en-US" sz="15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Decision Making: Finding the Best Alternative</a:t>
            </a:r>
            <a:endParaRPr lang="en-US" sz="15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81" name="Google Shape;281;p16"/>
          <p:cNvSpPr txBox="1"/>
          <p:nvPr/>
        </p:nvSpPr>
        <p:spPr>
          <a:xfrm>
            <a:off x="2057400" y="1739900"/>
            <a:ext cx="8077200" cy="4378325"/>
          </a:xfrm>
          <a:prstGeom prst="rect">
            <a:avLst/>
          </a:prstGeom>
          <a:noFill/>
          <a:ln>
            <a:noFill/>
          </a:ln>
        </p:spPr>
        <p:txBody>
          <a:bodyPr spcFirstLastPara="1" wrap="square" lIns="91425" tIns="45700" rIns="91425" bIns="45700" anchor="t" anchorCtr="0">
            <a:spAutoFit/>
          </a:bodyPr>
          <a:lstStyle/>
          <a:p>
            <a:pPr marL="518795" marR="0" lvl="2" indent="-518795" algn="l" rtl="0">
              <a:lnSpc>
                <a:spcPct val="100000"/>
              </a:lnSpc>
              <a:spcBef>
                <a:spcPts val="0"/>
              </a:spcBef>
              <a:spcAft>
                <a:spcPts val="0"/>
              </a:spcAft>
              <a:buClr>
                <a:schemeClr val="dk1"/>
              </a:buClr>
              <a:buSzPts val="2800"/>
              <a:buFont typeface="Calibri" panose="020F0502020204030204"/>
              <a:buAutoNum type="arabicPeriod"/>
            </a:pPr>
            <a:r>
              <a:rPr lang="en-US" sz="2800" b="0" i="0" u="sng" strike="noStrike" cap="none">
                <a:solidFill>
                  <a:schemeClr val="dk1"/>
                </a:solidFill>
                <a:latin typeface="Arial" panose="020B0604020202020204"/>
                <a:ea typeface="Arial" panose="020B0604020202020204"/>
                <a:cs typeface="Arial" panose="020B0604020202020204"/>
                <a:sym typeface="Arial" panose="020B0604020202020204"/>
              </a:rPr>
              <a:t>Brainstorming -</a:t>
            </a: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 coming up with as many solutions possible in a short period of time with no censoring of ideas. </a:t>
            </a:r>
            <a:endPar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18795" marR="0" lvl="2" indent="-518795" algn="l" rtl="0">
              <a:lnSpc>
                <a:spcPct val="100000"/>
              </a:lnSpc>
              <a:spcBef>
                <a:spcPts val="1600"/>
              </a:spcBef>
              <a:spcAft>
                <a:spcPts val="0"/>
              </a:spcAft>
              <a:buClr>
                <a:schemeClr val="dk1"/>
              </a:buClr>
              <a:buSzPts val="2800"/>
              <a:buFont typeface="Calibri" panose="020F0502020204030204"/>
              <a:buAutoNum type="arabicPeriod"/>
            </a:pP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Another technique is called </a:t>
            </a:r>
            <a:r>
              <a:rPr lang="en-US" sz="2800" b="0" i="0" u="sng" strike="noStrike" cap="none">
                <a:solidFill>
                  <a:schemeClr val="dk1"/>
                </a:solidFill>
                <a:latin typeface="Arial" panose="020B0604020202020204"/>
                <a:ea typeface="Arial" panose="020B0604020202020204"/>
                <a:cs typeface="Arial" panose="020B0604020202020204"/>
                <a:sym typeface="Arial" panose="020B0604020202020204"/>
              </a:rPr>
              <a:t>PMI, </a:t>
            </a: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or listing all the </a:t>
            </a: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p</a:t>
            </a: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luses for a solution in one column, all the </a:t>
            </a: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m</a:t>
            </a: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inuses in another, and the </a:t>
            </a:r>
            <a:r>
              <a:rPr lang="en-US" sz="2800" b="1" i="0" u="none" strike="noStrike" cap="none">
                <a:solidFill>
                  <a:schemeClr val="dk1"/>
                </a:solidFill>
                <a:latin typeface="Arial" panose="020B0604020202020204"/>
                <a:ea typeface="Arial" panose="020B0604020202020204"/>
                <a:cs typeface="Arial" panose="020B0604020202020204"/>
                <a:sym typeface="Arial" panose="020B0604020202020204"/>
              </a:rPr>
              <a:t>i</a:t>
            </a:r>
            <a:r>
              <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rPr>
              <a:t>mplications in a third. The idea is to make sure the pluses exceed the minuses.</a:t>
            </a:r>
            <a:endParaRPr lang="en-US" sz="2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600"/>
              </a:spcBef>
              <a:spcAft>
                <a:spcPts val="0"/>
              </a:spcAft>
              <a:buNone/>
            </a:pPr>
            <a:endParaRPr sz="2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2" name="Google Shape;282;p16"/>
          <p:cNvSpPr txBox="1"/>
          <p:nvPr>
            <p:ph type="ctrTitle"/>
          </p:nvPr>
        </p:nvSpPr>
        <p:spPr>
          <a:xfrm>
            <a:off x="1828800" y="2825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Problem Solving</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83" name="Google Shape;283;p16"/>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LG3</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84" name="Google Shape;284;p16"/>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4806</Words>
  <Application>WPS Presentation</Application>
  <PresentationFormat>Widescreen</PresentationFormat>
  <Paragraphs>227</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SimSun</vt:lpstr>
      <vt:lpstr>Wingdings</vt:lpstr>
      <vt:lpstr>Arial</vt:lpstr>
      <vt:lpstr>Calibri</vt:lpstr>
      <vt:lpstr>Helvetica Neue</vt:lpstr>
      <vt:lpstr>Times New Roman</vt:lpstr>
      <vt:lpstr>Merriweather Sans</vt:lpstr>
      <vt:lpstr>Tahoma</vt:lpstr>
      <vt:lpstr>Calibri Light</vt:lpstr>
      <vt:lpstr>Microsoft YaHei</vt:lpstr>
      <vt:lpstr>Arial Unicode MS</vt:lpstr>
      <vt:lpstr>Segoe Print</vt:lpstr>
      <vt:lpstr>Office Theme</vt:lpstr>
      <vt:lpstr>Week-4 Session-1 </vt:lpstr>
      <vt:lpstr>TODAY’S MANAGEMENT</vt:lpstr>
      <vt:lpstr>FOUR FUNCTIONS of  MANAGEMENT</vt:lpstr>
      <vt:lpstr>SHARING the VISION</vt:lpstr>
      <vt:lpstr>PowerPoint 演示文稿</vt:lpstr>
      <vt:lpstr>Vision</vt:lpstr>
      <vt:lpstr>Mission</vt:lpstr>
      <vt:lpstr>Growing sales revenue in North America can be considered a goal.    Expanding your distribution network is an objective used to reach the goal of raising company revenue. </vt:lpstr>
      <vt:lpstr>PLANNING ANSWERS  FUNDAMENTAL QUESTIONS</vt:lpstr>
      <vt:lpstr>PowerPoint 演示文稿</vt:lpstr>
      <vt:lpstr>PowerPoint 演示文稿</vt:lpstr>
      <vt:lpstr>STRATEGIC and TACTICAL  PLANNING</vt:lpstr>
      <vt:lpstr>OPERATIONAL and CONTINGENCY PLANNING</vt:lpstr>
      <vt:lpstr>PLANNING FUNCTIONS</vt:lpstr>
      <vt:lpstr>RATIONAL DECISION-MAKING  MODEL (7D’s)</vt:lpstr>
      <vt:lpstr>Problem Solving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Week-4 Session-1 </dc:title>
  <dc:creator>User</dc:creator>
  <cp:lastModifiedBy>Zoeb-Ur- Rahman</cp:lastModifiedBy>
  <cp:revision>2</cp:revision>
  <dcterms:created xsi:type="dcterms:W3CDTF">2024-06-24T17:10:00Z</dcterms:created>
  <dcterms:modified xsi:type="dcterms:W3CDTF">2024-11-10T16:24:41Z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C229E5F439DB4E37A932BBF37AAF4F96_13</vt:lpwstr>
  </property>
  <property fmtid="{D5CDD505-2E9C-101B-9397-08002B2CF9AE}" pid="3" name="KSOProductBuildVer">
    <vt:lpwstr>1033-12.2.0.18607</vt:lpwstr>
  </property>
</Properties>
</file>