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86" r:id="rId3"/>
    <p:sldId id="257" r:id="rId4"/>
    <p:sldId id="269" r:id="rId6"/>
    <p:sldId id="270" r:id="rId7"/>
    <p:sldId id="271" r:id="rId8"/>
    <p:sldId id="272" r:id="rId9"/>
    <p:sldId id="273" r:id="rId10"/>
    <p:sldId id="274" r:id="rId11"/>
    <p:sldId id="275" r:id="rId12"/>
    <p:sldId id="278" r:id="rId13"/>
    <p:sldId id="279" r:id="rId14"/>
    <p:sldId id="283" r:id="rId15"/>
  </p:sldIdLst>
  <p:sldSz cx="12192000" cy="6858000"/>
  <p:notesSz cx="6858000" cy="9144000"/>
  <p:embeddedFontLst>
    <p:embeddedFont>
      <p:font typeface="Century Gothic" panose="020B0502020202020204"/>
      <p:regular r:id="rId19"/>
    </p:embeddedFont>
    <p:embeddedFont>
      <p:font typeface="Calibri" panose="020F0502020204030204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Google Shape;367;p1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1" name="Google Shape;381;p1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6" name="Google Shape;416;p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3" name="Google Shape;423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32"/>
          <p:cNvSpPr/>
          <p:nvPr/>
        </p:nvSpPr>
        <p:spPr>
          <a:xfrm>
            <a:off x="3220" y="2667000"/>
            <a:ext cx="4191000" cy="4191000"/>
          </a:xfrm>
          <a:prstGeom prst="ellipse">
            <a:avLst/>
          </a:prstGeom>
          <a:gradFill>
            <a:gsLst>
              <a:gs pos="0">
                <a:srgbClr val="F7F7F7">
                  <a:alpha val="10980"/>
                </a:srgbClr>
              </a:gs>
              <a:gs pos="36000">
                <a:srgbClr val="F7F7F7">
                  <a:alpha val="9803"/>
                </a:srgbClr>
              </a:gs>
              <a:gs pos="75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2"/>
          <p:cNvSpPr/>
          <p:nvPr/>
        </p:nvSpPr>
        <p:spPr>
          <a:xfrm>
            <a:off x="1750" y="2895600"/>
            <a:ext cx="2362200" cy="2362200"/>
          </a:xfrm>
          <a:prstGeom prst="ellipse">
            <a:avLst/>
          </a:prstGeom>
          <a:gradFill>
            <a:gsLst>
              <a:gs pos="0">
                <a:srgbClr val="F7F7F7">
                  <a:alpha val="7843"/>
                </a:srgbClr>
              </a:gs>
              <a:gs pos="36000">
                <a:srgbClr val="F7F7F7">
                  <a:alpha val="7843"/>
                </a:srgbClr>
              </a:gs>
              <a:gs pos="72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3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7F7F7">
                  <a:alpha val="6666"/>
                </a:srgbClr>
              </a:gs>
              <a:gs pos="36000">
                <a:srgbClr val="F7F7F7">
                  <a:alpha val="5882"/>
                </a:srgbClr>
              </a:gs>
              <a:gs pos="69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32"/>
          <p:cNvSpPr/>
          <p:nvPr/>
        </p:nvSpPr>
        <p:spPr>
          <a:xfrm>
            <a:off x="7999412" y="-2373"/>
            <a:ext cx="1600200" cy="1600200"/>
          </a:xfrm>
          <a:prstGeom prst="ellipse">
            <a:avLst/>
          </a:prstGeom>
          <a:gradFill>
            <a:gsLst>
              <a:gs pos="0">
                <a:srgbClr val="F7F7F7">
                  <a:alpha val="13725"/>
                </a:srgbClr>
              </a:gs>
              <a:gs pos="36000">
                <a:srgbClr val="F7F7F7">
                  <a:alpha val="6666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2" name="Google Shape;32;p32"/>
          <p:cNvSpPr/>
          <p:nvPr/>
        </p:nvSpPr>
        <p:spPr>
          <a:xfrm>
            <a:off x="8609012" y="5874054"/>
            <a:ext cx="990600" cy="990600"/>
          </a:xfrm>
          <a:prstGeom prst="ellipse">
            <a:avLst/>
          </a:prstGeom>
          <a:gradFill>
            <a:gsLst>
              <a:gs pos="0">
                <a:srgbClr val="F7F7F7">
                  <a:alpha val="13725"/>
                </a:srgbClr>
              </a:gs>
              <a:gs pos="36000">
                <a:srgbClr val="F7F7F7">
                  <a:alpha val="6666"/>
                </a:srgbClr>
              </a:gs>
              <a:gs pos="66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32"/>
          <p:cNvSpPr/>
          <p:nvPr/>
        </p:nvSpPr>
        <p:spPr>
          <a:xfrm>
            <a:off x="0" y="1587"/>
            <a:ext cx="12192000" cy="6856413"/>
          </a:xfrm>
          <a:custGeom>
            <a:avLst/>
            <a:gdLst/>
            <a:ahLst/>
            <a:cxnLst/>
            <a:rect l="l" t="t" r="r" b="b"/>
            <a:pathLst>
              <a:path w="15356" h="8638" extrusionOk="0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32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 panose="020B0502020202020204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type="dt" idx="10"/>
          </p:nvPr>
        </p:nvSpPr>
        <p:spPr>
          <a:xfrm rot="5400000">
            <a:off x="10089390" y="1792223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type="ftr" idx="11"/>
          </p:nvPr>
        </p:nvSpPr>
        <p:spPr>
          <a:xfrm rot="5400000">
            <a:off x="8959592" y="3226820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32"/>
          <p:cNvSpPr txBox="1"/>
          <p:nvPr>
            <p:ph type="sldNum" idx="12"/>
          </p:nvPr>
        </p:nvSpPr>
        <p:spPr>
          <a:xfrm>
            <a:off x="10351008" y="292608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49" name="Google Shape;49;p34"/>
          <p:cNvSpPr txBox="1"/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51" name="Google Shape;51;p34"/>
          <p:cNvSpPr txBox="1"/>
          <p:nvPr>
            <p:ph type="body" idx="4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57" name="Google Shape;57;p3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3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3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3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3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35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35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35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35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6" name="Google Shape;66;p3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67" name="Google Shape;67;p35"/>
          <p:cNvSpPr txBox="1"/>
          <p:nvPr>
            <p:ph type="title"/>
          </p:nvPr>
        </p:nvSpPr>
        <p:spPr>
          <a:xfrm>
            <a:off x="1154956" y="2677645"/>
            <a:ext cx="4351023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type="body" idx="1"/>
          </p:nvPr>
        </p:nvSpPr>
        <p:spPr>
          <a:xfrm>
            <a:off x="6895558" y="2677644"/>
            <a:ext cx="3755379" cy="228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35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left">
  <p:cSld name="Title Only - lef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6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75" name="Google Shape;75;p36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36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36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8" name="Google Shape;78;p36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9" name="Google Shape;79;p36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3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 as Icons 5X Vertical">
  <p:cSld name="Bullets as Icons 5X Vertical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/>
          <p:nvPr>
            <p:ph type="body" idx="1"/>
          </p:nvPr>
        </p:nvSpPr>
        <p:spPr>
          <a:xfrm>
            <a:off x="6792913" y="1748812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6" name="Google Shape;86;p37"/>
          <p:cNvSpPr/>
          <p:nvPr>
            <p:ph type="body" idx="2"/>
          </p:nvPr>
        </p:nvSpPr>
        <p:spPr>
          <a:xfrm>
            <a:off x="6792913" y="2561156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7" name="Google Shape;87;p37"/>
          <p:cNvSpPr/>
          <p:nvPr>
            <p:ph type="body" idx="3"/>
          </p:nvPr>
        </p:nvSpPr>
        <p:spPr>
          <a:xfrm>
            <a:off x="6792913" y="3373501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8" name="Google Shape;88;p37"/>
          <p:cNvSpPr/>
          <p:nvPr>
            <p:ph type="body" idx="4"/>
          </p:nvPr>
        </p:nvSpPr>
        <p:spPr>
          <a:xfrm>
            <a:off x="6792913" y="4185846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9" name="Google Shape;89;p37"/>
          <p:cNvSpPr/>
          <p:nvPr>
            <p:ph type="body" idx="5"/>
          </p:nvPr>
        </p:nvSpPr>
        <p:spPr>
          <a:xfrm>
            <a:off x="6792913" y="4998190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grpSp>
        <p:nvGrpSpPr>
          <p:cNvPr id="90" name="Google Shape;90;p37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91" name="Google Shape;91;p37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37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37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4" name="Google Shape;94;p37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5" name="Google Shape;95;p37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3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0" name="Google Shape;100;p37"/>
          <p:cNvSpPr/>
          <p:nvPr>
            <p:ph type="pic" idx="6"/>
          </p:nvPr>
        </p:nvSpPr>
        <p:spPr>
          <a:xfrm>
            <a:off x="5870575" y="1840504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37"/>
          <p:cNvSpPr/>
          <p:nvPr>
            <p:ph type="pic" idx="7"/>
          </p:nvPr>
        </p:nvSpPr>
        <p:spPr>
          <a:xfrm>
            <a:off x="5870575" y="2652849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37"/>
          <p:cNvSpPr/>
          <p:nvPr>
            <p:ph type="pic" idx="8"/>
          </p:nvPr>
        </p:nvSpPr>
        <p:spPr>
          <a:xfrm>
            <a:off x="5870575" y="3465194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7"/>
          <p:cNvSpPr/>
          <p:nvPr>
            <p:ph type="pic" idx="9"/>
          </p:nvPr>
        </p:nvSpPr>
        <p:spPr>
          <a:xfrm>
            <a:off x="5870575" y="4277539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7"/>
          <p:cNvSpPr/>
          <p:nvPr>
            <p:ph type="pic" idx="13"/>
          </p:nvPr>
        </p:nvSpPr>
        <p:spPr>
          <a:xfrm>
            <a:off x="5870575" y="5089882"/>
            <a:ext cx="536616" cy="5366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Vertical Light">
  <p:cSld name="4 Icon Bullets Vertical Ligh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/>
          <p:nvPr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07" name="Google Shape;107;p38"/>
          <p:cNvSpPr/>
          <p:nvPr>
            <p:ph type="pic" idx="2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38"/>
          <p:cNvSpPr/>
          <p:nvPr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09" name="Google Shape;109;p38"/>
          <p:cNvSpPr/>
          <p:nvPr>
            <p:ph type="pic" idx="3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10" name="Google Shape;110;p38"/>
          <p:cNvSpPr/>
          <p:nvPr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11" name="Google Shape;111;p38"/>
          <p:cNvSpPr/>
          <p:nvPr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grpSp>
        <p:nvGrpSpPr>
          <p:cNvPr id="112" name="Google Shape;112;p38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3" name="Google Shape;113;p38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38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38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38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7" name="Google Shape;117;p38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8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3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2" name="Google Shape;122;p38"/>
          <p:cNvSpPr txBox="1"/>
          <p:nvPr>
            <p:ph type="body" idx="1"/>
          </p:nvPr>
        </p:nvSpPr>
        <p:spPr>
          <a:xfrm>
            <a:off x="575627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type="body" idx="4"/>
          </p:nvPr>
        </p:nvSpPr>
        <p:spPr>
          <a:xfrm>
            <a:off x="816723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type="body" idx="5"/>
          </p:nvPr>
        </p:nvSpPr>
        <p:spPr>
          <a:xfrm>
            <a:off x="575627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type="body" idx="6"/>
          </p:nvPr>
        </p:nvSpPr>
        <p:spPr>
          <a:xfrm>
            <a:off x="816723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6" name="Google Shape;126;p38"/>
          <p:cNvSpPr/>
          <p:nvPr>
            <p:ph type="pic" idx="7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8"/>
          <p:cNvSpPr/>
          <p:nvPr>
            <p:ph type="pic" idx="8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Vertical">
  <p:cSld name="4 Icon Bullets Vertical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9"/>
          <p:cNvSpPr/>
          <p:nvPr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0" name="Google Shape;130;p39"/>
          <p:cNvSpPr/>
          <p:nvPr>
            <p:ph type="pic" idx="2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39"/>
          <p:cNvSpPr/>
          <p:nvPr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2" name="Google Shape;132;p39"/>
          <p:cNvSpPr/>
          <p:nvPr>
            <p:ph type="pic" idx="3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39"/>
          <p:cNvSpPr/>
          <p:nvPr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4" name="Google Shape;134;p39"/>
          <p:cNvSpPr/>
          <p:nvPr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5" name="Google Shape;135;p39"/>
          <p:cNvSpPr/>
          <p:nvPr>
            <p:ph type="pic" idx="4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39"/>
          <p:cNvSpPr/>
          <p:nvPr>
            <p:ph type="pic" idx="5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37" name="Google Shape;137;p39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38" name="Google Shape;138;p39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39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39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1" name="Google Shape;141;p39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2" name="Google Shape;142;p39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9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39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7" name="Google Shape;147;p39"/>
          <p:cNvSpPr txBox="1"/>
          <p:nvPr>
            <p:ph type="body" idx="1"/>
          </p:nvPr>
        </p:nvSpPr>
        <p:spPr>
          <a:xfrm>
            <a:off x="575627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type="body" idx="6"/>
          </p:nvPr>
        </p:nvSpPr>
        <p:spPr>
          <a:xfrm>
            <a:off x="816723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type="body" idx="7"/>
          </p:nvPr>
        </p:nvSpPr>
        <p:spPr>
          <a:xfrm>
            <a:off x="575627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type="body" idx="8"/>
          </p:nvPr>
        </p:nvSpPr>
        <p:spPr>
          <a:xfrm>
            <a:off x="816723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 Icon Bullets Vertical">
  <p:cSld name="2 Icon Bullets Vertical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"/>
          <p:cNvSpPr/>
          <p:nvPr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53" name="Google Shape;153;p40"/>
          <p:cNvSpPr/>
          <p:nvPr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54" name="Google Shape;154;p40"/>
          <p:cNvSpPr/>
          <p:nvPr>
            <p:ph type="pic" idx="2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55" name="Google Shape;155;p40"/>
          <p:cNvSpPr/>
          <p:nvPr>
            <p:ph type="pic" idx="3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56" name="Google Shape;156;p40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57" name="Google Shape;157;p4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40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40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0" name="Google Shape;160;p40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1" name="Google Shape;161;p40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40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6" name="Google Shape;166;p40"/>
          <p:cNvSpPr txBox="1"/>
          <p:nvPr>
            <p:ph type="body" idx="1"/>
          </p:nvPr>
        </p:nvSpPr>
        <p:spPr>
          <a:xfrm>
            <a:off x="5756275" y="3785996"/>
            <a:ext cx="2325688" cy="150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type="body" idx="4"/>
          </p:nvPr>
        </p:nvSpPr>
        <p:spPr>
          <a:xfrm>
            <a:off x="8167235" y="3785996"/>
            <a:ext cx="2325688" cy="150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Horizontal">
  <p:cSld name="4 Icon Bullets Horizontal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70" name="Google Shape;170;p41"/>
          <p:cNvSpPr/>
          <p:nvPr>
            <p:ph type="pic" idx="2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" name="Google Shape;171;p41"/>
          <p:cNvSpPr/>
          <p:nvPr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72" name="Google Shape;172;p41"/>
          <p:cNvSpPr/>
          <p:nvPr>
            <p:ph type="pic" idx="3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73" name="Google Shape;173;p41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74" name="Google Shape;174;p41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41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41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7" name="Google Shape;177;p41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8" name="Google Shape;178;p41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1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1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41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83" name="Google Shape;183;p41"/>
          <p:cNvSpPr txBox="1"/>
          <p:nvPr>
            <p:ph type="body" idx="1"/>
          </p:nvPr>
        </p:nvSpPr>
        <p:spPr>
          <a:xfrm>
            <a:off x="6189670" y="1840992"/>
            <a:ext cx="2095046" cy="122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4" name="Google Shape;184;p41"/>
          <p:cNvSpPr txBox="1"/>
          <p:nvPr>
            <p:ph type="body" idx="4"/>
          </p:nvPr>
        </p:nvSpPr>
        <p:spPr>
          <a:xfrm>
            <a:off x="9519533" y="1840992"/>
            <a:ext cx="2095046" cy="122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41"/>
          <p:cNvSpPr txBox="1"/>
          <p:nvPr>
            <p:ph type="body" idx="5"/>
          </p:nvPr>
        </p:nvSpPr>
        <p:spPr>
          <a:xfrm>
            <a:off x="6189670" y="3891529"/>
            <a:ext cx="2095046" cy="12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6" name="Google Shape;186;p41"/>
          <p:cNvSpPr txBox="1"/>
          <p:nvPr>
            <p:ph type="body" idx="6"/>
          </p:nvPr>
        </p:nvSpPr>
        <p:spPr>
          <a:xfrm>
            <a:off x="9519533" y="3891529"/>
            <a:ext cx="2095046" cy="12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7" name="Google Shape;187;p41"/>
          <p:cNvSpPr/>
          <p:nvPr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88" name="Google Shape;188;p41"/>
          <p:cNvSpPr/>
          <p:nvPr>
            <p:ph type="pic" idx="7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41"/>
          <p:cNvSpPr/>
          <p:nvPr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90" name="Google Shape;190;p41"/>
          <p:cNvSpPr/>
          <p:nvPr>
            <p:ph type="pic" idx="8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4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93" name="Google Shape;193;p4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4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4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4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4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4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42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42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01" name="Google Shape;201;p42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4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3" name="Google Shape;203;p42"/>
          <p:cNvSpPr txBox="1"/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2"/>
          <p:cNvSpPr/>
          <p:nvPr>
            <p:ph type="pic" idx="2"/>
          </p:nvPr>
        </p:nvSpPr>
        <p:spPr>
          <a:xfrm>
            <a:off x="6058861" y="478881"/>
            <a:ext cx="5582675" cy="5908526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42"/>
          <p:cNvSpPr txBox="1"/>
          <p:nvPr>
            <p:ph type="body" idx="1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9720" algn="l">
              <a:spcBef>
                <a:spcPts val="1000"/>
              </a:spcBef>
              <a:spcAft>
                <a:spcPts val="0"/>
              </a:spcAft>
              <a:buSzPts val="1120"/>
              <a:buFont typeface="Arial" panose="020B0604020202020204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6" name="Google Shape;206;p42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42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12" name="Google Shape;212;p4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4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4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4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4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4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43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43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20" name="Google Shape;220;p43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4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22" name="Google Shape;222;p43"/>
          <p:cNvSpPr txBox="1"/>
          <p:nvPr>
            <p:ph type="body" idx="1"/>
          </p:nvPr>
        </p:nvSpPr>
        <p:spPr>
          <a:xfrm>
            <a:off x="6058861" y="478880"/>
            <a:ext cx="5582675" cy="590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type="body" idx="2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9720" algn="l">
              <a:spcBef>
                <a:spcPts val="1000"/>
              </a:spcBef>
              <a:spcAft>
                <a:spcPts val="0"/>
              </a:spcAft>
              <a:buSzPts val="1120"/>
              <a:buFont typeface="Arial" panose="020B0604020202020204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25" name="Google Shape;225;p43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3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4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3" name="Google Shape;233;p44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4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5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5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6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6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46" name="Google Shape;246;p46"/>
          <p:cNvSpPr txBox="1"/>
          <p:nvPr>
            <p:ph type="body" idx="1"/>
          </p:nvPr>
        </p:nvSpPr>
        <p:spPr>
          <a:xfrm>
            <a:off x="1764150" y="2406650"/>
            <a:ext cx="8663700" cy="347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4800"/>
              <a:buNone/>
              <a:defRPr sz="60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7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4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Google Shape;11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8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3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3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3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3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3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3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3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" name="Google Shape;20;p31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 sz="3600" b="0" i="0" u="none" strike="noStrike" cap="none">
                <a:solidFill>
                  <a:schemeClr val="lt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1"/>
          <p:cNvSpPr txBox="1"/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1371600" marR="0" lvl="2" indent="-29972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3657600" marR="0" lvl="7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4114800" marR="0" lvl="8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3" name="Google Shape;23;p31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4" name="Google Shape;24;p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31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/>
          <p:nvPr>
            <p:ph type="ctrTitle"/>
          </p:nvPr>
        </p:nvSpPr>
        <p:spPr>
          <a:xfrm>
            <a:off x="1271270" y="692785"/>
            <a:ext cx="8825865" cy="1805305"/>
          </a:xfrm>
        </p:spPr>
        <p:txBody>
          <a:bodyPr/>
          <a:p>
            <a:r>
              <a:rPr lang="en-GB" altLang="en-US"/>
              <a:t>Week-3</a:t>
            </a:r>
            <a:br>
              <a:rPr lang="en-GB" altLang="en-US"/>
            </a:br>
            <a:r>
              <a:rPr lang="en-GB" altLang="en-US"/>
              <a:t>Session-2</a:t>
            </a:r>
            <a:endParaRPr lang="en-GB" altLang="en-US"/>
          </a:p>
        </p:txBody>
      </p:sp>
      <p:sp>
        <p:nvSpPr>
          <p:cNvPr id="6" name="Subtitle 5"/>
          <p:cNvSpPr/>
          <p:nvPr>
            <p:ph type="subTitle" idx="1"/>
          </p:nvPr>
        </p:nvSpPr>
        <p:spPr>
          <a:xfrm>
            <a:off x="1155065" y="2810510"/>
            <a:ext cx="8825865" cy="2828290"/>
          </a:xfrm>
        </p:spPr>
        <p:txBody>
          <a:bodyPr>
            <a:normAutofit/>
          </a:bodyPr>
          <a:p>
            <a: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Understanding Economics and How It Affects Business</a:t>
            </a:r>
            <a:endParaRPr lang="en-US" sz="3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Topics to be Covered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3" name="Google Shape;263;p2"/>
          <p:cNvSpPr txBox="1"/>
          <p:nvPr>
            <p:ph type="body" idx="1"/>
          </p:nvPr>
        </p:nvSpPr>
        <p:spPr>
          <a:xfrm>
            <a:off x="1154954" y="2357120"/>
            <a:ext cx="10203926" cy="450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major branches of economics 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Resource development 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Economic Indicators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Invisible Hand Theory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Free market Capitalism, foundations of capitalism, Socialism and Communism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Trend Towards Mixed Economies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Competition within Free Markets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 and its determinants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Supply and its determinants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Equilibrium, shortage and surplus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41300" algn="l" rtl="0">
              <a:spcBef>
                <a:spcPts val="100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41300" algn="l" rtl="0">
              <a:spcBef>
                <a:spcPts val="100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4" name="Google Shape;264;p2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Trend Towards Mixed Economies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0" name="Google Shape;350;p14"/>
          <p:cNvSpPr txBox="1"/>
          <p:nvPr>
            <p:ph type="body" idx="1"/>
          </p:nvPr>
        </p:nvSpPr>
        <p:spPr>
          <a:xfrm>
            <a:off x="1154954" y="2603500"/>
            <a:ext cx="10396965" cy="385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Free-market economies 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 when the market largely determines what goods and services get produced, who gets them, and how the economy grows.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Command economies 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 when the government largely decides what goods and services will be produced, who gets them, and how the economy will grow. 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Mixed economies 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have economic systems in which some allocation of resources is made by the market and some by the governm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ent. Most countries don’t have a name for such a system. If free-market mechanisms allocate most resources, the leaders call their system capitalism. If the government allocates most resources, the leaders call it socialism.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1" name="Google Shape;351;p1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Competition within Free Markets</a:t>
            </a:r>
            <a:b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3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7" name="Google Shape;357;p15"/>
          <p:cNvSpPr txBox="1"/>
          <p:nvPr>
            <p:ph type="body" idx="1"/>
          </p:nvPr>
        </p:nvSpPr>
        <p:spPr>
          <a:xfrm>
            <a:off x="1154954" y="2603500"/>
            <a:ext cx="10183606" cy="350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❑"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Monopoly</a:t>
            </a: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The single seller sells a product for which there are no close substitutes. In the United States, laws prohibit the creation of monopolies.</a:t>
            </a:r>
            <a:endParaRPr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❑"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Oligopoly</a:t>
            </a: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A degree of competition in which just a few sellers dominate the market.</a:t>
            </a:r>
            <a:endParaRPr 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❑"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Perfect competition</a:t>
            </a: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It exists when there are many sellers in a market, and none is large enough to dictate the price of a product.</a:t>
            </a:r>
            <a:endParaRPr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❑"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Monopolistic competition</a:t>
            </a: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It exists when there are many sellers producing very similar products that buyers nevertheless perceive as different</a:t>
            </a:r>
            <a:r>
              <a:rPr lang="en-US"/>
              <a:t>,</a:t>
            </a:r>
            <a:endParaRPr lang="en-US"/>
          </a:p>
        </p:txBody>
      </p:sp>
      <p:sp>
        <p:nvSpPr>
          <p:cNvPr id="358" name="Google Shape;358;p1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6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773838" y="2550253"/>
            <a:ext cx="8108393" cy="314576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 panose="020F0502020204030204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Implications of Theory for Behaviour of firms </a:t>
            </a:r>
            <a:br>
              <a:rPr lang="en-US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pic>
        <p:nvPicPr>
          <p:cNvPr id="370" name="Google Shape;370;p17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283516" y="2959030"/>
            <a:ext cx="9370501" cy="318171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7" name="Google Shape;377;p18"/>
          <p:cNvSpPr txBox="1"/>
          <p:nvPr>
            <p:ph type="body" idx="1"/>
          </p:nvPr>
        </p:nvSpPr>
        <p:spPr>
          <a:xfrm>
            <a:off x="1154954" y="2603500"/>
            <a:ext cx="10478246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willingness and ability of buyers to purchase different quantities of a good at different prices during a specific period of time.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Law of Demand: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law of demand states that the price of a good and the quantity demanded of the good are inversely related, ceteris paribus.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Change in quantity demanded occurs when there is a change in price.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Change in demand occurs when a factor other than price affects the quantity demanded.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8" name="Google Shape;378;p1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 (continued)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4" name="Google Shape;384;p19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385" name="Google Shape;385;p19"/>
          <p:cNvGrpSpPr/>
          <p:nvPr/>
        </p:nvGrpSpPr>
        <p:grpSpPr>
          <a:xfrm>
            <a:off x="1391920" y="2663666"/>
            <a:ext cx="9428480" cy="3665538"/>
            <a:chOff x="132" y="916"/>
            <a:chExt cx="5486" cy="2309"/>
          </a:xfrm>
        </p:grpSpPr>
        <p:sp>
          <p:nvSpPr>
            <p:cNvPr id="386" name="Google Shape;386;p19"/>
            <p:cNvSpPr/>
            <p:nvPr/>
          </p:nvSpPr>
          <p:spPr>
            <a:xfrm>
              <a:off x="132" y="916"/>
              <a:ext cx="5486" cy="23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387" name="Google Shape;387;p19"/>
            <p:cNvSpPr txBox="1"/>
            <p:nvPr/>
          </p:nvSpPr>
          <p:spPr>
            <a:xfrm>
              <a:off x="1676" y="2604"/>
              <a:ext cx="252" cy="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rPr>
                <a:t>(a)</a:t>
              </a:r>
              <a:endParaRPr lang="en-US" sz="1800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388" name="Google Shape;388;p19"/>
            <p:cNvSpPr txBox="1"/>
            <p:nvPr/>
          </p:nvSpPr>
          <p:spPr>
            <a:xfrm>
              <a:off x="4592" y="3031"/>
              <a:ext cx="258" cy="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rPr>
                <a:t>(b)</a:t>
              </a:r>
              <a:endParaRPr lang="en-US" sz="1800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pic>
          <p:nvPicPr>
            <p:cNvPr id="389" name="Google Shape;389;p19" descr="D:\ESWORK\SWPUB\Arnold PPT\Art\Art Ch03\arn17456_0301.jp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3559" y="1026"/>
              <a:ext cx="1970" cy="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9" descr="D:\ESWORK\SWPUB\Arnold PPT\Art\Art Ch03\Ch03 Exhibit 1 table.jp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35" y="997"/>
              <a:ext cx="3136" cy="1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 (continued)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96" name="Google Shape;396;p20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1154952" y="2600960"/>
            <a:ext cx="9634968" cy="4064000"/>
            <a:chOff x="1500" y="1117"/>
            <a:chExt cx="2759" cy="2083"/>
          </a:xfrm>
        </p:grpSpPr>
        <p:sp>
          <p:nvSpPr>
            <p:cNvPr id="398" name="Google Shape;398;p20"/>
            <p:cNvSpPr/>
            <p:nvPr/>
          </p:nvSpPr>
          <p:spPr>
            <a:xfrm>
              <a:off x="1500" y="1117"/>
              <a:ext cx="2759" cy="20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399" name="Google Shape;399;p20" descr="D:\ESWORK\SWPUB\Arnold PPT\Art\Art Ch03\arn17456_0305.jp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535" y="1150"/>
              <a:ext cx="2690" cy="20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Supply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9" name="Google Shape;419;p23"/>
          <p:cNvSpPr txBox="1"/>
          <p:nvPr>
            <p:ph type="body" idx="1"/>
          </p:nvPr>
        </p:nvSpPr>
        <p:spPr>
          <a:xfrm>
            <a:off x="1154954" y="2603500"/>
            <a:ext cx="10600166" cy="362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Supply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The willingness and ability of sellers to produce and offer to sell different quantities of a good at different prices during a specific period of time.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Law of Supply: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law of supply states that the price of a good and the quantity supplied of the good are directly related, ceteris paribus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Change in quantity supplied occurs when there is a change in the market price of the product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Change in supply is caused by a determinant other than the price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</a:p>
        </p:txBody>
      </p:sp>
      <p:sp>
        <p:nvSpPr>
          <p:cNvPr id="420" name="Google Shape;420;p2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Supply (continued)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26" name="Google Shape;426;p2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27" name="Google Shape;427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28800" y="2436388"/>
            <a:ext cx="8422640" cy="4159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4" name="Google Shape;454;p28"/>
          <p:cNvSpPr txBox="1"/>
          <p:nvPr>
            <p:ph type="body" idx="1"/>
          </p:nvPr>
        </p:nvSpPr>
        <p:spPr>
          <a:xfrm>
            <a:off x="1154954" y="2603500"/>
            <a:ext cx="1063064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Arnold, R. A. (2014)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Macroeconomics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(11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South-Western.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Mankiw, N.G. (2018)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Principles of Microeconomics (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Cengage Learning.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Nickels, W. G., McHugh, J. M. &amp; McHugh, S. (2014)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Understanding Business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(11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McGraw-Hill.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None/>
            </a:pPr>
          </a:p>
        </p:txBody>
      </p:sp>
      <p:sp>
        <p:nvSpPr>
          <p:cNvPr id="455" name="Google Shape;455;p2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WPS Presentation</Application>
  <PresentationFormat/>
  <Paragraphs>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Century Gothic</vt:lpstr>
      <vt:lpstr>Noto Sans Symbols</vt:lpstr>
      <vt:lpstr>Segoe Print</vt:lpstr>
      <vt:lpstr>Calibri</vt:lpstr>
      <vt:lpstr>Times New Roman</vt:lpstr>
      <vt:lpstr>Courier New</vt:lpstr>
      <vt:lpstr>Microsoft YaHei</vt:lpstr>
      <vt:lpstr>Arial Unicode MS</vt:lpstr>
      <vt:lpstr>Ion Boardroom</vt:lpstr>
      <vt:lpstr>PowerPoint 演示文稿</vt:lpstr>
      <vt:lpstr>Topics to be Covered</vt:lpstr>
      <vt:lpstr>The Trend Towards Mixed Economies</vt:lpstr>
      <vt:lpstr>Competition within Free Markets </vt:lpstr>
      <vt:lpstr>PowerPoint 演示文稿</vt:lpstr>
      <vt:lpstr>Implications of Theory for Behaviour of firms  </vt:lpstr>
      <vt:lpstr>Demand</vt:lpstr>
      <vt:lpstr>Demand (continued)</vt:lpstr>
      <vt:lpstr>Demand (continued)</vt:lpstr>
      <vt:lpstr>Supply</vt:lpstr>
      <vt:lpstr>Supply (continued)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Economics and How It Affects Business </dc:title>
  <dc:creator>prioty_t@outlook.com</dc:creator>
  <cp:lastModifiedBy>Zoeb-Ur- Rahman</cp:lastModifiedBy>
  <cp:revision>3</cp:revision>
  <dcterms:created xsi:type="dcterms:W3CDTF">2024-10-22T16:21:00Z</dcterms:created>
  <dcterms:modified xsi:type="dcterms:W3CDTF">2024-11-09T15:55:49Z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9CF1C2A8454F4964B00A03A092D858ED_13</vt:lpwstr>
  </property>
  <property fmtid="{D5CDD505-2E9C-101B-9397-08002B2CF9AE}" pid="4" name="KSOProductBuildVer">
    <vt:lpwstr>1033-12.2.0.18607</vt:lpwstr>
  </property>
</Properties>
</file>