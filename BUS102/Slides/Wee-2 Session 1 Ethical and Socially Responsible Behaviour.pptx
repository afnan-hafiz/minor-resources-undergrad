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81" r:id="rId4"/>
    <p:sldId id="258" r:id="rId6"/>
    <p:sldId id="282" r:id="rId7"/>
    <p:sldId id="259" r:id="rId8"/>
    <p:sldId id="260" r:id="rId9"/>
    <p:sldId id="261" r:id="rId10"/>
    <p:sldId id="262" r:id="rId11"/>
    <p:sldId id="263" r:id="rId12"/>
    <p:sldId id="27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3:notes"/>
          <p:cNvSpPr/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6:notes"/>
          <p:cNvSpPr/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hyperlink" Target="https://image3.slideserve.com/5858714/ethics-l.jpg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GB" altLang="en-US"/>
              <a:t>Week-2</a:t>
            </a:r>
            <a:br>
              <a:rPr lang="en-GB" altLang="en-US"/>
            </a:br>
            <a:r>
              <a:rPr lang="en-GB" altLang="en-US"/>
              <a:t>Session-1</a:t>
            </a:r>
            <a:endParaRPr lang="en-GB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sz="4400"/>
              <a:t>●Ethical and Socially Responsible Behaviour</a:t>
            </a:r>
            <a:endParaRPr 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523443" y="507619"/>
            <a:ext cx="126174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Ethics</a:t>
            </a:r>
            <a:endParaRPr sz="3600"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523443" y="2006853"/>
            <a:ext cx="7240270" cy="247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0030" lvl="0" indent="-227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C3D2"/>
              </a:buClr>
              <a:buSzPts val="2400"/>
              <a:buFont typeface="Arial" panose="020B0604020202020204"/>
              <a:buChar char="•"/>
            </a:pPr>
            <a:r>
              <a:rPr lang="en-US" sz="2400" u="sng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  <a:hlinkClick r:id="rId1"/>
              </a:rPr>
              <a:t>Ethics</a:t>
            </a:r>
            <a:r>
              <a:rPr lang="en-US" sz="2400" u="none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 </a:t>
            </a:r>
            <a:r>
              <a:rPr lang="en-US" sz="2400" u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• Ethics refers to the study of morals and</a:t>
            </a:r>
            <a:endParaRPr sz="24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moral choices of human being.</a:t>
            </a:r>
            <a:endParaRPr sz="24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2125"/>
              </a:spcBef>
              <a:spcAft>
                <a:spcPts val="0"/>
              </a:spcAft>
              <a:buNone/>
            </a:pPr>
            <a:endParaRPr sz="24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030" marR="5080" lvl="0" indent="-227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C3D2"/>
              </a:buClr>
              <a:buSzPts val="2400"/>
              <a:buFont typeface="Arial" panose="020B0604020202020204"/>
              <a:buChar char="•"/>
            </a:pPr>
            <a:r>
              <a:rPr lang="en-US" sz="24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behavior of individuals and groups which are 	governed by standards, rules, and codes of 	conduct consist of the subjects covered by ethics.</a:t>
            </a:r>
            <a:endParaRPr sz="24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180831" y="332231"/>
            <a:ext cx="3755135" cy="299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>
            <p:ph type="sldNum" idx="12"/>
          </p:nvPr>
        </p:nvSpPr>
        <p:spPr>
          <a:xfrm>
            <a:off x="11401679" y="6434048"/>
            <a:ext cx="21717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What is Business Ethics?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The moral principles defining right and wrong behavior of businesspersons and their agents </a:t>
            </a:r>
            <a:endParaRPr lang="en-US"/>
          </a:p>
          <a:p>
            <a:r>
              <a:rPr lang="en-US"/>
              <a:t>• It implores them to adhere to certain ethical conduct when dealing with anybody especially</a:t>
            </a:r>
            <a:r>
              <a:rPr lang="en-GB" altLang="en-US"/>
              <a:t> </a:t>
            </a:r>
            <a:r>
              <a:rPr lang="en-US"/>
              <a:t>those affected by their business activities.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504240" y="130302"/>
            <a:ext cx="11183518" cy="137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8775" rIns="0" bIns="0" anchor="t" anchorCtr="0">
            <a:spAutoFit/>
          </a:bodyPr>
          <a:lstStyle/>
          <a:p>
            <a:pPr marL="31750" marR="5080" lvl="0" indent="97155" algn="l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BASIC MORAL VALUES Right: Wrong: Integrity Cheating Cowardice</a:t>
            </a:r>
            <a:endParaRPr lang="en-US" sz="2800" b="0">
              <a:latin typeface="Arial Black" panose="020B0A04020102020204"/>
              <a:ea typeface="Arial Black" panose="020B0A04020102020204"/>
              <a:cs typeface="Arial Black" panose="020B0A04020102020204"/>
              <a:sym typeface="Arial Black" panose="020B0A04020102020204"/>
            </a:endParaRPr>
          </a:p>
        </p:txBody>
      </p:sp>
      <p:sp>
        <p:nvSpPr>
          <p:cNvPr id="126" name="Google Shape;126;p6"/>
          <p:cNvSpPr txBox="1"/>
          <p:nvPr>
            <p:ph type="sldNum" idx="12"/>
          </p:nvPr>
        </p:nvSpPr>
        <p:spPr>
          <a:xfrm>
            <a:off x="11401679" y="6434048"/>
            <a:ext cx="21717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27" name="Google Shape;127;p6"/>
          <p:cNvSpPr txBox="1"/>
          <p:nvPr/>
        </p:nvSpPr>
        <p:spPr>
          <a:xfrm>
            <a:off x="523443" y="1643633"/>
            <a:ext cx="4377690" cy="478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40665" lvl="0" indent="-227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C3D2"/>
              </a:buClr>
              <a:buSzPts val="2000"/>
              <a:buFont typeface="Arial" panose="020B0604020202020204"/>
              <a:buChar char="•"/>
            </a:pPr>
            <a:r>
              <a:rPr lang="en-US" sz="20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Ethical Standards are Fundamental</a:t>
            </a:r>
            <a:endParaRPr sz="2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SzPts val="2000"/>
              <a:buFont typeface="Arial" panose="020B0604020202020204"/>
              <a:buNone/>
            </a:pPr>
            <a:endParaRPr sz="2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Right: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Integrity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Respect for human life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Self-control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Honesty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Courage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Self-sacrifice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Wrong: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Cheating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Cowardice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0665" lvl="0" indent="-227965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46C3D2"/>
              </a:buClr>
              <a:buSzPts val="1600"/>
              <a:buFont typeface="Arial" panose="020B0604020202020204"/>
              <a:buChar char="•"/>
            </a:pPr>
            <a:r>
              <a:rPr lang="en-US"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Cruelty</a:t>
            </a:r>
            <a:endParaRPr sz="1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BLAKE MYCOSKIE TOMS Shoes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p>
            <a:r>
              <a:rPr lang="en-US"/>
              <a:t>While appearing on The Amazing Race, Mycoskie saw how badly local children in Argentinaneeded shoes. He founded TOMS in TOMS gives a pair of shoes to a child in need for every pair</a:t>
            </a:r>
            <a:r>
              <a:rPr lang="en-GB" altLang="en-US"/>
              <a:t> </a:t>
            </a:r>
            <a:r>
              <a:rPr lang="en-US"/>
              <a:t>sold.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232728"/>
            <a:ext cx="9144000" cy="2387600"/>
          </a:xfrm>
        </p:spPr>
        <p:txBody>
          <a:bodyPr/>
          <a:p>
            <a:r>
              <a:rPr lang="en-US"/>
              <a:t>COST of CORRUPTION (Legal Briefcase)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10005" y="2454910"/>
            <a:ext cx="9357995" cy="2802890"/>
          </a:xfrm>
        </p:spPr>
        <p:txBody>
          <a:bodyPr>
            <a:normAutofit fontScale="80000"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Madoff Investment Securities: Bernie Madoff is serving 150 years behind bars after running his</a:t>
            </a:r>
            <a:r>
              <a:rPr lang="en-GB" altLang="en-US"/>
              <a:t> </a:t>
            </a:r>
            <a:r>
              <a:rPr lang="en-US"/>
              <a:t>exclusive wealth management firm as a gigantic Ponzi scheme.</a:t>
            </a:r>
            <a:endParaRPr lang="en-US"/>
          </a:p>
          <a:p>
            <a:r>
              <a:rPr lang="en-US"/>
              <a:t>• Enron: Jeffery Skilling is serving a 24 year sentence for accounting fraud while</a:t>
            </a:r>
            <a:r>
              <a:rPr lang="en-GB" altLang="en-US"/>
              <a:t> </a:t>
            </a:r>
            <a:r>
              <a:rPr lang="en-US"/>
              <a:t>Richard Causey, who pled guilty, will be released in October Former CEO, Kenneth Lay, died</a:t>
            </a:r>
            <a:endParaRPr lang="en-US"/>
          </a:p>
          <a:p>
            <a:r>
              <a:rPr lang="en-US"/>
              <a:t>before sentencing.</a:t>
            </a:r>
            <a:endParaRPr lang="en-US"/>
          </a:p>
          <a:p>
            <a:r>
              <a:rPr lang="en-US"/>
              <a:t>• WorldCom: Former CEO, Bernie Ebbers, was convicted of fraud, conspiracy and false filings and</a:t>
            </a:r>
            <a:r>
              <a:rPr lang="en-GB" altLang="en-US"/>
              <a:t> </a:t>
            </a:r>
            <a:r>
              <a:rPr lang="en-US"/>
              <a:t>sentenced to 25 years.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880745"/>
          </a:xfrm>
        </p:spPr>
        <p:txBody>
          <a:bodyPr>
            <a:normAutofit fontScale="90000"/>
          </a:bodyPr>
          <a:p>
            <a:r>
              <a:rPr lang="en-US"/>
              <a:t>FACING ETHICAL DILEMMAS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80490" y="2004060"/>
            <a:ext cx="9287510" cy="3253740"/>
          </a:xfrm>
        </p:spPr>
        <p:txBody>
          <a:bodyPr>
            <a:normAutofit/>
          </a:bodyPr>
          <a:p>
            <a:r>
              <a:rPr lang="en-US"/>
              <a:t>Ask yourself these questions:</a:t>
            </a:r>
            <a:endParaRPr lang="en-US"/>
          </a:p>
          <a:p>
            <a:r>
              <a:rPr lang="en-US"/>
              <a:t>Is my proposed action legal?</a:t>
            </a:r>
            <a:endParaRPr lang="en-US"/>
          </a:p>
          <a:p>
            <a:r>
              <a:rPr lang="en-US"/>
              <a:t>Am I violating any law or company policy</a:t>
            </a:r>
            <a:r>
              <a:rPr lang="en-GB" altLang="en-US"/>
              <a:t>.</a:t>
            </a:r>
            <a:r>
              <a:rPr lang="en-US"/>
              <a:t> Whether you're thinking about having a drink and driving</a:t>
            </a:r>
            <a:r>
              <a:rPr lang="en-GB" altLang="en-US"/>
              <a:t> </a:t>
            </a:r>
            <a:r>
              <a:rPr lang="en-US"/>
              <a:t>home</a:t>
            </a:r>
            <a:r>
              <a:rPr lang="en-GB" altLang="en-US"/>
              <a:t>,</a:t>
            </a:r>
            <a:r>
              <a:rPr lang="en-US"/>
              <a:t> hiring or firing employees, getting rid of</a:t>
            </a:r>
            <a:r>
              <a:rPr lang="en-GB" altLang="en-US"/>
              <a:t> </a:t>
            </a:r>
            <a:r>
              <a:rPr lang="en-US"/>
              <a:t>industrial waste, or using a questionable nickname for an employee, think about the legal implications.</a:t>
            </a:r>
            <a:endParaRPr lang="en-US"/>
          </a:p>
          <a:p>
            <a:r>
              <a:rPr lang="en-US"/>
              <a:t>This i</a:t>
            </a:r>
            <a:r>
              <a:rPr lang="en-GB" altLang="en-US"/>
              <a:t>s</a:t>
            </a:r>
            <a:r>
              <a:rPr lang="en-US"/>
              <a:t> the most basic question in business ethics, but it is only the first.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952500"/>
          </a:xfrm>
        </p:spPr>
        <p:txBody>
          <a:bodyPr>
            <a:normAutofit fontScale="90000"/>
          </a:bodyPr>
          <a:p>
            <a:r>
              <a:rPr lang="en-US"/>
              <a:t>Is it balanced?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3365" y="2074545"/>
            <a:ext cx="9144635" cy="3183255"/>
          </a:xfrm>
        </p:spPr>
        <p:txBody>
          <a:bodyPr/>
          <a:p>
            <a:r>
              <a:rPr lang="en-US"/>
              <a:t>Am I acting fairly? </a:t>
            </a:r>
            <a:r>
              <a:rPr lang="en-GB" altLang="en-US"/>
              <a:t>W</a:t>
            </a:r>
            <a:r>
              <a:rPr lang="en-US"/>
              <a:t>ould I want to be treated this way? will I win everything at the expense of another?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How will it make me feel about myself?</a:t>
            </a:r>
            <a:endParaRPr lang="en-US"/>
          </a:p>
          <a:p>
            <a:r>
              <a:rPr lang="en-US"/>
              <a:t>Would I feel proud if my family learned of my decision? My friends? Could I discuss the proposed</a:t>
            </a:r>
            <a:r>
              <a:rPr lang="en-GB" altLang="en-US"/>
              <a:t> </a:t>
            </a:r>
            <a:r>
              <a:rPr lang="en-US"/>
              <a:t>situation or action with my supervisor?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058275" cy="1082675"/>
          </a:xfrm>
        </p:spPr>
        <p:txBody>
          <a:bodyPr>
            <a:normAutofit fontScale="90000"/>
          </a:bodyPr>
          <a:p>
            <a:r>
              <a:rPr lang="en-US"/>
              <a:t>HOW to PREVENT UNETHICAL BEHAVIORS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65860" y="2038985"/>
            <a:ext cx="10018395" cy="4194175"/>
          </a:xfrm>
        </p:spPr>
        <p:txBody>
          <a:bodyPr>
            <a:normAutofit fontScale="80000"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Managers must communicate the organization’s vision on ethical behavior.</a:t>
            </a:r>
            <a:endParaRPr lang="en-US"/>
          </a:p>
          <a:p>
            <a:r>
              <a:rPr lang="en-US"/>
              <a:t>• Organizations must have a code of ethics.</a:t>
            </a:r>
            <a:endParaRPr lang="en-US"/>
          </a:p>
          <a:p>
            <a:r>
              <a:rPr lang="en-US"/>
              <a:t>• Policies have to be enforced regarding ethical offences.</a:t>
            </a:r>
            <a:endParaRPr lang="en-US"/>
          </a:p>
          <a:p>
            <a:r>
              <a:rPr lang="en-US"/>
              <a:t>• Ethical responsibility must be taught to all employees.</a:t>
            </a:r>
            <a:endParaRPr lang="en-US"/>
          </a:p>
          <a:p>
            <a:r>
              <a:rPr lang="en-US"/>
              <a:t>• What is management’s role in preventing unethical behaviors?</a:t>
            </a:r>
            <a:endParaRPr lang="en-US"/>
          </a:p>
          <a:p>
            <a:r>
              <a:rPr lang="en-US"/>
              <a:t>• What can be done to deter unethical behaviors on the part of employees?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Increasing the penalty and educating employees are among the top methods for deterring</a:t>
            </a:r>
            <a:endParaRPr lang="en-US"/>
          </a:p>
          <a:p>
            <a:r>
              <a:rPr lang="en-US"/>
              <a:t>unethical behaviors.</a:t>
            </a:r>
            <a:endParaRPr lang="en-US"/>
          </a:p>
          <a:p>
            <a:r>
              <a:rPr lang="en-US"/>
              <a:t>• Thirty percent of the respondents in a poll suggested adding new laws to deter unethical</a:t>
            </a:r>
            <a:endParaRPr lang="en-US"/>
          </a:p>
          <a:p>
            <a:r>
              <a:rPr lang="en-US"/>
              <a:t>behaviors.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GB" altLang="en-US"/>
              <a:t>Corporate Social Responsibility</a:t>
            </a:r>
            <a:endParaRPr lang="en-GB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0000" lnSpcReduction="20000"/>
          </a:bodyPr>
          <a:p>
            <a:r>
              <a:rPr lang="en-US"/>
              <a:t>Friedman (1970), provides an excellent definition on Corporate Social Responsibility by saying, CSR is when a company – or managers acting on its behalf – has a “social conscience and take[s] seriously its responsibilities for providing employment, eliminating discrimination, avoiding pollution</a:t>
            </a:r>
            <a:r>
              <a:rPr lang="en-GB" altLang="en-US"/>
              <a:t>. CSR practices should be approached from strategic perspective rather than tactical ( Dutta &amp; Singh, 2016).</a:t>
            </a:r>
            <a:endParaRPr lang="en-GB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272270" cy="1226185"/>
          </a:xfrm>
        </p:spPr>
        <p:txBody>
          <a:bodyPr>
            <a:normAutofit fontScale="90000"/>
          </a:bodyPr>
          <a:p>
            <a:r>
              <a:rPr lang="en-US"/>
              <a:t>Corporate Social Responsibility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250950" y="2348865"/>
            <a:ext cx="9417050" cy="2908935"/>
          </a:xfrm>
        </p:spPr>
        <p:txBody>
          <a:bodyPr>
            <a:normAutofit fontScale="90000"/>
          </a:bodyPr>
          <a:p>
            <a:r>
              <a:rPr lang="en-US"/>
              <a:t>• Focuses on what an organisation does to influence the society in which it exists.</a:t>
            </a:r>
            <a:endParaRPr lang="en-US"/>
          </a:p>
          <a:p>
            <a:r>
              <a:rPr lang="en-US"/>
              <a:t>The arena of social responsibility debates is shaped by</a:t>
            </a:r>
            <a:endParaRPr lang="en-US"/>
          </a:p>
          <a:p>
            <a:r>
              <a:rPr lang="en-US"/>
              <a:t>• Economic responsibility – be profitable</a:t>
            </a:r>
            <a:endParaRPr lang="en-US"/>
          </a:p>
          <a:p>
            <a:r>
              <a:rPr lang="en-US"/>
              <a:t>• Legal responsibility – obey the law</a:t>
            </a:r>
            <a:endParaRPr lang="en-US"/>
          </a:p>
          <a:p>
            <a:r>
              <a:rPr lang="en-US"/>
              <a:t>• Ethical responsibility – be ethical. Do what is right. Avoid harm.</a:t>
            </a:r>
            <a:endParaRPr lang="en-US"/>
          </a:p>
          <a:p>
            <a:r>
              <a:rPr lang="en-US"/>
              <a:t>• Discretionary responsibility: Contribute to the community and quality of life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67155" y="1122680"/>
            <a:ext cx="9300845" cy="924560"/>
          </a:xfrm>
        </p:spPr>
        <p:txBody>
          <a:bodyPr>
            <a:normAutofit fontScale="90000"/>
          </a:bodyPr>
          <a:p>
            <a:r>
              <a:rPr lang="en-US"/>
              <a:t>Corporate Social Responsibility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37285" y="2047875"/>
            <a:ext cx="9787890" cy="4428490"/>
          </a:xfrm>
        </p:spPr>
        <p:txBody>
          <a:bodyPr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Corporate philanthropy</a:t>
            </a:r>
            <a:r>
              <a:rPr lang="en-GB" altLang="en-US"/>
              <a:t>-Corporate philanthropy includes charitable donations to nonprofit groups of all kinds.</a:t>
            </a:r>
            <a:endParaRPr lang="en-GB" altLang="en-US"/>
          </a:p>
          <a:p>
            <a:r>
              <a:rPr lang="en-US"/>
              <a:t>• Corporate social initiatives</a:t>
            </a:r>
            <a:r>
              <a:rPr lang="en-GB" altLang="en-US"/>
              <a:t>- corporate social </a:t>
            </a:r>
            <a:r>
              <a:rPr lang="en-US"/>
              <a:t>initiatives differ from traditional philanthropy in that they are more directly related to the company's</a:t>
            </a:r>
            <a:r>
              <a:rPr lang="en-GB" altLang="en-US"/>
              <a:t> </a:t>
            </a:r>
            <a:r>
              <a:rPr lang="en-US"/>
              <a:t>competencies.</a:t>
            </a:r>
            <a:endParaRPr lang="en-US"/>
          </a:p>
          <a:p>
            <a:r>
              <a:rPr lang="en-US"/>
              <a:t>• Corporate responsibility</a:t>
            </a:r>
            <a:r>
              <a:rPr lang="en-GB" altLang="en-US"/>
              <a:t>- Corporate Responsibility includes everything from hiring minority workers to making safe products, </a:t>
            </a:r>
            <a:r>
              <a:rPr lang="en-US"/>
              <a:t>minimizing pollution, using energy wisely, and providing a safe work environment-essentially everything</a:t>
            </a:r>
            <a:r>
              <a:rPr lang="en-GB" altLang="en-US"/>
              <a:t> </a:t>
            </a:r>
            <a:r>
              <a:rPr lang="en-US"/>
              <a:t>that has to do with acting responsibly within society.</a:t>
            </a:r>
            <a:endParaRPr lang="en-US"/>
          </a:p>
          <a:p>
            <a:r>
              <a:rPr lang="en-US"/>
              <a:t>• Corporate policies</a:t>
            </a:r>
            <a:r>
              <a:rPr lang="en-GB" altLang="en-US"/>
              <a:t>-Corporate policy refers to the position a firm takes on social and political issues.</a:t>
            </a:r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50178"/>
            <a:ext cx="9144000" cy="2387600"/>
          </a:xfrm>
        </p:spPr>
        <p:txBody>
          <a:bodyPr>
            <a:normAutofit/>
          </a:bodyPr>
          <a:p>
            <a:pPr marL="0" indent="0"/>
            <a:r>
              <a:rPr lang="en-US" sz="4890"/>
              <a:t>Stakeholders to whom businesses are responsible</a:t>
            </a:r>
            <a:br>
              <a:rPr lang="en-US" sz="4890"/>
            </a:br>
            <a:r>
              <a:rPr lang="en-US" sz="4890"/>
              <a:t>Responsibility to Customers</a:t>
            </a:r>
            <a:endParaRPr lang="en-US" sz="489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2407920"/>
            <a:ext cx="9685020" cy="3870325"/>
          </a:xfrm>
        </p:spPr>
        <p:txBody>
          <a:bodyPr>
            <a:noAutofit/>
          </a:bodyPr>
          <a:p>
            <a:r>
              <a:rPr lang="en-US" sz="2800"/>
              <a:t>Right to safety</a:t>
            </a:r>
            <a:endParaRPr lang="en-US" sz="2800"/>
          </a:p>
          <a:p>
            <a:r>
              <a:rPr lang="en-US" sz="2800"/>
              <a:t>• Right to be informed</a:t>
            </a:r>
            <a:endParaRPr lang="en-US" sz="2800"/>
          </a:p>
          <a:p>
            <a:r>
              <a:rPr lang="en-US" sz="2800"/>
              <a:t>• Right to choose</a:t>
            </a:r>
            <a:endParaRPr lang="en-US" sz="2800"/>
          </a:p>
          <a:p>
            <a:r>
              <a:rPr lang="en-US" sz="2800"/>
              <a:t>• Right to be heard</a:t>
            </a:r>
            <a:endParaRPr lang="en-US" sz="2800"/>
          </a:p>
          <a:p>
            <a:endParaRPr lang="en-US" sz="2800"/>
          </a:p>
          <a:p>
            <a:r>
              <a:rPr lang="en-US" sz="2800"/>
              <a:t>One sure way of failing to please customers is to be less than honest with them.</a:t>
            </a:r>
            <a:r>
              <a:rPr lang="en-GB" altLang="en-US" sz="2800"/>
              <a:t> A socially conscious company is likely to be viewed more favorably than others.</a:t>
            </a:r>
            <a:endParaRPr lang="en-GB" alt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058275" cy="981710"/>
          </a:xfrm>
        </p:spPr>
        <p:txBody>
          <a:bodyPr>
            <a:normAutofit fontScale="90000"/>
          </a:bodyPr>
          <a:p>
            <a:r>
              <a:rPr lang="en-US"/>
              <a:t>Responsibility to Investors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52550" y="2104390"/>
            <a:ext cx="9315450" cy="3153410"/>
          </a:xfrm>
        </p:spPr>
        <p:txBody>
          <a:bodyPr>
            <a:normAutofit/>
          </a:bodyPr>
          <a:p>
            <a:r>
              <a:rPr lang="en-US"/>
              <a:t>Many investors believe that it makes financial as well as moral sense to invest in companies that plan</a:t>
            </a:r>
            <a:r>
              <a:rPr lang="en-GB" altLang="en-US"/>
              <a:t> </a:t>
            </a:r>
            <a:r>
              <a:rPr lang="en-US"/>
              <a:t>ahead to create a better environment. By choosing to put their money into companies whose goods and</a:t>
            </a:r>
            <a:r>
              <a:rPr lang="en-GB" altLang="en-US"/>
              <a:t> </a:t>
            </a:r>
            <a:r>
              <a:rPr lang="en-US"/>
              <a:t>services benefit the community and the environment, investors can improve their own financial health</a:t>
            </a:r>
            <a:r>
              <a:rPr lang="en-GB" altLang="en-US"/>
              <a:t> </a:t>
            </a:r>
            <a:r>
              <a:rPr lang="en-US"/>
              <a:t>while improving society.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Responsibility to Employees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sz="3200"/>
              <a:t>If a company treats employees with respect these employees will usually treat companies with respect</a:t>
            </a:r>
            <a:r>
              <a:rPr lang="en-GB" altLang="en-US" sz="3200"/>
              <a:t> </a:t>
            </a:r>
            <a:r>
              <a:rPr lang="en-US" sz="3200"/>
              <a:t>as well.</a:t>
            </a:r>
            <a:endParaRPr lang="en-US"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Responsibility to society and the environment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0000"/>
          </a:bodyPr>
          <a:p>
            <a:r>
              <a:rPr lang="en-US"/>
              <a:t>As concern about global warming increased, - the green movement emerged a nearly every aspect of</a:t>
            </a:r>
            <a:r>
              <a:rPr lang="en-GB" altLang="en-US"/>
              <a:t> </a:t>
            </a:r>
            <a:r>
              <a:rPr lang="en-US"/>
              <a:t>daily life. What makes a life green? Some believe that a product carbon footprint (the amount of carbon</a:t>
            </a:r>
            <a:r>
              <a:rPr lang="en-GB" altLang="en-US"/>
              <a:t> </a:t>
            </a:r>
            <a:r>
              <a:rPr lang="en-US"/>
              <a:t>released during production, distribution, consumption, and disposal defines how green it is</a:t>
            </a:r>
            <a:r>
              <a:rPr lang="en-GB" altLang="en-US"/>
              <a:t>)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SOCIAL AUDITING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Social Audit -- A systematic evaluation of an organization’s progress toward implementing</a:t>
            </a:r>
            <a:r>
              <a:rPr lang="en-GB" altLang="en-US"/>
              <a:t> </a:t>
            </a:r>
            <a:r>
              <a:rPr lang="en-US"/>
              <a:t>programs that are socially responsible and responsive.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53235" y="1122680"/>
            <a:ext cx="8914765" cy="1541780"/>
          </a:xfrm>
        </p:spPr>
        <p:txBody>
          <a:bodyPr>
            <a:normAutofit fontScale="90000"/>
          </a:bodyPr>
          <a:p>
            <a:r>
              <a:rPr lang="en-US"/>
              <a:t>Four Types of Social Audit Watchdogs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67155" y="2665095"/>
            <a:ext cx="9300845" cy="3223895"/>
          </a:xfrm>
        </p:spPr>
        <p:txBody>
          <a:bodyPr>
            <a:noAutofit/>
          </a:bodyPr>
          <a:p>
            <a:r>
              <a:rPr lang="en-US" sz="3200"/>
              <a:t>- Socially conscious investors</a:t>
            </a:r>
            <a:endParaRPr lang="en-US" sz="3200"/>
          </a:p>
          <a:p>
            <a:r>
              <a:rPr lang="en-US" sz="3200"/>
              <a:t>- Environmentalists- Bangladesh Environmental Lawyers Association</a:t>
            </a:r>
            <a:endParaRPr lang="en-US" sz="3200"/>
          </a:p>
          <a:p>
            <a:r>
              <a:rPr lang="en-US" sz="3200"/>
              <a:t>- Union officials- “Garment Sromik Trade Union Kendro”.</a:t>
            </a:r>
            <a:endParaRPr lang="en-US" sz="3200"/>
          </a:p>
          <a:p>
            <a:r>
              <a:rPr lang="en-US" sz="3200"/>
              <a:t>- Customers</a:t>
            </a:r>
            <a:endParaRPr lang="en-US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5779</Words>
  <Application>WPS Presentation</Application>
  <PresentationFormat>Widescreen</PresentationFormat>
  <Paragraphs>125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Trebuchet MS</vt:lpstr>
      <vt:lpstr>Arial</vt:lpstr>
      <vt:lpstr>Arial Black</vt:lpstr>
      <vt:lpstr>Office Theme</vt:lpstr>
      <vt:lpstr>Week-2 Session-1</vt:lpstr>
      <vt:lpstr>Ethics</vt:lpstr>
      <vt:lpstr>What is Business Ethics?</vt:lpstr>
      <vt:lpstr>BASIC MORAL VALUES Right: Wrong: Integrity Cheating Cowardice</vt:lpstr>
      <vt:lpstr>BLAKE MYCOSKIE TOMS Shoes</vt:lpstr>
      <vt:lpstr>COST of CORRUPTION (Legal Briefcase)</vt:lpstr>
      <vt:lpstr>FACING ETHICAL DILEMMAS</vt:lpstr>
      <vt:lpstr>Is it balanced?</vt:lpstr>
      <vt:lpstr>HOW to PREVENT UNETHICAL BEHAVIORS</vt:lpstr>
      <vt:lpstr>Corporate Social Responsibility</vt:lpstr>
      <vt:lpstr>Corporate Social Responsibility</vt:lpstr>
      <vt:lpstr>Corporate Social Responsibility</vt:lpstr>
      <vt:lpstr>Stakeholders to whom businesses are responsible Responsibility to Customers</vt:lpstr>
      <vt:lpstr>Responsibility to Investors</vt:lpstr>
      <vt:lpstr>Responsibility to Employees</vt:lpstr>
      <vt:lpstr>Responsibility to society and the environment</vt:lpstr>
      <vt:lpstr>SOCIAL AUDITING</vt:lpstr>
      <vt:lpstr>Four Types of Social Audit Watchdogs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Week-2 Session-1</dc:title>
  <dc:creator>User</dc:creator>
  <cp:lastModifiedBy>Zoeb-Ur- Rahman</cp:lastModifiedBy>
  <cp:revision>8</cp:revision>
  <dcterms:created xsi:type="dcterms:W3CDTF">2024-06-01T18:17:00Z</dcterms:created>
  <dcterms:modified xsi:type="dcterms:W3CDTF">2024-10-27T15:58:06Z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8AE6913CAC3D474EA5160E600DE712C3_13</vt:lpwstr>
  </property>
  <property fmtid="{D5CDD505-2E9C-101B-9397-08002B2CF9AE}" pid="3" name="KSOProductBuildVer">
    <vt:lpwstr>1033-12.2.0.18607</vt:lpwstr>
  </property>
</Properties>
</file>