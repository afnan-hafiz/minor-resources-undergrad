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80" r:id="rId3"/>
    <p:sldId id="258" r:id="rId4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/>
  <p:notesSz cx="6858000" cy="9144000"/>
  <p:embeddedFontLst>
    <p:embeddedFont>
      <p:font typeface="Calibri" panose="020F0502020204030204"/>
      <p:regular r:id="rId20"/>
    </p:embeddedFont>
    <p:embeddedFont>
      <p:font typeface="Helvetica Neue" panose="020B0604020202020204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14" name="Google Shape;114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p5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37" name="Google Shape;137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9" name="Google Shape;149;p7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p8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2" name="Google Shape;162;p9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p10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74" name="Google Shape;174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5" name="Google Shape;195;p1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" name="Google Shape;201;p1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0"/>
          <p:cNvSpPr txBox="1"/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  <a:defRPr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8" name="Google Shape;48;p31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9" name="Google Shape;49;p3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2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5" name="Google Shape;55;p32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6" name="Google Shape;56;p3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71" name="Google Shape;71;p35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2" name="Google Shape;72;p35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73" name="Google Shape;73;p35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4" name="Google Shape;74;p3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0" name="Google Shape;80;p3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3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A427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1" name="Google Shape;11;p25"/>
          <p:cNvSpPr txBox="1"/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GB" altLang="en-US"/>
              <a:t>Week-8</a:t>
            </a:r>
            <a:br>
              <a:rPr lang="en-GB" altLang="en-US"/>
            </a:br>
            <a:r>
              <a:rPr lang="en-GB" altLang="en-US"/>
              <a:t>Session-2</a:t>
            </a:r>
            <a:endParaRPr lang="en-GB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457200" y="1600200"/>
            <a:ext cx="8228965" cy="1828800"/>
          </a:xfrm>
        </p:spPr>
        <p:txBody>
          <a:bodyPr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 panose="020B0604020202020204"/>
              <a:buNone/>
            </a:pPr>
            <a:r>
              <a:rPr lang="en-US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Understanding Accounting and Financial Information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>
            <p:ph type="title"/>
          </p:nvPr>
        </p:nvSpPr>
        <p:spPr>
          <a:xfrm>
            <a:off x="533400" y="8382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ACCOUNTING VS. FINANCE</a:t>
            </a:r>
            <a:endParaRPr lang="en-US" sz="4000" b="1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87400" y="1519237"/>
            <a:ext cx="6832600" cy="485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FFDA73"/>
          </a:solidFill>
          <a:ln w="9525" cap="flat" cmpd="sng">
            <a:solidFill>
              <a:srgbClr val="FFE67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956"/>
              </a:buClr>
              <a:buSzPts val="4000"/>
              <a:buFont typeface="Arial" panose="020B0604020202020204"/>
              <a:buNone/>
            </a:pPr>
            <a:r>
              <a:rPr lang="en-US" sz="4000" b="1" i="0" u="none">
                <a:solidFill>
                  <a:srgbClr val="FFD95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*</a:t>
            </a:r>
            <a:endParaRPr lang="en-US" sz="4000" b="1" i="0" u="none">
              <a:solidFill>
                <a:srgbClr val="FFD95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 panose="020B0604020202020204"/>
              <a:buNone/>
            </a:pPr>
            <a:r>
              <a:rPr lang="en-US" sz="4000" b="1" i="0" u="none">
                <a:solidFill>
                  <a:srgbClr val="6600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*</a:t>
            </a:r>
            <a:endParaRPr lang="en-US" sz="4000" b="1" i="0" u="none">
              <a:solidFill>
                <a:srgbClr val="6600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533400" y="2041525"/>
            <a:ext cx="8077200" cy="4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0995" marR="0" lvl="0" indent="-3409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r>
              <a:rPr lang="en-US" sz="2700" b="1" i="0" u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Accounting -- </a:t>
            </a:r>
            <a:r>
              <a:rPr lang="en-US" sz="2500" b="0" i="1" u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Recording, classifying, summarizing and interpreting of financial events and transactions in an organization to provide interested parties needed financial information.</a:t>
            </a:r>
            <a:endParaRPr lang="en-US" sz="2500" b="0" i="1" u="none">
              <a:solidFill>
                <a:srgbClr val="00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0995" marR="0" lvl="0" indent="-340995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Char char="•"/>
            </a:pPr>
            <a:r>
              <a:rPr lang="en-US" sz="2500" b="1" i="0" u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Finance (Financial Management)-- </a:t>
            </a:r>
            <a:r>
              <a:rPr lang="en-US" sz="2500" b="0" i="0" u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It is concerned with the ways in which funds for a business are raised and invested.</a:t>
            </a:r>
            <a:endParaRPr lang="en-US" sz="2500" b="0" i="0" u="none">
              <a:solidFill>
                <a:srgbClr val="00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None/>
            </a:pPr>
            <a:endParaRPr sz="2500" b="0" i="0" u="none">
              <a:solidFill>
                <a:srgbClr val="00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122" name="Google Shape;122;p4"/>
          <p:cNvSpPr txBox="1"/>
          <p:nvPr>
            <p:ph type="ctrTitle"/>
          </p:nvPr>
        </p:nvSpPr>
        <p:spPr>
          <a:xfrm>
            <a:off x="304800" y="762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 panose="020B0604020202020204"/>
              <a:buNone/>
            </a:pPr>
            <a:r>
              <a:rPr lang="en-US" sz="3200" b="1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WHAT’S ACCOUNTING?</a:t>
            </a:r>
            <a:endParaRPr lang="en-US" sz="3200" b="1" i="0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None/>
            </a:pPr>
            <a:r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17-</a:t>
            </a: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lang="en-US" sz="12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body" idx="1"/>
          </p:nvPr>
        </p:nvSpPr>
        <p:spPr>
          <a:xfrm>
            <a:off x="457200" y="685800"/>
            <a:ext cx="8229600" cy="544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endParaRPr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990600" y="1676400"/>
            <a:ext cx="2743200" cy="1295400"/>
          </a:xfrm>
          <a:prstGeom prst="rect">
            <a:avLst/>
          </a:prstGeom>
          <a:gradFill>
            <a:gsLst>
              <a:gs pos="0">
                <a:srgbClr val="A0CA4A"/>
              </a:gs>
              <a:gs pos="100000">
                <a:srgbClr val="DCFFA0"/>
              </a:gs>
            </a:gsLst>
            <a:lin ang="16200000" scaled="0"/>
          </a:gradFill>
          <a:ln w="9525" cap="flat" cmpd="sng">
            <a:solidFill>
              <a:srgbClr val="98B95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 panose="020F0502020204030204"/>
              <a:buNone/>
            </a:pPr>
            <a:r>
              <a:rPr lang="en-US" sz="2400" b="0" i="0" u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Raise Funds</a:t>
            </a:r>
            <a:endParaRPr lang="en-US" sz="2400" b="0" i="0" u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2057400" y="3086100"/>
            <a:ext cx="457200" cy="457200"/>
          </a:xfrm>
          <a:prstGeom prst="downArrow">
            <a:avLst>
              <a:gd name="adj1" fmla="val 10800"/>
              <a:gd name="adj2" fmla="val 50000"/>
            </a:avLst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914400" y="4419600"/>
            <a:ext cx="2743200" cy="990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 panose="020F0502020204030204"/>
              <a:buNone/>
            </a:pPr>
            <a:r>
              <a:rPr lang="en-US" sz="2400" b="0" i="0" u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Owners, Lenders </a:t>
            </a:r>
            <a:endParaRPr lang="en-US" sz="2400" b="0" i="0" u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5334000" y="1676400"/>
            <a:ext cx="2819400" cy="1295400"/>
          </a:xfrm>
          <a:prstGeom prst="rect">
            <a:avLst/>
          </a:prstGeom>
          <a:gradFill>
            <a:gsLst>
              <a:gs pos="0">
                <a:srgbClr val="7F5BAB"/>
              </a:gs>
              <a:gs pos="100000">
                <a:srgbClr val="C8B0ED"/>
              </a:gs>
            </a:gsLst>
            <a:lin ang="16200000" scaled="0"/>
          </a:gradFill>
          <a:ln w="9525" cap="flat" cmpd="sng">
            <a:solidFill>
              <a:srgbClr val="7D60A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 panose="020F0502020204030204"/>
              <a:buNone/>
            </a:pPr>
            <a:r>
              <a:rPr lang="en-US" sz="2400" b="0" i="0" u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 Funds</a:t>
            </a:r>
            <a:endParaRPr lang="en-US" sz="2400" b="0" i="0" u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553200" y="3086100"/>
            <a:ext cx="457200" cy="457200"/>
          </a:xfrm>
          <a:prstGeom prst="downArrow">
            <a:avLst>
              <a:gd name="adj1" fmla="val 10800"/>
              <a:gd name="adj2" fmla="val 50000"/>
            </a:avLst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372100" y="4368800"/>
            <a:ext cx="2819400" cy="1066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1403C"/>
              </a:gs>
              <a:gs pos="100000">
                <a:srgbClr val="FF9A99"/>
              </a:gs>
            </a:gsLst>
            <a:lin ang="16200000" scaled="0"/>
          </a:gradFill>
          <a:ln w="9525" cap="flat" cmpd="sng">
            <a:solidFill>
              <a:srgbClr val="BE4B4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 panose="020F0502020204030204"/>
              <a:buNone/>
            </a:pPr>
            <a:r>
              <a:rPr lang="en-US" sz="2400" b="0" i="0" u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Investments (Equipment, premises etc.)</a:t>
            </a:r>
            <a:endParaRPr lang="en-US" sz="2400" b="0" i="0" u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FFDA73"/>
          </a:solidFill>
          <a:ln w="9525" cap="flat" cmpd="sng">
            <a:solidFill>
              <a:srgbClr val="FFE67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956"/>
              </a:buClr>
              <a:buSzPts val="4000"/>
              <a:buFont typeface="Arial" panose="020B0604020202020204"/>
              <a:buNone/>
            </a:pPr>
            <a:r>
              <a:rPr lang="en-US" sz="4000" b="1" i="0" u="none">
                <a:solidFill>
                  <a:srgbClr val="FFD95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*</a:t>
            </a:r>
            <a:endParaRPr lang="en-US" sz="4000" b="1" i="0" u="none">
              <a:solidFill>
                <a:srgbClr val="FFD95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 panose="020B0604020202020204"/>
              <a:buNone/>
            </a:pPr>
            <a:r>
              <a:rPr lang="en-US" sz="4000" b="1" i="0" u="none">
                <a:solidFill>
                  <a:srgbClr val="6600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*</a:t>
            </a:r>
            <a:endParaRPr lang="en-US" sz="4000" b="1" i="0" u="none">
              <a:solidFill>
                <a:srgbClr val="6600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4" name="Google Shape;144;p6"/>
          <p:cNvSpPr txBox="1"/>
          <p:nvPr>
            <p:ph type="ctrTitle"/>
          </p:nvPr>
        </p:nvSpPr>
        <p:spPr>
          <a:xfrm>
            <a:off x="228600" y="762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 panose="020B0604020202020204"/>
              <a:buNone/>
            </a:pPr>
            <a:r>
              <a:rPr lang="en-US" sz="3200" b="1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The ACCOUNTING SYSTEM</a:t>
            </a:r>
            <a:endParaRPr lang="en-US" sz="3200" b="1" i="0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pic>
        <p:nvPicPr>
          <p:cNvPr id="145" name="Google Shape;145;p6" descr="F1701.psd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09600" y="2133600"/>
            <a:ext cx="7948612" cy="294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None/>
            </a:pPr>
            <a:r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17-</a:t>
            </a: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lang="en-US" sz="12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</a:pPr>
            <a:r>
              <a:rPr lang="en-US" sz="36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Who are the users of Accounting Information</a:t>
            </a:r>
            <a:endParaRPr lang="en-US" sz="36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2" name="Google Shape;152;p7"/>
          <p:cNvSpPr txBox="1"/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accountant must be clear for whom the information is being prepared and for what purpose the information will be used.</a:t>
            </a:r>
            <a:endParaRPr lang="en-US" sz="18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3" name="Google Shape;153;p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2000" y="2273300"/>
            <a:ext cx="762000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 b="0" i="0" u="none">
                <a:solidFill>
                  <a:srgbClr val="FFE67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conflicting interest of users</a:t>
            </a:r>
            <a:endParaRPr>
              <a:solidFill>
                <a:srgbClr val="FFE679"/>
              </a:solidFill>
            </a:endParaRPr>
          </a:p>
        </p:txBody>
      </p:sp>
      <p:sp>
        <p:nvSpPr>
          <p:cNvPr id="159" name="Google Shape;159;p8"/>
          <p:cNvSpPr txBox="1"/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Interest of various groups may collide</a:t>
            </a:r>
            <a:endParaRPr lang="en-US" sz="32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Although managers are appointed to act in the best interests of the owners, they may not always do so.</a:t>
            </a:r>
            <a:endParaRPr lang="en-US" sz="32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There is also a potential collision of interest between lenders and owners</a:t>
            </a:r>
            <a:endParaRPr lang="en-US" sz="32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Management Accounting &amp; Financial Accounting</a:t>
            </a:r>
            <a:endParaRPr lang="en-US" sz="44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5" name="Google Shape;165;p9"/>
          <p:cNvSpPr txBox="1"/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 panose="020B0604020202020204"/>
              <a:buNone/>
            </a:pPr>
            <a:r>
              <a:rPr lang="en-US" sz="3200" b="1" i="0" u="none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Management accounting</a:t>
            </a:r>
            <a:r>
              <a:rPr lang="en-US" sz="32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- seeks to meet the accounting needs of managers</a:t>
            </a:r>
            <a:endParaRPr lang="en-US" sz="32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 panose="020B0604020202020204"/>
              <a:buNone/>
            </a:pPr>
            <a:r>
              <a:rPr lang="en-US" sz="3200" b="1" i="0" u="none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Financial accounting</a:t>
            </a:r>
            <a:r>
              <a:rPr lang="en-US" sz="32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 seeks to meet those of all of the users identified earlier in except  for  managers</a:t>
            </a:r>
            <a:endParaRPr lang="en-US" sz="32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Management &amp; Financial Accounting</a:t>
            </a:r>
            <a:endParaRPr lang="en-US" sz="44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1" name="Google Shape;171;p10"/>
          <p:cNvPicPr preferRelativeResize="0"/>
          <p:nvPr>
            <p:ph type="body" idx="1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1219200" y="1595437"/>
            <a:ext cx="7162800" cy="4525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FFDA73"/>
          </a:solidFill>
          <a:ln w="9525" cap="flat" cmpd="sng">
            <a:solidFill>
              <a:srgbClr val="FFE67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956"/>
              </a:buClr>
              <a:buSzPts val="4000"/>
              <a:buFont typeface="Arial" panose="020B0604020202020204"/>
              <a:buNone/>
            </a:pPr>
            <a:r>
              <a:rPr lang="en-US" sz="4000" b="1" i="0" u="none">
                <a:solidFill>
                  <a:srgbClr val="FFD95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*</a:t>
            </a:r>
            <a:endParaRPr lang="en-US" sz="4000" b="1" i="0" u="none">
              <a:solidFill>
                <a:srgbClr val="FFD95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 panose="020B0604020202020204"/>
              <a:buNone/>
            </a:pPr>
            <a:r>
              <a:rPr lang="en-US" sz="4000" b="1" i="0" u="none">
                <a:solidFill>
                  <a:srgbClr val="6600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*</a:t>
            </a:r>
            <a:endParaRPr lang="en-US" sz="4000" b="1" i="0" u="none">
              <a:solidFill>
                <a:srgbClr val="6600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495300" y="1693337"/>
            <a:ext cx="8077200" cy="12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4170" marR="0" lvl="0" indent="-3441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 panose="020B0604020202020204"/>
              <a:buChar char="•"/>
            </a:pPr>
            <a:r>
              <a:rPr lang="en-US" sz="2700" b="1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Financial Statement -- </a:t>
            </a:r>
            <a:r>
              <a:rPr lang="en-US" sz="2500" b="0" i="1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A summary of all the financial transactions that have occurred over a particular period.</a:t>
            </a:r>
            <a:endParaRPr lang="en-US" sz="2500" b="0" i="1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182" name="Google Shape;182;p11"/>
          <p:cNvSpPr txBox="1"/>
          <p:nvPr>
            <p:ph type="ctrTitle"/>
          </p:nvPr>
        </p:nvSpPr>
        <p:spPr>
          <a:xfrm>
            <a:off x="228600" y="762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 panose="020B0604020202020204"/>
              <a:buNone/>
            </a:pPr>
            <a:r>
              <a:rPr lang="en-US" sz="3200" b="1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FINANCIAL STATEMENTS</a:t>
            </a:r>
            <a:endParaRPr lang="en-US" sz="3200" b="1" i="0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7391400" y="457200"/>
            <a:ext cx="149225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 panose="020B0604020202020204"/>
              <a:buNone/>
            </a:pPr>
            <a:r>
              <a:rPr lang="en-US" sz="1500" b="0" i="1" u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Understanding Key Financial Statements</a:t>
            </a:r>
            <a:endParaRPr lang="en-US" sz="1500" b="0" i="1" u="none">
              <a:solidFill>
                <a:schemeClr val="lt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7772400" y="1295400"/>
            <a:ext cx="6858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 panose="020B0604020202020204"/>
              <a:buNone/>
            </a:pPr>
            <a:r>
              <a:rPr lang="en-US" sz="1700" b="1" i="0" u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LG3</a:t>
            </a:r>
            <a:endParaRPr lang="en-US" sz="1700" b="1" i="0" u="none">
              <a:solidFill>
                <a:schemeClr val="lt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pic>
        <p:nvPicPr>
          <p:cNvPr id="185" name="Google Shape;185;p11" descr="Paper Pile.psd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867400" y="3429000"/>
            <a:ext cx="2438400" cy="2777067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1"/>
          <p:cNvSpPr txBox="1"/>
          <p:nvPr/>
        </p:nvSpPr>
        <p:spPr>
          <a:xfrm>
            <a:off x="457200" y="3557587"/>
            <a:ext cx="5486400" cy="178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4170" marR="0" lvl="0" indent="-3441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</a:pPr>
            <a:r>
              <a:rPr lang="en-US" sz="1600" b="0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Key financial statements of business are:</a:t>
            </a:r>
            <a:endParaRPr lang="en-US" sz="1600" b="0" i="0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34417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Char char="-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Statement of financial position (Balance sheet) </a:t>
            </a:r>
            <a:endParaRPr lang="en-US" sz="1600" b="0" i="1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34417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Char char="-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Income statement (known as profit and loss account)</a:t>
            </a:r>
            <a:endParaRPr lang="en-US" sz="1600" b="0" i="1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34417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Char char="-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Statement of cash flows</a:t>
            </a:r>
            <a:endParaRPr lang="en-US" sz="1600" b="0" i="1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None/>
            </a:pPr>
            <a:r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17-</a:t>
            </a: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lang="en-US" sz="12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2"/>
          <p:cNvPicPr preferRelativeResize="0"/>
          <p:nvPr>
            <p:ph type="body" idx="1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1066800" y="533400"/>
            <a:ext cx="6858000" cy="484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Income statement </a:t>
            </a:r>
            <a:endParaRPr lang="en-US" sz="44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8" name="Google Shape;198;p13"/>
          <p:cNvSpPr txBox="1"/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 panose="020B0604020202020204"/>
              <a:buChar char="•"/>
            </a:pPr>
            <a:r>
              <a:rPr lang="en-US" sz="3200" b="0" i="0" u="none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Revenue: </a:t>
            </a:r>
            <a:r>
              <a:rPr lang="en-US" sz="20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simply a measure of the inflow of economic benefits arising from the ordinary operations of a business. </a:t>
            </a:r>
            <a:endParaRPr lang="en-US" sz="20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r>
              <a:rPr lang="en-US" sz="20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Some examples </a:t>
            </a:r>
            <a:endParaRPr lang="en-US" sz="20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Sales of Goods</a:t>
            </a:r>
            <a:endParaRPr lang="en-US" sz="20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Fees for services</a:t>
            </a:r>
            <a:endParaRPr lang="en-US" sz="20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Subscriptions</a:t>
            </a:r>
            <a:endParaRPr lang="en-US" sz="20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Interest received </a:t>
            </a:r>
            <a:endParaRPr lang="en-US" sz="20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 panose="020B0604020202020204"/>
              <a:buChar char="•"/>
            </a:pPr>
            <a:r>
              <a:rPr lang="en-US" sz="3200" b="0" i="0" u="none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Cost of Sales: </a:t>
            </a:r>
            <a:r>
              <a:rPr lang="en-US" sz="20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much it costs to produce a good or service</a:t>
            </a:r>
            <a:endParaRPr lang="en-US" sz="20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Income statement </a:t>
            </a:r>
            <a:endParaRPr lang="en-US" sz="44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Google Shape;204;p14"/>
          <p:cNvSpPr txBox="1"/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endParaRPr sz="20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 panose="020B0604020202020204"/>
              <a:buChar char="•"/>
            </a:pPr>
            <a:r>
              <a:rPr lang="en-US" sz="3200" b="0" i="0" u="none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Operating Expenses</a:t>
            </a:r>
            <a:endParaRPr lang="en-US" sz="3200" b="0" i="0" u="none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 panose="020B0604020202020204"/>
              <a:buChar char="•"/>
            </a:pPr>
            <a:r>
              <a:rPr lang="en-US" sz="3200" b="0" i="0" u="none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Depreciation: </a:t>
            </a:r>
            <a:r>
              <a:rPr lang="en-US" sz="20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depreciation is an attempt to measure that portion of the cost (or fair value) of a non-current asset that has been depleted in generating the revenue recognized during a particular period. </a:t>
            </a:r>
            <a:endParaRPr lang="en-US" sz="20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tion 1 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2038</Words>
  <Application>WPS Presentation</Application>
  <PresentationFormat/>
  <Paragraphs>87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Arial Narrow</vt:lpstr>
      <vt:lpstr>Helvetica Neue</vt:lpstr>
      <vt:lpstr>Times New Roman</vt:lpstr>
      <vt:lpstr>Microsoft YaHei</vt:lpstr>
      <vt:lpstr>Arial Unicode MS</vt:lpstr>
      <vt:lpstr>Merriweather Sans</vt:lpstr>
      <vt:lpstr>Segoe Print</vt:lpstr>
      <vt:lpstr>Noto Sans Symbols</vt:lpstr>
      <vt:lpstr>Courier New</vt:lpstr>
      <vt:lpstr>Section 1 Template</vt:lpstr>
      <vt:lpstr>PowerPoint 演示文稿</vt:lpstr>
      <vt:lpstr>ACCOUNTING VS. FINANCE</vt:lpstr>
      <vt:lpstr>WHAT’S ACCOUNTING?</vt:lpstr>
      <vt:lpstr>PowerPoint 演示文稿</vt:lpstr>
      <vt:lpstr>The ACCOUNTING SYSTEM</vt:lpstr>
      <vt:lpstr>Who are the users of Accounting Information</vt:lpstr>
      <vt:lpstr>The conflicting interest of users</vt:lpstr>
      <vt:lpstr>Management Accounting &amp; Financial Accounting</vt:lpstr>
      <vt:lpstr>Management &amp; Financial Accounting</vt:lpstr>
      <vt:lpstr>FINANCIAL STATEMENTS</vt:lpstr>
      <vt:lpstr>PowerPoint 演示文稿</vt:lpstr>
      <vt:lpstr>The Income statement </vt:lpstr>
      <vt:lpstr>The Income statement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Molly McHugh</dc:creator>
  <cp:lastModifiedBy>Zoeb-Ur- Rahman</cp:lastModifiedBy>
  <cp:revision>4</cp:revision>
  <dcterms:created xsi:type="dcterms:W3CDTF">2024-10-22T16:27:00Z</dcterms:created>
  <dcterms:modified xsi:type="dcterms:W3CDTF">2024-12-09T08:51:43Z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8DCAF328E75F47FD8D6C5A3D0C2140F7_13</vt:lpwstr>
  </property>
  <property fmtid="{D5CDD505-2E9C-101B-9397-08002B2CF9AE}" pid="3" name="KSOProductBuildVer">
    <vt:lpwstr>1033-12.2.0.19307</vt:lpwstr>
  </property>
</Properties>
</file>