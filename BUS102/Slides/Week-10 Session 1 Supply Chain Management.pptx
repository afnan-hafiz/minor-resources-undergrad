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3"/>
    <p:sldMasterId id="2147483673" r:id="rId4"/>
  </p:sldMasterIdLst>
  <p:notesMasterIdLst>
    <p:notesMasterId r:id="rId6"/>
  </p:notesMasterIdLst>
  <p:sldIdLst>
    <p:sldId id="256" r:id="rId5"/>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Lst>
  <p:sldSz cx="9144000" cy="6858000"/>
  <p:notesSz cx="6858000" cy="9144000"/>
  <p:embeddedFontLst>
    <p:embeddedFont>
      <p:font typeface="Calibri" panose="020F0502020204030204"/>
      <p:regular r:id="rId25"/>
    </p:embeddedFont>
    <p:embeddedFont>
      <p:font typeface="Verdana" panose="020B0604030504040204"/>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799" cy="457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2" y="0"/>
            <a:ext cx="2971799" cy="457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n"/>
          <p:cNvSpPr txBox="1"/>
          <p:nvPr>
            <p:ph type="ftr" idx="11"/>
          </p:nvPr>
        </p:nvSpPr>
        <p:spPr>
          <a:xfrm>
            <a:off x="0" y="8685213"/>
            <a:ext cx="2971799"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1: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panose="020B0604020202020204"/>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If this PowerPoint presentation contains mathematical equations, you may need to check that your computer has the following installed:</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200"/>
              <a:buFont typeface="Arial" panose="020B0604020202020204"/>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1) MathType Plugin</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200"/>
              <a:buFont typeface="Arial" panose="020B0604020202020204"/>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2) Math Player (free versions available)</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200"/>
              <a:buFont typeface="Arial" panose="020B0604020202020204"/>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3) NVDA Reader (free versions available)</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58" name="Google Shape;258;p1:notes"/>
          <p:cNvSpPr txBox="1"/>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6" name="Shape 676"/>
        <p:cNvGrpSpPr/>
        <p:nvPr/>
      </p:nvGrpSpPr>
      <p:grpSpPr>
        <a:xfrm>
          <a:off x="0" y="0"/>
          <a:ext cx="0" cy="0"/>
          <a:chOff x="0" y="0"/>
          <a:chExt cx="0" cy="0"/>
        </a:xfrm>
      </p:grpSpPr>
      <p:sp>
        <p:nvSpPr>
          <p:cNvPr id="677" name="Google Shape;677;p13: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678" name="Google Shape;678;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1" name="Shape 681"/>
        <p:cNvGrpSpPr/>
        <p:nvPr/>
      </p:nvGrpSpPr>
      <p:grpSpPr>
        <a:xfrm>
          <a:off x="0" y="0"/>
          <a:ext cx="0" cy="0"/>
          <a:chOff x="0" y="0"/>
          <a:chExt cx="0" cy="0"/>
        </a:xfrm>
      </p:grpSpPr>
      <p:sp>
        <p:nvSpPr>
          <p:cNvPr id="682" name="Google Shape;682;p14: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683" name="Google Shape;683;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7" name="Shape 687"/>
        <p:cNvGrpSpPr/>
        <p:nvPr/>
      </p:nvGrpSpPr>
      <p:grpSpPr>
        <a:xfrm>
          <a:off x="0" y="0"/>
          <a:ext cx="0" cy="0"/>
          <a:chOff x="0" y="0"/>
          <a:chExt cx="0" cy="0"/>
        </a:xfrm>
      </p:grpSpPr>
      <p:sp>
        <p:nvSpPr>
          <p:cNvPr id="688" name="Google Shape;688;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15: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200"/>
              <a:buFont typeface="Times New Roman" panose="02020603050405020304"/>
              <a:buNone/>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Notes:</a:t>
            </a:r>
            <a:endPar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Clr>
                <a:srgbClr val="000000"/>
              </a:buClr>
              <a:buSzPts val="1200"/>
              <a:buFont typeface="Times New Roman" panose="02020603050405020304"/>
              <a:buChar char="•"/>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Supply chain involves everybody, from the customer all the way to the last supplier.</a:t>
            </a:r>
            <a:endPar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Clr>
                <a:srgbClr val="000000"/>
              </a:buClr>
              <a:buSzPts val="1200"/>
              <a:buFont typeface="Times New Roman" panose="02020603050405020304"/>
              <a:buChar char="•"/>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Key flows in the supply chain are - information, product, and cash. It is through these flows that a supply chain fills a customer order. The management of these flows is key to the success or failure of a firm. Give Dell &amp; Compaq example, Amazon &amp; Borders example to bring out the fact that all supply chain interaction is through these flows.</a:t>
            </a:r>
            <a:endPar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0" name="Google Shape;690;p15:notes"/>
          <p:cNvSpPr txBox="1"/>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5" name="Shape 695"/>
        <p:cNvGrpSpPr/>
        <p:nvPr/>
      </p:nvGrpSpPr>
      <p:grpSpPr>
        <a:xfrm>
          <a:off x="0" y="0"/>
          <a:ext cx="0" cy="0"/>
          <a:chOff x="0" y="0"/>
          <a:chExt cx="0" cy="0"/>
        </a:xfrm>
      </p:grpSpPr>
      <p:sp>
        <p:nvSpPr>
          <p:cNvPr id="696" name="Google Shape;696;p16: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697" name="Google Shape;697;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2" name="Shape 702"/>
        <p:cNvGrpSpPr/>
        <p:nvPr/>
      </p:nvGrpSpPr>
      <p:grpSpPr>
        <a:xfrm>
          <a:off x="0" y="0"/>
          <a:ext cx="0" cy="0"/>
          <a:chOff x="0" y="0"/>
          <a:chExt cx="0" cy="0"/>
        </a:xfrm>
      </p:grpSpPr>
      <p:sp>
        <p:nvSpPr>
          <p:cNvPr id="703" name="Google Shape;703;p17: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04" name="Google Shape;704;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8" name="Shape 708"/>
        <p:cNvGrpSpPr/>
        <p:nvPr/>
      </p:nvGrpSpPr>
      <p:grpSpPr>
        <a:xfrm>
          <a:off x="0" y="0"/>
          <a:ext cx="0" cy="0"/>
          <a:chOff x="0" y="0"/>
          <a:chExt cx="0" cy="0"/>
        </a:xfrm>
      </p:grpSpPr>
      <p:sp>
        <p:nvSpPr>
          <p:cNvPr id="709" name="Google Shape;709;p18: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10" name="Google Shape;710;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4" name="Shape 714"/>
        <p:cNvGrpSpPr/>
        <p:nvPr/>
      </p:nvGrpSpPr>
      <p:grpSpPr>
        <a:xfrm>
          <a:off x="0" y="0"/>
          <a:ext cx="0" cy="0"/>
          <a:chOff x="0" y="0"/>
          <a:chExt cx="0" cy="0"/>
        </a:xfrm>
      </p:grpSpPr>
      <p:sp>
        <p:nvSpPr>
          <p:cNvPr id="715" name="Google Shape;715;p19: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16" name="Google Shape;716;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0" name="Shape 720"/>
        <p:cNvGrpSpPr/>
        <p:nvPr/>
      </p:nvGrpSpPr>
      <p:grpSpPr>
        <a:xfrm>
          <a:off x="0" y="0"/>
          <a:ext cx="0" cy="0"/>
          <a:chOff x="0" y="0"/>
          <a:chExt cx="0" cy="0"/>
        </a:xfrm>
      </p:grpSpPr>
      <p:sp>
        <p:nvSpPr>
          <p:cNvPr id="721" name="Google Shape;721;p20: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22" name="Google Shape;722;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6" name="Shape 726"/>
        <p:cNvGrpSpPr/>
        <p:nvPr/>
      </p:nvGrpSpPr>
      <p:grpSpPr>
        <a:xfrm>
          <a:off x="0" y="0"/>
          <a:ext cx="0" cy="0"/>
          <a:chOff x="0" y="0"/>
          <a:chExt cx="0" cy="0"/>
        </a:xfrm>
      </p:grpSpPr>
      <p:sp>
        <p:nvSpPr>
          <p:cNvPr id="727" name="Google Shape;727;p21: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28" name="Google Shape;728;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2" name="Shape 732"/>
        <p:cNvGrpSpPr/>
        <p:nvPr/>
      </p:nvGrpSpPr>
      <p:grpSpPr>
        <a:xfrm>
          <a:off x="0" y="0"/>
          <a:ext cx="0" cy="0"/>
          <a:chOff x="0" y="0"/>
          <a:chExt cx="0" cy="0"/>
        </a:xfrm>
      </p:grpSpPr>
      <p:sp>
        <p:nvSpPr>
          <p:cNvPr id="733" name="Google Shape;733;p22: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34" name="Google Shape;734;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8" name="Shape 738"/>
        <p:cNvGrpSpPr/>
        <p:nvPr/>
      </p:nvGrpSpPr>
      <p:grpSpPr>
        <a:xfrm>
          <a:off x="0" y="0"/>
          <a:ext cx="0" cy="0"/>
          <a:chOff x="0" y="0"/>
          <a:chExt cx="0" cy="0"/>
        </a:xfrm>
      </p:grpSpPr>
      <p:sp>
        <p:nvSpPr>
          <p:cNvPr id="739" name="Google Shape;739;p23: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40" name="Google Shape;740;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4" name="Shape 744"/>
        <p:cNvGrpSpPr/>
        <p:nvPr/>
      </p:nvGrpSpPr>
      <p:grpSpPr>
        <a:xfrm>
          <a:off x="0" y="0"/>
          <a:ext cx="0" cy="0"/>
          <a:chOff x="0" y="0"/>
          <a:chExt cx="0" cy="0"/>
        </a:xfrm>
      </p:grpSpPr>
      <p:sp>
        <p:nvSpPr>
          <p:cNvPr id="745" name="Google Shape;745;p24: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46" name="Google Shape;746;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0" name="Shape 750"/>
        <p:cNvGrpSpPr/>
        <p:nvPr/>
      </p:nvGrpSpPr>
      <p:grpSpPr>
        <a:xfrm>
          <a:off x="0" y="0"/>
          <a:ext cx="0" cy="0"/>
          <a:chOff x="0" y="0"/>
          <a:chExt cx="0" cy="0"/>
        </a:xfrm>
      </p:grpSpPr>
      <p:sp>
        <p:nvSpPr>
          <p:cNvPr id="751" name="Google Shape;751;p25: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52" name="Google Shape;752;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6" name="Shape 756"/>
        <p:cNvGrpSpPr/>
        <p:nvPr/>
      </p:nvGrpSpPr>
      <p:grpSpPr>
        <a:xfrm>
          <a:off x="0" y="0"/>
          <a:ext cx="0" cy="0"/>
          <a:chOff x="0" y="0"/>
          <a:chExt cx="0" cy="0"/>
        </a:xfrm>
      </p:grpSpPr>
      <p:sp>
        <p:nvSpPr>
          <p:cNvPr id="757" name="Google Shape;757;p26: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58" name="Google Shape;758;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2" name="Shape 762"/>
        <p:cNvGrpSpPr/>
        <p:nvPr/>
      </p:nvGrpSpPr>
      <p:grpSpPr>
        <a:xfrm>
          <a:off x="0" y="0"/>
          <a:ext cx="0" cy="0"/>
          <a:chOff x="0" y="0"/>
          <a:chExt cx="0" cy="0"/>
        </a:xfrm>
      </p:grpSpPr>
      <p:sp>
        <p:nvSpPr>
          <p:cNvPr id="763" name="Google Shape;763;p27:notes"/>
          <p:cNvSpPr txBox="1"/>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p>
        </p:txBody>
      </p:sp>
      <p:sp>
        <p:nvSpPr>
          <p:cNvPr id="764" name="Google Shape;764;p2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hapter Opener">
  <p:cSld name="Chapter Opener">
    <p:spTree>
      <p:nvGrpSpPr>
        <p:cNvPr id="15" name="Shape 15"/>
        <p:cNvGrpSpPr/>
        <p:nvPr/>
      </p:nvGrpSpPr>
      <p:grpSpPr>
        <a:xfrm>
          <a:off x="0" y="0"/>
          <a:ext cx="0" cy="0"/>
          <a:chOff x="0" y="0"/>
          <a:chExt cx="0" cy="0"/>
        </a:xfrm>
      </p:grpSpPr>
      <p:sp>
        <p:nvSpPr>
          <p:cNvPr id="16" name="Google Shape;16;p29"/>
          <p:cNvSpPr txBox="1"/>
          <p:nvPr>
            <p:ph type="title"/>
          </p:nvPr>
        </p:nvSpPr>
        <p:spPr>
          <a:xfrm>
            <a:off x="457200" y="215371"/>
            <a:ext cx="8229600" cy="622828"/>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 name="Google Shape;17;p29"/>
          <p:cNvSpPr txBox="1"/>
          <p:nvPr>
            <p:ph type="body" idx="1"/>
          </p:nvPr>
        </p:nvSpPr>
        <p:spPr>
          <a:xfrm>
            <a:off x="457200" y="816429"/>
            <a:ext cx="8229600" cy="478970"/>
          </a:xfrm>
          <a:prstGeom prst="rect">
            <a:avLst/>
          </a:prstGeom>
          <a:noFill/>
          <a:ln>
            <a:noFill/>
          </a:ln>
        </p:spPr>
        <p:txBody>
          <a:bodyPr spcFirstLastPara="1" wrap="square" lIns="91425" tIns="91425" rIns="91425" bIns="91425" anchor="t" anchorCtr="0">
            <a:normAutofit/>
          </a:bodyPr>
          <a:lstStyle>
            <a:lvl1pPr marL="457200" marR="0" lvl="0" indent="-228600" algn="l">
              <a:lnSpc>
                <a:spcPct val="90000"/>
              </a:lnSpc>
              <a:spcBef>
                <a:spcPts val="0"/>
              </a:spcBef>
              <a:spcAft>
                <a:spcPts val="0"/>
              </a:spcAft>
              <a:buClr>
                <a:srgbClr val="007FA3"/>
              </a:buClr>
              <a:buSzPts val="2000"/>
              <a:buFont typeface="Arial" panose="020B0604020202020204"/>
              <a:buNone/>
              <a:defRPr sz="20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9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18" name="Google Shape;18;p29"/>
          <p:cNvSpPr txBox="1"/>
          <p:nvPr>
            <p:ph type="body" idx="2"/>
          </p:nvPr>
        </p:nvSpPr>
        <p:spPr>
          <a:xfrm>
            <a:off x="5029200" y="1600200"/>
            <a:ext cx="3657600" cy="1600198"/>
          </a:xfrm>
          <a:prstGeom prst="rect">
            <a:avLst/>
          </a:prstGeom>
          <a:noFill/>
          <a:ln>
            <a:noFill/>
          </a:ln>
        </p:spPr>
        <p:txBody>
          <a:bodyPr spcFirstLastPara="1" wrap="square" lIns="91425" tIns="91425" rIns="91425" bIns="91425" anchor="b" anchorCtr="0">
            <a:normAutofit/>
          </a:bodyPr>
          <a:lstStyle>
            <a:lvl1pPr marL="457200" marR="0" lvl="0" indent="-228600" algn="l">
              <a:lnSpc>
                <a:spcPct val="90000"/>
              </a:lnSpc>
              <a:spcBef>
                <a:spcPts val="0"/>
              </a:spcBef>
              <a:spcAft>
                <a:spcPts val="0"/>
              </a:spcAft>
              <a:buClr>
                <a:srgbClr val="007FA3"/>
              </a:buClr>
              <a:buSzPts val="3000"/>
              <a:buFont typeface="Arial" panose="020B0604020202020204"/>
              <a:buNone/>
              <a:defRPr sz="30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90000"/>
              </a:lnSpc>
              <a:spcBef>
                <a:spcPts val="0"/>
              </a:spcBef>
              <a:spcAft>
                <a:spcPts val="0"/>
              </a:spcAft>
              <a:buClr>
                <a:srgbClr val="007FA3"/>
              </a:buClr>
              <a:buSzPts val="4400"/>
              <a:buFont typeface="Noto Sans Symbols"/>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9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 name="Google Shape;19;p29"/>
          <p:cNvSpPr txBox="1"/>
          <p:nvPr>
            <p:ph type="body" idx="3"/>
          </p:nvPr>
        </p:nvSpPr>
        <p:spPr>
          <a:xfrm>
            <a:off x="5029200" y="3200400"/>
            <a:ext cx="3657600" cy="2925763"/>
          </a:xfrm>
          <a:prstGeom prst="rect">
            <a:avLst/>
          </a:prstGeom>
          <a:noFill/>
          <a:ln>
            <a:noFill/>
          </a:ln>
        </p:spPr>
        <p:txBody>
          <a:bodyPr spcFirstLastPara="1" wrap="square" lIns="91425" tIns="91425" rIns="91425" bIns="91425" anchor="t" anchorCtr="0">
            <a:normAutofit/>
          </a:bodyPr>
          <a:lstStyle>
            <a:lvl1pPr marL="457200" marR="0" lvl="0" indent="-228600" algn="l">
              <a:lnSpc>
                <a:spcPct val="90000"/>
              </a:lnSpc>
              <a:spcBef>
                <a:spcPts val="0"/>
              </a:spcBef>
              <a:spcAft>
                <a:spcPts val="0"/>
              </a:spcAft>
              <a:buClr>
                <a:srgbClr val="007FA3"/>
              </a:buClr>
              <a:buSzPts val="2200"/>
              <a:buFont typeface="Arial" panose="020B0604020202020204"/>
              <a:buNone/>
              <a:defRPr sz="2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90000"/>
              </a:lnSpc>
              <a:spcBef>
                <a:spcPts val="0"/>
              </a:spcBef>
              <a:spcAft>
                <a:spcPts val="0"/>
              </a:spcAft>
              <a:buClr>
                <a:srgbClr val="007FA3"/>
              </a:buClr>
              <a:buSzPts val="1600"/>
              <a:buFont typeface="Noto Sans Symbols"/>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9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 name="Google Shape;20;p29"/>
          <p:cNvSpPr txBox="1"/>
          <p:nvPr>
            <p:ph type="ftr" idx="11"/>
          </p:nvPr>
        </p:nvSpPr>
        <p:spPr>
          <a:xfrm>
            <a:off x="93969" y="6165337"/>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 name="Google Shape;21;p29"/>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 name="Google Shape;22;p29"/>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23" name="Google Shape;23;p29"/>
          <p:cNvSpPr txBox="1"/>
          <p:nvPr>
            <p:ph type="body" idx="4"/>
          </p:nvPr>
        </p:nvSpPr>
        <p:spPr>
          <a:xfrm>
            <a:off x="474779" y="1500547"/>
            <a:ext cx="8229600" cy="205153"/>
          </a:xfrm>
          <a:prstGeom prst="rect">
            <a:avLst/>
          </a:prstGeom>
          <a:noFill/>
          <a:ln>
            <a:noFill/>
          </a:ln>
        </p:spPr>
        <p:txBody>
          <a:bodyPr spcFirstLastPara="1" wrap="square" lIns="91425" tIns="91425" rIns="91425" bIns="91425" anchor="t" anchorCtr="0">
            <a:normAutofit/>
          </a:bodyPr>
          <a:lstStyle>
            <a:lvl1pPr marL="457200" marR="0" lvl="0" indent="-228600" algn="l">
              <a:lnSpc>
                <a:spcPct val="90000"/>
              </a:lnSpc>
              <a:spcBef>
                <a:spcPts val="0"/>
              </a:spcBef>
              <a:spcAft>
                <a:spcPts val="0"/>
              </a:spcAft>
              <a:buClr>
                <a:srgbClr val="007FA3"/>
              </a:buClr>
              <a:buSzPts val="2000"/>
              <a:buFont typeface="Arial" panose="020B0604020202020204"/>
              <a:buNone/>
              <a:defRPr sz="20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9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9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4" name="Shape 24"/>
        <p:cNvGrpSpPr/>
        <p:nvPr/>
      </p:nvGrpSpPr>
      <p:grpSpPr>
        <a:xfrm>
          <a:off x="0" y="0"/>
          <a:ext cx="0" cy="0"/>
          <a:chOff x="0" y="0"/>
          <a:chExt cx="0" cy="0"/>
        </a:xfrm>
      </p:grpSpPr>
      <p:sp>
        <p:nvSpPr>
          <p:cNvPr id="25" name="Google Shape;25;p54"/>
          <p:cNvSpPr txBox="1"/>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panose="020F050202020403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4"/>
          <p:cNvSpPr txBox="1"/>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 name="Google Shape;27;p54"/>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8" name="Google Shape;28;p54"/>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9" name="Google Shape;29;p54"/>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0" name="Shape 30"/>
        <p:cNvGrpSpPr/>
        <p:nvPr/>
      </p:nvGrpSpPr>
      <p:grpSpPr>
        <a:xfrm>
          <a:off x="0" y="0"/>
          <a:ext cx="0" cy="0"/>
          <a:chOff x="0" y="0"/>
          <a:chExt cx="0" cy="0"/>
        </a:xfrm>
      </p:grpSpPr>
      <p:sp>
        <p:nvSpPr>
          <p:cNvPr id="31" name="Google Shape;31;p55"/>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33" name="Google Shape;33;p55"/>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4" name="Google Shape;34;p55"/>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5" name="Google Shape;35;p55"/>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6" name="Shape 36"/>
        <p:cNvGrpSpPr/>
        <p:nvPr/>
      </p:nvGrpSpPr>
      <p:grpSpPr>
        <a:xfrm>
          <a:off x="0" y="0"/>
          <a:ext cx="0" cy="0"/>
          <a:chOff x="0" y="0"/>
          <a:chExt cx="0" cy="0"/>
        </a:xfrm>
      </p:grpSpPr>
      <p:sp>
        <p:nvSpPr>
          <p:cNvPr id="37" name="Google Shape;37;p56"/>
          <p:cNvSpPr txBox="1"/>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panose="020F050202020403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56"/>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0" name="Google Shape;40;p56"/>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1" name="Google Shape;41;p56"/>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2" name="Shape 42"/>
        <p:cNvGrpSpPr/>
        <p:nvPr/>
      </p:nvGrpSpPr>
      <p:grpSpPr>
        <a:xfrm>
          <a:off x="0" y="0"/>
          <a:ext cx="0" cy="0"/>
          <a:chOff x="0" y="0"/>
          <a:chExt cx="0" cy="0"/>
        </a:xfrm>
      </p:grpSpPr>
      <p:sp>
        <p:nvSpPr>
          <p:cNvPr id="43" name="Google Shape;43;p57"/>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45" name="Google Shape;45;p57"/>
          <p:cNvSpPr txBox="1"/>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46" name="Google Shape;46;p57"/>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7" name="Google Shape;47;p57"/>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8" name="Google Shape;48;p57"/>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9" name="Shape 49"/>
        <p:cNvGrpSpPr/>
        <p:nvPr/>
      </p:nvGrpSpPr>
      <p:grpSpPr>
        <a:xfrm>
          <a:off x="0" y="0"/>
          <a:ext cx="0" cy="0"/>
          <a:chOff x="0" y="0"/>
          <a:chExt cx="0" cy="0"/>
        </a:xfrm>
      </p:grpSpPr>
      <p:sp>
        <p:nvSpPr>
          <p:cNvPr id="50" name="Google Shape;50;p58"/>
          <p:cNvSpPr txBox="1"/>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8"/>
          <p:cNvSpPr txBox="1"/>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52" name="Google Shape;52;p58"/>
          <p:cNvSpPr txBox="1"/>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3" name="Google Shape;53;p58"/>
          <p:cNvSpPr txBox="1"/>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54" name="Google Shape;54;p58"/>
          <p:cNvSpPr txBox="1"/>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5" name="Google Shape;55;p58"/>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6" name="Google Shape;56;p58"/>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7" name="Google Shape;57;p58"/>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8" name="Shape 58"/>
        <p:cNvGrpSpPr/>
        <p:nvPr/>
      </p:nvGrpSpPr>
      <p:grpSpPr>
        <a:xfrm>
          <a:off x="0" y="0"/>
          <a:ext cx="0" cy="0"/>
          <a:chOff x="0" y="0"/>
          <a:chExt cx="0" cy="0"/>
        </a:xfrm>
      </p:grpSpPr>
      <p:sp>
        <p:nvSpPr>
          <p:cNvPr id="59" name="Google Shape;59;p59"/>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9"/>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1" name="Google Shape;61;p59"/>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2" name="Google Shape;62;p59"/>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3" name="Shape 63"/>
        <p:cNvGrpSpPr/>
        <p:nvPr/>
      </p:nvGrpSpPr>
      <p:grpSpPr>
        <a:xfrm>
          <a:off x="0" y="0"/>
          <a:ext cx="0" cy="0"/>
          <a:chOff x="0" y="0"/>
          <a:chExt cx="0" cy="0"/>
        </a:xfrm>
      </p:grpSpPr>
      <p:sp>
        <p:nvSpPr>
          <p:cNvPr id="64" name="Google Shape;64;p60"/>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5" name="Google Shape;65;p60"/>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6" name="Google Shape;66;p60"/>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7" name="Shape 67"/>
        <p:cNvGrpSpPr/>
        <p:nvPr/>
      </p:nvGrpSpPr>
      <p:grpSpPr>
        <a:xfrm>
          <a:off x="0" y="0"/>
          <a:ext cx="0" cy="0"/>
          <a:chOff x="0" y="0"/>
          <a:chExt cx="0" cy="0"/>
        </a:xfrm>
      </p:grpSpPr>
      <p:sp>
        <p:nvSpPr>
          <p:cNvPr id="68" name="Google Shape;68;p61"/>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panose="020F050202020403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p:txBody>
      </p:sp>
      <p:sp>
        <p:nvSpPr>
          <p:cNvPr id="70" name="Google Shape;70;p61"/>
          <p:cNvSpPr txBox="1"/>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71" name="Google Shape;71;p61"/>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2" name="Google Shape;72;p61"/>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3" name="Google Shape;73;p61"/>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4" name="Shape 74"/>
        <p:cNvGrpSpPr/>
        <p:nvPr/>
      </p:nvGrpSpPr>
      <p:grpSpPr>
        <a:xfrm>
          <a:off x="0" y="0"/>
          <a:ext cx="0" cy="0"/>
          <a:chOff x="0" y="0"/>
          <a:chExt cx="0" cy="0"/>
        </a:xfrm>
      </p:grpSpPr>
      <p:sp>
        <p:nvSpPr>
          <p:cNvPr id="75" name="Google Shape;75;p62"/>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panose="020F050202020403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p:nvPr>
            <p:ph type="pic" idx="2"/>
          </p:nvPr>
        </p:nvSpPr>
        <p:spPr>
          <a:xfrm>
            <a:off x="3887391" y="987426"/>
            <a:ext cx="4629150" cy="4873625"/>
          </a:xfrm>
          <a:prstGeom prst="rect">
            <a:avLst/>
          </a:prstGeom>
          <a:noFill/>
          <a:ln>
            <a:noFill/>
          </a:ln>
        </p:spPr>
      </p:sp>
      <p:sp>
        <p:nvSpPr>
          <p:cNvPr id="77" name="Google Shape;77;p62"/>
          <p:cNvSpPr txBox="1"/>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78" name="Google Shape;78;p62"/>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9" name="Google Shape;79;p62"/>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0" name="Google Shape;80;p62"/>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1" name="Shape 81"/>
        <p:cNvGrpSpPr/>
        <p:nvPr/>
      </p:nvGrpSpPr>
      <p:grpSpPr>
        <a:xfrm>
          <a:off x="0" y="0"/>
          <a:ext cx="0" cy="0"/>
          <a:chOff x="0" y="0"/>
          <a:chExt cx="0" cy="0"/>
        </a:xfrm>
      </p:grpSpPr>
      <p:sp>
        <p:nvSpPr>
          <p:cNvPr id="82" name="Google Shape;82;p63"/>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84" name="Google Shape;84;p63"/>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5" name="Google Shape;85;p63"/>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6" name="Google Shape;86;p63"/>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7" name="Shape 87"/>
        <p:cNvGrpSpPr/>
        <p:nvPr/>
      </p:nvGrpSpPr>
      <p:grpSpPr>
        <a:xfrm>
          <a:off x="0" y="0"/>
          <a:ext cx="0" cy="0"/>
          <a:chOff x="0" y="0"/>
          <a:chExt cx="0" cy="0"/>
        </a:xfrm>
      </p:grpSpPr>
      <p:sp>
        <p:nvSpPr>
          <p:cNvPr id="88" name="Google Shape;88;p64"/>
          <p:cNvSpPr txBox="1"/>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90" name="Google Shape;90;p64"/>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1" name="Google Shape;91;p64"/>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2" name="Google Shape;92;p64"/>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60" name="Shape 160"/>
        <p:cNvGrpSpPr/>
        <p:nvPr/>
      </p:nvGrpSpPr>
      <p:grpSpPr>
        <a:xfrm>
          <a:off x="0" y="0"/>
          <a:ext cx="0" cy="0"/>
          <a:chOff x="0" y="0"/>
          <a:chExt cx="0" cy="0"/>
        </a:xfrm>
      </p:grpSpPr>
      <p:sp>
        <p:nvSpPr>
          <p:cNvPr id="161" name="Google Shape;161;p35"/>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2" name="Google Shape;162;p35"/>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63" name="Shape 163"/>
        <p:cNvGrpSpPr/>
        <p:nvPr/>
      </p:nvGrpSpPr>
      <p:grpSpPr>
        <a:xfrm>
          <a:off x="0" y="0"/>
          <a:ext cx="0" cy="0"/>
          <a:chOff x="0" y="0"/>
          <a:chExt cx="0" cy="0"/>
        </a:xfrm>
      </p:grpSpPr>
      <p:sp>
        <p:nvSpPr>
          <p:cNvPr id="164" name="Google Shape;164;p36"/>
          <p:cNvSpPr/>
          <p:nvPr/>
        </p:nvSpPr>
        <p:spPr>
          <a:xfrm>
            <a:off x="0" y="0"/>
            <a:ext cx="9144000" cy="388620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p36"/>
          <p:cNvSpPr txBox="1"/>
          <p:nvPr>
            <p:ph type="ctrTitle"/>
          </p:nvPr>
        </p:nvSpPr>
        <p:spPr>
          <a:xfrm>
            <a:off x="685800" y="762000"/>
            <a:ext cx="7772400" cy="2838451"/>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panose="02020603050405020304"/>
              <a:buNone/>
              <a:defRPr sz="36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6" name="Google Shape;166;p36"/>
          <p:cNvSpPr txBox="1"/>
          <p:nvPr>
            <p:ph type="subTitle" idx="1"/>
          </p:nvPr>
        </p:nvSpPr>
        <p:spPr>
          <a:xfrm>
            <a:off x="674687" y="3962400"/>
            <a:ext cx="7794625" cy="17526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a:lnSpc>
                <a:spcPct val="100000"/>
              </a:lnSpc>
              <a:spcBef>
                <a:spcPts val="6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R="0" lvl="3" algn="ctr">
              <a:lnSpc>
                <a:spcPct val="100000"/>
              </a:lnSpc>
              <a:spcBef>
                <a:spcPts val="6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R="0" lvl="4" algn="ctr">
              <a:lnSpc>
                <a:spcPct val="100000"/>
              </a:lnSpc>
              <a:spcBef>
                <a:spcPts val="6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R="0" lvl="5" algn="ctr">
              <a:lnSpc>
                <a:spcPct val="100000"/>
              </a:lnSpc>
              <a:spcBef>
                <a:spcPts val="3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R="0" lvl="6" algn="ctr">
              <a:lnSpc>
                <a:spcPct val="100000"/>
              </a:lnSpc>
              <a:spcBef>
                <a:spcPts val="3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R="0" lvl="7" algn="ctr">
              <a:lnSpc>
                <a:spcPct val="100000"/>
              </a:lnSpc>
              <a:spcBef>
                <a:spcPts val="3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R="0" lvl="8" algn="ctr">
              <a:lnSpc>
                <a:spcPct val="100000"/>
              </a:lnSpc>
              <a:spcBef>
                <a:spcPts val="300"/>
              </a:spcBef>
              <a:spcAft>
                <a:spcPts val="0"/>
              </a:spcAft>
              <a:buClr>
                <a:srgbClr val="007FA3"/>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p:txBody>
      </p:sp>
      <p:sp>
        <p:nvSpPr>
          <p:cNvPr id="167" name="Google Shape;167;p36"/>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68" name="Google Shape;168;p36"/>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69" name="Google Shape;169;p36"/>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igure + Caption">
  <p:cSld name="Figure + Caption">
    <p:spTree>
      <p:nvGrpSpPr>
        <p:cNvPr id="170" name="Shape 170"/>
        <p:cNvGrpSpPr/>
        <p:nvPr/>
      </p:nvGrpSpPr>
      <p:grpSpPr>
        <a:xfrm>
          <a:off x="0" y="0"/>
          <a:ext cx="0" cy="0"/>
          <a:chOff x="0" y="0"/>
          <a:chExt cx="0" cy="0"/>
        </a:xfrm>
      </p:grpSpPr>
      <p:sp>
        <p:nvSpPr>
          <p:cNvPr id="171" name="Google Shape;171;p37"/>
          <p:cNvSpPr txBox="1"/>
          <p:nvPr>
            <p:ph type="title"/>
          </p:nvPr>
        </p:nvSpPr>
        <p:spPr>
          <a:xfrm>
            <a:off x="457200" y="228600"/>
            <a:ext cx="8229600" cy="1066799"/>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2" name="Google Shape;172;p37"/>
          <p:cNvSpPr txBox="1"/>
          <p:nvPr>
            <p:ph type="body" idx="1"/>
          </p:nvPr>
        </p:nvSpPr>
        <p:spPr>
          <a:xfrm>
            <a:off x="457200" y="5368160"/>
            <a:ext cx="8229600" cy="916856"/>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800"/>
              <a:buFont typeface="Arial" panose="020B0604020202020204"/>
              <a:buNone/>
              <a:defRPr sz="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3" name="Google Shape;173;p37"/>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4" name="Google Shape;174;p37"/>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5" name="Google Shape;175;p37"/>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5 Content">
  <p:cSld name="1_Title and 5 Content">
    <p:spTree>
      <p:nvGrpSpPr>
        <p:cNvPr id="176" name="Shape 176"/>
        <p:cNvGrpSpPr/>
        <p:nvPr/>
      </p:nvGrpSpPr>
      <p:grpSpPr>
        <a:xfrm>
          <a:off x="0" y="0"/>
          <a:ext cx="0" cy="0"/>
          <a:chOff x="0" y="0"/>
          <a:chExt cx="0" cy="0"/>
        </a:xfrm>
      </p:grpSpPr>
      <p:sp>
        <p:nvSpPr>
          <p:cNvPr id="177" name="Google Shape;177;p38"/>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8" name="Google Shape;178;p38"/>
          <p:cNvSpPr txBox="1"/>
          <p:nvPr>
            <p:ph type="body" idx="1"/>
          </p:nvPr>
        </p:nvSpPr>
        <p:spPr>
          <a:xfrm>
            <a:off x="457200" y="1600201"/>
            <a:ext cx="8229600" cy="533400"/>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9" name="Google Shape;179;p38"/>
          <p:cNvSpPr txBox="1"/>
          <p:nvPr>
            <p:ph type="body" idx="2"/>
          </p:nvPr>
        </p:nvSpPr>
        <p:spPr>
          <a:xfrm>
            <a:off x="457200" y="2278063"/>
            <a:ext cx="8229600" cy="5588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0" name="Google Shape;180;p38"/>
          <p:cNvSpPr txBox="1"/>
          <p:nvPr>
            <p:ph type="body" idx="3"/>
          </p:nvPr>
        </p:nvSpPr>
        <p:spPr>
          <a:xfrm>
            <a:off x="457200" y="2954338"/>
            <a:ext cx="8232775" cy="6096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1" name="Google Shape;181;p38"/>
          <p:cNvSpPr txBox="1"/>
          <p:nvPr>
            <p:ph type="body" idx="4"/>
          </p:nvPr>
        </p:nvSpPr>
        <p:spPr>
          <a:xfrm>
            <a:off x="457200" y="3733800"/>
            <a:ext cx="8229600" cy="550863"/>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2" name="Google Shape;182;p38"/>
          <p:cNvSpPr txBox="1"/>
          <p:nvPr>
            <p:ph type="body" idx="5"/>
          </p:nvPr>
        </p:nvSpPr>
        <p:spPr>
          <a:xfrm>
            <a:off x="457200" y="4427538"/>
            <a:ext cx="8229600" cy="652462"/>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3" name="Google Shape;183;p38"/>
          <p:cNvSpPr txBox="1"/>
          <p:nvPr>
            <p:ph type="body" idx="6"/>
          </p:nvPr>
        </p:nvSpPr>
        <p:spPr>
          <a:xfrm>
            <a:off x="457200" y="5181600"/>
            <a:ext cx="8229600" cy="500063"/>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Title and 5 Content">
  <p:cSld name="2_Title and 5 Content">
    <p:spTree>
      <p:nvGrpSpPr>
        <p:cNvPr id="184" name="Shape 184"/>
        <p:cNvGrpSpPr/>
        <p:nvPr/>
      </p:nvGrpSpPr>
      <p:grpSpPr>
        <a:xfrm>
          <a:off x="0" y="0"/>
          <a:ext cx="0" cy="0"/>
          <a:chOff x="0" y="0"/>
          <a:chExt cx="0" cy="0"/>
        </a:xfrm>
      </p:grpSpPr>
      <p:sp>
        <p:nvSpPr>
          <p:cNvPr id="185" name="Google Shape;185;p39"/>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86" name="Google Shape;186;p39"/>
          <p:cNvSpPr txBox="1"/>
          <p:nvPr>
            <p:ph type="body" idx="1"/>
          </p:nvPr>
        </p:nvSpPr>
        <p:spPr>
          <a:xfrm>
            <a:off x="457200" y="1600201"/>
            <a:ext cx="8229600" cy="533400"/>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7" name="Google Shape;187;p39"/>
          <p:cNvSpPr txBox="1"/>
          <p:nvPr>
            <p:ph type="body" idx="2"/>
          </p:nvPr>
        </p:nvSpPr>
        <p:spPr>
          <a:xfrm>
            <a:off x="457200" y="2278063"/>
            <a:ext cx="8229600" cy="5588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8" name="Google Shape;188;p39"/>
          <p:cNvSpPr txBox="1"/>
          <p:nvPr>
            <p:ph type="body" idx="3"/>
          </p:nvPr>
        </p:nvSpPr>
        <p:spPr>
          <a:xfrm>
            <a:off x="457200" y="2954338"/>
            <a:ext cx="8232775" cy="6096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89" name="Google Shape;189;p39"/>
          <p:cNvSpPr txBox="1"/>
          <p:nvPr>
            <p:ph type="body" idx="4"/>
          </p:nvPr>
        </p:nvSpPr>
        <p:spPr>
          <a:xfrm>
            <a:off x="457200" y="3733800"/>
            <a:ext cx="8229600" cy="550863"/>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0" name="Google Shape;190;p39"/>
          <p:cNvSpPr txBox="1"/>
          <p:nvPr>
            <p:ph type="body" idx="5"/>
          </p:nvPr>
        </p:nvSpPr>
        <p:spPr>
          <a:xfrm>
            <a:off x="457200" y="4427538"/>
            <a:ext cx="8229600" cy="652462"/>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1" name="Google Shape;191;p39"/>
          <p:cNvSpPr txBox="1"/>
          <p:nvPr>
            <p:ph type="body" idx="6"/>
          </p:nvPr>
        </p:nvSpPr>
        <p:spPr>
          <a:xfrm>
            <a:off x="457200" y="5181600"/>
            <a:ext cx="8229600" cy="500063"/>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2" name="Google Shape;192;p39"/>
          <p:cNvSpPr txBox="1"/>
          <p:nvPr>
            <p:ph type="body" idx="7"/>
          </p:nvPr>
        </p:nvSpPr>
        <p:spPr>
          <a:xfrm>
            <a:off x="457200" y="5811838"/>
            <a:ext cx="8229600" cy="4572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30200" algn="l">
              <a:lnSpc>
                <a:spcPct val="100000"/>
              </a:lnSpc>
              <a:spcBef>
                <a:spcPts val="600"/>
              </a:spcBef>
              <a:spcAft>
                <a:spcPts val="0"/>
              </a:spcAft>
              <a:buSzPts val="16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3" name="Google Shape;193;p39"/>
          <p:cNvSpPr txBox="1"/>
          <p:nvPr>
            <p:ph type="body" idx="8"/>
          </p:nvPr>
        </p:nvSpPr>
        <p:spPr>
          <a:xfrm>
            <a:off x="3657601" y="6418263"/>
            <a:ext cx="479834" cy="29845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4" name="Google Shape;194;p39"/>
          <p:cNvSpPr txBox="1"/>
          <p:nvPr>
            <p:ph type="body" idx="9"/>
          </p:nvPr>
        </p:nvSpPr>
        <p:spPr>
          <a:xfrm>
            <a:off x="5503863" y="6418263"/>
            <a:ext cx="453317" cy="29845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5" name="Google Shape;195;p39"/>
          <p:cNvSpPr txBox="1"/>
          <p:nvPr>
            <p:ph type="body" idx="13"/>
          </p:nvPr>
        </p:nvSpPr>
        <p:spPr>
          <a:xfrm>
            <a:off x="7200900" y="6418263"/>
            <a:ext cx="576027" cy="29845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
        <p:nvSpPr>
          <p:cNvPr id="196" name="Google Shape;196;p39"/>
          <p:cNvSpPr txBox="1"/>
          <p:nvPr>
            <p:ph type="body" idx="14"/>
          </p:nvPr>
        </p:nvSpPr>
        <p:spPr>
          <a:xfrm flipH="1">
            <a:off x="7976101" y="6418263"/>
            <a:ext cx="778599" cy="29845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hapter Opener">
  <p:cSld name="Chapter Opener">
    <p:spTree>
      <p:nvGrpSpPr>
        <p:cNvPr id="197" name="Shape 197"/>
        <p:cNvGrpSpPr/>
        <p:nvPr/>
      </p:nvGrpSpPr>
      <p:grpSpPr>
        <a:xfrm>
          <a:off x="0" y="0"/>
          <a:ext cx="0" cy="0"/>
          <a:chOff x="0" y="0"/>
          <a:chExt cx="0" cy="0"/>
        </a:xfrm>
      </p:grpSpPr>
      <p:sp>
        <p:nvSpPr>
          <p:cNvPr id="198" name="Google Shape;198;p40"/>
          <p:cNvSpPr txBox="1"/>
          <p:nvPr>
            <p:ph type="title"/>
          </p:nvPr>
        </p:nvSpPr>
        <p:spPr>
          <a:xfrm>
            <a:off x="457200" y="215371"/>
            <a:ext cx="8229600" cy="622828"/>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99" name="Google Shape;199;p40"/>
          <p:cNvSpPr txBox="1"/>
          <p:nvPr>
            <p:ph type="body" idx="1"/>
          </p:nvPr>
        </p:nvSpPr>
        <p:spPr>
          <a:xfrm>
            <a:off x="457200" y="816429"/>
            <a:ext cx="8229600" cy="47897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panose="020B0604020202020204"/>
              <a:buNone/>
              <a:defRPr sz="20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200" name="Google Shape;200;p40"/>
          <p:cNvSpPr txBox="1"/>
          <p:nvPr>
            <p:ph type="body" idx="2"/>
          </p:nvPr>
        </p:nvSpPr>
        <p:spPr>
          <a:xfrm>
            <a:off x="5029200" y="1600200"/>
            <a:ext cx="3657600" cy="1600198"/>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3000"/>
              <a:buFont typeface="Arial" panose="020B0604020202020204"/>
              <a:buNone/>
              <a:defRPr sz="30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4400"/>
              <a:buFont typeface="Noto Sans Symbols"/>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1" name="Google Shape;201;p40"/>
          <p:cNvSpPr txBox="1"/>
          <p:nvPr>
            <p:ph type="body" idx="3"/>
          </p:nvPr>
        </p:nvSpPr>
        <p:spPr>
          <a:xfrm>
            <a:off x="5029200" y="3200400"/>
            <a:ext cx="3657600" cy="29257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200"/>
              <a:buFont typeface="Arial" panose="020B0604020202020204"/>
              <a:buNone/>
              <a:defRPr sz="2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2" name="Google Shape;202;p40"/>
          <p:cNvSpPr txBox="1"/>
          <p:nvPr>
            <p:ph type="ftr" idx="11"/>
          </p:nvPr>
        </p:nvSpPr>
        <p:spPr>
          <a:xfrm>
            <a:off x="93969" y="6165337"/>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3" name="Google Shape;203;p40"/>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4" name="Google Shape;204;p40"/>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Learning Objectives and Content">
  <p:cSld name="Title + Learning Objectives and Content">
    <p:spTree>
      <p:nvGrpSpPr>
        <p:cNvPr id="205" name="Shape 205"/>
        <p:cNvGrpSpPr/>
        <p:nvPr/>
      </p:nvGrpSpPr>
      <p:grpSpPr>
        <a:xfrm>
          <a:off x="0" y="0"/>
          <a:ext cx="0" cy="0"/>
          <a:chOff x="0" y="0"/>
          <a:chExt cx="0" cy="0"/>
        </a:xfrm>
      </p:grpSpPr>
      <p:sp>
        <p:nvSpPr>
          <p:cNvPr id="206" name="Google Shape;206;p41"/>
          <p:cNvSpPr txBox="1"/>
          <p:nvPr>
            <p:ph type="title"/>
          </p:nvPr>
        </p:nvSpPr>
        <p:spPr>
          <a:xfrm>
            <a:off x="457200" y="215371"/>
            <a:ext cx="8229600" cy="622828"/>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07" name="Google Shape;207;p41"/>
          <p:cNvSpPr txBox="1"/>
          <p:nvPr>
            <p:ph type="body" idx="1"/>
          </p:nvPr>
        </p:nvSpPr>
        <p:spPr>
          <a:xfrm>
            <a:off x="457200" y="816429"/>
            <a:ext cx="8229600" cy="402769"/>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208" name="Google Shape;208;p41"/>
          <p:cNvSpPr txBox="1"/>
          <p:nvPr>
            <p:ph type="body" idx="2"/>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9" name="Google Shape;209;p41"/>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0" name="Google Shape;210;p41"/>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1" name="Google Shape;211;p41"/>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12" name="Shape 212"/>
        <p:cNvGrpSpPr/>
        <p:nvPr/>
      </p:nvGrpSpPr>
      <p:grpSpPr>
        <a:xfrm>
          <a:off x="0" y="0"/>
          <a:ext cx="0" cy="0"/>
          <a:chOff x="0" y="0"/>
          <a:chExt cx="0" cy="0"/>
        </a:xfrm>
      </p:grpSpPr>
      <p:sp>
        <p:nvSpPr>
          <p:cNvPr id="213" name="Google Shape;213;p42"/>
          <p:cNvSpPr txBox="1"/>
          <p:nvPr>
            <p:ph type="title"/>
          </p:nvPr>
        </p:nvSpPr>
        <p:spPr>
          <a:xfrm>
            <a:off x="685800" y="1447800"/>
            <a:ext cx="7772400" cy="2152651"/>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14" name="Google Shape;214;p42"/>
          <p:cNvSpPr txBox="1"/>
          <p:nvPr>
            <p:ph type="body" idx="1"/>
          </p:nvPr>
        </p:nvSpPr>
        <p:spPr>
          <a:xfrm>
            <a:off x="674687" y="3962400"/>
            <a:ext cx="7794626" cy="175260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600"/>
              </a:spcBef>
              <a:spcAft>
                <a:spcPts val="0"/>
              </a:spcAft>
              <a:buClr>
                <a:srgbClr val="007FA3"/>
              </a:buClr>
              <a:buSzPts val="1800"/>
              <a:buFont typeface="Arial" panose="020B0604020202020204"/>
              <a:buNone/>
              <a:defRPr sz="1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6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6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3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3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3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300"/>
              </a:spcBef>
              <a:spcAft>
                <a:spcPts val="0"/>
              </a:spcAft>
              <a:buClr>
                <a:srgbClr val="007FA3"/>
              </a:buClr>
              <a:buSzPts val="1400"/>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p:txBody>
      </p:sp>
      <p:sp>
        <p:nvSpPr>
          <p:cNvPr id="215" name="Google Shape;215;p42"/>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6" name="Google Shape;216;p42"/>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7" name="Google Shape;217;p42"/>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218" name="Shape 218"/>
        <p:cNvGrpSpPr/>
        <p:nvPr/>
      </p:nvGrpSpPr>
      <p:grpSpPr>
        <a:xfrm>
          <a:off x="0" y="0"/>
          <a:ext cx="0" cy="0"/>
          <a:chOff x="0" y="0"/>
          <a:chExt cx="0" cy="0"/>
        </a:xfrm>
      </p:grpSpPr>
      <p:sp>
        <p:nvSpPr>
          <p:cNvPr id="219" name="Google Shape;219;p43"/>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0" name="Google Shape;220;p43"/>
          <p:cNvSpPr txBox="1"/>
          <p:nvPr>
            <p:ph type="body" idx="1"/>
          </p:nvPr>
        </p:nvSpPr>
        <p:spPr>
          <a:xfrm>
            <a:off x="457200" y="1600200"/>
            <a:ext cx="8229600" cy="21637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1" name="Google Shape;221;p43"/>
          <p:cNvSpPr txBox="1"/>
          <p:nvPr>
            <p:ph type="body" idx="2"/>
          </p:nvPr>
        </p:nvSpPr>
        <p:spPr>
          <a:xfrm>
            <a:off x="457200" y="3962400"/>
            <a:ext cx="8229600" cy="21637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a:lnSpc>
                <a:spcPct val="100000"/>
              </a:lnSpc>
              <a:spcBef>
                <a:spcPts val="300"/>
              </a:spcBef>
              <a:spcAft>
                <a:spcPts val="0"/>
              </a:spcAft>
              <a:buClr>
                <a:srgbClr val="007FA3"/>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2" name="Google Shape;222;p43"/>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3" name="Google Shape;223;p43"/>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4" name="Google Shape;224;p43"/>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p:cSld name="Blank">
    <p:spTree>
      <p:nvGrpSpPr>
        <p:cNvPr id="225" name="Shape 225"/>
        <p:cNvGrpSpPr/>
        <p:nvPr/>
      </p:nvGrpSpPr>
      <p:grpSpPr>
        <a:xfrm>
          <a:off x="0" y="0"/>
          <a:ext cx="0" cy="0"/>
          <a:chOff x="0" y="0"/>
          <a:chExt cx="0" cy="0"/>
        </a:xfrm>
      </p:grpSpPr>
      <p:sp>
        <p:nvSpPr>
          <p:cNvPr id="226" name="Google Shape;226;p44"/>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7" name="Google Shape;227;p44"/>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8" name="Google Shape;228;p44"/>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dk1"/>
              </a:buClr>
              <a:buSzPts val="225"/>
              <a:buFont typeface="Arial" panose="020B0604020202020204"/>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earning Objectives">
  <p:cSld name="Learning Objectives">
    <p:spTree>
      <p:nvGrpSpPr>
        <p:cNvPr id="229" name="Shape 229"/>
        <p:cNvGrpSpPr/>
        <p:nvPr/>
      </p:nvGrpSpPr>
      <p:grpSpPr>
        <a:xfrm>
          <a:off x="0" y="0"/>
          <a:ext cx="0" cy="0"/>
          <a:chOff x="0" y="0"/>
          <a:chExt cx="0" cy="0"/>
        </a:xfrm>
      </p:grpSpPr>
      <p:sp>
        <p:nvSpPr>
          <p:cNvPr id="230" name="Google Shape;230;p45"/>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400"/>
              <a:buNone/>
              <a:defRPr>
                <a:solidFill>
                  <a:srgbClr val="3399B5"/>
                </a:solidFill>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231" name="Google Shape;231;p45"/>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lvl="0" indent="-254000" algn="l">
              <a:lnSpc>
                <a:spcPct val="100000"/>
              </a:lnSpc>
              <a:spcBef>
                <a:spcPts val="1500"/>
              </a:spcBef>
              <a:spcAft>
                <a:spcPts val="0"/>
              </a:spcAft>
              <a:buClr>
                <a:srgbClr val="007FA3"/>
              </a:buClr>
              <a:buSzPts val="400"/>
              <a:buChar char="•"/>
              <a:defRPr sz="1600"/>
            </a:lvl1pPr>
            <a:lvl2pPr marL="914400" lvl="1" indent="-330200" algn="l">
              <a:lnSpc>
                <a:spcPct val="100000"/>
              </a:lnSpc>
              <a:spcBef>
                <a:spcPts val="600"/>
              </a:spcBef>
              <a:spcAft>
                <a:spcPts val="0"/>
              </a:spcAft>
              <a:buClr>
                <a:srgbClr val="007FA3"/>
              </a:buClr>
              <a:buSzPts val="1600"/>
              <a:buChar char="–"/>
              <a:defRPr sz="1600"/>
            </a:lvl2pPr>
            <a:lvl3pPr marL="1371600" lvl="2" indent="-330200" algn="l">
              <a:lnSpc>
                <a:spcPct val="100000"/>
              </a:lnSpc>
              <a:spcBef>
                <a:spcPts val="600"/>
              </a:spcBef>
              <a:spcAft>
                <a:spcPts val="0"/>
              </a:spcAft>
              <a:buClr>
                <a:srgbClr val="007FA3"/>
              </a:buClr>
              <a:buSzPts val="1600"/>
              <a:buChar char="▪"/>
              <a:defRPr sz="1600"/>
            </a:lvl3pPr>
            <a:lvl4pPr marL="1828800" lvl="3" indent="-330200" algn="l">
              <a:lnSpc>
                <a:spcPct val="100000"/>
              </a:lnSpc>
              <a:spcBef>
                <a:spcPts val="600"/>
              </a:spcBef>
              <a:spcAft>
                <a:spcPts val="0"/>
              </a:spcAft>
              <a:buClr>
                <a:srgbClr val="007FA3"/>
              </a:buClr>
              <a:buSzPts val="1600"/>
              <a:buChar char="–"/>
              <a:defRPr sz="1600"/>
            </a:lvl4pPr>
            <a:lvl5pPr marL="2286000" lvl="4" indent="-330200" algn="l">
              <a:lnSpc>
                <a:spcPct val="100000"/>
              </a:lnSpc>
              <a:spcBef>
                <a:spcPts val="600"/>
              </a:spcBef>
              <a:spcAft>
                <a:spcPts val="0"/>
              </a:spcAft>
              <a:buClr>
                <a:srgbClr val="007FA3"/>
              </a:buClr>
              <a:buSzPts val="1600"/>
              <a:buChar char="•"/>
              <a:defRPr sz="1600"/>
            </a:lvl5pPr>
            <a:lvl6pPr marL="2743200" lvl="5" indent="-330200" algn="l">
              <a:lnSpc>
                <a:spcPct val="100000"/>
              </a:lnSpc>
              <a:spcBef>
                <a:spcPts val="300"/>
              </a:spcBef>
              <a:spcAft>
                <a:spcPts val="0"/>
              </a:spcAft>
              <a:buClr>
                <a:srgbClr val="007FA3"/>
              </a:buClr>
              <a:buSzPts val="1600"/>
              <a:buChar char="•"/>
              <a:defRPr sz="1600"/>
            </a:lvl6pPr>
            <a:lvl7pPr marL="3200400" lvl="6" indent="-330200" algn="l">
              <a:lnSpc>
                <a:spcPct val="100000"/>
              </a:lnSpc>
              <a:spcBef>
                <a:spcPts val="300"/>
              </a:spcBef>
              <a:spcAft>
                <a:spcPts val="0"/>
              </a:spcAft>
              <a:buClr>
                <a:srgbClr val="007FA3"/>
              </a:buClr>
              <a:buSzPts val="1600"/>
              <a:buChar char="•"/>
              <a:defRPr sz="1600"/>
            </a:lvl7pPr>
            <a:lvl8pPr marL="3657600" lvl="7" indent="-330200" algn="l">
              <a:lnSpc>
                <a:spcPct val="100000"/>
              </a:lnSpc>
              <a:spcBef>
                <a:spcPts val="300"/>
              </a:spcBef>
              <a:spcAft>
                <a:spcPts val="0"/>
              </a:spcAft>
              <a:buClr>
                <a:srgbClr val="007FA3"/>
              </a:buClr>
              <a:buSzPts val="1600"/>
              <a:buChar char="•"/>
              <a:defRPr sz="1600"/>
            </a:lvl8pPr>
            <a:lvl9pPr marL="4114800" lvl="8" indent="-330200" algn="l">
              <a:lnSpc>
                <a:spcPct val="100000"/>
              </a:lnSpc>
              <a:spcBef>
                <a:spcPts val="300"/>
              </a:spcBef>
              <a:spcAft>
                <a:spcPts val="0"/>
              </a:spcAft>
              <a:buClr>
                <a:srgbClr val="007FA3"/>
              </a:buClr>
              <a:buSzPts val="1600"/>
              <a:buChar char="•"/>
              <a:defRPr sz="1600"/>
            </a:lvl9pPr>
          </a:lstStyle>
          <a:p/>
        </p:txBody>
      </p:sp>
      <p:sp>
        <p:nvSpPr>
          <p:cNvPr id="232" name="Google Shape;232;p45"/>
          <p:cNvSpPr txBox="1"/>
          <p:nvPr>
            <p:ph type="ftr" idx="11"/>
          </p:nvPr>
        </p:nvSpPr>
        <p:spPr>
          <a:xfrm>
            <a:off x="93969" y="6172200"/>
            <a:ext cx="8595360" cy="235463"/>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3" name="Google Shape;233;p45"/>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4" name="Google Shape;234;p45"/>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l">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hapter Opener">
  <p:cSld name="Chapter Opener">
    <p:spTree>
      <p:nvGrpSpPr>
        <p:cNvPr id="242" name="Shape 242"/>
        <p:cNvGrpSpPr/>
        <p:nvPr/>
      </p:nvGrpSpPr>
      <p:grpSpPr>
        <a:xfrm>
          <a:off x="0" y="0"/>
          <a:ext cx="0" cy="0"/>
          <a:chOff x="0" y="0"/>
          <a:chExt cx="0" cy="0"/>
        </a:xfrm>
      </p:grpSpPr>
      <p:sp>
        <p:nvSpPr>
          <p:cNvPr id="243" name="Google Shape;243;p66"/>
          <p:cNvSpPr txBox="1"/>
          <p:nvPr>
            <p:ph type="title"/>
          </p:nvPr>
        </p:nvSpPr>
        <p:spPr>
          <a:xfrm>
            <a:off x="457200" y="215371"/>
            <a:ext cx="8229600" cy="622828"/>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44" name="Google Shape;244;p66"/>
          <p:cNvSpPr txBox="1"/>
          <p:nvPr>
            <p:ph type="body" idx="1"/>
          </p:nvPr>
        </p:nvSpPr>
        <p:spPr>
          <a:xfrm>
            <a:off x="457200" y="816429"/>
            <a:ext cx="8229600" cy="47897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panose="020B0604020202020204"/>
              <a:buNone/>
              <a:defRPr sz="20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245" name="Google Shape;245;p66"/>
          <p:cNvSpPr txBox="1"/>
          <p:nvPr>
            <p:ph type="body" idx="2"/>
          </p:nvPr>
        </p:nvSpPr>
        <p:spPr>
          <a:xfrm>
            <a:off x="5029200" y="1600200"/>
            <a:ext cx="3657600" cy="1600198"/>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3000"/>
              <a:buFont typeface="Arial" panose="020B0604020202020204"/>
              <a:buNone/>
              <a:defRPr sz="30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4400"/>
              <a:buFont typeface="Noto Sans Symbols"/>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6" name="Google Shape;246;p66"/>
          <p:cNvSpPr txBox="1"/>
          <p:nvPr>
            <p:ph type="body" idx="3"/>
          </p:nvPr>
        </p:nvSpPr>
        <p:spPr>
          <a:xfrm>
            <a:off x="5029200" y="3200400"/>
            <a:ext cx="3657600" cy="29257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200"/>
              <a:buFont typeface="Arial" panose="020B0604020202020204"/>
              <a:buNone/>
              <a:defRPr sz="2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7" name="Google Shape;247;p66"/>
          <p:cNvSpPr txBox="1"/>
          <p:nvPr>
            <p:ph type="ftr" idx="11"/>
          </p:nvPr>
        </p:nvSpPr>
        <p:spPr>
          <a:xfrm>
            <a:off x="93969" y="6165337"/>
            <a:ext cx="8595359" cy="23546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8" name="Google Shape;248;p66"/>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9" name="Google Shape;249;p66"/>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250" name="Google Shape;250;p66"/>
          <p:cNvSpPr txBox="1"/>
          <p:nvPr>
            <p:ph type="body" idx="4"/>
          </p:nvPr>
        </p:nvSpPr>
        <p:spPr>
          <a:xfrm>
            <a:off x="474779" y="1500547"/>
            <a:ext cx="8229600" cy="20515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panose="020B0604020202020204"/>
              <a:buNone/>
              <a:defRPr sz="20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914400" marR="0" lvl="1"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228600" algn="l">
              <a:lnSpc>
                <a:spcPct val="100000"/>
              </a:lnSpc>
              <a:spcBef>
                <a:spcPts val="0"/>
              </a:spcBef>
              <a:spcAft>
                <a:spcPts val="0"/>
              </a:spcAft>
              <a:buClr>
                <a:srgbClr val="007FA3"/>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51" name="Shape 251"/>
        <p:cNvGrpSpPr/>
        <p:nvPr/>
      </p:nvGrpSpPr>
      <p:grpSpPr>
        <a:xfrm>
          <a:off x="0" y="0"/>
          <a:ext cx="0" cy="0"/>
          <a:chOff x="0" y="0"/>
          <a:chExt cx="0" cy="0"/>
        </a:xfrm>
      </p:grpSpPr>
      <p:sp>
        <p:nvSpPr>
          <p:cNvPr id="252" name="Google Shape;252;p67"/>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3" name="Google Shape;253;p67"/>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4" name="Google Shape;254;p67"/>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1.png"/><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28"/>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8"/>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375"/>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23850" algn="l" rtl="0">
              <a:lnSpc>
                <a:spcPct val="90000"/>
              </a:lnSpc>
              <a:spcBef>
                <a:spcPts val="375"/>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8"/>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28"/>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28"/>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53" name="Shape 153"/>
        <p:cNvGrpSpPr/>
        <p:nvPr/>
      </p:nvGrpSpPr>
      <p:grpSpPr>
        <a:xfrm>
          <a:off x="0" y="0"/>
          <a:ext cx="0" cy="0"/>
          <a:chOff x="0" y="0"/>
          <a:chExt cx="0" cy="0"/>
        </a:xfrm>
      </p:grpSpPr>
      <p:sp>
        <p:nvSpPr>
          <p:cNvPr id="154" name="Google Shape;154;p34"/>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55" name="Google Shape;155;p34"/>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56" name="Google Shape;156;p34"/>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57" name="Google Shape;157;p34"/>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58" name="Google Shape;158;p34"/>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9" name="Google Shape;159;p34"/>
          <p:cNvSpPr txBox="1"/>
          <p:nvPr/>
        </p:nvSpPr>
        <p:spPr>
          <a:xfrm>
            <a:off x="2743200" y="6474315"/>
            <a:ext cx="6077663" cy="229382"/>
          </a:xfrm>
          <a:prstGeom prst="rect">
            <a:avLst/>
          </a:prstGeom>
          <a:noFill/>
          <a:ln>
            <a:noFill/>
          </a:ln>
        </p:spPr>
        <p:txBody>
          <a:bodyPr spcFirstLastPara="1" wrap="square" lIns="91425" tIns="45700" rIns="91425" bIns="45700" anchor="ctr" anchorCtr="0">
            <a:noAutofit/>
          </a:bodyPr>
          <a:lstStyle/>
          <a:p>
            <a:pPr marL="255905" marR="0" lvl="0" indent="-255905" algn="r" rtl="0">
              <a:lnSpc>
                <a:spcPct val="100000"/>
              </a:lnSpc>
              <a:spcBef>
                <a:spcPts val="0"/>
              </a:spcBef>
              <a:spcAft>
                <a:spcPts val="0"/>
              </a:spcAft>
              <a:buClr>
                <a:schemeClr val="dk1"/>
              </a:buClr>
              <a:buSzPts val="1200"/>
              <a:buFont typeface="Verdana" panose="020B0604030504040204"/>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Copyright © 2019, 2016, 2013 Pearson Education, Inc. All Rights Reserved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35" name="Shape 235"/>
        <p:cNvGrpSpPr/>
        <p:nvPr/>
      </p:nvGrpSpPr>
      <p:grpSpPr>
        <a:xfrm>
          <a:off x="0" y="0"/>
          <a:ext cx="0" cy="0"/>
          <a:chOff x="0" y="0"/>
          <a:chExt cx="0" cy="0"/>
        </a:xfrm>
      </p:grpSpPr>
      <p:sp>
        <p:nvSpPr>
          <p:cNvPr id="236" name="Google Shape;236;p65"/>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237" name="Google Shape;237;p65"/>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rtl="0">
              <a:lnSpc>
                <a:spcPct val="100000"/>
              </a:lnSpc>
              <a:spcBef>
                <a:spcPts val="6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30200" algn="l" rtl="0">
              <a:lnSpc>
                <a:spcPct val="100000"/>
              </a:lnSpc>
              <a:spcBef>
                <a:spcPts val="300"/>
              </a:spcBef>
              <a:spcAft>
                <a:spcPts val="0"/>
              </a:spcAft>
              <a:buClr>
                <a:srgbClr val="007FA3"/>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8" name="Google Shape;238;p65"/>
          <p:cNvSpPr txBox="1"/>
          <p:nvPr>
            <p:ph type="ftr" idx="11"/>
          </p:nvPr>
        </p:nvSpPr>
        <p:spPr>
          <a:xfrm>
            <a:off x="93969" y="6172200"/>
            <a:ext cx="8595359" cy="235462"/>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100"/>
              <a:buFont typeface="Arial" panose="020B0604020202020204"/>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9" name="Google Shape;239;p65"/>
          <p:cNvSpPr txBox="1"/>
          <p:nvPr>
            <p:ph type="dt" idx="10"/>
          </p:nvPr>
        </p:nvSpPr>
        <p:spPr>
          <a:xfrm>
            <a:off x="6335712" y="113071"/>
            <a:ext cx="2133599" cy="18287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0" name="Google Shape;240;p65"/>
          <p:cNvSpPr txBox="1"/>
          <p:nvPr>
            <p:ph type="sldNum" idx="12"/>
          </p:nvPr>
        </p:nvSpPr>
        <p:spPr>
          <a:xfrm>
            <a:off x="8469311" y="113071"/>
            <a:ext cx="551783" cy="18287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chemeClr val="lt1"/>
              </a:buClr>
              <a:buSzPts val="225"/>
              <a:buFont typeface="Arial" panose="020B0604020202020204"/>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pic>
        <p:nvPicPr>
          <p:cNvPr id="241" name="Google Shape;241;p65" descr="Pearson Logo"/>
          <p:cNvPicPr preferRelativeResize="0"/>
          <p:nvPr/>
        </p:nvPicPr>
        <p:blipFill rotWithShape="1">
          <a:blip r:embed="rId3"/>
          <a:srcRect/>
          <a:stretch>
            <a:fillRect/>
          </a:stretch>
        </p:blipFill>
        <p:spPr>
          <a:xfrm>
            <a:off x="443972" y="6429709"/>
            <a:ext cx="917999" cy="27991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4" r:id="rId1"/>
    <p:sldLayoutId id="214748367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9" name="Shape 259"/>
        <p:cNvGrpSpPr/>
        <p:nvPr/>
      </p:nvGrpSpPr>
      <p:grpSpPr>
        <a:xfrm>
          <a:off x="0" y="0"/>
          <a:ext cx="0" cy="0"/>
          <a:chOff x="0" y="0"/>
          <a:chExt cx="0" cy="0"/>
        </a:xfrm>
      </p:grpSpPr>
      <p:sp>
        <p:nvSpPr>
          <p:cNvPr id="260" name="Google Shape;260;p1"/>
          <p:cNvSpPr txBox="1"/>
          <p:nvPr>
            <p:ph type="title"/>
          </p:nvPr>
        </p:nvSpPr>
        <p:spPr>
          <a:xfrm>
            <a:off x="457199" y="1405601"/>
            <a:ext cx="8363663" cy="1554052"/>
          </a:xfrm>
          <a:prstGeom prst="rect">
            <a:avLst/>
          </a:prstGeom>
          <a:noFill/>
          <a:ln>
            <a:noFill/>
          </a:ln>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SzPct val="100000"/>
              <a:buNone/>
            </a:pPr>
            <a:r>
              <a:rPr lang="en-GB" altLang="en-US"/>
              <a:t>Week-10</a:t>
            </a:r>
            <a:br>
              <a:rPr lang="en-GB" altLang="en-US"/>
            </a:br>
            <a:r>
              <a:rPr lang="en-GB" altLang="en-US"/>
              <a:t>Session-1</a:t>
            </a:r>
            <a:br>
              <a:rPr lang="en-US"/>
            </a:br>
            <a:br>
              <a:rPr lang="en-US"/>
            </a:br>
            <a:br>
              <a:rPr lang="en-US"/>
            </a:br>
            <a:r>
              <a:rPr lang="en-GB">
                <a:solidFill>
                  <a:schemeClr val="dk2"/>
                </a:solidFill>
              </a:rPr>
              <a:t>Supply Chain Management</a:t>
            </a:r>
            <a:endParaRPr lang="en-GB">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79" name="Shape 679"/>
        <p:cNvGrpSpPr/>
        <p:nvPr/>
      </p:nvGrpSpPr>
      <p:grpSpPr>
        <a:xfrm>
          <a:off x="0" y="0"/>
          <a:ext cx="0" cy="0"/>
          <a:chOff x="0" y="0"/>
          <a:chExt cx="0" cy="0"/>
        </a:xfrm>
      </p:grpSpPr>
      <p:sp>
        <p:nvSpPr>
          <p:cNvPr id="680" name="Google Shape;680;p13"/>
          <p:cNvSpPr txBox="1"/>
          <p:nvPr>
            <p:ph type="title"/>
          </p:nvPr>
        </p:nvSpPr>
        <p:spPr>
          <a:xfrm>
            <a:off x="564078" y="2509667"/>
            <a:ext cx="8229600" cy="655534"/>
          </a:xfrm>
          <a:prstGeom prst="rect">
            <a:avLst/>
          </a:prstGeom>
          <a:noFill/>
          <a:ln>
            <a:noFill/>
          </a:ln>
        </p:spPr>
        <p:txBody>
          <a:bodyPr spcFirstLastPara="1" wrap="square" lIns="91425" tIns="91425" rIns="91425" bIns="91425" anchor="b" anchorCtr="0">
            <a:spAutoFit/>
          </a:bodyPr>
          <a:lstStyle/>
          <a:p>
            <a:pPr marL="0" lvl="0" indent="0" algn="ctr" rtl="0">
              <a:lnSpc>
                <a:spcPct val="90000"/>
              </a:lnSpc>
              <a:spcBef>
                <a:spcPts val="0"/>
              </a:spcBef>
              <a:spcAft>
                <a:spcPts val="0"/>
              </a:spcAft>
              <a:buClr>
                <a:srgbClr val="007FA3"/>
              </a:buClr>
              <a:buSzPts val="3400"/>
              <a:buNone/>
            </a:pPr>
            <a:r>
              <a:rPr lang="en-US">
                <a:solidFill>
                  <a:srgbClr val="007FA3"/>
                </a:solidFill>
                <a:latin typeface="Times New Roman" panose="02020603050405020304"/>
                <a:ea typeface="Times New Roman" panose="02020603050405020304"/>
                <a:cs typeface="Times New Roman" panose="02020603050405020304"/>
                <a:sym typeface="Times New Roman" panose="02020603050405020304"/>
              </a:rPr>
              <a:t>Supply Chain Management</a:t>
            </a:r>
            <a:endParaRPr lang="en-US">
              <a:solidFill>
                <a:srgbClr val="007FA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84" name="Shape 684"/>
        <p:cNvGrpSpPr/>
        <p:nvPr/>
      </p:nvGrpSpPr>
      <p:grpSpPr>
        <a:xfrm>
          <a:off x="0" y="0"/>
          <a:ext cx="0" cy="0"/>
          <a:chOff x="0" y="0"/>
          <a:chExt cx="0" cy="0"/>
        </a:xfrm>
      </p:grpSpPr>
      <p:sp>
        <p:nvSpPr>
          <p:cNvPr id="685" name="Google Shape;685;p14"/>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What Is a Supply Chain? </a:t>
            </a:r>
            <a:r>
              <a:rPr lang="en-US" sz="2000" b="0">
                <a:latin typeface="Times New Roman" panose="02020603050405020304"/>
                <a:ea typeface="Times New Roman" panose="02020603050405020304"/>
                <a:cs typeface="Times New Roman" panose="02020603050405020304"/>
                <a:sym typeface="Times New Roman" panose="02020603050405020304"/>
              </a:rPr>
              <a:t>(2 of 3)</a:t>
            </a:r>
            <a:endParaRPr lang="en-US" sz="2000" b="0">
              <a:latin typeface="Times New Roman" panose="02020603050405020304"/>
              <a:ea typeface="Times New Roman" panose="02020603050405020304"/>
              <a:cs typeface="Times New Roman" panose="02020603050405020304"/>
              <a:sym typeface="Times New Roman" panose="02020603050405020304"/>
            </a:endParaRPr>
          </a:p>
        </p:txBody>
      </p:sp>
      <p:sp>
        <p:nvSpPr>
          <p:cNvPr id="686" name="Google Shape;686;p14"/>
          <p:cNvSpPr txBox="1"/>
          <p:nvPr>
            <p:ph type="body" idx="1"/>
          </p:nvPr>
        </p:nvSpPr>
        <p:spPr>
          <a:xfrm>
            <a:off x="457200" y="1600200"/>
            <a:ext cx="8229600" cy="3716372"/>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Customer is an integral part of the supply chain</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Includes movement of products from suppliers to manufacturers to distributors and information, funds, and products in both directions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May be more accurate to use the term “supply network” or “supply web”</a:t>
            </a:r>
            <a:endParaRPr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Typical supply chain stages: customers, retailers, wholesalers, distributors, manufacturers, suppliers</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91" name="Shape 691"/>
        <p:cNvGrpSpPr/>
        <p:nvPr/>
      </p:nvGrpSpPr>
      <p:grpSpPr>
        <a:xfrm>
          <a:off x="0" y="0"/>
          <a:ext cx="0" cy="0"/>
          <a:chOff x="0" y="0"/>
          <a:chExt cx="0" cy="0"/>
        </a:xfrm>
      </p:grpSpPr>
      <p:sp>
        <p:nvSpPr>
          <p:cNvPr id="692" name="Google Shape;692;p15"/>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What Is a Supply Chain? </a:t>
            </a:r>
            <a:r>
              <a:rPr lang="en-US" sz="2000" b="0">
                <a:latin typeface="Times New Roman" panose="02020603050405020304"/>
                <a:ea typeface="Times New Roman" panose="02020603050405020304"/>
                <a:cs typeface="Times New Roman" panose="02020603050405020304"/>
                <a:sym typeface="Times New Roman" panose="02020603050405020304"/>
              </a:rPr>
              <a:t>(3 of 3)</a:t>
            </a:r>
            <a:endParaRPr lang="en-US" sz="2000" b="0">
              <a:latin typeface="Times New Roman" panose="02020603050405020304"/>
              <a:ea typeface="Times New Roman" panose="02020603050405020304"/>
              <a:cs typeface="Times New Roman" panose="02020603050405020304"/>
              <a:sym typeface="Times New Roman" panose="02020603050405020304"/>
            </a:endParaRPr>
          </a:p>
        </p:txBody>
      </p:sp>
      <p:pic>
        <p:nvPicPr>
          <p:cNvPr id="693" name="Google Shape;693;p15" descr="A flow chart shows the stages of an automotive supply chain, which are as follows. 6 raw material suppliers, divided into 3 pairs. Each pair supplies a specific raw material to a tier 2 supplier. As a result, a there is 1 tier 2 supplier for the camera, a tier 2 supplier for the cylinder, and a tier 2 supplier for the bearings. Tier 2 camera supplier provides to a tier 1 electronic supplier. The tier 2 cylinder supplier and tier 2 bearings supplier both provide to a single tier 1 powertrain supplier. The two tier 1 suppliers provide to a single assembly plant, which splits its products to three dealers with 4 customers each."/>
          <p:cNvPicPr preferRelativeResize="0"/>
          <p:nvPr/>
        </p:nvPicPr>
        <p:blipFill rotWithShape="1">
          <a:blip r:embed="rId1"/>
          <a:srcRect/>
          <a:stretch>
            <a:fillRect/>
          </a:stretch>
        </p:blipFill>
        <p:spPr>
          <a:xfrm>
            <a:off x="1035483" y="1704529"/>
            <a:ext cx="6875627" cy="3821826"/>
          </a:xfrm>
          <a:prstGeom prst="rect">
            <a:avLst/>
          </a:prstGeom>
          <a:noFill/>
          <a:ln>
            <a:noFill/>
          </a:ln>
        </p:spPr>
      </p:pic>
      <p:sp>
        <p:nvSpPr>
          <p:cNvPr id="694" name="Google Shape;694;p15"/>
          <p:cNvSpPr txBox="1"/>
          <p:nvPr>
            <p:ph type="body" idx="1"/>
          </p:nvPr>
        </p:nvSpPr>
        <p:spPr>
          <a:xfrm>
            <a:off x="457200" y="5683477"/>
            <a:ext cx="8229600" cy="49661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US" sz="2000" b="1">
                <a:latin typeface="Arial" panose="020B0604020202020204"/>
                <a:ea typeface="Arial" panose="020B0604020202020204"/>
                <a:cs typeface="Arial" panose="020B0604020202020204"/>
                <a:sym typeface="Arial" panose="020B0604020202020204"/>
              </a:rPr>
              <a:t>Figure 1-1 </a:t>
            </a:r>
            <a:r>
              <a:rPr lang="en-US" sz="2000">
                <a:latin typeface="Arial" panose="020B0604020202020204"/>
                <a:ea typeface="Arial" panose="020B0604020202020204"/>
                <a:cs typeface="Arial" panose="020B0604020202020204"/>
                <a:sym typeface="Arial" panose="020B0604020202020204"/>
              </a:rPr>
              <a:t>Stages of an Automotive Supply Chain</a:t>
            </a:r>
            <a:endParaRPr lang="en-US" sz="20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98" name="Shape 698"/>
        <p:cNvGrpSpPr/>
        <p:nvPr/>
      </p:nvGrpSpPr>
      <p:grpSpPr>
        <a:xfrm>
          <a:off x="0" y="0"/>
          <a:ext cx="0" cy="0"/>
          <a:chOff x="0" y="0"/>
          <a:chExt cx="0" cy="0"/>
        </a:xfrm>
      </p:grpSpPr>
      <p:sp>
        <p:nvSpPr>
          <p:cNvPr id="699" name="Google Shape;699;p16"/>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Flows in a Supply Chain</a:t>
            </a:r>
            <a:endParaRPr lang="en-US">
              <a:latin typeface="Times New Roman" panose="02020603050405020304"/>
              <a:ea typeface="Times New Roman" panose="02020603050405020304"/>
              <a:cs typeface="Times New Roman" panose="02020603050405020304"/>
              <a:sym typeface="Times New Roman" panose="02020603050405020304"/>
            </a:endParaRPr>
          </a:p>
        </p:txBody>
      </p:sp>
      <p:pic>
        <p:nvPicPr>
          <p:cNvPr id="700" name="Google Shape;700;p16" descr="The three flows between the supplier stage and customer stage. Information, and product, flow back and forth between supplier and customer. Funds, flow one-way from customer to supplier."/>
          <p:cNvPicPr preferRelativeResize="0"/>
          <p:nvPr/>
        </p:nvPicPr>
        <p:blipFill rotWithShape="1">
          <a:blip r:embed="rId1"/>
          <a:srcRect/>
          <a:stretch>
            <a:fillRect/>
          </a:stretch>
        </p:blipFill>
        <p:spPr>
          <a:xfrm>
            <a:off x="644158" y="2008985"/>
            <a:ext cx="7923816" cy="2956193"/>
          </a:xfrm>
          <a:prstGeom prst="rect">
            <a:avLst/>
          </a:prstGeom>
          <a:noFill/>
          <a:ln>
            <a:noFill/>
          </a:ln>
        </p:spPr>
      </p:pic>
      <p:sp>
        <p:nvSpPr>
          <p:cNvPr id="701" name="Google Shape;701;p16"/>
          <p:cNvSpPr txBox="1"/>
          <p:nvPr>
            <p:ph type="body" idx="1"/>
          </p:nvPr>
        </p:nvSpPr>
        <p:spPr>
          <a:xfrm>
            <a:off x="457200" y="5661513"/>
            <a:ext cx="8229600" cy="59077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US" sz="2000" b="1">
                <a:latin typeface="Arial" panose="020B0604020202020204"/>
                <a:ea typeface="Arial" panose="020B0604020202020204"/>
                <a:cs typeface="Arial" panose="020B0604020202020204"/>
                <a:sym typeface="Arial" panose="020B0604020202020204"/>
              </a:rPr>
              <a:t>Figure 1-2 </a:t>
            </a:r>
            <a:r>
              <a:rPr lang="en-US" sz="2000">
                <a:latin typeface="Arial" panose="020B0604020202020204"/>
                <a:ea typeface="Arial" panose="020B0604020202020204"/>
                <a:cs typeface="Arial" panose="020B0604020202020204"/>
                <a:sym typeface="Arial" panose="020B0604020202020204"/>
              </a:rPr>
              <a:t>The Three Flows in a Supply Chain</a:t>
            </a:r>
            <a:endParaRPr lang="en-US" sz="20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05" name="Shape 705"/>
        <p:cNvGrpSpPr/>
        <p:nvPr/>
      </p:nvGrpSpPr>
      <p:grpSpPr>
        <a:xfrm>
          <a:off x="0" y="0"/>
          <a:ext cx="0" cy="0"/>
          <a:chOff x="0" y="0"/>
          <a:chExt cx="0" cy="0"/>
        </a:xfrm>
      </p:grpSpPr>
      <p:sp>
        <p:nvSpPr>
          <p:cNvPr id="706" name="Google Shape;706;p17"/>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The Objective of a Supply Chain </a:t>
            </a:r>
            <a:r>
              <a:rPr lang="en-US" sz="2000" b="0">
                <a:latin typeface="Times New Roman" panose="02020603050405020304"/>
                <a:ea typeface="Times New Roman" panose="02020603050405020304"/>
                <a:cs typeface="Times New Roman" panose="02020603050405020304"/>
                <a:sym typeface="Times New Roman" panose="02020603050405020304"/>
              </a:rPr>
              <a:t>(1 of 3)</a:t>
            </a:r>
            <a:endParaRPr lang="en-US" sz="2000" b="0">
              <a:latin typeface="Times New Roman" panose="02020603050405020304"/>
              <a:ea typeface="Times New Roman" panose="02020603050405020304"/>
              <a:cs typeface="Times New Roman" panose="02020603050405020304"/>
              <a:sym typeface="Times New Roman" panose="02020603050405020304"/>
            </a:endParaRPr>
          </a:p>
        </p:txBody>
      </p:sp>
      <p:sp>
        <p:nvSpPr>
          <p:cNvPr id="707" name="Google Shape;707;p17"/>
          <p:cNvSpPr txBox="1"/>
          <p:nvPr>
            <p:ph type="body" idx="1"/>
          </p:nvPr>
        </p:nvSpPr>
        <p:spPr>
          <a:xfrm>
            <a:off x="457200" y="1600200"/>
            <a:ext cx="8229600" cy="1484992"/>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Maximize net value generated</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1500"/>
              </a:spcBef>
              <a:spcAft>
                <a:spcPts val="0"/>
              </a:spcAft>
              <a:buSzPts val="2400"/>
              <a:buNone/>
            </a:pPr>
            <a:r>
              <a:rPr lang="en-US" sz="2400" b="1"/>
              <a:t>Supply Chain Surplus = Customer Value − Supply Chain Cost</a:t>
            </a:r>
            <a:endParaRPr lang="en-US" sz="24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11" name="Shape 711"/>
        <p:cNvGrpSpPr/>
        <p:nvPr/>
      </p:nvGrpSpPr>
      <p:grpSpPr>
        <a:xfrm>
          <a:off x="0" y="0"/>
          <a:ext cx="0" cy="0"/>
          <a:chOff x="0" y="0"/>
          <a:chExt cx="0" cy="0"/>
        </a:xfrm>
      </p:grpSpPr>
      <p:sp>
        <p:nvSpPr>
          <p:cNvPr id="712" name="Google Shape;712;p18"/>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solidFill>
                  <a:srgbClr val="007FA3"/>
                </a:solidFill>
                <a:latin typeface="Times New Roman" panose="02020603050405020304"/>
                <a:ea typeface="Times New Roman" panose="02020603050405020304"/>
                <a:cs typeface="Times New Roman" panose="02020603050405020304"/>
                <a:sym typeface="Times New Roman" panose="02020603050405020304"/>
              </a:rPr>
              <a:t>The Objective of a Supply Chain </a:t>
            </a:r>
            <a:r>
              <a:rPr lang="en-US" sz="2000" b="0">
                <a:solidFill>
                  <a:srgbClr val="007FA3"/>
                </a:solidFill>
                <a:latin typeface="Times New Roman" panose="02020603050405020304"/>
                <a:ea typeface="Times New Roman" panose="02020603050405020304"/>
                <a:cs typeface="Times New Roman" panose="02020603050405020304"/>
                <a:sym typeface="Times New Roman" panose="02020603050405020304"/>
              </a:rPr>
              <a:t>(2 of 3)</a:t>
            </a:r>
            <a:endParaRPr lang="en-US" sz="2000" b="0">
              <a:solidFill>
                <a:srgbClr val="007FA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3" name="Google Shape;713;p18"/>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Example: a customer purchases a wireless router from Best Buy for $60 (revenue)</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Supply chain incurs costs (convey information, produce components, storage, transportation, transfer funds, etc.)</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Difference between $60 and the sum of all of these costs is the supply chain profitability</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Supply chain profitability is total profit to be shared across all stages of the supply chain</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Success should be measured by total supply chain surplus, not profits at an individual stage</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17" name="Shape 717"/>
        <p:cNvGrpSpPr/>
        <p:nvPr/>
      </p:nvGrpSpPr>
      <p:grpSpPr>
        <a:xfrm>
          <a:off x="0" y="0"/>
          <a:ext cx="0" cy="0"/>
          <a:chOff x="0" y="0"/>
          <a:chExt cx="0" cy="0"/>
        </a:xfrm>
      </p:grpSpPr>
      <p:sp>
        <p:nvSpPr>
          <p:cNvPr id="718" name="Google Shape;718;p19"/>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solidFill>
                  <a:srgbClr val="007FA3"/>
                </a:solidFill>
                <a:latin typeface="Times New Roman" panose="02020603050405020304"/>
                <a:ea typeface="Times New Roman" panose="02020603050405020304"/>
                <a:cs typeface="Times New Roman" panose="02020603050405020304"/>
                <a:sym typeface="Times New Roman" panose="02020603050405020304"/>
              </a:rPr>
              <a:t>The Objective of a Supply Chain </a:t>
            </a:r>
            <a:r>
              <a:rPr lang="en-US" sz="2000" b="0">
                <a:solidFill>
                  <a:srgbClr val="007FA3"/>
                </a:solidFill>
                <a:latin typeface="Times New Roman" panose="02020603050405020304"/>
                <a:ea typeface="Times New Roman" panose="02020603050405020304"/>
                <a:cs typeface="Times New Roman" panose="02020603050405020304"/>
                <a:sym typeface="Times New Roman" panose="02020603050405020304"/>
              </a:rPr>
              <a:t>(3 of 3)</a:t>
            </a:r>
            <a:endParaRPr lang="en-US" sz="2000" b="0">
              <a:solidFill>
                <a:srgbClr val="007FA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9" name="Google Shape;719;p19"/>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Customer the only source of revenue</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Sources of cost include flows of information, products, or funds between stages of the supply chain</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Effective </a:t>
            </a:r>
            <a:r>
              <a:rPr lang="en-US" sz="2400" b="1">
                <a:solidFill>
                  <a:srgbClr val="000000"/>
                </a:solidFill>
                <a:latin typeface="Arial" panose="020B0604020202020204"/>
                <a:ea typeface="Arial" panose="020B0604020202020204"/>
                <a:cs typeface="Arial" panose="020B0604020202020204"/>
                <a:sym typeface="Arial" panose="020B0604020202020204"/>
              </a:rPr>
              <a:t>supply chain management </a:t>
            </a:r>
            <a:r>
              <a:rPr lang="en-US" sz="2400">
                <a:solidFill>
                  <a:srgbClr val="000000"/>
                </a:solidFill>
                <a:latin typeface="Arial" panose="020B0604020202020204"/>
                <a:ea typeface="Arial" panose="020B0604020202020204"/>
                <a:cs typeface="Arial" panose="020B0604020202020204"/>
                <a:sym typeface="Arial" panose="020B0604020202020204"/>
              </a:rPr>
              <a:t>involves the management of supply chain assets and product, information, and fund flows to grow the total supply chain surplus</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723" name="Shape 723"/>
        <p:cNvGrpSpPr/>
        <p:nvPr/>
      </p:nvGrpSpPr>
      <p:grpSpPr>
        <a:xfrm>
          <a:off x="0" y="0"/>
          <a:ext cx="0" cy="0"/>
          <a:chOff x="0" y="0"/>
          <a:chExt cx="0" cy="0"/>
        </a:xfrm>
      </p:grpSpPr>
      <p:sp>
        <p:nvSpPr>
          <p:cNvPr id="724" name="Google Shape;724;p20"/>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Decision Phases in a Supply Chain</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725" name="Google Shape;725;p20"/>
          <p:cNvSpPr txBox="1"/>
          <p:nvPr>
            <p:ph type="body" idx="1"/>
          </p:nvPr>
        </p:nvSpPr>
        <p:spPr>
          <a:xfrm>
            <a:off x="457200" y="1600200"/>
            <a:ext cx="8229600" cy="3385512"/>
          </a:xfrm>
          <a:prstGeom prst="rect">
            <a:avLst/>
          </a:prstGeom>
          <a:noFill/>
          <a:ln>
            <a:noFill/>
          </a:ln>
        </p:spPr>
        <p:txBody>
          <a:bodyPr spcFirstLastPara="1" wrap="square" lIns="91425" tIns="91425" rIns="91425" bIns="91425" anchor="t" anchorCtr="0">
            <a:spAutoFit/>
          </a:bodyPr>
          <a:lstStyle/>
          <a:p>
            <a:pPr marL="431800" lvl="0" indent="-431800" algn="l" rtl="0">
              <a:lnSpc>
                <a:spcPct val="100000"/>
              </a:lnSpc>
              <a:spcBef>
                <a:spcPts val="0"/>
              </a:spcBef>
              <a:spcAft>
                <a:spcPts val="0"/>
              </a:spcAft>
              <a:buSzPts val="2400"/>
              <a:buFont typeface="Arial" panose="020B0604020202020204"/>
              <a:buAutoNum type="arabicPeriod"/>
            </a:pPr>
            <a:r>
              <a:rPr lang="en-US" sz="2400">
                <a:solidFill>
                  <a:srgbClr val="000000"/>
                </a:solidFill>
                <a:latin typeface="Arial" panose="020B0604020202020204"/>
                <a:ea typeface="Arial" panose="020B0604020202020204"/>
                <a:cs typeface="Arial" panose="020B0604020202020204"/>
                <a:sym typeface="Arial" panose="020B0604020202020204"/>
              </a:rPr>
              <a:t>Supply chain strategy or design</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How to structure the supply chain over the next several years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431800" lvl="0" indent="-431800" algn="l" rtl="0">
              <a:lnSpc>
                <a:spcPct val="100000"/>
              </a:lnSpc>
              <a:spcBef>
                <a:spcPts val="1500"/>
              </a:spcBef>
              <a:spcAft>
                <a:spcPts val="0"/>
              </a:spcAft>
              <a:buSzPts val="2400"/>
              <a:buFont typeface="Arial" panose="020B0604020202020204"/>
              <a:buAutoNum type="arabicPeriod"/>
            </a:pPr>
            <a:r>
              <a:rPr lang="en-US" sz="2400">
                <a:solidFill>
                  <a:srgbClr val="000000"/>
                </a:solidFill>
                <a:latin typeface="Arial" panose="020B0604020202020204"/>
                <a:ea typeface="Arial" panose="020B0604020202020204"/>
                <a:cs typeface="Arial" panose="020B0604020202020204"/>
                <a:sym typeface="Arial" panose="020B0604020202020204"/>
              </a:rPr>
              <a:t>Supply chain planning</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Decisions over the next quarter or year</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431800" lvl="0" indent="-431800" algn="l" rtl="0">
              <a:lnSpc>
                <a:spcPct val="100000"/>
              </a:lnSpc>
              <a:spcBef>
                <a:spcPts val="1500"/>
              </a:spcBef>
              <a:spcAft>
                <a:spcPts val="0"/>
              </a:spcAft>
              <a:buSzPts val="2400"/>
              <a:buFont typeface="Arial" panose="020B0604020202020204"/>
              <a:buAutoNum type="arabicPeriod"/>
            </a:pPr>
            <a:r>
              <a:rPr lang="en-US" sz="2400">
                <a:solidFill>
                  <a:srgbClr val="000000"/>
                </a:solidFill>
                <a:latin typeface="Arial" panose="020B0604020202020204"/>
                <a:ea typeface="Arial" panose="020B0604020202020204"/>
                <a:cs typeface="Arial" panose="020B0604020202020204"/>
                <a:sym typeface="Arial" panose="020B0604020202020204"/>
              </a:rPr>
              <a:t>Supply chain operation</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Daily or weekly operational decisions</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729" name="Shape 729"/>
        <p:cNvGrpSpPr/>
        <p:nvPr/>
      </p:nvGrpSpPr>
      <p:grpSpPr>
        <a:xfrm>
          <a:off x="0" y="0"/>
          <a:ext cx="0" cy="0"/>
          <a:chOff x="0" y="0"/>
          <a:chExt cx="0" cy="0"/>
        </a:xfrm>
      </p:grpSpPr>
      <p:sp>
        <p:nvSpPr>
          <p:cNvPr id="730" name="Google Shape;730;p21"/>
          <p:cNvSpPr txBox="1"/>
          <p:nvPr>
            <p:ph type="title"/>
          </p:nvPr>
        </p:nvSpPr>
        <p:spPr>
          <a:xfrm>
            <a:off x="457200" y="657116"/>
            <a:ext cx="8229600" cy="655534"/>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1. Supply Chain Strategy or Design</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731" name="Google Shape;731;p21"/>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Decisions about the configuration of the supply chain, allocation of resources, and what processes each stage will perform</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Strategic supply chain decisions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Outsource supply chain functions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Locations and capacities of facilities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Products to be made or stored at various locations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Modes of transportation</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Information systems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Supply chain design must support strategic objectives</a:t>
            </a:r>
            <a:endParaRPr lang="en-US" sz="20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000"/>
              <a:buFont typeface="Arial" panose="020B0604020202020204"/>
              <a:buChar char="•"/>
            </a:pPr>
            <a:r>
              <a:rPr lang="en-US" sz="2000">
                <a:solidFill>
                  <a:srgbClr val="000000"/>
                </a:solidFill>
                <a:latin typeface="Arial" panose="020B0604020202020204"/>
                <a:ea typeface="Arial" panose="020B0604020202020204"/>
                <a:cs typeface="Arial" panose="020B0604020202020204"/>
                <a:sym typeface="Arial" panose="020B0604020202020204"/>
              </a:rPr>
              <a:t>Supply chain design decisions are long-term and expensive to reverse – must take into account market uncertainty</a:t>
            </a:r>
            <a:endParaRPr lang="en-US" sz="20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735" name="Shape 735"/>
        <p:cNvGrpSpPr/>
        <p:nvPr/>
      </p:nvGrpSpPr>
      <p:grpSpPr>
        <a:xfrm>
          <a:off x="0" y="0"/>
          <a:ext cx="0" cy="0"/>
          <a:chOff x="0" y="0"/>
          <a:chExt cx="0" cy="0"/>
        </a:xfrm>
      </p:grpSpPr>
      <p:sp>
        <p:nvSpPr>
          <p:cNvPr id="736" name="Google Shape;736;p22"/>
          <p:cNvSpPr txBox="1"/>
          <p:nvPr>
            <p:ph type="title"/>
          </p:nvPr>
        </p:nvSpPr>
        <p:spPr>
          <a:xfrm>
            <a:off x="457200" y="657116"/>
            <a:ext cx="8229600" cy="655534"/>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2. Supply Chain Planning </a:t>
            </a:r>
            <a:r>
              <a:rPr lang="en-US" sz="2000" b="0">
                <a:latin typeface="Times New Roman" panose="02020603050405020304"/>
                <a:ea typeface="Times New Roman" panose="02020603050405020304"/>
                <a:cs typeface="Times New Roman" panose="02020603050405020304"/>
                <a:sym typeface="Times New Roman" panose="02020603050405020304"/>
              </a:rPr>
              <a:t>(1 of 2)</a:t>
            </a:r>
            <a:endParaRPr lang="en-US" sz="2000" b="0">
              <a:latin typeface="Times New Roman" panose="02020603050405020304"/>
              <a:ea typeface="Times New Roman" panose="02020603050405020304"/>
              <a:cs typeface="Times New Roman" panose="02020603050405020304"/>
              <a:sym typeface="Times New Roman" panose="02020603050405020304"/>
            </a:endParaRPr>
          </a:p>
        </p:txBody>
      </p:sp>
      <p:sp>
        <p:nvSpPr>
          <p:cNvPr id="737" name="Google Shape;737;p22"/>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Definition of a set of policies that govern short-term operations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Fixed by the supply configuration from strategic phase</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Goal is to maximize supply chain surplus given established constraints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Starts with a forecast of demand in the coming year</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741" name="Shape 741"/>
        <p:cNvGrpSpPr/>
        <p:nvPr/>
      </p:nvGrpSpPr>
      <p:grpSpPr>
        <a:xfrm>
          <a:off x="0" y="0"/>
          <a:ext cx="0" cy="0"/>
          <a:chOff x="0" y="0"/>
          <a:chExt cx="0" cy="0"/>
        </a:xfrm>
      </p:grpSpPr>
      <p:sp>
        <p:nvSpPr>
          <p:cNvPr id="742" name="Google Shape;742;p23"/>
          <p:cNvSpPr txBox="1"/>
          <p:nvPr>
            <p:ph type="title"/>
          </p:nvPr>
        </p:nvSpPr>
        <p:spPr>
          <a:xfrm>
            <a:off x="457200" y="657116"/>
            <a:ext cx="8229600" cy="655534"/>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2. Supply Chain Planning </a:t>
            </a:r>
            <a:r>
              <a:rPr lang="en-US" sz="2000" b="0">
                <a:latin typeface="Times New Roman" panose="02020603050405020304"/>
                <a:ea typeface="Times New Roman" panose="02020603050405020304"/>
                <a:cs typeface="Times New Roman" panose="02020603050405020304"/>
                <a:sym typeface="Times New Roman" panose="02020603050405020304"/>
              </a:rPr>
              <a:t>(2 of 2)</a:t>
            </a:r>
            <a:endParaRPr lang="en-US" sz="2000" b="0">
              <a:latin typeface="Times New Roman" panose="02020603050405020304"/>
              <a:ea typeface="Times New Roman" panose="02020603050405020304"/>
              <a:cs typeface="Times New Roman" panose="02020603050405020304"/>
              <a:sym typeface="Times New Roman" panose="02020603050405020304"/>
            </a:endParaRPr>
          </a:p>
        </p:txBody>
      </p:sp>
      <p:sp>
        <p:nvSpPr>
          <p:cNvPr id="743" name="Google Shape;743;p23"/>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Planning decisions: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Which markets will be supplied from which locations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Planned buildup of inventories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Subcontracting</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Inventory policies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741680" lvl="1" indent="-284480" algn="l" rtl="0">
              <a:lnSpc>
                <a:spcPct val="100000"/>
              </a:lnSpc>
              <a:spcBef>
                <a:spcPts val="6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Timing and size of market promotions</a:t>
            </a:r>
            <a:endParaRPr lang="en-US" sz="24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400"/>
              <a:buFont typeface="Arial" panose="020B0604020202020204"/>
              <a:buChar char="•"/>
            </a:pPr>
            <a:r>
              <a:rPr lang="en-US" sz="2400">
                <a:solidFill>
                  <a:srgbClr val="000000"/>
                </a:solidFill>
                <a:latin typeface="Arial" panose="020B0604020202020204"/>
                <a:ea typeface="Arial" panose="020B0604020202020204"/>
                <a:cs typeface="Arial" panose="020B0604020202020204"/>
                <a:sym typeface="Arial" panose="020B0604020202020204"/>
              </a:rPr>
              <a:t>Must consider demand uncertainty, exchange rates, competition over the time horizon in planning decisions</a:t>
            </a:r>
            <a:endParaRPr lang="en-US" sz="2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747" name="Shape 747"/>
        <p:cNvGrpSpPr/>
        <p:nvPr/>
      </p:nvGrpSpPr>
      <p:grpSpPr>
        <a:xfrm>
          <a:off x="0" y="0"/>
          <a:ext cx="0" cy="0"/>
          <a:chOff x="0" y="0"/>
          <a:chExt cx="0" cy="0"/>
        </a:xfrm>
      </p:grpSpPr>
      <p:sp>
        <p:nvSpPr>
          <p:cNvPr id="748" name="Google Shape;748;p24"/>
          <p:cNvSpPr txBox="1"/>
          <p:nvPr>
            <p:ph type="title"/>
          </p:nvPr>
        </p:nvSpPr>
        <p:spPr>
          <a:xfrm>
            <a:off x="457200" y="657116"/>
            <a:ext cx="8229600" cy="655534"/>
          </a:xfrm>
          <a:prstGeom prst="rect">
            <a:avLst/>
          </a:prstGeom>
          <a:noFill/>
          <a:ln>
            <a:noFill/>
          </a:ln>
        </p:spPr>
        <p:txBody>
          <a:bodyPr spcFirstLastPara="1" wrap="square" lIns="91425" tIns="91425" rIns="91425" bIns="91425" anchor="b" anchorCtr="0">
            <a:spAutoFit/>
          </a:bodyPr>
          <a:lstStyle/>
          <a:p>
            <a:pPr marL="0" lvl="0" indent="0" algn="l" rtl="0">
              <a:lnSpc>
                <a:spcPct val="90000"/>
              </a:lnSpc>
              <a:spcBef>
                <a:spcPts val="0"/>
              </a:spcBef>
              <a:spcAft>
                <a:spcPts val="0"/>
              </a:spcAft>
              <a:buClr>
                <a:srgbClr val="007FA3"/>
              </a:buClr>
              <a:buSzPts val="3400"/>
              <a:buNone/>
            </a:pPr>
            <a:r>
              <a:rPr lang="en-US">
                <a:latin typeface="Times New Roman" panose="02020603050405020304"/>
                <a:ea typeface="Times New Roman" panose="02020603050405020304"/>
                <a:cs typeface="Times New Roman" panose="02020603050405020304"/>
                <a:sym typeface="Times New Roman" panose="02020603050405020304"/>
              </a:rPr>
              <a:t>3. Supply Chain Operation</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749" name="Google Shape;749;p24"/>
          <p:cNvSpPr txBox="1"/>
          <p:nvPr>
            <p:ph type="body" idx="1"/>
          </p:nvPr>
        </p:nvSpPr>
        <p:spPr>
          <a:xfrm>
            <a:off x="457200" y="1600200"/>
            <a:ext cx="8229600" cy="4870534"/>
          </a:xfrm>
          <a:prstGeom prst="rect">
            <a:avLst/>
          </a:prstGeom>
          <a:noFill/>
          <a:ln>
            <a:noFill/>
          </a:ln>
        </p:spPr>
        <p:txBody>
          <a:bodyPr spcFirstLastPara="1" wrap="square" lIns="91425" tIns="91425" rIns="91425" bIns="91425" anchor="t" anchorCtr="0">
            <a:spAutoFit/>
          </a:bodyPr>
          <a:lstStyle/>
          <a:p>
            <a:pPr marL="255905" lvl="0" indent="-255905" algn="l" rtl="0">
              <a:lnSpc>
                <a:spcPct val="100000"/>
              </a:lnSpc>
              <a:spcBef>
                <a:spcPts val="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Time horizon is weekly or daily</a:t>
            </a:r>
            <a:endParaRPr lang="en-US" sz="22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Decisions regarding individual customer orders</a:t>
            </a:r>
            <a:endParaRPr lang="en-US" sz="22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Supply chain configuration is fixed and planning policies are defined</a:t>
            </a:r>
            <a:endParaRPr lang="en-US" sz="22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Goal is to handle incoming customer orders as effectively as possible</a:t>
            </a:r>
            <a:endParaRPr lang="en-US" sz="22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Allocate orders to inventory or production, set order due dates, generate pick lists at a warehouse, allocate an order to a particular shipment, set delivery schedules, place replenishment orders</a:t>
            </a:r>
            <a:endParaRPr lang="en-US" sz="2200">
              <a:solidFill>
                <a:srgbClr val="000000"/>
              </a:solidFill>
              <a:latin typeface="Arial" panose="020B0604020202020204"/>
              <a:ea typeface="Arial" panose="020B0604020202020204"/>
              <a:cs typeface="Arial" panose="020B0604020202020204"/>
              <a:sym typeface="Arial" panose="020B0604020202020204"/>
            </a:endParaRPr>
          </a:p>
          <a:p>
            <a:pPr marL="255905" lvl="0" indent="-255905" algn="l" rtl="0">
              <a:lnSpc>
                <a:spcPct val="100000"/>
              </a:lnSpc>
              <a:spcBef>
                <a:spcPts val="1500"/>
              </a:spcBef>
              <a:spcAft>
                <a:spcPts val="0"/>
              </a:spcAft>
              <a:buSzPts val="2200"/>
              <a:buFont typeface="Arial" panose="020B0604020202020204"/>
              <a:buChar char="•"/>
            </a:pPr>
            <a:r>
              <a:rPr lang="en-US" sz="2200">
                <a:solidFill>
                  <a:srgbClr val="000000"/>
                </a:solidFill>
                <a:latin typeface="Arial" panose="020B0604020202020204"/>
                <a:ea typeface="Arial" panose="020B0604020202020204"/>
                <a:cs typeface="Arial" panose="020B0604020202020204"/>
                <a:sym typeface="Arial" panose="020B0604020202020204"/>
              </a:rPr>
              <a:t>Much less uncertainty (short time horizon)</a:t>
            </a:r>
            <a:endParaRPr lang="en-US" sz="22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53" name="Shape 753"/>
        <p:cNvGrpSpPr/>
        <p:nvPr/>
      </p:nvGrpSpPr>
      <p:grpSpPr>
        <a:xfrm>
          <a:off x="0" y="0"/>
          <a:ext cx="0" cy="0"/>
          <a:chOff x="0" y="0"/>
          <a:chExt cx="0" cy="0"/>
        </a:xfrm>
      </p:grpSpPr>
      <p:sp>
        <p:nvSpPr>
          <p:cNvPr id="754" name="Google Shape;754;p25"/>
          <p:cNvSpPr txBox="1"/>
          <p:nvPr>
            <p:ph type="title"/>
          </p:nvPr>
        </p:nvSpPr>
        <p:spPr>
          <a:xfrm>
            <a:off x="457200" y="215372"/>
            <a:ext cx="8229600" cy="51646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400"/>
              <a:buFont typeface="Times New Roman" panose="02020603050405020304"/>
              <a:buNone/>
            </a:pPr>
            <a:r>
              <a:rPr lang="en-US">
                <a:latin typeface="Arial" panose="020B0604020202020204"/>
                <a:ea typeface="Arial" panose="020B0604020202020204"/>
                <a:cs typeface="Arial" panose="020B0604020202020204"/>
                <a:sym typeface="Arial" panose="020B0604020202020204"/>
              </a:rPr>
              <a:t>Drivers of Supply Chain Performance</a:t>
            </a:r>
            <a:endParaRPr lang="en-US">
              <a:latin typeface="Arial" panose="020B0604020202020204"/>
              <a:ea typeface="Arial" panose="020B0604020202020204"/>
              <a:cs typeface="Arial" panose="020B0604020202020204"/>
              <a:sym typeface="Arial" panose="020B0604020202020204"/>
            </a:endParaRPr>
          </a:p>
        </p:txBody>
      </p:sp>
      <p:sp>
        <p:nvSpPr>
          <p:cNvPr id="755" name="Google Shape;755;p25"/>
          <p:cNvSpPr txBox="1"/>
          <p:nvPr>
            <p:ph type="body" idx="1"/>
          </p:nvPr>
        </p:nvSpPr>
        <p:spPr>
          <a:xfrm>
            <a:off x="457200" y="840179"/>
            <a:ext cx="8229600" cy="4525963"/>
          </a:xfrm>
          <a:prstGeom prst="rect">
            <a:avLst/>
          </a:prstGeom>
          <a:noFill/>
          <a:ln>
            <a:noFill/>
          </a:ln>
        </p:spPr>
        <p:txBody>
          <a:bodyPr spcFirstLastPara="1" wrap="square" lIns="91425" tIns="91425" rIns="91425" bIns="91425" anchor="t" anchorCtr="0">
            <a:noAutofit/>
          </a:bodyPr>
          <a:lstStyle/>
          <a:p>
            <a:pPr marL="255905" marR="0" lvl="0" indent="-255905" algn="l" rtl="0">
              <a:lnSpc>
                <a:spcPct val="100000"/>
              </a:lnSpc>
              <a:spcBef>
                <a:spcPts val="0"/>
              </a:spcBef>
              <a:spcAft>
                <a:spcPts val="0"/>
              </a:spcAft>
              <a:buClr>
                <a:srgbClr val="007FA3"/>
              </a:buClr>
              <a:buSzPts val="2400"/>
              <a:buFont typeface="Arial" panose="020B0604020202020204"/>
              <a:buChar char="•"/>
            </a:pPr>
            <a:r>
              <a:rPr lang="en-US" sz="2400" b="1">
                <a:solidFill>
                  <a:schemeClr val="lt2"/>
                </a:solidFill>
                <a:latin typeface="Arial" panose="020B0604020202020204"/>
                <a:ea typeface="Arial" panose="020B0604020202020204"/>
                <a:cs typeface="Arial" panose="020B0604020202020204"/>
                <a:sym typeface="Arial" panose="020B0604020202020204"/>
              </a:rPr>
              <a:t>Facilities</a:t>
            </a:r>
            <a:br>
              <a:rPr lang="en-US" sz="2400"/>
            </a:br>
            <a:r>
              <a:rPr lang="en-US" sz="2400">
                <a:latin typeface="Arial" panose="020B0604020202020204"/>
                <a:ea typeface="Arial" panose="020B0604020202020204"/>
                <a:cs typeface="Arial" panose="020B0604020202020204"/>
                <a:sym typeface="Arial" panose="020B0604020202020204"/>
              </a:rPr>
              <a:t> places where inventory is stored, assembled, or fabricated</a:t>
            </a:r>
            <a:br>
              <a:rPr lang="en-US" sz="2400"/>
            </a:br>
            <a:r>
              <a:rPr lang="en-US" sz="2400">
                <a:latin typeface="Arial" panose="020B0604020202020204"/>
                <a:ea typeface="Arial" panose="020B0604020202020204"/>
                <a:cs typeface="Arial" panose="020B0604020202020204"/>
                <a:sym typeface="Arial" panose="020B0604020202020204"/>
              </a:rPr>
              <a:t> production sites and storage sites</a:t>
            </a:r>
            <a:endParaRPr lang="en-US" sz="2400">
              <a:latin typeface="Arial" panose="020B0604020202020204"/>
              <a:ea typeface="Arial" panose="020B0604020202020204"/>
              <a:cs typeface="Arial" panose="020B0604020202020204"/>
              <a:sym typeface="Arial" panose="020B0604020202020204"/>
            </a:endParaRPr>
          </a:p>
          <a:p>
            <a:pPr marL="255905" marR="0" lvl="0" indent="-255905" algn="l" rtl="0">
              <a:lnSpc>
                <a:spcPct val="100000"/>
              </a:lnSpc>
              <a:spcBef>
                <a:spcPts val="150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 </a:t>
            </a:r>
            <a:r>
              <a:rPr lang="en-US" sz="2400" b="1">
                <a:solidFill>
                  <a:schemeClr val="lt2"/>
                </a:solidFill>
                <a:latin typeface="Arial" panose="020B0604020202020204"/>
                <a:ea typeface="Arial" panose="020B0604020202020204"/>
                <a:cs typeface="Arial" panose="020B0604020202020204"/>
                <a:sym typeface="Arial" panose="020B0604020202020204"/>
              </a:rPr>
              <a:t>Inventory</a:t>
            </a:r>
            <a:br>
              <a:rPr lang="en-US" sz="2400"/>
            </a:br>
            <a:r>
              <a:rPr lang="en-US" sz="2400">
                <a:latin typeface="Arial" panose="020B0604020202020204"/>
                <a:ea typeface="Arial" panose="020B0604020202020204"/>
                <a:cs typeface="Arial" panose="020B0604020202020204"/>
                <a:sym typeface="Arial" panose="020B0604020202020204"/>
              </a:rPr>
              <a:t> raw materials, WIP(work in progress), finished goods within a supply chain</a:t>
            </a:r>
            <a:br>
              <a:rPr lang="en-US" sz="2400"/>
            </a:br>
            <a:r>
              <a:rPr lang="en-US" sz="2400">
                <a:latin typeface="Arial" panose="020B0604020202020204"/>
                <a:ea typeface="Arial" panose="020B0604020202020204"/>
                <a:cs typeface="Arial" panose="020B0604020202020204"/>
                <a:sym typeface="Arial" panose="020B0604020202020204"/>
              </a:rPr>
              <a:t> inventory policies</a:t>
            </a:r>
            <a:endParaRPr lang="en-US" sz="2400">
              <a:latin typeface="Arial" panose="020B0604020202020204"/>
              <a:ea typeface="Arial" panose="020B0604020202020204"/>
              <a:cs typeface="Arial" panose="020B0604020202020204"/>
              <a:sym typeface="Arial" panose="020B0604020202020204"/>
            </a:endParaRPr>
          </a:p>
          <a:p>
            <a:pPr marL="255905" marR="0" lvl="0" indent="-255905" algn="l" rtl="0">
              <a:lnSpc>
                <a:spcPct val="100000"/>
              </a:lnSpc>
              <a:spcBef>
                <a:spcPts val="150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 </a:t>
            </a:r>
            <a:r>
              <a:rPr lang="en-US" sz="2400" b="1">
                <a:solidFill>
                  <a:schemeClr val="lt2"/>
                </a:solidFill>
                <a:latin typeface="Arial" panose="020B0604020202020204"/>
                <a:ea typeface="Arial" panose="020B0604020202020204"/>
                <a:cs typeface="Arial" panose="020B0604020202020204"/>
                <a:sym typeface="Arial" panose="020B0604020202020204"/>
              </a:rPr>
              <a:t>Transportation</a:t>
            </a:r>
            <a:br>
              <a:rPr lang="en-US" sz="2400"/>
            </a:br>
            <a:r>
              <a:rPr lang="en-US" sz="2400">
                <a:latin typeface="Arial" panose="020B0604020202020204"/>
                <a:ea typeface="Arial" panose="020B0604020202020204"/>
                <a:cs typeface="Arial" panose="020B0604020202020204"/>
                <a:sym typeface="Arial" panose="020B0604020202020204"/>
              </a:rPr>
              <a:t> moving inventory from point to point in a supply chain</a:t>
            </a:r>
            <a:br>
              <a:rPr lang="en-US" sz="2400"/>
            </a:br>
            <a:r>
              <a:rPr lang="en-US" sz="2400">
                <a:latin typeface="Arial" panose="020B0604020202020204"/>
                <a:ea typeface="Arial" panose="020B0604020202020204"/>
                <a:cs typeface="Arial" panose="020B0604020202020204"/>
                <a:sym typeface="Arial" panose="020B0604020202020204"/>
              </a:rPr>
              <a:t> combinations of transportation modes and routes</a:t>
            </a:r>
            <a:endParaRPr lang="en-US" sz="24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59" name="Shape 759"/>
        <p:cNvGrpSpPr/>
        <p:nvPr/>
      </p:nvGrpSpPr>
      <p:grpSpPr>
        <a:xfrm>
          <a:off x="0" y="0"/>
          <a:ext cx="0" cy="0"/>
          <a:chOff x="0" y="0"/>
          <a:chExt cx="0" cy="0"/>
        </a:xfrm>
      </p:grpSpPr>
      <p:sp>
        <p:nvSpPr>
          <p:cNvPr id="760" name="Google Shape;760;p26"/>
          <p:cNvSpPr txBox="1"/>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400"/>
              <a:buFont typeface="Times New Roman" panose="02020603050405020304"/>
              <a:buNone/>
            </a:pPr>
            <a:r>
              <a:rPr lang="en-US">
                <a:latin typeface="Arial" panose="020B0604020202020204"/>
                <a:ea typeface="Arial" panose="020B0604020202020204"/>
                <a:cs typeface="Arial" panose="020B0604020202020204"/>
                <a:sym typeface="Arial" panose="020B0604020202020204"/>
              </a:rPr>
              <a:t>Drivers of Supply Chain Performance, Contd.</a:t>
            </a:r>
            <a:endParaRPr lang="en-US">
              <a:latin typeface="Arial" panose="020B0604020202020204"/>
              <a:ea typeface="Arial" panose="020B0604020202020204"/>
              <a:cs typeface="Arial" panose="020B0604020202020204"/>
              <a:sym typeface="Arial" panose="020B0604020202020204"/>
            </a:endParaRPr>
          </a:p>
        </p:txBody>
      </p:sp>
      <p:sp>
        <p:nvSpPr>
          <p:cNvPr id="761" name="Google Shape;761;p26"/>
          <p:cNvSpPr txBox="1"/>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p>
            <a:pPr marL="255905" marR="0" lvl="0" indent="-255905" algn="l" rtl="0">
              <a:lnSpc>
                <a:spcPct val="100000"/>
              </a:lnSpc>
              <a:spcBef>
                <a:spcPts val="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 </a:t>
            </a:r>
            <a:r>
              <a:rPr lang="en-US" sz="2400" b="1">
                <a:solidFill>
                  <a:schemeClr val="lt2"/>
                </a:solidFill>
                <a:latin typeface="Arial" panose="020B0604020202020204"/>
                <a:ea typeface="Arial" panose="020B0604020202020204"/>
                <a:cs typeface="Arial" panose="020B0604020202020204"/>
                <a:sym typeface="Arial" panose="020B0604020202020204"/>
              </a:rPr>
              <a:t>Information</a:t>
            </a:r>
            <a:br>
              <a:rPr lang="en-US" sz="2400"/>
            </a:br>
            <a:r>
              <a:rPr lang="en-US" sz="2400">
                <a:latin typeface="Arial" panose="020B0604020202020204"/>
                <a:ea typeface="Arial" panose="020B0604020202020204"/>
                <a:cs typeface="Arial" panose="020B0604020202020204"/>
                <a:sym typeface="Arial" panose="020B0604020202020204"/>
              </a:rPr>
              <a:t> data and analysis regarding inventory, transportation, facilities throughout the supply chain</a:t>
            </a:r>
            <a:br>
              <a:rPr lang="en-US" sz="2400"/>
            </a:br>
            <a:r>
              <a:rPr lang="en-US" sz="2400">
                <a:latin typeface="Arial" panose="020B0604020202020204"/>
                <a:ea typeface="Arial" panose="020B0604020202020204"/>
                <a:cs typeface="Arial" panose="020B0604020202020204"/>
                <a:sym typeface="Arial" panose="020B0604020202020204"/>
              </a:rPr>
              <a:t> potentially the biggest driver of supply chain performance</a:t>
            </a:r>
            <a:endParaRPr lang="en-US" sz="2400">
              <a:latin typeface="Arial" panose="020B0604020202020204"/>
              <a:ea typeface="Arial" panose="020B0604020202020204"/>
              <a:cs typeface="Arial" panose="020B0604020202020204"/>
              <a:sym typeface="Arial" panose="020B0604020202020204"/>
            </a:endParaRPr>
          </a:p>
          <a:p>
            <a:pPr marL="255905" marR="0" lvl="0" indent="-255905" algn="l" rtl="0">
              <a:lnSpc>
                <a:spcPct val="100000"/>
              </a:lnSpc>
              <a:spcBef>
                <a:spcPts val="150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 </a:t>
            </a:r>
            <a:r>
              <a:rPr lang="en-US" sz="2400" b="1">
                <a:solidFill>
                  <a:schemeClr val="lt2"/>
                </a:solidFill>
                <a:latin typeface="Arial" panose="020B0604020202020204"/>
                <a:ea typeface="Arial" panose="020B0604020202020204"/>
                <a:cs typeface="Arial" panose="020B0604020202020204"/>
                <a:sym typeface="Arial" panose="020B0604020202020204"/>
              </a:rPr>
              <a:t>Sourcing</a:t>
            </a:r>
            <a:br>
              <a:rPr lang="en-US" sz="2400"/>
            </a:br>
            <a:r>
              <a:rPr lang="en-US" sz="2400">
                <a:latin typeface="Arial" panose="020B0604020202020204"/>
                <a:ea typeface="Arial" panose="020B0604020202020204"/>
                <a:cs typeface="Arial" panose="020B0604020202020204"/>
                <a:sym typeface="Arial" panose="020B0604020202020204"/>
              </a:rPr>
              <a:t> functions a firm performs and functions that are outsourced</a:t>
            </a:r>
            <a:endParaRPr lang="en-US" sz="2400">
              <a:latin typeface="Arial" panose="020B0604020202020204"/>
              <a:ea typeface="Arial" panose="020B0604020202020204"/>
              <a:cs typeface="Arial" panose="020B0604020202020204"/>
              <a:sym typeface="Arial" panose="020B0604020202020204"/>
            </a:endParaRPr>
          </a:p>
          <a:p>
            <a:pPr marL="255905" marR="0" lvl="0" indent="-255905" algn="l" rtl="0">
              <a:lnSpc>
                <a:spcPct val="100000"/>
              </a:lnSpc>
              <a:spcBef>
                <a:spcPts val="1500"/>
              </a:spcBef>
              <a:spcAft>
                <a:spcPts val="0"/>
              </a:spcAft>
              <a:buClr>
                <a:srgbClr val="007FA3"/>
              </a:buClr>
              <a:buSzPts val="2400"/>
              <a:buFont typeface="Arial" panose="020B0604020202020204"/>
              <a:buChar char="•"/>
            </a:pPr>
            <a:r>
              <a:rPr lang="en-US" sz="2400" b="1">
                <a:solidFill>
                  <a:schemeClr val="lt2"/>
                </a:solidFill>
                <a:latin typeface="Arial" panose="020B0604020202020204"/>
                <a:ea typeface="Arial" panose="020B0604020202020204"/>
                <a:cs typeface="Arial" panose="020B0604020202020204"/>
                <a:sym typeface="Arial" panose="020B0604020202020204"/>
              </a:rPr>
              <a:t>Pricing</a:t>
            </a:r>
            <a:br>
              <a:rPr lang="en-US" sz="2400"/>
            </a:br>
            <a:r>
              <a:rPr lang="en-US" sz="2400">
                <a:latin typeface="Arial" panose="020B0604020202020204"/>
                <a:ea typeface="Arial" panose="020B0604020202020204"/>
                <a:cs typeface="Arial" panose="020B0604020202020204"/>
                <a:sym typeface="Arial" panose="020B0604020202020204"/>
              </a:rPr>
              <a:t> Price associated with goods and services provided by a firm to the supply chain</a:t>
            </a:r>
            <a:endParaRPr sz="2400"/>
          </a:p>
          <a:p>
            <a:pPr marL="255905" marR="0" lvl="0" indent="-103505" algn="l" rtl="0">
              <a:lnSpc>
                <a:spcPct val="100000"/>
              </a:lnSpc>
              <a:spcBef>
                <a:spcPts val="1500"/>
              </a:spcBef>
              <a:spcAft>
                <a:spcPts val="0"/>
              </a:spcAft>
              <a:buClr>
                <a:srgbClr val="007FA3"/>
              </a:buClr>
              <a:buSzPts val="2400"/>
              <a:buFont typeface="Arial" panose="020B0604020202020204"/>
              <a:buNone/>
            </a:pP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65" name="Shape 765"/>
        <p:cNvGrpSpPr/>
        <p:nvPr/>
      </p:nvGrpSpPr>
      <p:grpSpPr>
        <a:xfrm>
          <a:off x="0" y="0"/>
          <a:ext cx="0" cy="0"/>
          <a:chOff x="0" y="0"/>
          <a:chExt cx="0" cy="0"/>
        </a:xfrm>
      </p:grpSpPr>
      <p:sp>
        <p:nvSpPr>
          <p:cNvPr id="766" name="Google Shape;766;p27"/>
          <p:cNvSpPr txBox="1"/>
          <p:nvPr>
            <p:ph type="title"/>
          </p:nvPr>
        </p:nvSpPr>
        <p:spPr>
          <a:xfrm>
            <a:off x="457200" y="215371"/>
            <a:ext cx="8229600" cy="627777"/>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400"/>
              <a:buFont typeface="Times New Roman" panose="02020603050405020304"/>
              <a:buNone/>
            </a:pPr>
            <a:r>
              <a:rPr lang="en-US">
                <a:latin typeface="Arial" panose="020B0604020202020204"/>
                <a:ea typeface="Arial" panose="020B0604020202020204"/>
                <a:cs typeface="Arial" panose="020B0604020202020204"/>
                <a:sym typeface="Arial" panose="020B0604020202020204"/>
              </a:rPr>
              <a:t>Sustainable and Green Supply Chain</a:t>
            </a:r>
            <a:endParaRPr lang="en-US">
              <a:latin typeface="Arial" panose="020B0604020202020204"/>
              <a:ea typeface="Arial" panose="020B0604020202020204"/>
              <a:cs typeface="Arial" panose="020B0604020202020204"/>
              <a:sym typeface="Arial" panose="020B0604020202020204"/>
            </a:endParaRPr>
          </a:p>
        </p:txBody>
      </p:sp>
      <p:sp>
        <p:nvSpPr>
          <p:cNvPr id="767" name="Google Shape;767;p27"/>
          <p:cNvSpPr txBox="1"/>
          <p:nvPr>
            <p:ph type="body" idx="1"/>
          </p:nvPr>
        </p:nvSpPr>
        <p:spPr>
          <a:xfrm>
            <a:off x="457200" y="972423"/>
            <a:ext cx="8229600" cy="4525963"/>
          </a:xfrm>
          <a:prstGeom prst="rect">
            <a:avLst/>
          </a:prstGeom>
          <a:noFill/>
          <a:ln>
            <a:noFill/>
          </a:ln>
        </p:spPr>
        <p:txBody>
          <a:bodyPr spcFirstLastPara="1" wrap="square" lIns="91425" tIns="91425" rIns="91425" bIns="91425" anchor="t" anchorCtr="0">
            <a:noAutofit/>
          </a:bodyPr>
          <a:lstStyle/>
          <a:p>
            <a:pPr marL="255905" marR="0" lvl="0" indent="-255905" algn="l" rtl="0">
              <a:lnSpc>
                <a:spcPct val="100000"/>
              </a:lnSpc>
              <a:spcBef>
                <a:spcPts val="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Sustainable supply chain management (SSCM)is defined it as “the management of material, information and capital flows as well as cooperation among companies along the SC while taking goals from all three dimensions of sustainable development, i.e., economic, environmental and social, into account which are derived from customer and stakeholder requirements”.</a:t>
            </a:r>
            <a:endParaRPr lang="en-US" sz="2400">
              <a:latin typeface="Arial" panose="020B0604020202020204"/>
              <a:ea typeface="Arial" panose="020B0604020202020204"/>
              <a:cs typeface="Arial" panose="020B0604020202020204"/>
              <a:sym typeface="Arial" panose="020B0604020202020204"/>
            </a:endParaRPr>
          </a:p>
          <a:p>
            <a:pPr marL="255905" marR="0" lvl="0" indent="-255905" algn="l" rtl="0">
              <a:lnSpc>
                <a:spcPct val="100000"/>
              </a:lnSpc>
              <a:spcBef>
                <a:spcPts val="1500"/>
              </a:spcBef>
              <a:spcAft>
                <a:spcPts val="0"/>
              </a:spcAft>
              <a:buClr>
                <a:srgbClr val="007FA3"/>
              </a:buClr>
              <a:buSzPts val="2400"/>
              <a:buFont typeface="Arial" panose="020B0604020202020204"/>
              <a:buChar char="•"/>
            </a:pPr>
            <a:r>
              <a:rPr lang="en-US" sz="2400">
                <a:latin typeface="Arial" panose="020B0604020202020204"/>
                <a:ea typeface="Arial" panose="020B0604020202020204"/>
                <a:cs typeface="Arial" panose="020B0604020202020204"/>
                <a:sym typeface="Arial" panose="020B0604020202020204"/>
              </a:rPr>
              <a:t>Green supply chain management (GSCM) can be defined as the integration of environmental management system into the supply chain process including collaboration with customers, suppliers, and logistics service providers to share information and knowledge with an aim to improve environmental performance.</a:t>
            </a:r>
            <a:endParaRPr sz="24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4819</Words>
  <Application>WPS Presentation</Application>
  <PresentationFormat/>
  <Paragraphs>103</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16</vt:i4>
      </vt:variant>
    </vt:vector>
  </HeadingPairs>
  <TitlesOfParts>
    <vt:vector size="31" baseType="lpstr">
      <vt:lpstr>Arial</vt:lpstr>
      <vt:lpstr>SimSun</vt:lpstr>
      <vt:lpstr>Wingdings</vt:lpstr>
      <vt:lpstr>Arial</vt:lpstr>
      <vt:lpstr>Calibri</vt:lpstr>
      <vt:lpstr>Times New Roman</vt:lpstr>
      <vt:lpstr>Noto Sans Symbols</vt:lpstr>
      <vt:lpstr>Segoe Print</vt:lpstr>
      <vt:lpstr>Century Gothic</vt:lpstr>
      <vt:lpstr>Verdana</vt:lpstr>
      <vt:lpstr>Microsoft YaHei</vt:lpstr>
      <vt:lpstr>Arial Unicode MS</vt:lpstr>
      <vt:lpstr>Office Theme</vt:lpstr>
      <vt:lpstr>508 Lecture</vt:lpstr>
      <vt:lpstr>1_508 Lecture</vt:lpstr>
      <vt:lpstr>Operations and Supply Chain Management   BUS102</vt:lpstr>
      <vt:lpstr>Supply Chain Management</vt:lpstr>
      <vt:lpstr>What Is a Supply Chain? (2 of 3)</vt:lpstr>
      <vt:lpstr>What Is a Supply Chain? (3 of 3)</vt:lpstr>
      <vt:lpstr>Flows in a Supply Chain</vt:lpstr>
      <vt:lpstr>The Objective of a Supply Chain (1 of 3)</vt:lpstr>
      <vt:lpstr>The Objective of a Supply Chain (2 of 3)</vt:lpstr>
      <vt:lpstr>The Objective of a Supply Chain (3 of 3)</vt:lpstr>
      <vt:lpstr>Decision Phases in a Supply Chain</vt:lpstr>
      <vt:lpstr>1. Supply Chain Strategy or Design</vt:lpstr>
      <vt:lpstr>2. Supply Chain Planning (1 of 2)</vt:lpstr>
      <vt:lpstr>2. Supply Chain Planning (2 of 2)</vt:lpstr>
      <vt:lpstr>3. Supply Chain Operation</vt:lpstr>
      <vt:lpstr>Drivers of Supply Chain Performance</vt:lpstr>
      <vt:lpstr>Drivers of Supply Chain Performance, Contd.</vt:lpstr>
      <vt:lpstr>Sustainable and Green Supply Chain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and Supply Chain Management   BUS102</dc:title>
  <dc:creator>Chopra</dc:creator>
  <cp:lastModifiedBy>Zoeb-Ur- Rahman</cp:lastModifiedBy>
  <cp:revision>2</cp:revision>
  <dcterms:created xsi:type="dcterms:W3CDTF">2024-10-22T16:28:00Z</dcterms:created>
  <dcterms:modified xsi:type="dcterms:W3CDTF">2024-12-23T06:14:15Z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ICV">
    <vt:lpwstr>99F02C0046EE4E709A48FF54696FFAF5_13</vt:lpwstr>
  </property>
  <property fmtid="{D5CDD505-2E9C-101B-9397-08002B2CF9AE}" pid="9" name="KSOProductBuildVer">
    <vt:lpwstr>1033-12.2.0.19307</vt:lpwstr>
  </property>
</Properties>
</file>