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9" r:id="rId4"/>
    <p:sldId id="263" r:id="rId6"/>
    <p:sldId id="264" r:id="rId7"/>
    <p:sldId id="267" r:id="rId8"/>
    <p:sldId id="268" r:id="rId9"/>
    <p:sldId id="270" r:id="rId10"/>
    <p:sldId id="271" r:id="rId11"/>
    <p:sldId id="272" r:id="rId12"/>
    <p:sldId id="273" r:id="rId13"/>
    <p:sldId id="274" r:id="rId14"/>
    <p:sldId id="275" r:id="rId15"/>
    <p:sldId id="29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4" name="Shape 74"/>
        <p:cNvGrpSpPr/>
        <p:nvPr/>
      </p:nvGrpSpPr>
      <p:grpSpPr>
        <a:xfrm>
          <a:off x="0" y="0"/>
          <a:ext cx="0" cy="0"/>
          <a:chOff x="0" y="0"/>
          <a:chExt cx="0" cy="0"/>
        </a:xfrm>
      </p:grpSpPr>
      <p:sp>
        <p:nvSpPr>
          <p:cNvPr id="75" name="Google Shape;75;p3: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76" name="Google Shape;76;p3: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5" name="Shape 115"/>
        <p:cNvGrpSpPr/>
        <p:nvPr/>
      </p:nvGrpSpPr>
      <p:grpSpPr>
        <a:xfrm>
          <a:off x="0" y="0"/>
          <a:ext cx="0" cy="0"/>
          <a:chOff x="0" y="0"/>
          <a:chExt cx="0" cy="0"/>
        </a:xfrm>
      </p:grpSpPr>
      <p:sp>
        <p:nvSpPr>
          <p:cNvPr id="116" name="Google Shape;116;p7: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7" name="Google Shape;117;p7: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p8: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8:notes"/>
          <p:cNvSpPr txBox="1"/>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Please give your opinion whether to include or not?</a:t>
            </a:r>
            <a:endParaRPr lang="en-US"/>
          </a:p>
        </p:txBody>
      </p:sp>
      <p:sp>
        <p:nvSpPr>
          <p:cNvPr id="125" name="Google Shape;125;p8:notes"/>
          <p:cNvSpPr txBox="1"/>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p11: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8" name="Google Shape;148;p11: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3" name="Shape 153"/>
        <p:cNvGrpSpPr/>
        <p:nvPr/>
      </p:nvGrpSpPr>
      <p:grpSpPr>
        <a:xfrm>
          <a:off x="0" y="0"/>
          <a:ext cx="0" cy="0"/>
          <a:chOff x="0" y="0"/>
          <a:chExt cx="0" cy="0"/>
        </a:xfrm>
      </p:grpSpPr>
      <p:sp>
        <p:nvSpPr>
          <p:cNvPr id="154" name="Google Shape;154;p12: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p12: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8" name="Shape 198"/>
        <p:cNvGrpSpPr/>
        <p:nvPr/>
      </p:nvGrpSpPr>
      <p:grpSpPr>
        <a:xfrm>
          <a:off x="0" y="0"/>
          <a:ext cx="0" cy="0"/>
          <a:chOff x="0" y="0"/>
          <a:chExt cx="0" cy="0"/>
        </a:xfrm>
      </p:grpSpPr>
      <p:sp>
        <p:nvSpPr>
          <p:cNvPr id="199" name="Google Shape;199;p14: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14:notes"/>
          <p:cNvSpPr txBox="1"/>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Adding few more functions from the other discussion to avoid repition</a:t>
            </a:r>
            <a:endParaRPr lang="en-US"/>
          </a:p>
        </p:txBody>
      </p:sp>
      <p:sp>
        <p:nvSpPr>
          <p:cNvPr id="201" name="Google Shape;201;p14:notes"/>
          <p:cNvSpPr txBox="1"/>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p15: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15:notes"/>
          <p:cNvSpPr txBox="1"/>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panose="020F0502020204030204"/>
              <a:buNone/>
            </a:pPr>
            <a:r>
              <a:rPr lang="en-US"/>
              <a:t>Suggesting to leave the topic: Badger and Johnson’s model</a:t>
            </a:r>
            <a:endParaRPr lang="en-US"/>
          </a:p>
          <a:p>
            <a:pPr marL="0" lvl="0" indent="0" algn="l" rtl="0">
              <a:spcBef>
                <a:spcPts val="0"/>
              </a:spcBef>
              <a:spcAft>
                <a:spcPts val="0"/>
              </a:spcAft>
              <a:buNone/>
            </a:pPr>
          </a:p>
        </p:txBody>
      </p:sp>
      <p:sp>
        <p:nvSpPr>
          <p:cNvPr id="261" name="Google Shape;261;p15:notes"/>
          <p:cNvSpPr txBox="1"/>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6" name="Shape 266"/>
        <p:cNvGrpSpPr/>
        <p:nvPr/>
      </p:nvGrpSpPr>
      <p:grpSpPr>
        <a:xfrm>
          <a:off x="0" y="0"/>
          <a:ext cx="0" cy="0"/>
          <a:chOff x="0" y="0"/>
          <a:chExt cx="0" cy="0"/>
        </a:xfrm>
      </p:grpSpPr>
      <p:sp>
        <p:nvSpPr>
          <p:cNvPr id="267" name="Google Shape;267;p16: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68" name="Google Shape;268;p16: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3" name="Shape 273"/>
        <p:cNvGrpSpPr/>
        <p:nvPr/>
      </p:nvGrpSpPr>
      <p:grpSpPr>
        <a:xfrm>
          <a:off x="0" y="0"/>
          <a:ext cx="0" cy="0"/>
          <a:chOff x="0" y="0"/>
          <a:chExt cx="0" cy="0"/>
        </a:xfrm>
      </p:grpSpPr>
      <p:sp>
        <p:nvSpPr>
          <p:cNvPr id="274" name="Google Shape;274;p17: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75" name="Google Shape;275;p17: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 name="Shape 280"/>
        <p:cNvGrpSpPr/>
        <p:nvPr/>
      </p:nvGrpSpPr>
      <p:grpSpPr>
        <a:xfrm>
          <a:off x="0" y="0"/>
          <a:ext cx="0" cy="0"/>
          <a:chOff x="0" y="0"/>
          <a:chExt cx="0" cy="0"/>
        </a:xfrm>
      </p:grpSpPr>
      <p:sp>
        <p:nvSpPr>
          <p:cNvPr id="281" name="Google Shape;281;p18: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82" name="Google Shape;282;p18: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8" name="Shape 288"/>
        <p:cNvGrpSpPr/>
        <p:nvPr/>
      </p:nvGrpSpPr>
      <p:grpSpPr>
        <a:xfrm>
          <a:off x="0" y="0"/>
          <a:ext cx="0" cy="0"/>
          <a:chOff x="0" y="0"/>
          <a:chExt cx="0" cy="0"/>
        </a:xfrm>
      </p:grpSpPr>
      <p:sp>
        <p:nvSpPr>
          <p:cNvPr id="289" name="Google Shape;289;p19: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290" name="Google Shape;290;p19: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7" name="Shape 407"/>
        <p:cNvGrpSpPr/>
        <p:nvPr/>
      </p:nvGrpSpPr>
      <p:grpSpPr>
        <a:xfrm>
          <a:off x="0" y="0"/>
          <a:ext cx="0" cy="0"/>
          <a:chOff x="0" y="0"/>
          <a:chExt cx="0" cy="0"/>
        </a:xfrm>
      </p:grpSpPr>
      <p:sp>
        <p:nvSpPr>
          <p:cNvPr id="408" name="Google Shape;408;p34:notes"/>
          <p:cNvSpPr txBox="1"/>
          <p:nvPr>
            <p:ph type="body" idx="1"/>
          </p:nvPr>
        </p:nvSpPr>
        <p:spPr>
          <a:xfrm>
            <a:off x="914400" y="3300413"/>
            <a:ext cx="73152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409" name="Google Shape;409;p34:notes"/>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0">
          <a:gsLst>
            <a:gs pos="0">
              <a:srgbClr val="9EE256"/>
            </a:gs>
            <a:gs pos="100000">
              <a:srgbClr val="52762D"/>
            </a:gs>
          </a:gsLst>
          <a:lin ang="5400000" scaled="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9" Type="http://schemas.openxmlformats.org/officeDocument/2006/relationships/image" Target="../media/image10.png"/><Relationship Id="rId8" Type="http://schemas.openxmlformats.org/officeDocument/2006/relationships/image" Target="../media/image9.png"/><Relationship Id="rId7" Type="http://schemas.openxmlformats.org/officeDocument/2006/relationships/image" Target="../media/image8.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4" Type="http://schemas.openxmlformats.org/officeDocument/2006/relationships/notesSlide" Target="../notesSlides/notesSlide6.xml"/><Relationship Id="rId23" Type="http://schemas.openxmlformats.org/officeDocument/2006/relationships/slideLayout" Target="../slideLayouts/slideLayout2.xml"/><Relationship Id="rId22" Type="http://schemas.openxmlformats.org/officeDocument/2006/relationships/image" Target="../media/image23.png"/><Relationship Id="rId21" Type="http://schemas.openxmlformats.org/officeDocument/2006/relationships/image" Target="../media/image22.png"/><Relationship Id="rId20" Type="http://schemas.openxmlformats.org/officeDocument/2006/relationships/image" Target="../media/image21.png"/><Relationship Id="rId2" Type="http://schemas.openxmlformats.org/officeDocument/2006/relationships/image" Target="../media/image3.png"/><Relationship Id="rId19" Type="http://schemas.openxmlformats.org/officeDocument/2006/relationships/image" Target="../media/image20.png"/><Relationship Id="rId18" Type="http://schemas.openxmlformats.org/officeDocument/2006/relationships/image" Target="../media/image19.png"/><Relationship Id="rId17" Type="http://schemas.openxmlformats.org/officeDocument/2006/relationships/image" Target="../media/image18.png"/><Relationship Id="rId16" Type="http://schemas.openxmlformats.org/officeDocument/2006/relationships/image" Target="../media/image17.png"/><Relationship Id="rId15" Type="http://schemas.openxmlformats.org/officeDocument/2006/relationships/image" Target="../media/image16.png"/><Relationship Id="rId14" Type="http://schemas.openxmlformats.org/officeDocument/2006/relationships/image" Target="../media/image15.png"/><Relationship Id="rId13" Type="http://schemas.openxmlformats.org/officeDocument/2006/relationships/image" Target="../media/image14.png"/><Relationship Id="rId12" Type="http://schemas.openxmlformats.org/officeDocument/2006/relationships/image" Target="../media/image13.png"/><Relationship Id="rId11" Type="http://schemas.openxmlformats.org/officeDocument/2006/relationships/image" Target="../media/image12.png"/><Relationship Id="rId10" Type="http://schemas.openxmlformats.org/officeDocument/2006/relationships/image" Target="../media/image11.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317"/>
            <a:ext cx="9144000" cy="2387600"/>
          </a:xfrm>
        </p:spPr>
        <p:txBody>
          <a:bodyPr/>
          <a:p>
            <a:r>
              <a:rPr lang="en-GB" altLang="en-US"/>
              <a:t>Week-5</a:t>
            </a:r>
            <a:br>
              <a:rPr lang="en-GB" altLang="en-US"/>
            </a:br>
            <a:endParaRPr lang="en-GB" altLang="en-US"/>
          </a:p>
        </p:txBody>
      </p:sp>
      <p:sp>
        <p:nvSpPr>
          <p:cNvPr id="3" name="Subtitle 2"/>
          <p:cNvSpPr>
            <a:spLocks noGrp="1"/>
          </p:cNvSpPr>
          <p:nvPr>
            <p:ph type="subTitle" idx="1"/>
          </p:nvPr>
        </p:nvSpPr>
        <p:spPr>
          <a:xfrm>
            <a:off x="1524000" y="2296160"/>
            <a:ext cx="9144000" cy="3334385"/>
          </a:xfrm>
        </p:spPr>
        <p:txBody>
          <a:bodyPr>
            <a:normAutofit fontScale="25000"/>
          </a:bodyPr>
          <a:p>
            <a:r>
              <a:rPr lang="en-GB" altLang="en-US" sz="9600" b="1"/>
              <a:t>Human Resource Management</a:t>
            </a:r>
            <a:endParaRPr lang="en-GB" altLang="en-US" sz="9600" b="1"/>
          </a:p>
          <a:p>
            <a:r>
              <a:rPr lang="en-US" altLang="en-US" sz="9600"/>
              <a:t>What is HRM?</a:t>
            </a:r>
            <a:endParaRPr lang="en-US" altLang="en-US" sz="9600"/>
          </a:p>
          <a:p>
            <a:r>
              <a:rPr lang="en-US" altLang="en-US" sz="9600"/>
              <a:t>-Some major challenges in HRM</a:t>
            </a:r>
            <a:endParaRPr lang="en-US" altLang="en-US" sz="9600"/>
          </a:p>
          <a:p>
            <a:r>
              <a:rPr lang="en-US" altLang="en-US" sz="9600"/>
              <a:t>-HR concepts- affirmative action and reverse discrimination, contingent worker</a:t>
            </a:r>
            <a:endParaRPr lang="en-US" altLang="en-US" sz="9600"/>
          </a:p>
          <a:p>
            <a:r>
              <a:rPr lang="en-US" altLang="en-US" sz="9600"/>
              <a:t>-roles of the HRM Manager</a:t>
            </a:r>
            <a:endParaRPr lang="en-US" altLang="en-US" sz="9600"/>
          </a:p>
          <a:p>
            <a:r>
              <a:rPr lang="en-US" altLang="en-US" sz="9600"/>
              <a:t>-HRM functions</a:t>
            </a:r>
            <a:endParaRPr lang="en-US" altLang="en-US" sz="9600"/>
          </a:p>
          <a:p>
            <a:r>
              <a:rPr lang="en-US" altLang="en-US" sz="9600"/>
              <a:t>-Recruitment and Selection, sources of employees</a:t>
            </a:r>
            <a:endParaRPr lang="en-US" altLang="en-US" sz="9600"/>
          </a:p>
          <a:p>
            <a:r>
              <a:rPr lang="en-US" altLang="en-US" sz="9600"/>
              <a:t>-</a:t>
            </a:r>
            <a:endParaRPr lang="en-US" altLang="en-US" sz="9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77" name="Shape 77"/>
        <p:cNvGrpSpPr/>
        <p:nvPr/>
      </p:nvGrpSpPr>
      <p:grpSpPr>
        <a:xfrm>
          <a:off x="0" y="0"/>
          <a:ext cx="0" cy="0"/>
          <a:chOff x="0" y="0"/>
          <a:chExt cx="0" cy="0"/>
        </a:xfrm>
      </p:grpSpPr>
      <p:grpSp>
        <p:nvGrpSpPr>
          <p:cNvPr id="78" name="Google Shape;78;p3"/>
          <p:cNvGrpSpPr/>
          <p:nvPr/>
        </p:nvGrpSpPr>
        <p:grpSpPr>
          <a:xfrm>
            <a:off x="6655542" y="0"/>
            <a:ext cx="4013025" cy="6858578"/>
            <a:chOff x="5131542" y="0"/>
            <a:chExt cx="4013025" cy="6858578"/>
          </a:xfrm>
        </p:grpSpPr>
        <p:sp>
          <p:nvSpPr>
            <p:cNvPr id="79" name="Google Shape;79;p3"/>
            <p:cNvSpPr/>
            <p:nvPr/>
          </p:nvSpPr>
          <p:spPr>
            <a:xfrm>
              <a:off x="5131542" y="4182281"/>
              <a:ext cx="4012565" cy="2675890"/>
            </a:xfrm>
            <a:custGeom>
              <a:avLst/>
              <a:gdLst/>
              <a:ahLst/>
              <a:cxnLst/>
              <a:rect l="l" t="t" r="r" b="b"/>
              <a:pathLst>
                <a:path w="4012565" h="2675890" extrusionOk="0">
                  <a:moveTo>
                    <a:pt x="0" y="2675717"/>
                  </a:moveTo>
                  <a:lnTo>
                    <a:pt x="4012456" y="0"/>
                  </a:lnTo>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0" name="Google Shape;80;p3"/>
            <p:cNvSpPr/>
            <p:nvPr/>
          </p:nvSpPr>
          <p:spPr>
            <a:xfrm>
              <a:off x="7042404" y="0"/>
              <a:ext cx="1219200" cy="6858000"/>
            </a:xfrm>
            <a:custGeom>
              <a:avLst/>
              <a:gdLst/>
              <a:ahLst/>
              <a:cxnLst/>
              <a:rect l="l" t="t" r="r" b="b"/>
              <a:pathLst>
                <a:path w="1219200" h="6858000" extrusionOk="0">
                  <a:moveTo>
                    <a:pt x="0" y="0"/>
                  </a:moveTo>
                  <a:lnTo>
                    <a:pt x="1219200" y="6857999"/>
                  </a:lnTo>
                </a:path>
              </a:pathLst>
            </a:custGeom>
            <a:noFill/>
            <a:ln w="9525" cap="flat" cmpd="sng">
              <a:solidFill>
                <a:srgbClr val="BEBEB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1" name="Google Shape;81;p3"/>
            <p:cNvSpPr/>
            <p:nvPr/>
          </p:nvSpPr>
          <p:spPr>
            <a:xfrm>
              <a:off x="6891728" y="0"/>
              <a:ext cx="2252345" cy="6858000"/>
            </a:xfrm>
            <a:custGeom>
              <a:avLst/>
              <a:gdLst/>
              <a:ahLst/>
              <a:cxnLst/>
              <a:rect l="l" t="t" r="r" b="b"/>
              <a:pathLst>
                <a:path w="2252345" h="6858000" extrusionOk="0">
                  <a:moveTo>
                    <a:pt x="2023163" y="0"/>
                  </a:moveTo>
                  <a:lnTo>
                    <a:pt x="0" y="6857998"/>
                  </a:lnTo>
                  <a:lnTo>
                    <a:pt x="2252271" y="6857998"/>
                  </a:lnTo>
                  <a:lnTo>
                    <a:pt x="2252271" y="8226"/>
                  </a:lnTo>
                  <a:lnTo>
                    <a:pt x="2023163" y="0"/>
                  </a:lnTo>
                  <a:close/>
                </a:path>
              </a:pathLst>
            </a:custGeom>
            <a:solidFill>
              <a:srgbClr val="90C225">
                <a:alpha val="2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2" name="Google Shape;82;p3"/>
            <p:cNvSpPr/>
            <p:nvPr/>
          </p:nvSpPr>
          <p:spPr>
            <a:xfrm>
              <a:off x="7207072" y="0"/>
              <a:ext cx="1937385" cy="6858000"/>
            </a:xfrm>
            <a:custGeom>
              <a:avLst/>
              <a:gdLst/>
              <a:ahLst/>
              <a:cxnLst/>
              <a:rect l="l" t="t" r="r" b="b"/>
              <a:pathLst>
                <a:path w="1937384" h="6858000" extrusionOk="0">
                  <a:moveTo>
                    <a:pt x="1936927" y="0"/>
                  </a:moveTo>
                  <a:lnTo>
                    <a:pt x="0" y="0"/>
                  </a:lnTo>
                  <a:lnTo>
                    <a:pt x="1200326" y="6857996"/>
                  </a:lnTo>
                  <a:lnTo>
                    <a:pt x="1936927" y="6857996"/>
                  </a:lnTo>
                  <a:lnTo>
                    <a:pt x="1936927" y="0"/>
                  </a:lnTo>
                  <a:close/>
                </a:path>
              </a:pathLst>
            </a:custGeom>
            <a:solidFill>
              <a:srgbClr val="90C225">
                <a:alpha val="1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3" name="Google Shape;83;p3"/>
            <p:cNvSpPr/>
            <p:nvPr/>
          </p:nvSpPr>
          <p:spPr>
            <a:xfrm>
              <a:off x="6638545" y="3921068"/>
              <a:ext cx="2505710" cy="2937510"/>
            </a:xfrm>
            <a:custGeom>
              <a:avLst/>
              <a:gdLst/>
              <a:ahLst/>
              <a:cxnLst/>
              <a:rect l="l" t="t" r="r" b="b"/>
              <a:pathLst>
                <a:path w="2505709" h="2937509" extrusionOk="0">
                  <a:moveTo>
                    <a:pt x="2505454" y="0"/>
                  </a:moveTo>
                  <a:lnTo>
                    <a:pt x="0" y="2936930"/>
                  </a:lnTo>
                  <a:lnTo>
                    <a:pt x="2505454" y="2936930"/>
                  </a:lnTo>
                  <a:lnTo>
                    <a:pt x="2505454" y="0"/>
                  </a:lnTo>
                  <a:close/>
                </a:path>
              </a:pathLst>
            </a:custGeom>
            <a:solidFill>
              <a:srgbClr val="539F20">
                <a:alpha val="71764"/>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4" name="Google Shape;84;p3"/>
            <p:cNvSpPr/>
            <p:nvPr/>
          </p:nvSpPr>
          <p:spPr>
            <a:xfrm>
              <a:off x="7012872" y="0"/>
              <a:ext cx="2131695" cy="6858000"/>
            </a:xfrm>
            <a:custGeom>
              <a:avLst/>
              <a:gdLst/>
              <a:ahLst/>
              <a:cxnLst/>
              <a:rect l="l" t="t" r="r" b="b"/>
              <a:pathLst>
                <a:path w="2131695" h="6858000" extrusionOk="0">
                  <a:moveTo>
                    <a:pt x="2131127" y="0"/>
                  </a:moveTo>
                  <a:lnTo>
                    <a:pt x="0" y="0"/>
                  </a:lnTo>
                  <a:lnTo>
                    <a:pt x="1854139" y="6857996"/>
                  </a:lnTo>
                  <a:lnTo>
                    <a:pt x="2131127" y="6849802"/>
                  </a:lnTo>
                  <a:lnTo>
                    <a:pt x="2131127" y="0"/>
                  </a:lnTo>
                  <a:close/>
                </a:path>
              </a:pathLst>
            </a:custGeom>
            <a:solidFill>
              <a:srgbClr val="3E7818">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5" name="Google Shape;85;p3"/>
            <p:cNvSpPr/>
            <p:nvPr/>
          </p:nvSpPr>
          <p:spPr>
            <a:xfrm>
              <a:off x="8295132" y="0"/>
              <a:ext cx="848994" cy="6858000"/>
            </a:xfrm>
            <a:custGeom>
              <a:avLst/>
              <a:gdLst/>
              <a:ahLst/>
              <a:cxnLst/>
              <a:rect l="l" t="t" r="r" b="b"/>
              <a:pathLst>
                <a:path w="848995" h="6858000" extrusionOk="0">
                  <a:moveTo>
                    <a:pt x="848867" y="0"/>
                  </a:moveTo>
                  <a:lnTo>
                    <a:pt x="676515" y="0"/>
                  </a:lnTo>
                  <a:lnTo>
                    <a:pt x="0" y="6857996"/>
                  </a:lnTo>
                  <a:lnTo>
                    <a:pt x="848867" y="6857996"/>
                  </a:lnTo>
                  <a:lnTo>
                    <a:pt x="848867" y="0"/>
                  </a:lnTo>
                  <a:close/>
                </a:path>
              </a:pathLst>
            </a:custGeom>
            <a:solidFill>
              <a:srgbClr val="C0E374">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6" name="Google Shape;86;p3"/>
            <p:cNvSpPr/>
            <p:nvPr/>
          </p:nvSpPr>
          <p:spPr>
            <a:xfrm>
              <a:off x="8078450" y="0"/>
              <a:ext cx="1065530" cy="6858000"/>
            </a:xfrm>
            <a:custGeom>
              <a:avLst/>
              <a:gdLst/>
              <a:ahLst/>
              <a:cxnLst/>
              <a:rect l="l" t="t" r="r" b="b"/>
              <a:pathLst>
                <a:path w="1065529" h="6858000" extrusionOk="0">
                  <a:moveTo>
                    <a:pt x="1051063" y="0"/>
                  </a:moveTo>
                  <a:lnTo>
                    <a:pt x="0" y="0"/>
                  </a:lnTo>
                  <a:lnTo>
                    <a:pt x="937406" y="6857996"/>
                  </a:lnTo>
                  <a:lnTo>
                    <a:pt x="1065296" y="6857996"/>
                  </a:lnTo>
                  <a:lnTo>
                    <a:pt x="1065455" y="6654302"/>
                  </a:lnTo>
                  <a:lnTo>
                    <a:pt x="1065405" y="6145234"/>
                  </a:lnTo>
                  <a:lnTo>
                    <a:pt x="1065165" y="5890784"/>
                  </a:lnTo>
                  <a:lnTo>
                    <a:pt x="1064711" y="5585510"/>
                  </a:lnTo>
                  <a:lnTo>
                    <a:pt x="1063982" y="5229435"/>
                  </a:lnTo>
                  <a:lnTo>
                    <a:pt x="1062782" y="4771727"/>
                  </a:lnTo>
                  <a:lnTo>
                    <a:pt x="1060321" y="4009060"/>
                  </a:lnTo>
                  <a:lnTo>
                    <a:pt x="1054930" y="2483906"/>
                  </a:lnTo>
                  <a:lnTo>
                    <a:pt x="1053375" y="1975424"/>
                  </a:lnTo>
                  <a:lnTo>
                    <a:pt x="1052337" y="1568557"/>
                  </a:lnTo>
                  <a:lnTo>
                    <a:pt x="1051624" y="1212471"/>
                  </a:lnTo>
                  <a:lnTo>
                    <a:pt x="1051188" y="907185"/>
                  </a:lnTo>
                  <a:lnTo>
                    <a:pt x="1050963" y="652725"/>
                  </a:lnTo>
                  <a:lnTo>
                    <a:pt x="1050923" y="194553"/>
                  </a:lnTo>
                  <a:lnTo>
                    <a:pt x="1051063" y="0"/>
                  </a:lnTo>
                  <a:close/>
                </a:path>
              </a:pathLst>
            </a:custGeom>
            <a:solidFill>
              <a:srgbClr val="90C225">
                <a:alpha val="6470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87" name="Google Shape;87;p3"/>
            <p:cNvSpPr/>
            <p:nvPr/>
          </p:nvSpPr>
          <p:spPr>
            <a:xfrm>
              <a:off x="8060437" y="4903644"/>
              <a:ext cx="1083945" cy="1954530"/>
            </a:xfrm>
            <a:custGeom>
              <a:avLst/>
              <a:gdLst/>
              <a:ahLst/>
              <a:cxnLst/>
              <a:rect l="l" t="t" r="r" b="b"/>
              <a:pathLst>
                <a:path w="1083945" h="1954529" extrusionOk="0">
                  <a:moveTo>
                    <a:pt x="1083562" y="0"/>
                  </a:moveTo>
                  <a:lnTo>
                    <a:pt x="0" y="1954354"/>
                  </a:lnTo>
                  <a:lnTo>
                    <a:pt x="1083562" y="1949315"/>
                  </a:lnTo>
                  <a:lnTo>
                    <a:pt x="1083562" y="0"/>
                  </a:lnTo>
                  <a:close/>
                </a:path>
              </a:pathLst>
            </a:custGeom>
            <a:solidFill>
              <a:srgbClr val="90C225">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88" name="Google Shape;88;p3"/>
          <p:cNvSpPr/>
          <p:nvPr/>
        </p:nvSpPr>
        <p:spPr>
          <a:xfrm>
            <a:off x="1524000" y="0"/>
            <a:ext cx="855344" cy="5629275"/>
          </a:xfrm>
          <a:custGeom>
            <a:avLst/>
            <a:gdLst/>
            <a:ahLst/>
            <a:cxnLst/>
            <a:rect l="l" t="t" r="r" b="b"/>
            <a:pathLst>
              <a:path w="855344" h="5629275" extrusionOk="0">
                <a:moveTo>
                  <a:pt x="854963" y="0"/>
                </a:moveTo>
                <a:lnTo>
                  <a:pt x="0" y="0"/>
                </a:lnTo>
                <a:lnTo>
                  <a:pt x="0" y="5628971"/>
                </a:lnTo>
                <a:lnTo>
                  <a:pt x="854963" y="7747"/>
                </a:lnTo>
                <a:lnTo>
                  <a:pt x="854963" y="0"/>
                </a:lnTo>
                <a:close/>
              </a:path>
            </a:pathLst>
          </a:custGeom>
          <a:solidFill>
            <a:srgbClr val="90C225">
              <a:alpha val="8470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pic>
        <p:nvPicPr>
          <p:cNvPr id="89" name="Google Shape;89;p3"/>
          <p:cNvPicPr preferRelativeResize="0"/>
          <p:nvPr/>
        </p:nvPicPr>
        <p:blipFill rotWithShape="1">
          <a:blip r:embed="rId1"/>
          <a:srcRect/>
          <a:stretch>
            <a:fillRect/>
          </a:stretch>
        </p:blipFill>
        <p:spPr>
          <a:xfrm>
            <a:off x="9086088" y="115823"/>
            <a:ext cx="1248155" cy="1144524"/>
          </a:xfrm>
          <a:prstGeom prst="rect">
            <a:avLst/>
          </a:prstGeom>
          <a:noFill/>
          <a:ln>
            <a:noFill/>
          </a:ln>
        </p:spPr>
      </p:pic>
      <p:sp>
        <p:nvSpPr>
          <p:cNvPr id="90" name="Google Shape;90;p3"/>
          <p:cNvSpPr txBox="1"/>
          <p:nvPr/>
        </p:nvSpPr>
        <p:spPr>
          <a:xfrm>
            <a:off x="1587500" y="833858"/>
            <a:ext cx="7998459" cy="5633085"/>
          </a:xfrm>
          <a:prstGeom prst="rect">
            <a:avLst/>
          </a:prstGeom>
          <a:noFill/>
          <a:ln>
            <a:noFill/>
          </a:ln>
        </p:spPr>
        <p:txBody>
          <a:bodyPr spcFirstLastPara="1" wrap="square" lIns="0" tIns="109200" rIns="0" bIns="0" anchor="t" anchorCtr="0">
            <a:spAutoFit/>
          </a:bodyPr>
          <a:lstStyle/>
          <a:p>
            <a:pPr marL="12700" marR="0" lvl="0" indent="0" algn="l" rtl="0">
              <a:lnSpc>
                <a:spcPct val="100000"/>
              </a:lnSpc>
              <a:spcBef>
                <a:spcPts val="0"/>
              </a:spcBef>
              <a:spcAft>
                <a:spcPts val="0"/>
              </a:spcAft>
              <a:buNone/>
            </a:pPr>
            <a:r>
              <a:rPr lang="en-US" sz="1700">
                <a:solidFill>
                  <a:srgbClr val="EE7D09"/>
                </a:solidFill>
                <a:latin typeface="Noto Sans Symbols"/>
                <a:ea typeface="Noto Sans Symbols"/>
                <a:cs typeface="Noto Sans Symbols"/>
                <a:sym typeface="Noto Sans Symbols"/>
              </a:rPr>
              <a:t>⑨</a:t>
            </a:r>
            <a:r>
              <a:rPr lang="en-US" sz="1700">
                <a:solidFill>
                  <a:schemeClr val="dk1"/>
                </a:solidFill>
                <a:latin typeface="Tahoma" panose="020B0604030504040204"/>
                <a:ea typeface="Tahoma" panose="020B0604030504040204"/>
                <a:cs typeface="Tahoma" panose="020B0604030504040204"/>
                <a:sym typeface="Tahoma" panose="020B0604030504040204"/>
              </a:rPr>
              <a:t>Human Resource Management (HRM) is an operation/function in companies</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2700" marR="0" lvl="0" indent="0" algn="l" rtl="0">
              <a:lnSpc>
                <a:spcPct val="100000"/>
              </a:lnSpc>
              <a:spcBef>
                <a:spcPts val="760"/>
              </a:spcBef>
              <a:spcAft>
                <a:spcPts val="0"/>
              </a:spcAft>
              <a:buNone/>
            </a:pPr>
            <a:r>
              <a:rPr lang="en-US" sz="1700">
                <a:solidFill>
                  <a:schemeClr val="dk1"/>
                </a:solidFill>
                <a:latin typeface="Tahoma" panose="020B0604030504040204"/>
                <a:ea typeface="Tahoma" panose="020B0604030504040204"/>
                <a:cs typeface="Tahoma" panose="020B0604030504040204"/>
                <a:sym typeface="Tahoma" panose="020B0604030504040204"/>
              </a:rPr>
              <a:t>Designed to </a:t>
            </a:r>
            <a:r>
              <a:rPr lang="en-US" sz="1700">
                <a:solidFill>
                  <a:srgbClr val="EE7D09"/>
                </a:solidFill>
                <a:latin typeface="Noto Sans Symbols"/>
                <a:ea typeface="Noto Sans Symbols"/>
                <a:cs typeface="Noto Sans Symbols"/>
                <a:sym typeface="Noto Sans Symbols"/>
              </a:rPr>
              <a:t>🖲</a:t>
            </a:r>
            <a:r>
              <a:rPr lang="en-US" sz="1700">
                <a:solidFill>
                  <a:schemeClr val="dk1"/>
                </a:solidFill>
                <a:latin typeface="Tahoma" panose="020B0604030504040204"/>
                <a:ea typeface="Tahoma" panose="020B0604030504040204"/>
                <a:cs typeface="Tahoma" panose="020B0604030504040204"/>
                <a:sym typeface="Tahoma" panose="020B0604030504040204"/>
              </a:rPr>
              <a:t>Maximize employees’ performance</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3625215" marR="0" lvl="0" indent="0" algn="l" rtl="0">
              <a:lnSpc>
                <a:spcPct val="100000"/>
              </a:lnSpc>
              <a:spcBef>
                <a:spcPts val="610"/>
              </a:spcBef>
              <a:spcAft>
                <a:spcPts val="0"/>
              </a:spcAft>
              <a:buNone/>
            </a:pPr>
            <a:r>
              <a:rPr lang="en-US" sz="1700">
                <a:solidFill>
                  <a:srgbClr val="EE7D09"/>
                </a:solidFill>
                <a:latin typeface="Noto Sans Symbols"/>
                <a:ea typeface="Noto Sans Symbols"/>
                <a:cs typeface="Noto Sans Symbols"/>
                <a:sym typeface="Noto Sans Symbols"/>
              </a:rPr>
              <a:t>🖲</a:t>
            </a:r>
            <a:r>
              <a:rPr lang="en-US" sz="1700" b="1">
                <a:solidFill>
                  <a:srgbClr val="FF0000"/>
                </a:solidFill>
                <a:latin typeface="Tahoma" panose="020B0604030504040204"/>
                <a:ea typeface="Tahoma" panose="020B0604030504040204"/>
                <a:cs typeface="Tahoma" panose="020B0604030504040204"/>
                <a:sym typeface="Tahoma" panose="020B0604030504040204"/>
              </a:rPr>
              <a:t>Why?</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901065" marR="0" lvl="0" indent="0" algn="l" rtl="0">
              <a:lnSpc>
                <a:spcPct val="100000"/>
              </a:lnSpc>
              <a:spcBef>
                <a:spcPts val="565"/>
              </a:spcBef>
              <a:spcAft>
                <a:spcPts val="0"/>
              </a:spcAft>
              <a:buNone/>
            </a:pPr>
            <a:r>
              <a:rPr lang="en-US" sz="1700">
                <a:solidFill>
                  <a:srgbClr val="EE7D09"/>
                </a:solidFill>
                <a:latin typeface="Noto Sans Symbols"/>
                <a:ea typeface="Noto Sans Symbols"/>
                <a:cs typeface="Noto Sans Symbols"/>
                <a:sym typeface="Noto Sans Symbols"/>
              </a:rPr>
              <a:t>🖲</a:t>
            </a:r>
            <a:r>
              <a:rPr lang="en-US" sz="1700">
                <a:solidFill>
                  <a:schemeClr val="dk1"/>
                </a:solidFill>
                <a:latin typeface="Tahoma" panose="020B0604030504040204"/>
                <a:ea typeface="Tahoma" panose="020B0604030504040204"/>
                <a:cs typeface="Tahoma" panose="020B0604030504040204"/>
                <a:sym typeface="Tahoma" panose="020B0604030504040204"/>
              </a:rPr>
              <a:t>In order to meet the employer's strategic goals and objectives</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149350" marR="0" lvl="0" indent="0" algn="l" rtl="0">
              <a:lnSpc>
                <a:spcPct val="100000"/>
              </a:lnSpc>
              <a:spcBef>
                <a:spcPts val="565"/>
              </a:spcBef>
              <a:spcAft>
                <a:spcPts val="0"/>
              </a:spcAft>
              <a:buNone/>
            </a:pPr>
            <a:r>
              <a:rPr lang="en-US" sz="1700">
                <a:solidFill>
                  <a:srgbClr val="EE7D09"/>
                </a:solidFill>
                <a:latin typeface="Noto Sans Symbols"/>
                <a:ea typeface="Noto Sans Symbols"/>
                <a:cs typeface="Noto Sans Symbols"/>
                <a:sym typeface="Noto Sans Symbols"/>
              </a:rPr>
              <a:t>🖲</a:t>
            </a:r>
            <a:r>
              <a:rPr lang="en-US" sz="1700" b="1">
                <a:solidFill>
                  <a:srgbClr val="FF0000"/>
                </a:solidFill>
                <a:latin typeface="Tahoma" panose="020B0604030504040204"/>
                <a:ea typeface="Tahoma" panose="020B0604030504040204"/>
                <a:cs typeface="Tahoma" panose="020B0604030504040204"/>
                <a:sym typeface="Tahoma" panose="020B0604030504040204"/>
              </a:rPr>
              <a:t>How HR can maximize employees’ performance?</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94945" marR="605790" lvl="0" indent="-182880" algn="l" rtl="0">
              <a:lnSpc>
                <a:spcPct val="113000"/>
              </a:lnSpc>
              <a:spcBef>
                <a:spcPts val="290"/>
              </a:spcBef>
              <a:spcAft>
                <a:spcPts val="0"/>
              </a:spcAft>
              <a:buNone/>
            </a:pPr>
            <a:r>
              <a:rPr lang="en-US" sz="1700">
                <a:solidFill>
                  <a:srgbClr val="EE7D09"/>
                </a:solidFill>
                <a:latin typeface="Noto Sans Symbols"/>
                <a:ea typeface="Noto Sans Symbols"/>
                <a:cs typeface="Noto Sans Symbols"/>
                <a:sym typeface="Noto Sans Symbols"/>
              </a:rPr>
              <a:t>🖲</a:t>
            </a:r>
            <a:r>
              <a:rPr lang="en-US" sz="1700">
                <a:solidFill>
                  <a:schemeClr val="dk1"/>
                </a:solidFill>
                <a:latin typeface="Tahoma" panose="020B0604030504040204"/>
                <a:ea typeface="Tahoma" panose="020B0604030504040204"/>
                <a:cs typeface="Tahoma" panose="020B0604030504040204"/>
                <a:sym typeface="Tahoma" panose="020B0604030504040204"/>
              </a:rPr>
              <a:t>HRM focuses on management of people within companies, emphasizing on  policies and systems.</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586740" marR="0" lvl="0" indent="0" algn="l" rtl="0">
              <a:lnSpc>
                <a:spcPct val="100000"/>
              </a:lnSpc>
              <a:spcBef>
                <a:spcPts val="455"/>
              </a:spcBef>
              <a:spcAft>
                <a:spcPts val="0"/>
              </a:spcAft>
              <a:buNone/>
            </a:pPr>
            <a:r>
              <a:rPr lang="en-US" sz="1700">
                <a:solidFill>
                  <a:srgbClr val="EE7D09"/>
                </a:solidFill>
                <a:latin typeface="Noto Sans Symbols"/>
                <a:ea typeface="Noto Sans Symbols"/>
                <a:cs typeface="Noto Sans Symbols"/>
                <a:sym typeface="Noto Sans Symbols"/>
              </a:rPr>
              <a:t>🖲</a:t>
            </a:r>
            <a:r>
              <a:rPr lang="en-US" sz="1700" b="1">
                <a:solidFill>
                  <a:srgbClr val="FF0000"/>
                </a:solidFill>
                <a:latin typeface="Tahoma" panose="020B0604030504040204"/>
                <a:ea typeface="Tahoma" panose="020B0604030504040204"/>
                <a:cs typeface="Tahoma" panose="020B0604030504040204"/>
                <a:sym typeface="Tahoma" panose="020B0604030504040204"/>
              </a:rPr>
              <a:t>What are the processes of managing these people within the</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3340100" marR="0" lvl="0" indent="0" algn="l" rtl="0">
              <a:lnSpc>
                <a:spcPct val="100000"/>
              </a:lnSpc>
              <a:spcBef>
                <a:spcPts val="265"/>
              </a:spcBef>
              <a:spcAft>
                <a:spcPts val="0"/>
              </a:spcAft>
              <a:buNone/>
            </a:pPr>
            <a:r>
              <a:rPr lang="en-US" sz="1700" b="1">
                <a:solidFill>
                  <a:srgbClr val="FF0000"/>
                </a:solidFill>
                <a:latin typeface="Tahoma" panose="020B0604030504040204"/>
                <a:ea typeface="Tahoma" panose="020B0604030504040204"/>
                <a:cs typeface="Tahoma" panose="020B0604030504040204"/>
                <a:sym typeface="Tahoma" panose="020B0604030504040204"/>
              </a:rPr>
              <a:t>organization?</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2700" marR="0" lvl="0" indent="0" algn="l" rtl="0">
              <a:lnSpc>
                <a:spcPct val="100000"/>
              </a:lnSpc>
              <a:spcBef>
                <a:spcPts val="455"/>
              </a:spcBef>
              <a:spcAft>
                <a:spcPts val="0"/>
              </a:spcAft>
              <a:buNone/>
            </a:pPr>
            <a:r>
              <a:rPr lang="en-US" sz="1700">
                <a:solidFill>
                  <a:srgbClr val="EE7D09"/>
                </a:solidFill>
                <a:latin typeface="Noto Sans Symbols"/>
                <a:ea typeface="Noto Sans Symbols"/>
                <a:cs typeface="Noto Sans Symbols"/>
                <a:sym typeface="Noto Sans Symbols"/>
              </a:rPr>
              <a:t>🖲</a:t>
            </a:r>
            <a:r>
              <a:rPr lang="en-US" sz="1700">
                <a:solidFill>
                  <a:schemeClr val="dk1"/>
                </a:solidFill>
                <a:latin typeface="Tahoma" panose="020B0604030504040204"/>
                <a:ea typeface="Tahoma" panose="020B0604030504040204"/>
                <a:cs typeface="Tahoma" panose="020B0604030504040204"/>
                <a:sym typeface="Tahoma" panose="020B0604030504040204"/>
              </a:rPr>
              <a:t>It is the process of </a:t>
            </a:r>
            <a:r>
              <a:rPr lang="en-US" sz="1700" b="1">
                <a:solidFill>
                  <a:srgbClr val="00AE50"/>
                </a:solidFill>
                <a:latin typeface="Tahoma" panose="020B0604030504040204"/>
                <a:ea typeface="Tahoma" panose="020B0604030504040204"/>
                <a:cs typeface="Tahoma" panose="020B0604030504040204"/>
                <a:sym typeface="Tahoma" panose="020B0604030504040204"/>
              </a:rPr>
              <a:t>determining HR needs, acquiring</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2700" marR="5080" lvl="0" indent="0" algn="l" rtl="0">
              <a:lnSpc>
                <a:spcPct val="127000"/>
              </a:lnSpc>
              <a:spcBef>
                <a:spcPts val="10"/>
              </a:spcBef>
              <a:spcAft>
                <a:spcPts val="0"/>
              </a:spcAft>
              <a:buNone/>
            </a:pPr>
            <a:r>
              <a:rPr lang="en-US" sz="1700" b="1">
                <a:solidFill>
                  <a:srgbClr val="00AE50"/>
                </a:solidFill>
                <a:latin typeface="Tahoma" panose="020B0604030504040204"/>
                <a:ea typeface="Tahoma" panose="020B0604030504040204"/>
                <a:cs typeface="Tahoma" panose="020B0604030504040204"/>
                <a:sym typeface="Tahoma" panose="020B0604030504040204"/>
              </a:rPr>
              <a:t>(recruiting&amp;selecting)</a:t>
            </a:r>
            <a:r>
              <a:rPr lang="en-US" sz="1700">
                <a:solidFill>
                  <a:srgbClr val="00AE50"/>
                </a:solidFill>
                <a:latin typeface="Tahoma" panose="020B0604030504040204"/>
                <a:ea typeface="Tahoma" panose="020B0604030504040204"/>
                <a:cs typeface="Tahoma" panose="020B0604030504040204"/>
                <a:sym typeface="Tahoma" panose="020B0604030504040204"/>
              </a:rPr>
              <a:t>, </a:t>
            </a:r>
            <a:r>
              <a:rPr lang="en-US" sz="1700" b="1">
                <a:solidFill>
                  <a:srgbClr val="00AE50"/>
                </a:solidFill>
                <a:latin typeface="Tahoma" panose="020B0604030504040204"/>
                <a:ea typeface="Tahoma" panose="020B0604030504040204"/>
                <a:cs typeface="Tahoma" panose="020B0604030504040204"/>
                <a:sym typeface="Tahoma" panose="020B0604030504040204"/>
              </a:rPr>
              <a:t>training(motivating), appraising  (rewarding,evalutating)</a:t>
            </a:r>
            <a:r>
              <a:rPr lang="en-US" sz="1700">
                <a:solidFill>
                  <a:schemeClr val="dk1"/>
                </a:solidFill>
                <a:latin typeface="Tahoma" panose="020B0604030504040204"/>
                <a:ea typeface="Tahoma" panose="020B0604030504040204"/>
                <a:cs typeface="Tahoma" panose="020B0604030504040204"/>
                <a:sym typeface="Tahoma" panose="020B0604030504040204"/>
              </a:rPr>
              <a:t>, </a:t>
            </a:r>
            <a:r>
              <a:rPr lang="en-US" sz="1700" b="1">
                <a:solidFill>
                  <a:srgbClr val="00AE50"/>
                </a:solidFill>
                <a:latin typeface="Tahoma" panose="020B0604030504040204"/>
                <a:ea typeface="Tahoma" panose="020B0604030504040204"/>
                <a:cs typeface="Tahoma" panose="020B0604030504040204"/>
                <a:sym typeface="Tahoma" panose="020B0604030504040204"/>
              </a:rPr>
              <a:t>compensating, scheduling </a:t>
            </a:r>
            <a:r>
              <a:rPr lang="en-US" sz="1700">
                <a:solidFill>
                  <a:schemeClr val="dk1"/>
                </a:solidFill>
                <a:latin typeface="Tahoma" panose="020B0604030504040204"/>
                <a:ea typeface="Tahoma" panose="020B0604030504040204"/>
                <a:cs typeface="Tahoma" panose="020B0604030504040204"/>
                <a:sym typeface="Tahoma" panose="020B0604030504040204"/>
              </a:rPr>
              <a:t>employees and Focusing  on </a:t>
            </a:r>
            <a:r>
              <a:rPr lang="en-US" sz="1700" b="1">
                <a:solidFill>
                  <a:srgbClr val="00AE50"/>
                </a:solidFill>
                <a:latin typeface="Tahoma" panose="020B0604030504040204"/>
                <a:ea typeface="Tahoma" panose="020B0604030504040204"/>
                <a:cs typeface="Tahoma" panose="020B0604030504040204"/>
                <a:sym typeface="Tahoma" panose="020B0604030504040204"/>
              </a:rPr>
              <a:t>labor relations, health and safety, fairness concerns</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3625215" marR="0" lvl="0" indent="0" algn="l" rtl="0">
              <a:lnSpc>
                <a:spcPct val="100000"/>
              </a:lnSpc>
              <a:spcBef>
                <a:spcPts val="560"/>
              </a:spcBef>
              <a:spcAft>
                <a:spcPts val="0"/>
              </a:spcAft>
              <a:buNone/>
            </a:pPr>
            <a:r>
              <a:rPr lang="en-US" sz="1700">
                <a:solidFill>
                  <a:srgbClr val="EE7D09"/>
                </a:solidFill>
                <a:latin typeface="Noto Sans Symbols"/>
                <a:ea typeface="Noto Sans Symbols"/>
                <a:cs typeface="Noto Sans Symbols"/>
                <a:sym typeface="Noto Sans Symbols"/>
              </a:rPr>
              <a:t>🖲</a:t>
            </a:r>
            <a:r>
              <a:rPr lang="en-US" sz="1700" b="1">
                <a:solidFill>
                  <a:srgbClr val="FF0000"/>
                </a:solidFill>
                <a:latin typeface="Tahoma" panose="020B0604030504040204"/>
                <a:ea typeface="Tahoma" panose="020B0604030504040204"/>
                <a:cs typeface="Tahoma" panose="020B0604030504040204"/>
                <a:sym typeface="Tahoma" panose="020B0604030504040204"/>
              </a:rPr>
              <a:t>Why?</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2700" marR="0" lvl="0" indent="0" algn="l" rtl="0">
              <a:lnSpc>
                <a:spcPct val="100000"/>
              </a:lnSpc>
              <a:spcBef>
                <a:spcPts val="565"/>
              </a:spcBef>
              <a:spcAft>
                <a:spcPts val="0"/>
              </a:spcAft>
              <a:buNone/>
            </a:pPr>
            <a:r>
              <a:rPr lang="en-US" sz="1700">
                <a:solidFill>
                  <a:srgbClr val="EE7D09"/>
                </a:solidFill>
                <a:latin typeface="Noto Sans Symbols"/>
                <a:ea typeface="Noto Sans Symbols"/>
                <a:cs typeface="Noto Sans Symbols"/>
                <a:sym typeface="Noto Sans Symbols"/>
              </a:rPr>
              <a:t>🖲</a:t>
            </a:r>
            <a:r>
              <a:rPr lang="en-US" sz="1700">
                <a:solidFill>
                  <a:srgbClr val="EE7D09"/>
                </a:solidFill>
                <a:latin typeface="Times New Roman" panose="02020603050405020304"/>
                <a:ea typeface="Times New Roman" panose="02020603050405020304"/>
                <a:cs typeface="Times New Roman" panose="02020603050405020304"/>
                <a:sym typeface="Times New Roman" panose="02020603050405020304"/>
              </a:rPr>
              <a:t> </a:t>
            </a:r>
            <a:r>
              <a:rPr lang="en-US" sz="1700">
                <a:solidFill>
                  <a:schemeClr val="dk1"/>
                </a:solidFill>
                <a:latin typeface="Tahoma" panose="020B0604030504040204"/>
                <a:ea typeface="Tahoma" panose="020B0604030504040204"/>
                <a:cs typeface="Tahoma" panose="020B0604030504040204"/>
                <a:sym typeface="Tahoma" panose="020B0604030504040204"/>
              </a:rPr>
              <a:t>So that HR can maintain </a:t>
            </a:r>
            <a:r>
              <a:rPr lang="en-US" sz="1700" b="1">
                <a:solidFill>
                  <a:srgbClr val="00AE50"/>
                </a:solidFill>
                <a:latin typeface="Tahoma" panose="020B0604030504040204"/>
                <a:ea typeface="Tahoma" panose="020B0604030504040204"/>
                <a:cs typeface="Tahoma" panose="020B0604030504040204"/>
                <a:sym typeface="Tahoma" panose="020B0604030504040204"/>
              </a:rPr>
              <a:t>competent workforce</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562735" marR="0" lvl="0" indent="0" algn="l" rtl="0">
              <a:lnSpc>
                <a:spcPct val="100000"/>
              </a:lnSpc>
              <a:spcBef>
                <a:spcPts val="555"/>
              </a:spcBef>
              <a:spcAft>
                <a:spcPts val="0"/>
              </a:spcAft>
              <a:buNone/>
            </a:pPr>
            <a:r>
              <a:rPr lang="en-US" sz="1700">
                <a:solidFill>
                  <a:srgbClr val="EE7D09"/>
                </a:solidFill>
                <a:latin typeface="Noto Sans Symbols"/>
                <a:ea typeface="Noto Sans Symbols"/>
                <a:cs typeface="Noto Sans Symbols"/>
                <a:sym typeface="Noto Sans Symbols"/>
              </a:rPr>
              <a:t>🖲</a:t>
            </a:r>
            <a:r>
              <a:rPr lang="en-US" sz="1700" b="1">
                <a:solidFill>
                  <a:srgbClr val="FF0000"/>
                </a:solidFill>
                <a:latin typeface="Tahoma" panose="020B0604030504040204"/>
                <a:ea typeface="Tahoma" panose="020B0604030504040204"/>
                <a:cs typeface="Tahoma" panose="020B0604030504040204"/>
                <a:sym typeface="Tahoma" panose="020B0604030504040204"/>
              </a:rPr>
              <a:t>Why to maintain a competent workforce?</a:t>
            </a:r>
            <a:endParaRPr sz="1700">
              <a:solidFill>
                <a:schemeClr val="dk1"/>
              </a:solidFill>
              <a:latin typeface="Tahoma" panose="020B0604030504040204"/>
              <a:ea typeface="Tahoma" panose="020B0604030504040204"/>
              <a:cs typeface="Tahoma" panose="020B0604030504040204"/>
              <a:sym typeface="Tahoma" panose="020B0604030504040204"/>
            </a:endParaRPr>
          </a:p>
          <a:p>
            <a:pPr marL="12700" marR="0" lvl="0" indent="0" algn="l" rtl="0">
              <a:lnSpc>
                <a:spcPct val="100000"/>
              </a:lnSpc>
              <a:spcBef>
                <a:spcPts val="565"/>
              </a:spcBef>
              <a:spcAft>
                <a:spcPts val="0"/>
              </a:spcAft>
              <a:buNone/>
            </a:pPr>
            <a:r>
              <a:rPr lang="en-US" sz="1700">
                <a:solidFill>
                  <a:srgbClr val="EE7D09"/>
                </a:solidFill>
                <a:latin typeface="Noto Sans Symbols"/>
                <a:ea typeface="Noto Sans Symbols"/>
                <a:cs typeface="Noto Sans Symbols"/>
                <a:sym typeface="Noto Sans Symbols"/>
              </a:rPr>
              <a:t>🖲</a:t>
            </a:r>
            <a:r>
              <a:rPr lang="en-US" sz="1700">
                <a:solidFill>
                  <a:schemeClr val="dk1"/>
                </a:solidFill>
                <a:latin typeface="Tahoma" panose="020B0604030504040204"/>
                <a:ea typeface="Tahoma" panose="020B0604030504040204"/>
                <a:cs typeface="Tahoma" panose="020B0604030504040204"/>
                <a:sym typeface="Tahoma" panose="020B0604030504040204"/>
              </a:rPr>
              <a:t>To achieve the goals of an organization in an effective and efficient manner.</a:t>
            </a:r>
            <a:endParaRPr sz="1700">
              <a:solidFill>
                <a:schemeClr val="dk1"/>
              </a:solidFill>
              <a:latin typeface="Tahoma" panose="020B0604030504040204"/>
              <a:ea typeface="Tahoma" panose="020B0604030504040204"/>
              <a:cs typeface="Tahoma" panose="020B0604030504040204"/>
              <a:sym typeface="Tahoma" panose="020B0604030504040204"/>
            </a:endParaRPr>
          </a:p>
        </p:txBody>
      </p:sp>
      <p:sp>
        <p:nvSpPr>
          <p:cNvPr id="92" name="Google Shape;92;p3"/>
          <p:cNvSpPr txBox="1"/>
          <p:nvPr>
            <p:ph type="title"/>
          </p:nvPr>
        </p:nvSpPr>
        <p:spPr>
          <a:xfrm>
            <a:off x="2364739" y="72644"/>
            <a:ext cx="4015740" cy="75120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800"/>
              <a:t>WHAT IS HRM ?</a:t>
            </a:r>
            <a:endParaRPr sz="4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18" name="Shape 118"/>
        <p:cNvGrpSpPr/>
        <p:nvPr/>
      </p:nvGrpSpPr>
      <p:grpSpPr>
        <a:xfrm>
          <a:off x="0" y="0"/>
          <a:ext cx="0" cy="0"/>
          <a:chOff x="0" y="0"/>
          <a:chExt cx="0" cy="0"/>
        </a:xfrm>
      </p:grpSpPr>
      <p:sp>
        <p:nvSpPr>
          <p:cNvPr id="119" name="Google Shape;119;p7"/>
          <p:cNvSpPr txBox="1"/>
          <p:nvPr/>
        </p:nvSpPr>
        <p:spPr>
          <a:xfrm>
            <a:off x="2335530" y="1591310"/>
            <a:ext cx="9265285" cy="4730750"/>
          </a:xfrm>
          <a:prstGeom prst="rect">
            <a:avLst/>
          </a:prstGeom>
          <a:noFill/>
          <a:ln>
            <a:noFill/>
          </a:ln>
        </p:spPr>
        <p:txBody>
          <a:bodyPr spcFirstLastPara="1" wrap="square" lIns="0" tIns="94600" rIns="0" bIns="0" anchor="t" anchorCtr="0">
            <a:noAutofit/>
          </a:bodyPr>
          <a:lstStyle/>
          <a:p>
            <a:pPr marL="12700" marR="0" lvl="0" indent="0" algn="l" rtl="0">
              <a:lnSpc>
                <a:spcPct val="100000"/>
              </a:lnSpc>
              <a:spcBef>
                <a:spcPts val="0"/>
              </a:spcBef>
              <a:spcAft>
                <a:spcPts val="0"/>
              </a:spcAft>
              <a:buNone/>
            </a:pPr>
            <a:r>
              <a:rPr lang="en-US" sz="120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Cost (Health care, Training, Hiring process)</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650"/>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Skilled Workers</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756285" marR="52070" lvl="0" indent="-287020" algn="l" rtl="0">
              <a:lnSpc>
                <a:spcPct val="96000"/>
              </a:lnSpc>
              <a:spcBef>
                <a:spcPts val="990"/>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Arial" panose="020B0604020202020204"/>
                <a:ea typeface="Arial" panose="020B0604020202020204"/>
                <a:cs typeface="Arial" panose="020B0604020202020204"/>
                <a:sym typeface="Arial" panose="020B0604020202020204"/>
              </a:rPr>
              <a:t>A shortage of trained workers in important, growth areas (such as IT,  Green Technology etc)</a:t>
            </a:r>
            <a:endParaRPr sz="16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650"/>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Technology (large database)</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756285" marR="58420" lvl="0" indent="-287020" algn="l" rtl="0">
              <a:lnSpc>
                <a:spcPct val="96000"/>
              </a:lnSpc>
              <a:spcBef>
                <a:spcPts val="1005"/>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Arial" panose="020B0604020202020204"/>
                <a:ea typeface="Arial" panose="020B0604020202020204"/>
                <a:cs typeface="Arial" panose="020B0604020202020204"/>
                <a:sym typeface="Arial" panose="020B0604020202020204"/>
              </a:rPr>
              <a:t>Overabundance of workers in declining industries, such as steel and  automobiles (who need retraining)</a:t>
            </a:r>
            <a:endParaRPr sz="16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650"/>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Economy (Nation’s Unemployment problem)</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756285" marR="130175" lvl="0" indent="-287020" algn="l" rtl="0">
              <a:lnSpc>
                <a:spcPct val="96000"/>
              </a:lnSpc>
              <a:spcBef>
                <a:spcPts val="990"/>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Arial" panose="020B0604020202020204"/>
                <a:ea typeface="Arial" panose="020B0604020202020204"/>
                <a:cs typeface="Arial" panose="020B0604020202020204"/>
                <a:sym typeface="Arial" panose="020B0604020202020204"/>
              </a:rPr>
              <a:t>Increased outsourcing (jobs going abroad), because labour costs in  other countries are much cheaper than in U.S</a:t>
            </a:r>
            <a:endParaRPr sz="16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660"/>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Changing and Diverse Workforce</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756285" marR="5080" lvl="0" indent="-287020" algn="l" rtl="0">
              <a:lnSpc>
                <a:spcPct val="80000"/>
              </a:lnSpc>
              <a:spcBef>
                <a:spcPts val="1005"/>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Arial" panose="020B0604020202020204"/>
                <a:ea typeface="Arial" panose="020B0604020202020204"/>
                <a:cs typeface="Arial" panose="020B0604020202020204"/>
                <a:sym typeface="Arial" panose="020B0604020202020204"/>
              </a:rPr>
              <a:t>Increasing single-parent families, and therefore the need for  maternity leave, job sharing, telecommuting etc increases. HR has to  balance these needs against organizational profitability</a:t>
            </a:r>
            <a:endParaRPr sz="1600">
              <a:solidFill>
                <a:schemeClr val="tx1"/>
              </a:solidFill>
              <a:latin typeface="Arial" panose="020B0604020202020204"/>
              <a:ea typeface="Arial" panose="020B0604020202020204"/>
              <a:cs typeface="Arial" panose="020B0604020202020204"/>
              <a:sym typeface="Arial" panose="020B0604020202020204"/>
            </a:endParaRPr>
          </a:p>
          <a:p>
            <a:pPr marL="12700" marR="0" lvl="0" indent="0" algn="l" rtl="0">
              <a:lnSpc>
                <a:spcPct val="100000"/>
              </a:lnSpc>
              <a:spcBef>
                <a:spcPts val="630"/>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Trebuchet MS" panose="020B0603020202020204"/>
                <a:ea typeface="Trebuchet MS" panose="020B0603020202020204"/>
                <a:cs typeface="Trebuchet MS" panose="020B0603020202020204"/>
                <a:sym typeface="Trebuchet MS" panose="020B0603020202020204"/>
              </a:rPr>
              <a:t>Ethics</a:t>
            </a:r>
            <a:endParaRPr sz="1600">
              <a:solidFill>
                <a:schemeClr val="tx1"/>
              </a:solidFill>
              <a:latin typeface="Trebuchet MS" panose="020B0603020202020204"/>
              <a:ea typeface="Trebuchet MS" panose="020B0603020202020204"/>
              <a:cs typeface="Trebuchet MS" panose="020B0603020202020204"/>
              <a:sym typeface="Trebuchet MS" panose="020B0603020202020204"/>
            </a:endParaRPr>
          </a:p>
          <a:p>
            <a:pPr marL="469900" marR="0" lvl="0" indent="0" algn="l" rtl="0">
              <a:lnSpc>
                <a:spcPct val="108000"/>
              </a:lnSpc>
              <a:spcBef>
                <a:spcPts val="675"/>
              </a:spcBef>
              <a:spcAft>
                <a:spcPts val="0"/>
              </a:spcAft>
              <a:buNone/>
            </a:pPr>
            <a:r>
              <a:rPr lang="en-US" sz="1600">
                <a:solidFill>
                  <a:schemeClr val="tx1"/>
                </a:solidFill>
                <a:latin typeface="Lucida Sans" panose="020B0602030504020204"/>
                <a:ea typeface="Lucida Sans" panose="020B0602030504020204"/>
                <a:cs typeface="Lucida Sans" panose="020B0602030504020204"/>
                <a:sym typeface="Lucida Sans" panose="020B0602030504020204"/>
              </a:rPr>
              <a:t>▶	</a:t>
            </a:r>
            <a:r>
              <a:rPr lang="en-US" sz="1600">
                <a:solidFill>
                  <a:schemeClr val="tx1"/>
                </a:solidFill>
                <a:latin typeface="Arial" panose="020B0604020202020204"/>
                <a:ea typeface="Arial" panose="020B0604020202020204"/>
                <a:cs typeface="Arial" panose="020B0604020202020204"/>
                <a:sym typeface="Arial" panose="020B0604020202020204"/>
              </a:rPr>
              <a:t>A decreased sense of employee loyalty (due to so many firms in the</a:t>
            </a:r>
            <a:endParaRPr sz="1600">
              <a:solidFill>
                <a:schemeClr val="tx1"/>
              </a:solidFill>
              <a:latin typeface="Arial" panose="020B0604020202020204"/>
              <a:ea typeface="Arial" panose="020B0604020202020204"/>
              <a:cs typeface="Arial" panose="020B0604020202020204"/>
              <a:sym typeface="Arial" panose="020B0604020202020204"/>
            </a:endParaRPr>
          </a:p>
          <a:p>
            <a:pPr marL="756285" marR="0" lvl="0" indent="0" algn="l" rtl="0">
              <a:lnSpc>
                <a:spcPct val="108000"/>
              </a:lnSpc>
              <a:spcBef>
                <a:spcPts val="0"/>
              </a:spcBef>
              <a:spcAft>
                <a:spcPts val="0"/>
              </a:spcAft>
              <a:buNone/>
            </a:pPr>
            <a:r>
              <a:rPr lang="en-US" sz="1600">
                <a:solidFill>
                  <a:schemeClr val="tx1"/>
                </a:solidFill>
                <a:latin typeface="Arial" panose="020B0604020202020204"/>
                <a:ea typeface="Arial" panose="020B0604020202020204"/>
                <a:cs typeface="Arial" panose="020B0604020202020204"/>
                <a:sym typeface="Arial" panose="020B0604020202020204"/>
              </a:rPr>
              <a:t>market, shorter job cycles, contractual work etc.)</a:t>
            </a:r>
            <a:endParaRPr lang="en-US" sz="1600">
              <a:solidFill>
                <a:schemeClr val="tx1"/>
              </a:solidFill>
              <a:latin typeface="Arial" panose="020B0604020202020204"/>
              <a:ea typeface="Arial" panose="020B0604020202020204"/>
              <a:cs typeface="Arial" panose="020B0604020202020204"/>
              <a:sym typeface="Arial" panose="020B0604020202020204"/>
            </a:endParaRPr>
          </a:p>
        </p:txBody>
      </p:sp>
      <p:sp>
        <p:nvSpPr>
          <p:cNvPr id="121" name="Google Shape;121;p7"/>
          <p:cNvSpPr txBox="1"/>
          <p:nvPr>
            <p:ph type="title"/>
          </p:nvPr>
        </p:nvSpPr>
        <p:spPr>
          <a:xfrm>
            <a:off x="1907540" y="186639"/>
            <a:ext cx="6102985"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SOME	MAJOR HR CHALLENGES</a:t>
            </a: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26" name="Shape 126"/>
        <p:cNvGrpSpPr/>
        <p:nvPr/>
      </p:nvGrpSpPr>
      <p:grpSpPr>
        <a:xfrm>
          <a:off x="0" y="0"/>
          <a:ext cx="0" cy="0"/>
          <a:chOff x="0" y="0"/>
          <a:chExt cx="0" cy="0"/>
        </a:xfrm>
      </p:grpSpPr>
      <p:sp>
        <p:nvSpPr>
          <p:cNvPr id="127" name="Google Shape;127;p8"/>
          <p:cNvSpPr txBox="1"/>
          <p:nvPr>
            <p:ph type="title"/>
          </p:nvPr>
        </p:nvSpPr>
        <p:spPr>
          <a:xfrm>
            <a:off x="2364739" y="124155"/>
            <a:ext cx="3801110" cy="50482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3200" b="1">
                <a:solidFill>
                  <a:srgbClr val="92D050"/>
                </a:solidFill>
                <a:latin typeface="Arial" panose="020B0604020202020204"/>
                <a:ea typeface="Arial" panose="020B0604020202020204"/>
                <a:cs typeface="Arial" panose="020B0604020202020204"/>
                <a:sym typeface="Arial" panose="020B0604020202020204"/>
              </a:rPr>
              <a:t>Some HR Concepts</a:t>
            </a:r>
            <a:endParaRPr sz="3200">
              <a:solidFill>
                <a:srgbClr val="92D050"/>
              </a:solidFill>
              <a:latin typeface="Arial" panose="020B0604020202020204"/>
              <a:ea typeface="Arial" panose="020B0604020202020204"/>
              <a:cs typeface="Arial" panose="020B0604020202020204"/>
              <a:sym typeface="Arial" panose="020B0604020202020204"/>
            </a:endParaRPr>
          </a:p>
        </p:txBody>
      </p:sp>
      <p:sp>
        <p:nvSpPr>
          <p:cNvPr id="129" name="Google Shape;129;p8"/>
          <p:cNvSpPr txBox="1"/>
          <p:nvPr/>
        </p:nvSpPr>
        <p:spPr>
          <a:xfrm>
            <a:off x="1983740" y="1016253"/>
            <a:ext cx="7915909" cy="4295140"/>
          </a:xfrm>
          <a:prstGeom prst="rect">
            <a:avLst/>
          </a:prstGeom>
          <a:noFill/>
          <a:ln>
            <a:noFill/>
          </a:ln>
        </p:spPr>
        <p:txBody>
          <a:bodyPr spcFirstLastPara="1" wrap="square" lIns="0" tIns="13325" rIns="0" bIns="0" anchor="t" anchorCtr="0">
            <a:spAutoFit/>
          </a:bodyPr>
          <a:lstStyle/>
          <a:p>
            <a:pPr marL="347980" marR="74295" lvl="0" indent="-335280" algn="l" rtl="0">
              <a:lnSpc>
                <a:spcPct val="100000"/>
              </a:lnSpc>
              <a:spcBef>
                <a:spcPts val="0"/>
              </a:spcBef>
              <a:spcAft>
                <a:spcPts val="0"/>
              </a:spcAft>
              <a:buClr>
                <a:schemeClr val="dk1"/>
              </a:buClr>
              <a:buSzPts val="2000"/>
              <a:buFont typeface="Arial" panose="020B0604020202020204"/>
              <a:buChar char="•"/>
            </a:pPr>
            <a:r>
              <a:rPr lang="en-US" sz="2000" b="1">
                <a:solidFill>
                  <a:schemeClr val="dk1"/>
                </a:solidFill>
                <a:latin typeface="Arial" panose="020B0604020202020204"/>
                <a:ea typeface="Arial" panose="020B0604020202020204"/>
                <a:cs typeface="Arial" panose="020B0604020202020204"/>
                <a:sym typeface="Arial" panose="020B0604020202020204"/>
              </a:rPr>
              <a:t>Affirmative Action – </a:t>
            </a:r>
            <a:r>
              <a:rPr lang="en-US" sz="2000">
                <a:solidFill>
                  <a:schemeClr val="dk1"/>
                </a:solidFill>
                <a:latin typeface="Arial" panose="020B0604020202020204"/>
                <a:ea typeface="Arial" panose="020B0604020202020204"/>
                <a:cs typeface="Arial" panose="020B0604020202020204"/>
                <a:sym typeface="Arial" panose="020B0604020202020204"/>
              </a:rPr>
              <a:t>A </a:t>
            </a:r>
            <a:r>
              <a:rPr lang="en-US" sz="2000" i="1">
                <a:solidFill>
                  <a:schemeClr val="dk1"/>
                </a:solidFill>
                <a:latin typeface="Arial" panose="020B0604020202020204"/>
                <a:ea typeface="Arial" panose="020B0604020202020204"/>
                <a:cs typeface="Arial" panose="020B0604020202020204"/>
                <a:sym typeface="Arial" panose="020B0604020202020204"/>
              </a:rPr>
              <a:t>Policy that is designed to reduce inequality  in hiring by giving neglected groups of society the chance to get  selected for jobs. Ex- A quota of hiring a minimum of 5 female  workers or members from minority groups (ex-tribal workers) in the  coming year</a:t>
            </a:r>
            <a:endParaRPr sz="20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
              </a:spcBef>
              <a:spcAft>
                <a:spcPts val="0"/>
              </a:spcAft>
              <a:buClr>
                <a:schemeClr val="dk1"/>
              </a:buClr>
              <a:buSzPts val="2600"/>
              <a:buFont typeface="Arial" panose="020B0604020202020204"/>
              <a:buNone/>
            </a:pPr>
            <a:endParaRPr sz="2600">
              <a:solidFill>
                <a:schemeClr val="dk1"/>
              </a:solidFill>
              <a:latin typeface="Arial" panose="020B0604020202020204"/>
              <a:ea typeface="Arial" panose="020B0604020202020204"/>
              <a:cs typeface="Arial" panose="020B0604020202020204"/>
              <a:sym typeface="Arial" panose="020B0604020202020204"/>
            </a:endParaRPr>
          </a:p>
          <a:p>
            <a:pPr marL="347980" marR="0" lvl="0" indent="-335280" algn="l" rtl="0">
              <a:lnSpc>
                <a:spcPct val="100000"/>
              </a:lnSpc>
              <a:spcBef>
                <a:spcPts val="0"/>
              </a:spcBef>
              <a:spcAft>
                <a:spcPts val="0"/>
              </a:spcAft>
              <a:buClr>
                <a:schemeClr val="dk1"/>
              </a:buClr>
              <a:buSzPts val="2000"/>
              <a:buFont typeface="Arial" panose="020B0604020202020204"/>
              <a:buChar char="•"/>
            </a:pPr>
            <a:r>
              <a:rPr lang="en-US" sz="2000">
                <a:solidFill>
                  <a:schemeClr val="dk1"/>
                </a:solidFill>
                <a:latin typeface="Arial" panose="020B0604020202020204"/>
                <a:ea typeface="Arial" panose="020B0604020202020204"/>
                <a:cs typeface="Arial" panose="020B0604020202020204"/>
                <a:sym typeface="Arial" panose="020B0604020202020204"/>
              </a:rPr>
              <a:t>However, this can result in </a:t>
            </a:r>
            <a:r>
              <a:rPr lang="en-US" sz="2000" b="1">
                <a:solidFill>
                  <a:schemeClr val="dk1"/>
                </a:solidFill>
                <a:latin typeface="Arial" panose="020B0604020202020204"/>
                <a:ea typeface="Arial" panose="020B0604020202020204"/>
                <a:cs typeface="Arial" panose="020B0604020202020204"/>
                <a:sym typeface="Arial" panose="020B0604020202020204"/>
              </a:rPr>
              <a:t>Reverse Discrimination –</a:t>
            </a:r>
            <a:endParaRPr sz="20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10"/>
              </a:spcBef>
              <a:spcAft>
                <a:spcPts val="0"/>
              </a:spcAft>
              <a:buClr>
                <a:schemeClr val="dk1"/>
              </a:buClr>
              <a:buSzPts val="2600"/>
              <a:buFont typeface="Arial" panose="020B0604020202020204"/>
              <a:buNone/>
            </a:pPr>
            <a:endParaRPr sz="2600">
              <a:solidFill>
                <a:schemeClr val="dk1"/>
              </a:solidFill>
              <a:latin typeface="Arial" panose="020B0604020202020204"/>
              <a:ea typeface="Arial" panose="020B0604020202020204"/>
              <a:cs typeface="Arial" panose="020B0604020202020204"/>
              <a:sym typeface="Arial" panose="020B0604020202020204"/>
            </a:endParaRPr>
          </a:p>
          <a:p>
            <a:pPr marL="347980" marR="0" lvl="0" indent="-335280" algn="l" rtl="0">
              <a:lnSpc>
                <a:spcPct val="100000"/>
              </a:lnSpc>
              <a:spcBef>
                <a:spcPts val="5"/>
              </a:spcBef>
              <a:spcAft>
                <a:spcPts val="0"/>
              </a:spcAft>
              <a:buClr>
                <a:schemeClr val="dk1"/>
              </a:buClr>
              <a:buSzPts val="2000"/>
              <a:buFont typeface="Arial" panose="020B0604020202020204"/>
              <a:buChar char="•"/>
            </a:pPr>
            <a:r>
              <a:rPr lang="en-US" sz="2000" i="1">
                <a:solidFill>
                  <a:schemeClr val="dk1"/>
                </a:solidFill>
                <a:latin typeface="Arial" panose="020B0604020202020204"/>
                <a:ea typeface="Arial" panose="020B0604020202020204"/>
                <a:cs typeface="Arial" panose="020B0604020202020204"/>
                <a:sym typeface="Arial" panose="020B0604020202020204"/>
              </a:rPr>
              <a:t>Gender Discrimination against	males in hiring or promoting</a:t>
            </a:r>
            <a:endParaRPr sz="2000">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5"/>
              </a:spcBef>
              <a:spcAft>
                <a:spcPts val="0"/>
              </a:spcAft>
              <a:buClr>
                <a:schemeClr val="dk1"/>
              </a:buClr>
              <a:buSzPts val="2600"/>
              <a:buFont typeface="Arial" panose="020B0604020202020204"/>
              <a:buNone/>
            </a:pPr>
            <a:endParaRPr sz="2600">
              <a:solidFill>
                <a:schemeClr val="dk1"/>
              </a:solidFill>
              <a:latin typeface="Arial" panose="020B0604020202020204"/>
              <a:ea typeface="Arial" panose="020B0604020202020204"/>
              <a:cs typeface="Arial" panose="020B0604020202020204"/>
              <a:sym typeface="Arial" panose="020B0604020202020204"/>
            </a:endParaRPr>
          </a:p>
          <a:p>
            <a:pPr marL="347980" marR="5080" lvl="0" indent="-335280" algn="just" rtl="0">
              <a:lnSpc>
                <a:spcPct val="100000"/>
              </a:lnSpc>
              <a:spcBef>
                <a:spcPts val="5"/>
              </a:spcBef>
              <a:spcAft>
                <a:spcPts val="0"/>
              </a:spcAft>
              <a:buClr>
                <a:schemeClr val="dk1"/>
              </a:buClr>
              <a:buSzPts val="2000"/>
              <a:buFont typeface="Arial" panose="020B0604020202020204"/>
              <a:buChar char="•"/>
            </a:pPr>
            <a:r>
              <a:rPr lang="en-US" sz="2000">
                <a:solidFill>
                  <a:schemeClr val="dk1"/>
                </a:solidFill>
                <a:latin typeface="Arial" panose="020B0604020202020204"/>
                <a:ea typeface="Arial" panose="020B0604020202020204"/>
                <a:cs typeface="Arial" panose="020B0604020202020204"/>
                <a:sym typeface="Arial" panose="020B0604020202020204"/>
              </a:rPr>
              <a:t>So, HR has to balance affirmative action and reverse discrimination  to be fair, ethical and at the same time also ensure performance for  the firm</a:t>
            </a:r>
            <a:endParaRPr lang="en-US" sz="200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11"/>
          <p:cNvSpPr txBox="1"/>
          <p:nvPr>
            <p:ph type="title"/>
          </p:nvPr>
        </p:nvSpPr>
        <p:spPr>
          <a:xfrm>
            <a:off x="1755140" y="175640"/>
            <a:ext cx="5663565"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WHAT IS AN HRM MANAGER?</a:t>
            </a:r>
            <a:endParaRPr lang="en-US"/>
          </a:p>
        </p:txBody>
      </p:sp>
      <p:pic>
        <p:nvPicPr>
          <p:cNvPr id="151" name="Google Shape;151;p11"/>
          <p:cNvPicPr preferRelativeResize="0"/>
          <p:nvPr/>
        </p:nvPicPr>
        <p:blipFill rotWithShape="1">
          <a:blip r:embed="rId1"/>
          <a:srcRect/>
          <a:stretch>
            <a:fillRect/>
          </a:stretch>
        </p:blipFill>
        <p:spPr>
          <a:xfrm>
            <a:off x="2954172" y="1623735"/>
            <a:ext cx="3167735" cy="3054394"/>
          </a:xfrm>
          <a:prstGeom prst="rect">
            <a:avLst/>
          </a:prstGeom>
          <a:noFill/>
          <a:ln>
            <a:noFill/>
          </a:ln>
        </p:spPr>
      </p:pic>
      <p:sp>
        <p:nvSpPr>
          <p:cNvPr id="152" name="Google Shape;152;p11"/>
          <p:cNvSpPr txBox="1"/>
          <p:nvPr/>
        </p:nvSpPr>
        <p:spPr>
          <a:xfrm>
            <a:off x="1678939" y="6534659"/>
            <a:ext cx="3014345" cy="329565"/>
          </a:xfrm>
          <a:prstGeom prst="rect">
            <a:avLst/>
          </a:prstGeom>
          <a:noFill/>
          <a:ln>
            <a:noFill/>
          </a:ln>
        </p:spPr>
        <p:txBody>
          <a:bodyPr spcFirstLastPara="1" wrap="square" lIns="0" tIns="0" rIns="0" bIns="0" anchor="t" anchorCtr="0">
            <a:spAutoFit/>
          </a:bodyPr>
          <a:lstStyle/>
          <a:p>
            <a:pPr marL="12700" marR="0" lvl="0" indent="0" algn="l" rtl="0">
              <a:lnSpc>
                <a:spcPct val="119000"/>
              </a:lnSpc>
              <a:spcBef>
                <a:spcPts val="0"/>
              </a:spcBef>
              <a:spcAft>
                <a:spcPts val="0"/>
              </a:spcAft>
              <a:buNone/>
            </a:pPr>
            <a:r>
              <a:rPr lang="en-US" sz="1800">
                <a:solidFill>
                  <a:schemeClr val="dk1"/>
                </a:solidFill>
                <a:latin typeface="Trebuchet MS" panose="020B0603020202020204"/>
                <a:ea typeface="Trebuchet MS" panose="020B0603020202020204"/>
                <a:cs typeface="Trebuchet MS" panose="020B0603020202020204"/>
                <a:sym typeface="Trebuchet MS" panose="020B0603020202020204"/>
              </a:rPr>
              <a:t>DR. TARNIMA WARDA ANDALIB</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56" name="Shape 156"/>
        <p:cNvGrpSpPr/>
        <p:nvPr/>
      </p:nvGrpSpPr>
      <p:grpSpPr>
        <a:xfrm>
          <a:off x="0" y="0"/>
          <a:ext cx="0" cy="0"/>
          <a:chOff x="0" y="0"/>
          <a:chExt cx="0" cy="0"/>
        </a:xfrm>
      </p:grpSpPr>
      <p:sp>
        <p:nvSpPr>
          <p:cNvPr id="157" name="Google Shape;157;p12"/>
          <p:cNvSpPr txBox="1"/>
          <p:nvPr>
            <p:ph type="title"/>
          </p:nvPr>
        </p:nvSpPr>
        <p:spPr>
          <a:xfrm>
            <a:off x="1755140" y="150367"/>
            <a:ext cx="5795645"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ROLES OF AN HRM MANAGER</a:t>
            </a:r>
            <a:endParaRPr lang="en-US"/>
          </a:p>
        </p:txBody>
      </p:sp>
      <p:sp>
        <p:nvSpPr>
          <p:cNvPr id="159" name="Google Shape;159;p12"/>
          <p:cNvSpPr txBox="1"/>
          <p:nvPr/>
        </p:nvSpPr>
        <p:spPr>
          <a:xfrm>
            <a:off x="1907540" y="1516761"/>
            <a:ext cx="7240270" cy="4487545"/>
          </a:xfrm>
          <a:prstGeom prst="rect">
            <a:avLst/>
          </a:prstGeom>
          <a:noFill/>
          <a:ln>
            <a:noFill/>
          </a:ln>
        </p:spPr>
        <p:txBody>
          <a:bodyPr spcFirstLastPara="1" wrap="square" lIns="0" tIns="139050" rIns="0" bIns="0" anchor="t" anchorCtr="0">
            <a:spAutoFit/>
          </a:bodyPr>
          <a:lstStyle/>
          <a:p>
            <a:pPr marL="12700" marR="0" lvl="0" indent="0" algn="l" rtl="0">
              <a:lnSpc>
                <a:spcPct val="100000"/>
              </a:lnSpc>
              <a:spcBef>
                <a:spcPts val="0"/>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Developing &amp;Implementing Staffing plan (Recruitment &amp; Selection)</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Developing Workplace Policies</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Compensating the employees-working as the Benefactor for the</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355600" marR="0" lvl="0" indent="0" algn="l" rtl="0">
              <a:lnSpc>
                <a:spcPct val="100000"/>
              </a:lnSpc>
              <a:spcBef>
                <a:spcPts val="5"/>
              </a:spcBef>
              <a:spcAft>
                <a:spcPts val="0"/>
              </a:spcAft>
              <a:buNone/>
            </a:pP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company</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100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Making Retention Policies</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1000"/>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Providing Training and Development</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Dealing with Laws , Regulations………affecting Employment</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1010"/>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Providing Worker Protection</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Establishing Communication</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Creating Awareness about External Factors</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202" name="Shape 202"/>
        <p:cNvGrpSpPr/>
        <p:nvPr/>
      </p:nvGrpSpPr>
      <p:grpSpPr>
        <a:xfrm>
          <a:off x="0" y="0"/>
          <a:ext cx="0" cy="0"/>
          <a:chOff x="0" y="0"/>
          <a:chExt cx="0" cy="0"/>
        </a:xfrm>
      </p:grpSpPr>
      <p:sp>
        <p:nvSpPr>
          <p:cNvPr id="203" name="Google Shape;203;p14"/>
          <p:cNvSpPr/>
          <p:nvPr/>
        </p:nvSpPr>
        <p:spPr>
          <a:xfrm>
            <a:off x="1524000" y="4069781"/>
            <a:ext cx="447040" cy="2788285"/>
          </a:xfrm>
          <a:custGeom>
            <a:avLst/>
            <a:gdLst/>
            <a:ahLst/>
            <a:cxnLst/>
            <a:rect l="l" t="t" r="r" b="b"/>
            <a:pathLst>
              <a:path w="447040" h="2788284" extrusionOk="0">
                <a:moveTo>
                  <a:pt x="0" y="0"/>
                </a:moveTo>
                <a:lnTo>
                  <a:pt x="0" y="2788217"/>
                </a:lnTo>
                <a:lnTo>
                  <a:pt x="446591" y="2788217"/>
                </a:lnTo>
                <a:lnTo>
                  <a:pt x="0" y="0"/>
                </a:lnTo>
                <a:close/>
              </a:path>
            </a:pathLst>
          </a:custGeom>
          <a:solidFill>
            <a:srgbClr val="90C225">
              <a:alpha val="8470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pSp>
        <p:nvGrpSpPr>
          <p:cNvPr id="204" name="Google Shape;204;p14"/>
          <p:cNvGrpSpPr/>
          <p:nvPr/>
        </p:nvGrpSpPr>
        <p:grpSpPr>
          <a:xfrm>
            <a:off x="6655542" y="0"/>
            <a:ext cx="4013025" cy="6858578"/>
            <a:chOff x="5131542" y="0"/>
            <a:chExt cx="4013025" cy="6858578"/>
          </a:xfrm>
        </p:grpSpPr>
        <p:sp>
          <p:nvSpPr>
            <p:cNvPr id="205" name="Google Shape;205;p14"/>
            <p:cNvSpPr/>
            <p:nvPr/>
          </p:nvSpPr>
          <p:spPr>
            <a:xfrm>
              <a:off x="5131542" y="4182281"/>
              <a:ext cx="4012565" cy="2675890"/>
            </a:xfrm>
            <a:custGeom>
              <a:avLst/>
              <a:gdLst/>
              <a:ahLst/>
              <a:cxnLst/>
              <a:rect l="l" t="t" r="r" b="b"/>
              <a:pathLst>
                <a:path w="4012565" h="2675890" extrusionOk="0">
                  <a:moveTo>
                    <a:pt x="0" y="2675717"/>
                  </a:moveTo>
                  <a:lnTo>
                    <a:pt x="4012456" y="0"/>
                  </a:lnTo>
                </a:path>
              </a:pathLst>
            </a:custGeom>
            <a:noFill/>
            <a:ln w="9525" cap="flat" cmpd="sng">
              <a:solidFill>
                <a:srgbClr val="D9D9D9"/>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6" name="Google Shape;206;p14"/>
            <p:cNvSpPr/>
            <p:nvPr/>
          </p:nvSpPr>
          <p:spPr>
            <a:xfrm>
              <a:off x="7042404" y="0"/>
              <a:ext cx="1219200" cy="6858000"/>
            </a:xfrm>
            <a:custGeom>
              <a:avLst/>
              <a:gdLst/>
              <a:ahLst/>
              <a:cxnLst/>
              <a:rect l="l" t="t" r="r" b="b"/>
              <a:pathLst>
                <a:path w="1219200" h="6858000" extrusionOk="0">
                  <a:moveTo>
                    <a:pt x="0" y="0"/>
                  </a:moveTo>
                  <a:lnTo>
                    <a:pt x="1219200" y="6857999"/>
                  </a:lnTo>
                </a:path>
              </a:pathLst>
            </a:custGeom>
            <a:noFill/>
            <a:ln w="9525" cap="flat" cmpd="sng">
              <a:solidFill>
                <a:srgbClr val="BEBEBE"/>
              </a:solidFill>
              <a:prstDash val="solid"/>
              <a:round/>
              <a:headEnd type="none" w="sm" len="sm"/>
              <a:tailEnd type="none" w="sm" len="sm"/>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7" name="Google Shape;207;p14"/>
            <p:cNvSpPr/>
            <p:nvPr/>
          </p:nvSpPr>
          <p:spPr>
            <a:xfrm>
              <a:off x="6891728" y="0"/>
              <a:ext cx="2252345" cy="6858000"/>
            </a:xfrm>
            <a:custGeom>
              <a:avLst/>
              <a:gdLst/>
              <a:ahLst/>
              <a:cxnLst/>
              <a:rect l="l" t="t" r="r" b="b"/>
              <a:pathLst>
                <a:path w="2252345" h="6858000" extrusionOk="0">
                  <a:moveTo>
                    <a:pt x="2023163" y="0"/>
                  </a:moveTo>
                  <a:lnTo>
                    <a:pt x="0" y="6857998"/>
                  </a:lnTo>
                  <a:lnTo>
                    <a:pt x="2252271" y="6857998"/>
                  </a:lnTo>
                  <a:lnTo>
                    <a:pt x="2252271" y="8226"/>
                  </a:lnTo>
                  <a:lnTo>
                    <a:pt x="2023163" y="0"/>
                  </a:lnTo>
                  <a:close/>
                </a:path>
              </a:pathLst>
            </a:custGeom>
            <a:solidFill>
              <a:srgbClr val="90C225">
                <a:alpha val="2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8" name="Google Shape;208;p14"/>
            <p:cNvSpPr/>
            <p:nvPr/>
          </p:nvSpPr>
          <p:spPr>
            <a:xfrm>
              <a:off x="7207072" y="0"/>
              <a:ext cx="1937385" cy="6858000"/>
            </a:xfrm>
            <a:custGeom>
              <a:avLst/>
              <a:gdLst/>
              <a:ahLst/>
              <a:cxnLst/>
              <a:rect l="l" t="t" r="r" b="b"/>
              <a:pathLst>
                <a:path w="1937384" h="6858000" extrusionOk="0">
                  <a:moveTo>
                    <a:pt x="1936927" y="0"/>
                  </a:moveTo>
                  <a:lnTo>
                    <a:pt x="0" y="0"/>
                  </a:lnTo>
                  <a:lnTo>
                    <a:pt x="1200326" y="6857996"/>
                  </a:lnTo>
                  <a:lnTo>
                    <a:pt x="1936927" y="6857996"/>
                  </a:lnTo>
                  <a:lnTo>
                    <a:pt x="1936927" y="0"/>
                  </a:lnTo>
                  <a:close/>
                </a:path>
              </a:pathLst>
            </a:custGeom>
            <a:solidFill>
              <a:srgbClr val="90C225">
                <a:alpha val="1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09" name="Google Shape;209;p14"/>
            <p:cNvSpPr/>
            <p:nvPr/>
          </p:nvSpPr>
          <p:spPr>
            <a:xfrm>
              <a:off x="6638545" y="3921068"/>
              <a:ext cx="2505710" cy="2937510"/>
            </a:xfrm>
            <a:custGeom>
              <a:avLst/>
              <a:gdLst/>
              <a:ahLst/>
              <a:cxnLst/>
              <a:rect l="l" t="t" r="r" b="b"/>
              <a:pathLst>
                <a:path w="2505709" h="2937509" extrusionOk="0">
                  <a:moveTo>
                    <a:pt x="2505454" y="0"/>
                  </a:moveTo>
                  <a:lnTo>
                    <a:pt x="0" y="2936930"/>
                  </a:lnTo>
                  <a:lnTo>
                    <a:pt x="2505454" y="2936930"/>
                  </a:lnTo>
                  <a:lnTo>
                    <a:pt x="2505454" y="0"/>
                  </a:lnTo>
                  <a:close/>
                </a:path>
              </a:pathLst>
            </a:custGeom>
            <a:solidFill>
              <a:srgbClr val="539F20">
                <a:alpha val="71764"/>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0" name="Google Shape;210;p14"/>
            <p:cNvSpPr/>
            <p:nvPr/>
          </p:nvSpPr>
          <p:spPr>
            <a:xfrm>
              <a:off x="7012872" y="0"/>
              <a:ext cx="2131695" cy="6858000"/>
            </a:xfrm>
            <a:custGeom>
              <a:avLst/>
              <a:gdLst/>
              <a:ahLst/>
              <a:cxnLst/>
              <a:rect l="l" t="t" r="r" b="b"/>
              <a:pathLst>
                <a:path w="2131695" h="6858000" extrusionOk="0">
                  <a:moveTo>
                    <a:pt x="2131127" y="0"/>
                  </a:moveTo>
                  <a:lnTo>
                    <a:pt x="0" y="0"/>
                  </a:lnTo>
                  <a:lnTo>
                    <a:pt x="1854139" y="6857996"/>
                  </a:lnTo>
                  <a:lnTo>
                    <a:pt x="2131127" y="6849802"/>
                  </a:lnTo>
                  <a:lnTo>
                    <a:pt x="2131127" y="0"/>
                  </a:lnTo>
                  <a:close/>
                </a:path>
              </a:pathLst>
            </a:custGeom>
            <a:solidFill>
              <a:srgbClr val="3E7818">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1" name="Google Shape;211;p14"/>
            <p:cNvSpPr/>
            <p:nvPr/>
          </p:nvSpPr>
          <p:spPr>
            <a:xfrm>
              <a:off x="8295132" y="0"/>
              <a:ext cx="848994" cy="6858000"/>
            </a:xfrm>
            <a:custGeom>
              <a:avLst/>
              <a:gdLst/>
              <a:ahLst/>
              <a:cxnLst/>
              <a:rect l="l" t="t" r="r" b="b"/>
              <a:pathLst>
                <a:path w="848995" h="6858000" extrusionOk="0">
                  <a:moveTo>
                    <a:pt x="848867" y="0"/>
                  </a:moveTo>
                  <a:lnTo>
                    <a:pt x="676515" y="0"/>
                  </a:lnTo>
                  <a:lnTo>
                    <a:pt x="0" y="6857996"/>
                  </a:lnTo>
                  <a:lnTo>
                    <a:pt x="848867" y="6857996"/>
                  </a:lnTo>
                  <a:lnTo>
                    <a:pt x="848867" y="0"/>
                  </a:lnTo>
                  <a:close/>
                </a:path>
              </a:pathLst>
            </a:custGeom>
            <a:solidFill>
              <a:srgbClr val="C0E374">
                <a:alpha val="69803"/>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2" name="Google Shape;212;p14"/>
            <p:cNvSpPr/>
            <p:nvPr/>
          </p:nvSpPr>
          <p:spPr>
            <a:xfrm>
              <a:off x="8078450" y="0"/>
              <a:ext cx="1065530" cy="6858000"/>
            </a:xfrm>
            <a:custGeom>
              <a:avLst/>
              <a:gdLst/>
              <a:ahLst/>
              <a:cxnLst/>
              <a:rect l="l" t="t" r="r" b="b"/>
              <a:pathLst>
                <a:path w="1065529" h="6858000" extrusionOk="0">
                  <a:moveTo>
                    <a:pt x="1051063" y="0"/>
                  </a:moveTo>
                  <a:lnTo>
                    <a:pt x="0" y="0"/>
                  </a:lnTo>
                  <a:lnTo>
                    <a:pt x="937406" y="6857996"/>
                  </a:lnTo>
                  <a:lnTo>
                    <a:pt x="1065296" y="6857996"/>
                  </a:lnTo>
                  <a:lnTo>
                    <a:pt x="1065455" y="6654302"/>
                  </a:lnTo>
                  <a:lnTo>
                    <a:pt x="1065405" y="6145234"/>
                  </a:lnTo>
                  <a:lnTo>
                    <a:pt x="1065165" y="5890784"/>
                  </a:lnTo>
                  <a:lnTo>
                    <a:pt x="1064711" y="5585510"/>
                  </a:lnTo>
                  <a:lnTo>
                    <a:pt x="1063982" y="5229435"/>
                  </a:lnTo>
                  <a:lnTo>
                    <a:pt x="1062782" y="4771727"/>
                  </a:lnTo>
                  <a:lnTo>
                    <a:pt x="1060321" y="4009060"/>
                  </a:lnTo>
                  <a:lnTo>
                    <a:pt x="1054930" y="2483906"/>
                  </a:lnTo>
                  <a:lnTo>
                    <a:pt x="1053375" y="1975424"/>
                  </a:lnTo>
                  <a:lnTo>
                    <a:pt x="1052337" y="1568557"/>
                  </a:lnTo>
                  <a:lnTo>
                    <a:pt x="1051624" y="1212471"/>
                  </a:lnTo>
                  <a:lnTo>
                    <a:pt x="1051188" y="907185"/>
                  </a:lnTo>
                  <a:lnTo>
                    <a:pt x="1050963" y="652725"/>
                  </a:lnTo>
                  <a:lnTo>
                    <a:pt x="1050923" y="194553"/>
                  </a:lnTo>
                  <a:lnTo>
                    <a:pt x="1051063" y="0"/>
                  </a:lnTo>
                  <a:close/>
                </a:path>
              </a:pathLst>
            </a:custGeom>
            <a:solidFill>
              <a:srgbClr val="90C225">
                <a:alpha val="64705"/>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213" name="Google Shape;213;p14"/>
            <p:cNvSpPr/>
            <p:nvPr/>
          </p:nvSpPr>
          <p:spPr>
            <a:xfrm>
              <a:off x="8060437" y="4903644"/>
              <a:ext cx="1083945" cy="1954530"/>
            </a:xfrm>
            <a:custGeom>
              <a:avLst/>
              <a:gdLst/>
              <a:ahLst/>
              <a:cxnLst/>
              <a:rect l="l" t="t" r="r" b="b"/>
              <a:pathLst>
                <a:path w="1083945" h="1954529" extrusionOk="0">
                  <a:moveTo>
                    <a:pt x="1083562" y="0"/>
                  </a:moveTo>
                  <a:lnTo>
                    <a:pt x="0" y="1954354"/>
                  </a:lnTo>
                  <a:lnTo>
                    <a:pt x="1083562" y="1949315"/>
                  </a:lnTo>
                  <a:lnTo>
                    <a:pt x="1083562" y="0"/>
                  </a:lnTo>
                  <a:close/>
                </a:path>
              </a:pathLst>
            </a:custGeom>
            <a:solidFill>
              <a:srgbClr val="90C225">
                <a:alpha val="79607"/>
              </a:srgbClr>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panose="020F0502020204030204"/>
                <a:ea typeface="Calibri" panose="020F0502020204030204"/>
                <a:cs typeface="Calibri" panose="020F0502020204030204"/>
                <a:sym typeface="Calibri" panose="020F0502020204030204"/>
              </a:endParaRPr>
            </a:p>
          </p:txBody>
        </p:sp>
      </p:grpSp>
      <p:pic>
        <p:nvPicPr>
          <p:cNvPr id="215" name="Google Shape;215;p14"/>
          <p:cNvPicPr preferRelativeResize="0"/>
          <p:nvPr/>
        </p:nvPicPr>
        <p:blipFill rotWithShape="1">
          <a:blip r:embed="rId1"/>
          <a:srcRect/>
          <a:stretch>
            <a:fillRect/>
          </a:stretch>
        </p:blipFill>
        <p:spPr>
          <a:xfrm>
            <a:off x="8994647" y="83819"/>
            <a:ext cx="1248155" cy="1144524"/>
          </a:xfrm>
          <a:prstGeom prst="rect">
            <a:avLst/>
          </a:prstGeom>
          <a:noFill/>
          <a:ln>
            <a:noFill/>
          </a:ln>
        </p:spPr>
      </p:pic>
      <p:pic>
        <p:nvPicPr>
          <p:cNvPr id="216" name="Google Shape;216;p14"/>
          <p:cNvPicPr preferRelativeResize="0"/>
          <p:nvPr/>
        </p:nvPicPr>
        <p:blipFill rotWithShape="1">
          <a:blip r:embed="rId2"/>
          <a:srcRect/>
          <a:stretch>
            <a:fillRect/>
          </a:stretch>
        </p:blipFill>
        <p:spPr>
          <a:xfrm>
            <a:off x="5316928" y="3011906"/>
            <a:ext cx="1268742" cy="1270253"/>
          </a:xfrm>
          <a:prstGeom prst="rect">
            <a:avLst/>
          </a:prstGeom>
          <a:noFill/>
          <a:ln>
            <a:noFill/>
          </a:ln>
        </p:spPr>
      </p:pic>
      <p:sp>
        <p:nvSpPr>
          <p:cNvPr id="217" name="Google Shape;217;p14"/>
          <p:cNvSpPr txBox="1"/>
          <p:nvPr/>
        </p:nvSpPr>
        <p:spPr>
          <a:xfrm>
            <a:off x="5479541" y="3418459"/>
            <a:ext cx="852805" cy="488950"/>
          </a:xfrm>
          <a:prstGeom prst="rect">
            <a:avLst/>
          </a:prstGeom>
          <a:noFill/>
          <a:ln>
            <a:noFill/>
          </a:ln>
        </p:spPr>
        <p:txBody>
          <a:bodyPr spcFirstLastPara="1" wrap="square" lIns="0" tIns="42525" rIns="0" bIns="0" anchor="t" anchorCtr="0">
            <a:spAutoFit/>
          </a:bodyPr>
          <a:lstStyle/>
          <a:p>
            <a:pPr marL="12700" marR="5080" lvl="0" indent="4445" algn="l" rtl="0">
              <a:lnSpc>
                <a:spcPct val="104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Organizati  onal Goals</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18" name="Google Shape;218;p14"/>
          <p:cNvPicPr preferRelativeResize="0"/>
          <p:nvPr/>
        </p:nvPicPr>
        <p:blipFill rotWithShape="1">
          <a:blip r:embed="rId3"/>
          <a:srcRect/>
          <a:stretch>
            <a:fillRect/>
          </a:stretch>
        </p:blipFill>
        <p:spPr>
          <a:xfrm>
            <a:off x="5690615" y="2272283"/>
            <a:ext cx="429768" cy="525779"/>
          </a:xfrm>
          <a:prstGeom prst="rect">
            <a:avLst/>
          </a:prstGeom>
          <a:noFill/>
          <a:ln>
            <a:noFill/>
          </a:ln>
        </p:spPr>
      </p:pic>
      <p:pic>
        <p:nvPicPr>
          <p:cNvPr id="219" name="Google Shape;219;p14"/>
          <p:cNvPicPr preferRelativeResize="0"/>
          <p:nvPr/>
        </p:nvPicPr>
        <p:blipFill rotWithShape="1">
          <a:blip r:embed="rId4"/>
          <a:srcRect/>
          <a:stretch>
            <a:fillRect/>
          </a:stretch>
        </p:blipFill>
        <p:spPr>
          <a:xfrm>
            <a:off x="5321767" y="1008874"/>
            <a:ext cx="1015746" cy="1015758"/>
          </a:xfrm>
          <a:prstGeom prst="rect">
            <a:avLst/>
          </a:prstGeom>
          <a:noFill/>
          <a:ln>
            <a:noFill/>
          </a:ln>
        </p:spPr>
      </p:pic>
      <p:sp>
        <p:nvSpPr>
          <p:cNvPr id="220" name="Google Shape;220;p14"/>
          <p:cNvSpPr txBox="1"/>
          <p:nvPr/>
        </p:nvSpPr>
        <p:spPr>
          <a:xfrm>
            <a:off x="5420825" y="1058872"/>
            <a:ext cx="665480" cy="680720"/>
          </a:xfrm>
          <a:prstGeom prst="rect">
            <a:avLst/>
          </a:prstGeom>
          <a:noFill/>
          <a:ln>
            <a:noFill/>
          </a:ln>
        </p:spPr>
        <p:txBody>
          <a:bodyPr spcFirstLastPara="1" wrap="square" lIns="0" tIns="12050" rIns="0" bIns="0" anchor="t" anchorCtr="0">
            <a:spAutoFit/>
          </a:bodyPr>
          <a:lstStyle/>
          <a:p>
            <a:pPr marL="12700" marR="5080" lvl="0" indent="1270" algn="ctr" rtl="0">
              <a:lnSpc>
                <a:spcPct val="121000"/>
              </a:lnSpc>
              <a:spcBef>
                <a:spcPts val="0"/>
              </a:spcBef>
              <a:spcAft>
                <a:spcPts val="0"/>
              </a:spcAft>
              <a:buNone/>
            </a:pPr>
            <a:r>
              <a:rPr lang="en-US" sz="1200">
                <a:solidFill>
                  <a:schemeClr val="dk1"/>
                </a:solidFill>
                <a:latin typeface="Trebuchet MS" panose="020B0603020202020204"/>
                <a:ea typeface="Trebuchet MS" panose="020B0603020202020204"/>
                <a:cs typeface="Trebuchet MS" panose="020B0603020202020204"/>
                <a:sym typeface="Trebuchet MS" panose="020B0603020202020204"/>
              </a:rPr>
              <a:t>Human  Resource  Managem</a:t>
            </a:r>
            <a:endParaRPr lang="en-US" sz="12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21" name="Google Shape;221;p14"/>
          <p:cNvSpPr txBox="1"/>
          <p:nvPr/>
        </p:nvSpPr>
        <p:spPr>
          <a:xfrm>
            <a:off x="5781294" y="1700021"/>
            <a:ext cx="248920" cy="19685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a:solidFill>
                  <a:schemeClr val="dk1"/>
                </a:solidFill>
                <a:latin typeface="Trebuchet MS" panose="020B0603020202020204"/>
                <a:ea typeface="Trebuchet MS" panose="020B0603020202020204"/>
                <a:cs typeface="Trebuchet MS" panose="020B0603020202020204"/>
                <a:sym typeface="Trebuchet MS" panose="020B0603020202020204"/>
              </a:rPr>
              <a:t>en</a:t>
            </a:r>
            <a:r>
              <a:rPr lang="en-US" sz="1100">
                <a:solidFill>
                  <a:schemeClr val="dk1"/>
                </a:solidFill>
                <a:latin typeface="Trebuchet MS" panose="020B0603020202020204"/>
                <a:ea typeface="Trebuchet MS" panose="020B0603020202020204"/>
                <a:cs typeface="Trebuchet MS" panose="020B0603020202020204"/>
                <a:sym typeface="Trebuchet MS" panose="020B0603020202020204"/>
              </a:rPr>
              <a:t>t</a:t>
            </a:r>
            <a:endParaRPr sz="11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22" name="Google Shape;222;p14"/>
          <p:cNvPicPr preferRelativeResize="0"/>
          <p:nvPr/>
        </p:nvPicPr>
        <p:blipFill rotWithShape="1">
          <a:blip r:embed="rId5"/>
          <a:srcRect/>
          <a:stretch>
            <a:fillRect/>
          </a:stretch>
        </p:blipFill>
        <p:spPr>
          <a:xfrm>
            <a:off x="6438576" y="1296281"/>
            <a:ext cx="1017282" cy="1015758"/>
          </a:xfrm>
          <a:prstGeom prst="rect">
            <a:avLst/>
          </a:prstGeom>
          <a:noFill/>
          <a:ln>
            <a:noFill/>
          </a:ln>
        </p:spPr>
      </p:pic>
      <p:grpSp>
        <p:nvGrpSpPr>
          <p:cNvPr id="223" name="Google Shape;223;p14"/>
          <p:cNvGrpSpPr/>
          <p:nvPr/>
        </p:nvGrpSpPr>
        <p:grpSpPr>
          <a:xfrm>
            <a:off x="4158502" y="2477218"/>
            <a:ext cx="3070606" cy="3344176"/>
            <a:chOff x="2619755" y="2534666"/>
            <a:chExt cx="3070606" cy="3344176"/>
          </a:xfrm>
        </p:grpSpPr>
        <p:pic>
          <p:nvPicPr>
            <p:cNvPr id="224" name="Google Shape;224;p14"/>
            <p:cNvPicPr preferRelativeResize="0"/>
            <p:nvPr/>
          </p:nvPicPr>
          <p:blipFill rotWithShape="1">
            <a:blip r:embed="rId6"/>
            <a:srcRect/>
            <a:stretch>
              <a:fillRect/>
            </a:stretch>
          </p:blipFill>
          <p:spPr>
            <a:xfrm>
              <a:off x="4776977" y="2534666"/>
              <a:ext cx="461010" cy="501269"/>
            </a:xfrm>
            <a:prstGeom prst="rect">
              <a:avLst/>
            </a:prstGeom>
            <a:noFill/>
            <a:ln>
              <a:noFill/>
            </a:ln>
          </p:spPr>
        </p:pic>
        <p:pic>
          <p:nvPicPr>
            <p:cNvPr id="225" name="Google Shape;225;p14"/>
            <p:cNvPicPr preferRelativeResize="0"/>
            <p:nvPr/>
          </p:nvPicPr>
          <p:blipFill rotWithShape="1">
            <a:blip r:embed="rId7"/>
            <a:srcRect/>
            <a:stretch>
              <a:fillRect/>
            </a:stretch>
          </p:blipFill>
          <p:spPr>
            <a:xfrm>
              <a:off x="5150485" y="3084830"/>
              <a:ext cx="539876" cy="423037"/>
            </a:xfrm>
            <a:prstGeom prst="rect">
              <a:avLst/>
            </a:prstGeom>
            <a:noFill/>
            <a:ln>
              <a:noFill/>
            </a:ln>
          </p:spPr>
        </p:pic>
        <p:pic>
          <p:nvPicPr>
            <p:cNvPr id="226" name="Google Shape;226;p14"/>
            <p:cNvPicPr preferRelativeResize="0"/>
            <p:nvPr/>
          </p:nvPicPr>
          <p:blipFill rotWithShape="1">
            <a:blip r:embed="rId8"/>
            <a:srcRect/>
            <a:stretch>
              <a:fillRect/>
            </a:stretch>
          </p:blipFill>
          <p:spPr>
            <a:xfrm>
              <a:off x="5150485" y="3788155"/>
              <a:ext cx="539876" cy="423163"/>
            </a:xfrm>
            <a:prstGeom prst="rect">
              <a:avLst/>
            </a:prstGeom>
            <a:noFill/>
            <a:ln>
              <a:noFill/>
            </a:ln>
          </p:spPr>
        </p:pic>
        <p:pic>
          <p:nvPicPr>
            <p:cNvPr id="227" name="Google Shape;227;p14"/>
            <p:cNvPicPr preferRelativeResize="0"/>
            <p:nvPr/>
          </p:nvPicPr>
          <p:blipFill rotWithShape="1">
            <a:blip r:embed="rId9"/>
            <a:srcRect/>
            <a:stretch>
              <a:fillRect/>
            </a:stretch>
          </p:blipFill>
          <p:spPr>
            <a:xfrm>
              <a:off x="4776977" y="4260214"/>
              <a:ext cx="461010" cy="501269"/>
            </a:xfrm>
            <a:prstGeom prst="rect">
              <a:avLst/>
            </a:prstGeom>
            <a:noFill/>
            <a:ln>
              <a:noFill/>
            </a:ln>
          </p:spPr>
        </p:pic>
        <p:pic>
          <p:nvPicPr>
            <p:cNvPr id="228" name="Google Shape;228;p14"/>
            <p:cNvPicPr preferRelativeResize="0"/>
            <p:nvPr/>
          </p:nvPicPr>
          <p:blipFill rotWithShape="1">
            <a:blip r:embed="rId10"/>
            <a:srcRect/>
            <a:stretch>
              <a:fillRect/>
            </a:stretch>
          </p:blipFill>
          <p:spPr>
            <a:xfrm>
              <a:off x="4166616" y="4498848"/>
              <a:ext cx="429768" cy="525779"/>
            </a:xfrm>
            <a:prstGeom prst="rect">
              <a:avLst/>
            </a:prstGeom>
            <a:noFill/>
            <a:ln>
              <a:noFill/>
            </a:ln>
          </p:spPr>
        </p:pic>
        <p:pic>
          <p:nvPicPr>
            <p:cNvPr id="229" name="Google Shape;229;p14"/>
            <p:cNvPicPr preferRelativeResize="0"/>
            <p:nvPr/>
          </p:nvPicPr>
          <p:blipFill rotWithShape="1">
            <a:blip r:embed="rId11"/>
            <a:srcRect/>
            <a:stretch>
              <a:fillRect/>
            </a:stretch>
          </p:blipFill>
          <p:spPr>
            <a:xfrm>
              <a:off x="3525011" y="4260214"/>
              <a:ext cx="461010" cy="501269"/>
            </a:xfrm>
            <a:prstGeom prst="rect">
              <a:avLst/>
            </a:prstGeom>
            <a:noFill/>
            <a:ln>
              <a:noFill/>
            </a:ln>
          </p:spPr>
        </p:pic>
        <p:pic>
          <p:nvPicPr>
            <p:cNvPr id="230" name="Google Shape;230;p14"/>
            <p:cNvPicPr preferRelativeResize="0"/>
            <p:nvPr/>
          </p:nvPicPr>
          <p:blipFill rotWithShape="1">
            <a:blip r:embed="rId12"/>
            <a:srcRect/>
            <a:stretch>
              <a:fillRect/>
            </a:stretch>
          </p:blipFill>
          <p:spPr>
            <a:xfrm>
              <a:off x="2619755" y="4861560"/>
              <a:ext cx="1017269" cy="1017282"/>
            </a:xfrm>
            <a:prstGeom prst="rect">
              <a:avLst/>
            </a:prstGeom>
            <a:noFill/>
            <a:ln>
              <a:noFill/>
            </a:ln>
          </p:spPr>
        </p:pic>
      </p:grpSp>
      <p:sp>
        <p:nvSpPr>
          <p:cNvPr id="231" name="Google Shape;231;p14"/>
          <p:cNvSpPr txBox="1"/>
          <p:nvPr/>
        </p:nvSpPr>
        <p:spPr>
          <a:xfrm>
            <a:off x="6545832" y="1634914"/>
            <a:ext cx="594360" cy="488950"/>
          </a:xfrm>
          <a:prstGeom prst="rect">
            <a:avLst/>
          </a:prstGeom>
          <a:noFill/>
          <a:ln>
            <a:noFill/>
          </a:ln>
        </p:spPr>
        <p:txBody>
          <a:bodyPr spcFirstLastPara="1" wrap="square" lIns="0" tIns="42525" rIns="0" bIns="0" anchor="t" anchorCtr="0">
            <a:spAutoFit/>
          </a:bodyPr>
          <a:lstStyle/>
          <a:p>
            <a:pPr marL="90170" marR="5080" lvl="0" indent="-78105" algn="l" rtl="0">
              <a:lnSpc>
                <a:spcPct val="104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Recruit  ment</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32" name="Google Shape;232;p14"/>
          <p:cNvPicPr preferRelativeResize="0"/>
          <p:nvPr/>
        </p:nvPicPr>
        <p:blipFill rotWithShape="1">
          <a:blip r:embed="rId13"/>
          <a:srcRect/>
          <a:stretch>
            <a:fillRect/>
          </a:stretch>
        </p:blipFill>
        <p:spPr>
          <a:xfrm>
            <a:off x="7493889" y="1783158"/>
            <a:ext cx="847670" cy="912845"/>
          </a:xfrm>
          <a:prstGeom prst="rect">
            <a:avLst/>
          </a:prstGeom>
          <a:noFill/>
          <a:ln>
            <a:noFill/>
          </a:ln>
        </p:spPr>
      </p:pic>
      <p:sp>
        <p:nvSpPr>
          <p:cNvPr id="233" name="Google Shape;233;p14"/>
          <p:cNvSpPr txBox="1"/>
          <p:nvPr/>
        </p:nvSpPr>
        <p:spPr>
          <a:xfrm>
            <a:off x="7508458" y="2157581"/>
            <a:ext cx="663575" cy="488950"/>
          </a:xfrm>
          <a:prstGeom prst="rect">
            <a:avLst/>
          </a:prstGeom>
          <a:noFill/>
          <a:ln>
            <a:noFill/>
          </a:ln>
        </p:spPr>
        <p:txBody>
          <a:bodyPr spcFirstLastPara="1" wrap="square" lIns="0" tIns="42525" rIns="0" bIns="0" anchor="t" anchorCtr="0">
            <a:spAutoFit/>
          </a:bodyPr>
          <a:lstStyle/>
          <a:p>
            <a:pPr marL="283845" marR="5080" lvl="0" indent="-271780" algn="l" rtl="0">
              <a:lnSpc>
                <a:spcPct val="104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Selectio  n</a:t>
            </a:r>
            <a:endParaRPr lang="en-US"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34" name="Google Shape;234;p14"/>
          <p:cNvPicPr preferRelativeResize="0"/>
          <p:nvPr/>
        </p:nvPicPr>
        <p:blipFill rotWithShape="1">
          <a:blip r:embed="rId14"/>
          <a:srcRect/>
          <a:stretch>
            <a:fillRect/>
          </a:stretch>
        </p:blipFill>
        <p:spPr>
          <a:xfrm>
            <a:off x="7361374" y="4597976"/>
            <a:ext cx="1017270" cy="1017282"/>
          </a:xfrm>
          <a:prstGeom prst="rect">
            <a:avLst/>
          </a:prstGeom>
          <a:noFill/>
          <a:ln>
            <a:noFill/>
          </a:ln>
        </p:spPr>
      </p:pic>
      <p:sp>
        <p:nvSpPr>
          <p:cNvPr id="235" name="Google Shape;235;p14"/>
          <p:cNvSpPr txBox="1"/>
          <p:nvPr/>
        </p:nvSpPr>
        <p:spPr>
          <a:xfrm>
            <a:off x="7464755" y="4597569"/>
            <a:ext cx="665480" cy="1056005"/>
          </a:xfrm>
          <a:prstGeom prst="rect">
            <a:avLst/>
          </a:prstGeom>
          <a:noFill/>
          <a:ln>
            <a:noFill/>
          </a:ln>
        </p:spPr>
        <p:txBody>
          <a:bodyPr spcFirstLastPara="1" wrap="square" lIns="0" tIns="12700" rIns="0" bIns="0" anchor="t" anchorCtr="0">
            <a:spAutoFit/>
          </a:bodyPr>
          <a:lstStyle/>
          <a:p>
            <a:pPr marL="12700" marR="5080" lvl="0" indent="-635" algn="ctr" rtl="0">
              <a:lnSpc>
                <a:spcPct val="121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Training  And</a:t>
            </a:r>
            <a:endParaRPr lang="en-US" sz="14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5080" lvl="0" indent="0" algn="ctr" rtl="0">
              <a:lnSpc>
                <a:spcPct val="104000"/>
              </a:lnSpc>
              <a:spcBef>
                <a:spcPts val="59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Develop  ment</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36" name="Google Shape;236;p14"/>
          <p:cNvPicPr preferRelativeResize="0"/>
          <p:nvPr/>
        </p:nvPicPr>
        <p:blipFill rotWithShape="1">
          <a:blip r:embed="rId15"/>
          <a:srcRect/>
          <a:stretch>
            <a:fillRect/>
          </a:stretch>
        </p:blipFill>
        <p:spPr>
          <a:xfrm>
            <a:off x="6214264" y="5132893"/>
            <a:ext cx="1017282" cy="1017282"/>
          </a:xfrm>
          <a:prstGeom prst="rect">
            <a:avLst/>
          </a:prstGeom>
          <a:noFill/>
          <a:ln>
            <a:noFill/>
          </a:ln>
        </p:spPr>
      </p:pic>
      <p:sp>
        <p:nvSpPr>
          <p:cNvPr id="237" name="Google Shape;237;p14"/>
          <p:cNvSpPr txBox="1"/>
          <p:nvPr/>
        </p:nvSpPr>
        <p:spPr>
          <a:xfrm>
            <a:off x="6450207" y="5427439"/>
            <a:ext cx="669925" cy="488950"/>
          </a:xfrm>
          <a:prstGeom prst="rect">
            <a:avLst/>
          </a:prstGeom>
          <a:noFill/>
          <a:ln>
            <a:noFill/>
          </a:ln>
        </p:spPr>
        <p:txBody>
          <a:bodyPr spcFirstLastPara="1" wrap="square" lIns="0" tIns="42525" rIns="0" bIns="0" anchor="t" anchorCtr="0">
            <a:spAutoFit/>
          </a:bodyPr>
          <a:lstStyle/>
          <a:p>
            <a:pPr marL="236220" marR="5080" lvl="0" indent="-224155" algn="l" rtl="0">
              <a:lnSpc>
                <a:spcPct val="104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Motivati  on</a:t>
            </a:r>
            <a:endParaRPr lang="en-US"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38" name="Google Shape;238;p14"/>
          <p:cNvPicPr preferRelativeResize="0"/>
          <p:nvPr/>
        </p:nvPicPr>
        <p:blipFill rotWithShape="1">
          <a:blip r:embed="rId16"/>
          <a:srcRect/>
          <a:stretch>
            <a:fillRect/>
          </a:stretch>
        </p:blipFill>
        <p:spPr>
          <a:xfrm>
            <a:off x="5111521" y="5234953"/>
            <a:ext cx="1015746" cy="1017282"/>
          </a:xfrm>
          <a:prstGeom prst="rect">
            <a:avLst/>
          </a:prstGeom>
          <a:noFill/>
          <a:ln>
            <a:noFill/>
          </a:ln>
        </p:spPr>
      </p:pic>
      <p:sp>
        <p:nvSpPr>
          <p:cNvPr id="239" name="Google Shape;239;p14"/>
          <p:cNvSpPr txBox="1"/>
          <p:nvPr/>
        </p:nvSpPr>
        <p:spPr>
          <a:xfrm>
            <a:off x="5183532" y="5340471"/>
            <a:ext cx="666115" cy="1009650"/>
          </a:xfrm>
          <a:prstGeom prst="rect">
            <a:avLst/>
          </a:prstGeom>
          <a:noFill/>
          <a:ln>
            <a:noFill/>
          </a:ln>
        </p:spPr>
        <p:txBody>
          <a:bodyPr spcFirstLastPara="1" wrap="square" lIns="0" tIns="42525" rIns="0" bIns="0" anchor="t" anchorCtr="0">
            <a:spAutoFit/>
          </a:bodyPr>
          <a:lstStyle/>
          <a:p>
            <a:pPr marL="143510" marR="7620" lvl="0" indent="-129540" algn="l" rtl="0">
              <a:lnSpc>
                <a:spcPct val="104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Perform  ance</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234950" marR="5080" lvl="0" indent="-222885" algn="l" rtl="0">
              <a:lnSpc>
                <a:spcPct val="104000"/>
              </a:lnSpc>
              <a:spcBef>
                <a:spcPts val="57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Evaluati  on</a:t>
            </a:r>
            <a:endParaRPr lang="en-US"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40" name="Google Shape;240;p14"/>
          <p:cNvSpPr txBox="1"/>
          <p:nvPr/>
        </p:nvSpPr>
        <p:spPr>
          <a:xfrm>
            <a:off x="4257273" y="4967179"/>
            <a:ext cx="669925" cy="788670"/>
          </a:xfrm>
          <a:prstGeom prst="rect">
            <a:avLst/>
          </a:prstGeom>
          <a:noFill/>
          <a:ln>
            <a:noFill/>
          </a:ln>
        </p:spPr>
        <p:txBody>
          <a:bodyPr spcFirstLastPara="1" wrap="square" lIns="0" tIns="40625" rIns="0" bIns="0" anchor="t" anchorCtr="0">
            <a:spAutoFit/>
          </a:bodyPr>
          <a:lstStyle/>
          <a:p>
            <a:pPr marL="12065" marR="5080" lvl="0" indent="0" algn="ctr" rtl="0">
              <a:lnSpc>
                <a:spcPct val="87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Compen  sation  and  Benefit</a:t>
            </a:r>
            <a:endParaRPr lang="en-US"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grpSp>
        <p:nvGrpSpPr>
          <p:cNvPr id="241" name="Google Shape;241;p14"/>
          <p:cNvGrpSpPr/>
          <p:nvPr/>
        </p:nvGrpSpPr>
        <p:grpSpPr>
          <a:xfrm>
            <a:off x="3101211" y="3850031"/>
            <a:ext cx="1766950" cy="1025398"/>
            <a:chOff x="1845564" y="3788155"/>
            <a:chExt cx="1766950" cy="1025398"/>
          </a:xfrm>
        </p:grpSpPr>
        <p:pic>
          <p:nvPicPr>
            <p:cNvPr id="242" name="Google Shape;242;p14"/>
            <p:cNvPicPr preferRelativeResize="0"/>
            <p:nvPr/>
          </p:nvPicPr>
          <p:blipFill rotWithShape="1">
            <a:blip r:embed="rId17"/>
            <a:srcRect/>
            <a:stretch>
              <a:fillRect/>
            </a:stretch>
          </p:blipFill>
          <p:spPr>
            <a:xfrm>
              <a:off x="3072638" y="3788155"/>
              <a:ext cx="539876" cy="423163"/>
            </a:xfrm>
            <a:prstGeom prst="rect">
              <a:avLst/>
            </a:prstGeom>
            <a:noFill/>
            <a:ln>
              <a:noFill/>
            </a:ln>
          </p:spPr>
        </p:pic>
        <p:pic>
          <p:nvPicPr>
            <p:cNvPr id="243" name="Google Shape;243;p14"/>
            <p:cNvPicPr preferRelativeResize="0"/>
            <p:nvPr/>
          </p:nvPicPr>
          <p:blipFill rotWithShape="1">
            <a:blip r:embed="rId18"/>
            <a:srcRect/>
            <a:stretch>
              <a:fillRect/>
            </a:stretch>
          </p:blipFill>
          <p:spPr>
            <a:xfrm>
              <a:off x="1845564" y="3796271"/>
              <a:ext cx="1017282" cy="1017282"/>
            </a:xfrm>
            <a:prstGeom prst="rect">
              <a:avLst/>
            </a:prstGeom>
            <a:noFill/>
            <a:ln>
              <a:noFill/>
            </a:ln>
          </p:spPr>
        </p:pic>
      </p:grpSp>
      <p:sp>
        <p:nvSpPr>
          <p:cNvPr id="244" name="Google Shape;244;p14"/>
          <p:cNvSpPr txBox="1"/>
          <p:nvPr/>
        </p:nvSpPr>
        <p:spPr>
          <a:xfrm>
            <a:off x="3231130" y="4085398"/>
            <a:ext cx="695325" cy="494665"/>
          </a:xfrm>
          <a:prstGeom prst="rect">
            <a:avLst/>
          </a:prstGeom>
          <a:noFill/>
          <a:ln>
            <a:noFill/>
          </a:ln>
        </p:spPr>
        <p:txBody>
          <a:bodyPr spcFirstLastPara="1" wrap="square" lIns="0" tIns="12700" rIns="0" bIns="0" anchor="t" anchorCtr="0">
            <a:spAutoFit/>
          </a:bodyPr>
          <a:lstStyle/>
          <a:p>
            <a:pPr marL="0" marR="0" lvl="0" indent="0" algn="ctr" rtl="0">
              <a:lnSpc>
                <a:spcPct val="112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Scheduli</a:t>
            </a:r>
            <a:endParaRPr lang="en-US" sz="14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0" marR="0" lvl="0" indent="0" algn="ctr" rtl="0">
              <a:lnSpc>
                <a:spcPct val="112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ng</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grpSp>
        <p:nvGrpSpPr>
          <p:cNvPr id="245" name="Google Shape;245;p14"/>
          <p:cNvGrpSpPr/>
          <p:nvPr/>
        </p:nvGrpSpPr>
        <p:grpSpPr>
          <a:xfrm>
            <a:off x="3163942" y="2405724"/>
            <a:ext cx="1766950" cy="1026807"/>
            <a:chOff x="1845564" y="2481059"/>
            <a:chExt cx="1766950" cy="1026807"/>
          </a:xfrm>
        </p:grpSpPr>
        <p:pic>
          <p:nvPicPr>
            <p:cNvPr id="246" name="Google Shape;246;p14"/>
            <p:cNvPicPr preferRelativeResize="0"/>
            <p:nvPr/>
          </p:nvPicPr>
          <p:blipFill rotWithShape="1">
            <a:blip r:embed="rId19"/>
            <a:srcRect/>
            <a:stretch>
              <a:fillRect/>
            </a:stretch>
          </p:blipFill>
          <p:spPr>
            <a:xfrm>
              <a:off x="3072638" y="3084829"/>
              <a:ext cx="539876" cy="423037"/>
            </a:xfrm>
            <a:prstGeom prst="rect">
              <a:avLst/>
            </a:prstGeom>
            <a:noFill/>
            <a:ln>
              <a:noFill/>
            </a:ln>
          </p:spPr>
        </p:pic>
        <p:pic>
          <p:nvPicPr>
            <p:cNvPr id="247" name="Google Shape;247;p14"/>
            <p:cNvPicPr preferRelativeResize="0"/>
            <p:nvPr/>
          </p:nvPicPr>
          <p:blipFill rotWithShape="1">
            <a:blip r:embed="rId20"/>
            <a:srcRect/>
            <a:stretch>
              <a:fillRect/>
            </a:stretch>
          </p:blipFill>
          <p:spPr>
            <a:xfrm>
              <a:off x="1845564" y="2481059"/>
              <a:ext cx="1017282" cy="1015758"/>
            </a:xfrm>
            <a:prstGeom prst="rect">
              <a:avLst/>
            </a:prstGeom>
            <a:noFill/>
            <a:ln>
              <a:noFill/>
            </a:ln>
          </p:spPr>
        </p:pic>
      </p:grpSp>
      <p:sp>
        <p:nvSpPr>
          <p:cNvPr id="248" name="Google Shape;248;p14"/>
          <p:cNvSpPr txBox="1"/>
          <p:nvPr/>
        </p:nvSpPr>
        <p:spPr>
          <a:xfrm>
            <a:off x="3527551" y="2537536"/>
            <a:ext cx="703580" cy="1020445"/>
          </a:xfrm>
          <a:prstGeom prst="rect">
            <a:avLst/>
          </a:prstGeom>
          <a:noFill/>
          <a:ln>
            <a:noFill/>
          </a:ln>
        </p:spPr>
        <p:txBody>
          <a:bodyPr spcFirstLastPara="1" wrap="square" lIns="0" tIns="13325" rIns="0" bIns="0" anchor="t" anchorCtr="0">
            <a:spAutoFit/>
          </a:bodyPr>
          <a:lstStyle/>
          <a:p>
            <a:pPr marL="0" marR="0" lvl="0" indent="0" algn="ctr" rtl="0">
              <a:lnSpc>
                <a:spcPct val="113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Employe</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0" marR="0" lvl="0" indent="0" algn="ctr" rtl="0">
              <a:lnSpc>
                <a:spcPct val="113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e Union</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24765" marR="17780" lvl="0" indent="0" algn="ctr" rtl="0">
              <a:lnSpc>
                <a:spcPct val="104000"/>
              </a:lnSpc>
              <a:spcBef>
                <a:spcPts val="58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Relation  s</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49" name="Google Shape;249;p14"/>
          <p:cNvPicPr preferRelativeResize="0"/>
          <p:nvPr/>
        </p:nvPicPr>
        <p:blipFill rotWithShape="1">
          <a:blip r:embed="rId21"/>
          <a:srcRect/>
          <a:stretch>
            <a:fillRect/>
          </a:stretch>
        </p:blipFill>
        <p:spPr>
          <a:xfrm>
            <a:off x="5049011" y="2534666"/>
            <a:ext cx="461010" cy="501269"/>
          </a:xfrm>
          <a:prstGeom prst="rect">
            <a:avLst/>
          </a:prstGeom>
          <a:noFill/>
          <a:ln>
            <a:noFill/>
          </a:ln>
        </p:spPr>
      </p:pic>
      <p:pic>
        <p:nvPicPr>
          <p:cNvPr id="250" name="Google Shape;250;p14"/>
          <p:cNvPicPr preferRelativeResize="0"/>
          <p:nvPr/>
        </p:nvPicPr>
        <p:blipFill rotWithShape="1">
          <a:blip r:embed="rId22"/>
          <a:srcRect/>
          <a:stretch>
            <a:fillRect/>
          </a:stretch>
        </p:blipFill>
        <p:spPr>
          <a:xfrm>
            <a:off x="4053290" y="1205720"/>
            <a:ext cx="1017269" cy="1015758"/>
          </a:xfrm>
          <a:prstGeom prst="rect">
            <a:avLst/>
          </a:prstGeom>
          <a:noFill/>
          <a:ln>
            <a:noFill/>
          </a:ln>
        </p:spPr>
      </p:pic>
      <p:sp>
        <p:nvSpPr>
          <p:cNvPr id="251" name="Google Shape;251;p14"/>
          <p:cNvSpPr txBox="1"/>
          <p:nvPr/>
        </p:nvSpPr>
        <p:spPr>
          <a:xfrm>
            <a:off x="4342638" y="1601851"/>
            <a:ext cx="622935" cy="713105"/>
          </a:xfrm>
          <a:prstGeom prst="rect">
            <a:avLst/>
          </a:prstGeom>
          <a:noFill/>
          <a:ln>
            <a:noFill/>
          </a:ln>
        </p:spPr>
        <p:txBody>
          <a:bodyPr spcFirstLastPara="1" wrap="square" lIns="0" tIns="42525" rIns="0" bIns="0" anchor="t" anchorCtr="0">
            <a:spAutoFit/>
          </a:bodyPr>
          <a:lstStyle/>
          <a:p>
            <a:pPr marL="12700" marR="5080" lvl="0" indent="31750" algn="just" rtl="0">
              <a:lnSpc>
                <a:spcPct val="104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Career  Manage  ment</a:t>
            </a:r>
            <a:endParaRPr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
        <p:nvSpPr>
          <p:cNvPr id="252" name="Google Shape;252;p14"/>
          <p:cNvSpPr txBox="1"/>
          <p:nvPr>
            <p:ph type="title"/>
          </p:nvPr>
        </p:nvSpPr>
        <p:spPr>
          <a:xfrm>
            <a:off x="1755140" y="96138"/>
            <a:ext cx="6433185" cy="5969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800"/>
              <a:t>HRM FUNCTIONS </a:t>
            </a:r>
            <a:r>
              <a:rPr lang="en-US" sz="3000"/>
              <a:t>(</a:t>
            </a:r>
            <a:r>
              <a:rPr lang="en-US" sz="3000" i="1">
                <a:latin typeface="Trebuchet MS" panose="020B0603020202020204"/>
                <a:ea typeface="Trebuchet MS" panose="020B0603020202020204"/>
                <a:cs typeface="Trebuchet MS" panose="020B0603020202020204"/>
                <a:sym typeface="Trebuchet MS" panose="020B0603020202020204"/>
              </a:rPr>
              <a:t>SPECS-ME-CTR</a:t>
            </a:r>
            <a:r>
              <a:rPr lang="en-US" sz="3000"/>
              <a:t>)</a:t>
            </a:r>
            <a:endParaRPr sz="3000">
              <a:latin typeface="Trebuchet MS" panose="020B0603020202020204"/>
              <a:ea typeface="Trebuchet MS" panose="020B0603020202020204"/>
              <a:cs typeface="Trebuchet MS" panose="020B0603020202020204"/>
              <a:sym typeface="Trebuchet MS" panose="020B0603020202020204"/>
            </a:endParaRPr>
          </a:p>
        </p:txBody>
      </p:sp>
      <p:sp>
        <p:nvSpPr>
          <p:cNvPr id="253" name="Google Shape;253;p14"/>
          <p:cNvSpPr txBox="1"/>
          <p:nvPr/>
        </p:nvSpPr>
        <p:spPr>
          <a:xfrm>
            <a:off x="5800471" y="6442354"/>
            <a:ext cx="4787265" cy="19685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b="1" i="1">
                <a:solidFill>
                  <a:schemeClr val="dk1"/>
                </a:solidFill>
                <a:latin typeface="Times New Roman" panose="02020603050405020304"/>
                <a:ea typeface="Times New Roman" panose="02020603050405020304"/>
                <a:cs typeface="Times New Roman" panose="02020603050405020304"/>
                <a:sym typeface="Times New Roman" panose="02020603050405020304"/>
              </a:rPr>
              <a:t>Copyright © 2010 by The McGraw-Hill Companies, Inc. All rights reserved.</a:t>
            </a:r>
            <a:endParaRPr sz="120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254" name="Google Shape;254;p14"/>
          <p:cNvPicPr preferRelativeResize="0"/>
          <p:nvPr/>
        </p:nvPicPr>
        <p:blipFill rotWithShape="1">
          <a:blip r:embed="rId13"/>
          <a:srcRect/>
          <a:stretch>
            <a:fillRect/>
          </a:stretch>
        </p:blipFill>
        <p:spPr>
          <a:xfrm>
            <a:off x="7871856" y="2605300"/>
            <a:ext cx="1268742" cy="823700"/>
          </a:xfrm>
          <a:prstGeom prst="rect">
            <a:avLst/>
          </a:prstGeom>
          <a:noFill/>
          <a:ln>
            <a:noFill/>
          </a:ln>
        </p:spPr>
      </p:pic>
      <p:sp>
        <p:nvSpPr>
          <p:cNvPr id="255" name="Google Shape;255;p14"/>
          <p:cNvSpPr txBox="1"/>
          <p:nvPr/>
        </p:nvSpPr>
        <p:spPr>
          <a:xfrm>
            <a:off x="8068474" y="2842390"/>
            <a:ext cx="1080978" cy="713105"/>
          </a:xfrm>
          <a:prstGeom prst="rect">
            <a:avLst/>
          </a:prstGeom>
          <a:noFill/>
          <a:ln>
            <a:noFill/>
          </a:ln>
        </p:spPr>
        <p:txBody>
          <a:bodyPr spcFirstLastPara="1" wrap="square" lIns="0" tIns="42525" rIns="0" bIns="0" anchor="t" anchorCtr="0">
            <a:spAutoFit/>
          </a:bodyPr>
          <a:lstStyle/>
          <a:p>
            <a:pPr marL="283845" marR="5080" lvl="0" indent="-271780" algn="l" rtl="0">
              <a:lnSpc>
                <a:spcPct val="104000"/>
              </a:lnSpc>
              <a:spcBef>
                <a:spcPts val="0"/>
              </a:spcBef>
              <a:spcAft>
                <a:spcPts val="0"/>
              </a:spcAft>
              <a:buNone/>
            </a:pPr>
            <a:r>
              <a:rPr lang="en-US" sz="1400">
                <a:solidFill>
                  <a:schemeClr val="dk1"/>
                </a:solidFill>
                <a:latin typeface="Trebuchet MS" panose="020B0603020202020204"/>
                <a:ea typeface="Trebuchet MS" panose="020B0603020202020204"/>
                <a:cs typeface="Trebuchet MS" panose="020B0603020202020204"/>
                <a:sym typeface="Trebuchet MS" panose="020B0603020202020204"/>
              </a:rPr>
              <a:t>Talent management/</a:t>
            </a:r>
            <a:endParaRPr lang="en-US" sz="14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pic>
        <p:nvPicPr>
          <p:cNvPr id="256" name="Google Shape;256;p14"/>
          <p:cNvPicPr preferRelativeResize="0"/>
          <p:nvPr/>
        </p:nvPicPr>
        <p:blipFill rotWithShape="1">
          <a:blip r:embed="rId13"/>
          <a:srcRect/>
          <a:stretch>
            <a:fillRect/>
          </a:stretch>
        </p:blipFill>
        <p:spPr>
          <a:xfrm>
            <a:off x="8091762" y="3535562"/>
            <a:ext cx="1017270" cy="1015758"/>
          </a:xfrm>
          <a:prstGeom prst="rect">
            <a:avLst/>
          </a:prstGeom>
          <a:noFill/>
          <a:ln>
            <a:noFill/>
          </a:ln>
        </p:spPr>
      </p:pic>
      <p:sp>
        <p:nvSpPr>
          <p:cNvPr id="257" name="Google Shape;257;p14"/>
          <p:cNvSpPr txBox="1"/>
          <p:nvPr/>
        </p:nvSpPr>
        <p:spPr>
          <a:xfrm>
            <a:off x="8078148" y="3699522"/>
            <a:ext cx="1273832" cy="765175"/>
          </a:xfrm>
          <a:prstGeom prst="rect">
            <a:avLst/>
          </a:prstGeom>
          <a:noFill/>
          <a:ln>
            <a:noFill/>
          </a:ln>
        </p:spPr>
        <p:txBody>
          <a:bodyPr spcFirstLastPara="1" wrap="square" lIns="91425" tIns="45700" rIns="91425" bIns="45700" anchor="t" anchorCtr="0">
            <a:spAutoFit/>
          </a:bodyPr>
          <a:lstStyle/>
          <a:p>
            <a:pPr marL="283845" marR="5080" lvl="0" indent="-271780" algn="l" rtl="0">
              <a:lnSpc>
                <a:spcPct val="133000"/>
              </a:lnSpc>
              <a:spcBef>
                <a:spcPts val="0"/>
              </a:spcBef>
              <a:spcAft>
                <a:spcPts val="0"/>
              </a:spcAft>
              <a:buNone/>
            </a:pPr>
            <a:r>
              <a:rPr lang="en-US" sz="1100">
                <a:solidFill>
                  <a:schemeClr val="dk1"/>
                </a:solidFill>
                <a:latin typeface="Trebuchet MS" panose="020B0603020202020204"/>
                <a:ea typeface="Trebuchet MS" panose="020B0603020202020204"/>
                <a:cs typeface="Trebuchet MS" panose="020B0603020202020204"/>
                <a:sym typeface="Trebuchet MS" panose="020B0603020202020204"/>
              </a:rPr>
              <a:t>Equal employment opportunity</a:t>
            </a:r>
            <a:endParaRPr lang="en-US" sz="1100">
              <a:solidFill>
                <a:schemeClr val="dk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262" name="Shape 262"/>
        <p:cNvGrpSpPr/>
        <p:nvPr/>
      </p:nvGrpSpPr>
      <p:grpSpPr>
        <a:xfrm>
          <a:off x="0" y="0"/>
          <a:ext cx="0" cy="0"/>
          <a:chOff x="0" y="0"/>
          <a:chExt cx="0" cy="0"/>
        </a:xfrm>
      </p:grpSpPr>
      <p:sp>
        <p:nvSpPr>
          <p:cNvPr id="263" name="Google Shape;263;p15"/>
          <p:cNvSpPr txBox="1"/>
          <p:nvPr>
            <p:ph type="title"/>
          </p:nvPr>
        </p:nvSpPr>
        <p:spPr>
          <a:xfrm>
            <a:off x="1755140" y="45161"/>
            <a:ext cx="6184265"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RECRUITMENT AND SELECTION</a:t>
            </a:r>
            <a:endParaRPr lang="en-US"/>
          </a:p>
        </p:txBody>
      </p:sp>
      <p:sp>
        <p:nvSpPr>
          <p:cNvPr id="265" name="Google Shape;265;p15"/>
          <p:cNvSpPr txBox="1"/>
          <p:nvPr/>
        </p:nvSpPr>
        <p:spPr>
          <a:xfrm>
            <a:off x="1907540" y="2145537"/>
            <a:ext cx="7113905" cy="3052445"/>
          </a:xfrm>
          <a:prstGeom prst="rect">
            <a:avLst/>
          </a:prstGeom>
          <a:noFill/>
          <a:ln>
            <a:noFill/>
          </a:ln>
        </p:spPr>
        <p:txBody>
          <a:bodyPr spcFirstLastPara="1" wrap="square" lIns="0" tIns="12700" rIns="0" bIns="0" anchor="t" anchorCtr="0">
            <a:spAutoFit/>
          </a:bodyPr>
          <a:lstStyle/>
          <a:p>
            <a:pPr marL="355600" marR="1427480" lvl="0" indent="-342900" algn="l" rtl="0">
              <a:lnSpc>
                <a:spcPct val="100000"/>
              </a:lnSpc>
              <a:spcBef>
                <a:spcPts val="0"/>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During Recruitment and selection, the line manager  describes the qualifications employees need to fill  specific positions.</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Then the human resource team (Staff) takes over.</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355600" marR="1088390" lvl="0" indent="-342900" algn="l" rtl="0">
              <a:lnSpc>
                <a:spcPct val="100000"/>
              </a:lnSpc>
              <a:spcBef>
                <a:spcPts val="995"/>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800">
                <a:solidFill>
                  <a:srgbClr val="404040"/>
                </a:solidFill>
                <a:latin typeface="Trebuchet MS" panose="020B0603020202020204"/>
                <a:ea typeface="Trebuchet MS" panose="020B0603020202020204"/>
                <a:cs typeface="Trebuchet MS" panose="020B0603020202020204"/>
                <a:sym typeface="Trebuchet MS" panose="020B0603020202020204"/>
              </a:rPr>
              <a:t>HR managers sort qualified applicants, conduct initial  screening interviews, administer the appropriate tests  and then refer the best applicants to the line manager,  who interviews and selects the ones he or she wants.</a:t>
            </a:r>
            <a:endParaRPr sz="18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0" marR="0" lvl="0" indent="0" algn="l" rtl="0">
              <a:lnSpc>
                <a:spcPct val="100000"/>
              </a:lnSpc>
              <a:spcBef>
                <a:spcPts val="5"/>
              </a:spcBef>
              <a:spcAft>
                <a:spcPts val="0"/>
              </a:spcAft>
              <a:buNone/>
            </a:pPr>
            <a:endParaRPr sz="175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422400" marR="5080" lvl="0" indent="-342900" algn="l" rtl="0">
              <a:lnSpc>
                <a:spcPct val="134000"/>
              </a:lnSpc>
              <a:spcBef>
                <a:spcPts val="0"/>
              </a:spcBef>
              <a:spcAft>
                <a:spcPts val="0"/>
              </a:spcAft>
              <a:buNone/>
            </a:pPr>
            <a:r>
              <a:rPr lang="en-US" sz="1450">
                <a:solidFill>
                  <a:srgbClr val="90C225"/>
                </a:solidFill>
                <a:latin typeface="Lucida Sans" panose="020B0602030504020204"/>
                <a:ea typeface="Lucida Sans" panose="020B0602030504020204"/>
                <a:cs typeface="Lucida Sans" panose="020B0602030504020204"/>
                <a:sym typeface="Lucida Sans" panose="020B0602030504020204"/>
              </a:rPr>
              <a:t>▶	</a:t>
            </a:r>
            <a:endParaRPr sz="1800">
              <a:solidFill>
                <a:srgbClr val="FF0000"/>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16"/>
          <p:cNvSpPr txBox="1"/>
          <p:nvPr/>
        </p:nvSpPr>
        <p:spPr>
          <a:xfrm>
            <a:off x="1831340" y="1549653"/>
            <a:ext cx="8205470" cy="4676140"/>
          </a:xfrm>
          <a:prstGeom prst="rect">
            <a:avLst/>
          </a:prstGeom>
          <a:noFill/>
          <a:ln>
            <a:noFill/>
          </a:ln>
        </p:spPr>
        <p:txBody>
          <a:bodyPr spcFirstLastPara="1" wrap="square" lIns="0" tIns="12700" rIns="0" bIns="0" anchor="t" anchorCtr="0">
            <a:spAutoFit/>
          </a:bodyPr>
          <a:lstStyle/>
          <a:p>
            <a:pPr marL="352425" marR="173355" lvl="0" indent="-340360" algn="l" rtl="0">
              <a:lnSpc>
                <a:spcPct val="100000"/>
              </a:lnSpc>
              <a:spcBef>
                <a:spcPts val="0"/>
              </a:spcBef>
              <a:spcAft>
                <a:spcPts val="0"/>
              </a:spcAft>
              <a:buClr>
                <a:schemeClr val="dk1"/>
              </a:buClr>
              <a:buSzPts val="2400"/>
              <a:buFont typeface="Arial" panose="020B0604020202020204"/>
              <a:buChar char="•"/>
            </a:pPr>
            <a:r>
              <a:rPr lang="en-US" sz="2400" b="1" i="1">
                <a:solidFill>
                  <a:schemeClr val="dk1"/>
                </a:solidFill>
                <a:latin typeface="Arial" panose="020B0604020202020204"/>
                <a:ea typeface="Arial" panose="020B0604020202020204"/>
                <a:cs typeface="Arial" panose="020B0604020202020204"/>
                <a:sym typeface="Arial" panose="020B0604020202020204"/>
              </a:rPr>
              <a:t>Recruitment </a:t>
            </a:r>
            <a:r>
              <a:rPr lang="en-US" sz="2400" i="1">
                <a:solidFill>
                  <a:schemeClr val="dk1"/>
                </a:solidFill>
                <a:latin typeface="Arial" panose="020B0604020202020204"/>
                <a:ea typeface="Arial" panose="020B0604020202020204"/>
                <a:cs typeface="Arial" panose="020B0604020202020204"/>
                <a:sym typeface="Arial" panose="020B0604020202020204"/>
              </a:rPr>
              <a:t>is the set of activities used to obtain a  sufficient number of the right employees at the right time.</a:t>
            </a:r>
            <a:endParaRPr sz="2400">
              <a:solidFill>
                <a:schemeClr val="dk1"/>
              </a:solidFill>
              <a:latin typeface="Arial" panose="020B0604020202020204"/>
              <a:ea typeface="Arial" panose="020B0604020202020204"/>
              <a:cs typeface="Arial" panose="020B0604020202020204"/>
              <a:sym typeface="Arial" panose="020B0604020202020204"/>
            </a:endParaRPr>
          </a:p>
          <a:p>
            <a:pPr marL="352425" marR="130810" lvl="0" indent="-340360" algn="l" rtl="0">
              <a:lnSpc>
                <a:spcPct val="100000"/>
              </a:lnSpc>
              <a:spcBef>
                <a:spcPts val="1800"/>
              </a:spcBef>
              <a:spcAft>
                <a:spcPts val="0"/>
              </a:spcAft>
              <a:buClr>
                <a:schemeClr val="dk1"/>
              </a:buClr>
              <a:buSzPts val="2400"/>
              <a:buFont typeface="Arial" panose="020B0604020202020204"/>
              <a:buChar char="•"/>
            </a:pPr>
            <a:r>
              <a:rPr lang="en-US" sz="2400" i="1">
                <a:solidFill>
                  <a:schemeClr val="dk1"/>
                </a:solidFill>
                <a:latin typeface="Arial" panose="020B0604020202020204"/>
                <a:ea typeface="Arial" panose="020B0604020202020204"/>
                <a:cs typeface="Arial" panose="020B0604020202020204"/>
                <a:sym typeface="Arial" panose="020B0604020202020204"/>
              </a:rPr>
              <a:t>Recruiting is not an easy task. On the contrary, it become  very challenging for several reasons:</a:t>
            </a:r>
            <a:endParaRPr sz="2400">
              <a:solidFill>
                <a:schemeClr val="dk1"/>
              </a:solidFill>
              <a:latin typeface="Arial" panose="020B0604020202020204"/>
              <a:ea typeface="Arial" panose="020B0604020202020204"/>
              <a:cs typeface="Arial" panose="020B0604020202020204"/>
              <a:sym typeface="Arial" panose="020B0604020202020204"/>
            </a:endParaRPr>
          </a:p>
          <a:p>
            <a:pPr marL="809625" marR="0" lvl="1" indent="-340360" algn="l" rtl="0">
              <a:lnSpc>
                <a:spcPct val="100000"/>
              </a:lnSpc>
              <a:spcBef>
                <a:spcPts val="1800"/>
              </a:spcBef>
              <a:spcAft>
                <a:spcPts val="0"/>
              </a:spcAft>
              <a:buClr>
                <a:schemeClr val="dk1"/>
              </a:buClr>
              <a:buSzPts val="2100"/>
              <a:buFont typeface="Arial" panose="020B0604020202020204"/>
              <a:buChar char="–"/>
            </a:pPr>
            <a:r>
              <a:rPr lang="en-US" sz="2100" b="0" i="1" u="none" strike="noStrike" cap="none">
                <a:solidFill>
                  <a:schemeClr val="dk1"/>
                </a:solidFill>
                <a:latin typeface="Arial" panose="020B0604020202020204"/>
                <a:ea typeface="Arial" panose="020B0604020202020204"/>
                <a:cs typeface="Arial" panose="020B0604020202020204"/>
                <a:sym typeface="Arial" panose="020B0604020202020204"/>
              </a:rPr>
              <a:t>Retaining employees is a challenge</a:t>
            </a: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9625" marR="254000" lvl="1" indent="-340360" algn="l" rtl="0">
              <a:lnSpc>
                <a:spcPct val="100000"/>
              </a:lnSpc>
              <a:spcBef>
                <a:spcPts val="1805"/>
              </a:spcBef>
              <a:spcAft>
                <a:spcPts val="0"/>
              </a:spcAft>
              <a:buClr>
                <a:schemeClr val="dk1"/>
              </a:buClr>
              <a:buSzPts val="2100"/>
              <a:buFont typeface="Arial" panose="020B0604020202020204"/>
              <a:buChar char="–"/>
            </a:pPr>
            <a:r>
              <a:rPr lang="en-US" sz="2100" b="0" i="1" u="none" strike="noStrike" cap="none">
                <a:solidFill>
                  <a:schemeClr val="dk1"/>
                </a:solidFill>
                <a:latin typeface="Arial" panose="020B0604020202020204"/>
                <a:ea typeface="Arial" panose="020B0604020202020204"/>
                <a:cs typeface="Arial" panose="020B0604020202020204"/>
                <a:sym typeface="Arial" panose="020B0604020202020204"/>
              </a:rPr>
              <a:t>It is important to hire people who are not only skilled but also  fit in with the culture and leadership style of the company</a:t>
            </a: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9625" marR="0" lvl="1" indent="-340360" algn="l" rtl="0">
              <a:lnSpc>
                <a:spcPct val="100000"/>
              </a:lnSpc>
              <a:spcBef>
                <a:spcPts val="1800"/>
              </a:spcBef>
              <a:spcAft>
                <a:spcPts val="0"/>
              </a:spcAft>
              <a:buClr>
                <a:schemeClr val="dk1"/>
              </a:buClr>
              <a:buSzPts val="2100"/>
              <a:buFont typeface="Arial" panose="020B0604020202020204"/>
              <a:buChar char="–"/>
            </a:pPr>
            <a:r>
              <a:rPr lang="en-US" sz="2100" b="0" i="1" u="none" strike="noStrike" cap="none">
                <a:solidFill>
                  <a:schemeClr val="dk1"/>
                </a:solidFill>
                <a:latin typeface="Arial" panose="020B0604020202020204"/>
                <a:ea typeface="Arial" panose="020B0604020202020204"/>
                <a:cs typeface="Arial" panose="020B0604020202020204"/>
                <a:sym typeface="Arial" panose="020B0604020202020204"/>
              </a:rPr>
              <a:t>Sometimes people with necessary skills are not available; then</a:t>
            </a:r>
            <a:endParaRPr sz="21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809625" marR="0" lvl="0" indent="0" algn="l" rtl="0">
              <a:lnSpc>
                <a:spcPct val="100000"/>
              </a:lnSpc>
              <a:spcBef>
                <a:spcPts val="0"/>
              </a:spcBef>
              <a:spcAft>
                <a:spcPts val="0"/>
              </a:spcAft>
              <a:buNone/>
            </a:pPr>
            <a:r>
              <a:rPr lang="en-US" sz="2100" i="1">
                <a:solidFill>
                  <a:schemeClr val="dk1"/>
                </a:solidFill>
                <a:latin typeface="Arial" panose="020B0604020202020204"/>
                <a:ea typeface="Arial" panose="020B0604020202020204"/>
                <a:cs typeface="Arial" panose="020B0604020202020204"/>
                <a:sym typeface="Arial" panose="020B0604020202020204"/>
              </a:rPr>
              <a:t>workers must be hired and trained internally</a:t>
            </a:r>
            <a:endParaRPr sz="2100">
              <a:solidFill>
                <a:schemeClr val="dk1"/>
              </a:solidFill>
              <a:latin typeface="Arial" panose="020B0604020202020204"/>
              <a:ea typeface="Arial" panose="020B0604020202020204"/>
              <a:cs typeface="Arial" panose="020B0604020202020204"/>
              <a:sym typeface="Arial" panose="020B0604020202020204"/>
            </a:endParaRPr>
          </a:p>
        </p:txBody>
      </p:sp>
      <p:sp>
        <p:nvSpPr>
          <p:cNvPr id="272" name="Google Shape;272;p16"/>
          <p:cNvSpPr txBox="1"/>
          <p:nvPr>
            <p:ph type="title"/>
          </p:nvPr>
        </p:nvSpPr>
        <p:spPr>
          <a:xfrm>
            <a:off x="1755140" y="45161"/>
            <a:ext cx="2893695"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RECRUITMENT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276" name="Shape 276"/>
        <p:cNvGrpSpPr/>
        <p:nvPr/>
      </p:nvGrpSpPr>
      <p:grpSpPr>
        <a:xfrm>
          <a:off x="0" y="0"/>
          <a:ext cx="0" cy="0"/>
          <a:chOff x="0" y="0"/>
          <a:chExt cx="0" cy="0"/>
        </a:xfrm>
      </p:grpSpPr>
      <p:sp>
        <p:nvSpPr>
          <p:cNvPr id="277" name="Google Shape;277;p17"/>
          <p:cNvSpPr txBox="1"/>
          <p:nvPr>
            <p:ph type="title"/>
          </p:nvPr>
        </p:nvSpPr>
        <p:spPr>
          <a:xfrm>
            <a:off x="1755140" y="45161"/>
            <a:ext cx="3702685"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Employee Sources</a:t>
            </a:r>
            <a:endParaRPr lang="en-US"/>
          </a:p>
        </p:txBody>
      </p:sp>
      <p:pic>
        <p:nvPicPr>
          <p:cNvPr id="278" name="Google Shape;278;p17"/>
          <p:cNvPicPr preferRelativeResize="0"/>
          <p:nvPr/>
        </p:nvPicPr>
        <p:blipFill rotWithShape="1">
          <a:blip r:embed="rId1"/>
          <a:srcRect/>
          <a:stretch>
            <a:fillRect/>
          </a:stretch>
        </p:blipFill>
        <p:spPr>
          <a:xfrm>
            <a:off x="1755140" y="1104900"/>
            <a:ext cx="9803130" cy="57531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283" name="Shape 283"/>
        <p:cNvGrpSpPr/>
        <p:nvPr/>
      </p:nvGrpSpPr>
      <p:grpSpPr>
        <a:xfrm>
          <a:off x="0" y="0"/>
          <a:ext cx="0" cy="0"/>
          <a:chOff x="0" y="0"/>
          <a:chExt cx="0" cy="0"/>
        </a:xfrm>
      </p:grpSpPr>
      <p:sp>
        <p:nvSpPr>
          <p:cNvPr id="284" name="Google Shape;284;p18"/>
          <p:cNvSpPr txBox="1"/>
          <p:nvPr>
            <p:ph type="title"/>
          </p:nvPr>
        </p:nvSpPr>
        <p:spPr>
          <a:xfrm>
            <a:off x="1654251" y="95199"/>
            <a:ext cx="2232660"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SELECTION</a:t>
            </a:r>
            <a:endParaRPr lang="en-US"/>
          </a:p>
        </p:txBody>
      </p:sp>
      <p:sp>
        <p:nvSpPr>
          <p:cNvPr id="285" name="Google Shape;285;p18"/>
          <p:cNvSpPr txBox="1"/>
          <p:nvPr/>
        </p:nvSpPr>
        <p:spPr>
          <a:xfrm>
            <a:off x="1654175" y="1575942"/>
            <a:ext cx="4728845" cy="4985385"/>
          </a:xfrm>
          <a:prstGeom prst="rect">
            <a:avLst/>
          </a:prstGeom>
          <a:noFill/>
          <a:ln>
            <a:noFill/>
          </a:ln>
        </p:spPr>
        <p:txBody>
          <a:bodyPr spcFirstLastPara="1" wrap="square" lIns="0" tIns="38725" rIns="0" bIns="0" anchor="t" anchorCtr="0">
            <a:spAutoFit/>
          </a:bodyPr>
          <a:lstStyle/>
          <a:p>
            <a:pPr marL="352425" marR="19685" lvl="0" indent="-340360" algn="just" rtl="0">
              <a:lnSpc>
                <a:spcPct val="108000"/>
              </a:lnSpc>
              <a:spcBef>
                <a:spcPts val="0"/>
              </a:spcBef>
              <a:spcAft>
                <a:spcPts val="0"/>
              </a:spcAft>
              <a:buNone/>
            </a:pPr>
            <a:r>
              <a:rPr lang="en-US" sz="120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500" i="1">
                <a:solidFill>
                  <a:srgbClr val="404040"/>
                </a:solidFill>
                <a:latin typeface="Trebuchet MS" panose="020B0603020202020204"/>
                <a:ea typeface="Trebuchet MS" panose="020B0603020202020204"/>
                <a:cs typeface="Trebuchet MS" panose="020B0603020202020204"/>
                <a:sym typeface="Trebuchet MS" panose="020B0603020202020204"/>
              </a:rPr>
              <a:t>The process of gathering information and deciding  who should be hired, under legal guidelines, to fit  the needs of the organization and individuals.</a:t>
            </a:r>
            <a:endParaRPr sz="15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12700" marR="0" lvl="0" indent="0" algn="just" rtl="0">
              <a:lnSpc>
                <a:spcPct val="114000"/>
              </a:lnSpc>
              <a:spcBef>
                <a:spcPts val="800"/>
              </a:spcBef>
              <a:spcAft>
                <a:spcPts val="0"/>
              </a:spcAft>
              <a:buNone/>
            </a:pPr>
            <a:r>
              <a:rPr lang="en-US" sz="1200">
                <a:solidFill>
                  <a:srgbClr val="90C225"/>
                </a:solidFill>
                <a:latin typeface="Lucida Sans" panose="020B0602030504020204"/>
                <a:ea typeface="Lucida Sans" panose="020B0602030504020204"/>
                <a:cs typeface="Lucida Sans" panose="020B0602030504020204"/>
                <a:sym typeface="Lucida Sans" panose="020B0602030504020204"/>
              </a:rPr>
              <a:t>▶  </a:t>
            </a:r>
            <a:r>
              <a:rPr lang="en-US" sz="1500" i="1">
                <a:solidFill>
                  <a:srgbClr val="404040"/>
                </a:solidFill>
                <a:latin typeface="Trebuchet MS" panose="020B0603020202020204"/>
                <a:ea typeface="Trebuchet MS" panose="020B0603020202020204"/>
                <a:cs typeface="Trebuchet MS" panose="020B0603020202020204"/>
                <a:sym typeface="Trebuchet MS" panose="020B0603020202020204"/>
              </a:rPr>
              <a:t>Selection &amp; training are extremely expensive</a:t>
            </a:r>
            <a:endParaRPr sz="15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352425" marR="0" lvl="0" indent="0" algn="l" rtl="0">
              <a:lnSpc>
                <a:spcPct val="114000"/>
              </a:lnSpc>
              <a:spcBef>
                <a:spcPts val="0"/>
              </a:spcBef>
              <a:spcAft>
                <a:spcPts val="0"/>
              </a:spcAft>
              <a:buNone/>
            </a:pPr>
            <a:r>
              <a:rPr lang="en-US" sz="1500" i="1">
                <a:solidFill>
                  <a:srgbClr val="404040"/>
                </a:solidFill>
                <a:latin typeface="Trebuchet MS" panose="020B0603020202020204"/>
                <a:ea typeface="Trebuchet MS" panose="020B0603020202020204"/>
                <a:cs typeface="Trebuchet MS" panose="020B0603020202020204"/>
                <a:sym typeface="Trebuchet MS" panose="020B0603020202020204"/>
              </a:rPr>
              <a:t>process.</a:t>
            </a:r>
            <a:endParaRPr sz="15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0" marR="0" lvl="0" indent="0" algn="l" rtl="0">
              <a:lnSpc>
                <a:spcPct val="100000"/>
              </a:lnSpc>
              <a:spcBef>
                <a:spcPts val="0"/>
              </a:spcBef>
              <a:spcAft>
                <a:spcPts val="0"/>
              </a:spcAft>
              <a:buNone/>
            </a:pPr>
            <a:endParaRPr sz="17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0" marR="0" lvl="0" indent="0" algn="l" rtl="0">
              <a:lnSpc>
                <a:spcPct val="100000"/>
              </a:lnSpc>
              <a:spcBef>
                <a:spcPts val="20"/>
              </a:spcBef>
              <a:spcAft>
                <a:spcPts val="0"/>
              </a:spcAft>
              <a:buNone/>
            </a:pPr>
            <a:endParaRPr sz="1300">
              <a:solidFill>
                <a:schemeClr val="dk1"/>
              </a:solidFill>
              <a:latin typeface="Trebuchet MS" panose="020B0603020202020204"/>
              <a:ea typeface="Trebuchet MS" panose="020B0603020202020204"/>
              <a:cs typeface="Trebuchet MS" panose="020B0603020202020204"/>
              <a:sym typeface="Trebuchet MS" panose="020B0603020202020204"/>
            </a:endParaRPr>
          </a:p>
          <a:p>
            <a:pPr marL="317500" marR="0" lvl="0" indent="0" algn="l" rtl="0">
              <a:lnSpc>
                <a:spcPct val="100000"/>
              </a:lnSpc>
              <a:spcBef>
                <a:spcPts val="0"/>
              </a:spcBef>
              <a:spcAft>
                <a:spcPts val="0"/>
              </a:spcAft>
              <a:buNone/>
            </a:pPr>
            <a:r>
              <a:rPr lang="en-US" sz="1600" i="1">
                <a:solidFill>
                  <a:schemeClr val="dk1"/>
                </a:solidFill>
                <a:latin typeface="Arial" panose="020B0604020202020204"/>
                <a:ea typeface="Arial" panose="020B0604020202020204"/>
                <a:cs typeface="Arial" panose="020B0604020202020204"/>
                <a:sym typeface="Arial" panose="020B0604020202020204"/>
              </a:rPr>
              <a:t>SELECTION PROCESSES</a:t>
            </a:r>
            <a:endParaRPr sz="1600">
              <a:solidFill>
                <a:schemeClr val="dk1"/>
              </a:solidFill>
              <a:latin typeface="Arial" panose="020B0604020202020204"/>
              <a:ea typeface="Arial" panose="020B0604020202020204"/>
              <a:cs typeface="Arial" panose="020B0604020202020204"/>
              <a:sym typeface="Arial" panose="020B0604020202020204"/>
            </a:endParaRPr>
          </a:p>
          <a:p>
            <a:pPr marL="317500" marR="5080" lvl="0" indent="0" algn="l" rtl="0">
              <a:lnSpc>
                <a:spcPct val="194000"/>
              </a:lnSpc>
              <a:spcBef>
                <a:spcPts val="0"/>
              </a:spcBef>
              <a:spcAft>
                <a:spcPts val="0"/>
              </a:spcAft>
              <a:buNone/>
            </a:pPr>
            <a:r>
              <a:rPr lang="en-US" sz="1600" i="1">
                <a:solidFill>
                  <a:schemeClr val="dk1"/>
                </a:solidFill>
                <a:latin typeface="Arial" panose="020B0604020202020204"/>
                <a:ea typeface="Arial" panose="020B0604020202020204"/>
                <a:cs typeface="Arial" panose="020B0604020202020204"/>
                <a:sym typeface="Arial" panose="020B0604020202020204"/>
              </a:rPr>
              <a:t>Step 1.Obtaining complete application forms  Step 2.Conducting initial and follow up interviews  Step 3. Giving employment tests</a:t>
            </a:r>
            <a:endParaRPr sz="1600">
              <a:solidFill>
                <a:schemeClr val="dk1"/>
              </a:solidFill>
              <a:latin typeface="Arial" panose="020B0604020202020204"/>
              <a:ea typeface="Arial" panose="020B0604020202020204"/>
              <a:cs typeface="Arial" panose="020B0604020202020204"/>
              <a:sym typeface="Arial" panose="020B0604020202020204"/>
            </a:endParaRPr>
          </a:p>
          <a:p>
            <a:pPr marL="317500" marR="183515" lvl="0" indent="0" algn="just" rtl="0">
              <a:lnSpc>
                <a:spcPct val="194000"/>
              </a:lnSpc>
              <a:spcBef>
                <a:spcPts val="0"/>
              </a:spcBef>
              <a:spcAft>
                <a:spcPts val="0"/>
              </a:spcAft>
              <a:buNone/>
            </a:pPr>
            <a:r>
              <a:rPr lang="en-US" sz="1600" i="1">
                <a:solidFill>
                  <a:schemeClr val="dk1"/>
                </a:solidFill>
                <a:latin typeface="Arial" panose="020B0604020202020204"/>
                <a:ea typeface="Arial" panose="020B0604020202020204"/>
                <a:cs typeface="Arial" panose="020B0604020202020204"/>
                <a:sym typeface="Arial" panose="020B0604020202020204"/>
              </a:rPr>
              <a:t>Step 4. Conducting background investigations  Step 5. Obtaining results from physical exams  Step 6. Establishing trial (probationary) periods</a:t>
            </a:r>
            <a:endParaRPr sz="1600">
              <a:solidFill>
                <a:schemeClr val="dk1"/>
              </a:solidFill>
              <a:latin typeface="Arial" panose="020B0604020202020204"/>
              <a:ea typeface="Arial" panose="020B0604020202020204"/>
              <a:cs typeface="Arial" panose="020B0604020202020204"/>
              <a:sym typeface="Arial" panose="020B0604020202020204"/>
            </a:endParaRPr>
          </a:p>
        </p:txBody>
      </p:sp>
      <p:pic>
        <p:nvPicPr>
          <p:cNvPr id="286" name="Google Shape;286;p18"/>
          <p:cNvPicPr preferRelativeResize="0"/>
          <p:nvPr/>
        </p:nvPicPr>
        <p:blipFill rotWithShape="1">
          <a:blip r:embed="rId1"/>
          <a:srcRect/>
          <a:stretch>
            <a:fillRect/>
          </a:stretch>
        </p:blipFill>
        <p:spPr>
          <a:xfrm>
            <a:off x="7400544" y="1575816"/>
            <a:ext cx="2287524" cy="432968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291" name="Shape 291"/>
        <p:cNvGrpSpPr/>
        <p:nvPr/>
      </p:nvGrpSpPr>
      <p:grpSpPr>
        <a:xfrm>
          <a:off x="0" y="0"/>
          <a:ext cx="0" cy="0"/>
          <a:chOff x="0" y="0"/>
          <a:chExt cx="0" cy="0"/>
        </a:xfrm>
      </p:grpSpPr>
      <p:sp>
        <p:nvSpPr>
          <p:cNvPr id="292" name="Google Shape;292;p19"/>
          <p:cNvSpPr txBox="1"/>
          <p:nvPr/>
        </p:nvSpPr>
        <p:spPr>
          <a:xfrm>
            <a:off x="1831340" y="1513078"/>
            <a:ext cx="6748780" cy="4233545"/>
          </a:xfrm>
          <a:prstGeom prst="rect">
            <a:avLst/>
          </a:prstGeom>
          <a:noFill/>
          <a:ln>
            <a:noFill/>
          </a:ln>
        </p:spPr>
        <p:txBody>
          <a:bodyPr spcFirstLastPara="1" wrap="square" lIns="0" tIns="48875" rIns="0" bIns="0" anchor="t" anchorCtr="0">
            <a:spAutoFit/>
          </a:bodyPr>
          <a:lstStyle/>
          <a:p>
            <a:pPr marL="352425" marR="167640" lvl="0" indent="-340360" algn="l" rtl="0">
              <a:lnSpc>
                <a:spcPct val="90000"/>
              </a:lnSpc>
              <a:spcBef>
                <a:spcPts val="0"/>
              </a:spcBef>
              <a:spcAft>
                <a:spcPts val="0"/>
              </a:spcAft>
              <a:buClr>
                <a:schemeClr val="dk1"/>
              </a:buClr>
              <a:buSzPts val="2400"/>
              <a:buFont typeface="Arial" panose="020B0604020202020204"/>
              <a:buChar char="•"/>
            </a:pPr>
            <a:r>
              <a:rPr lang="en-US" sz="2400">
                <a:solidFill>
                  <a:schemeClr val="dk1"/>
                </a:solidFill>
                <a:latin typeface="Arial" panose="020B0604020202020204"/>
                <a:ea typeface="Arial" panose="020B0604020202020204"/>
                <a:cs typeface="Arial" panose="020B0604020202020204"/>
                <a:sym typeface="Arial" panose="020B0604020202020204"/>
              </a:rPr>
              <a:t>These include part-time workers, temporary  workers, seasonal workers, interns, and co-op  students.</a:t>
            </a:r>
            <a:endParaRPr sz="2400">
              <a:solidFill>
                <a:schemeClr val="dk1"/>
              </a:solidFill>
              <a:latin typeface="Arial" panose="020B0604020202020204"/>
              <a:ea typeface="Arial" panose="020B0604020202020204"/>
              <a:cs typeface="Arial" panose="020B0604020202020204"/>
              <a:sym typeface="Arial" panose="020B0604020202020204"/>
            </a:endParaRPr>
          </a:p>
          <a:p>
            <a:pPr marL="352425" marR="34290" lvl="0" indent="-340360" algn="l" rtl="0">
              <a:lnSpc>
                <a:spcPct val="108000"/>
              </a:lnSpc>
              <a:spcBef>
                <a:spcPts val="40"/>
              </a:spcBef>
              <a:spcAft>
                <a:spcPts val="0"/>
              </a:spcAft>
              <a:buClr>
                <a:schemeClr val="dk1"/>
              </a:buClr>
              <a:buSzPts val="2400"/>
              <a:buFont typeface="Arial" panose="020B0604020202020204"/>
              <a:buChar char="•"/>
            </a:pPr>
            <a:r>
              <a:rPr lang="en-US" sz="2400">
                <a:solidFill>
                  <a:schemeClr val="dk1"/>
                </a:solidFill>
                <a:latin typeface="Arial" panose="020B0604020202020204"/>
                <a:ea typeface="Arial" panose="020B0604020202020204"/>
                <a:cs typeface="Arial" panose="020B0604020202020204"/>
                <a:sym typeface="Arial" panose="020B0604020202020204"/>
              </a:rPr>
              <a:t>Also, they are hired on special cases, i.e, to  temporarily substitute full-timers, or to meet the  peak demand or uncertain economy.</a:t>
            </a:r>
            <a:endParaRPr sz="2400">
              <a:solidFill>
                <a:schemeClr val="dk1"/>
              </a:solidFill>
              <a:latin typeface="Arial" panose="020B0604020202020204"/>
              <a:ea typeface="Arial" panose="020B0604020202020204"/>
              <a:cs typeface="Arial" panose="020B0604020202020204"/>
              <a:sym typeface="Arial" panose="020B0604020202020204"/>
            </a:endParaRPr>
          </a:p>
          <a:p>
            <a:pPr marL="521335" marR="0" lvl="0" indent="-509270" algn="l" rtl="0">
              <a:lnSpc>
                <a:spcPct val="101000"/>
              </a:lnSpc>
              <a:spcBef>
                <a:spcPts val="0"/>
              </a:spcBef>
              <a:spcAft>
                <a:spcPts val="0"/>
              </a:spcAft>
              <a:buClr>
                <a:schemeClr val="dk1"/>
              </a:buClr>
              <a:buSzPts val="2400"/>
              <a:buFont typeface="Arial" panose="020B0604020202020204"/>
              <a:buChar char="•"/>
            </a:pPr>
            <a:r>
              <a:rPr lang="en-US" sz="2400">
                <a:solidFill>
                  <a:schemeClr val="dk1"/>
                </a:solidFill>
                <a:latin typeface="Arial" panose="020B0604020202020204"/>
                <a:ea typeface="Arial" panose="020B0604020202020204"/>
                <a:cs typeface="Arial" panose="020B0604020202020204"/>
                <a:sym typeface="Arial" panose="020B0604020202020204"/>
              </a:rPr>
              <a:t>They do not have the expectation of regular,</a:t>
            </a:r>
            <a:endParaRPr sz="2400">
              <a:solidFill>
                <a:schemeClr val="dk1"/>
              </a:solidFill>
              <a:latin typeface="Arial" panose="020B0604020202020204"/>
              <a:ea typeface="Arial" panose="020B0604020202020204"/>
              <a:cs typeface="Arial" panose="020B0604020202020204"/>
              <a:sym typeface="Arial" panose="020B0604020202020204"/>
            </a:endParaRPr>
          </a:p>
          <a:p>
            <a:pPr marL="352425" marR="5080" lvl="0" indent="0" algn="l" rtl="0">
              <a:lnSpc>
                <a:spcPct val="108000"/>
              </a:lnSpc>
              <a:spcBef>
                <a:spcPts val="185"/>
              </a:spcBef>
              <a:spcAft>
                <a:spcPts val="0"/>
              </a:spcAft>
              <a:buNone/>
            </a:pPr>
            <a:r>
              <a:rPr lang="en-US" sz="2400">
                <a:solidFill>
                  <a:schemeClr val="dk1"/>
                </a:solidFill>
                <a:latin typeface="Arial" panose="020B0604020202020204"/>
                <a:ea typeface="Arial" panose="020B0604020202020204"/>
                <a:cs typeface="Arial" panose="020B0604020202020204"/>
                <a:sym typeface="Arial" panose="020B0604020202020204"/>
              </a:rPr>
              <a:t>full-time employment.	Contingent workers  receive FEW BENEFITS and EARN LESS than  permanent workers do.</a:t>
            </a:r>
            <a:endParaRPr sz="2400">
              <a:solidFill>
                <a:schemeClr val="dk1"/>
              </a:solidFill>
              <a:latin typeface="Arial" panose="020B0604020202020204"/>
              <a:ea typeface="Arial" panose="020B0604020202020204"/>
              <a:cs typeface="Arial" panose="020B0604020202020204"/>
              <a:sym typeface="Arial" panose="020B0604020202020204"/>
            </a:endParaRPr>
          </a:p>
          <a:p>
            <a:pPr marL="431800" marR="0" lvl="0" indent="-419100" algn="l" rtl="0">
              <a:lnSpc>
                <a:spcPct val="107000"/>
              </a:lnSpc>
              <a:spcBef>
                <a:spcPts val="0"/>
              </a:spcBef>
              <a:spcAft>
                <a:spcPts val="0"/>
              </a:spcAft>
              <a:buClr>
                <a:schemeClr val="dk1"/>
              </a:buClr>
              <a:buSzPts val="2400"/>
              <a:buFont typeface="Arial" panose="020B0604020202020204"/>
              <a:buChar char="•"/>
            </a:pPr>
            <a:r>
              <a:rPr lang="en-US" sz="2400">
                <a:solidFill>
                  <a:schemeClr val="dk1"/>
                </a:solidFill>
                <a:latin typeface="Arial" panose="020B0604020202020204"/>
                <a:ea typeface="Arial" panose="020B0604020202020204"/>
                <a:cs typeface="Arial" panose="020B0604020202020204"/>
                <a:sym typeface="Arial" panose="020B0604020202020204"/>
              </a:rPr>
              <a:t>They are usually highly PRODUCTIVE.</a:t>
            </a:r>
            <a:endParaRPr sz="2400">
              <a:solidFill>
                <a:schemeClr val="dk1"/>
              </a:solidFill>
              <a:latin typeface="Arial" panose="020B0604020202020204"/>
              <a:ea typeface="Arial" panose="020B0604020202020204"/>
              <a:cs typeface="Arial" panose="020B0604020202020204"/>
              <a:sym typeface="Arial" panose="020B0604020202020204"/>
            </a:endParaRPr>
          </a:p>
        </p:txBody>
      </p:sp>
      <p:sp>
        <p:nvSpPr>
          <p:cNvPr id="294" name="Google Shape;294;p19"/>
          <p:cNvSpPr txBox="1"/>
          <p:nvPr>
            <p:ph type="title"/>
          </p:nvPr>
        </p:nvSpPr>
        <p:spPr>
          <a:xfrm>
            <a:off x="1755140" y="45161"/>
            <a:ext cx="6120130" cy="13665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a:t>HIRING CONTINGENT WORKER</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10" name="Shape 410"/>
        <p:cNvGrpSpPr/>
        <p:nvPr/>
      </p:nvGrpSpPr>
      <p:grpSpPr>
        <a:xfrm>
          <a:off x="0" y="0"/>
          <a:ext cx="0" cy="0"/>
          <a:chOff x="0" y="0"/>
          <a:chExt cx="0" cy="0"/>
        </a:xfrm>
      </p:grpSpPr>
      <p:pic>
        <p:nvPicPr>
          <p:cNvPr id="411" name="Google Shape;411;p34"/>
          <p:cNvPicPr preferRelativeResize="0"/>
          <p:nvPr/>
        </p:nvPicPr>
        <p:blipFill rotWithShape="1">
          <a:blip r:embed="rId1"/>
          <a:srcRect/>
          <a:stretch>
            <a:fillRect/>
          </a:stretch>
        </p:blipFill>
        <p:spPr>
          <a:xfrm>
            <a:off x="3124200" y="1219200"/>
            <a:ext cx="4114800" cy="3784092"/>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5126</Words>
  <Application>WPS Presentation</Application>
  <PresentationFormat>Widescreen</PresentationFormat>
  <Paragraphs>145</Paragraphs>
  <Slides>13</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13</vt:i4>
      </vt:variant>
    </vt:vector>
  </HeadingPairs>
  <TitlesOfParts>
    <vt:vector size="29" baseType="lpstr">
      <vt:lpstr>Arial</vt:lpstr>
      <vt:lpstr>SimSun</vt:lpstr>
      <vt:lpstr>Wingdings</vt:lpstr>
      <vt:lpstr>Calibri</vt:lpstr>
      <vt:lpstr>Noto Sans Symbols</vt:lpstr>
      <vt:lpstr>Segoe Print</vt:lpstr>
      <vt:lpstr>Tahoma</vt:lpstr>
      <vt:lpstr>Times New Roman</vt:lpstr>
      <vt:lpstr>Lucida Sans</vt:lpstr>
      <vt:lpstr>Trebuchet MS</vt:lpstr>
      <vt:lpstr>Arial</vt:lpstr>
      <vt:lpstr>Calibri Light</vt:lpstr>
      <vt:lpstr>Microsoft YaHei</vt:lpstr>
      <vt:lpstr>Arial Unicode MS</vt:lpstr>
      <vt:lpstr>Calibri</vt:lpstr>
      <vt:lpstr>Office Theme</vt:lpstr>
      <vt:lpstr>Week-5 Session-1</vt:lpstr>
      <vt:lpstr>WHAT IS HRM ?</vt:lpstr>
      <vt:lpstr>SOME	MAJOR HR CHALLENGES</vt:lpstr>
      <vt:lpstr>Some HR Concepts</vt:lpstr>
      <vt:lpstr>WHAT IS AN HRM MANAGER?</vt:lpstr>
      <vt:lpstr>ROLES OF AN HRM MANAGER</vt:lpstr>
      <vt:lpstr>HRM FUNCTIONS (SPECS-ME-CTR)</vt:lpstr>
      <vt:lpstr>RECRUITMENT AND SELECTION</vt:lpstr>
      <vt:lpstr>RECRUITMENT</vt:lpstr>
      <vt:lpstr>Employee Sources</vt:lpstr>
      <vt:lpstr>SELECTION</vt:lpstr>
      <vt:lpstr>HIRING CONTINGENT WORKER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Week-5 Session-1</dc:title>
  <dc:creator>User</dc:creator>
  <cp:lastModifiedBy>Zoeb-Ur- Rahman</cp:lastModifiedBy>
  <cp:revision>8</cp:revision>
  <dcterms:created xsi:type="dcterms:W3CDTF">2024-07-01T17:54:00Z</dcterms:created>
  <dcterms:modified xsi:type="dcterms:W3CDTF">2024-11-17T12:31:01Z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0B0B172BE631423F952A9DF7BDA5D49F_13</vt:lpwstr>
  </property>
  <property fmtid="{D5CDD505-2E9C-101B-9397-08002B2CF9AE}" pid="3" name="KSOProductBuildVer">
    <vt:lpwstr>1033-12.2.0.18911</vt:lpwstr>
  </property>
</Properties>
</file>