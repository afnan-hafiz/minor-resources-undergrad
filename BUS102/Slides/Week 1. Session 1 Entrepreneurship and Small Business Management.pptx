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r>
              <a:rPr lang="en-US"/>
              <a:t>Week 1 </a:t>
            </a:r>
            <a:br>
              <a:rPr lang="en-US"/>
            </a:br>
            <a:r>
              <a:rPr lang="en-US"/>
              <a:t>Session 1</a:t>
            </a:r>
            <a:endParaRPr lang="en-US"/>
          </a:p>
        </p:txBody>
      </p:sp>
      <p:sp>
        <p:nvSpPr>
          <p:cNvPr id="3" name="Subtitle 2"/>
          <p:cNvSpPr>
            <a:spLocks noGrp="1"/>
          </p:cNvSpPr>
          <p:nvPr>
            <p:ph type="subTitle" idx="1"/>
          </p:nvPr>
        </p:nvSpPr>
        <p:spPr/>
        <p:txBody>
          <a:bodyPr/>
          <a:p>
            <a:r>
              <a:rPr lang="en-US"/>
              <a:t>Entrepreneurship and Small Business Management</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p:txBody>
          <a:bodyPr>
            <a:normAutofit/>
          </a:bodyPr>
          <a:p>
            <a:r>
              <a:rPr lang="en-US">
                <a:sym typeface="+mn-ea"/>
              </a:rPr>
              <a:t>WHAT is ENTREPRENEURSHIP?• </a:t>
            </a:r>
            <a:endParaRPr lang="en-US"/>
          </a:p>
        </p:txBody>
      </p:sp>
      <p:sp>
        <p:nvSpPr>
          <p:cNvPr id="5" name="Subtitle 4"/>
          <p:cNvSpPr>
            <a:spLocks noGrp="1"/>
          </p:cNvSpPr>
          <p:nvPr>
            <p:ph type="subTitle" idx="1"/>
          </p:nvPr>
        </p:nvSpPr>
        <p:spPr/>
        <p:txBody>
          <a:bodyPr/>
          <a:p>
            <a:r>
              <a:rPr lang="en-US">
                <a:sym typeface="+mn-ea"/>
              </a:rPr>
              <a:t>Entrepreneurship </a:t>
            </a:r>
            <a:r>
              <a:rPr lang="en-US">
                <a:sym typeface="+mn-ea"/>
              </a:rPr>
              <a:t> – • Accepting the risk of starting and running a </a:t>
            </a:r>
            <a:endParaRPr lang="en-US"/>
          </a:p>
          <a:p>
            <a:r>
              <a:rPr lang="en-US">
                <a:sym typeface="+mn-ea"/>
              </a:rPr>
              <a:t>business.</a:t>
            </a:r>
            <a:endParaRPr lang="en-US"/>
          </a:p>
        </p:txBody>
      </p:sp>
      <p:sp>
        <p:nvSpPr>
          <p:cNvPr id="6" name="Text Box 5"/>
          <p:cNvSpPr txBox="1"/>
          <p:nvPr/>
        </p:nvSpPr>
        <p:spPr>
          <a:xfrm>
            <a:off x="1024890" y="2738120"/>
            <a:ext cx="6096000" cy="368300"/>
          </a:xfrm>
          <a:prstGeom prst="rect">
            <a:avLst/>
          </a:prstGeom>
          <a:noFill/>
        </p:spPr>
        <p:txBody>
          <a:bodyPr wrap="square" rtlCol="0" anchor="t">
            <a:spAutoFit/>
          </a:bodyPr>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normAutofit/>
          </a:bodyPr>
          <a:p>
            <a:r>
              <a:rPr lang="en-US" sz="4000" b="1"/>
              <a:t>Who is an entrepreneur?</a:t>
            </a:r>
            <a:endParaRPr lang="en-US" sz="4000" b="1"/>
          </a:p>
        </p:txBody>
      </p:sp>
      <p:sp>
        <p:nvSpPr>
          <p:cNvPr id="5" name="Content Placeholder 4"/>
          <p:cNvSpPr>
            <a:spLocks noGrp="1"/>
          </p:cNvSpPr>
          <p:nvPr>
            <p:ph idx="1"/>
          </p:nvPr>
        </p:nvSpPr>
        <p:spPr/>
        <p:txBody>
          <a:bodyPr>
            <a:normAutofit lnSpcReduction="20000"/>
          </a:bodyPr>
          <a:p>
            <a:pPr marL="0" indent="0">
              <a:buFont typeface="Arial" panose="020B0604020202020204" pitchFamily="34" charset="0"/>
              <a:buNone/>
            </a:pPr>
            <a:r>
              <a:rPr lang="en-US">
                <a:sym typeface="+mn-ea"/>
              </a:rPr>
              <a:t>Why entrepreneurship?</a:t>
            </a:r>
            <a:endParaRPr lang="en-US"/>
          </a:p>
          <a:p>
            <a:pPr marL="342900" indent="-342900">
              <a:buFont typeface="Arial" panose="020B0604020202020204" pitchFamily="34" charset="0"/>
              <a:buChar char="•"/>
            </a:pPr>
            <a:r>
              <a:rPr lang="en-US">
                <a:sym typeface="+mn-ea"/>
              </a:rPr>
              <a:t>Process of creating something different, with value, by devoting necessary time and effort, by assuming the accompanying financial, psychological, and social risks, and receiving the resulting rewards of monetary and personal satisfaction (Bowen and H isrich, 1986).</a:t>
            </a:r>
            <a:endParaRPr lang="en-US"/>
          </a:p>
          <a:p>
            <a:pPr marL="342900" indent="-342900">
              <a:buFont typeface="Arial" panose="020B0604020202020204" pitchFamily="34" charset="0"/>
              <a:buChar char="•"/>
            </a:pPr>
            <a:endParaRPr lang="en-GB" altLang="en-US"/>
          </a:p>
        </p:txBody>
      </p:sp>
      <p:sp>
        <p:nvSpPr>
          <p:cNvPr id="6" name="Text Placeholder 5"/>
          <p:cNvSpPr>
            <a:spLocks noGrp="1"/>
          </p:cNvSpPr>
          <p:nvPr>
            <p:ph type="body" sz="half" idx="2"/>
          </p:nvPr>
        </p:nvSpPr>
        <p:spPr>
          <a:xfrm>
            <a:off x="840105" y="2057400"/>
            <a:ext cx="4218305" cy="4644390"/>
          </a:xfrm>
        </p:spPr>
        <p:txBody>
          <a:bodyPr>
            <a:noAutofit/>
          </a:bodyPr>
          <a:p>
            <a:pPr marL="342900" indent="-342900">
              <a:buFont typeface="Arial" panose="020B0604020202020204" pitchFamily="34" charset="0"/>
              <a:buChar char="•"/>
            </a:pPr>
            <a:r>
              <a:rPr lang="en-US" sz="2400">
                <a:sym typeface="+mn-ea"/>
              </a:rPr>
              <a:t> Person conducting own business (Webster)</a:t>
            </a:r>
            <a:r>
              <a:rPr lang="en-GB" altLang="en-US" sz="2400">
                <a:sym typeface="+mn-ea"/>
              </a:rPr>
              <a:t>.</a:t>
            </a:r>
            <a:endParaRPr lang="en-GB" altLang="en-US" sz="2400"/>
          </a:p>
          <a:p>
            <a:pPr marL="342900" indent="-342900">
              <a:buFont typeface="Arial" panose="020B0604020202020204" pitchFamily="34" charset="0"/>
              <a:buChar char="•"/>
            </a:pPr>
            <a:r>
              <a:rPr lang="en-GB" altLang="en-US" sz="2400">
                <a:sym typeface="+mn-ea"/>
              </a:rPr>
              <a:t>Person who sets up business deals in order to make profits (Collins </a:t>
            </a:r>
            <a:endParaRPr lang="en-GB" altLang="en-US" sz="2400"/>
          </a:p>
          <a:p>
            <a:r>
              <a:rPr lang="en-GB" altLang="en-US" sz="2400">
                <a:sym typeface="+mn-ea"/>
              </a:rPr>
              <a:t>Cobuild)</a:t>
            </a:r>
            <a:endParaRPr lang="en-GB" altLang="en-US" sz="2400"/>
          </a:p>
          <a:p>
            <a:r>
              <a:rPr lang="en-GB" altLang="en-US" sz="2400">
                <a:sym typeface="+mn-ea"/>
              </a:rPr>
              <a:t>• Organizer of an economic venture, one who owns, organizes, </a:t>
            </a:r>
            <a:endParaRPr lang="en-GB" altLang="en-US" sz="2400"/>
          </a:p>
          <a:p>
            <a:r>
              <a:rPr lang="en-GB" altLang="en-US" sz="2400">
                <a:sym typeface="+mn-ea"/>
              </a:rPr>
              <a:t>manages, and assumes the risks of the business (Chandrashekhar)</a:t>
            </a:r>
            <a:endParaRPr lang="en-GB" altLang="en-US" sz="2400"/>
          </a:p>
          <a:p>
            <a:endParaRPr lang="en-GB" altLang="en-US"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a:xfrm>
            <a:off x="1524000" y="1122680"/>
            <a:ext cx="9144000" cy="1168400"/>
          </a:xfrm>
        </p:spPr>
        <p:txBody>
          <a:bodyPr/>
          <a:p>
            <a:r>
              <a:rPr lang="en-US">
                <a:sym typeface="+mn-ea"/>
              </a:rPr>
              <a:t>Role of the Entrepreneur</a:t>
            </a:r>
            <a:endParaRPr lang="en-US"/>
          </a:p>
        </p:txBody>
      </p:sp>
      <p:sp>
        <p:nvSpPr>
          <p:cNvPr id="5" name="Subtitle 4"/>
          <p:cNvSpPr>
            <a:spLocks noGrp="1"/>
          </p:cNvSpPr>
          <p:nvPr>
            <p:ph type="subTitle" idx="1"/>
          </p:nvPr>
        </p:nvSpPr>
        <p:spPr>
          <a:xfrm>
            <a:off x="1524000" y="2139315"/>
            <a:ext cx="9144000" cy="3118485"/>
          </a:xfrm>
        </p:spPr>
        <p:txBody>
          <a:bodyPr>
            <a:normAutofit/>
          </a:bodyPr>
          <a:p>
            <a:r>
              <a:rPr lang="en-US"/>
              <a:t>•An innovator who combines technical innovations and </a:t>
            </a:r>
            <a:endParaRPr lang="en-US"/>
          </a:p>
          <a:p>
            <a:r>
              <a:rPr lang="en-US"/>
              <a:t>financial finesses. Important role in producing </a:t>
            </a:r>
            <a:endParaRPr lang="en-US"/>
          </a:p>
          <a:p>
            <a:r>
              <a:rPr lang="en-US"/>
              <a:t>competitive products, processes, and services. </a:t>
            </a:r>
            <a:endParaRPr lang="en-US"/>
          </a:p>
          <a:p>
            <a:r>
              <a:rPr lang="en-US"/>
              <a:t>Generation of new employment Local and regional </a:t>
            </a:r>
            <a:endParaRPr lang="en-US"/>
          </a:p>
          <a:p>
            <a:r>
              <a:rPr lang="en-US"/>
              <a:t>economic development Improved allocation of </a:t>
            </a:r>
            <a:endParaRPr lang="en-US"/>
          </a:p>
          <a:p>
            <a:r>
              <a:rPr lang="en-US"/>
              <a:t>resources and transfer of technologies</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1524000" y="809625"/>
            <a:ext cx="9144000" cy="52387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Famous Entrepreneurs –  Bangladesh</a:t>
            </a:r>
            <a:endParaRPr lang="en-US"/>
          </a:p>
        </p:txBody>
      </p:sp>
      <p:pic>
        <p:nvPicPr>
          <p:cNvPr id="3" name="Picture 2"/>
          <p:cNvPicPr>
            <a:picLocks noChangeAspect="1"/>
          </p:cNvPicPr>
          <p:nvPr/>
        </p:nvPicPr>
        <p:blipFill>
          <a:blip r:embed="rId1"/>
          <a:stretch>
            <a:fillRect/>
          </a:stretch>
        </p:blipFill>
        <p:spPr>
          <a:xfrm>
            <a:off x="1364615" y="1295400"/>
            <a:ext cx="1543050" cy="2162175"/>
          </a:xfrm>
          <a:prstGeom prst="rect">
            <a:avLst/>
          </a:prstGeom>
        </p:spPr>
      </p:pic>
      <p:sp>
        <p:nvSpPr>
          <p:cNvPr id="4" name="Text Box 3"/>
          <p:cNvSpPr txBox="1"/>
          <p:nvPr/>
        </p:nvSpPr>
        <p:spPr>
          <a:xfrm>
            <a:off x="1268730" y="3484880"/>
            <a:ext cx="1950720" cy="368300"/>
          </a:xfrm>
          <a:prstGeom prst="rect">
            <a:avLst/>
          </a:prstGeom>
          <a:noFill/>
        </p:spPr>
        <p:txBody>
          <a:bodyPr wrap="square" rtlCol="0" anchor="t">
            <a:spAutoFit/>
          </a:bodyPr>
          <a:p>
            <a:r>
              <a:rPr lang="en-US"/>
              <a:t>Muhammad Yunus</a:t>
            </a:r>
            <a:endParaRPr lang="en-US"/>
          </a:p>
        </p:txBody>
      </p:sp>
      <p:pic>
        <p:nvPicPr>
          <p:cNvPr id="5" name="Picture 4"/>
          <p:cNvPicPr>
            <a:picLocks noChangeAspect="1"/>
          </p:cNvPicPr>
          <p:nvPr/>
        </p:nvPicPr>
        <p:blipFill>
          <a:blip r:embed="rId2"/>
          <a:stretch>
            <a:fillRect/>
          </a:stretch>
        </p:blipFill>
        <p:spPr>
          <a:xfrm>
            <a:off x="2907665" y="1831340"/>
            <a:ext cx="5709285" cy="3811905"/>
          </a:xfrm>
          <a:prstGeom prst="rect">
            <a:avLst/>
          </a:prstGeom>
        </p:spPr>
      </p:pic>
      <p:pic>
        <p:nvPicPr>
          <p:cNvPr id="6" name="Picture 5"/>
          <p:cNvPicPr>
            <a:picLocks noChangeAspect="1"/>
          </p:cNvPicPr>
          <p:nvPr/>
        </p:nvPicPr>
        <p:blipFill>
          <a:blip r:embed="rId3"/>
          <a:stretch>
            <a:fillRect/>
          </a:stretch>
        </p:blipFill>
        <p:spPr>
          <a:xfrm>
            <a:off x="8616950" y="1295400"/>
            <a:ext cx="2379980" cy="2809875"/>
          </a:xfrm>
          <a:prstGeom prst="rect">
            <a:avLst/>
          </a:prstGeom>
        </p:spPr>
      </p:pic>
      <p:sp>
        <p:nvSpPr>
          <p:cNvPr id="7" name="Text Box 6"/>
          <p:cNvSpPr txBox="1"/>
          <p:nvPr/>
        </p:nvSpPr>
        <p:spPr>
          <a:xfrm>
            <a:off x="8616950" y="4105275"/>
            <a:ext cx="2622550" cy="397510"/>
          </a:xfrm>
          <a:prstGeom prst="rect">
            <a:avLst/>
          </a:prstGeom>
          <a:noFill/>
        </p:spPr>
        <p:txBody>
          <a:bodyPr wrap="square" rtlCol="0" anchor="t">
            <a:noAutofit/>
          </a:bodyPr>
          <a:p>
            <a:r>
              <a:rPr lang="en-US"/>
              <a:t>Fazle Hasan Abed</a:t>
            </a:r>
            <a:endParaRPr lang="en-US"/>
          </a:p>
        </p:txBody>
      </p:sp>
      <p:pic>
        <p:nvPicPr>
          <p:cNvPr id="8" name="Picture 7"/>
          <p:cNvPicPr>
            <a:picLocks noChangeAspect="1"/>
          </p:cNvPicPr>
          <p:nvPr/>
        </p:nvPicPr>
        <p:blipFill>
          <a:blip r:embed="rId4"/>
          <a:stretch>
            <a:fillRect/>
          </a:stretch>
        </p:blipFill>
        <p:spPr>
          <a:xfrm>
            <a:off x="1183005" y="4105275"/>
            <a:ext cx="1724660" cy="2172970"/>
          </a:xfrm>
          <a:prstGeom prst="rect">
            <a:avLst/>
          </a:prstGeom>
        </p:spPr>
      </p:pic>
      <p:sp>
        <p:nvSpPr>
          <p:cNvPr id="9" name="Text Box 8"/>
          <p:cNvSpPr txBox="1"/>
          <p:nvPr/>
        </p:nvSpPr>
        <p:spPr>
          <a:xfrm>
            <a:off x="1364615" y="6167755"/>
            <a:ext cx="1814830" cy="368300"/>
          </a:xfrm>
          <a:prstGeom prst="rect">
            <a:avLst/>
          </a:prstGeom>
          <a:noFill/>
        </p:spPr>
        <p:txBody>
          <a:bodyPr wrap="square" rtlCol="0" anchor="t">
            <a:spAutoFit/>
          </a:bodyPr>
          <a:p>
            <a:r>
              <a:rPr lang="en-US"/>
              <a:t>Latifur Rahman</a:t>
            </a:r>
            <a:endParaRPr lang="en-US"/>
          </a:p>
        </p:txBody>
      </p:sp>
      <p:pic>
        <p:nvPicPr>
          <p:cNvPr id="10" name="Picture 9"/>
          <p:cNvPicPr>
            <a:picLocks noChangeAspect="1"/>
          </p:cNvPicPr>
          <p:nvPr/>
        </p:nvPicPr>
        <p:blipFill>
          <a:blip r:embed="rId5"/>
          <a:stretch>
            <a:fillRect/>
          </a:stretch>
        </p:blipFill>
        <p:spPr>
          <a:xfrm>
            <a:off x="8883015" y="4410075"/>
            <a:ext cx="2722245" cy="2041525"/>
          </a:xfrm>
          <a:prstGeom prst="rect">
            <a:avLst/>
          </a:prstGeom>
        </p:spPr>
      </p:pic>
      <p:sp>
        <p:nvSpPr>
          <p:cNvPr id="11" name="Text Box 10"/>
          <p:cNvSpPr txBox="1"/>
          <p:nvPr/>
        </p:nvSpPr>
        <p:spPr>
          <a:xfrm>
            <a:off x="9116695" y="6451600"/>
            <a:ext cx="1304290" cy="368300"/>
          </a:xfrm>
          <a:prstGeom prst="rect">
            <a:avLst/>
          </a:prstGeom>
          <a:noFill/>
        </p:spPr>
        <p:txBody>
          <a:bodyPr wrap="square" rtlCol="0" anchor="t">
            <a:spAutoFit/>
          </a:bodyPr>
          <a:p>
            <a:r>
              <a:rPr lang="en-US"/>
              <a:t>Bibi Russe</a:t>
            </a:r>
            <a:r>
              <a:rPr lang="en-GB" altLang="en-US"/>
              <a:t>l</a:t>
            </a:r>
            <a:r>
              <a:rPr lang="en-US"/>
              <a:t>l</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ctrTitle"/>
          </p:nvPr>
        </p:nvSpPr>
        <p:spPr>
          <a:xfrm>
            <a:off x="1524000" y="1122680"/>
            <a:ext cx="8684895" cy="1082675"/>
          </a:xfrm>
        </p:spPr>
        <p:txBody>
          <a:bodyPr>
            <a:normAutofit fontScale="90000"/>
          </a:bodyPr>
          <a:p>
            <a:r>
              <a:rPr lang="en-US" sz="4000"/>
              <a:t>YOU’RE NEVER TOO YOUNG to be an </a:t>
            </a:r>
            <a:br>
              <a:rPr lang="en-US" sz="4000"/>
            </a:br>
            <a:r>
              <a:rPr lang="en-US" sz="4000"/>
              <a:t>ENTREPRENEUR (Spotlight on Small Business)</a:t>
            </a:r>
            <a:endParaRPr lang="en-US" sz="4000"/>
          </a:p>
        </p:txBody>
      </p:sp>
      <p:sp>
        <p:nvSpPr>
          <p:cNvPr id="4" name="Subtitle 3"/>
          <p:cNvSpPr>
            <a:spLocks noGrp="1"/>
          </p:cNvSpPr>
          <p:nvPr>
            <p:ph type="subTitle" idx="1"/>
          </p:nvPr>
        </p:nvSpPr>
        <p:spPr>
          <a:xfrm>
            <a:off x="1423670" y="2205990"/>
            <a:ext cx="9244330" cy="3051810"/>
          </a:xfrm>
        </p:spPr>
        <p:txBody>
          <a:bodyPr>
            <a:normAutofit lnSpcReduction="10000"/>
          </a:bodyPr>
          <a:p>
            <a:r>
              <a:rPr lang="en-US"/>
              <a:t> </a:t>
            </a:r>
            <a:endParaRPr lang="en-US"/>
          </a:p>
          <a:p>
            <a:pPr marL="342900" indent="-342900">
              <a:buFont typeface="Arial" panose="020B0604020202020204" pitchFamily="34" charset="0"/>
              <a:buChar char="•"/>
            </a:pPr>
            <a:r>
              <a:rPr lang="en-US"/>
              <a:t> Leanna Archer  – At 12 years old, she has her own hair care line.</a:t>
            </a:r>
            <a:endParaRPr lang="en-US"/>
          </a:p>
          <a:p>
            <a:r>
              <a:rPr lang="en-US"/>
              <a:t>• Alexis Holmes  – Started baking for a fundraiser, now the 16-year-old </a:t>
            </a:r>
            <a:endParaRPr lang="en-US"/>
          </a:p>
          <a:p>
            <a:r>
              <a:rPr lang="en-US"/>
              <a:t>owns her own bakery. </a:t>
            </a:r>
            <a:endParaRPr lang="en-US"/>
          </a:p>
          <a:p>
            <a:r>
              <a:rPr lang="en-US"/>
              <a:t>• Jack Short &amp; Daniel Lyons  – The two medical students started Factory </a:t>
            </a:r>
            <a:endParaRPr lang="en-US"/>
          </a:p>
          <a:p>
            <a:r>
              <a:rPr lang="en-US"/>
              <a:t>Green, a carbon neutral apparel company, as undergrads. </a:t>
            </a:r>
            <a:endParaRPr lang="en-US"/>
          </a:p>
          <a:p>
            <a:r>
              <a:rPr lang="en-US"/>
              <a:t>• Mark Zuckerberg  – Launched Facebook as a Harvard freshman. </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p:txBody>
          <a:bodyPr>
            <a:normAutofit fontScale="90000"/>
          </a:bodyPr>
          <a:p>
            <a:r>
              <a:rPr lang="en-US"/>
              <a:t>Entrepreneur- the individual that is a risk taker and </a:t>
            </a:r>
            <a:r>
              <a:rPr lang="en-GB" altLang="en-US"/>
              <a:t>innovator</a:t>
            </a:r>
            <a:endParaRPr lang="en-GB" altLang="en-US"/>
          </a:p>
        </p:txBody>
      </p:sp>
      <p:sp>
        <p:nvSpPr>
          <p:cNvPr id="5" name="Subtitle 4"/>
          <p:cNvSpPr>
            <a:spLocks noGrp="1"/>
          </p:cNvSpPr>
          <p:nvPr>
            <p:ph type="subTitle" idx="1"/>
          </p:nvPr>
        </p:nvSpPr>
        <p:spPr/>
        <p:txBody>
          <a:bodyPr>
            <a:normAutofit fontScale="60000"/>
          </a:bodyPr>
          <a:p>
            <a:r>
              <a:rPr lang="en-US"/>
              <a:t>• Entrepreneurship- the business that is creative and </a:t>
            </a:r>
            <a:endParaRPr lang="en-US"/>
          </a:p>
          <a:p>
            <a:r>
              <a:rPr lang="en-US"/>
              <a:t>risky. </a:t>
            </a:r>
            <a:endParaRPr lang="en-US"/>
          </a:p>
          <a:p>
            <a:r>
              <a:rPr lang="en-US"/>
              <a:t> Characteristics:  Creative, confident, goal-oriented, motivated, hard-working</a:t>
            </a:r>
            <a:r>
              <a:rPr lang="en-GB" altLang="en-US"/>
              <a:t>.</a:t>
            </a:r>
            <a:endParaRPr lang="en-GB" altLang="en-US"/>
          </a:p>
          <a:p>
            <a:r>
              <a:rPr lang="en-GB" altLang="en-US"/>
              <a:t>• Risks:   Unproven idea, little management experience, </a:t>
            </a:r>
            <a:endParaRPr lang="en-GB" altLang="en-US"/>
          </a:p>
          <a:p>
            <a:pPr marL="285750" indent="-285750">
              <a:buFont typeface="Arial" panose="020B0604020202020204" pitchFamily="34" charset="0"/>
              <a:buChar char="•"/>
            </a:pPr>
            <a:r>
              <a:rPr lang="en-GB" altLang="en-US"/>
              <a:t>long-hours with no guarantee of a profit</a:t>
            </a:r>
            <a:endParaRPr lang="en-GB"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a:xfrm>
            <a:off x="1524000" y="361950"/>
            <a:ext cx="8613140" cy="1096010"/>
          </a:xfrm>
        </p:spPr>
        <p:txBody>
          <a:bodyPr>
            <a:normAutofit fontScale="90000"/>
          </a:bodyPr>
          <a:p>
            <a:r>
              <a:rPr lang="en-US"/>
              <a:t>Entrepreneurship VS Working for others</a:t>
            </a:r>
            <a:endParaRPr lang="en-US"/>
          </a:p>
        </p:txBody>
      </p:sp>
      <p:sp>
        <p:nvSpPr>
          <p:cNvPr id="5" name="Subtitle 4"/>
          <p:cNvSpPr>
            <a:spLocks noGrp="1"/>
          </p:cNvSpPr>
          <p:nvPr>
            <p:ph type="subTitle" idx="1"/>
          </p:nvPr>
        </p:nvSpPr>
        <p:spPr>
          <a:xfrm>
            <a:off x="1696720" y="1579245"/>
            <a:ext cx="8972550" cy="3549015"/>
          </a:xfrm>
        </p:spPr>
        <p:txBody>
          <a:bodyPr>
            <a:normAutofit fontScale="85000"/>
          </a:bodyPr>
          <a:p>
            <a:r>
              <a:rPr lang="en-US"/>
              <a:t>Entrepreneurship</a:t>
            </a:r>
            <a:endParaRPr lang="en-US"/>
          </a:p>
          <a:p>
            <a:r>
              <a:rPr lang="en-US"/>
              <a:t>• Own the business</a:t>
            </a:r>
            <a:endParaRPr lang="en-US"/>
          </a:p>
          <a:p>
            <a:r>
              <a:rPr lang="en-US"/>
              <a:t>• Freedom to succeed as well as freedom to fail</a:t>
            </a:r>
            <a:endParaRPr lang="en-US"/>
          </a:p>
          <a:p>
            <a:r>
              <a:rPr lang="en-US"/>
              <a:t>• Do not receive any benefits such as paid vacation time, day care, a company car or health insurance.</a:t>
            </a:r>
            <a:endParaRPr lang="en-US"/>
          </a:p>
          <a:p>
            <a:r>
              <a:rPr lang="en-US"/>
              <a:t> Working for others</a:t>
            </a:r>
            <a:endParaRPr lang="en-US"/>
          </a:p>
          <a:p>
            <a:r>
              <a:rPr lang="en-US"/>
              <a:t>• Somebody else assumes entrepreneurial risk</a:t>
            </a:r>
            <a:endParaRPr lang="en-US"/>
          </a:p>
          <a:p>
            <a:r>
              <a:rPr lang="en-US"/>
              <a:t>• Provides with benefits such as paid vacation and health </a:t>
            </a:r>
            <a:endParaRPr lang="en-US"/>
          </a:p>
          <a:p>
            <a:r>
              <a:rPr lang="en-US"/>
              <a:t>insurance.</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p:txBody>
          <a:bodyPr>
            <a:normAutofit/>
          </a:bodyPr>
          <a:p>
            <a:r>
              <a:rPr lang="en-US"/>
              <a:t>•</a:t>
            </a:r>
            <a:r>
              <a:rPr lang="en-US" sz="4000"/>
              <a:t> What are the sources of financing that entrepreneurs use for their </a:t>
            </a:r>
            <a:br>
              <a:rPr lang="en-US" sz="4000"/>
            </a:br>
            <a:r>
              <a:rPr lang="en-US" sz="4000"/>
              <a:t>new businesses?</a:t>
            </a:r>
            <a:endParaRPr lang="en-US" sz="4000"/>
          </a:p>
        </p:txBody>
      </p:sp>
      <p:sp>
        <p:nvSpPr>
          <p:cNvPr id="5" name="Subtitle 4"/>
          <p:cNvSpPr>
            <a:spLocks noGrp="1"/>
          </p:cNvSpPr>
          <p:nvPr>
            <p:ph type="subTitle" idx="1"/>
          </p:nvPr>
        </p:nvSpPr>
        <p:spPr/>
        <p:txBody>
          <a:bodyPr>
            <a:normAutofit lnSpcReduction="20000"/>
          </a:bodyPr>
          <a:p>
            <a:r>
              <a:rPr lang="en-US"/>
              <a:t>• Personal savings</a:t>
            </a:r>
            <a:endParaRPr lang="en-US"/>
          </a:p>
          <a:p>
            <a:r>
              <a:rPr lang="en-US"/>
              <a:t>• Friends and family</a:t>
            </a:r>
            <a:endParaRPr lang="en-US"/>
          </a:p>
          <a:p>
            <a:r>
              <a:rPr lang="en-US"/>
              <a:t>• Venture capital</a:t>
            </a:r>
            <a:endParaRPr lang="en-US"/>
          </a:p>
          <a:p>
            <a:r>
              <a:rPr lang="en-US"/>
              <a:t>• Bank loans</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normAutofit/>
          </a:bodyPr>
          <a:p>
            <a:r>
              <a:rPr lang="en-US"/>
              <a:t>Common Types of Small Businesses as Percent of All Small Businesses</a:t>
            </a:r>
            <a:endParaRPr lang="en-US"/>
          </a:p>
        </p:txBody>
      </p:sp>
      <p:pic>
        <p:nvPicPr>
          <p:cNvPr id="6" name="Picture 5"/>
          <p:cNvPicPr>
            <a:picLocks noChangeAspect="1"/>
          </p:cNvPicPr>
          <p:nvPr/>
        </p:nvPicPr>
        <p:blipFill>
          <a:blip r:embed="rId1"/>
          <a:stretch>
            <a:fillRect/>
          </a:stretch>
        </p:blipFill>
        <p:spPr>
          <a:xfrm>
            <a:off x="1652905" y="1550035"/>
            <a:ext cx="8181340" cy="44932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a:xfrm>
            <a:off x="1524000" y="304800"/>
            <a:ext cx="9144000" cy="1153795"/>
          </a:xfrm>
        </p:spPr>
        <p:txBody>
          <a:bodyPr/>
          <a:p>
            <a:r>
              <a:rPr lang="en-US"/>
              <a:t>What Is a Business Plan?</a:t>
            </a:r>
            <a:endParaRPr lang="en-US"/>
          </a:p>
        </p:txBody>
      </p:sp>
      <p:sp>
        <p:nvSpPr>
          <p:cNvPr id="5" name="Subtitle 4"/>
          <p:cNvSpPr>
            <a:spLocks noGrp="1"/>
          </p:cNvSpPr>
          <p:nvPr>
            <p:ph type="subTitle" idx="1"/>
          </p:nvPr>
        </p:nvSpPr>
        <p:spPr>
          <a:xfrm>
            <a:off x="1781175" y="1458595"/>
            <a:ext cx="9217025" cy="5169535"/>
          </a:xfrm>
        </p:spPr>
        <p:txBody>
          <a:bodyPr>
            <a:noAutofit/>
          </a:bodyPr>
          <a:p>
            <a:r>
              <a:rPr lang="en-US"/>
              <a:t>A business plan is a written document that describes in detail how a business usually a startup—</a:t>
            </a:r>
            <a:endParaRPr lang="en-US"/>
          </a:p>
          <a:p>
            <a:r>
              <a:rPr lang="en-US"/>
              <a:t>defines its objectives and how it is to go about achieving its goals. A business plan lays out a</a:t>
            </a:r>
            <a:r>
              <a:rPr lang="en-GB" altLang="en-US"/>
              <a:t> </a:t>
            </a:r>
            <a:r>
              <a:rPr lang="en-US"/>
              <a:t>written roadmap for the firm from marketing, financial, and operational standpoints.</a:t>
            </a:r>
            <a:endParaRPr lang="en-US"/>
          </a:p>
          <a:p>
            <a:r>
              <a:rPr lang="en-US"/>
              <a:t>5 ELEMENTS</a:t>
            </a:r>
            <a:endParaRPr lang="en-US"/>
          </a:p>
          <a:p>
            <a:r>
              <a:rPr lang="en-US"/>
              <a:t>1)Description of the business &amp; goals</a:t>
            </a:r>
            <a:endParaRPr lang="en-US"/>
          </a:p>
          <a:p>
            <a:r>
              <a:rPr lang="en-US"/>
              <a:t>2)Customer Analysis- knowing your customer</a:t>
            </a:r>
            <a:endParaRPr lang="en-US"/>
          </a:p>
          <a:p>
            <a:r>
              <a:rPr lang="en-US"/>
              <a:t>3)Operations Plan- organizing the business</a:t>
            </a:r>
            <a:endParaRPr lang="en-US"/>
          </a:p>
          <a:p>
            <a:r>
              <a:rPr lang="en-US"/>
              <a:t>4)Marketing Plan- marketing &amp; advertising</a:t>
            </a:r>
            <a:endParaRPr lang="en-US"/>
          </a:p>
          <a:p>
            <a:r>
              <a:rPr lang="en-US"/>
              <a:t>5)Financial Plan- Creating a Budget: </a:t>
            </a:r>
            <a:r>
              <a:rPr lang="en-GB" altLang="en-US"/>
              <a:t>( Start-up, Short and Long-term Financing)</a:t>
            </a:r>
            <a:endParaRPr lang="en-GB"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p:txBody>
          <a:bodyPr/>
          <a:p>
            <a:r>
              <a:rPr lang="en-US"/>
              <a:t>FORMS of BUSINESS OWNERSHIP</a:t>
            </a:r>
            <a:endParaRPr lang="en-US"/>
          </a:p>
        </p:txBody>
      </p:sp>
      <p:sp>
        <p:nvSpPr>
          <p:cNvPr id="7" name="Subtitle 6"/>
          <p:cNvSpPr>
            <a:spLocks noGrp="1"/>
          </p:cNvSpPr>
          <p:nvPr>
            <p:ph type="subTitle" idx="1"/>
          </p:nvPr>
        </p:nvSpPr>
        <p:spPr/>
        <p:txBody>
          <a:bodyPr/>
          <a:p>
            <a:r>
              <a:rPr lang="en-GB" altLang="en-US"/>
              <a:t>SOLE PROPRIETORSHIP</a:t>
            </a:r>
            <a:endParaRPr lang="en-GB" altLang="en-US"/>
          </a:p>
          <a:p>
            <a:r>
              <a:rPr lang="en-GB" altLang="en-US"/>
              <a:t>PARTNERSHIPS</a:t>
            </a:r>
            <a:endParaRPr lang="en-GB" altLang="en-US"/>
          </a:p>
          <a:p>
            <a:r>
              <a:rPr lang="en-GB" altLang="en-US"/>
              <a:t>CORPORATIONS</a:t>
            </a:r>
            <a:endParaRPr lang="en-GB" altLang="en-US"/>
          </a:p>
          <a:p>
            <a:endParaRPr lang="en-GB" altLang="en-US"/>
          </a:p>
          <a:p>
            <a:endParaRPr lang="en-GB"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BENEFITS of SOLE PROPRIETORSHIP</a:t>
            </a:r>
            <a:endParaRPr lang="en-US"/>
          </a:p>
        </p:txBody>
      </p:sp>
      <p:sp>
        <p:nvSpPr>
          <p:cNvPr id="5" name="Content Placeholder 4"/>
          <p:cNvSpPr>
            <a:spLocks noGrp="1"/>
          </p:cNvSpPr>
          <p:nvPr>
            <p:ph idx="1"/>
          </p:nvPr>
        </p:nvSpPr>
        <p:spPr/>
        <p:txBody>
          <a:bodyPr>
            <a:normAutofit fontScale="90000"/>
          </a:bodyPr>
          <a:p>
            <a:r>
              <a:rPr lang="en-US"/>
              <a:t>DISADVANTAGES of SOLE PROPRIETORSHIPS</a:t>
            </a:r>
            <a:endParaRPr lang="en-US"/>
          </a:p>
          <a:p>
            <a:r>
              <a:rPr lang="en-US"/>
              <a:t>Unlimited Liability  -- Any debts or damages incurred by the</a:t>
            </a:r>
            <a:r>
              <a:rPr lang="en-GB" altLang="en-US"/>
              <a:t> </a:t>
            </a:r>
            <a:r>
              <a:rPr lang="en-US"/>
              <a:t>business are your debts, even if it means selling your home, car or anything else.</a:t>
            </a:r>
            <a:endParaRPr lang="en-US"/>
          </a:p>
          <a:p>
            <a:pPr marL="0" indent="0">
              <a:buNone/>
            </a:pPr>
            <a:r>
              <a:rPr lang="en-US"/>
              <a:t>• Limited financial resources</a:t>
            </a:r>
            <a:endParaRPr lang="en-US"/>
          </a:p>
          <a:p>
            <a:pPr marL="0" indent="0">
              <a:buNone/>
            </a:pPr>
            <a:r>
              <a:rPr lang="en-US"/>
              <a:t>• Management difficulties</a:t>
            </a:r>
            <a:endParaRPr lang="en-US"/>
          </a:p>
          <a:p>
            <a:pPr marL="0" indent="0">
              <a:buNone/>
            </a:pPr>
            <a:r>
              <a:rPr lang="en-US"/>
              <a:t>•  Overwhelming time commitment</a:t>
            </a:r>
            <a:endParaRPr lang="en-US"/>
          </a:p>
        </p:txBody>
      </p:sp>
      <p:sp>
        <p:nvSpPr>
          <p:cNvPr id="6" name="Text Placeholder 5"/>
          <p:cNvSpPr>
            <a:spLocks noGrp="1"/>
          </p:cNvSpPr>
          <p:nvPr>
            <p:ph type="body" sz="half" idx="2"/>
          </p:nvPr>
        </p:nvSpPr>
        <p:spPr/>
        <p:txBody>
          <a:bodyPr/>
          <a:p>
            <a:r>
              <a:rPr lang="en-US"/>
              <a:t>• Ease of starting and ending the business</a:t>
            </a:r>
            <a:endParaRPr lang="en-US"/>
          </a:p>
          <a:p>
            <a:r>
              <a:rPr lang="en-US"/>
              <a:t>• Being your own boss</a:t>
            </a:r>
            <a:endParaRPr lang="en-US"/>
          </a:p>
          <a:p>
            <a:r>
              <a:rPr lang="en-US"/>
              <a:t>• Pride of ownership</a:t>
            </a:r>
            <a:endParaRPr lang="en-US"/>
          </a:p>
          <a:p>
            <a:r>
              <a:rPr lang="en-US"/>
              <a:t>• Leaving a legacy</a:t>
            </a:r>
            <a:endParaRPr lang="en-US"/>
          </a:p>
          <a:p>
            <a:r>
              <a:rPr lang="en-US"/>
              <a:t>• Retention of company profit</a:t>
            </a:r>
            <a:endParaRPr lang="en-US"/>
          </a:p>
          <a:p>
            <a:r>
              <a:rPr lang="en-US"/>
              <a:t>• No special taxes</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Title 7"/>
          <p:cNvSpPr>
            <a:spLocks noGrp="1"/>
          </p:cNvSpPr>
          <p:nvPr>
            <p:ph type="ctrTitle"/>
          </p:nvPr>
        </p:nvSpPr>
        <p:spPr>
          <a:xfrm>
            <a:off x="1524000" y="1122680"/>
            <a:ext cx="9144000" cy="967740"/>
          </a:xfrm>
        </p:spPr>
        <p:txBody>
          <a:bodyPr>
            <a:normAutofit fontScale="90000"/>
          </a:bodyPr>
          <a:p>
            <a:r>
              <a:rPr lang="en-GB" altLang="en-US"/>
              <a:t>Major Types of Partnerships</a:t>
            </a:r>
            <a:endParaRPr lang="en-GB" altLang="en-US"/>
          </a:p>
        </p:txBody>
      </p:sp>
      <p:sp>
        <p:nvSpPr>
          <p:cNvPr id="9" name="Subtitle 8"/>
          <p:cNvSpPr>
            <a:spLocks noGrp="1"/>
          </p:cNvSpPr>
          <p:nvPr>
            <p:ph type="subTitle" idx="1"/>
          </p:nvPr>
        </p:nvSpPr>
        <p:spPr>
          <a:xfrm>
            <a:off x="1409700" y="2091055"/>
            <a:ext cx="9258300" cy="3166745"/>
          </a:xfrm>
        </p:spPr>
        <p:txBody>
          <a:bodyPr>
            <a:normAutofit/>
          </a:bodyPr>
          <a:p>
            <a:r>
              <a:rPr lang="en-US"/>
              <a:t>• General Partnership - - All owners share in operating the business and in assuming liability for the business’s debts.</a:t>
            </a:r>
            <a:endParaRPr lang="en-US"/>
          </a:p>
          <a:p>
            <a:r>
              <a:rPr lang="en-US"/>
              <a:t>• Limited Partnership - - A partnership with one or more </a:t>
            </a:r>
            <a:endParaRPr lang="en-US"/>
          </a:p>
          <a:p>
            <a:r>
              <a:rPr lang="en-US"/>
              <a:t>general partners and one or more limited partners.</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ADVANTAGES of PARTNERSHIPS</a:t>
            </a:r>
            <a:endParaRPr lang="en-US"/>
          </a:p>
        </p:txBody>
      </p:sp>
      <p:sp>
        <p:nvSpPr>
          <p:cNvPr id="5" name="Content Placeholder 4"/>
          <p:cNvSpPr>
            <a:spLocks noGrp="1"/>
          </p:cNvSpPr>
          <p:nvPr>
            <p:ph idx="1"/>
          </p:nvPr>
        </p:nvSpPr>
        <p:spPr/>
        <p:txBody>
          <a:bodyPr/>
          <a:p>
            <a:pPr marL="0" indent="0">
              <a:buNone/>
            </a:pPr>
            <a:r>
              <a:rPr lang="en-US"/>
              <a:t>DISADVANTAGES of PARTNERSHIPS</a:t>
            </a:r>
            <a:endParaRPr lang="en-US"/>
          </a:p>
          <a:p>
            <a:pPr marL="0" indent="0">
              <a:buNone/>
            </a:pPr>
            <a:r>
              <a:rPr lang="en-US"/>
              <a:t>• Unlimited liability</a:t>
            </a:r>
            <a:endParaRPr lang="en-US"/>
          </a:p>
          <a:p>
            <a:pPr marL="0" indent="0">
              <a:buNone/>
            </a:pPr>
            <a:r>
              <a:rPr lang="en-US"/>
              <a:t>• Division of profits</a:t>
            </a:r>
            <a:endParaRPr lang="en-US"/>
          </a:p>
          <a:p>
            <a:pPr marL="0" indent="0">
              <a:buNone/>
            </a:pPr>
            <a:r>
              <a:rPr lang="en-US"/>
              <a:t>• Difficult to terminate</a:t>
            </a:r>
            <a:endParaRPr lang="en-US"/>
          </a:p>
          <a:p>
            <a:pPr marL="0" indent="0">
              <a:buNone/>
            </a:pPr>
            <a:r>
              <a:rPr lang="en-US"/>
              <a:t>• Disagreements among partners</a:t>
            </a:r>
            <a:endParaRPr lang="en-US"/>
          </a:p>
        </p:txBody>
      </p:sp>
      <p:sp>
        <p:nvSpPr>
          <p:cNvPr id="6" name="Text Placeholder 5"/>
          <p:cNvSpPr>
            <a:spLocks noGrp="1"/>
          </p:cNvSpPr>
          <p:nvPr>
            <p:ph type="body" sz="half" idx="2"/>
          </p:nvPr>
        </p:nvSpPr>
        <p:spPr/>
        <p:txBody>
          <a:bodyPr/>
          <a:p>
            <a:r>
              <a:rPr lang="en-US"/>
              <a:t>• More financial resources</a:t>
            </a:r>
            <a:endParaRPr lang="en-US"/>
          </a:p>
          <a:p>
            <a:r>
              <a:rPr lang="en-US"/>
              <a:t>• Shared management and pooled skills and knowledge</a:t>
            </a:r>
            <a:endParaRPr lang="en-US"/>
          </a:p>
          <a:p>
            <a:r>
              <a:rPr lang="en-US"/>
              <a:t>• Longer survival</a:t>
            </a:r>
            <a:endParaRPr lang="en-US"/>
          </a:p>
          <a:p>
            <a:r>
              <a:rPr lang="en-US"/>
              <a:t>• No special taxes</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ctrTitle"/>
          </p:nvPr>
        </p:nvSpPr>
        <p:spPr>
          <a:xfrm>
            <a:off x="1524000" y="247650"/>
            <a:ext cx="9144000" cy="1153795"/>
          </a:xfrm>
        </p:spPr>
        <p:txBody>
          <a:bodyPr>
            <a:normAutofit/>
          </a:bodyPr>
          <a:p>
            <a:r>
              <a:rPr lang="en-US" sz="4890"/>
              <a:t>CONVENTIONAL CORPORATIONS</a:t>
            </a:r>
            <a:endParaRPr lang="en-US" sz="4890"/>
          </a:p>
        </p:txBody>
      </p:sp>
      <p:sp>
        <p:nvSpPr>
          <p:cNvPr id="6" name="Subtitle 5"/>
          <p:cNvSpPr>
            <a:spLocks noGrp="1"/>
          </p:cNvSpPr>
          <p:nvPr>
            <p:ph type="subTitle" idx="1"/>
          </p:nvPr>
        </p:nvSpPr>
        <p:spPr>
          <a:xfrm>
            <a:off x="1094105" y="1402080"/>
            <a:ext cx="9573895" cy="3855720"/>
          </a:xfrm>
        </p:spPr>
        <p:txBody>
          <a:bodyPr>
            <a:normAutofit lnSpcReduction="20000"/>
          </a:bodyPr>
          <a:p>
            <a:r>
              <a:rPr lang="en-US"/>
              <a:t>• Conventional (C) Corporation  -- A state-chartered legal entity with authority to act and have liability separate from its owners </a:t>
            </a:r>
            <a:endParaRPr lang="en-US"/>
          </a:p>
          <a:p>
            <a:r>
              <a:rPr lang="en-US"/>
              <a:t>(its stockholders).</a:t>
            </a:r>
            <a:endParaRPr lang="en-US"/>
          </a:p>
          <a:p>
            <a:r>
              <a:rPr lang="en-US"/>
              <a:t>Most Bangladeshi companies are registered as private limited liability companies, commonly</a:t>
            </a:r>
            <a:r>
              <a:rPr lang="en-GB" altLang="en-US"/>
              <a:t> </a:t>
            </a:r>
            <a:r>
              <a:rPr lang="en-US"/>
              <a:t>known as private limited companies. A private limited company in Bangladesh is a separate legal</a:t>
            </a:r>
            <a:r>
              <a:rPr lang="en-GB" altLang="en-US"/>
              <a:t> </a:t>
            </a:r>
            <a:r>
              <a:rPr lang="en-US"/>
              <a:t>entity and shareholders are not liable for the company’s debts beyond the amount of share</a:t>
            </a:r>
            <a:r>
              <a:rPr lang="en-GB" altLang="en-US"/>
              <a:t> </a:t>
            </a:r>
            <a:r>
              <a:rPr lang="en-US"/>
              <a:t>capital they have contributed. According to the Companies Act 1994, any person (foreign or local)</a:t>
            </a:r>
            <a:r>
              <a:rPr lang="en-GB" altLang="en-US"/>
              <a:t> </a:t>
            </a:r>
            <a:r>
              <a:rPr lang="en-US"/>
              <a:t>above the age of 18 can register a company in Bangladesh.</a:t>
            </a:r>
            <a:endParaRPr lang="en-US"/>
          </a:p>
          <a:p>
            <a:r>
              <a:rPr lang="en-US">
                <a:sym typeface="+mn-ea"/>
              </a:rPr>
              <a:t>Limited Companies are two types one is</a:t>
            </a:r>
            <a:endParaRPr lang="en-US"/>
          </a:p>
          <a:p>
            <a:r>
              <a:rPr lang="en-US">
                <a:sym typeface="+mn-ea"/>
              </a:rPr>
              <a:t>(a) Private Limited Company and another is (b) Public Limited Company.</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itle 6"/>
          <p:cNvSpPr>
            <a:spLocks noGrp="1"/>
          </p:cNvSpPr>
          <p:nvPr>
            <p:ph type="ctrTitle"/>
          </p:nvPr>
        </p:nvSpPr>
        <p:spPr>
          <a:xfrm>
            <a:off x="1524000" y="1122680"/>
            <a:ext cx="9144000" cy="1153795"/>
          </a:xfrm>
        </p:spPr>
        <p:txBody>
          <a:bodyPr>
            <a:normAutofit fontScale="90000"/>
          </a:bodyPr>
          <a:p>
            <a:r>
              <a:rPr lang="en-US" sz="4000"/>
              <a:t> To form Private Limited Company minimum two and maximum fifty directors required. </a:t>
            </a:r>
            <a:endParaRPr lang="en-US" sz="4000"/>
          </a:p>
        </p:txBody>
      </p:sp>
      <p:sp>
        <p:nvSpPr>
          <p:cNvPr id="8" name="Subtitle 7"/>
          <p:cNvSpPr>
            <a:spLocks noGrp="1"/>
          </p:cNvSpPr>
          <p:nvPr>
            <p:ph type="subTitle" idx="1"/>
          </p:nvPr>
        </p:nvSpPr>
        <p:spPr>
          <a:xfrm>
            <a:off x="1323340" y="2426335"/>
            <a:ext cx="9344660" cy="2831465"/>
          </a:xfrm>
        </p:spPr>
        <p:txBody>
          <a:bodyPr>
            <a:noAutofit/>
          </a:bodyPr>
          <a:p>
            <a:r>
              <a:rPr lang="en-US" sz="2700"/>
              <a:t>• On the other hand, for Public Limited Company minimum member should be seven and the maximum is unlimited.</a:t>
            </a:r>
            <a:endParaRPr lang="en-US" sz="2700"/>
          </a:p>
          <a:p>
            <a:r>
              <a:rPr lang="en-US" sz="2700"/>
              <a:t>For forming a Joint Venture Company minimum member should</a:t>
            </a:r>
            <a:r>
              <a:rPr lang="en-GB" altLang="en-US" sz="2700"/>
              <a:t> </a:t>
            </a:r>
            <a:r>
              <a:rPr lang="en-US" sz="2700"/>
              <a:t>be two and maximum fifty. Out of all members minimum, one should be Bangladeshi and minimum one should be Foreigner. In </a:t>
            </a:r>
            <a:endParaRPr lang="en-US" sz="2700"/>
          </a:p>
          <a:p>
            <a:r>
              <a:rPr lang="en-US" sz="2700"/>
              <a:t>Bangladesh no scope to start a Limited Company by one man.</a:t>
            </a:r>
            <a:endParaRPr lang="en-US" sz="27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b="1"/>
              <a:t>Corporation</a:t>
            </a:r>
            <a:r>
              <a:rPr lang="en-GB" altLang="en-US" b="1"/>
              <a:t> Advantages</a:t>
            </a:r>
            <a:endParaRPr lang="en-GB" altLang="en-US" b="1"/>
          </a:p>
        </p:txBody>
      </p:sp>
      <p:sp>
        <p:nvSpPr>
          <p:cNvPr id="5" name="Content Placeholder 4"/>
          <p:cNvSpPr>
            <a:spLocks noGrp="1"/>
          </p:cNvSpPr>
          <p:nvPr>
            <p:ph idx="1"/>
          </p:nvPr>
        </p:nvSpPr>
        <p:spPr/>
        <p:txBody>
          <a:bodyPr/>
          <a:p>
            <a:pPr marL="0" indent="0">
              <a:buNone/>
            </a:pPr>
            <a:r>
              <a:rPr lang="en-GB" altLang="en-US"/>
              <a:t>Disadvantages of Corporations</a:t>
            </a:r>
            <a:endParaRPr lang="en-GB" altLang="en-US"/>
          </a:p>
          <a:p>
            <a:r>
              <a:rPr lang="en-GB" altLang="en-US"/>
              <a:t>Initial cost</a:t>
            </a:r>
            <a:endParaRPr lang="en-GB" altLang="en-US"/>
          </a:p>
          <a:p>
            <a:r>
              <a:rPr lang="en-GB" altLang="en-US"/>
              <a:t>Extensive paperwork</a:t>
            </a:r>
            <a:endParaRPr lang="en-GB" altLang="en-US"/>
          </a:p>
          <a:p>
            <a:r>
              <a:rPr lang="en-GB" altLang="en-US"/>
              <a:t>Double taxation</a:t>
            </a:r>
            <a:endParaRPr lang="en-GB" altLang="en-US"/>
          </a:p>
          <a:p>
            <a:r>
              <a:rPr lang="en-GB" altLang="en-US"/>
              <a:t> Difficulty of termination</a:t>
            </a:r>
            <a:endParaRPr lang="en-GB" altLang="en-US"/>
          </a:p>
          <a:p>
            <a:r>
              <a:rPr lang="en-GB" altLang="en-US"/>
              <a:t>Conflict with Stockholders and Board</a:t>
            </a:r>
            <a:endParaRPr lang="en-GB" altLang="en-US"/>
          </a:p>
          <a:p>
            <a:r>
              <a:rPr lang="en-GB" altLang="en-US"/>
              <a:t>Size</a:t>
            </a:r>
            <a:endParaRPr lang="en-GB" altLang="en-US"/>
          </a:p>
        </p:txBody>
      </p:sp>
      <p:sp>
        <p:nvSpPr>
          <p:cNvPr id="6" name="Text Placeholder 5"/>
          <p:cNvSpPr>
            <a:spLocks noGrp="1"/>
          </p:cNvSpPr>
          <p:nvPr>
            <p:ph type="body" sz="half" idx="2"/>
          </p:nvPr>
        </p:nvSpPr>
        <p:spPr/>
        <p:txBody>
          <a:bodyPr>
            <a:noAutofit/>
          </a:bodyPr>
          <a:p>
            <a:pPr marL="285750" indent="-285750">
              <a:buFont typeface="Arial" panose="020B0604020202020204" pitchFamily="34" charset="0"/>
              <a:buChar char="•"/>
            </a:pPr>
            <a:r>
              <a:rPr lang="en-US" sz="2400" b="1"/>
              <a:t>Limited liability</a:t>
            </a:r>
            <a:endParaRPr lang="en-US" sz="2400" b="1"/>
          </a:p>
          <a:p>
            <a:pPr marL="285750" indent="-285750">
              <a:buFont typeface="Arial" panose="020B0604020202020204" pitchFamily="34" charset="0"/>
              <a:buChar char="•"/>
            </a:pPr>
            <a:r>
              <a:rPr lang="en-US" sz="2400" b="1"/>
              <a:t>More money for </a:t>
            </a:r>
            <a:r>
              <a:rPr lang="en-GB" altLang="en-US" sz="2400" b="1"/>
              <a:t>Investment</a:t>
            </a:r>
            <a:endParaRPr lang="en-GB" altLang="en-US" sz="2400" b="1"/>
          </a:p>
          <a:p>
            <a:pPr marL="285750" indent="-285750">
              <a:buFont typeface="Arial" panose="020B0604020202020204" pitchFamily="34" charset="0"/>
              <a:buChar char="•"/>
            </a:pPr>
            <a:r>
              <a:rPr lang="en-GB" altLang="en-US" sz="2400" b="1"/>
              <a:t>Size</a:t>
            </a:r>
            <a:endParaRPr lang="en-GB" altLang="en-US" sz="2400" b="1"/>
          </a:p>
          <a:p>
            <a:pPr marL="285750" indent="-285750">
              <a:buFont typeface="Arial" panose="020B0604020202020204" pitchFamily="34" charset="0"/>
              <a:buChar char="•"/>
            </a:pPr>
            <a:r>
              <a:rPr lang="en-GB" altLang="en-US" sz="2400" b="1"/>
              <a:t>Perpetual life.</a:t>
            </a:r>
            <a:endParaRPr lang="en-GB" altLang="en-US" sz="2400" b="1"/>
          </a:p>
          <a:p>
            <a:pPr marL="285750" indent="-285750">
              <a:buFont typeface="Arial" panose="020B0604020202020204" pitchFamily="34" charset="0"/>
              <a:buChar char="•"/>
            </a:pPr>
            <a:r>
              <a:rPr lang="en-GB" altLang="en-US" sz="2400" b="1"/>
              <a:t>Ease of ownership change</a:t>
            </a:r>
            <a:endParaRPr lang="en-GB" altLang="en-US" sz="2400" b="1"/>
          </a:p>
          <a:p>
            <a:pPr marL="285750" indent="-285750">
              <a:buFont typeface="Arial" panose="020B0604020202020204" pitchFamily="34" charset="0"/>
              <a:buChar char="•"/>
            </a:pPr>
            <a:r>
              <a:rPr lang="en-GB" altLang="en-US" sz="2400" b="1"/>
              <a:t>Ease of attracting talented employee.</a:t>
            </a:r>
            <a:endParaRPr lang="en-GB" altLang="en-US" sz="2400" b="1"/>
          </a:p>
          <a:p>
            <a:pPr marL="285750" indent="-285750">
              <a:buFont typeface="Arial" panose="020B0604020202020204" pitchFamily="34" charset="0"/>
              <a:buChar char="•"/>
            </a:pPr>
            <a:r>
              <a:rPr lang="en-GB" altLang="en-US" sz="2400" b="1"/>
              <a:t>Separation of ownership from management. </a:t>
            </a:r>
            <a:endParaRPr lang="en-GB" altLang="en-US" sz="2400" b="1"/>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5457</Words>
  <Application>WPS Presentation</Application>
  <PresentationFormat>Widescreen</PresentationFormat>
  <Paragraphs>164</Paragraphs>
  <Slides>19</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19</vt:i4>
      </vt:variant>
    </vt:vector>
  </HeadingPairs>
  <TitlesOfParts>
    <vt:vector size="27" baseType="lpstr">
      <vt:lpstr>Arial</vt:lpstr>
      <vt:lpstr>SimSun</vt:lpstr>
      <vt:lpstr>Wingdings</vt:lpstr>
      <vt:lpstr>Arial Unicode MS</vt:lpstr>
      <vt:lpstr>Calibri Light</vt:lpstr>
      <vt:lpstr>Calibri</vt:lpstr>
      <vt:lpstr>Microsoft YaHei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Session 1</dc:title>
  <dc:creator>User</dc:creator>
  <cp:lastModifiedBy>User</cp:lastModifiedBy>
  <cp:revision>3</cp:revision>
  <dcterms:created xsi:type="dcterms:W3CDTF">2024-05-27T12:16:45Z</dcterms:created>
  <dcterms:modified xsi:type="dcterms:W3CDTF">2024-05-27T17:24:36Z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128A73EC273345768F9C6EEDA6A19BEC_11</vt:lpwstr>
  </property>
  <property fmtid="{D5CDD505-2E9C-101B-9397-08002B2CF9AE}" pid="3" name="KSOProductBuildVer">
    <vt:lpwstr>1033-12.2.0.16909</vt:lpwstr>
  </property>
</Properties>
</file>