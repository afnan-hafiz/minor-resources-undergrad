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  <p:sldId id="259" r:id="rId6"/>
    <p:sldId id="264" r:id="rId7"/>
    <p:sldId id="261" r:id="rId8"/>
    <p:sldId id="265" r:id="rId9"/>
    <p:sldId id="262" r:id="rId10"/>
    <p:sldId id="263" r:id="rId11"/>
    <p:sldId id="274" r:id="rId12"/>
    <p:sldId id="275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p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7" name="Google Shape;197;p6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7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r>
              <a:rPr lang="en-US" altLang="en-US" dirty="0"/>
              <a:t>See Learning Goal 6:  Compare the business-to-business market and the consumer market.  </a:t>
            </a:r>
            <a:endParaRPr lang="en-US" altLang="en-US" dirty="0"/>
          </a:p>
          <a:p>
            <a:pPr lvl="0"/>
            <a:endParaRPr lang="en-US" altLang="en-US" dirty="0"/>
          </a:p>
        </p:txBody>
      </p:sp>
      <p:sp>
        <p:nvSpPr>
          <p:cNvPr id="57348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Arial" panose="020B0604020202020204" pitchFamily="34" charset="0"/>
              </a:rPr>
            </a:fld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14CD68"/>
            </a:gs>
            <a:gs pos="100000">
              <a:srgbClr val="0B6E3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"/>
          <p:cNvSpPr/>
          <p:nvPr>
            <p:ph type="subTitle" idx="1"/>
          </p:nvPr>
        </p:nvSpPr>
        <p:spPr>
          <a:xfrm>
            <a:off x="1380490" y="1823720"/>
            <a:ext cx="9287510" cy="3434080"/>
          </a:xfrm>
        </p:spPr>
        <p:txBody>
          <a:bodyPr>
            <a:normAutofit/>
          </a:bodyPr>
          <a:p>
            <a:r>
              <a:rPr lang="en-GB" altLang="en-US"/>
              <a:t>What is Marketing?</a:t>
            </a:r>
            <a:endParaRPr lang="en-GB" altLang="en-US"/>
          </a:p>
          <a:p>
            <a:r>
              <a:rPr lang="en-US" altLang="en-US"/>
              <a:t>-What is marketing? </a:t>
            </a:r>
            <a:endParaRPr lang="en-US" altLang="en-US"/>
          </a:p>
          <a:p>
            <a:r>
              <a:rPr lang="en-US" altLang="en-US"/>
              <a:t>-Marketing mix (4Ps for product and 7Ps for service)</a:t>
            </a:r>
            <a:endParaRPr lang="en-US" altLang="en-US"/>
          </a:p>
          <a:p>
            <a:r>
              <a:rPr lang="en-US" altLang="en-US"/>
              <a:t>-The 5 eras/concepts of marketing - production, product, selling, marketing, societal marketing</a:t>
            </a:r>
            <a:endParaRPr lang="en-US" altLang="en-US"/>
          </a:p>
          <a:p>
            <a:r>
              <a:rPr lang="en-US" altLang="en-US"/>
              <a:t>-B2B and B2C markets</a:t>
            </a:r>
            <a:endParaRPr lang="en-US" altLang="en-US"/>
          </a:p>
        </p:txBody>
      </p:sp>
      <p:sp>
        <p:nvSpPr>
          <p:cNvPr id="3" name="Title 2"/>
          <p:cNvSpPr/>
          <p:nvPr>
            <p:ph type="ctrTitle"/>
          </p:nvPr>
        </p:nvSpPr>
        <p:spPr>
          <a:xfrm>
            <a:off x="1524000" y="219075"/>
            <a:ext cx="9144000" cy="1469390"/>
          </a:xfrm>
        </p:spPr>
        <p:txBody>
          <a:bodyPr>
            <a:normAutofit fontScale="90000"/>
          </a:bodyPr>
          <a:p>
            <a:r>
              <a:rPr lang="en-GB" altLang="en-US"/>
              <a:t>Week-7</a:t>
            </a:r>
            <a:br>
              <a:rPr lang="en-GB" altLang="en-US"/>
            </a:br>
            <a:r>
              <a:rPr lang="en-GB" altLang="en-US"/>
              <a:t>Session-2</a:t>
            </a:r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"/>
          <p:cNvSpPr txBox="1"/>
          <p:nvPr>
            <p:ph type="subTitle" idx="1"/>
          </p:nvPr>
        </p:nvSpPr>
        <p:spPr>
          <a:xfrm>
            <a:off x="2819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210"/>
              <a:buNone/>
            </a:pPr>
            <a:endParaRPr sz="2600">
              <a:solidFill>
                <a:schemeClr val="dk2"/>
              </a:solidFill>
            </a:endParaRPr>
          </a:p>
        </p:txBody>
      </p:sp>
      <p:sp>
        <p:nvSpPr>
          <p:cNvPr id="171" name="Google Shape;171;p3"/>
          <p:cNvSpPr txBox="1"/>
          <p:nvPr>
            <p:ph type="ctrTitle"/>
          </p:nvPr>
        </p:nvSpPr>
        <p:spPr>
          <a:xfrm>
            <a:off x="1752600" y="13017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 panose="020B0604020202020204"/>
              <a:buNone/>
            </a:pPr>
            <a:r>
              <a:rPr lang="en-US" sz="3200" b="1" i="0" u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WHAT’S MARKETING?</a:t>
            </a:r>
            <a:endParaRPr lang="en-US" sz="3200" b="1" i="0" u="none">
              <a:solidFill>
                <a:srgbClr val="FFFFFF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172" name="Google Shape;172;p3"/>
          <p:cNvSpPr/>
          <p:nvPr/>
        </p:nvSpPr>
        <p:spPr>
          <a:xfrm>
            <a:off x="1981200" y="381000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B7D3F3"/>
          </a:solidFill>
          <a:ln w="9525" cap="flat" cmpd="sng">
            <a:solidFill>
              <a:srgbClr val="B7D3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8839200" y="152400"/>
            <a:ext cx="1644650" cy="1600200"/>
          </a:xfrm>
          <a:prstGeom prst="ellipse">
            <a:avLst/>
          </a:prstGeom>
          <a:solidFill>
            <a:srgbClr val="660066"/>
          </a:solidFill>
          <a:ln w="9525" cap="flat" cmpd="sng">
            <a:solidFill>
              <a:srgbClr val="6600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9982200" y="1143000"/>
            <a:ext cx="501650" cy="705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3F3"/>
              </a:buClr>
              <a:buSzPts val="4000"/>
              <a:buFont typeface="Calibri" panose="020F0502020204030204"/>
              <a:buNone/>
            </a:pPr>
            <a:r>
              <a:rPr lang="en-US" sz="4000" b="1" i="0" u="none">
                <a:solidFill>
                  <a:srgbClr val="B7D3F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lang="en-US" sz="4000" b="1" i="0" u="none">
              <a:solidFill>
                <a:srgbClr val="B7D3F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8686800" y="0"/>
            <a:ext cx="609600" cy="705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66"/>
              </a:buClr>
              <a:buSzPts val="4000"/>
              <a:buFont typeface="Calibri" panose="020F0502020204030204"/>
              <a:buNone/>
            </a:pPr>
            <a:r>
              <a:rPr lang="en-US" sz="4000" b="1" i="0" u="none">
                <a:solidFill>
                  <a:srgbClr val="66006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lang="en-US" sz="4000" b="1" i="0" u="none">
              <a:solidFill>
                <a:srgbClr val="66006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8839200" y="511175"/>
            <a:ext cx="1828800" cy="61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 panose="020B0604020202020204"/>
              <a:buNone/>
            </a:pPr>
            <a:r>
              <a:rPr lang="en-US" sz="1700" b="0" i="1" u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What is Marketing?</a:t>
            </a:r>
            <a:endParaRPr lang="en-US" sz="1700" b="0" i="1" u="none">
              <a:solidFill>
                <a:schemeClr val="lt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2057400" y="1774825"/>
            <a:ext cx="7924800" cy="2121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34645" marR="0" lvl="0" indent="-3155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 panose="020B0604020202020204"/>
              <a:buNone/>
            </a:pPr>
            <a:endParaRPr sz="300" b="0" i="0" u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34645" marR="0" lvl="0" indent="-3346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 panose="020B0604020202020204"/>
              <a:buChar char="•"/>
            </a:pPr>
            <a:r>
              <a:rPr lang="en-US" sz="2700" b="1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Marketing --</a:t>
            </a:r>
            <a:r>
              <a:rPr lang="en-US" sz="2500" i="1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activity, set of institutions and processes for creating, communicating, delivering, and exchanging offerings with value for customers, clients, partners and society at large.</a:t>
            </a:r>
            <a:r>
              <a:rPr lang="en-US" sz="2700" b="1" i="0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 </a:t>
            </a:r>
            <a:r>
              <a:rPr lang="en-US" sz="2500" b="0" i="1" u="none">
                <a:solidFill>
                  <a:schemeClr val="dk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The</a:t>
            </a:r>
            <a:endParaRPr lang="en-US" sz="2500" b="0" i="1" u="none">
              <a:solidFill>
                <a:schemeClr val="dk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9296400" y="1295400"/>
            <a:ext cx="685800" cy="35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 panose="020B0604020202020204"/>
              <a:buNone/>
            </a:pPr>
            <a:r>
              <a:rPr lang="en-US" sz="1700" b="1" i="0" u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LG1</a:t>
            </a:r>
            <a:endParaRPr lang="en-US" sz="1700" b="1" i="0" u="none">
              <a:solidFill>
                <a:schemeClr val="lt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None/>
            </a:pPr>
            <a:r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13-</a:t>
            </a: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lang="en-US" sz="12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80" name="Google Shape;180;p3" descr="C:\Users\tania.akter\Pictures\images g.jp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24400" y="4191000"/>
            <a:ext cx="4049712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" descr="C:\Users\tania.akter\Pictures\index.jp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209800" y="3890962"/>
            <a:ext cx="251460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" descr="C:\Users\tania.akter\Pictures\mkt5.jp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924800" y="3505200"/>
            <a:ext cx="2057400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"/>
          <p:cNvSpPr txBox="1"/>
          <p:nvPr>
            <p:ph type="title"/>
          </p:nvPr>
        </p:nvSpPr>
        <p:spPr>
          <a:xfrm>
            <a:off x="2438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Marketing</a:t>
            </a:r>
            <a:endParaRPr lang="en-GB" sz="4000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88" name="Google Shape;188;p4" descr="C:\Users\tania.akter\Pictures\index f.jpg"/>
          <p:cNvPicPr preferRelativeResize="0"/>
          <p:nvPr>
            <p:ph type="body" idx="1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1233805" y="1828800"/>
            <a:ext cx="9227185" cy="439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666875" y="0"/>
            <a:ext cx="9144000" cy="1447165"/>
          </a:xfrm>
        </p:spPr>
        <p:txBody>
          <a:bodyPr/>
          <a:p>
            <a:r>
              <a:rPr lang="en-GB" altLang="en-US"/>
              <a:t>Evolution of Marketing</a:t>
            </a:r>
            <a:endParaRPr lang="en-GB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pic>
        <p:nvPicPr>
          <p:cNvPr id="201" name="Google Shape;201;p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171700" y="2327275"/>
            <a:ext cx="8496935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 txBox="1"/>
          <p:nvPr>
            <p:ph type="title"/>
          </p:nvPr>
        </p:nvSpPr>
        <p:spPr>
          <a:xfrm>
            <a:off x="2438400" y="27463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en-US" sz="4000" b="0" i="0" u="none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Evolution of Marketing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00" name="Google Shape;200;p6"/>
          <p:cNvSpPr txBox="1"/>
          <p:nvPr>
            <p:ph type="body" idx="1"/>
          </p:nvPr>
        </p:nvSpPr>
        <p:spPr>
          <a:xfrm>
            <a:off x="2438400" y="1447800"/>
            <a:ext cx="77724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3050" marR="0" lvl="0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lang="en-US" b="1" i="0" u="none">
                <a:solidFill>
                  <a:schemeClr val="dk1"/>
                </a:solidFill>
                <a:latin typeface="Arial" panose="020B0604020202020204" pitchFamily="34" charset="0"/>
                <a:ea typeface="Libre Baskerville" panose="02000000000000000000"/>
                <a:cs typeface="Arial" panose="020B0604020202020204" pitchFamily="34" charset="0"/>
                <a:sym typeface="Libre Baskerville" panose="02000000000000000000"/>
              </a:rPr>
              <a:t>The Production Era-</a:t>
            </a:r>
            <a:r>
              <a:rPr lang="en-US" b="0" i="0" u="none">
                <a:solidFill>
                  <a:schemeClr val="dk1"/>
                </a:solidFill>
                <a:latin typeface="Arial" panose="020B0604020202020204" pitchFamily="34" charset="0"/>
                <a:ea typeface="Libre Baskerville" panose="02000000000000000000"/>
                <a:cs typeface="Arial" panose="020B0604020202020204" pitchFamily="34" charset="0"/>
                <a:sym typeface="Libre Baskerville" panose="02000000000000000000"/>
              </a:rPr>
              <a:t>more</a:t>
            </a:r>
            <a:r>
              <a:rPr lang="en-US" b="1" i="0" u="none">
                <a:solidFill>
                  <a:schemeClr val="dk1"/>
                </a:solidFill>
                <a:latin typeface="Arial" panose="020B0604020202020204" pitchFamily="34" charset="0"/>
                <a:ea typeface="Libre Baskerville" panose="02000000000000000000"/>
                <a:cs typeface="Arial" panose="020B0604020202020204" pitchFamily="34" charset="0"/>
                <a:sym typeface="Libre Baskerville" panose="02000000000000000000"/>
              </a:rPr>
              <a:t> </a:t>
            </a:r>
            <a:r>
              <a:rPr lang="en-US" b="0" i="0" u="none">
                <a:solidFill>
                  <a:schemeClr val="dk1"/>
                </a:solidFill>
                <a:latin typeface="Arial" panose="020B0604020202020204" pitchFamily="34" charset="0"/>
                <a:ea typeface="Libre Baskerville" panose="02000000000000000000"/>
                <a:cs typeface="Arial" panose="020B0604020202020204" pitchFamily="34" charset="0"/>
                <a:sym typeface="Libre Baskerville" panose="02000000000000000000"/>
              </a:rPr>
              <a:t>production and less expensive distribution and storage</a:t>
            </a:r>
            <a:endParaRPr lang="en-US" b="0" i="0" u="none">
              <a:solidFill>
                <a:schemeClr val="dk1"/>
              </a:solidFill>
              <a:latin typeface="Arial" panose="020B0604020202020204" pitchFamily="34" charset="0"/>
              <a:ea typeface="Libre Baskerville" panose="02000000000000000000"/>
              <a:cs typeface="Arial" panose="020B0604020202020204" pitchFamily="34" charset="0"/>
              <a:sym typeface="Libre Baskerville" panose="02000000000000000000"/>
            </a:endParaRPr>
          </a:p>
          <a:p>
            <a:pPr marL="273050" marR="0" lvl="0" indent="-273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lang="en-US" b="0" i="0" u="none">
                <a:solidFill>
                  <a:schemeClr val="dk1"/>
                </a:solidFill>
                <a:latin typeface="Arial" panose="020B0604020202020204" pitchFamily="34" charset="0"/>
                <a:ea typeface="Libre Baskerville" panose="02000000000000000000"/>
                <a:cs typeface="Arial" panose="020B0604020202020204" pitchFamily="34" charset="0"/>
                <a:sym typeface="Libre Baskerville" panose="02000000000000000000"/>
              </a:rPr>
              <a:t>The Product Era-This </a:t>
            </a:r>
            <a:r>
              <a:rPr lang="en-US" b="1" i="0" u="none">
                <a:solidFill>
                  <a:schemeClr val="dk1"/>
                </a:solidFill>
                <a:latin typeface="Arial" panose="020B0604020202020204" pitchFamily="34" charset="0"/>
                <a:ea typeface="Libre Baskerville" panose="02000000000000000000"/>
                <a:cs typeface="Arial" panose="020B0604020202020204" pitchFamily="34" charset="0"/>
                <a:sym typeface="Libre Baskerville" panose="02000000000000000000"/>
              </a:rPr>
              <a:t>era</a:t>
            </a:r>
            <a:r>
              <a:rPr lang="en-US" b="0" i="0" u="none">
                <a:solidFill>
                  <a:schemeClr val="dk1"/>
                </a:solidFill>
                <a:latin typeface="Arial" panose="020B0604020202020204" pitchFamily="34" charset="0"/>
                <a:ea typeface="Libre Baskerville" panose="02000000000000000000"/>
                <a:cs typeface="Arial" panose="020B0604020202020204" pitchFamily="34" charset="0"/>
                <a:sym typeface="Libre Baskerville" panose="02000000000000000000"/>
              </a:rPr>
              <a:t> brought about marketing beliefs that consumers will favor those </a:t>
            </a:r>
            <a:r>
              <a:rPr lang="en-US" b="1" i="0" u="none">
                <a:solidFill>
                  <a:schemeClr val="dk1"/>
                </a:solidFill>
                <a:latin typeface="Arial" panose="020B0604020202020204" pitchFamily="34" charset="0"/>
                <a:ea typeface="Libre Baskerville" panose="02000000000000000000"/>
                <a:cs typeface="Arial" panose="020B0604020202020204" pitchFamily="34" charset="0"/>
                <a:sym typeface="Libre Baskerville" panose="02000000000000000000"/>
              </a:rPr>
              <a:t>products</a:t>
            </a:r>
            <a:r>
              <a:rPr lang="en-US" b="0" i="0" u="none">
                <a:solidFill>
                  <a:schemeClr val="dk1"/>
                </a:solidFill>
                <a:latin typeface="Arial" panose="020B0604020202020204" pitchFamily="34" charset="0"/>
                <a:ea typeface="Libre Baskerville" panose="02000000000000000000"/>
                <a:cs typeface="Arial" panose="020B0604020202020204" pitchFamily="34" charset="0"/>
                <a:sym typeface="Libre Baskerville" panose="02000000000000000000"/>
              </a:rPr>
              <a:t> that offer the most quality, performance or innovative features. Marketing managers focus on making superior </a:t>
            </a:r>
            <a:r>
              <a:rPr lang="en-US" b="1" i="0" u="none">
                <a:solidFill>
                  <a:schemeClr val="dk1"/>
                </a:solidFill>
                <a:latin typeface="Arial" panose="020B0604020202020204" pitchFamily="34" charset="0"/>
                <a:ea typeface="Libre Baskerville" panose="02000000000000000000"/>
                <a:cs typeface="Arial" panose="020B0604020202020204" pitchFamily="34" charset="0"/>
                <a:sym typeface="Libre Baskerville" panose="02000000000000000000"/>
              </a:rPr>
              <a:t>products</a:t>
            </a:r>
            <a:r>
              <a:rPr lang="en-US" b="0" i="0" u="none">
                <a:solidFill>
                  <a:schemeClr val="dk1"/>
                </a:solidFill>
                <a:latin typeface="Arial" panose="020B0604020202020204" pitchFamily="34" charset="0"/>
                <a:ea typeface="Libre Baskerville" panose="02000000000000000000"/>
                <a:cs typeface="Arial" panose="020B0604020202020204" pitchFamily="34" charset="0"/>
                <a:sym typeface="Libre Baskerville" panose="02000000000000000000"/>
              </a:rPr>
              <a:t> and improving them over time.</a:t>
            </a:r>
            <a:endParaRPr lang="en-US" b="0" i="0" u="none">
              <a:solidFill>
                <a:schemeClr val="dk1"/>
              </a:solidFill>
              <a:latin typeface="Arial" panose="020B0604020202020204" pitchFamily="34" charset="0"/>
              <a:ea typeface="Libre Baskerville" panose="02000000000000000000"/>
              <a:cs typeface="Arial" panose="020B0604020202020204" pitchFamily="34" charset="0"/>
              <a:sym typeface="Libre Baskerville" panose="02000000000000000000"/>
            </a:endParaRPr>
          </a:p>
          <a:p>
            <a:pPr marL="273050" marR="0" lvl="0" indent="-273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endParaRPr lang="en-US" b="0" i="0" u="none">
              <a:solidFill>
                <a:schemeClr val="dk1"/>
              </a:solidFill>
              <a:latin typeface="Arial" panose="020B0604020202020204" pitchFamily="34" charset="0"/>
              <a:ea typeface="Libre Baskerville" panose="02000000000000000000"/>
              <a:cs typeface="Arial" panose="020B0604020202020204" pitchFamily="34" charset="0"/>
              <a:sym typeface="Libre Baskerville" panose="020000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699260" y="-317"/>
            <a:ext cx="9144000" cy="2387600"/>
          </a:xfrm>
        </p:spPr>
        <p:txBody>
          <a:bodyPr/>
          <a:p>
            <a:r>
              <a:rPr lang="en-GB" altLang="en-US"/>
              <a:t>Evolution of Marketing Cont’d</a:t>
            </a:r>
            <a:endParaRPr lang="en-GB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567690" y="2386965"/>
            <a:ext cx="10961370" cy="3715385"/>
          </a:xfrm>
        </p:spPr>
        <p:txBody>
          <a:bodyPr>
            <a:noAutofit/>
          </a:bodyPr>
          <a:p>
            <a:pPr marL="273050" marR="0" lvl="0" indent="-273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lang="en-US" sz="2300" b="1">
                <a:solidFill>
                  <a:schemeClr val="dk1"/>
                </a:solidFill>
                <a:latin typeface="Arial" panose="020B0604020202020204" pitchFamily="34" charset="0"/>
                <a:ea typeface="Libre Baskerville" panose="02000000000000000000"/>
                <a:cs typeface="Arial" panose="020B0604020202020204" pitchFamily="34" charset="0"/>
                <a:sym typeface="Libre Baskerville" panose="02000000000000000000"/>
              </a:rPr>
              <a:t>The Selling Era</a:t>
            </a:r>
            <a:r>
              <a:rPr lang="en-US" sz="2300">
                <a:solidFill>
                  <a:schemeClr val="dk1"/>
                </a:solidFill>
                <a:latin typeface="Arial" panose="020B0604020202020204" pitchFamily="34" charset="0"/>
                <a:ea typeface="Libre Baskerville" panose="02000000000000000000"/>
                <a:cs typeface="Arial" panose="020B0604020202020204" pitchFamily="34" charset="0"/>
                <a:sym typeface="Libre Baskerville" panose="02000000000000000000"/>
              </a:rPr>
              <a:t> -selling and advertising to persuade  consumers </a:t>
            </a:r>
            <a:endParaRPr lang="en-US" sz="2300" b="0" i="0" u="none">
              <a:solidFill>
                <a:schemeClr val="dk1"/>
              </a:solidFill>
              <a:latin typeface="Arial" panose="020B0604020202020204" pitchFamily="34" charset="0"/>
              <a:ea typeface="Libre Baskerville" panose="02000000000000000000"/>
              <a:cs typeface="Arial" panose="020B0604020202020204" pitchFamily="34" charset="0"/>
              <a:sym typeface="Libre Baskerville" panose="02000000000000000000"/>
            </a:endParaRPr>
          </a:p>
          <a:p>
            <a:pPr marL="273050" marR="0" lvl="0" indent="-273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lang="en-US" sz="2300" b="1">
                <a:solidFill>
                  <a:schemeClr val="dk1"/>
                </a:solidFill>
                <a:latin typeface="Arial" panose="020B0604020202020204" pitchFamily="34" charset="0"/>
                <a:ea typeface="Libre Baskerville" panose="02000000000000000000"/>
                <a:cs typeface="Arial" panose="020B0604020202020204" pitchFamily="34" charset="0"/>
                <a:sym typeface="Libre Baskerville" panose="02000000000000000000"/>
              </a:rPr>
              <a:t>The Marketing Concept Era-</a:t>
            </a:r>
            <a:r>
              <a:rPr lang="en-US" sz="2300">
                <a:solidFill>
                  <a:schemeClr val="dk1"/>
                </a:solidFill>
                <a:latin typeface="Arial" panose="020B0604020202020204" pitchFamily="34" charset="0"/>
                <a:ea typeface="Libre Baskerville" panose="02000000000000000000"/>
                <a:cs typeface="Arial" panose="020B0604020202020204" pitchFamily="34" charset="0"/>
                <a:sym typeface="Libre Baskerville" panose="02000000000000000000"/>
              </a:rPr>
              <a:t> customer orientation, service orientation, profit orientation</a:t>
            </a:r>
            <a:endParaRPr lang="en-US" sz="2300" b="0" i="0" u="none">
              <a:solidFill>
                <a:schemeClr val="dk1"/>
              </a:solidFill>
              <a:latin typeface="Arial" panose="020B0604020202020204" pitchFamily="34" charset="0"/>
              <a:ea typeface="Libre Baskerville" panose="02000000000000000000"/>
              <a:cs typeface="Arial" panose="020B0604020202020204" pitchFamily="34" charset="0"/>
              <a:sym typeface="Libre Baskerville" panose="02000000000000000000"/>
            </a:endParaRPr>
          </a:p>
          <a:p>
            <a:pPr marL="273050" marR="0" lvl="0" indent="-273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30"/>
              <a:buFont typeface="Noto Sans Symbols"/>
              <a:buChar char="⚫"/>
            </a:pPr>
            <a:r>
              <a:rPr lang="en-US" sz="2300" b="1">
                <a:solidFill>
                  <a:schemeClr val="dk1"/>
                </a:solidFill>
                <a:latin typeface="Arial" panose="020B0604020202020204" pitchFamily="34" charset="0"/>
                <a:ea typeface="Libre Baskerville" panose="02000000000000000000"/>
                <a:cs typeface="Arial" panose="020B0604020202020204" pitchFamily="34" charset="0"/>
                <a:sym typeface="Libre Baskerville" panose="02000000000000000000"/>
              </a:rPr>
              <a:t>The </a:t>
            </a:r>
            <a:r>
              <a:rPr lang="en-US" sz="2300">
                <a:solidFill>
                  <a:schemeClr val="dk1"/>
                </a:solidFill>
                <a:latin typeface="Arial" panose="020B0604020202020204" pitchFamily="34" charset="0"/>
                <a:ea typeface="Libre Baskerville" panose="02000000000000000000"/>
                <a:cs typeface="Arial" panose="020B0604020202020204" pitchFamily="34" charset="0"/>
                <a:sym typeface="Libre Baskerville" panose="02000000000000000000"/>
              </a:rPr>
              <a:t>Societal Marketing Era emphasizes on social responsibilities and suggests that to sustain long-term success, the company should develop a marketing strategy to provide value to the customers to maintain and improve both the customers and society’s well being better than the competitors.</a:t>
            </a:r>
            <a:endParaRPr lang="en-US" sz="2300">
              <a:solidFill>
                <a:schemeClr val="dk1"/>
              </a:solidFill>
              <a:latin typeface="Arial" panose="020B0604020202020204" pitchFamily="34" charset="0"/>
              <a:ea typeface="Libre Baskerville" panose="02000000000000000000"/>
              <a:cs typeface="Arial" panose="020B0604020202020204" pitchFamily="34" charset="0"/>
              <a:sym typeface="Libre Baskerville" panose="020000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 txBox="1"/>
          <p:nvPr>
            <p:ph type="subTitle" idx="1"/>
          </p:nvPr>
        </p:nvSpPr>
        <p:spPr>
          <a:xfrm>
            <a:off x="2819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2210"/>
              <a:buNone/>
            </a:pPr>
            <a:endParaRPr sz="2600">
              <a:solidFill>
                <a:schemeClr val="dk2"/>
              </a:solidFill>
            </a:endParaRPr>
          </a:p>
        </p:txBody>
      </p:sp>
      <p:sp>
        <p:nvSpPr>
          <p:cNvPr id="207" name="Google Shape;207;p7"/>
          <p:cNvSpPr txBox="1"/>
          <p:nvPr>
            <p:ph type="ctrTitle"/>
          </p:nvPr>
        </p:nvSpPr>
        <p:spPr>
          <a:xfrm>
            <a:off x="1752600" y="762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 panose="020B0604020202020204"/>
              <a:buNone/>
            </a:pPr>
            <a:r>
              <a:rPr lang="en-US" sz="3200" b="1" i="0" u="none">
                <a:solidFill>
                  <a:srgbClr val="FFFFFF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DEVELOPING a PRODUCT</a:t>
            </a:r>
            <a:endParaRPr lang="en-US" sz="3200" b="1" i="0" u="none">
              <a:solidFill>
                <a:srgbClr val="FFFFFF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1981200" y="381000"/>
            <a:ext cx="8153400" cy="6248400"/>
          </a:xfrm>
          <a:prstGeom prst="roundRect">
            <a:avLst>
              <a:gd name="adj" fmla="val 16667"/>
            </a:avLst>
          </a:prstGeom>
          <a:solidFill>
            <a:srgbClr val="B7D3F3"/>
          </a:solidFill>
          <a:ln w="9525" cap="flat" cmpd="sng">
            <a:solidFill>
              <a:srgbClr val="B7D3F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9982200" y="1143000"/>
            <a:ext cx="501650" cy="705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D3F3"/>
              </a:buClr>
              <a:buSzPts val="4000"/>
              <a:buFont typeface="Calibri" panose="020F0502020204030204"/>
              <a:buNone/>
            </a:pPr>
            <a:r>
              <a:rPr lang="en-US" sz="4000" b="1" i="0" u="none">
                <a:solidFill>
                  <a:srgbClr val="B7D3F3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*</a:t>
            </a:r>
            <a:endParaRPr lang="en-US" sz="4000" b="1" i="0" u="none">
              <a:solidFill>
                <a:srgbClr val="B7D3F3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906780" y="381000"/>
            <a:ext cx="10477500" cy="62687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34645" marR="0" lvl="1" indent="-33464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 panose="020B0604020202020204"/>
              <a:buChar char="•"/>
            </a:pPr>
            <a:r>
              <a:rPr lang="en-GB" altLang="en-US" sz="3200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Helvetica Neue" panose="020B0604020202020204"/>
                <a:cs typeface="Arial" panose="020B0604020202020204" pitchFamily="34" charset="0"/>
                <a:sym typeface="Helvetica Neue" panose="020B0604020202020204"/>
              </a:rPr>
              <a:t>Physical Product 4 Marketing Mix</a:t>
            </a:r>
            <a:endParaRPr lang="en-US" sz="3200" b="1" i="0" u="none" strike="noStrike" cap="none">
              <a:solidFill>
                <a:schemeClr val="dk1"/>
              </a:solidFill>
              <a:latin typeface="Arial" panose="020B0604020202020204" pitchFamily="34" charset="0"/>
              <a:ea typeface="Helvetica Neue" panose="020B0604020202020204"/>
              <a:cs typeface="Arial" panose="020B0604020202020204" pitchFamily="34" charset="0"/>
              <a:sym typeface="Helvetica Neue" panose="020B0604020202020204"/>
            </a:endParaRPr>
          </a:p>
          <a:p>
            <a:pPr marL="334645" marR="0" lvl="1" indent="-33464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 panose="020B0604020202020204"/>
              <a:buChar char="•"/>
            </a:pPr>
            <a:r>
              <a:rPr lang="en-US" sz="2400" b="1" i="0" u="none" strike="noStrike" cap="none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Helvetica Neue" panose="020B0604020202020204"/>
                <a:cs typeface="Arial" panose="020B0604020202020204" pitchFamily="34" charset="0"/>
                <a:sym typeface="Helvetica Neue" panose="020B0604020202020204"/>
              </a:rPr>
              <a:t>Product -- </a:t>
            </a:r>
            <a:r>
              <a:rPr lang="en-US" sz="2400" b="1" i="1" u="none" strike="noStrike" cap="none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Helvetica Neue" panose="020B0604020202020204"/>
                <a:cs typeface="Arial" panose="020B0604020202020204" pitchFamily="34" charset="0"/>
                <a:sym typeface="Helvetica Neue" panose="020B0604020202020204"/>
              </a:rPr>
              <a:t>A good, service, or idea that satisfies a consumer’s want or need.</a:t>
            </a:r>
            <a:endParaRPr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4645" marR="0" lvl="1" indent="-334645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 panose="020B0604020202020204"/>
              <a:buChar char="•"/>
            </a:pPr>
            <a:r>
              <a:rPr lang="en-US" sz="2400" b="1" i="0" u="none" strike="noStrike" cap="none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Helvetica Neue" panose="020B0604020202020204"/>
                <a:cs typeface="Arial" panose="020B0604020202020204" pitchFamily="34" charset="0"/>
                <a:sym typeface="Helvetica Neue" panose="020B0604020202020204"/>
              </a:rPr>
              <a:t>Price</a:t>
            </a:r>
            <a:r>
              <a:rPr lang="en-US" sz="2400" b="1" i="1" u="none" strike="noStrike" cap="none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Helvetica Neue" panose="020B0604020202020204"/>
                <a:cs typeface="Arial" panose="020B0604020202020204" pitchFamily="34" charset="0"/>
                <a:sym typeface="Helvetica Neue" panose="020B0604020202020204"/>
              </a:rPr>
              <a:t> -- </a:t>
            </a:r>
            <a:r>
              <a:rPr lang="en-US" sz="2400" b="1" i="1" u="none" strike="noStrike" cap="none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consider the costs of producing, distributing and promoting the product, which all influence the price.</a:t>
            </a:r>
            <a:endParaRPr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4645" marR="0" lvl="1" indent="-334645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 panose="020B0604020202020204"/>
              <a:buChar char="•"/>
            </a:pPr>
            <a:r>
              <a:rPr lang="en-US" sz="2400" b="1" i="0" u="none" strike="noStrike" cap="none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Helvetica Neue" panose="020B0604020202020204"/>
                <a:cs typeface="Arial" panose="020B0604020202020204" pitchFamily="34" charset="0"/>
                <a:sym typeface="Helvetica Neue" panose="020B0604020202020204"/>
              </a:rPr>
              <a:t>Promotion</a:t>
            </a:r>
            <a:r>
              <a:rPr lang="en-US" sz="2400" b="1" i="1" u="none" strike="noStrike" cap="none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Helvetica Neue" panose="020B0604020202020204"/>
                <a:cs typeface="Arial" panose="020B0604020202020204" pitchFamily="34" charset="0"/>
                <a:sym typeface="Helvetica Neue" panose="020B0604020202020204"/>
              </a:rPr>
              <a:t> -- </a:t>
            </a:r>
            <a:r>
              <a:rPr lang="en-US" sz="2400" b="1" i="1" u="none" strike="noStrike" cap="none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advertising, personal selling; public relations, publicity; word of mouth and various sales promotion efforts.</a:t>
            </a:r>
            <a:endParaRPr sz="24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4645" marR="0" lvl="1" indent="-334645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 panose="020B0604020202020204"/>
              <a:buChar char="•"/>
            </a:pPr>
            <a:r>
              <a:rPr lang="en-US" sz="2400" b="1" i="0" u="none" strike="noStrike" cap="none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Place -- </a:t>
            </a:r>
            <a:r>
              <a:rPr lang="en-US" sz="2400" b="1" i="1" u="none" strike="noStrike" cap="none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Arial" panose="020B0604020202020204"/>
                <a:cs typeface="Arial" panose="020B0604020202020204" pitchFamily="34" charset="0"/>
                <a:sym typeface="Arial" panose="020B0604020202020204"/>
              </a:rPr>
              <a:t>Getting the product to consumers when and where they want is critical to market success</a:t>
            </a:r>
            <a:endParaRPr sz="2400" b="1" i="1" u="none" strike="noStrike" cap="none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Helvetica Neue" panose="020B0604020202020204"/>
              <a:cs typeface="Arial" panose="020B0604020202020204" pitchFamily="34" charset="0"/>
              <a:sym typeface="Helvetica Neue" panose="020B0604020202020204"/>
            </a:endParaRPr>
          </a:p>
          <a:p>
            <a:pPr marL="334645" marR="0" lvl="1" indent="-334645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 panose="020B0604020202020204"/>
              <a:buChar char="•"/>
            </a:pPr>
            <a:r>
              <a:rPr lang="en-US" sz="2400" b="1" i="0" u="none" strike="noStrike" cap="none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Helvetica Neue" panose="020B0604020202020204"/>
                <a:cs typeface="Arial" panose="020B0604020202020204" pitchFamily="34" charset="0"/>
                <a:sym typeface="Helvetica Neue" panose="020B0604020202020204"/>
              </a:rPr>
              <a:t>Brand Name -- </a:t>
            </a:r>
            <a:r>
              <a:rPr lang="en-US" sz="2400" b="1" i="1" u="none" strike="noStrike" cap="none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Helvetica Neue" panose="020B0604020202020204"/>
                <a:cs typeface="Arial" panose="020B0604020202020204" pitchFamily="34" charset="0"/>
                <a:sym typeface="Helvetica Neue" panose="020B0604020202020204"/>
              </a:rPr>
              <a:t>A word, letter, or a group of words or letters that differentiates one seller’s goods from a competitor’s.</a:t>
            </a:r>
            <a:endParaRPr lang="en-US" sz="2400" b="1" i="1" u="none" strike="noStrike" cap="none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Helvetica Neue" panose="020B0604020202020204"/>
              <a:cs typeface="Arial" panose="020B0604020202020204" pitchFamily="34" charset="0"/>
              <a:sym typeface="Helvetica Neue" panose="020B0604020202020204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9296400" y="1295400"/>
            <a:ext cx="685800" cy="35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Helvetica Neue" panose="020B0604020202020204"/>
              <a:buNone/>
            </a:pPr>
            <a:r>
              <a:rPr lang="en-US" sz="1700" b="1" i="0" u="none">
                <a:solidFill>
                  <a:schemeClr val="lt1"/>
                </a:solidFill>
                <a:latin typeface="Helvetica Neue" panose="020B0604020202020204"/>
                <a:ea typeface="Helvetica Neue" panose="020B0604020202020204"/>
                <a:cs typeface="Helvetica Neue" panose="020B0604020202020204"/>
                <a:sym typeface="Helvetica Neue" panose="020B0604020202020204"/>
              </a:rPr>
              <a:t>LG2</a:t>
            </a:r>
            <a:endParaRPr lang="en-US" sz="1700" b="1" i="0" u="none">
              <a:solidFill>
                <a:schemeClr val="lt1"/>
              </a:solidFill>
              <a:latin typeface="Helvetica Neue" panose="020B0604020202020204"/>
              <a:ea typeface="Helvetica Neue" panose="020B0604020202020204"/>
              <a:cs typeface="Helvetica Neue" panose="020B0604020202020204"/>
              <a:sym typeface="Helvetica Neue" panose="020B0604020202020204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87630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 panose="02020603050405020304"/>
              <a:buNone/>
            </a:pPr>
            <a:r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13-</a:t>
            </a: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lang="en-US" sz="1200" b="0" i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"/>
          <p:cNvSpPr/>
          <p:nvPr>
            <p:ph type="subTitle" idx="1"/>
          </p:nvPr>
        </p:nvSpPr>
        <p:spPr>
          <a:xfrm>
            <a:off x="1560195" y="1880235"/>
            <a:ext cx="9966325" cy="3293110"/>
          </a:xfrm>
        </p:spPr>
        <p:txBody>
          <a:bodyPr>
            <a:noAutofit/>
          </a:bodyPr>
          <a:p>
            <a:r>
              <a:rPr lang="en-US" sz="2000" b="1"/>
              <a:t>People :</a:t>
            </a:r>
            <a:endParaRPr lang="en-US" sz="2000" b="1"/>
          </a:p>
          <a:p>
            <a:r>
              <a:rPr lang="en-US" sz="2000" b="1"/>
              <a:t>The role of the service employee becomes much more critical since to a very real extent the</a:t>
            </a:r>
            <a:r>
              <a:rPr lang="en-GB" altLang="en-US" sz="2000" b="1"/>
              <a:t> </a:t>
            </a:r>
            <a:r>
              <a:rPr lang="en-US" sz="2000" b="1"/>
              <a:t>employee is the service, given the absence of any tangible artifact. They carry the responsibility of</a:t>
            </a:r>
            <a:r>
              <a:rPr lang="en-GB" altLang="en-US" sz="2000" b="1"/>
              <a:t> </a:t>
            </a:r>
            <a:r>
              <a:rPr lang="en-US" sz="2000" b="1"/>
              <a:t>projecting the image of the service firm. </a:t>
            </a:r>
            <a:endParaRPr lang="en-US" sz="2000" b="1"/>
          </a:p>
          <a:p>
            <a:r>
              <a:rPr lang="en-US" sz="2000" b="1"/>
              <a:t>Physical Evidence :</a:t>
            </a:r>
            <a:endParaRPr lang="en-US" sz="2000" b="1"/>
          </a:p>
          <a:p>
            <a:r>
              <a:rPr lang="en-US" sz="2000" b="1"/>
              <a:t>Physical evidence of service includes all the tangible representations of service such as clear signage,</a:t>
            </a:r>
            <a:r>
              <a:rPr lang="en-GB" altLang="en-US" sz="2000" b="1"/>
              <a:t> </a:t>
            </a:r>
            <a:r>
              <a:rPr lang="en-US" sz="2000" b="1"/>
              <a:t>good ventilation, adequate space, internet presence, equipment and facility. As services are</a:t>
            </a:r>
            <a:r>
              <a:rPr lang="en-GB" altLang="en-US" sz="2000" b="1"/>
              <a:t> </a:t>
            </a:r>
            <a:r>
              <a:rPr lang="en-US" sz="2000" b="1"/>
              <a:t>intangible, customers are searching for any tangible cues to help them understand the nature of the</a:t>
            </a:r>
            <a:r>
              <a:rPr lang="en-GB" altLang="en-US" sz="2000" b="1"/>
              <a:t> </a:t>
            </a:r>
            <a:r>
              <a:rPr lang="en-US" sz="2000" b="1"/>
              <a:t>service experience</a:t>
            </a:r>
            <a:endParaRPr lang="en-US" sz="2000" b="1"/>
          </a:p>
          <a:p>
            <a:r>
              <a:rPr lang="en-US" sz="2000" b="1"/>
              <a:t>Process :</a:t>
            </a:r>
            <a:endParaRPr lang="en-US" sz="2000" b="1"/>
          </a:p>
          <a:p>
            <a:r>
              <a:rPr lang="en-US" sz="2000" b="1"/>
              <a:t>Process is referred to as the procedures, mechanisms and flow of activities by which the service isdelivered i.e. the service delivery and operating systems. </a:t>
            </a:r>
            <a:endParaRPr lang="en-US" sz="2000" b="1"/>
          </a:p>
        </p:txBody>
      </p:sp>
      <p:sp>
        <p:nvSpPr>
          <p:cNvPr id="3" name="Title 2"/>
          <p:cNvSpPr/>
          <p:nvPr>
            <p:ph type="ctrTitle"/>
          </p:nvPr>
        </p:nvSpPr>
        <p:spPr>
          <a:xfrm>
            <a:off x="1981200" y="286385"/>
            <a:ext cx="8229600" cy="1154430"/>
          </a:xfrm>
        </p:spPr>
        <p:txBody>
          <a:bodyPr/>
          <a:p>
            <a:r>
              <a:rPr lang="en-GB" altLang="en-US"/>
              <a:t>Service 3 Marketing Mix</a:t>
            </a:r>
            <a:endParaRPr lang="en-GB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Subtitle 2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 anchorCtr="0"/>
          <a:p>
            <a:pPr defTabSz="457200" eaLnBrk="1" hangingPunct="1">
              <a:buClrTx/>
              <a:buSzTx/>
            </a:pPr>
            <a:endParaRPr lang="en-US" altLang="en-US" kern="1200" dirty="0">
              <a:solidFill>
                <a:srgbClr val="898989"/>
              </a:solidFill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981200" y="381000"/>
            <a:ext cx="8153400" cy="6248400"/>
          </a:xfrm>
          <a:prstGeom prst="roundRect">
            <a:avLst/>
          </a:prstGeom>
          <a:solidFill>
            <a:srgbClr val="B7D3F3"/>
          </a:solidFill>
          <a:ln>
            <a:solidFill>
              <a:srgbClr val="B7D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8839200" y="152400"/>
            <a:ext cx="1644650" cy="1600200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6325" name="TextBox 7"/>
          <p:cNvSpPr txBox="1"/>
          <p:nvPr/>
        </p:nvSpPr>
        <p:spPr>
          <a:xfrm>
            <a:off x="9982200" y="1143000"/>
            <a:ext cx="501650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4000" b="1" dirty="0">
                <a:solidFill>
                  <a:srgbClr val="B7D3F3"/>
                </a:solidFill>
              </a:rPr>
              <a:t>*</a:t>
            </a:r>
            <a:endParaRPr lang="en-US" altLang="en-US" sz="4000" b="1" dirty="0">
              <a:solidFill>
                <a:srgbClr val="B7D3F3"/>
              </a:solidFill>
            </a:endParaRPr>
          </a:p>
        </p:txBody>
      </p:sp>
      <p:sp>
        <p:nvSpPr>
          <p:cNvPr id="56326" name="TextBox 8"/>
          <p:cNvSpPr txBox="1"/>
          <p:nvPr/>
        </p:nvSpPr>
        <p:spPr>
          <a:xfrm>
            <a:off x="8686800" y="0"/>
            <a:ext cx="609600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4000" b="1" dirty="0">
                <a:solidFill>
                  <a:srgbClr val="660066"/>
                </a:solidFill>
              </a:rPr>
              <a:t>*</a:t>
            </a:r>
            <a:endParaRPr lang="en-US" altLang="en-US" sz="4000" b="1" dirty="0">
              <a:solidFill>
                <a:srgbClr val="660066"/>
              </a:solidFill>
            </a:endParaRPr>
          </a:p>
        </p:txBody>
      </p:sp>
      <p:sp>
        <p:nvSpPr>
          <p:cNvPr id="56328" name="TextBox 14"/>
          <p:cNvSpPr txBox="1"/>
          <p:nvPr/>
        </p:nvSpPr>
        <p:spPr>
          <a:xfrm>
            <a:off x="2057400" y="2036763"/>
            <a:ext cx="8077200" cy="3692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</a:lstStyle>
          <a:p>
            <a:pPr marL="341630" lvl="1" indent="-341630" eaLnBrk="1" hangingPunct="1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en-US" sz="2700" dirty="0">
                <a:latin typeface="Helvetica"/>
                <a:ea typeface="Helvetica"/>
              </a:rPr>
              <a:t>B2B marketers include:</a:t>
            </a:r>
            <a:endParaRPr lang="en-US" altLang="en-US" sz="2700" dirty="0">
              <a:latin typeface="Helvetica"/>
              <a:ea typeface="Helvetica"/>
            </a:endParaRPr>
          </a:p>
          <a:p>
            <a:pPr marL="798830" lvl="2" indent="-341630" eaLnBrk="1" hangingPunct="1">
              <a:spcBef>
                <a:spcPct val="0"/>
              </a:spcBef>
              <a:spcAft>
                <a:spcPts val="1200"/>
              </a:spcAft>
              <a:buFont typeface="Lucida Grande" pitchFamily="-106" charset="0"/>
              <a:buChar char="-"/>
            </a:pPr>
            <a:r>
              <a:rPr lang="en-US" altLang="en-US" sz="2200" dirty="0">
                <a:latin typeface="Helvetica"/>
                <a:ea typeface="Helvetica"/>
              </a:rPr>
              <a:t>Manufacturers</a:t>
            </a:r>
            <a:endParaRPr lang="en-US" altLang="en-US" sz="2200" dirty="0">
              <a:latin typeface="Helvetica"/>
              <a:ea typeface="Helvetica"/>
            </a:endParaRPr>
          </a:p>
          <a:p>
            <a:pPr marL="798830" lvl="2" indent="-341630" eaLnBrk="1" hangingPunct="1">
              <a:spcBef>
                <a:spcPct val="0"/>
              </a:spcBef>
              <a:spcAft>
                <a:spcPts val="1200"/>
              </a:spcAft>
              <a:buFont typeface="Lucida Grande" pitchFamily="-106" charset="0"/>
              <a:buChar char="-"/>
            </a:pPr>
            <a:r>
              <a:rPr lang="en-US" altLang="en-US" sz="2200" dirty="0">
                <a:latin typeface="Helvetica"/>
                <a:ea typeface="Helvetica"/>
              </a:rPr>
              <a:t>Wholesalers and retailers</a:t>
            </a:r>
            <a:endParaRPr lang="en-US" altLang="en-US" sz="2200" dirty="0">
              <a:latin typeface="Helvetica"/>
              <a:ea typeface="Helvetica"/>
            </a:endParaRPr>
          </a:p>
          <a:p>
            <a:pPr marL="798830" lvl="2" indent="-341630" eaLnBrk="1" hangingPunct="1">
              <a:spcBef>
                <a:spcPct val="0"/>
              </a:spcBef>
              <a:spcAft>
                <a:spcPts val="1200"/>
              </a:spcAft>
              <a:buFont typeface="Lucida Grande" pitchFamily="-106" charset="0"/>
              <a:buChar char="-"/>
            </a:pPr>
            <a:r>
              <a:rPr lang="en-US" altLang="en-US" sz="2200" dirty="0">
                <a:latin typeface="Helvetica"/>
                <a:ea typeface="Helvetica"/>
              </a:rPr>
              <a:t>Hospitals, schools and charities</a:t>
            </a:r>
            <a:endParaRPr lang="en-US" altLang="en-US" sz="2200" dirty="0">
              <a:latin typeface="Helvetica"/>
              <a:ea typeface="Helvetica"/>
            </a:endParaRPr>
          </a:p>
          <a:p>
            <a:pPr marL="798830" lvl="2" indent="-341630" eaLnBrk="1" hangingPunct="1">
              <a:spcBef>
                <a:spcPct val="0"/>
              </a:spcBef>
              <a:spcAft>
                <a:spcPts val="3000"/>
              </a:spcAft>
              <a:buFont typeface="Lucida Grande" pitchFamily="-106" charset="0"/>
              <a:buChar char="-"/>
            </a:pPr>
            <a:r>
              <a:rPr lang="en-US" altLang="en-US" sz="2200" dirty="0">
                <a:latin typeface="Helvetica"/>
                <a:ea typeface="Helvetica"/>
              </a:rPr>
              <a:t>Government</a:t>
            </a:r>
            <a:endParaRPr lang="en-US" altLang="en-US" sz="2200" dirty="0">
              <a:latin typeface="Helvetica"/>
              <a:ea typeface="Helvetica"/>
            </a:endParaRPr>
          </a:p>
          <a:p>
            <a:pPr marL="341630" lvl="1" indent="-341630" eaLnBrk="1" hangingPunct="1">
              <a:spcBef>
                <a:spcPct val="0"/>
              </a:spcBef>
              <a:spcAft>
                <a:spcPts val="3000"/>
              </a:spcAft>
              <a:buFont typeface="Arial" panose="020B0604020202020204" pitchFamily="34" charset="0"/>
              <a:buChar char="•"/>
            </a:pPr>
            <a:r>
              <a:rPr lang="en-US" altLang="en-US" sz="2700" dirty="0">
                <a:latin typeface="Helvetica"/>
                <a:ea typeface="Helvetica"/>
              </a:rPr>
              <a:t>Products are often sold and resold several times before reaching final consumers.</a:t>
            </a:r>
            <a:endParaRPr lang="en-US" altLang="en-US" sz="2700" dirty="0">
              <a:latin typeface="Helvetica"/>
              <a:ea typeface="Helvetica"/>
            </a:endParaRPr>
          </a:p>
        </p:txBody>
      </p:sp>
      <p:sp>
        <p:nvSpPr>
          <p:cNvPr id="56329" name="Title 1"/>
          <p:cNvSpPr>
            <a:spLocks noGrp="1"/>
          </p:cNvSpPr>
          <p:nvPr>
            <p:ph type="ctrTitle"/>
          </p:nvPr>
        </p:nvSpPr>
        <p:spPr>
          <a:xfrm>
            <a:off x="1676400" y="282575"/>
            <a:ext cx="7772400" cy="1470025"/>
          </a:xfrm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en-US" altLang="en-US" sz="3200" b="1" dirty="0">
                <a:latin typeface="Helvetica"/>
                <a:ea typeface="Helvetica"/>
              </a:rPr>
              <a:t>BUSINESS-to-BUSINESS </a:t>
            </a:r>
            <a:br>
              <a:rPr lang="en-US" altLang="en-US" sz="3200" b="1" dirty="0">
                <a:latin typeface="Helvetica"/>
                <a:ea typeface="Helvetica"/>
              </a:rPr>
            </a:br>
            <a:r>
              <a:rPr lang="en-US" altLang="en-US" sz="3200" b="1" dirty="0">
                <a:latin typeface="Helvetica"/>
                <a:ea typeface="Helvetica"/>
              </a:rPr>
              <a:t>MARKET (B2B)</a:t>
            </a:r>
            <a:endParaRPr lang="en-US" altLang="en-US" sz="3200" b="1" dirty="0">
              <a:latin typeface="Helvetica"/>
              <a:ea typeface="Helvetica"/>
            </a:endParaRPr>
          </a:p>
        </p:txBody>
      </p:sp>
      <p:pic>
        <p:nvPicPr>
          <p:cNvPr id="12" name="Picture 11" descr="Playground.ps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299" y="2311400"/>
            <a:ext cx="3009900" cy="2235200"/>
          </a:xfrm>
          <a:prstGeom prst="rect">
            <a:avLst/>
          </a:prstGeom>
          <a:effectLst>
            <a:softEdge rad="88900"/>
          </a:effectLst>
        </p:spPr>
      </p:pic>
      <p:sp>
        <p:nvSpPr>
          <p:cNvPr id="56332" name="Text Box 10"/>
          <p:cNvSpPr txBox="1"/>
          <p:nvPr/>
        </p:nvSpPr>
        <p:spPr>
          <a:xfrm>
            <a:off x="9753600" y="6430963"/>
            <a:ext cx="914400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  <a:t>13-</a:t>
            </a:r>
            <a:fld id="{9A0DB2DC-4C9A-4742-B13C-FB6460FD3503}" type="slidenum">
              <a:rPr lang="en-US" altLang="en-US" sz="1200" dirty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altLang="en-US" sz="12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6333" name="Audio 2">
            <a:hlinkClick r:id="" action="ppaction://media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6096000"/>
            <a:ext cx="609600" cy="609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6024563"/>
            <a:ext cx="709613" cy="6492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6336" name="Picture 2" descr="Image result for brac business school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2888" y="6024563"/>
            <a:ext cx="696912" cy="6492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Tm="97694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1124585"/>
          </a:xfrm>
        </p:spPr>
        <p:txBody>
          <a:bodyPr>
            <a:normAutofit fontScale="90000"/>
          </a:bodyPr>
          <a:p>
            <a:r>
              <a:rPr lang="en-GB" altLang="en-US"/>
              <a:t>Business-to-Consumer Market</a:t>
            </a:r>
            <a:endParaRPr lang="en-GB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/>
              <a:t>The term business-to-consumer (B2C) refers to the process of selling products and services directly between a business and consumers who are the end-users of its products or services. Most companies that sell directly to consumers can be referred to as B2C companies. 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218440"/>
            <a:ext cx="9144000" cy="1455420"/>
          </a:xfrm>
        </p:spPr>
        <p:txBody>
          <a:bodyPr>
            <a:normAutofit fontScale="90000"/>
          </a:bodyPr>
          <a:p>
            <a:r>
              <a:rPr lang="en-GB" altLang="en-US"/>
              <a:t>Differences between B2B and B2C</a:t>
            </a:r>
            <a:endParaRPr lang="en-GB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37945" y="1673860"/>
            <a:ext cx="9330055" cy="3583940"/>
          </a:xfrm>
        </p:spPr>
        <p:txBody>
          <a:bodyPr>
            <a:normAutofit/>
          </a:bodyPr>
          <a:p>
            <a:r>
              <a:rPr lang="en-US" altLang="en-US"/>
              <a:t>C</a:t>
            </a:r>
            <a:r>
              <a:rPr lang="en-GB" altLang="en-US"/>
              <a:t>ustomer </a:t>
            </a:r>
            <a:r>
              <a:rPr lang="en-US" altLang="en-US"/>
              <a:t>L</a:t>
            </a:r>
            <a:r>
              <a:rPr lang="en-GB" altLang="en-US"/>
              <a:t>ifetime </a:t>
            </a:r>
            <a:r>
              <a:rPr lang="en-US" altLang="en-US"/>
              <a:t>V</a:t>
            </a:r>
            <a:r>
              <a:rPr lang="en-GB" altLang="en-US"/>
              <a:t>alue</a:t>
            </a:r>
            <a:r>
              <a:rPr lang="en-US" altLang="en-US"/>
              <a:t> in B2B relationships tends to be long term and strategic. B2B companies often offer complex products or services that require ongoing support and maintenance. As a result, B2B customers usually have a higher LTV because they make repeat purchases over time, often involving larger transaction values.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In contrast, B2C transactions are typically more transactional and shorter in duration, resulting in lower LTV, as consumers may not return frequently for repeat purchases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3711</Words>
  <Application>WPS Presentation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1" baseType="lpstr">
      <vt:lpstr>Arial</vt:lpstr>
      <vt:lpstr>SimSun</vt:lpstr>
      <vt:lpstr>Wingdings</vt:lpstr>
      <vt:lpstr>Libre Franklin</vt:lpstr>
      <vt:lpstr>Segoe Print</vt:lpstr>
      <vt:lpstr>Noto Sans Symbols</vt:lpstr>
      <vt:lpstr>Libre Baskerville</vt:lpstr>
      <vt:lpstr>Helvetica Neue</vt:lpstr>
      <vt:lpstr>Arial</vt:lpstr>
      <vt:lpstr>Calibri</vt:lpstr>
      <vt:lpstr>Times New Roman</vt:lpstr>
      <vt:lpstr>Calibri Light</vt:lpstr>
      <vt:lpstr>Microsoft YaHei</vt:lpstr>
      <vt:lpstr>Arial Unicode MS</vt:lpstr>
      <vt:lpstr>MS PGothic</vt:lpstr>
      <vt:lpstr>Helvetica</vt:lpstr>
      <vt:lpstr>Lucida Grande</vt:lpstr>
      <vt:lpstr>Calibri</vt:lpstr>
      <vt:lpstr>Wide Latin</vt:lpstr>
      <vt:lpstr>Office Theme</vt:lpstr>
      <vt:lpstr>Week-8 Session-1</vt:lpstr>
      <vt:lpstr>WHAT’S MARKETING?</vt:lpstr>
      <vt:lpstr>Marketing</vt:lpstr>
      <vt:lpstr>Evolution of Marketing</vt:lpstr>
      <vt:lpstr>The Evolution of Marketing</vt:lpstr>
      <vt:lpstr>Evolution of Marketing Cont’d</vt:lpstr>
      <vt:lpstr>DEVELOPING a PRODUCT</vt:lpstr>
      <vt:lpstr>Service 3 Marketing Mix</vt:lpstr>
      <vt:lpstr>BUSINESS-to-BUSINESS  MARKET (B2B)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Week-7</dc:title>
  <dc:creator>User</dc:creator>
  <cp:lastModifiedBy>Zoeb-Ur- Rahman</cp:lastModifiedBy>
  <cp:revision>8</cp:revision>
  <dcterms:created xsi:type="dcterms:W3CDTF">2024-08-29T06:31:00Z</dcterms:created>
  <dcterms:modified xsi:type="dcterms:W3CDTF">2024-12-02T07:26:52Z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815AA4F0962D4D50879AC4C171E5B309_13</vt:lpwstr>
  </property>
  <property fmtid="{D5CDD505-2E9C-101B-9397-08002B2CF9AE}" pid="3" name="KSOProductBuildVer">
    <vt:lpwstr>1033-12.2.0.18911</vt:lpwstr>
  </property>
</Properties>
</file>