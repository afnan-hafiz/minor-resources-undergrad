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80" r:id="rId3"/>
    <p:sldId id="270" r:id="rId4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9144000" cy="6858000"/>
  <p:notesSz cx="6858000" cy="9144000"/>
  <p:embeddedFontLst>
    <p:embeddedFont>
      <p:font typeface="Calibri" panose="020F0502020204030204"/>
      <p:regular r:id="rId18"/>
    </p:embeddedFont>
    <p:embeddedFont>
      <p:font typeface="Helvetica Neue" panose="020B0604020202020204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07" name="Google Shape;207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fld id="{00000000-1234-1234-1234-123412341234}" type="slidenum">
              <a:rPr lang="en-US" sz="24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2400" b="0" i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8" name="Google Shape;208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1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1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1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0" name="Google Shape;240;p1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46" name="Google Shape;246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fld id="{00000000-1234-1234-1234-123412341234}" type="slidenum">
              <a:rPr lang="en-US" sz="24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2400" b="0" i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7" name="Google Shape;247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60" name="Google Shape;260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fld id="{00000000-1234-1234-1234-123412341234}" type="slidenum">
              <a:rPr lang="en-US" sz="24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2400" b="0" i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1" name="Google Shape;261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77" name="Google Shape;277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fld id="{00000000-1234-1234-1234-123412341234}" type="slidenum">
              <a:rPr lang="en-US" sz="24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2400" b="0" i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8" name="Google Shape;278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93" name="Google Shape;293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fld id="{00000000-1234-1234-1234-123412341234}" type="slidenum">
              <a:rPr lang="en-US" sz="24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2400" b="0" i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1" name="Google Shape;311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fld id="{00000000-1234-1234-1234-123412341234}" type="slidenum">
              <a:rPr lang="en-US" sz="2400" b="0" i="0" u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US" sz="2400" b="0" i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2" name="Google Shape;312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8" name="Google Shape;48;p31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2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32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3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71" name="Google Shape;71;p35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2" name="Google Shape;72;p35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73" name="Google Shape;73;p35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3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0" name="Google Shape;80;p3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3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A427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GB" altLang="en-US"/>
              <a:t>Week 9</a:t>
            </a:r>
            <a:br>
              <a:rPr lang="en-GB" altLang="en-US"/>
            </a:br>
            <a:r>
              <a:rPr lang="en-GB" altLang="en-US"/>
              <a:t>Session 1</a:t>
            </a:r>
            <a:endParaRPr lang="en-GB" alt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GB" altLang="en-US"/>
              <a:t>Accounting Part 2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533400" y="2306637"/>
            <a:ext cx="8077200" cy="277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0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Fundamental Accounting Equation -- </a:t>
            </a:r>
            <a:r>
              <a:rPr lang="en-US" sz="2500" b="0" i="1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The basis for the balance sheet.</a:t>
            </a:r>
            <a:endParaRPr lang="en-US" sz="2500" b="0" i="1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4170" marR="0" lvl="0" indent="-34417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The equation must always be balanced and includes the formula: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 panose="02070309020205020404"/>
              <a:buChar char="o"/>
            </a:pPr>
            <a:r>
              <a:rPr lang="en-US" sz="2500" b="0" i="1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Assets = Liabilities + Owners Equity</a:t>
            </a:r>
            <a:endParaRPr lang="en-US" sz="2500" b="0" i="1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16" name="Google Shape;216;p15"/>
          <p:cNvSpPr txBox="1"/>
          <p:nvPr>
            <p:ph type="ctrTitle"/>
          </p:nvPr>
        </p:nvSpPr>
        <p:spPr>
          <a:xfrm>
            <a:off x="2286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The FUNDAMENTAL </a:t>
            </a:r>
            <a:b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</a:b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ACCOUNTING EQUATION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7423150" y="304800"/>
            <a:ext cx="1492250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 panose="020B0604020202020204"/>
              <a:buNone/>
            </a:pPr>
            <a:r>
              <a:rPr lang="en-US" sz="1500" b="0" i="1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The Fundamental Accounting Equation</a:t>
            </a:r>
            <a:endParaRPr lang="en-US" sz="1500" b="0" i="1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LG4</a:t>
            </a:r>
            <a:endParaRPr lang="en-US" sz="1700" b="1" i="0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Assets</a:t>
            </a:r>
            <a:endParaRPr lang="en-US" sz="44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16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probable future economic benefit must exist</a:t>
            </a:r>
            <a:endParaRPr lang="en-US" sz="2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benefit must arise from some past transaction or event</a:t>
            </a:r>
            <a:endParaRPr lang="en-US" sz="2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business must have the right to control the resource</a:t>
            </a:r>
            <a:endParaRPr lang="en-US" sz="2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asset must be capable of measurement in monetary terms</a:t>
            </a:r>
            <a:endParaRPr lang="en-US" sz="2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Assets</a:t>
            </a:r>
            <a:endParaRPr lang="en-US" sz="44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17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Tangible Assets (Inventories)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Intangible assets (Patents) 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Asset classification</a:t>
            </a:r>
            <a:endParaRPr lang="en-US" sz="44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18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assets</a:t>
            </a: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are basically assets that are held for the short term. (Ex. Cash, trade receivables, inventories) 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Char char="•"/>
            </a:pPr>
            <a:r>
              <a:rPr lang="en-US" sz="3200" b="0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Non-current assets</a:t>
            </a:r>
            <a:r>
              <a:rPr lang="en-US" sz="32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(also called fixed assets) are simply assets that do not meet the definition of current assets. They tend to be held for long-term operations. (Ex. property, plant, equipment) </a:t>
            </a:r>
            <a:endParaRPr lang="en-US" sz="32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Claims</a:t>
            </a:r>
            <a:endParaRPr lang="en-US" sz="44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19"/>
          <p:cNvSpPr txBox="1"/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Char char="•"/>
            </a:pPr>
            <a:r>
              <a:rPr lang="en-US" sz="3200" b="1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Equity </a:t>
            </a:r>
            <a:r>
              <a:rPr lang="en-US" sz="32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en-US" sz="20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represents the claim of the owner(s) against the business. This claim is sometimes referred to as the </a:t>
            </a:r>
            <a:r>
              <a:rPr lang="en-US" sz="2000" b="1" i="0" u="none">
                <a:solidFill>
                  <a:srgbClr val="4F622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owner’s capital</a:t>
            </a:r>
            <a:endParaRPr lang="en-US" sz="2000" b="1" i="0" u="none">
              <a:solidFill>
                <a:srgbClr val="4F622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 panose="020B0604020202020204"/>
              <a:buChar char="•"/>
            </a:pPr>
            <a:r>
              <a:rPr lang="en-US" sz="3200" b="1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Liabilities </a:t>
            </a:r>
            <a:r>
              <a:rPr lang="en-US" sz="32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– </a:t>
            </a:r>
            <a:r>
              <a:rPr lang="en-US" sz="20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claim of outsiders</a:t>
            </a:r>
            <a:endParaRPr lang="en-US" sz="2000" b="1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</a:t>
            </a:r>
            <a:r>
              <a:rPr lang="en-US" sz="20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en-US" sz="2000" b="1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liabilities</a:t>
            </a:r>
            <a:r>
              <a:rPr lang="en-US" sz="20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are basically amounts due for settlement in the short term. (Ex. short term loans)</a:t>
            </a:r>
            <a:endParaRPr lang="en-US" sz="2000" b="1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en-US" sz="20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-</a:t>
            </a:r>
            <a:r>
              <a:rPr lang="en-US" sz="2000" b="1" i="0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Non-current liabilities</a:t>
            </a:r>
            <a:r>
              <a:rPr lang="en-US" sz="2000" b="1" i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represent longer-term liabilities. </a:t>
            </a:r>
            <a:endParaRPr lang="en-US" sz="2000" b="1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endParaRPr sz="2000" b="1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33400" y="1905000"/>
            <a:ext cx="8077200" cy="412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0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Ratio Analysis -- </a:t>
            </a:r>
            <a:r>
              <a:rPr lang="en-US" sz="2500" b="0" i="1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The assessment of a firm’s financial condition using calculations and financial ratios developed from the firm’s financial statements.</a:t>
            </a:r>
            <a:endParaRPr lang="en-US" sz="2500" b="0" i="1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4170" marR="0" lvl="0" indent="-34417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•"/>
            </a:pPr>
            <a:r>
              <a:rPr lang="en-US" sz="25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Key ratios include:</a:t>
            </a:r>
            <a:endParaRPr lang="en-US" sz="25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Liquidity ratios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Leverage ratios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Performance ratios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Activity ratios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55" name="Google Shape;255;p20"/>
          <p:cNvSpPr txBox="1"/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USING FINANCIAL RATIOS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pic>
        <p:nvPicPr>
          <p:cNvPr id="256" name="Google Shape;256;p20" descr="VIP.ps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328920" y="3220720"/>
            <a:ext cx="2214880" cy="3332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33400" y="2051050"/>
            <a:ext cx="8077200" cy="396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0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Liquidity ratios measure a firm’s ability to turn assets into cash to pay its short-term debts.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4170" marR="0" lvl="0" indent="-34417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Two key ratios are: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Current ratio                    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Acid-test ratio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This information is found on the firm’s </a:t>
            </a:r>
            <a:r>
              <a:rPr lang="en-US" sz="2700" b="1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balance sheet</a:t>
            </a:r>
            <a:r>
              <a:rPr lang="en-US" sz="27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.</a:t>
            </a:r>
            <a:endParaRPr lang="en-US" sz="27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69" name="Google Shape;269;p21"/>
          <p:cNvSpPr txBox="1"/>
          <p:nvPr>
            <p:ph type="ctrTitle"/>
          </p:nvPr>
        </p:nvSpPr>
        <p:spPr>
          <a:xfrm>
            <a:off x="152400" y="2825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COMMONLY USED </a:t>
            </a:r>
            <a:b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</a:b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LIQUIDITY RATIOS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7315200" y="527050"/>
            <a:ext cx="1492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0" i="1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Liquidity Ratios</a:t>
            </a:r>
            <a:endParaRPr lang="en-US" sz="1700" b="0" i="1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LG5</a:t>
            </a:r>
            <a:endParaRPr lang="en-US" sz="1700" b="1" i="0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3" name="Google Shape;273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429000" y="3778250"/>
            <a:ext cx="26289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163887" y="4594225"/>
            <a:ext cx="53911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533400" y="2051050"/>
            <a:ext cx="80772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0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Leverage ratios measure the degree to which a firm relies on borrowed funds in its operations.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4170" marR="0" lvl="0" indent="-34417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Key ratios include: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Debt to Owner’s Equity Ratio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17272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None/>
            </a:pPr>
            <a:endParaRPr sz="27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This information is found on the firm’s </a:t>
            </a:r>
            <a:r>
              <a:rPr lang="en-US" sz="2700" b="1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balance sheet</a:t>
            </a:r>
            <a:r>
              <a:rPr lang="en-US" sz="27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.</a:t>
            </a:r>
            <a:endParaRPr lang="en-US" sz="27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86" name="Google Shape;286;p22"/>
          <p:cNvSpPr txBox="1"/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LEVERAGE RATIOS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7315200" y="527050"/>
            <a:ext cx="1492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0" i="1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Leverage (Debt) Ratios </a:t>
            </a:r>
            <a:endParaRPr lang="en-US" sz="1700" b="0" i="1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LG5</a:t>
            </a:r>
            <a:endParaRPr lang="en-US" sz="1700" b="1" i="0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90" name="Google Shape;290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391025" y="4249737"/>
            <a:ext cx="368617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533400" y="1828800"/>
            <a:ext cx="8077200" cy="486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0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Profitability ratios measure how effectively a firm’s managers are using it various resources to achieve profits.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4170" marR="0" lvl="0" indent="-34417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Key ratios include: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Basic earnings per share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2044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None/>
            </a:pPr>
            <a:endParaRPr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Return on sales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 panose="020B0604020202020204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    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Return on equity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 panose="020B0604020202020204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   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02" name="Google Shape;302;p23"/>
          <p:cNvSpPr txBox="1"/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PROFITABILITY RATIOS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7315200" y="417512"/>
            <a:ext cx="164465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0" i="1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Profitability (Performance) Ratio</a:t>
            </a:r>
            <a:endParaRPr lang="en-US" sz="1700" b="0" i="1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LG5</a:t>
            </a:r>
            <a:endParaRPr lang="en-US" sz="1700" b="1" i="0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05" name="Google Shape;305;p23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06" name="Google Shape;306;p2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90650" y="4324350"/>
            <a:ext cx="58483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87475" y="5102225"/>
            <a:ext cx="25241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00175" y="6038850"/>
            <a:ext cx="319087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>
              <a:solidFill>
                <a:srgbClr val="888888"/>
              </a:solidFill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457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FFDA73"/>
          </a:solidFill>
          <a:ln w="9525" cap="flat" cmpd="sng">
            <a:solidFill>
              <a:srgbClr val="FFE6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7315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8458200" y="1143000"/>
            <a:ext cx="5016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95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FFD95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FFD95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7162800" y="0"/>
            <a:ext cx="60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Arial" panose="020B0604020202020204"/>
              <a:buNone/>
            </a:pPr>
            <a:r>
              <a:rPr lang="en-US" sz="4000" b="1" i="0" u="none">
                <a:solidFill>
                  <a:srgbClr val="66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533400" y="1752600"/>
            <a:ext cx="8077200" cy="249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0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Activity ratios measure how effectively management is turning over inventory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344170" marR="0" lvl="0" indent="-34417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Key ratios include:</a:t>
            </a:r>
            <a:endParaRPr lang="en-US" sz="2700" b="0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  <a:p>
            <a:pPr marL="801370" marR="0" lvl="1" indent="-34417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-"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Inventory turnover ratio</a:t>
            </a:r>
            <a:endParaRPr lang="en-US" sz="2200" b="0" i="0" u="none" strike="noStrike" cap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20" name="Google Shape;320;p24"/>
          <p:cNvSpPr txBox="1"/>
          <p:nvPr>
            <p:ph type="ctrTitle"/>
          </p:nvPr>
        </p:nvSpPr>
        <p:spPr>
          <a:xfrm>
            <a:off x="152400" y="76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ACTIVITY RATIOS</a:t>
            </a:r>
            <a:endParaRPr lang="en-US" sz="3200" b="1" i="0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7315200" y="609600"/>
            <a:ext cx="164465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0" i="1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Activity Ratio</a:t>
            </a:r>
            <a:endParaRPr lang="en-US" sz="1700" b="0" i="1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7772400" y="1295400"/>
            <a:ext cx="6858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LG5</a:t>
            </a:r>
            <a:endParaRPr lang="en-US" sz="1700" b="1" i="0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533400" y="4046537"/>
            <a:ext cx="3962400" cy="188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4170" marR="0" lvl="1" indent="-3441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 panose="020B0604020202020204"/>
              <a:buChar char="•"/>
            </a:pPr>
            <a:r>
              <a:rPr lang="en-US" sz="27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This information is found on the firm’s </a:t>
            </a:r>
            <a:r>
              <a:rPr lang="en-US" sz="27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balance sheet </a:t>
            </a:r>
            <a:r>
              <a:rPr lang="en-US" sz="27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and </a:t>
            </a:r>
            <a:r>
              <a:rPr lang="en-US" sz="27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income statement</a:t>
            </a:r>
            <a:r>
              <a:rPr lang="en-US" sz="27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.</a:t>
            </a:r>
            <a:endParaRPr lang="en-US" sz="2700" b="0" i="0" u="none" strike="noStrike" cap="none">
              <a:solidFill>
                <a:srgbClr val="000000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324" name="Google Shape;324;p24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25" name="Google Shape;325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684712" y="3327400"/>
            <a:ext cx="32575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ction 1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2497</Words>
  <Application>WPS Presentation</Application>
  <PresentationFormat/>
  <Paragraphs>136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Arial Narrow</vt:lpstr>
      <vt:lpstr>Helvetica Neue</vt:lpstr>
      <vt:lpstr>Times New Roman</vt:lpstr>
      <vt:lpstr>Microsoft YaHei</vt:lpstr>
      <vt:lpstr>Arial Unicode MS</vt:lpstr>
      <vt:lpstr>Merriweather Sans</vt:lpstr>
      <vt:lpstr>Segoe Print</vt:lpstr>
      <vt:lpstr>Noto Sans Symbols</vt:lpstr>
      <vt:lpstr>Courier New</vt:lpstr>
      <vt:lpstr>Section 1 Template</vt:lpstr>
      <vt:lpstr>PowerPoint 演示文稿</vt:lpstr>
      <vt:lpstr>The FUNDAMENTAL  ACCOUNTING EQUATION</vt:lpstr>
      <vt:lpstr>Assets</vt:lpstr>
      <vt:lpstr>Assets</vt:lpstr>
      <vt:lpstr>Asset classification</vt:lpstr>
      <vt:lpstr>Claims</vt:lpstr>
      <vt:lpstr>USING FINANCIAL RATIOS</vt:lpstr>
      <vt:lpstr>COMMONLY USED  LIQUIDITY RATIOS</vt:lpstr>
      <vt:lpstr>LEVERAGE RATIOS</vt:lpstr>
      <vt:lpstr>PROFITABILITY RATIOS</vt:lpstr>
      <vt:lpstr>ACTIVITY RATIOS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Molly McHugh</dc:creator>
  <cp:lastModifiedBy>Zoeb-Ur- Rahman</cp:lastModifiedBy>
  <cp:revision>2</cp:revision>
  <dcterms:created xsi:type="dcterms:W3CDTF">2024-10-22T16:27:00Z</dcterms:created>
  <dcterms:modified xsi:type="dcterms:W3CDTF">2024-12-13T12:23:04Z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CCE6355D5AF64F0F97B990598EF17FD1_13</vt:lpwstr>
  </property>
  <property fmtid="{D5CDD505-2E9C-101B-9397-08002B2CF9AE}" pid="3" name="KSOProductBuildVer">
    <vt:lpwstr>1033-12.2.0.19307</vt:lpwstr>
  </property>
</Properties>
</file>