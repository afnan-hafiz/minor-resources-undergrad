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59" r:id="rId3"/>
    <p:sldId id="256" r:id="rId4"/>
    <p:sldId id="258" r:id="rId6"/>
    <p:sldId id="260" r:id="rId7"/>
    <p:sldId id="289" r:id="rId8"/>
    <p:sldId id="336" r:id="rId9"/>
    <p:sldId id="337" r:id="rId10"/>
    <p:sldId id="338" r:id="rId11"/>
    <p:sldId id="339" r:id="rId12"/>
    <p:sldId id="340" r:id="rId13"/>
    <p:sldId id="341" r:id="rId14"/>
    <p:sldId id="342" r:id="rId15"/>
    <p:sldId id="349" r:id="rId16"/>
    <p:sldId id="354" r:id="rId17"/>
    <p:sldId id="353" r:id="rId18"/>
    <p:sldId id="357" r:id="rId19"/>
    <p:sldId id="350" r:id="rId20"/>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4110" userDrawn="1">
          <p15:clr>
            <a:srgbClr val="A4A3A4"/>
          </p15:clr>
        </p15:guide>
        <p15:guide id="3" orient="horz" pos="227" userDrawn="1">
          <p15:clr>
            <a:srgbClr val="A4A3A4"/>
          </p15:clr>
        </p15:guide>
        <p15:guide id="4" orient="horz" pos="3865" userDrawn="1">
          <p15:clr>
            <a:srgbClr val="A4A3A4"/>
          </p15:clr>
        </p15:guide>
        <p15:guide id="5" orient="horz" pos="572" userDrawn="1">
          <p15:clr>
            <a:srgbClr val="A4A3A4"/>
          </p15:clr>
        </p15:guide>
        <p15:guide id="6" orient="horz" pos="1035" userDrawn="1">
          <p15:clr>
            <a:srgbClr val="A4A3A4"/>
          </p15:clr>
        </p15:guide>
        <p15:guide id="7" pos="2880" userDrawn="1">
          <p15:clr>
            <a:srgbClr val="A4A3A4"/>
          </p15:clr>
        </p15:guide>
        <p15:guide id="8" pos="5556" userDrawn="1">
          <p15:clr>
            <a:srgbClr val="A4A3A4"/>
          </p15:clr>
        </p15:guide>
        <p15:guide id="9" pos="226" userDrawn="1">
          <p15:clr>
            <a:srgbClr val="A4A3A4"/>
          </p15:clr>
        </p15:guide>
        <p15:guide id="10" pos="3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7FA3"/>
    <a:srgbClr val="99CCFF"/>
    <a:srgbClr val="FAF0D2"/>
    <a:srgbClr val="AA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1650"/>
    <p:restoredTop sz="85266"/>
  </p:normalViewPr>
  <p:slideViewPr>
    <p:cSldViewPr showGuides="1">
      <p:cViewPr varScale="1">
        <p:scale>
          <a:sx n="65" d="100"/>
          <a:sy n="65" d="100"/>
        </p:scale>
        <p:origin x="1472" y="52"/>
      </p:cViewPr>
      <p:guideLst>
        <p:guide orient="horz" pos="2160"/>
        <p:guide orient="horz" pos="4110"/>
        <p:guide orient="horz" pos="227"/>
        <p:guide orient="horz" pos="3865"/>
        <p:guide orient="horz" pos="572"/>
        <p:guide orient="horz" pos="1035"/>
        <p:guide pos="2880"/>
        <p:guide pos="5556"/>
        <p:guide pos="226"/>
        <p:guide pos="333"/>
      </p:guideLst>
    </p:cSldViewPr>
  </p:slideViewPr>
  <p:outlineViewPr>
    <p:cViewPr>
      <p:scale>
        <a:sx n="50" d="100"/>
        <a:sy n="50" d="100"/>
      </p:scale>
      <p:origin x="0" y="0"/>
    </p:cViewPr>
  </p:outlineViewPr>
  <p:notesTextViewPr>
    <p:cViewPr>
      <p:scale>
        <a:sx n="1" d="1"/>
        <a:sy n="1" d="1"/>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6515B48-C2F2-40BC-A46D-D3CF10266260}" type="datetimeFigureOut">
              <a:rPr kumimoji="0" lang="en-I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IN"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endParaRP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eaLnBrk="1" hangingPunct="1">
              <a:buNone/>
            </a:pPr>
            <a:fld id="{9A0DB2DC-4C9A-4742-B13C-FB6460FD3503}" type="slidenum">
              <a:rPr lang="en-IN" altLang="en-US" sz="1200" dirty="0"/>
            </a:fld>
            <a:endParaRPr lang="en-I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Slide Image Placeholder 1"/>
          <p:cNvSpPr>
            <a:spLocks noGrp="1" noRot="1" noChangeAspect="1" noTextEdit="1"/>
          </p:cNvSpPr>
          <p:nvPr>
            <p:ph type="sldImg"/>
          </p:nvPr>
        </p:nvSpPr>
        <p:spPr>
          <a:ln>
            <a:solidFill>
              <a:srgbClr val="000000">
                <a:alpha val="100000"/>
              </a:srgbClr>
            </a:solidFill>
            <a:miter lim="800000"/>
          </a:ln>
        </p:spPr>
      </p:sp>
      <p:sp>
        <p:nvSpPr>
          <p:cNvPr id="7171" name="Notes Placeholder 2"/>
          <p:cNvSpPr>
            <a:spLocks noGrp="1"/>
          </p:cNvSpPr>
          <p:nvPr>
            <p:ph type="body" idx="1"/>
          </p:nvPr>
        </p:nvSpPr>
        <p:spPr>
          <a:noFill/>
          <a:ln>
            <a:noFill/>
          </a:ln>
        </p:spPr>
        <p:txBody>
          <a:bodyPr wrap="square" lIns="91440" tIns="45720" rIns="91440" bIns="45720" anchor="t" anchorCtr="0"/>
          <a:p>
            <a:pPr lvl="0" eaLnBrk="1" hangingPunct="1"/>
            <a:endParaRPr lang="en-IN" altLang="en-US" dirty="0"/>
          </a:p>
        </p:txBody>
      </p:sp>
      <p:sp>
        <p:nvSpPr>
          <p:cNvPr id="7172"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IN" altLang="en-US" sz="1200" dirty="0"/>
            </a:fld>
            <a:endParaRPr lang="en-I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Slide Image Placeholder 1"/>
          <p:cNvSpPr>
            <a:spLocks noGrp="1" noRot="1" noChangeAspect="1" noTextEdit="1"/>
          </p:cNvSpPr>
          <p:nvPr>
            <p:ph type="sldImg"/>
          </p:nvPr>
        </p:nvSpPr>
        <p:spPr>
          <a:ln>
            <a:solidFill>
              <a:srgbClr val="000000">
                <a:alpha val="100000"/>
              </a:srgbClr>
            </a:solidFill>
            <a:miter lim="800000"/>
          </a:ln>
        </p:spPr>
      </p:sp>
      <p:sp>
        <p:nvSpPr>
          <p:cNvPr id="11267"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US" altLang="en-US" sz="1200" dirty="0">
                <a:cs typeface="Arial" panose="020B0604020202020204" pitchFamily="34" charset="0"/>
              </a:rPr>
            </a:fld>
            <a:endParaRPr lang="en-US"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Slide Image Placeholder 1"/>
          <p:cNvSpPr>
            <a:spLocks noGrp="1" noRot="1" noChangeAspect="1" noTextEdit="1"/>
          </p:cNvSpPr>
          <p:nvPr>
            <p:ph type="sldImg"/>
          </p:nvPr>
        </p:nvSpPr>
        <p:spPr>
          <a:ln>
            <a:solidFill>
              <a:srgbClr val="000000">
                <a:alpha val="100000"/>
              </a:srgbClr>
            </a:solidFill>
            <a:miter lim="800000"/>
          </a:ln>
        </p:spPr>
      </p:sp>
      <p:sp>
        <p:nvSpPr>
          <p:cNvPr id="13315"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US" altLang="en-US" sz="1200" dirty="0">
                <a:cs typeface="Arial" panose="020B0604020202020204" pitchFamily="34" charset="0"/>
              </a:rPr>
            </a:fld>
            <a:endParaRPr lang="en-US" altLang="en-US" sz="1200" dirty="0">
              <a:ea typeface="Arial" panose="020B0604020202020204" pitchFamily="34" charset="0"/>
              <a:cs typeface="Arial" panose="020B0604020202020204" pitchFamily="34" charset="0"/>
            </a:endParaRPr>
          </a:p>
        </p:txBody>
      </p:sp>
      <p:sp>
        <p:nvSpPr>
          <p:cNvPr id="13316" name="Footer Placeholder 1"/>
          <p:cNvSpPr txBox="1">
            <a:spLocks noGrp="1"/>
          </p:cNvSpPr>
          <p:nvPr>
            <p:ph type="ftr" sz="quarter"/>
          </p:nvPr>
        </p:nvSpPr>
        <p:spPr>
          <a:xfrm>
            <a:off x="0" y="8685213"/>
            <a:ext cx="2971800" cy="458787"/>
          </a:xfrm>
          <a:prstGeom prst="rect">
            <a:avLst/>
          </a:prstGeom>
          <a:noFill/>
          <a:ln w="9525">
            <a:noFill/>
          </a:ln>
        </p:spPr>
        <p:txBody>
          <a:bodyPr anchor="b" anchorCtr="0"/>
          <a:p>
            <a:pPr lvl="0" eaLnBrk="1" hangingPunct="1"/>
            <a:r>
              <a:rPr lang="en-US" altLang="en-US" sz="1200" dirty="0"/>
              <a:t>Copyright @2020 Nusrat Hafiz. All Rights Reserved.</a:t>
            </a:r>
            <a:endParaRPr lang="en-US" altLang="en-US" sz="1200" dirty="0"/>
          </a:p>
        </p:txBody>
      </p:sp>
      <p:sp>
        <p:nvSpPr>
          <p:cNvPr id="13317" name="Header Placeholder 2"/>
          <p:cNvSpPr txBox="1">
            <a:spLocks noGrp="1"/>
          </p:cNvSpPr>
          <p:nvPr>
            <p:ph type="hdr" sz="quarter"/>
          </p:nvPr>
        </p:nvSpPr>
        <p:spPr>
          <a:xfrm>
            <a:off x="0" y="0"/>
            <a:ext cx="2971800" cy="458788"/>
          </a:xfrm>
          <a:prstGeom prst="rect">
            <a:avLst/>
          </a:prstGeom>
          <a:noFill/>
          <a:ln w="9525">
            <a:noFill/>
          </a:ln>
        </p:spPr>
        <p:txBody>
          <a:bodyPr/>
          <a:p>
            <a:pPr lvl="0" eaLnBrk="1" hangingPunct="1"/>
            <a:r>
              <a:rPr lang="en-US" altLang="en-US" sz="1200" dirty="0"/>
              <a:t>Introduction to Business (BUS 101). Course Instructor: Nusrat Hafiz (NHF)</a:t>
            </a:r>
            <a:endParaRPr lang="en-US"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Slide Image Placeholder 1"/>
          <p:cNvSpPr>
            <a:spLocks noGrp="1" noRot="1" noChangeAspect="1" noTextEdit="1"/>
          </p:cNvSpPr>
          <p:nvPr>
            <p:ph type="sldImg"/>
          </p:nvPr>
        </p:nvSpPr>
        <p:spPr>
          <a:ln>
            <a:solidFill>
              <a:srgbClr val="000000">
                <a:alpha val="100000"/>
              </a:srgbClr>
            </a:solidFill>
            <a:miter lim="800000"/>
          </a:ln>
        </p:spPr>
      </p:sp>
      <p:sp>
        <p:nvSpPr>
          <p:cNvPr id="15363"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US" altLang="en-US" sz="1200" dirty="0">
                <a:cs typeface="Arial" panose="020B0604020202020204" pitchFamily="34" charset="0"/>
              </a:rPr>
            </a:fld>
            <a:endParaRPr lang="en-US" altLang="en-US" sz="1200" dirty="0">
              <a:ea typeface="Arial" panose="020B0604020202020204" pitchFamily="34" charset="0"/>
              <a:cs typeface="Arial" panose="020B0604020202020204" pitchFamily="34" charset="0"/>
            </a:endParaRPr>
          </a:p>
        </p:txBody>
      </p:sp>
      <p:sp>
        <p:nvSpPr>
          <p:cNvPr id="15364" name="Footer Placeholder 1"/>
          <p:cNvSpPr txBox="1">
            <a:spLocks noGrp="1"/>
          </p:cNvSpPr>
          <p:nvPr>
            <p:ph type="ftr" sz="quarter"/>
          </p:nvPr>
        </p:nvSpPr>
        <p:spPr>
          <a:xfrm>
            <a:off x="0" y="8685213"/>
            <a:ext cx="2971800" cy="458787"/>
          </a:xfrm>
          <a:prstGeom prst="rect">
            <a:avLst/>
          </a:prstGeom>
          <a:noFill/>
          <a:ln w="9525">
            <a:noFill/>
          </a:ln>
        </p:spPr>
        <p:txBody>
          <a:bodyPr anchor="b" anchorCtr="0"/>
          <a:p>
            <a:pPr lvl="0" eaLnBrk="1" hangingPunct="1"/>
            <a:r>
              <a:rPr lang="en-US" altLang="en-US" sz="1200" dirty="0"/>
              <a:t>Copyright @2020 Nusrat Hafiz. All Rights Reserved.</a:t>
            </a:r>
            <a:endParaRPr lang="en-US" altLang="en-US" sz="1200" dirty="0"/>
          </a:p>
        </p:txBody>
      </p:sp>
      <p:sp>
        <p:nvSpPr>
          <p:cNvPr id="15365" name="Header Placeholder 2"/>
          <p:cNvSpPr txBox="1">
            <a:spLocks noGrp="1"/>
          </p:cNvSpPr>
          <p:nvPr>
            <p:ph type="hdr" sz="quarter"/>
          </p:nvPr>
        </p:nvSpPr>
        <p:spPr>
          <a:xfrm>
            <a:off x="0" y="0"/>
            <a:ext cx="2971800" cy="458788"/>
          </a:xfrm>
          <a:prstGeom prst="rect">
            <a:avLst/>
          </a:prstGeom>
          <a:noFill/>
          <a:ln w="9525">
            <a:noFill/>
          </a:ln>
        </p:spPr>
        <p:txBody>
          <a:bodyPr/>
          <a:p>
            <a:pPr lvl="0" eaLnBrk="1" hangingPunct="1"/>
            <a:r>
              <a:rPr lang="en-US" altLang="en-US" sz="1200" dirty="0"/>
              <a:t>Introduction to Business (BUS 101). Course Instructor: Nusrat Hafiz (NHF)</a:t>
            </a:r>
            <a:endParaRPr lang="en-US"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Slide Image Placeholder 1"/>
          <p:cNvSpPr>
            <a:spLocks noGrp="1" noRot="1" noChangeAspect="1" noTextEdit="1"/>
          </p:cNvSpPr>
          <p:nvPr>
            <p:ph type="sldImg"/>
          </p:nvPr>
        </p:nvSpPr>
        <p:spPr>
          <a:ln>
            <a:solidFill>
              <a:srgbClr val="000000">
                <a:alpha val="100000"/>
              </a:srgbClr>
            </a:solidFill>
            <a:miter lim="800000"/>
          </a:ln>
        </p:spPr>
      </p:sp>
      <p:sp>
        <p:nvSpPr>
          <p:cNvPr id="18435"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US" altLang="en-US" sz="1200" dirty="0">
                <a:solidFill>
                  <a:srgbClr val="000000"/>
                </a:solidFill>
                <a:cs typeface="Arial" panose="020B0604020202020204" pitchFamily="34" charset="0"/>
              </a:rPr>
            </a:fld>
            <a:endParaRPr lang="en-US" altLang="en-US" sz="1200" dirty="0">
              <a:solidFill>
                <a:srgbClr val="000000"/>
              </a:solidFill>
              <a:ea typeface="Arial" panose="020B0604020202020204" pitchFamily="34" charset="0"/>
              <a:cs typeface="Arial" panose="020B0604020202020204" pitchFamily="34" charset="0"/>
            </a:endParaRPr>
          </a:p>
        </p:txBody>
      </p:sp>
      <p:sp>
        <p:nvSpPr>
          <p:cNvPr id="18436" name="Footer Placeholder 1"/>
          <p:cNvSpPr txBox="1">
            <a:spLocks noGrp="1"/>
          </p:cNvSpPr>
          <p:nvPr>
            <p:ph type="ftr" sz="quarter"/>
          </p:nvPr>
        </p:nvSpPr>
        <p:spPr>
          <a:xfrm>
            <a:off x="0" y="8685213"/>
            <a:ext cx="2971800" cy="458787"/>
          </a:xfrm>
          <a:prstGeom prst="rect">
            <a:avLst/>
          </a:prstGeom>
          <a:noFill/>
          <a:ln w="9525">
            <a:noFill/>
          </a:ln>
        </p:spPr>
        <p:txBody>
          <a:bodyPr anchor="b" anchorCtr="0"/>
          <a:p>
            <a:pPr lvl="0" eaLnBrk="1" hangingPunct="1"/>
            <a:r>
              <a:rPr lang="en-US" altLang="en-US" sz="1200" dirty="0">
                <a:solidFill>
                  <a:srgbClr val="000000"/>
                </a:solidFill>
              </a:rPr>
              <a:t>Copyright @2020 Nusrat Hafiz. All Rights Reserved.</a:t>
            </a:r>
            <a:endParaRPr lang="en-US" altLang="en-US" sz="1200" dirty="0">
              <a:solidFill>
                <a:srgbClr val="000000"/>
              </a:solidFill>
            </a:endParaRPr>
          </a:p>
        </p:txBody>
      </p:sp>
      <p:sp>
        <p:nvSpPr>
          <p:cNvPr id="18437" name="Header Placeholder 2"/>
          <p:cNvSpPr txBox="1">
            <a:spLocks noGrp="1"/>
          </p:cNvSpPr>
          <p:nvPr>
            <p:ph type="hdr" sz="quarter"/>
          </p:nvPr>
        </p:nvSpPr>
        <p:spPr>
          <a:xfrm>
            <a:off x="0" y="0"/>
            <a:ext cx="2971800" cy="458788"/>
          </a:xfrm>
          <a:prstGeom prst="rect">
            <a:avLst/>
          </a:prstGeom>
          <a:noFill/>
          <a:ln w="9525">
            <a:noFill/>
          </a:ln>
        </p:spPr>
        <p:txBody>
          <a:bodyPr/>
          <a:p>
            <a:pPr lvl="0" eaLnBrk="1" hangingPunct="1"/>
            <a:r>
              <a:rPr lang="en-US" altLang="en-US" sz="1200" dirty="0">
                <a:solidFill>
                  <a:srgbClr val="000000"/>
                </a:solidFill>
              </a:rPr>
              <a:t>Introduction to Business (BUS 101). Course Instructor: Nusrat Hafiz (NHF)</a:t>
            </a:r>
            <a:endParaRPr lang="en-US" altLang="en-US" sz="1200" dirty="0">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Slide Image Placeholder 1"/>
          <p:cNvSpPr>
            <a:spLocks noGrp="1" noRot="1" noChangeAspect="1" noTextEdit="1"/>
          </p:cNvSpPr>
          <p:nvPr>
            <p:ph type="sldImg"/>
          </p:nvPr>
        </p:nvSpPr>
        <p:spPr>
          <a:ln>
            <a:solidFill>
              <a:srgbClr val="000000">
                <a:alpha val="100000"/>
              </a:srgbClr>
            </a:solidFill>
            <a:miter lim="800000"/>
          </a:ln>
        </p:spPr>
      </p:sp>
      <p:sp>
        <p:nvSpPr>
          <p:cNvPr id="21507"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US" altLang="en-US" sz="1200" dirty="0">
                <a:solidFill>
                  <a:srgbClr val="000000"/>
                </a:solidFill>
                <a:cs typeface="Arial" panose="020B0604020202020204" pitchFamily="34" charset="0"/>
              </a:rPr>
            </a:fld>
            <a:endParaRPr lang="en-US" altLang="en-US" sz="1200" dirty="0">
              <a:solidFill>
                <a:srgbClr val="000000"/>
              </a:solidFill>
              <a:ea typeface="Arial" panose="020B0604020202020204" pitchFamily="34" charset="0"/>
              <a:cs typeface="Arial" panose="020B0604020202020204" pitchFamily="34" charset="0"/>
            </a:endParaRPr>
          </a:p>
        </p:txBody>
      </p:sp>
      <p:sp>
        <p:nvSpPr>
          <p:cNvPr id="21508" name="Footer Placeholder 1"/>
          <p:cNvSpPr txBox="1">
            <a:spLocks noGrp="1"/>
          </p:cNvSpPr>
          <p:nvPr>
            <p:ph type="ftr" sz="quarter"/>
          </p:nvPr>
        </p:nvSpPr>
        <p:spPr>
          <a:xfrm>
            <a:off x="0" y="8685213"/>
            <a:ext cx="2971800" cy="458787"/>
          </a:xfrm>
          <a:prstGeom prst="rect">
            <a:avLst/>
          </a:prstGeom>
          <a:noFill/>
          <a:ln w="9525">
            <a:noFill/>
          </a:ln>
        </p:spPr>
        <p:txBody>
          <a:bodyPr anchor="b" anchorCtr="0"/>
          <a:p>
            <a:pPr lvl="0" eaLnBrk="1" hangingPunct="1"/>
            <a:r>
              <a:rPr lang="en-US" altLang="en-US" sz="1200" dirty="0">
                <a:solidFill>
                  <a:srgbClr val="000000"/>
                </a:solidFill>
              </a:rPr>
              <a:t>Copyright @2020 Nusrat Hafiz. All Rights Reserved.</a:t>
            </a:r>
            <a:endParaRPr lang="en-US" altLang="en-US" sz="1200" dirty="0">
              <a:solidFill>
                <a:srgbClr val="000000"/>
              </a:solidFill>
            </a:endParaRPr>
          </a:p>
        </p:txBody>
      </p:sp>
      <p:sp>
        <p:nvSpPr>
          <p:cNvPr id="21509" name="Header Placeholder 2"/>
          <p:cNvSpPr txBox="1">
            <a:spLocks noGrp="1"/>
          </p:cNvSpPr>
          <p:nvPr>
            <p:ph type="hdr" sz="quarter"/>
          </p:nvPr>
        </p:nvSpPr>
        <p:spPr>
          <a:xfrm>
            <a:off x="0" y="0"/>
            <a:ext cx="2971800" cy="458788"/>
          </a:xfrm>
          <a:prstGeom prst="rect">
            <a:avLst/>
          </a:prstGeom>
          <a:noFill/>
          <a:ln w="9525">
            <a:noFill/>
          </a:ln>
        </p:spPr>
        <p:txBody>
          <a:bodyPr/>
          <a:p>
            <a:pPr lvl="0" eaLnBrk="1" hangingPunct="1"/>
            <a:r>
              <a:rPr lang="en-US" altLang="en-US" sz="1200" dirty="0">
                <a:solidFill>
                  <a:srgbClr val="000000"/>
                </a:solidFill>
              </a:rPr>
              <a:t>Introduction to Business (BUS 101). Course Instructor: Nusrat Hafiz (NHF)</a:t>
            </a:r>
            <a:endParaRPr lang="en-US" altLang="en-US" sz="1200" dirty="0">
              <a:solidFill>
                <a:srgbClr val="000000"/>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Slide Image Placeholder 1"/>
          <p:cNvSpPr>
            <a:spLocks noGrp="1" noRot="1" noChangeAspect="1" noTextEdit="1"/>
          </p:cNvSpPr>
          <p:nvPr>
            <p:ph type="sldImg"/>
          </p:nvPr>
        </p:nvSpPr>
        <p:spPr>
          <a:ln>
            <a:solidFill>
              <a:srgbClr val="000000">
                <a:alpha val="100000"/>
              </a:srgbClr>
            </a:solidFill>
            <a:miter lim="800000"/>
          </a:ln>
        </p:spPr>
      </p:sp>
      <p:sp>
        <p:nvSpPr>
          <p:cNvPr id="23555"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US" altLang="en-US" sz="1200" dirty="0">
                <a:solidFill>
                  <a:srgbClr val="000000"/>
                </a:solidFill>
                <a:cs typeface="Arial" panose="020B0604020202020204" pitchFamily="34" charset="0"/>
              </a:rPr>
            </a:fld>
            <a:endParaRPr lang="en-US" altLang="en-US" sz="1200" dirty="0">
              <a:solidFill>
                <a:srgbClr val="000000"/>
              </a:solidFill>
              <a:ea typeface="Arial" panose="020B0604020202020204" pitchFamily="34" charset="0"/>
              <a:cs typeface="Arial" panose="020B0604020202020204" pitchFamily="34" charset="0"/>
            </a:endParaRPr>
          </a:p>
        </p:txBody>
      </p:sp>
      <p:sp>
        <p:nvSpPr>
          <p:cNvPr id="23556" name="Footer Placeholder 1"/>
          <p:cNvSpPr txBox="1">
            <a:spLocks noGrp="1"/>
          </p:cNvSpPr>
          <p:nvPr>
            <p:ph type="ftr" sz="quarter"/>
          </p:nvPr>
        </p:nvSpPr>
        <p:spPr>
          <a:xfrm>
            <a:off x="0" y="8685213"/>
            <a:ext cx="2971800" cy="458787"/>
          </a:xfrm>
          <a:prstGeom prst="rect">
            <a:avLst/>
          </a:prstGeom>
          <a:noFill/>
          <a:ln w="9525">
            <a:noFill/>
          </a:ln>
        </p:spPr>
        <p:txBody>
          <a:bodyPr anchor="b" anchorCtr="0"/>
          <a:p>
            <a:pPr lvl="0" eaLnBrk="1" hangingPunct="1"/>
            <a:r>
              <a:rPr lang="en-US" altLang="en-US" sz="1200" dirty="0">
                <a:solidFill>
                  <a:srgbClr val="000000"/>
                </a:solidFill>
              </a:rPr>
              <a:t>Copyright @2020 Nusrat Hafiz. All Rights Reserved.</a:t>
            </a:r>
            <a:endParaRPr lang="en-US" altLang="en-US" sz="1200" dirty="0">
              <a:solidFill>
                <a:srgbClr val="000000"/>
              </a:solidFill>
            </a:endParaRPr>
          </a:p>
        </p:txBody>
      </p:sp>
      <p:sp>
        <p:nvSpPr>
          <p:cNvPr id="23557" name="Header Placeholder 2"/>
          <p:cNvSpPr txBox="1">
            <a:spLocks noGrp="1"/>
          </p:cNvSpPr>
          <p:nvPr>
            <p:ph type="hdr" sz="quarter"/>
          </p:nvPr>
        </p:nvSpPr>
        <p:spPr>
          <a:xfrm>
            <a:off x="0" y="0"/>
            <a:ext cx="2971800" cy="458788"/>
          </a:xfrm>
          <a:prstGeom prst="rect">
            <a:avLst/>
          </a:prstGeom>
          <a:noFill/>
          <a:ln w="9525">
            <a:noFill/>
          </a:ln>
        </p:spPr>
        <p:txBody>
          <a:bodyPr/>
          <a:p>
            <a:pPr lvl="0" eaLnBrk="1" hangingPunct="1"/>
            <a:r>
              <a:rPr lang="en-US" altLang="en-US" sz="1200" dirty="0">
                <a:solidFill>
                  <a:srgbClr val="000000"/>
                </a:solidFill>
              </a:rPr>
              <a:t>Introduction to Business (BUS 101). Course Instructor: Nusrat Hafiz (NHF)</a:t>
            </a:r>
            <a:endParaRPr lang="en-US" altLang="en-US" sz="1200" dirty="0">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Slide Image Placeholder 1"/>
          <p:cNvSpPr>
            <a:spLocks noGrp="1" noRot="1" noChangeAspect="1" noTextEdit="1"/>
          </p:cNvSpPr>
          <p:nvPr>
            <p:ph type="sldImg"/>
          </p:nvPr>
        </p:nvSpPr>
        <p:spPr>
          <a:ln>
            <a:solidFill>
              <a:srgbClr val="000000">
                <a:alpha val="100000"/>
              </a:srgbClr>
            </a:solidFill>
            <a:miter lim="800000"/>
          </a:ln>
        </p:spPr>
      </p:sp>
      <p:sp>
        <p:nvSpPr>
          <p:cNvPr id="25603"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US" altLang="en-US" sz="1200" dirty="0">
                <a:solidFill>
                  <a:srgbClr val="000000"/>
                </a:solidFill>
                <a:cs typeface="Arial" panose="020B0604020202020204" pitchFamily="34" charset="0"/>
              </a:rPr>
            </a:fld>
            <a:endParaRPr lang="en-US" altLang="en-US" sz="1200" dirty="0">
              <a:solidFill>
                <a:srgbClr val="000000"/>
              </a:solidFill>
              <a:ea typeface="Arial" panose="020B0604020202020204" pitchFamily="34" charset="0"/>
              <a:cs typeface="Arial" panose="020B0604020202020204" pitchFamily="34" charset="0"/>
            </a:endParaRPr>
          </a:p>
        </p:txBody>
      </p:sp>
      <p:sp>
        <p:nvSpPr>
          <p:cNvPr id="25604" name="Footer Placeholder 1"/>
          <p:cNvSpPr txBox="1">
            <a:spLocks noGrp="1"/>
          </p:cNvSpPr>
          <p:nvPr>
            <p:ph type="ftr" sz="quarter"/>
          </p:nvPr>
        </p:nvSpPr>
        <p:spPr>
          <a:xfrm>
            <a:off x="0" y="8685213"/>
            <a:ext cx="2971800" cy="458787"/>
          </a:xfrm>
          <a:prstGeom prst="rect">
            <a:avLst/>
          </a:prstGeom>
          <a:noFill/>
          <a:ln w="9525">
            <a:noFill/>
          </a:ln>
        </p:spPr>
        <p:txBody>
          <a:bodyPr anchor="b" anchorCtr="0"/>
          <a:p>
            <a:pPr lvl="0" eaLnBrk="1" hangingPunct="1"/>
            <a:r>
              <a:rPr lang="en-US" altLang="en-US" sz="1200" dirty="0">
                <a:solidFill>
                  <a:srgbClr val="000000"/>
                </a:solidFill>
              </a:rPr>
              <a:t>Copyright @2020 Nusrat Hafiz. All Rights Reserved.</a:t>
            </a:r>
            <a:endParaRPr lang="en-US" altLang="en-US" sz="1200" dirty="0">
              <a:solidFill>
                <a:srgbClr val="000000"/>
              </a:solidFill>
            </a:endParaRPr>
          </a:p>
        </p:txBody>
      </p:sp>
      <p:sp>
        <p:nvSpPr>
          <p:cNvPr id="25605" name="Header Placeholder 2"/>
          <p:cNvSpPr txBox="1">
            <a:spLocks noGrp="1"/>
          </p:cNvSpPr>
          <p:nvPr>
            <p:ph type="hdr" sz="quarter"/>
          </p:nvPr>
        </p:nvSpPr>
        <p:spPr>
          <a:xfrm>
            <a:off x="0" y="0"/>
            <a:ext cx="2971800" cy="458788"/>
          </a:xfrm>
          <a:prstGeom prst="rect">
            <a:avLst/>
          </a:prstGeom>
          <a:noFill/>
          <a:ln w="9525">
            <a:noFill/>
          </a:ln>
        </p:spPr>
        <p:txBody>
          <a:bodyPr/>
          <a:p>
            <a:pPr lvl="0" eaLnBrk="1" hangingPunct="1"/>
            <a:r>
              <a:rPr lang="en-US" altLang="en-US" sz="1200" dirty="0">
                <a:solidFill>
                  <a:srgbClr val="000000"/>
                </a:solidFill>
              </a:rPr>
              <a:t>Introduction to Business (BUS 101). Course Instructor: Nusrat Hafiz (NHF)</a:t>
            </a:r>
            <a:endParaRPr lang="en-US" altLang="en-US" sz="1200" dirty="0">
              <a:solidFill>
                <a:srgbClr val="000000"/>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Slide Image Placeholder 1"/>
          <p:cNvSpPr>
            <a:spLocks noGrp="1" noRot="1" noChangeAspect="1" noTextEdit="1"/>
          </p:cNvSpPr>
          <p:nvPr>
            <p:ph type="sldImg"/>
          </p:nvPr>
        </p:nvSpPr>
        <p:spPr>
          <a:ln>
            <a:solidFill>
              <a:srgbClr val="000000">
                <a:alpha val="100000"/>
              </a:srgbClr>
            </a:solidFill>
            <a:miter lim="800000"/>
          </a:ln>
        </p:spPr>
      </p:sp>
      <p:sp>
        <p:nvSpPr>
          <p:cNvPr id="27651"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US" altLang="en-US" sz="1200" dirty="0">
                <a:solidFill>
                  <a:srgbClr val="000000"/>
                </a:solidFill>
                <a:cs typeface="Arial" panose="020B0604020202020204" pitchFamily="34" charset="0"/>
              </a:rPr>
            </a:fld>
            <a:endParaRPr lang="en-US" altLang="en-US" sz="1200" dirty="0">
              <a:solidFill>
                <a:srgbClr val="000000"/>
              </a:solidFill>
              <a:ea typeface="Arial" panose="020B0604020202020204" pitchFamily="34" charset="0"/>
              <a:cs typeface="Arial" panose="020B0604020202020204" pitchFamily="34" charset="0"/>
            </a:endParaRPr>
          </a:p>
        </p:txBody>
      </p:sp>
      <p:sp>
        <p:nvSpPr>
          <p:cNvPr id="27652" name="Footer Placeholder 1"/>
          <p:cNvSpPr txBox="1">
            <a:spLocks noGrp="1"/>
          </p:cNvSpPr>
          <p:nvPr>
            <p:ph type="ftr" sz="quarter"/>
          </p:nvPr>
        </p:nvSpPr>
        <p:spPr>
          <a:xfrm>
            <a:off x="0" y="8685213"/>
            <a:ext cx="2971800" cy="458787"/>
          </a:xfrm>
          <a:prstGeom prst="rect">
            <a:avLst/>
          </a:prstGeom>
          <a:noFill/>
          <a:ln w="9525">
            <a:noFill/>
          </a:ln>
        </p:spPr>
        <p:txBody>
          <a:bodyPr anchor="b" anchorCtr="0"/>
          <a:p>
            <a:pPr lvl="0" eaLnBrk="1" hangingPunct="1"/>
            <a:r>
              <a:rPr lang="en-US" altLang="en-US" sz="1200" dirty="0">
                <a:solidFill>
                  <a:srgbClr val="000000"/>
                </a:solidFill>
              </a:rPr>
              <a:t>Copyright @2020 Nusrat Hafiz. All Rights Reserved.</a:t>
            </a:r>
            <a:endParaRPr lang="en-US" altLang="en-US" sz="1200" dirty="0">
              <a:solidFill>
                <a:srgbClr val="000000"/>
              </a:solidFill>
            </a:endParaRPr>
          </a:p>
        </p:txBody>
      </p:sp>
      <p:sp>
        <p:nvSpPr>
          <p:cNvPr id="27653" name="Header Placeholder 2"/>
          <p:cNvSpPr txBox="1">
            <a:spLocks noGrp="1"/>
          </p:cNvSpPr>
          <p:nvPr>
            <p:ph type="hdr" sz="quarter"/>
          </p:nvPr>
        </p:nvSpPr>
        <p:spPr>
          <a:xfrm>
            <a:off x="0" y="0"/>
            <a:ext cx="2971800" cy="458788"/>
          </a:xfrm>
          <a:prstGeom prst="rect">
            <a:avLst/>
          </a:prstGeom>
          <a:noFill/>
          <a:ln w="9525">
            <a:noFill/>
          </a:ln>
        </p:spPr>
        <p:txBody>
          <a:bodyPr/>
          <a:p>
            <a:pPr lvl="0" eaLnBrk="1" hangingPunct="1"/>
            <a:r>
              <a:rPr lang="en-US" altLang="en-US" sz="1200" dirty="0">
                <a:solidFill>
                  <a:srgbClr val="000000"/>
                </a:solidFill>
              </a:rPr>
              <a:t>Introduction to Business (BUS 101). Course Instructor: Nusrat Hafiz (NHF)</a:t>
            </a:r>
            <a:endParaRPr lang="en-US" altLang="en-US" sz="1200" dirty="0">
              <a:solidFill>
                <a:srgbClr val="00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Slide Image Placeholder 1"/>
          <p:cNvSpPr>
            <a:spLocks noGrp="1" noRot="1" noChangeAspect="1" noTextEdit="1"/>
          </p:cNvSpPr>
          <p:nvPr>
            <p:ph type="sldImg"/>
          </p:nvPr>
        </p:nvSpPr>
        <p:spPr>
          <a:ln>
            <a:solidFill>
              <a:srgbClr val="000000">
                <a:alpha val="100000"/>
              </a:srgbClr>
            </a:solidFill>
            <a:miter lim="800000"/>
          </a:ln>
        </p:spPr>
      </p:sp>
      <p:sp>
        <p:nvSpPr>
          <p:cNvPr id="29699"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US" altLang="en-US" sz="1200" dirty="0">
                <a:solidFill>
                  <a:srgbClr val="000000"/>
                </a:solidFill>
                <a:cs typeface="Arial" panose="020B0604020202020204" pitchFamily="34" charset="0"/>
              </a:rPr>
            </a:fld>
            <a:endParaRPr lang="en-US" altLang="en-US" sz="1200" dirty="0">
              <a:solidFill>
                <a:srgbClr val="000000"/>
              </a:solidFill>
              <a:ea typeface="Arial" panose="020B0604020202020204" pitchFamily="34" charset="0"/>
              <a:cs typeface="Arial" panose="020B0604020202020204" pitchFamily="34" charset="0"/>
            </a:endParaRPr>
          </a:p>
        </p:txBody>
      </p:sp>
      <p:sp>
        <p:nvSpPr>
          <p:cNvPr id="29700" name="Footer Placeholder 1"/>
          <p:cNvSpPr txBox="1">
            <a:spLocks noGrp="1"/>
          </p:cNvSpPr>
          <p:nvPr>
            <p:ph type="ftr" sz="quarter"/>
          </p:nvPr>
        </p:nvSpPr>
        <p:spPr>
          <a:xfrm>
            <a:off x="0" y="8685213"/>
            <a:ext cx="2971800" cy="458787"/>
          </a:xfrm>
          <a:prstGeom prst="rect">
            <a:avLst/>
          </a:prstGeom>
          <a:noFill/>
          <a:ln w="9525">
            <a:noFill/>
          </a:ln>
        </p:spPr>
        <p:txBody>
          <a:bodyPr anchor="b" anchorCtr="0"/>
          <a:p>
            <a:pPr lvl="0" eaLnBrk="1" hangingPunct="1"/>
            <a:r>
              <a:rPr lang="en-US" altLang="en-US" sz="1200" dirty="0">
                <a:solidFill>
                  <a:srgbClr val="000000"/>
                </a:solidFill>
              </a:rPr>
              <a:t>Copyright @2020 Nusrat Hafiz. All Rights Reserved.</a:t>
            </a:r>
            <a:endParaRPr lang="en-US" altLang="en-US" sz="1200" dirty="0">
              <a:solidFill>
                <a:srgbClr val="000000"/>
              </a:solidFill>
            </a:endParaRPr>
          </a:p>
        </p:txBody>
      </p:sp>
      <p:sp>
        <p:nvSpPr>
          <p:cNvPr id="29701" name="Header Placeholder 2"/>
          <p:cNvSpPr txBox="1">
            <a:spLocks noGrp="1"/>
          </p:cNvSpPr>
          <p:nvPr>
            <p:ph type="hdr" sz="quarter"/>
          </p:nvPr>
        </p:nvSpPr>
        <p:spPr>
          <a:xfrm>
            <a:off x="0" y="0"/>
            <a:ext cx="2971800" cy="458788"/>
          </a:xfrm>
          <a:prstGeom prst="rect">
            <a:avLst/>
          </a:prstGeom>
          <a:noFill/>
          <a:ln w="9525">
            <a:noFill/>
          </a:ln>
        </p:spPr>
        <p:txBody>
          <a:bodyPr/>
          <a:p>
            <a:pPr lvl="0" eaLnBrk="1" hangingPunct="1"/>
            <a:r>
              <a:rPr lang="en-US" altLang="en-US" sz="1200" dirty="0">
                <a:solidFill>
                  <a:srgbClr val="000000"/>
                </a:solidFill>
              </a:rPr>
              <a:t>Introduction to Business (BUS 101). Course Instructor: Nusrat Hafiz (NHF)</a:t>
            </a:r>
            <a:endParaRPr lang="en-US" altLang="en-US" sz="1200" dirty="0">
              <a:solidFill>
                <a:srgbClr val="00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Slide Image Placeholder 1"/>
          <p:cNvSpPr>
            <a:spLocks noGrp="1" noRot="1" noChangeAspect="1" noTextEdit="1"/>
          </p:cNvSpPr>
          <p:nvPr>
            <p:ph type="sldImg"/>
          </p:nvPr>
        </p:nvSpPr>
        <p:spPr>
          <a:ln>
            <a:solidFill>
              <a:srgbClr val="000000">
                <a:alpha val="100000"/>
              </a:srgbClr>
            </a:solidFill>
            <a:miter lim="800000"/>
          </a:ln>
        </p:spPr>
      </p:sp>
      <p:sp>
        <p:nvSpPr>
          <p:cNvPr id="31747"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US" altLang="en-US" sz="1200" dirty="0">
                <a:solidFill>
                  <a:srgbClr val="000000"/>
                </a:solidFill>
                <a:cs typeface="Arial" panose="020B0604020202020204" pitchFamily="34" charset="0"/>
              </a:rPr>
            </a:fld>
            <a:endParaRPr lang="en-US" altLang="en-US" sz="1200" dirty="0">
              <a:solidFill>
                <a:srgbClr val="000000"/>
              </a:solidFill>
              <a:ea typeface="Arial" panose="020B0604020202020204" pitchFamily="34" charset="0"/>
              <a:cs typeface="Arial" panose="020B0604020202020204" pitchFamily="34" charset="0"/>
            </a:endParaRPr>
          </a:p>
        </p:txBody>
      </p:sp>
      <p:sp>
        <p:nvSpPr>
          <p:cNvPr id="31748" name="Footer Placeholder 1"/>
          <p:cNvSpPr txBox="1">
            <a:spLocks noGrp="1"/>
          </p:cNvSpPr>
          <p:nvPr>
            <p:ph type="ftr" sz="quarter"/>
          </p:nvPr>
        </p:nvSpPr>
        <p:spPr>
          <a:xfrm>
            <a:off x="0" y="8685213"/>
            <a:ext cx="2971800" cy="458787"/>
          </a:xfrm>
          <a:prstGeom prst="rect">
            <a:avLst/>
          </a:prstGeom>
          <a:noFill/>
          <a:ln w="9525">
            <a:noFill/>
          </a:ln>
        </p:spPr>
        <p:txBody>
          <a:bodyPr anchor="b" anchorCtr="0"/>
          <a:p>
            <a:pPr lvl="0" eaLnBrk="1" hangingPunct="1"/>
            <a:r>
              <a:rPr lang="en-US" altLang="en-US" sz="1200" dirty="0">
                <a:solidFill>
                  <a:srgbClr val="000000"/>
                </a:solidFill>
              </a:rPr>
              <a:t>Copyright @2020 Nusrat Hafiz. All Rights Reserved.</a:t>
            </a:r>
            <a:endParaRPr lang="en-US" altLang="en-US" sz="1200" dirty="0">
              <a:solidFill>
                <a:srgbClr val="000000"/>
              </a:solidFill>
            </a:endParaRPr>
          </a:p>
        </p:txBody>
      </p:sp>
      <p:sp>
        <p:nvSpPr>
          <p:cNvPr id="31749" name="Header Placeholder 2"/>
          <p:cNvSpPr txBox="1">
            <a:spLocks noGrp="1"/>
          </p:cNvSpPr>
          <p:nvPr>
            <p:ph type="hdr" sz="quarter"/>
          </p:nvPr>
        </p:nvSpPr>
        <p:spPr>
          <a:xfrm>
            <a:off x="0" y="0"/>
            <a:ext cx="2971800" cy="458788"/>
          </a:xfrm>
          <a:prstGeom prst="rect">
            <a:avLst/>
          </a:prstGeom>
          <a:noFill/>
          <a:ln w="9525">
            <a:noFill/>
          </a:ln>
        </p:spPr>
        <p:txBody>
          <a:bodyPr/>
          <a:p>
            <a:pPr lvl="0" eaLnBrk="1" hangingPunct="1"/>
            <a:r>
              <a:rPr lang="en-US" altLang="en-US" sz="1200" dirty="0">
                <a:solidFill>
                  <a:srgbClr val="000000"/>
                </a:solidFill>
              </a:rPr>
              <a:t>Introduction to Business (BUS 101). Course Instructor: Nusrat Hafiz (NHF)</a:t>
            </a:r>
            <a:endParaRPr lang="en-US" altLang="en-US" sz="1200" dirty="0">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Slide Image Placeholder 1"/>
          <p:cNvSpPr>
            <a:spLocks noGrp="1" noRot="1" noChangeAspect="1" noTextEdit="1"/>
          </p:cNvSpPr>
          <p:nvPr>
            <p:ph type="sldImg"/>
          </p:nvPr>
        </p:nvSpPr>
        <p:spPr>
          <a:ln>
            <a:solidFill>
              <a:srgbClr val="000000">
                <a:alpha val="100000"/>
              </a:srgbClr>
            </a:solidFill>
            <a:miter lim="800000"/>
          </a:ln>
        </p:spPr>
      </p:sp>
      <p:sp>
        <p:nvSpPr>
          <p:cNvPr id="33795"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US" altLang="en-US" sz="1200" dirty="0">
                <a:solidFill>
                  <a:srgbClr val="000000"/>
                </a:solidFill>
                <a:cs typeface="Arial" panose="020B0604020202020204" pitchFamily="34" charset="0"/>
              </a:rPr>
            </a:fld>
            <a:endParaRPr lang="en-US" altLang="en-US" sz="1200" dirty="0">
              <a:solidFill>
                <a:srgbClr val="000000"/>
              </a:solidFill>
              <a:ea typeface="Arial" panose="020B0604020202020204" pitchFamily="34" charset="0"/>
              <a:cs typeface="Arial" panose="020B0604020202020204" pitchFamily="34" charset="0"/>
            </a:endParaRPr>
          </a:p>
        </p:txBody>
      </p:sp>
      <p:sp>
        <p:nvSpPr>
          <p:cNvPr id="33796" name="Footer Placeholder 1"/>
          <p:cNvSpPr txBox="1">
            <a:spLocks noGrp="1"/>
          </p:cNvSpPr>
          <p:nvPr>
            <p:ph type="ftr" sz="quarter"/>
          </p:nvPr>
        </p:nvSpPr>
        <p:spPr>
          <a:xfrm>
            <a:off x="0" y="8685213"/>
            <a:ext cx="2971800" cy="458787"/>
          </a:xfrm>
          <a:prstGeom prst="rect">
            <a:avLst/>
          </a:prstGeom>
          <a:noFill/>
          <a:ln w="9525">
            <a:noFill/>
          </a:ln>
        </p:spPr>
        <p:txBody>
          <a:bodyPr anchor="b" anchorCtr="0"/>
          <a:p>
            <a:pPr lvl="0" eaLnBrk="1" hangingPunct="1"/>
            <a:r>
              <a:rPr lang="en-US" altLang="en-US" sz="1200" dirty="0">
                <a:solidFill>
                  <a:srgbClr val="000000"/>
                </a:solidFill>
              </a:rPr>
              <a:t>Copyright @2020 Nusrat Hafiz. All Rights Reserved.</a:t>
            </a:r>
            <a:endParaRPr lang="en-US" altLang="en-US" sz="1200" dirty="0">
              <a:solidFill>
                <a:srgbClr val="000000"/>
              </a:solidFill>
            </a:endParaRPr>
          </a:p>
        </p:txBody>
      </p:sp>
      <p:sp>
        <p:nvSpPr>
          <p:cNvPr id="33797" name="Header Placeholder 2"/>
          <p:cNvSpPr txBox="1">
            <a:spLocks noGrp="1"/>
          </p:cNvSpPr>
          <p:nvPr>
            <p:ph type="hdr" sz="quarter"/>
          </p:nvPr>
        </p:nvSpPr>
        <p:spPr>
          <a:xfrm>
            <a:off x="0" y="0"/>
            <a:ext cx="2971800" cy="458788"/>
          </a:xfrm>
          <a:prstGeom prst="rect">
            <a:avLst/>
          </a:prstGeom>
          <a:noFill/>
          <a:ln w="9525">
            <a:noFill/>
          </a:ln>
        </p:spPr>
        <p:txBody>
          <a:bodyPr/>
          <a:p>
            <a:pPr lvl="0" eaLnBrk="1" hangingPunct="1"/>
            <a:r>
              <a:rPr lang="en-US" altLang="en-US" sz="1200" dirty="0">
                <a:solidFill>
                  <a:srgbClr val="000000"/>
                </a:solidFill>
              </a:rPr>
              <a:t>Introduction to Business (BUS 101). Course Instructor: Nusrat Hafiz (NHF)</a:t>
            </a:r>
            <a:endParaRPr lang="en-US" altLang="en-US" sz="1200" dirty="0">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pener">
    <p:bg>
      <p:bgPr>
        <a:solidFill>
          <a:schemeClr val="bg1"/>
        </a:solidFill>
        <a:effectLst/>
      </p:bgPr>
    </p:bg>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a:prstGeom prst="rect">
            <a:avLst/>
          </a:prstGeom>
        </p:spPr>
        <p:txBody>
          <a:bodyPr anchor="t"/>
          <a:lstStyle/>
          <a:p>
            <a:r>
              <a:rPr lang="en-US" dirty="0"/>
              <a:t>Click to edit Master title style</a:t>
            </a:r>
            <a:endParaRPr lang="en-US" dirty="0"/>
          </a:p>
        </p:txBody>
      </p:sp>
      <p:sp>
        <p:nvSpPr>
          <p:cNvPr id="7" name="Text Placeholder 6"/>
          <p:cNvSpPr>
            <a:spLocks noGrp="1"/>
          </p:cNvSpPr>
          <p:nvPr>
            <p:ph type="body" sz="quarter" idx="13"/>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Click to edit Master text styles</a:t>
            </a:r>
            <a:endParaRPr lang="en-US"/>
          </a:p>
        </p:txBody>
      </p:sp>
      <p:sp>
        <p:nvSpPr>
          <p:cNvPr id="9" name="Text Placeholder 8"/>
          <p:cNvSpPr>
            <a:spLocks noGrp="1"/>
          </p:cNvSpPr>
          <p:nvPr>
            <p:ph type="body" sz="quarter" idx="14"/>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a:t>Click to edit Master text styles</a:t>
            </a:r>
            <a:endParaRPr lang="en-US"/>
          </a:p>
        </p:txBody>
      </p:sp>
      <p:sp>
        <p:nvSpPr>
          <p:cNvPr id="10" name="Text Placeholder 8"/>
          <p:cNvSpPr>
            <a:spLocks noGrp="1"/>
          </p:cNvSpPr>
          <p:nvPr>
            <p:ph type="body" sz="quarter" idx="15"/>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Click to edit Master text styles</a:t>
            </a:r>
            <a:endParaRPr lang="en-US"/>
          </a:p>
        </p:txBody>
      </p:sp>
      <p:sp>
        <p:nvSpPr>
          <p:cNvPr id="2" name="Footer Placeholder 2"/>
          <p:cNvSpPr>
            <a:spLocks noGrp="1"/>
          </p:cNvSpPr>
          <p:nvPr>
            <p:ph type="ftr" sz="quarter" idx="3"/>
          </p:nvPr>
        </p:nvSpPr>
        <p:spPr>
          <a:xfrm>
            <a:off x="93663" y="6165850"/>
            <a:ext cx="8596313" cy="234950"/>
          </a:xfrm>
          <a:prstGeom prst="rect">
            <a:avLst/>
          </a:prstGeom>
        </p:spPr>
        <p:txBody>
          <a:bodyPr/>
          <a:lstStyle>
            <a:lvl1pPr eaLnBrk="1" hangingPunct="1">
              <a:defRPr sz="1800">
                <a:solidFill>
                  <a:srgbClr val="000000"/>
                </a:solidFill>
                <a:latin typeface="Times" pitchFamily="34" charset="0"/>
                <a:ea typeface="MS PGothic" panose="020B0600070205080204" pitchFamily="34" charset="-128"/>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pitchFamily="34" charset="0"/>
              <a:ea typeface="MS PGothic" panose="020B0600070205080204" pitchFamily="34" charset="-128"/>
              <a:cs typeface="+mn-cs"/>
            </a:endParaRPr>
          </a:p>
        </p:txBody>
      </p:sp>
      <p:sp>
        <p:nvSpPr>
          <p:cNvPr id="8" name="Date Placeholder 3"/>
          <p:cNvSpPr>
            <a:spLocks noGrp="1"/>
          </p:cNvSpPr>
          <p:nvPr>
            <p:ph type="dt" sz="half" idx="2"/>
          </p:nvPr>
        </p:nvSpPr>
        <p:spPr>
          <a:xfrm>
            <a:off x="6335713" y="112713"/>
            <a:ext cx="2133600" cy="182563"/>
          </a:xfrm>
          <a:prstGeom prst="rect">
            <a:avLst/>
          </a:prstGeom>
        </p:spPr>
        <p:txBody>
          <a:bodyPr/>
          <a:lstStyle>
            <a:lvl1pPr eaLnBrk="1" hangingPunct="1">
              <a:defRPr sz="1800">
                <a:solidFill>
                  <a:srgbClr val="000000"/>
                </a:solidFill>
                <a:latin typeface="Times" pitchFamily="34" charset="0"/>
                <a:ea typeface="MS PGothic" panose="020B0600070205080204" pitchFamily="34" charset="-128"/>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DD03EEB-C365-40DC-8D41-5734FD082C65}" type="datetimeFigureOut">
              <a:rPr kumimoji="0" lang="en-US" sz="1800" b="0" i="0" u="none" strike="noStrike" kern="1200" cap="none" spc="0" normalizeH="0" baseline="0" noProof="0">
                <a:ln>
                  <a:noFill/>
                </a:ln>
                <a:solidFill>
                  <a:srgbClr val="000000"/>
                </a:solidFill>
                <a:effectLst/>
                <a:uLnTx/>
                <a:uFillTx/>
                <a:latin typeface="Times" pitchFamily="34" charset="0"/>
                <a:ea typeface="MS PGothic" panose="020B0600070205080204" pitchFamily="34" charset="-128"/>
                <a:cs typeface="+mn-cs"/>
              </a:rPr>
            </a:fld>
            <a:endParaRPr kumimoji="0" lang="en-US" sz="1800" b="0" i="0" u="none" strike="noStrike" kern="1200" cap="none" spc="0" normalizeH="0" baseline="0" noProof="0" dirty="0">
              <a:ln>
                <a:noFill/>
              </a:ln>
              <a:solidFill>
                <a:srgbClr val="000000"/>
              </a:solidFill>
              <a:effectLst/>
              <a:uLnTx/>
              <a:uFillTx/>
              <a:latin typeface="Times" pitchFamily="34" charset="0"/>
              <a:ea typeface="MS PGothic" panose="020B0600070205080204" pitchFamily="34" charset="-128"/>
              <a:cs typeface="+mn-cs"/>
            </a:endParaRPr>
          </a:p>
        </p:txBody>
      </p:sp>
      <p:sp>
        <p:nvSpPr>
          <p:cNvPr id="3" name="Slide Number Placeholder 4"/>
          <p:cNvSpPr>
            <a:spLocks noGrp="1"/>
          </p:cNvSpPr>
          <p:nvPr>
            <p:ph type="sldNum" sz="quarter" idx="4"/>
          </p:nvPr>
        </p:nvSpPr>
        <p:spPr>
          <a:xfrm>
            <a:off x="8469313" y="112713"/>
            <a:ext cx="552450" cy="182563"/>
          </a:xfrm>
          <a:prstGeom prst="rect">
            <a:avLst/>
          </a:prstGeom>
        </p:spPr>
        <p:txBody>
          <a:bodyPr vert="horz" wrap="square" lIns="91440" tIns="45720" rIns="91440" bIns="45720" numCol="1" anchor="t" anchorCtr="0" compatLnSpc="1"/>
          <a:p>
            <a:pPr lvl="0" eaLnBrk="1" hangingPunct="1">
              <a:buNone/>
            </a:pPr>
            <a:fld id="{9A0DB2DC-4C9A-4742-B13C-FB6460FD3503}" type="slidenum">
              <a:rPr lang="en-US" altLang="en-US" dirty="0">
                <a:solidFill>
                  <a:srgbClr val="000000"/>
                </a:solidFill>
                <a:latin typeface="Times" pitchFamily="34" charset="0"/>
                <a:ea typeface="MS PGothic" panose="020B0600070205080204" pitchFamily="34" charset="-128"/>
              </a:rPr>
            </a:fld>
            <a:endParaRPr lang="en-US" altLang="en-US" dirty="0">
              <a:solidFill>
                <a:srgbClr val="000000"/>
              </a:solidFill>
              <a:latin typeface="Times" pitchFamily="34" charset="0"/>
              <a:ea typeface="MS PGothic" panose="020B0600070205080204" pitchFamily="34" charset="-128"/>
            </a:endParaRPr>
          </a:p>
        </p:txBody>
      </p:sp>
    </p:spTree>
  </p:cSld>
  <p:clrMapOvr>
    <a:masterClrMapping/>
  </p:clrMapOvr>
  <p:transition spd="slow"/>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emf"/><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1027" name="Rectangle 3"/>
          <p:cNvSpPr>
            <a:spLocks noGrp="1"/>
          </p:cNvSpPr>
          <p:nvPr>
            <p:ph type="body" idx="1"/>
          </p:nvPr>
        </p:nvSpPr>
        <p:spPr>
          <a:xfrm>
            <a:off x="457200" y="1600200"/>
            <a:ext cx="8229600" cy="45259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pic>
        <p:nvPicPr>
          <p:cNvPr id="1028" name="Picture 8" descr="Pearson Logo"/>
          <p:cNvPicPr>
            <a:picLocks noChangeAspect="1"/>
          </p:cNvPicPr>
          <p:nvPr userDrawn="1"/>
        </p:nvPicPr>
        <p:blipFill>
          <a:blip r:embed="rId13"/>
          <a:stretch>
            <a:fillRect/>
          </a:stretch>
        </p:blipFill>
        <p:spPr>
          <a:xfrm>
            <a:off x="457200" y="6376988"/>
            <a:ext cx="917575" cy="279400"/>
          </a:xfrm>
          <a:prstGeom prst="rect">
            <a:avLst/>
          </a:prstGeom>
          <a:noFill/>
          <a:ln w="9525">
            <a:noFill/>
          </a:ln>
        </p:spPr>
      </p:pic>
      <p:sp>
        <p:nvSpPr>
          <p:cNvPr id="6" name="Text Box 13"/>
          <p:cNvSpPr txBox="1">
            <a:spLocks noChangeArrowheads="1"/>
          </p:cNvSpPr>
          <p:nvPr/>
        </p:nvSpPr>
        <p:spPr bwMode="auto">
          <a:xfrm>
            <a:off x="185738" y="6416675"/>
            <a:ext cx="8642350" cy="188913"/>
          </a:xfrm>
          <a:prstGeom prst="rect">
            <a:avLst/>
          </a:prstGeom>
          <a:no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Copyright © 2019, 2015, 2009 Pearson Education, Inc. All Rights Reserved</a:t>
            </a:r>
            <a:endParaRPr kumimoji="0" lang="en-IN" sz="800" b="0" i="0" u="none" strike="noStrike" kern="120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400" b="1">
          <a:solidFill>
            <a:srgbClr val="007FA3"/>
          </a:solidFill>
          <a:latin typeface="+mj-lt"/>
          <a:ea typeface="+mj-ea"/>
          <a:cs typeface="+mj-cs"/>
        </a:defRPr>
      </a:lvl1pPr>
      <a:lvl2pPr algn="ctr" rtl="0" eaLnBrk="0" fontAlgn="base" hangingPunct="0">
        <a:spcBef>
          <a:spcPct val="0"/>
        </a:spcBef>
        <a:spcAft>
          <a:spcPct val="0"/>
        </a:spcAft>
        <a:defRPr sz="4400" b="1">
          <a:solidFill>
            <a:srgbClr val="007FA3"/>
          </a:solidFill>
          <a:latin typeface="Arial" panose="020B0604020202020204" pitchFamily="34" charset="0"/>
        </a:defRPr>
      </a:lvl2pPr>
      <a:lvl3pPr algn="ctr" rtl="0" eaLnBrk="0" fontAlgn="base" hangingPunct="0">
        <a:spcBef>
          <a:spcPct val="0"/>
        </a:spcBef>
        <a:spcAft>
          <a:spcPct val="0"/>
        </a:spcAft>
        <a:defRPr sz="4400" b="1">
          <a:solidFill>
            <a:srgbClr val="007FA3"/>
          </a:solidFill>
          <a:latin typeface="Arial" panose="020B0604020202020204" pitchFamily="34" charset="0"/>
        </a:defRPr>
      </a:lvl3pPr>
      <a:lvl4pPr algn="ctr" rtl="0" eaLnBrk="0" fontAlgn="base" hangingPunct="0">
        <a:spcBef>
          <a:spcPct val="0"/>
        </a:spcBef>
        <a:spcAft>
          <a:spcPct val="0"/>
        </a:spcAft>
        <a:defRPr sz="4400" b="1">
          <a:solidFill>
            <a:srgbClr val="007FA3"/>
          </a:solidFill>
          <a:latin typeface="Arial" panose="020B0604020202020204" pitchFamily="34" charset="0"/>
        </a:defRPr>
      </a:lvl4pPr>
      <a:lvl5pPr algn="ctr" rtl="0" eaLnBrk="0" fontAlgn="base" hangingPunct="0">
        <a:spcBef>
          <a:spcPct val="0"/>
        </a:spcBef>
        <a:spcAft>
          <a:spcPct val="0"/>
        </a:spcAft>
        <a:defRPr sz="4400" b="1">
          <a:solidFill>
            <a:srgbClr val="007FA3"/>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jpe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xml"/><Relationship Id="rId7" Type="http://schemas.openxmlformats.org/officeDocument/2006/relationships/image" Target="../media/image9.jpeg"/><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tags" Target="../tags/tag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xml"/><Relationship Id="rId5" Type="http://schemas.openxmlformats.org/officeDocument/2006/relationships/tags" Target="../tags/tag2.xml"/><Relationship Id="rId4" Type="http://schemas.openxmlformats.org/officeDocument/2006/relationships/image" Target="../media/image10.jpe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1.jpe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tags" Target="../tags/tag3.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tags" Target="../tags/tag4.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tags" Target="../tags/tag5.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tags" Target="../tags/tag6.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tags" Target="../tags/tag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tags" Target="../tags/tag8.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tags" Target="../tags/tag9.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xml"/><Relationship Id="rId4" Type="http://schemas.openxmlformats.org/officeDocument/2006/relationships/tags" Target="../tags/tag10.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755015" y="1268730"/>
            <a:ext cx="7772400" cy="1470025"/>
          </a:xfrm>
        </p:spPr>
        <p:txBody>
          <a:bodyPr/>
          <a:p>
            <a:r>
              <a:rPr lang="en-GB" altLang="en-US"/>
              <a:t>Week-2</a:t>
            </a:r>
            <a:br>
              <a:rPr lang="en-GB" altLang="en-US"/>
            </a:br>
            <a:r>
              <a:rPr lang="en-GB" altLang="en-US"/>
              <a:t>Session-2</a:t>
            </a:r>
            <a:endParaRPr lang="en-GB" altLang="en-US"/>
          </a:p>
        </p:txBody>
      </p:sp>
      <p:sp>
        <p:nvSpPr>
          <p:cNvPr id="3" name="Subtitle 2"/>
          <p:cNvSpPr>
            <a:spLocks noGrp="1"/>
          </p:cNvSpPr>
          <p:nvPr>
            <p:ph type="subTitle" idx="1"/>
          </p:nvPr>
        </p:nvSpPr>
        <p:spPr>
          <a:xfrm>
            <a:off x="1331595" y="2738755"/>
            <a:ext cx="6938010" cy="3053080"/>
          </a:xfrm>
        </p:spPr>
        <p:txBody>
          <a:bodyPr/>
          <a:p>
            <a:r>
              <a:rPr lang="en-US" sz="2000"/>
              <a:t>Global business environment and economics</a:t>
            </a:r>
            <a:endParaRPr lang="en-US" sz="2000"/>
          </a:p>
          <a:p>
            <a:r>
              <a:rPr lang="en-US" sz="2000"/>
              <a:t>Globalizations and its advantages and disadvantages</a:t>
            </a:r>
            <a:endParaRPr lang="en-US" sz="2000"/>
          </a:p>
          <a:p>
            <a:r>
              <a:rPr lang="en-US" sz="2000"/>
              <a:t>-Capitalism and Global Capitalism</a:t>
            </a:r>
            <a:endParaRPr lang="en-US" sz="2000"/>
          </a:p>
          <a:p>
            <a:r>
              <a:rPr lang="en-US" sz="2000"/>
              <a:t>-Role of developing countries</a:t>
            </a:r>
            <a:endParaRPr lang="en-US" sz="2000"/>
          </a:p>
          <a:p>
            <a:r>
              <a:rPr lang="en-US" sz="2000"/>
              <a:t>-Challenges for developing countries</a:t>
            </a:r>
            <a:endParaRPr lang="en-US" sz="2000"/>
          </a:p>
          <a:p>
            <a:r>
              <a:rPr lang="en-US" sz="2000"/>
              <a:t>-Scope of globalization; Trend towards globalization</a:t>
            </a:r>
            <a:endParaRPr lang="en-US" sz="2000"/>
          </a:p>
          <a:p>
            <a:r>
              <a:rPr lang="en-US" sz="2000"/>
              <a:t>-Indicators of Globalization  - FDI, FPI, World Trade, WTO, business restructuring, JIT, etc</a:t>
            </a:r>
            <a:endParaRPr lang="en-US"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ext Box 19"/>
          <p:cNvSpPr txBox="1"/>
          <p:nvPr/>
        </p:nvSpPr>
        <p:spPr>
          <a:xfrm>
            <a:off x="858838" y="438150"/>
            <a:ext cx="7426325" cy="6159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None/>
            </a:pPr>
            <a:r>
              <a:rPr lang="en-US" altLang="en-US" sz="3400" b="1" dirty="0">
                <a:solidFill>
                  <a:srgbClr val="007FA3"/>
                </a:solidFill>
              </a:rPr>
              <a:t>Introduction</a:t>
            </a:r>
            <a:endParaRPr lang="en-US" altLang="en-US" sz="3400" b="1" dirty="0">
              <a:solidFill>
                <a:srgbClr val="007FA3"/>
              </a:solidFill>
            </a:endParaRPr>
          </a:p>
        </p:txBody>
      </p:sp>
      <p:pic>
        <p:nvPicPr>
          <p:cNvPr id="6147" name="Picture 3"/>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6148"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6149"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sp>
        <p:nvSpPr>
          <p:cNvPr id="2" name="Rectangle 1"/>
          <p:cNvSpPr/>
          <p:nvPr/>
        </p:nvSpPr>
        <p:spPr>
          <a:xfrm>
            <a:off x="1042988" y="1173163"/>
            <a:ext cx="7561263" cy="3744913"/>
          </a:xfrm>
          <a:prstGeom prst="rect">
            <a:avLst/>
          </a:prstGeom>
        </p:spPr>
        <p:style>
          <a:lnRef idx="3">
            <a:schemeClr val="lt1"/>
          </a:lnRef>
          <a:fillRef idx="1">
            <a:schemeClr val="accent5"/>
          </a:fillRef>
          <a:effectRef idx="1">
            <a:schemeClr val="accent5"/>
          </a:effectRef>
          <a:fontRef idx="minor">
            <a:schemeClr val="lt1"/>
          </a:fontRef>
        </p:style>
        <p:txBody>
          <a:bodyPr anchor="ctr"/>
          <a:lstStyle/>
          <a:p>
            <a:pPr marL="0" marR="0" lvl="0" indent="0" algn="just" defTabSz="914400" rtl="0" eaLnBrk="0" fontAlgn="base" latinLnBrk="0" hangingPunct="0">
              <a:lnSpc>
                <a:spcPct val="150000"/>
              </a:lnSpc>
              <a:spcBef>
                <a:spcPct val="0"/>
              </a:spcBef>
              <a:spcAft>
                <a:spcPct val="0"/>
              </a:spcAft>
              <a:buClrTx/>
              <a:buSzTx/>
              <a:buFontTx/>
              <a:buNone/>
              <a:defRPr/>
            </a:pPr>
            <a:r>
              <a:rPr kumimoji="0" lang="en-US" sz="1800" b="0" i="0" u="none" strike="noStrike" kern="1200" cap="none" spc="0" normalizeH="0" baseline="0" noProof="0" dirty="0">
                <a:ln>
                  <a:noFill/>
                </a:ln>
                <a:solidFill>
                  <a:srgbClr val="202124"/>
                </a:solidFill>
                <a:effectLst/>
                <a:uLnTx/>
                <a:uFillTx/>
                <a:latin typeface="+mn-lt"/>
                <a:ea typeface="+mn-ea"/>
                <a:cs typeface="+mn-cs"/>
              </a:rPr>
              <a:t>The process of </a:t>
            </a:r>
            <a:r>
              <a:rPr kumimoji="0" lang="en-US" sz="1800" b="1" i="0" u="none" strike="noStrike" kern="1200" cap="none" spc="0" normalizeH="0" baseline="0" noProof="0" dirty="0">
                <a:ln>
                  <a:noFill/>
                </a:ln>
                <a:solidFill>
                  <a:srgbClr val="202124"/>
                </a:solidFill>
                <a:effectLst/>
                <a:uLnTx/>
                <a:uFillTx/>
                <a:latin typeface="+mn-lt"/>
                <a:ea typeface="+mn-ea"/>
                <a:cs typeface="+mn-cs"/>
              </a:rPr>
              <a:t>globalization</a:t>
            </a:r>
            <a:r>
              <a:rPr kumimoji="0" lang="en-US" sz="1800" b="0" i="0" u="none" strike="noStrike" kern="1200" cap="none" spc="0" normalizeH="0" baseline="0" noProof="0" dirty="0">
                <a:ln>
                  <a:noFill/>
                </a:ln>
                <a:solidFill>
                  <a:srgbClr val="202124"/>
                </a:solidFill>
                <a:effectLst/>
                <a:uLnTx/>
                <a:uFillTx/>
                <a:latin typeface="+mn-lt"/>
                <a:ea typeface="+mn-ea"/>
                <a:cs typeface="+mn-cs"/>
              </a:rPr>
              <a:t> is changing the world—economically, politically, socially and culturally. Its impact is obvious in the everyday life of a typical household in a every country.</a:t>
            </a:r>
            <a:r>
              <a:rPr kumimoji="0" lang="en-US" sz="1800" b="1" i="0" u="none" strike="noStrike" kern="1200" cap="none" spc="0" normalizeH="0" baseline="0" noProof="0" dirty="0">
                <a:ln>
                  <a:noFill/>
                </a:ln>
                <a:solidFill>
                  <a:srgbClr val="202124"/>
                </a:solidFill>
                <a:effectLst/>
                <a:uLnTx/>
                <a:uFillTx/>
                <a:latin typeface="+mn-lt"/>
                <a:ea typeface="+mn-ea"/>
                <a:cs typeface="+mn-cs"/>
              </a:rPr>
              <a:t> Globalization</a:t>
            </a:r>
            <a:r>
              <a:rPr kumimoji="0" lang="en-US" sz="1800" b="0" i="0" u="none" strike="noStrike" kern="1200" cap="none" spc="0" normalizeH="0" baseline="0" noProof="0" dirty="0">
                <a:ln>
                  <a:noFill/>
                </a:ln>
                <a:solidFill>
                  <a:srgbClr val="202124"/>
                </a:solidFill>
                <a:effectLst/>
                <a:uLnTx/>
                <a:uFillTx/>
                <a:latin typeface="+mn-lt"/>
                <a:ea typeface="+mn-ea"/>
                <a:cs typeface="+mn-cs"/>
              </a:rPr>
              <a:t> leads to increased competition. This competition can be related to product and service cost and price, target market, technological adaptation, quick response, quick production by companies etc. When a </a:t>
            </a:r>
            <a:r>
              <a:rPr kumimoji="0" lang="en-US" sz="1800" b="1" i="0" u="none" strike="noStrike" kern="1200" cap="none" spc="0" normalizeH="0" baseline="0" noProof="0" dirty="0">
                <a:ln>
                  <a:noFill/>
                </a:ln>
                <a:solidFill>
                  <a:srgbClr val="202124"/>
                </a:solidFill>
                <a:effectLst/>
                <a:uLnTx/>
                <a:uFillTx/>
                <a:latin typeface="+mn-lt"/>
                <a:ea typeface="+mn-ea"/>
                <a:cs typeface="+mn-cs"/>
              </a:rPr>
              <a:t>company</a:t>
            </a:r>
            <a:r>
              <a:rPr kumimoji="0" lang="en-US" sz="1800" b="0" i="0" u="none" strike="noStrike" kern="1200" cap="none" spc="0" normalizeH="0" baseline="0" noProof="0" dirty="0">
                <a:ln>
                  <a:noFill/>
                </a:ln>
                <a:solidFill>
                  <a:srgbClr val="202124"/>
                </a:solidFill>
                <a:effectLst/>
                <a:uLnTx/>
                <a:uFillTx/>
                <a:latin typeface="+mn-lt"/>
                <a:ea typeface="+mn-ea"/>
                <a:cs typeface="+mn-cs"/>
              </a:rPr>
              <a:t> produces with less cost and sells cheaper, it is able to increase its market share</a:t>
            </a: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ext Box 19"/>
          <p:cNvSpPr txBox="1"/>
          <p:nvPr/>
        </p:nvSpPr>
        <p:spPr>
          <a:xfrm>
            <a:off x="858838" y="434975"/>
            <a:ext cx="7426325" cy="6159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None/>
            </a:pPr>
            <a:r>
              <a:rPr lang="en-US" altLang="en-US" sz="3400" b="1" dirty="0">
                <a:solidFill>
                  <a:srgbClr val="007FA3"/>
                </a:solidFill>
              </a:rPr>
              <a:t>Learning outcomes</a:t>
            </a:r>
            <a:endParaRPr lang="en-US" altLang="en-US" sz="3400" b="1" dirty="0">
              <a:solidFill>
                <a:srgbClr val="007FA3"/>
              </a:solidFill>
            </a:endParaRPr>
          </a:p>
        </p:txBody>
      </p:sp>
      <p:pic>
        <p:nvPicPr>
          <p:cNvPr id="8195" name="Picture 3"/>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8196"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8197"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sp>
        <p:nvSpPr>
          <p:cNvPr id="2" name="Rectangle 1"/>
          <p:cNvSpPr/>
          <p:nvPr/>
        </p:nvSpPr>
        <p:spPr>
          <a:xfrm>
            <a:off x="1157288" y="1368425"/>
            <a:ext cx="7127875" cy="3025775"/>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marL="0" marR="0" lvl="0" indent="0" algn="just" defTabSz="914400" rtl="0" eaLnBrk="0" fontAlgn="base" latinLnBrk="0" hangingPunct="0">
              <a:lnSpc>
                <a:spcPct val="150000"/>
              </a:lnSpc>
              <a:spcBef>
                <a:spcPct val="0"/>
              </a:spcBef>
              <a:spcAft>
                <a:spcPct val="0"/>
              </a:spcAft>
              <a:buClrTx/>
              <a:buSzTx/>
              <a:buFontTx/>
              <a:buNone/>
              <a:defRPr/>
            </a:pPr>
            <a:r>
              <a:rPr kumimoji="0" lang="en-US" sz="1800" b="0" i="0" u="none" strike="noStrike" kern="1200" cap="none" spc="0" normalizeH="0" baseline="0" noProof="0" dirty="0">
                <a:ln>
                  <a:noFill/>
                </a:ln>
                <a:solidFill>
                  <a:schemeClr val="tx1"/>
                </a:solidFill>
                <a:effectLst/>
                <a:uLnTx/>
                <a:uFillTx/>
                <a:latin typeface="+mn-lt"/>
                <a:ea typeface="+mn-ea"/>
                <a:cs typeface="+mn-cs"/>
              </a:rPr>
              <a:t>Having read this chapter you should be able</a:t>
            </a:r>
            <a:endParaRPr kumimoji="0" lang="en-US" sz="1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5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dirty="0">
                <a:ln>
                  <a:noFill/>
                </a:ln>
                <a:solidFill>
                  <a:schemeClr val="tx1"/>
                </a:solidFill>
                <a:effectLst/>
                <a:uLnTx/>
                <a:uFillTx/>
                <a:latin typeface="+mn-lt"/>
                <a:ea typeface="+mn-ea"/>
                <a:cs typeface="+mn-cs"/>
              </a:rPr>
              <a:t>to understand the changing nature of business environment </a:t>
            </a:r>
            <a:endParaRPr kumimoji="0" lang="en-US" sz="1800" b="0"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dirty="0">
                <a:ln>
                  <a:noFill/>
                </a:ln>
                <a:solidFill>
                  <a:schemeClr val="tx1"/>
                </a:solidFill>
                <a:effectLst/>
                <a:uLnTx/>
                <a:uFillTx/>
                <a:latin typeface="+mn-lt"/>
                <a:ea typeface="+mn-ea"/>
                <a:cs typeface="+mn-cs"/>
              </a:rPr>
              <a:t>to learn about the role of firms and governments in developing countries </a:t>
            </a:r>
            <a:endParaRPr kumimoji="0" lang="en-US" sz="1800" b="0"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dirty="0">
                <a:ln>
                  <a:noFill/>
                </a:ln>
                <a:solidFill>
                  <a:schemeClr val="tx1"/>
                </a:solidFill>
                <a:effectLst/>
                <a:uLnTx/>
                <a:uFillTx/>
                <a:latin typeface="+mn-lt"/>
                <a:ea typeface="+mn-ea"/>
                <a:cs typeface="+mn-cs"/>
              </a:rPr>
              <a:t>to study the dynamics of economic framework in which firms operate</a:t>
            </a: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pic>
        <p:nvPicPr>
          <p:cNvPr id="8199" name="Picture 8" descr="7 International Business Careers That Are in High Demand"/>
          <p:cNvPicPr>
            <a:picLocks noChangeAspect="1"/>
          </p:cNvPicPr>
          <p:nvPr/>
        </p:nvPicPr>
        <p:blipFill>
          <a:blip r:embed="rId4"/>
          <a:stretch>
            <a:fillRect/>
          </a:stretch>
        </p:blipFill>
        <p:spPr>
          <a:xfrm>
            <a:off x="3411538" y="4432300"/>
            <a:ext cx="2619375" cy="174307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2"/>
          <p:cNvSpPr/>
          <p:nvPr/>
        </p:nvSpPr>
        <p:spPr>
          <a:xfrm>
            <a:off x="419100" y="204788"/>
            <a:ext cx="8401050" cy="166211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3400" b="1" i="0" u="none" strike="noStrike" kern="1200" cap="none" spc="0" normalizeH="0" baseline="0" noProof="0" dirty="0">
              <a:ln>
                <a:noFill/>
              </a:ln>
              <a:solidFill>
                <a:srgbClr val="007FA3"/>
              </a:solidFill>
              <a:effectLst/>
              <a:uLnTx/>
              <a:uFillTx/>
              <a:latin typeface="+mj-lt"/>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3400" b="1" i="0" u="none" strike="noStrike" kern="1200" cap="none" spc="0" normalizeH="0" baseline="0" noProof="0" dirty="0">
                <a:ln>
                  <a:noFill/>
                </a:ln>
                <a:solidFill>
                  <a:srgbClr val="007FA3"/>
                </a:solidFill>
                <a:effectLst/>
                <a:uLnTx/>
                <a:uFillTx/>
                <a:latin typeface="+mj-lt"/>
                <a:ea typeface="+mn-ea"/>
                <a:cs typeface="+mn-cs"/>
              </a:rPr>
              <a:t>The Global Capitalism-Free Market Model</a:t>
            </a:r>
            <a:endParaRPr kumimoji="0" lang="en-IN" sz="3400" b="1" i="0" u="none" strike="noStrike" kern="1200" cap="none" spc="0" normalizeH="0" baseline="0" noProof="0" dirty="0">
              <a:ln>
                <a:noFill/>
              </a:ln>
              <a:solidFill>
                <a:srgbClr val="007FA3"/>
              </a:solidFill>
              <a:effectLst/>
              <a:uLnTx/>
              <a:uFillTx/>
              <a:latin typeface="+mj-lt"/>
              <a:ea typeface="+mn-ea"/>
              <a:cs typeface="+mn-cs"/>
            </a:endParaRPr>
          </a:p>
        </p:txBody>
      </p:sp>
      <p:pic>
        <p:nvPicPr>
          <p:cNvPr id="9219" name="Picture 3"/>
          <p:cNvPicPr>
            <a:picLocks noChangeAspect="1"/>
          </p:cNvPicPr>
          <p:nvPr/>
        </p:nvPicPr>
        <p:blipFill>
          <a:blip r:embed="rId1"/>
          <a:stretch>
            <a:fillRect/>
          </a:stretch>
        </p:blipFill>
        <p:spPr>
          <a:xfrm>
            <a:off x="6350" y="6175375"/>
            <a:ext cx="9144000" cy="660400"/>
          </a:xfrm>
          <a:prstGeom prst="rect">
            <a:avLst/>
          </a:prstGeom>
          <a:noFill/>
          <a:ln w="9525">
            <a:noFill/>
          </a:ln>
        </p:spPr>
      </p:pic>
      <p:pic>
        <p:nvPicPr>
          <p:cNvPr id="9220"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9221" name="Picture 16" descr="BracU Logo | Brac University"/>
          <p:cNvPicPr>
            <a:picLocks noChangeAspect="1"/>
          </p:cNvPicPr>
          <p:nvPr/>
        </p:nvPicPr>
        <p:blipFill>
          <a:blip r:embed="rId3"/>
          <a:stretch>
            <a:fillRect/>
          </a:stretch>
        </p:blipFill>
        <p:spPr>
          <a:xfrm>
            <a:off x="84138" y="5053013"/>
            <a:ext cx="1549400" cy="1122362"/>
          </a:xfrm>
          <a:prstGeom prst="rect">
            <a:avLst/>
          </a:prstGeom>
          <a:noFill/>
          <a:ln w="9525">
            <a:noFill/>
          </a:ln>
        </p:spPr>
      </p:pic>
      <p:sp>
        <p:nvSpPr>
          <p:cNvPr id="7" name="Rectangle 6"/>
          <p:cNvSpPr/>
          <p:nvPr/>
        </p:nvSpPr>
        <p:spPr>
          <a:xfrm>
            <a:off x="1331913" y="1770063"/>
            <a:ext cx="6335713" cy="4179888"/>
          </a:xfrm>
          <a:prstGeom prst="rect">
            <a:avLst/>
          </a:prstGeom>
        </p:spPr>
        <p:style>
          <a:lnRef idx="3">
            <a:schemeClr val="lt1"/>
          </a:lnRef>
          <a:fillRef idx="1">
            <a:schemeClr val="accent5"/>
          </a:fillRef>
          <a:effectRef idx="1">
            <a:schemeClr val="accent5"/>
          </a:effectRef>
          <a:fontRef idx="minor">
            <a:schemeClr val="lt1"/>
          </a:fontRef>
        </p:style>
        <p:txBody>
          <a:bodyPr anchor="ctr"/>
          <a:lstStyle/>
          <a:p>
            <a:pPr marL="0" marR="0" lvl="0" indent="0" algn="just" defTabSz="914400" rtl="0" eaLnBrk="0" fontAlgn="base" latinLnBrk="0" hangingPunct="0">
              <a:lnSpc>
                <a:spcPct val="150000"/>
              </a:lnSpc>
              <a:spcBef>
                <a:spcPct val="0"/>
              </a:spcBef>
              <a:spcAft>
                <a:spcPct val="0"/>
              </a:spcAft>
              <a:buClrTx/>
              <a:buSzTx/>
              <a:buFontTx/>
              <a:buNone/>
              <a:defRPr/>
            </a:pPr>
            <a:r>
              <a:rPr kumimoji="0" lang="en-US" sz="1800" b="0" i="0" u="none" strike="noStrike" kern="1200" cap="none" spc="0" normalizeH="0" baseline="0" noProof="0" dirty="0">
                <a:ln>
                  <a:noFill/>
                </a:ln>
                <a:solidFill>
                  <a:srgbClr val="202124"/>
                </a:solidFill>
                <a:effectLst/>
                <a:uLnTx/>
                <a:uFillTx/>
                <a:latin typeface="+mn-lt"/>
                <a:ea typeface="+mn-ea"/>
                <a:cs typeface="+mn-cs"/>
              </a:rPr>
              <a:t>In simple teams </a:t>
            </a:r>
            <a:r>
              <a:rPr kumimoji="0" lang="en-US" sz="1800" b="1" i="0" u="none" strike="noStrike" kern="1200" cap="none" spc="0" normalizeH="0" baseline="0" noProof="0" dirty="0">
                <a:ln>
                  <a:noFill/>
                </a:ln>
                <a:solidFill>
                  <a:srgbClr val="202124"/>
                </a:solidFill>
                <a:effectLst/>
                <a:uLnTx/>
                <a:uFillTx/>
                <a:latin typeface="+mn-lt"/>
                <a:ea typeface="+mn-ea"/>
                <a:cs typeface="+mn-cs"/>
              </a:rPr>
              <a:t>Capitalism</a:t>
            </a:r>
            <a:r>
              <a:rPr kumimoji="0" lang="en-US" sz="1800" b="0" i="0" u="none" strike="noStrike" kern="1200" cap="none" spc="0" normalizeH="0" baseline="0" noProof="0" dirty="0">
                <a:ln>
                  <a:noFill/>
                </a:ln>
                <a:solidFill>
                  <a:srgbClr val="202124"/>
                </a:solidFill>
                <a:effectLst/>
                <a:uLnTx/>
                <a:uFillTx/>
                <a:latin typeface="+mn-lt"/>
                <a:ea typeface="+mn-ea"/>
                <a:cs typeface="+mn-cs"/>
              </a:rPr>
              <a:t> is an economic system characterized by private or corporate ownership of capital goods, by investments that are determined by private decision, and by prices, production, and the distribution of goods that are determined mainly by competition in a free market.</a:t>
            </a:r>
            <a:endParaRPr kumimoji="0" lang="en-US" sz="1800" b="0" i="0" u="none" strike="noStrike" kern="1200" cap="none" spc="0" normalizeH="0" baseline="0" noProof="0" dirty="0">
              <a:ln>
                <a:noFill/>
              </a:ln>
              <a:solidFill>
                <a:srgbClr val="202124"/>
              </a:solidFill>
              <a:effectLst/>
              <a:uLnTx/>
              <a:uFillTx/>
              <a:latin typeface="+mn-lt"/>
              <a:ea typeface="+mn-ea"/>
              <a:cs typeface="+mn-cs"/>
            </a:endParaRPr>
          </a:p>
          <a:p>
            <a:pPr marL="0" marR="0" lvl="0" indent="0" algn="just" defTabSz="914400" rtl="0" eaLnBrk="0" fontAlgn="base" latinLnBrk="0" hangingPunct="0">
              <a:lnSpc>
                <a:spcPct val="150000"/>
              </a:lnSpc>
              <a:spcBef>
                <a:spcPct val="0"/>
              </a:spcBef>
              <a:spcAft>
                <a:spcPct val="0"/>
              </a:spcAft>
              <a:buClrTx/>
              <a:buSzTx/>
              <a:buFontTx/>
              <a:buNone/>
              <a:defRPr/>
            </a:pPr>
            <a:r>
              <a:rPr kumimoji="0" lang="en-US" sz="1800" b="1" i="0" u="none" strike="noStrike" kern="1200" cap="none" spc="0" normalizeH="0" baseline="0" noProof="0" dirty="0">
                <a:ln>
                  <a:noFill/>
                </a:ln>
                <a:solidFill>
                  <a:srgbClr val="202124"/>
                </a:solidFill>
                <a:effectLst/>
                <a:uLnTx/>
                <a:uFillTx/>
                <a:latin typeface="+mn-lt"/>
                <a:ea typeface="+mn-ea"/>
                <a:cs typeface="+mn-cs"/>
              </a:rPr>
              <a:t>Global capitalism</a:t>
            </a:r>
            <a:r>
              <a:rPr kumimoji="0" lang="en-US" sz="1800" b="0" i="0" u="none" strike="noStrike" kern="1200" cap="none" spc="0" normalizeH="0" baseline="0" noProof="0" dirty="0">
                <a:ln>
                  <a:noFill/>
                </a:ln>
                <a:solidFill>
                  <a:srgbClr val="202124"/>
                </a:solidFill>
                <a:effectLst/>
                <a:uLnTx/>
                <a:uFillTx/>
                <a:latin typeface="+mn-lt"/>
                <a:ea typeface="+mn-ea"/>
                <a:cs typeface="+mn-cs"/>
              </a:rPr>
              <a:t> is </a:t>
            </a:r>
            <a:r>
              <a:rPr kumimoji="0" lang="en-US" sz="1800" b="1" i="0" u="none" strike="noStrike" kern="1200" cap="none" spc="0" normalizeH="0" baseline="0" noProof="0" dirty="0">
                <a:ln>
                  <a:noFill/>
                </a:ln>
                <a:solidFill>
                  <a:srgbClr val="202124"/>
                </a:solidFill>
                <a:effectLst/>
                <a:uLnTx/>
                <a:uFillTx/>
                <a:latin typeface="+mn-lt"/>
                <a:ea typeface="+mn-ea"/>
                <a:cs typeface="+mn-cs"/>
              </a:rPr>
              <a:t>capitalism</a:t>
            </a:r>
            <a:r>
              <a:rPr kumimoji="0" lang="en-US" sz="1800" b="0" i="0" u="none" strike="noStrike" kern="1200" cap="none" spc="0" normalizeH="0" baseline="0" noProof="0" dirty="0">
                <a:ln>
                  <a:noFill/>
                </a:ln>
                <a:solidFill>
                  <a:srgbClr val="202124"/>
                </a:solidFill>
                <a:effectLst/>
                <a:uLnTx/>
                <a:uFillTx/>
                <a:latin typeface="+mn-lt"/>
                <a:ea typeface="+mn-ea"/>
                <a:cs typeface="+mn-cs"/>
              </a:rPr>
              <a:t> that transcends national borders.</a:t>
            </a: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Subtitle 2"/>
          <p:cNvSpPr>
            <a:spLocks noGrp="1"/>
          </p:cNvSpPr>
          <p:nvPr>
            <p:ph type="subTitle" idx="1"/>
          </p:nvPr>
        </p:nvSpPr>
        <p:spPr/>
        <p:txBody>
          <a:bodyPr vert="horz" wrap="square" lIns="91440" tIns="45720" rIns="91440" bIns="45720" anchor="t" anchorCtr="0"/>
          <a:p>
            <a:pPr eaLnBrk="1" hangingPunct="1">
              <a:buClrTx/>
              <a:buSzTx/>
              <a:buFontTx/>
            </a:pPr>
            <a:endParaRPr lang="ar-SA" altLang="en-US" dirty="0">
              <a:solidFill>
                <a:srgbClr val="898989"/>
              </a:solidFill>
              <a:latin typeface="+mn-lt"/>
              <a:ea typeface="+mn-ea"/>
              <a:cs typeface="+mn-cs"/>
            </a:endParaRPr>
          </a:p>
        </p:txBody>
      </p:sp>
      <p:sp>
        <p:nvSpPr>
          <p:cNvPr id="4" name="Rounded Rectangle 3"/>
          <p:cNvSpPr/>
          <p:nvPr/>
        </p:nvSpPr>
        <p:spPr>
          <a:xfrm>
            <a:off x="1276350" y="358775"/>
            <a:ext cx="6400800" cy="5345113"/>
          </a:xfrm>
          <a:prstGeom prst="roundRect">
            <a:avLst/>
          </a:prstGeom>
          <a:solidFill>
            <a:srgbClr val="FFD95C"/>
          </a:solidFill>
          <a:ln>
            <a:solidFill>
              <a:srgbClr val="F7A427"/>
            </a:solid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mn-lt"/>
              <a:ea typeface="MS PGothic" panose="020B0600070205080204" pitchFamily="34" charset="-128"/>
              <a:cs typeface="+mn-cs"/>
            </a:endParaRPr>
          </a:p>
        </p:txBody>
      </p:sp>
      <p:sp>
        <p:nvSpPr>
          <p:cNvPr id="10244" name="TextBox 7"/>
          <p:cNvSpPr txBox="1"/>
          <p:nvPr/>
        </p:nvSpPr>
        <p:spPr>
          <a:xfrm>
            <a:off x="7486650" y="1714500"/>
            <a:ext cx="376238" cy="554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3000" b="1" dirty="0">
                <a:solidFill>
                  <a:srgbClr val="FFD95C"/>
                </a:solidFill>
                <a:latin typeface="Calibri" panose="020F0502020204030204" pitchFamily="34" charset="0"/>
              </a:rPr>
              <a:t>*</a:t>
            </a:r>
            <a:endParaRPr lang="en-US" altLang="en-US" sz="3000" b="1" dirty="0">
              <a:solidFill>
                <a:srgbClr val="FFD95C"/>
              </a:solidFill>
              <a:latin typeface="Calibri" panose="020F0502020204030204" pitchFamily="34" charset="0"/>
            </a:endParaRPr>
          </a:p>
        </p:txBody>
      </p:sp>
      <p:sp>
        <p:nvSpPr>
          <p:cNvPr id="10245" name="Rectangle 4"/>
          <p:cNvSpPr/>
          <p:nvPr/>
        </p:nvSpPr>
        <p:spPr>
          <a:xfrm>
            <a:off x="6572250" y="5657850"/>
            <a:ext cx="1428750" cy="342900"/>
          </a:xfrm>
          <a:prstGeom prst="rect">
            <a:avLst/>
          </a:prstGeom>
          <a:noFill/>
          <a:ln w="9525">
            <a:noFill/>
          </a:ln>
        </p:spPr>
        <p:txBody>
          <a:bodyPr anchor="b"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900" dirty="0">
                <a:latin typeface="Times New Roman" panose="02020603050405020304" charset="0"/>
              </a:rPr>
              <a:t>1-</a:t>
            </a:r>
            <a:fld id="{9A0DB2DC-4C9A-4742-B13C-FB6460FD3503}" type="slidenum">
              <a:rPr lang="en-US" altLang="en-US" sz="900" dirty="0">
                <a:latin typeface="Times New Roman" panose="02020603050405020304" charset="0"/>
              </a:rPr>
            </a:fld>
            <a:endParaRPr lang="en-US" altLang="en-US" sz="900" dirty="0">
              <a:latin typeface="Times New Roman" panose="02020603050405020304" charset="0"/>
            </a:endParaRPr>
          </a:p>
        </p:txBody>
      </p:sp>
      <p:sp>
        <p:nvSpPr>
          <p:cNvPr id="10246" name="Footer Placeholder 1"/>
          <p:cNvSpPr txBox="1">
            <a:spLocks noGrp="1"/>
          </p:cNvSpPr>
          <p:nvPr>
            <p:ph type="ftr" sz="quarter"/>
          </p:nvPr>
        </p:nvSpPr>
        <p:spPr>
          <a:xfrm>
            <a:off x="4165600" y="6356350"/>
            <a:ext cx="3860800" cy="365125"/>
          </a:xfrm>
          <a:prstGeom prst="rect">
            <a:avLst/>
          </a:prstGeom>
          <a:noFill/>
          <a:ln w="9525">
            <a:noFill/>
          </a:ln>
        </p:spPr>
        <p:txBody>
          <a:bodyPr anchor="ctr" anchorCtr="0"/>
          <a:p>
            <a:pPr marL="0" indent="0" algn="ctr" eaLnBrk="1" hangingPunct="1">
              <a:spcBef>
                <a:spcPct val="0"/>
              </a:spcBef>
              <a:buNone/>
            </a:pPr>
            <a:endParaRPr lang="en-US" altLang="en-US" sz="1200" dirty="0">
              <a:solidFill>
                <a:srgbClr val="898989"/>
              </a:solidFill>
              <a:latin typeface="Calibri" panose="020F0502020204030204" pitchFamily="34" charset="0"/>
            </a:endParaRPr>
          </a:p>
        </p:txBody>
      </p:sp>
      <p:sp>
        <p:nvSpPr>
          <p:cNvPr id="10247" name="Slide Number Placeholder 5"/>
          <p:cNvSpPr txBox="1">
            <a:spLocks noGrp="1"/>
          </p:cNvSpPr>
          <p:nvPr>
            <p:ph type="sldNum" sz="quarter"/>
          </p:nvPr>
        </p:nvSpPr>
        <p:spPr>
          <a:xfrm>
            <a:off x="8737600" y="6356350"/>
            <a:ext cx="2844800" cy="365125"/>
          </a:xfrm>
          <a:prstGeom prst="rect">
            <a:avLst/>
          </a:prstGeom>
          <a:noFill/>
          <a:ln w="9525">
            <a:noFill/>
          </a:ln>
        </p:spPr>
        <p:txBody>
          <a:bodyPr anchor="ctr" anchorCtr="0"/>
          <a:p>
            <a:pPr marL="0" indent="0" algn="r" eaLnBrk="1" hangingPunct="1">
              <a:spcBef>
                <a:spcPct val="0"/>
              </a:spcBef>
              <a:buNone/>
            </a:pPr>
            <a:fld id="{9A0DB2DC-4C9A-4742-B13C-FB6460FD3503}" type="slidenum">
              <a:rPr lang="en-US" altLang="en-US" sz="1200" dirty="0">
                <a:solidFill>
                  <a:srgbClr val="898989"/>
                </a:solidFill>
                <a:latin typeface="Calibri" panose="020F0502020204030204" pitchFamily="34" charset="0"/>
              </a:rPr>
            </a:fld>
            <a:endParaRPr lang="en-US" altLang="en-US" sz="1200" dirty="0">
              <a:solidFill>
                <a:srgbClr val="898989"/>
              </a:solidFill>
              <a:latin typeface="Calibri" panose="020F0502020204030204" pitchFamily="34" charset="0"/>
            </a:endParaRPr>
          </a:p>
        </p:txBody>
      </p:sp>
      <p:pic>
        <p:nvPicPr>
          <p:cNvPr id="10248" name="Picture 10"/>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10249"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10250"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pic>
        <p:nvPicPr>
          <p:cNvPr id="10251" name="Picture 15" descr="Global Capitalism | William Robinson"/>
          <p:cNvPicPr>
            <a:picLocks noChangeAspect="1"/>
          </p:cNvPicPr>
          <p:nvPr/>
        </p:nvPicPr>
        <p:blipFill>
          <a:blip r:embed="rId4"/>
          <a:stretch>
            <a:fillRect/>
          </a:stretch>
        </p:blipFill>
        <p:spPr>
          <a:xfrm>
            <a:off x="1803400" y="666750"/>
            <a:ext cx="2886075" cy="1581150"/>
          </a:xfrm>
          <a:prstGeom prst="rect">
            <a:avLst/>
          </a:prstGeom>
          <a:noFill/>
          <a:ln w="9525">
            <a:noFill/>
          </a:ln>
        </p:spPr>
      </p:pic>
      <p:pic>
        <p:nvPicPr>
          <p:cNvPr id="10252" name="Picture 17" descr="10 Reasons to be Cheerful about Global Capitalism - Foundation for Economic  Education"/>
          <p:cNvPicPr>
            <a:picLocks noChangeAspect="1"/>
          </p:cNvPicPr>
          <p:nvPr/>
        </p:nvPicPr>
        <p:blipFill>
          <a:blip r:embed="rId5"/>
          <a:stretch>
            <a:fillRect/>
          </a:stretch>
        </p:blipFill>
        <p:spPr>
          <a:xfrm>
            <a:off x="1803400" y="2324100"/>
            <a:ext cx="2886075" cy="1581150"/>
          </a:xfrm>
          <a:prstGeom prst="rect">
            <a:avLst/>
          </a:prstGeom>
          <a:noFill/>
          <a:ln w="9525">
            <a:noFill/>
          </a:ln>
        </p:spPr>
      </p:pic>
      <p:pic>
        <p:nvPicPr>
          <p:cNvPr id="10253" name="Picture 19" descr="The Logistics of Global Capitalism: A Dialogue with Giorgio Grappi, Brett  Neilson and Ned Rossiter | Zapruder World"/>
          <p:cNvPicPr>
            <a:picLocks noChangeAspect="1"/>
          </p:cNvPicPr>
          <p:nvPr/>
        </p:nvPicPr>
        <p:blipFill>
          <a:blip r:embed="rId6"/>
          <a:stretch>
            <a:fillRect/>
          </a:stretch>
        </p:blipFill>
        <p:spPr>
          <a:xfrm>
            <a:off x="1754188" y="3962400"/>
            <a:ext cx="2935287" cy="1600200"/>
          </a:xfrm>
          <a:prstGeom prst="rect">
            <a:avLst/>
          </a:prstGeom>
          <a:noFill/>
          <a:ln w="9525">
            <a:noFill/>
          </a:ln>
        </p:spPr>
      </p:pic>
      <p:pic>
        <p:nvPicPr>
          <p:cNvPr id="10254" name="Picture 21" descr="How Global Capitalism Operates Today Explained In 4 Minutes [VIDEO]"/>
          <p:cNvPicPr>
            <a:picLocks noChangeAspect="1"/>
          </p:cNvPicPr>
          <p:nvPr/>
        </p:nvPicPr>
        <p:blipFill>
          <a:blip r:embed="rId7"/>
          <a:stretch>
            <a:fillRect/>
          </a:stretch>
        </p:blipFill>
        <p:spPr>
          <a:xfrm>
            <a:off x="4960938" y="1639888"/>
            <a:ext cx="2454275" cy="2998787"/>
          </a:xfrm>
          <a:prstGeom prst="rect">
            <a:avLst/>
          </a:prstGeom>
          <a:noFill/>
          <a:ln w="9525">
            <a:noFill/>
          </a:ln>
        </p:spPr>
      </p:pic>
    </p:spTree>
  </p:cSld>
  <p:clrMapOvr>
    <a:masterClrMapping/>
  </p:clrMapOvr>
  <p:transition spd="slow" advTm="125944"/>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Subtitle 2"/>
          <p:cNvSpPr>
            <a:spLocks noGrp="1"/>
          </p:cNvSpPr>
          <p:nvPr>
            <p:ph type="subTitle" idx="1"/>
          </p:nvPr>
        </p:nvSpPr>
        <p:spPr/>
        <p:txBody>
          <a:bodyPr vert="horz" wrap="square" lIns="91440" tIns="45720" rIns="91440" bIns="45720" anchor="t" anchorCtr="0"/>
          <a:p>
            <a:pPr eaLnBrk="1" hangingPunct="1">
              <a:buClrTx/>
              <a:buSzTx/>
              <a:buFontTx/>
            </a:pPr>
            <a:endParaRPr lang="ar-SA" altLang="en-US" dirty="0">
              <a:solidFill>
                <a:srgbClr val="898989"/>
              </a:solidFill>
              <a:latin typeface="+mn-lt"/>
              <a:ea typeface="+mn-ea"/>
              <a:cs typeface="+mn-cs"/>
            </a:endParaRPr>
          </a:p>
        </p:txBody>
      </p:sp>
      <p:sp>
        <p:nvSpPr>
          <p:cNvPr id="4" name="Rounded Rectangle 3"/>
          <p:cNvSpPr/>
          <p:nvPr/>
        </p:nvSpPr>
        <p:spPr>
          <a:xfrm>
            <a:off x="1152525" y="585788"/>
            <a:ext cx="6578600" cy="4686300"/>
          </a:xfrm>
          <a:prstGeom prst="roundRect">
            <a:avLst/>
          </a:prstGeom>
          <a:solidFill>
            <a:srgbClr val="FFD95C"/>
          </a:solidFill>
          <a:ln>
            <a:solidFill>
              <a:srgbClr val="F7A427"/>
            </a:solid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just" defTabSz="914400" rtl="0" eaLnBrk="0" fontAlgn="base" latinLnBrk="0" hangingPunct="0">
              <a:lnSpc>
                <a:spcPct val="150000"/>
              </a:lnSpc>
              <a:spcBef>
                <a:spcPct val="0"/>
              </a:spcBef>
              <a:spcAft>
                <a:spcPct val="0"/>
              </a:spcAft>
              <a:buClrTx/>
              <a:buSzTx/>
              <a:buFontTx/>
              <a:buNone/>
              <a:defRPr/>
            </a:pPr>
            <a:r>
              <a:rPr kumimoji="0" lang="en-US" sz="1800" b="1" i="0" u="none" strike="noStrike" kern="1200" cap="none" spc="0" normalizeH="0" baseline="0" noProof="0" dirty="0">
                <a:ln>
                  <a:noFill/>
                </a:ln>
                <a:solidFill>
                  <a:schemeClr val="tx1"/>
                </a:solidFill>
                <a:effectLst/>
                <a:uLnTx/>
                <a:uFillTx/>
                <a:latin typeface="+mn-lt"/>
                <a:ea typeface="+mn-ea"/>
                <a:cs typeface="+mn-cs"/>
              </a:rPr>
              <a:t>Capitalism is often characterized by free market forces, profit and private property. This economic system manifests itself in two broad directions. </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sz="1800" b="1" i="0" u="none" strike="noStrike" kern="1200" cap="none" spc="0" normalizeH="0" baseline="0" noProof="0" dirty="0">
                <a:ln>
                  <a:noFill/>
                </a:ln>
                <a:solidFill>
                  <a:schemeClr val="tx1"/>
                </a:solidFill>
                <a:effectLst/>
                <a:uLnTx/>
                <a:uFillTx/>
                <a:latin typeface="+mn-lt"/>
                <a:ea typeface="+mn-ea"/>
                <a:cs typeface="+mn-cs"/>
              </a:rPr>
              <a:t>First, it leads to the development of large-scale multinational organizations. </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sz="1800" b="1" i="0" u="none" strike="noStrike" kern="1200" cap="none" spc="0" normalizeH="0" baseline="0" noProof="0" dirty="0">
                <a:ln>
                  <a:noFill/>
                </a:ln>
                <a:solidFill>
                  <a:schemeClr val="tx1"/>
                </a:solidFill>
                <a:effectLst/>
                <a:uLnTx/>
                <a:uFillTx/>
                <a:latin typeface="+mn-lt"/>
                <a:ea typeface="+mn-ea"/>
                <a:cs typeface="+mn-cs"/>
              </a:rPr>
              <a:t>Second, it rationalizes values, attitudes and behaviors with corporate goals and objectives to make abnormal profit.</a:t>
            </a:r>
            <a:endParaRPr kumimoji="0" lang="en-US" sz="18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endParaRPr>
          </a:p>
        </p:txBody>
      </p:sp>
      <p:sp>
        <p:nvSpPr>
          <p:cNvPr id="12292" name="TextBox 7"/>
          <p:cNvSpPr txBox="1"/>
          <p:nvPr/>
        </p:nvSpPr>
        <p:spPr>
          <a:xfrm>
            <a:off x="7486650" y="1714500"/>
            <a:ext cx="376238" cy="554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3000" b="1" dirty="0">
                <a:solidFill>
                  <a:srgbClr val="FFD95C"/>
                </a:solidFill>
                <a:latin typeface="Calibri" panose="020F0502020204030204" pitchFamily="34" charset="0"/>
              </a:rPr>
              <a:t>*</a:t>
            </a:r>
            <a:endParaRPr lang="en-US" altLang="en-US" sz="3000" b="1" dirty="0">
              <a:solidFill>
                <a:srgbClr val="FFD95C"/>
              </a:solidFill>
              <a:latin typeface="Calibri" panose="020F0502020204030204" pitchFamily="34" charset="0"/>
            </a:endParaRPr>
          </a:p>
        </p:txBody>
      </p:sp>
      <p:sp>
        <p:nvSpPr>
          <p:cNvPr id="34824" name="Title 1"/>
          <p:cNvSpPr>
            <a:spLocks noGrp="1"/>
          </p:cNvSpPr>
          <p:nvPr>
            <p:ph type="ctrTitle"/>
          </p:nvPr>
        </p:nvSpPr>
        <p:spPr>
          <a:xfrm>
            <a:off x="1412875" y="623888"/>
            <a:ext cx="5829300" cy="1101725"/>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t>Global Capitalism</a:t>
            </a: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endParaRPr kumimoji="0" lang="en-US" sz="1350" b="1" i="0" u="none" strike="noStrike" kern="0" cap="none" spc="0" normalizeH="0" baseline="0" noProof="0" dirty="0">
              <a:ln>
                <a:noFill/>
              </a:ln>
              <a:solidFill>
                <a:srgbClr val="007FA3"/>
              </a:solidFill>
              <a:effectLst/>
              <a:uLnTx/>
              <a:uFillTx/>
              <a:latin typeface="Helvetica" pitchFamily="34" charset="0"/>
              <a:ea typeface="+mj-ea"/>
              <a:cs typeface="+mj-cs"/>
            </a:endParaRPr>
          </a:p>
        </p:txBody>
      </p:sp>
      <p:sp>
        <p:nvSpPr>
          <p:cNvPr id="12294" name="Rectangle 4"/>
          <p:cNvSpPr/>
          <p:nvPr/>
        </p:nvSpPr>
        <p:spPr>
          <a:xfrm>
            <a:off x="6572250" y="5657850"/>
            <a:ext cx="1428750" cy="342900"/>
          </a:xfrm>
          <a:prstGeom prst="rect">
            <a:avLst/>
          </a:prstGeom>
          <a:noFill/>
          <a:ln w="9525">
            <a:noFill/>
          </a:ln>
        </p:spPr>
        <p:txBody>
          <a:bodyPr anchor="b"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900" dirty="0">
                <a:latin typeface="Times New Roman" panose="02020603050405020304" charset="0"/>
              </a:rPr>
              <a:t>1-</a:t>
            </a:r>
            <a:fld id="{9A0DB2DC-4C9A-4742-B13C-FB6460FD3503}" type="slidenum">
              <a:rPr lang="en-US" altLang="en-US" sz="900" dirty="0">
                <a:latin typeface="Times New Roman" panose="02020603050405020304" charset="0"/>
              </a:rPr>
            </a:fld>
            <a:endParaRPr lang="en-US" altLang="en-US" sz="900" dirty="0">
              <a:latin typeface="Times New Roman" panose="02020603050405020304" charset="0"/>
            </a:endParaRPr>
          </a:p>
        </p:txBody>
      </p:sp>
      <p:sp>
        <p:nvSpPr>
          <p:cNvPr id="12295" name="Footer Placeholder 1"/>
          <p:cNvSpPr txBox="1">
            <a:spLocks noGrp="1"/>
          </p:cNvSpPr>
          <p:nvPr>
            <p:ph type="ftr" sz="quarter"/>
          </p:nvPr>
        </p:nvSpPr>
        <p:spPr>
          <a:xfrm>
            <a:off x="4165600" y="6356350"/>
            <a:ext cx="3860800" cy="365125"/>
          </a:xfrm>
          <a:prstGeom prst="rect">
            <a:avLst/>
          </a:prstGeom>
          <a:noFill/>
          <a:ln w="9525">
            <a:noFill/>
          </a:ln>
        </p:spPr>
        <p:txBody>
          <a:bodyPr anchor="ctr" anchorCtr="0"/>
          <a:p>
            <a:pPr marL="0" indent="0" algn="ctr" eaLnBrk="1" hangingPunct="1">
              <a:spcBef>
                <a:spcPct val="0"/>
              </a:spcBef>
              <a:buNone/>
            </a:pPr>
            <a:endParaRPr lang="en-US" altLang="en-US" sz="1200" dirty="0">
              <a:solidFill>
                <a:srgbClr val="898989"/>
              </a:solidFill>
              <a:latin typeface="Calibri" panose="020F0502020204030204" pitchFamily="34" charset="0"/>
            </a:endParaRPr>
          </a:p>
        </p:txBody>
      </p:sp>
      <p:sp>
        <p:nvSpPr>
          <p:cNvPr id="12296" name="Slide Number Placeholder 2"/>
          <p:cNvSpPr txBox="1">
            <a:spLocks noGrp="1"/>
          </p:cNvSpPr>
          <p:nvPr>
            <p:ph type="sldNum" sz="quarter"/>
          </p:nvPr>
        </p:nvSpPr>
        <p:spPr>
          <a:xfrm>
            <a:off x="8737600" y="6356350"/>
            <a:ext cx="2844800" cy="365125"/>
          </a:xfrm>
          <a:prstGeom prst="rect">
            <a:avLst/>
          </a:prstGeom>
          <a:noFill/>
          <a:ln w="9525">
            <a:noFill/>
          </a:ln>
        </p:spPr>
        <p:txBody>
          <a:bodyPr anchor="ctr" anchorCtr="0"/>
          <a:p>
            <a:pPr marL="0" indent="0" algn="r" eaLnBrk="1" hangingPunct="1">
              <a:spcBef>
                <a:spcPct val="0"/>
              </a:spcBef>
              <a:buNone/>
            </a:pPr>
            <a:fld id="{9A0DB2DC-4C9A-4742-B13C-FB6460FD3503}" type="slidenum">
              <a:rPr lang="en-US" altLang="en-US" sz="1200" dirty="0">
                <a:solidFill>
                  <a:srgbClr val="898989"/>
                </a:solidFill>
                <a:latin typeface="Calibri" panose="020F0502020204030204" pitchFamily="34" charset="0"/>
              </a:rPr>
            </a:fld>
            <a:endParaRPr lang="en-US" altLang="en-US" sz="1200" dirty="0">
              <a:solidFill>
                <a:srgbClr val="898989"/>
              </a:solidFill>
              <a:latin typeface="Calibri" panose="020F0502020204030204" pitchFamily="34" charset="0"/>
            </a:endParaRPr>
          </a:p>
        </p:txBody>
      </p:sp>
      <p:pic>
        <p:nvPicPr>
          <p:cNvPr id="12297" name="Picture 8"/>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12298"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12299"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spTree>
    <p:custDataLst>
      <p:tags r:id="rId4"/>
    </p:custDataLst>
  </p:cSld>
  <p:clrMapOvr>
    <a:masterClrMapping/>
  </p:clrMapOvr>
  <p:transition spd="slow" advTm="15093"/>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Subtitle 2"/>
          <p:cNvSpPr>
            <a:spLocks noGrp="1"/>
          </p:cNvSpPr>
          <p:nvPr>
            <p:ph type="subTitle" idx="1"/>
          </p:nvPr>
        </p:nvSpPr>
        <p:spPr/>
        <p:txBody>
          <a:bodyPr vert="horz" wrap="square" lIns="91440" tIns="45720" rIns="91440" bIns="45720" anchor="t" anchorCtr="0"/>
          <a:p>
            <a:pPr eaLnBrk="1" hangingPunct="1">
              <a:buClrTx/>
              <a:buSzTx/>
              <a:buFontTx/>
            </a:pPr>
            <a:endParaRPr lang="ar-SA" altLang="en-US" dirty="0">
              <a:solidFill>
                <a:srgbClr val="898989"/>
              </a:solidFill>
              <a:latin typeface="+mn-lt"/>
              <a:ea typeface="+mn-ea"/>
              <a:cs typeface="+mn-cs"/>
            </a:endParaRPr>
          </a:p>
        </p:txBody>
      </p:sp>
      <p:sp>
        <p:nvSpPr>
          <p:cNvPr id="4" name="Rounded Rectangle 3"/>
          <p:cNvSpPr/>
          <p:nvPr/>
        </p:nvSpPr>
        <p:spPr>
          <a:xfrm>
            <a:off x="1152525" y="595313"/>
            <a:ext cx="6578600" cy="4686300"/>
          </a:xfrm>
          <a:prstGeom prst="roundRect">
            <a:avLst/>
          </a:prstGeom>
          <a:solidFill>
            <a:srgbClr val="FFD95C"/>
          </a:solidFill>
          <a:ln>
            <a:solidFill>
              <a:srgbClr val="F7A427"/>
            </a:solid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just" defTabSz="914400" rtl="0" eaLnBrk="0" fontAlgn="base" latinLnBrk="0" hangingPunct="0">
              <a:lnSpc>
                <a:spcPct val="150000"/>
              </a:lnSpc>
              <a:spcBef>
                <a:spcPct val="0"/>
              </a:spcBef>
              <a:spcAft>
                <a:spcPct val="0"/>
              </a:spcAft>
              <a:buClrTx/>
              <a:buSzTx/>
              <a:buFontTx/>
              <a:buNone/>
              <a:defRPr/>
            </a:pP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14340" name="TextBox 7"/>
          <p:cNvSpPr txBox="1"/>
          <p:nvPr/>
        </p:nvSpPr>
        <p:spPr>
          <a:xfrm>
            <a:off x="7486650" y="1714500"/>
            <a:ext cx="376238" cy="554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3000" b="1" dirty="0">
                <a:solidFill>
                  <a:srgbClr val="FFD95C"/>
                </a:solidFill>
                <a:latin typeface="Calibri" panose="020F0502020204030204" pitchFamily="34" charset="0"/>
              </a:rPr>
              <a:t>*</a:t>
            </a:r>
            <a:endParaRPr lang="en-US" altLang="en-US" sz="3000" b="1" dirty="0">
              <a:solidFill>
                <a:srgbClr val="FFD95C"/>
              </a:solidFill>
              <a:latin typeface="Calibri" panose="020F0502020204030204" pitchFamily="34" charset="0"/>
            </a:endParaRPr>
          </a:p>
        </p:txBody>
      </p:sp>
      <p:sp>
        <p:nvSpPr>
          <p:cNvPr id="34824" name="Title 1"/>
          <p:cNvSpPr>
            <a:spLocks noGrp="1"/>
          </p:cNvSpPr>
          <p:nvPr>
            <p:ph type="ctrTitle"/>
          </p:nvPr>
        </p:nvSpPr>
        <p:spPr>
          <a:xfrm>
            <a:off x="1412875" y="623888"/>
            <a:ext cx="5829300" cy="1101725"/>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t>Problems with Global Capitalism</a:t>
            </a: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endParaRPr kumimoji="0" lang="en-US" sz="1350" b="1" i="0" u="none" strike="noStrike" kern="0" cap="none" spc="0" normalizeH="0" baseline="0" noProof="0" dirty="0">
              <a:ln>
                <a:noFill/>
              </a:ln>
              <a:solidFill>
                <a:srgbClr val="007FA3"/>
              </a:solidFill>
              <a:effectLst/>
              <a:uLnTx/>
              <a:uFillTx/>
              <a:latin typeface="Helvetica" pitchFamily="34" charset="0"/>
              <a:ea typeface="+mj-ea"/>
              <a:cs typeface="+mj-cs"/>
            </a:endParaRPr>
          </a:p>
        </p:txBody>
      </p:sp>
      <p:sp>
        <p:nvSpPr>
          <p:cNvPr id="14342" name="Rectangle 4"/>
          <p:cNvSpPr/>
          <p:nvPr/>
        </p:nvSpPr>
        <p:spPr>
          <a:xfrm>
            <a:off x="6572250" y="5657850"/>
            <a:ext cx="1428750" cy="342900"/>
          </a:xfrm>
          <a:prstGeom prst="rect">
            <a:avLst/>
          </a:prstGeom>
          <a:noFill/>
          <a:ln w="9525">
            <a:noFill/>
          </a:ln>
        </p:spPr>
        <p:txBody>
          <a:bodyPr anchor="b"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900" dirty="0">
                <a:latin typeface="Times New Roman" panose="02020603050405020304" charset="0"/>
              </a:rPr>
              <a:t>1-</a:t>
            </a:r>
            <a:fld id="{9A0DB2DC-4C9A-4742-B13C-FB6460FD3503}" type="slidenum">
              <a:rPr lang="en-US" altLang="en-US" sz="900" dirty="0">
                <a:latin typeface="Times New Roman" panose="02020603050405020304" charset="0"/>
              </a:rPr>
            </a:fld>
            <a:endParaRPr lang="en-US" altLang="en-US" sz="900" dirty="0">
              <a:latin typeface="Times New Roman" panose="02020603050405020304" charset="0"/>
            </a:endParaRPr>
          </a:p>
        </p:txBody>
      </p:sp>
      <p:sp>
        <p:nvSpPr>
          <p:cNvPr id="14343" name="Footer Placeholder 1"/>
          <p:cNvSpPr txBox="1">
            <a:spLocks noGrp="1"/>
          </p:cNvSpPr>
          <p:nvPr>
            <p:ph type="ftr" sz="quarter"/>
          </p:nvPr>
        </p:nvSpPr>
        <p:spPr>
          <a:xfrm>
            <a:off x="4165600" y="6356350"/>
            <a:ext cx="3860800" cy="365125"/>
          </a:xfrm>
          <a:prstGeom prst="rect">
            <a:avLst/>
          </a:prstGeom>
          <a:noFill/>
          <a:ln w="9525">
            <a:noFill/>
          </a:ln>
        </p:spPr>
        <p:txBody>
          <a:bodyPr anchor="ctr" anchorCtr="0"/>
          <a:p>
            <a:pPr marL="0" indent="0" algn="ctr" eaLnBrk="1" hangingPunct="1">
              <a:spcBef>
                <a:spcPct val="0"/>
              </a:spcBef>
              <a:buNone/>
            </a:pPr>
            <a:endParaRPr lang="en-US" altLang="en-US" sz="1200" dirty="0">
              <a:solidFill>
                <a:srgbClr val="898989"/>
              </a:solidFill>
              <a:latin typeface="Calibri" panose="020F0502020204030204" pitchFamily="34" charset="0"/>
            </a:endParaRPr>
          </a:p>
        </p:txBody>
      </p:sp>
      <p:sp>
        <p:nvSpPr>
          <p:cNvPr id="14344" name="Slide Number Placeholder 2"/>
          <p:cNvSpPr txBox="1">
            <a:spLocks noGrp="1"/>
          </p:cNvSpPr>
          <p:nvPr>
            <p:ph type="sldNum" sz="quarter"/>
          </p:nvPr>
        </p:nvSpPr>
        <p:spPr>
          <a:xfrm>
            <a:off x="8737600" y="6356350"/>
            <a:ext cx="2844800" cy="365125"/>
          </a:xfrm>
          <a:prstGeom prst="rect">
            <a:avLst/>
          </a:prstGeom>
          <a:noFill/>
          <a:ln w="9525">
            <a:noFill/>
          </a:ln>
        </p:spPr>
        <p:txBody>
          <a:bodyPr anchor="ctr" anchorCtr="0"/>
          <a:p>
            <a:pPr marL="0" indent="0" algn="r" eaLnBrk="1" hangingPunct="1">
              <a:spcBef>
                <a:spcPct val="0"/>
              </a:spcBef>
              <a:buNone/>
            </a:pPr>
            <a:fld id="{9A0DB2DC-4C9A-4742-B13C-FB6460FD3503}" type="slidenum">
              <a:rPr lang="en-US" altLang="en-US" sz="1200" dirty="0">
                <a:solidFill>
                  <a:srgbClr val="898989"/>
                </a:solidFill>
                <a:latin typeface="Calibri" panose="020F0502020204030204" pitchFamily="34" charset="0"/>
              </a:rPr>
            </a:fld>
            <a:endParaRPr lang="en-US" altLang="en-US" sz="1200" dirty="0">
              <a:solidFill>
                <a:srgbClr val="898989"/>
              </a:solidFill>
              <a:latin typeface="Calibri" panose="020F0502020204030204" pitchFamily="34" charset="0"/>
            </a:endParaRPr>
          </a:p>
        </p:txBody>
      </p:sp>
      <p:pic>
        <p:nvPicPr>
          <p:cNvPr id="14345" name="Picture 8"/>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14346"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14347"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sp>
        <p:nvSpPr>
          <p:cNvPr id="2" name="Rectangle 1"/>
          <p:cNvSpPr/>
          <p:nvPr/>
        </p:nvSpPr>
        <p:spPr>
          <a:xfrm>
            <a:off x="1468438" y="1420813"/>
            <a:ext cx="2078038" cy="922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800" b="1" i="0" u="none" strike="noStrike" kern="1200" cap="none" spc="0" normalizeH="0" baseline="0" noProof="0" dirty="0">
                <a:ln>
                  <a:noFill/>
                </a:ln>
                <a:solidFill>
                  <a:schemeClr val="tx1"/>
                </a:solidFill>
                <a:effectLst/>
                <a:uLnTx/>
                <a:uFillTx/>
                <a:latin typeface="+mn-lt"/>
                <a:ea typeface="+mn-ea"/>
                <a:cs typeface="+mn-cs"/>
              </a:rPr>
              <a:t>Volatility</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Rectangle 12"/>
          <p:cNvSpPr/>
          <p:nvPr/>
        </p:nvSpPr>
        <p:spPr>
          <a:xfrm>
            <a:off x="1454150" y="4122738"/>
            <a:ext cx="2078038" cy="922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800" b="1" i="0" u="none" strike="noStrike" kern="1200" cap="none" spc="0" normalizeH="0" baseline="0" noProof="0" dirty="0">
                <a:ln>
                  <a:noFill/>
                </a:ln>
                <a:solidFill>
                  <a:schemeClr val="tx1"/>
                </a:solidFill>
                <a:effectLst/>
                <a:uLnTx/>
                <a:uFillTx/>
                <a:latin typeface="+mn-lt"/>
                <a:ea typeface="+mn-ea"/>
                <a:cs typeface="+mn-cs"/>
              </a:rPr>
              <a:t>Inequality</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14" name="Rectangle 13"/>
          <p:cNvSpPr/>
          <p:nvPr/>
        </p:nvSpPr>
        <p:spPr>
          <a:xfrm>
            <a:off x="5162550" y="1404938"/>
            <a:ext cx="2079625" cy="922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800" b="1" i="0" u="none" strike="noStrike" kern="1200" cap="none" spc="0" normalizeH="0" baseline="0" noProof="0" dirty="0">
                <a:ln>
                  <a:noFill/>
                </a:ln>
                <a:solidFill>
                  <a:schemeClr val="tx1"/>
                </a:solidFill>
                <a:effectLst/>
                <a:uLnTx/>
                <a:uFillTx/>
                <a:latin typeface="+mn-lt"/>
                <a:ea typeface="+mn-ea"/>
                <a:cs typeface="+mn-cs"/>
              </a:rPr>
              <a:t>Race to the bottom</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pic>
        <p:nvPicPr>
          <p:cNvPr id="14351" name="Picture 2" descr="The Problem is Global Capitalism! | Leftcom"/>
          <p:cNvPicPr>
            <a:picLocks noChangeAspect="1"/>
          </p:cNvPicPr>
          <p:nvPr/>
        </p:nvPicPr>
        <p:blipFill>
          <a:blip r:embed="rId4"/>
          <a:stretch>
            <a:fillRect/>
          </a:stretch>
        </p:blipFill>
        <p:spPr>
          <a:xfrm>
            <a:off x="3046413" y="2328863"/>
            <a:ext cx="2562225" cy="1781175"/>
          </a:xfrm>
          <a:prstGeom prst="rect">
            <a:avLst/>
          </a:prstGeom>
          <a:noFill/>
          <a:ln w="9525">
            <a:noFill/>
          </a:ln>
        </p:spPr>
      </p:pic>
      <p:sp>
        <p:nvSpPr>
          <p:cNvPr id="15" name="Rectangle 14"/>
          <p:cNvSpPr/>
          <p:nvPr/>
        </p:nvSpPr>
        <p:spPr>
          <a:xfrm>
            <a:off x="5162550" y="4157663"/>
            <a:ext cx="2079625" cy="922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800" b="1" i="0" u="none" strike="noStrike" kern="1200" cap="none" spc="0" normalizeH="0" baseline="0" noProof="0" dirty="0">
                <a:ln>
                  <a:noFill/>
                </a:ln>
                <a:solidFill>
                  <a:schemeClr val="tx1"/>
                </a:solidFill>
                <a:effectLst/>
                <a:uLnTx/>
                <a:uFillTx/>
                <a:latin typeface="+mn-lt"/>
                <a:ea typeface="+mn-ea"/>
                <a:cs typeface="+mn-cs"/>
              </a:rPr>
              <a:t>Degradation of Democracy</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Tree>
    <p:custDataLst>
      <p:tags r:id="rId5"/>
    </p:custDataLst>
  </p:cSld>
  <p:clrMapOvr>
    <a:masterClrMapping/>
  </p:clrMapOvr>
  <p:transition spd="slow" advTm="15093"/>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ext Box 19"/>
          <p:cNvSpPr txBox="1"/>
          <p:nvPr/>
        </p:nvSpPr>
        <p:spPr>
          <a:xfrm>
            <a:off x="858838" y="434975"/>
            <a:ext cx="7426325" cy="6159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None/>
            </a:pPr>
            <a:r>
              <a:rPr lang="en-US" altLang="en-US" sz="3400" b="1" dirty="0">
                <a:solidFill>
                  <a:srgbClr val="007FA3"/>
                </a:solidFill>
              </a:rPr>
              <a:t>Interesting Fact</a:t>
            </a:r>
            <a:endParaRPr lang="en-US" altLang="en-US" sz="3400" b="1" dirty="0">
              <a:solidFill>
                <a:srgbClr val="007FA3"/>
              </a:solidFill>
            </a:endParaRPr>
          </a:p>
        </p:txBody>
      </p:sp>
      <p:pic>
        <p:nvPicPr>
          <p:cNvPr id="16387" name="Picture 3"/>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16388"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16389"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sp>
        <p:nvSpPr>
          <p:cNvPr id="2" name="Rectangle 1"/>
          <p:cNvSpPr/>
          <p:nvPr/>
        </p:nvSpPr>
        <p:spPr>
          <a:xfrm>
            <a:off x="1157288" y="1368425"/>
            <a:ext cx="7127875" cy="3025775"/>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mn-lt"/>
                <a:ea typeface="+mn-ea"/>
                <a:cs typeface="+mn-cs"/>
              </a:rPr>
              <a:t>“Of the 100 largest economies in the world, 51 are corporations, not countries”</a:t>
            </a:r>
            <a:endParaRPr kumimoji="0" lang="en-US" sz="3200" b="1" i="0" u="none" strike="noStrike" kern="1200" cap="none" spc="0" normalizeH="0" baseline="0" noProof="0" dirty="0">
              <a:ln>
                <a:noFill/>
              </a:ln>
              <a:solidFill>
                <a:schemeClr val="tx1"/>
              </a:solidFill>
              <a:effectLst/>
              <a:uLnTx/>
              <a:uFillTx/>
              <a:latin typeface="+mn-lt"/>
              <a:ea typeface="+mn-ea"/>
              <a:cs typeface="+mn-cs"/>
            </a:endParaRPr>
          </a:p>
        </p:txBody>
      </p:sp>
      <p:pic>
        <p:nvPicPr>
          <p:cNvPr id="16391" name="Picture 2" descr="What Role Does the Government Play in Capitalism?"/>
          <p:cNvPicPr>
            <a:picLocks noChangeAspect="1"/>
          </p:cNvPicPr>
          <p:nvPr/>
        </p:nvPicPr>
        <p:blipFill>
          <a:blip r:embed="rId4"/>
          <a:stretch>
            <a:fillRect/>
          </a:stretch>
        </p:blipFill>
        <p:spPr>
          <a:xfrm>
            <a:off x="3451225" y="4260850"/>
            <a:ext cx="2428875" cy="187642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Subtitle 2"/>
          <p:cNvSpPr>
            <a:spLocks noGrp="1"/>
          </p:cNvSpPr>
          <p:nvPr>
            <p:ph type="subTitle" idx="1"/>
          </p:nvPr>
        </p:nvSpPr>
        <p:spPr/>
        <p:txBody>
          <a:bodyPr vert="horz" wrap="square" lIns="91440" tIns="45720" rIns="91440" bIns="45720" anchor="t" anchorCtr="0"/>
          <a:p>
            <a:pPr eaLnBrk="1" hangingPunct="1">
              <a:buClrTx/>
              <a:buSzTx/>
              <a:buFontTx/>
            </a:pPr>
            <a:endParaRPr lang="ar-SA" altLang="en-US" dirty="0">
              <a:solidFill>
                <a:srgbClr val="898989"/>
              </a:solidFill>
              <a:latin typeface="+mn-lt"/>
              <a:ea typeface="+mn-ea"/>
              <a:cs typeface="+mn-cs"/>
            </a:endParaRPr>
          </a:p>
        </p:txBody>
      </p:sp>
      <p:sp>
        <p:nvSpPr>
          <p:cNvPr id="4" name="Rounded Rectangle 3"/>
          <p:cNvSpPr/>
          <p:nvPr/>
        </p:nvSpPr>
        <p:spPr>
          <a:xfrm>
            <a:off x="1152525" y="585788"/>
            <a:ext cx="6578600" cy="4686300"/>
          </a:xfrm>
          <a:prstGeom prst="roundRect">
            <a:avLst/>
          </a:prstGeom>
          <a:solidFill>
            <a:srgbClr val="FFD95C"/>
          </a:solidFill>
          <a:ln>
            <a:solidFill>
              <a:srgbClr val="F7A427"/>
            </a:solidFill>
          </a:ln>
          <a:effectLst/>
        </p:spPr>
        <p:style>
          <a:lnRef idx="1">
            <a:schemeClr val="accent1"/>
          </a:lnRef>
          <a:fillRef idx="3">
            <a:schemeClr val="accent1"/>
          </a:fillRef>
          <a:effectRef idx="2">
            <a:schemeClr val="accent1"/>
          </a:effectRef>
          <a:fontRef idx="minor">
            <a:schemeClr val="lt1"/>
          </a:fontRef>
        </p:style>
        <p:txBody>
          <a:bodyPr anchor="ctr"/>
          <a:lstStyle/>
          <a:p>
            <a:pPr marL="342900" marR="0" lvl="0" indent="-342900" algn="just" defTabSz="914400" rtl="0" eaLnBrk="0" fontAlgn="base" latinLnBrk="0" hangingPunct="0">
              <a:lnSpc>
                <a:spcPct val="150000"/>
              </a:lnSpc>
              <a:spcBef>
                <a:spcPct val="0"/>
              </a:spcBef>
              <a:spcAft>
                <a:spcPct val="0"/>
              </a:spcAft>
              <a:buClrTx/>
              <a:buSzTx/>
              <a:buFontTx/>
              <a:buAutoNum type="alphaLcParenBoth"/>
              <a:defRPr/>
            </a:pPr>
            <a:r>
              <a:rPr kumimoji="0" lang="en-US" sz="1800" b="1" i="0" u="none" strike="noStrike" kern="1200" cap="none" spc="0" normalizeH="0" baseline="0" noProof="0" dirty="0">
                <a:ln>
                  <a:noFill/>
                </a:ln>
                <a:solidFill>
                  <a:schemeClr val="tx1"/>
                </a:solidFill>
                <a:effectLst/>
                <a:uLnTx/>
                <a:uFillTx/>
                <a:latin typeface="+mn-lt"/>
                <a:ea typeface="+mn-ea"/>
                <a:cs typeface="+mn-cs"/>
              </a:rPr>
              <a:t>Create a new, inclusive international dialogue worldwide on the future of the global economy. </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Tx/>
              <a:buAutoNum type="alphaLcParenBoth"/>
              <a:defRPr/>
            </a:pPr>
            <a:r>
              <a:rPr kumimoji="0" lang="en-US" sz="1800" b="1" i="0" u="none" strike="noStrike" kern="1200" cap="none" spc="0" normalizeH="0" baseline="0" noProof="0" dirty="0">
                <a:ln>
                  <a:noFill/>
                </a:ln>
                <a:solidFill>
                  <a:schemeClr val="tx1"/>
                </a:solidFill>
                <a:effectLst/>
                <a:uLnTx/>
                <a:uFillTx/>
                <a:latin typeface="+mn-lt"/>
                <a:ea typeface="+mn-ea"/>
                <a:cs typeface="+mn-cs"/>
              </a:rPr>
              <a:t> Develop a new international financial strategy that supports sustainable development through coordinated economic policies. </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Tx/>
              <a:buAutoNum type="alphaLcParenBoth"/>
              <a:defRPr/>
            </a:pPr>
            <a:r>
              <a:rPr kumimoji="0" lang="en-US" sz="1800" b="1" i="0" u="none" strike="noStrike" kern="1200" cap="none" spc="0" normalizeH="0" baseline="0" noProof="0" dirty="0">
                <a:ln>
                  <a:noFill/>
                </a:ln>
                <a:solidFill>
                  <a:schemeClr val="tx1"/>
                </a:solidFill>
                <a:effectLst/>
                <a:uLnTx/>
                <a:uFillTx/>
                <a:latin typeface="+mn-lt"/>
                <a:ea typeface="+mn-ea"/>
                <a:cs typeface="+mn-cs"/>
              </a:rPr>
              <a:t> Redesign existing institutions of the global economy to make sustainable development rather than unlimited mobility of capital their goal.</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17412" name="TextBox 7"/>
          <p:cNvSpPr txBox="1"/>
          <p:nvPr/>
        </p:nvSpPr>
        <p:spPr>
          <a:xfrm>
            <a:off x="7486650" y="1714500"/>
            <a:ext cx="376238" cy="554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3000" b="1" dirty="0">
                <a:solidFill>
                  <a:srgbClr val="FFD95C"/>
                </a:solidFill>
                <a:latin typeface="Calibri" panose="020F0502020204030204" pitchFamily="34" charset="0"/>
              </a:rPr>
              <a:t>*</a:t>
            </a:r>
            <a:endParaRPr lang="en-US" altLang="en-US" sz="3000" b="1" dirty="0">
              <a:solidFill>
                <a:srgbClr val="FFD95C"/>
              </a:solidFill>
              <a:latin typeface="Calibri" panose="020F0502020204030204" pitchFamily="34" charset="0"/>
            </a:endParaRPr>
          </a:p>
        </p:txBody>
      </p:sp>
      <p:sp>
        <p:nvSpPr>
          <p:cNvPr id="34824" name="Title 1"/>
          <p:cNvSpPr>
            <a:spLocks noGrp="1"/>
          </p:cNvSpPr>
          <p:nvPr>
            <p:ph type="ctrTitle"/>
          </p:nvPr>
        </p:nvSpPr>
        <p:spPr>
          <a:xfrm>
            <a:off x="1412875" y="623888"/>
            <a:ext cx="5829300" cy="1101725"/>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t>ROLE OF DEVELOPING COUNTRIES</a:t>
            </a: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endParaRPr kumimoji="0" lang="en-US" sz="1350" b="1" i="0" u="none" strike="noStrike" kern="0" cap="none" spc="0" normalizeH="0" baseline="0" noProof="0" dirty="0">
              <a:ln>
                <a:noFill/>
              </a:ln>
              <a:solidFill>
                <a:srgbClr val="007FA3"/>
              </a:solidFill>
              <a:effectLst/>
              <a:uLnTx/>
              <a:uFillTx/>
              <a:latin typeface="Helvetica" pitchFamily="34" charset="0"/>
              <a:ea typeface="+mj-ea"/>
              <a:cs typeface="+mj-cs"/>
            </a:endParaRPr>
          </a:p>
        </p:txBody>
      </p:sp>
      <p:sp>
        <p:nvSpPr>
          <p:cNvPr id="17414" name="Rectangle 4"/>
          <p:cNvSpPr/>
          <p:nvPr/>
        </p:nvSpPr>
        <p:spPr>
          <a:xfrm>
            <a:off x="6572250" y="5657850"/>
            <a:ext cx="1428750" cy="342900"/>
          </a:xfrm>
          <a:prstGeom prst="rect">
            <a:avLst/>
          </a:prstGeom>
          <a:noFill/>
          <a:ln w="9525">
            <a:noFill/>
          </a:ln>
        </p:spPr>
        <p:txBody>
          <a:bodyPr anchor="b"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900" dirty="0">
                <a:solidFill>
                  <a:srgbClr val="000000"/>
                </a:solidFill>
                <a:latin typeface="Times New Roman" panose="02020603050405020304" charset="0"/>
              </a:rPr>
              <a:t>1-</a:t>
            </a:r>
            <a:fld id="{9A0DB2DC-4C9A-4742-B13C-FB6460FD3503}" type="slidenum">
              <a:rPr lang="en-US" altLang="en-US" sz="900" dirty="0">
                <a:solidFill>
                  <a:srgbClr val="000000"/>
                </a:solidFill>
                <a:latin typeface="Times New Roman" panose="02020603050405020304" charset="0"/>
              </a:rPr>
            </a:fld>
            <a:endParaRPr lang="en-US" altLang="en-US" sz="900" dirty="0">
              <a:solidFill>
                <a:srgbClr val="000000"/>
              </a:solidFill>
              <a:latin typeface="Times New Roman" panose="02020603050405020304" charset="0"/>
            </a:endParaRPr>
          </a:p>
        </p:txBody>
      </p:sp>
      <p:sp>
        <p:nvSpPr>
          <p:cNvPr id="17415" name="Footer Placeholder 1"/>
          <p:cNvSpPr txBox="1">
            <a:spLocks noGrp="1"/>
          </p:cNvSpPr>
          <p:nvPr>
            <p:ph type="ftr" sz="quarter"/>
          </p:nvPr>
        </p:nvSpPr>
        <p:spPr>
          <a:xfrm>
            <a:off x="4165600" y="6356350"/>
            <a:ext cx="3860800" cy="365125"/>
          </a:xfrm>
          <a:prstGeom prst="rect">
            <a:avLst/>
          </a:prstGeom>
          <a:noFill/>
          <a:ln w="9525">
            <a:noFill/>
          </a:ln>
        </p:spPr>
        <p:txBody>
          <a:bodyPr anchor="ctr" anchorCtr="0"/>
          <a:p>
            <a:pPr marL="0" indent="0" algn="ctr" eaLnBrk="1" hangingPunct="1">
              <a:spcBef>
                <a:spcPct val="0"/>
              </a:spcBef>
              <a:buNone/>
            </a:pPr>
            <a:endParaRPr lang="en-US" altLang="en-US" sz="1200" dirty="0">
              <a:solidFill>
                <a:srgbClr val="898989"/>
              </a:solidFill>
              <a:latin typeface="Calibri" panose="020F0502020204030204" pitchFamily="34" charset="0"/>
            </a:endParaRPr>
          </a:p>
        </p:txBody>
      </p:sp>
      <p:sp>
        <p:nvSpPr>
          <p:cNvPr id="17416" name="Slide Number Placeholder 2"/>
          <p:cNvSpPr txBox="1">
            <a:spLocks noGrp="1"/>
          </p:cNvSpPr>
          <p:nvPr>
            <p:ph type="sldNum" sz="quarter"/>
          </p:nvPr>
        </p:nvSpPr>
        <p:spPr>
          <a:xfrm>
            <a:off x="8737600" y="6356350"/>
            <a:ext cx="2844800" cy="365125"/>
          </a:xfrm>
          <a:prstGeom prst="rect">
            <a:avLst/>
          </a:prstGeom>
          <a:noFill/>
          <a:ln w="9525">
            <a:noFill/>
          </a:ln>
        </p:spPr>
        <p:txBody>
          <a:bodyPr anchor="ctr" anchorCtr="0"/>
          <a:p>
            <a:pPr marL="0" indent="0" algn="r" eaLnBrk="1" hangingPunct="1">
              <a:spcBef>
                <a:spcPct val="0"/>
              </a:spcBef>
              <a:buNone/>
            </a:pPr>
            <a:fld id="{9A0DB2DC-4C9A-4742-B13C-FB6460FD3503}" type="slidenum">
              <a:rPr lang="en-US" altLang="en-US" sz="1200" dirty="0">
                <a:solidFill>
                  <a:srgbClr val="898989"/>
                </a:solidFill>
                <a:latin typeface="Calibri" panose="020F0502020204030204" pitchFamily="34" charset="0"/>
              </a:rPr>
            </a:fld>
            <a:endParaRPr lang="en-US" altLang="en-US" sz="1200" dirty="0">
              <a:solidFill>
                <a:srgbClr val="898989"/>
              </a:solidFill>
              <a:latin typeface="Calibri" panose="020F0502020204030204" pitchFamily="34" charset="0"/>
            </a:endParaRPr>
          </a:p>
        </p:txBody>
      </p:sp>
      <p:pic>
        <p:nvPicPr>
          <p:cNvPr id="17417" name="Picture 8"/>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17418"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17419"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sp>
        <p:nvSpPr>
          <p:cNvPr id="17420" name="AutoShape 2" descr="Making Globalization Work for Developing Countries JOSEPH E. STIGLITZ Sir  Winston Scott Memorial Lecture Central Bank of Barbados November ppt  download"/>
          <p:cNvSpPr>
            <a:spLocks noChangeAspect="1"/>
          </p:cNvSpPr>
          <p:nvPr/>
        </p:nvSpPr>
        <p:spPr>
          <a:xfrm>
            <a:off x="4419600" y="3276600"/>
            <a:ext cx="304800" cy="3048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endParaRPr lang="en-US" altLang="en-US" sz="1800" dirty="0"/>
          </a:p>
        </p:txBody>
      </p:sp>
    </p:spTree>
    <p:custDataLst>
      <p:tags r:id="rId4"/>
    </p:custDataLst>
  </p:cSld>
  <p:clrMapOvr>
    <a:masterClrMapping/>
  </p:clrMapOvr>
  <p:transition spd="slow" advTm="15093"/>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ext Box 19"/>
          <p:cNvSpPr txBox="1"/>
          <p:nvPr/>
        </p:nvSpPr>
        <p:spPr>
          <a:xfrm>
            <a:off x="858838" y="434975"/>
            <a:ext cx="7426325" cy="11382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None/>
            </a:pPr>
            <a:r>
              <a:rPr lang="en-US" altLang="en-US" sz="3400" b="1" dirty="0">
                <a:solidFill>
                  <a:srgbClr val="007FA3"/>
                </a:solidFill>
              </a:rPr>
              <a:t>Challenge for Developing Countries</a:t>
            </a:r>
            <a:endParaRPr lang="en-US" altLang="en-US" sz="3400" b="1" dirty="0">
              <a:solidFill>
                <a:srgbClr val="007FA3"/>
              </a:solidFill>
            </a:endParaRPr>
          </a:p>
        </p:txBody>
      </p:sp>
      <p:pic>
        <p:nvPicPr>
          <p:cNvPr id="19459" name="Picture 3"/>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19460" name="Picture 2" descr="Making Globalization Work for Developing Countries JOSEPH E. STIGLITZ Sir  Winston Scott Memorial Lecture Central Bank of Barbados November ppt  download"/>
          <p:cNvPicPr>
            <a:picLocks noChangeAspect="1"/>
          </p:cNvPicPr>
          <p:nvPr/>
        </p:nvPicPr>
        <p:blipFill>
          <a:blip r:embed="rId2"/>
          <a:stretch>
            <a:fillRect/>
          </a:stretch>
        </p:blipFill>
        <p:spPr>
          <a:xfrm>
            <a:off x="0" y="0"/>
            <a:ext cx="9144000" cy="5876925"/>
          </a:xfrm>
          <a:prstGeom prst="rect">
            <a:avLst/>
          </a:prstGeom>
          <a:noFill/>
          <a:ln w="9525">
            <a:noFill/>
          </a:ln>
        </p:spPr>
      </p:pic>
      <p:pic>
        <p:nvPicPr>
          <p:cNvPr id="19461" name="Picture 15"/>
          <p:cNvPicPr>
            <a:picLocks noChangeAspect="1"/>
          </p:cNvPicPr>
          <p:nvPr/>
        </p:nvPicPr>
        <p:blipFill>
          <a:blip r:embed="rId3"/>
          <a:stretch>
            <a:fillRect/>
          </a:stretch>
        </p:blipFill>
        <p:spPr>
          <a:xfrm>
            <a:off x="7380288" y="5678488"/>
            <a:ext cx="1549400" cy="993775"/>
          </a:xfrm>
          <a:prstGeom prst="rect">
            <a:avLst/>
          </a:prstGeom>
          <a:noFill/>
          <a:ln w="9525">
            <a:noFill/>
          </a:ln>
        </p:spPr>
      </p:pic>
      <p:pic>
        <p:nvPicPr>
          <p:cNvPr id="19462" name="Picture 16" descr="BracU Logo | Brac University"/>
          <p:cNvPicPr>
            <a:picLocks noChangeAspect="1"/>
          </p:cNvPicPr>
          <p:nvPr/>
        </p:nvPicPr>
        <p:blipFill>
          <a:blip r:embed="rId4"/>
          <a:stretch>
            <a:fillRect/>
          </a:stretch>
        </p:blipFill>
        <p:spPr>
          <a:xfrm>
            <a:off x="84138" y="5715000"/>
            <a:ext cx="1549400" cy="112077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Subtitle 2"/>
          <p:cNvSpPr>
            <a:spLocks noGrp="1"/>
          </p:cNvSpPr>
          <p:nvPr>
            <p:ph type="subTitle" idx="1"/>
          </p:nvPr>
        </p:nvSpPr>
        <p:spPr/>
        <p:txBody>
          <a:bodyPr vert="horz" wrap="square" lIns="91440" tIns="45720" rIns="91440" bIns="45720" anchor="t" anchorCtr="0"/>
          <a:p>
            <a:pPr eaLnBrk="1" hangingPunct="1">
              <a:buClrTx/>
              <a:buSzTx/>
              <a:buFontTx/>
            </a:pPr>
            <a:endParaRPr lang="ar-SA" altLang="en-US" dirty="0">
              <a:solidFill>
                <a:srgbClr val="898989"/>
              </a:solidFill>
              <a:latin typeface="+mn-lt"/>
              <a:ea typeface="+mn-ea"/>
              <a:cs typeface="+mn-cs"/>
            </a:endParaRPr>
          </a:p>
        </p:txBody>
      </p:sp>
      <p:sp>
        <p:nvSpPr>
          <p:cNvPr id="4" name="Rounded Rectangle 3"/>
          <p:cNvSpPr/>
          <p:nvPr/>
        </p:nvSpPr>
        <p:spPr>
          <a:xfrm>
            <a:off x="1152525" y="585788"/>
            <a:ext cx="6578600" cy="4686300"/>
          </a:xfrm>
          <a:prstGeom prst="roundRect">
            <a:avLst/>
          </a:prstGeom>
          <a:solidFill>
            <a:srgbClr val="FFD95C"/>
          </a:solidFill>
          <a:ln>
            <a:solidFill>
              <a:srgbClr val="F7A427"/>
            </a:solidFill>
          </a:ln>
          <a:effectLst/>
        </p:spPr>
        <p:style>
          <a:lnRef idx="1">
            <a:schemeClr val="accent1"/>
          </a:lnRef>
          <a:fillRef idx="3">
            <a:schemeClr val="accent1"/>
          </a:fillRef>
          <a:effectRef idx="2">
            <a:schemeClr val="accent1"/>
          </a:effectRef>
          <a:fontRef idx="minor">
            <a:schemeClr val="lt1"/>
          </a:fontRef>
        </p:style>
        <p:txBody>
          <a:bodyPr anchor="ct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sz="1800" b="1" i="0" u="none" strike="noStrike" kern="1200" cap="none" spc="0" normalizeH="0" baseline="0" noProof="0" dirty="0">
                <a:ln>
                  <a:noFill/>
                </a:ln>
                <a:solidFill>
                  <a:schemeClr val="tx1"/>
                </a:solidFill>
                <a:effectLst/>
                <a:uLnTx/>
                <a:uFillTx/>
                <a:latin typeface="+mn-lt"/>
                <a:ea typeface="+mn-ea"/>
                <a:cs typeface="+mn-cs"/>
              </a:rPr>
              <a:t>Increased international trade </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sz="1800" b="1" i="0" u="none" strike="noStrike" kern="1200" cap="none" spc="0" normalizeH="0" baseline="0" noProof="0" dirty="0">
                <a:ln>
                  <a:noFill/>
                </a:ln>
                <a:solidFill>
                  <a:schemeClr val="tx1"/>
                </a:solidFill>
                <a:effectLst/>
                <a:uLnTx/>
                <a:uFillTx/>
                <a:latin typeface="+mn-lt"/>
                <a:ea typeface="+mn-ea"/>
                <a:cs typeface="+mn-cs"/>
              </a:rPr>
              <a:t>The growth of multinational corporations </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sz="1800" b="1" i="0" u="none" strike="noStrike" kern="1200" cap="none" spc="0" normalizeH="0" baseline="0" noProof="0" dirty="0">
                <a:ln>
                  <a:noFill/>
                </a:ln>
                <a:solidFill>
                  <a:schemeClr val="tx1"/>
                </a:solidFill>
                <a:effectLst/>
                <a:uLnTx/>
                <a:uFillTx/>
                <a:latin typeface="+mn-lt"/>
                <a:ea typeface="+mn-ea"/>
                <a:cs typeface="+mn-cs"/>
              </a:rPr>
              <a:t>The internationalization of finance </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sz="1800" b="1" i="0" u="none" strike="noStrike" kern="1200" cap="none" spc="0" normalizeH="0" baseline="0" noProof="0" dirty="0">
                <a:ln>
                  <a:noFill/>
                </a:ln>
                <a:solidFill>
                  <a:schemeClr val="tx1"/>
                </a:solidFill>
                <a:effectLst/>
                <a:uLnTx/>
                <a:uFillTx/>
                <a:latin typeface="+mn-lt"/>
                <a:ea typeface="+mn-ea"/>
                <a:cs typeface="+mn-cs"/>
              </a:rPr>
              <a:t>The application of new technologies in all these operations, especially computer and other information technologies</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20484" name="TextBox 7"/>
          <p:cNvSpPr txBox="1"/>
          <p:nvPr/>
        </p:nvSpPr>
        <p:spPr>
          <a:xfrm>
            <a:off x="7486650" y="1714500"/>
            <a:ext cx="376238" cy="554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3000" b="1" dirty="0">
                <a:solidFill>
                  <a:srgbClr val="FFD95C"/>
                </a:solidFill>
                <a:latin typeface="Calibri" panose="020F0502020204030204" pitchFamily="34" charset="0"/>
              </a:rPr>
              <a:t>*</a:t>
            </a:r>
            <a:endParaRPr lang="en-US" altLang="en-US" sz="3000" b="1" dirty="0">
              <a:solidFill>
                <a:srgbClr val="FFD95C"/>
              </a:solidFill>
              <a:latin typeface="Calibri" panose="020F0502020204030204" pitchFamily="34" charset="0"/>
            </a:endParaRPr>
          </a:p>
        </p:txBody>
      </p:sp>
      <p:sp>
        <p:nvSpPr>
          <p:cNvPr id="34824" name="Title 1"/>
          <p:cNvSpPr>
            <a:spLocks noGrp="1"/>
          </p:cNvSpPr>
          <p:nvPr>
            <p:ph type="ctrTitle"/>
          </p:nvPr>
        </p:nvSpPr>
        <p:spPr>
          <a:xfrm>
            <a:off x="1412875" y="623888"/>
            <a:ext cx="5829300" cy="1101725"/>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t>Scope of Globalization</a:t>
            </a: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endParaRPr kumimoji="0" lang="en-US" sz="1350" b="1" i="0" u="none" strike="noStrike" kern="0" cap="none" spc="0" normalizeH="0" baseline="0" noProof="0" dirty="0">
              <a:ln>
                <a:noFill/>
              </a:ln>
              <a:solidFill>
                <a:srgbClr val="007FA3"/>
              </a:solidFill>
              <a:effectLst/>
              <a:uLnTx/>
              <a:uFillTx/>
              <a:latin typeface="Helvetica" pitchFamily="34" charset="0"/>
              <a:ea typeface="+mj-ea"/>
              <a:cs typeface="+mj-cs"/>
            </a:endParaRPr>
          </a:p>
        </p:txBody>
      </p:sp>
      <p:sp>
        <p:nvSpPr>
          <p:cNvPr id="20486" name="Rectangle 4"/>
          <p:cNvSpPr/>
          <p:nvPr/>
        </p:nvSpPr>
        <p:spPr>
          <a:xfrm>
            <a:off x="6572250" y="5657850"/>
            <a:ext cx="1428750" cy="342900"/>
          </a:xfrm>
          <a:prstGeom prst="rect">
            <a:avLst/>
          </a:prstGeom>
          <a:noFill/>
          <a:ln w="9525">
            <a:noFill/>
          </a:ln>
        </p:spPr>
        <p:txBody>
          <a:bodyPr anchor="b"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900" dirty="0">
                <a:solidFill>
                  <a:srgbClr val="000000"/>
                </a:solidFill>
                <a:latin typeface="Times New Roman" panose="02020603050405020304" charset="0"/>
              </a:rPr>
              <a:t>1-</a:t>
            </a:r>
            <a:fld id="{9A0DB2DC-4C9A-4742-B13C-FB6460FD3503}" type="slidenum">
              <a:rPr lang="en-US" altLang="en-US" sz="900" dirty="0">
                <a:solidFill>
                  <a:srgbClr val="000000"/>
                </a:solidFill>
                <a:latin typeface="Times New Roman" panose="02020603050405020304" charset="0"/>
              </a:rPr>
            </a:fld>
            <a:endParaRPr lang="en-US" altLang="en-US" sz="900" dirty="0">
              <a:solidFill>
                <a:srgbClr val="000000"/>
              </a:solidFill>
              <a:latin typeface="Times New Roman" panose="02020603050405020304" charset="0"/>
            </a:endParaRPr>
          </a:p>
        </p:txBody>
      </p:sp>
      <p:sp>
        <p:nvSpPr>
          <p:cNvPr id="20487" name="Footer Placeholder 1"/>
          <p:cNvSpPr txBox="1">
            <a:spLocks noGrp="1"/>
          </p:cNvSpPr>
          <p:nvPr>
            <p:ph type="ftr" sz="quarter"/>
          </p:nvPr>
        </p:nvSpPr>
        <p:spPr>
          <a:xfrm>
            <a:off x="4165600" y="6356350"/>
            <a:ext cx="3860800" cy="365125"/>
          </a:xfrm>
          <a:prstGeom prst="rect">
            <a:avLst/>
          </a:prstGeom>
          <a:noFill/>
          <a:ln w="9525">
            <a:noFill/>
          </a:ln>
        </p:spPr>
        <p:txBody>
          <a:bodyPr anchor="ctr" anchorCtr="0"/>
          <a:p>
            <a:pPr marL="0" indent="0" algn="ctr" eaLnBrk="1" hangingPunct="1">
              <a:spcBef>
                <a:spcPct val="0"/>
              </a:spcBef>
              <a:buNone/>
            </a:pPr>
            <a:endParaRPr lang="en-US" altLang="en-US" sz="1200" dirty="0">
              <a:solidFill>
                <a:srgbClr val="898989"/>
              </a:solidFill>
              <a:latin typeface="Calibri" panose="020F0502020204030204" pitchFamily="34" charset="0"/>
            </a:endParaRPr>
          </a:p>
        </p:txBody>
      </p:sp>
      <p:sp>
        <p:nvSpPr>
          <p:cNvPr id="20488" name="Slide Number Placeholder 2"/>
          <p:cNvSpPr txBox="1">
            <a:spLocks noGrp="1"/>
          </p:cNvSpPr>
          <p:nvPr>
            <p:ph type="sldNum" sz="quarter"/>
          </p:nvPr>
        </p:nvSpPr>
        <p:spPr>
          <a:xfrm>
            <a:off x="8737600" y="6356350"/>
            <a:ext cx="2844800" cy="365125"/>
          </a:xfrm>
          <a:prstGeom prst="rect">
            <a:avLst/>
          </a:prstGeom>
          <a:noFill/>
          <a:ln w="9525">
            <a:noFill/>
          </a:ln>
        </p:spPr>
        <p:txBody>
          <a:bodyPr anchor="ctr" anchorCtr="0"/>
          <a:p>
            <a:pPr marL="0" indent="0" algn="r" eaLnBrk="1" hangingPunct="1">
              <a:spcBef>
                <a:spcPct val="0"/>
              </a:spcBef>
              <a:buNone/>
            </a:pPr>
            <a:fld id="{9A0DB2DC-4C9A-4742-B13C-FB6460FD3503}" type="slidenum">
              <a:rPr lang="en-US" altLang="en-US" sz="1200" dirty="0">
                <a:solidFill>
                  <a:srgbClr val="898989"/>
                </a:solidFill>
                <a:latin typeface="Calibri" panose="020F0502020204030204" pitchFamily="34" charset="0"/>
              </a:rPr>
            </a:fld>
            <a:endParaRPr lang="en-US" altLang="en-US" sz="1200" dirty="0">
              <a:solidFill>
                <a:srgbClr val="898989"/>
              </a:solidFill>
              <a:latin typeface="Calibri" panose="020F0502020204030204" pitchFamily="34" charset="0"/>
            </a:endParaRPr>
          </a:p>
        </p:txBody>
      </p:sp>
      <p:pic>
        <p:nvPicPr>
          <p:cNvPr id="20489" name="Picture 8"/>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20490"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20491"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sp>
        <p:nvSpPr>
          <p:cNvPr id="20492" name="AutoShape 2" descr="Making Globalization Work for Developing Countries JOSEPH E. STIGLITZ Sir  Winston Scott Memorial Lecture Central Bank of Barbados November ppt  download"/>
          <p:cNvSpPr>
            <a:spLocks noChangeAspect="1"/>
          </p:cNvSpPr>
          <p:nvPr/>
        </p:nvSpPr>
        <p:spPr>
          <a:xfrm>
            <a:off x="4419600" y="3276600"/>
            <a:ext cx="304800" cy="3048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endParaRPr lang="en-US" altLang="en-US" sz="1800" dirty="0"/>
          </a:p>
        </p:txBody>
      </p:sp>
    </p:spTree>
    <p:custDataLst>
      <p:tags r:id="rId4"/>
    </p:custDataLst>
  </p:cSld>
  <p:clrMapOvr>
    <a:masterClrMapping/>
  </p:clrMapOvr>
  <p:transition spd="slow" advTm="15093"/>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Subtitle 2"/>
          <p:cNvSpPr>
            <a:spLocks noGrp="1"/>
          </p:cNvSpPr>
          <p:nvPr>
            <p:ph type="subTitle" idx="1"/>
          </p:nvPr>
        </p:nvSpPr>
        <p:spPr/>
        <p:txBody>
          <a:bodyPr vert="horz" wrap="square" lIns="91440" tIns="45720" rIns="91440" bIns="45720" anchor="t" anchorCtr="0"/>
          <a:p>
            <a:pPr eaLnBrk="1" hangingPunct="1">
              <a:buClrTx/>
              <a:buSzTx/>
              <a:buFontTx/>
            </a:pPr>
            <a:endParaRPr lang="ar-SA" altLang="en-US" dirty="0">
              <a:solidFill>
                <a:srgbClr val="898989"/>
              </a:solidFill>
              <a:latin typeface="+mn-lt"/>
              <a:ea typeface="+mn-ea"/>
              <a:cs typeface="+mn-cs"/>
            </a:endParaRPr>
          </a:p>
        </p:txBody>
      </p:sp>
      <p:sp>
        <p:nvSpPr>
          <p:cNvPr id="4" name="Rounded Rectangle 3"/>
          <p:cNvSpPr/>
          <p:nvPr/>
        </p:nvSpPr>
        <p:spPr>
          <a:xfrm>
            <a:off x="1152525" y="585788"/>
            <a:ext cx="6578600" cy="4686300"/>
          </a:xfrm>
          <a:prstGeom prst="roundRect">
            <a:avLst/>
          </a:prstGeom>
          <a:solidFill>
            <a:srgbClr val="FFD95C"/>
          </a:solidFill>
          <a:ln>
            <a:solidFill>
              <a:srgbClr val="F7A427"/>
            </a:solidFill>
          </a:ln>
          <a:effectLst/>
        </p:spPr>
        <p:style>
          <a:lnRef idx="1">
            <a:schemeClr val="accent1"/>
          </a:lnRef>
          <a:fillRef idx="3">
            <a:schemeClr val="accent1"/>
          </a:fillRef>
          <a:effectRef idx="2">
            <a:schemeClr val="accent1"/>
          </a:effectRef>
          <a:fontRef idx="minor">
            <a:schemeClr val="lt1"/>
          </a:fontRef>
        </p:style>
        <p:txBody>
          <a:bodyPr anchor="ct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sz="1800" b="1" i="0" u="none" strike="noStrike" kern="1200" cap="none" spc="0" normalizeH="0" baseline="0" noProof="0" dirty="0">
                <a:ln>
                  <a:noFill/>
                </a:ln>
                <a:solidFill>
                  <a:schemeClr val="tx1"/>
                </a:solidFill>
                <a:effectLst/>
                <a:uLnTx/>
                <a:uFillTx/>
                <a:latin typeface="+mn-lt"/>
                <a:ea typeface="+mn-ea"/>
                <a:cs typeface="+mn-cs"/>
              </a:rPr>
              <a:t>The decline in trade barriers to the free flow of goods, services, and capital that has occurred since the end of world war. </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sz="1800" b="1" i="0" u="none" strike="noStrike" kern="1200" cap="none" spc="0" normalizeH="0" baseline="0" noProof="0" dirty="0">
                <a:ln>
                  <a:noFill/>
                </a:ln>
                <a:solidFill>
                  <a:schemeClr val="tx1"/>
                </a:solidFill>
                <a:effectLst/>
                <a:uLnTx/>
                <a:uFillTx/>
                <a:latin typeface="+mn-lt"/>
                <a:ea typeface="+mn-ea"/>
                <a:cs typeface="+mn-cs"/>
              </a:rPr>
              <a:t>The technological change, particularly the dramatic developments that have occurred in recent years in communications, information processing and transportation technologies</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22532" name="TextBox 7"/>
          <p:cNvSpPr txBox="1"/>
          <p:nvPr/>
        </p:nvSpPr>
        <p:spPr>
          <a:xfrm>
            <a:off x="7486650" y="1714500"/>
            <a:ext cx="376238" cy="554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3000" b="1" dirty="0">
                <a:solidFill>
                  <a:srgbClr val="FFD95C"/>
                </a:solidFill>
                <a:latin typeface="Calibri" panose="020F0502020204030204" pitchFamily="34" charset="0"/>
              </a:rPr>
              <a:t>*</a:t>
            </a:r>
            <a:endParaRPr lang="en-US" altLang="en-US" sz="3000" b="1" dirty="0">
              <a:solidFill>
                <a:srgbClr val="FFD95C"/>
              </a:solidFill>
              <a:latin typeface="Calibri" panose="020F0502020204030204" pitchFamily="34" charset="0"/>
            </a:endParaRPr>
          </a:p>
        </p:txBody>
      </p:sp>
      <p:sp>
        <p:nvSpPr>
          <p:cNvPr id="34824" name="Title 1"/>
          <p:cNvSpPr>
            <a:spLocks noGrp="1"/>
          </p:cNvSpPr>
          <p:nvPr>
            <p:ph type="ctrTitle"/>
          </p:nvPr>
        </p:nvSpPr>
        <p:spPr>
          <a:xfrm>
            <a:off x="1412875" y="623888"/>
            <a:ext cx="5829300" cy="1101725"/>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t>Two macro factors seem to underlie the trend towards greater globalization</a:t>
            </a: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endParaRPr kumimoji="0" lang="en-US" sz="1350" b="1" i="0" u="none" strike="noStrike" kern="0" cap="none" spc="0" normalizeH="0" baseline="0" noProof="0" dirty="0">
              <a:ln>
                <a:noFill/>
              </a:ln>
              <a:solidFill>
                <a:srgbClr val="007FA3"/>
              </a:solidFill>
              <a:effectLst/>
              <a:uLnTx/>
              <a:uFillTx/>
              <a:latin typeface="Helvetica" pitchFamily="34" charset="0"/>
              <a:ea typeface="+mj-ea"/>
              <a:cs typeface="+mj-cs"/>
            </a:endParaRPr>
          </a:p>
        </p:txBody>
      </p:sp>
      <p:sp>
        <p:nvSpPr>
          <p:cNvPr id="22534" name="Rectangle 4"/>
          <p:cNvSpPr/>
          <p:nvPr/>
        </p:nvSpPr>
        <p:spPr>
          <a:xfrm>
            <a:off x="6572250" y="5657850"/>
            <a:ext cx="1428750" cy="342900"/>
          </a:xfrm>
          <a:prstGeom prst="rect">
            <a:avLst/>
          </a:prstGeom>
          <a:noFill/>
          <a:ln w="9525">
            <a:noFill/>
          </a:ln>
        </p:spPr>
        <p:txBody>
          <a:bodyPr anchor="b"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900" dirty="0">
                <a:solidFill>
                  <a:srgbClr val="000000"/>
                </a:solidFill>
                <a:latin typeface="Times New Roman" panose="02020603050405020304" charset="0"/>
              </a:rPr>
              <a:t>1-</a:t>
            </a:r>
            <a:fld id="{9A0DB2DC-4C9A-4742-B13C-FB6460FD3503}" type="slidenum">
              <a:rPr lang="en-US" altLang="en-US" sz="900" dirty="0">
                <a:solidFill>
                  <a:srgbClr val="000000"/>
                </a:solidFill>
                <a:latin typeface="Times New Roman" panose="02020603050405020304" charset="0"/>
              </a:rPr>
            </a:fld>
            <a:endParaRPr lang="en-US" altLang="en-US" sz="900" dirty="0">
              <a:solidFill>
                <a:srgbClr val="000000"/>
              </a:solidFill>
              <a:latin typeface="Times New Roman" panose="02020603050405020304" charset="0"/>
            </a:endParaRPr>
          </a:p>
        </p:txBody>
      </p:sp>
      <p:sp>
        <p:nvSpPr>
          <p:cNvPr id="22535" name="Footer Placeholder 1"/>
          <p:cNvSpPr txBox="1">
            <a:spLocks noGrp="1"/>
          </p:cNvSpPr>
          <p:nvPr>
            <p:ph type="ftr" sz="quarter"/>
          </p:nvPr>
        </p:nvSpPr>
        <p:spPr>
          <a:xfrm>
            <a:off x="4165600" y="6356350"/>
            <a:ext cx="3860800" cy="365125"/>
          </a:xfrm>
          <a:prstGeom prst="rect">
            <a:avLst/>
          </a:prstGeom>
          <a:noFill/>
          <a:ln w="9525">
            <a:noFill/>
          </a:ln>
        </p:spPr>
        <p:txBody>
          <a:bodyPr anchor="ctr" anchorCtr="0"/>
          <a:p>
            <a:pPr marL="0" indent="0" algn="ctr" eaLnBrk="1" hangingPunct="1">
              <a:spcBef>
                <a:spcPct val="0"/>
              </a:spcBef>
              <a:buNone/>
            </a:pPr>
            <a:endParaRPr lang="en-US" altLang="en-US" sz="1200" dirty="0">
              <a:solidFill>
                <a:srgbClr val="898989"/>
              </a:solidFill>
              <a:latin typeface="Calibri" panose="020F0502020204030204" pitchFamily="34" charset="0"/>
            </a:endParaRPr>
          </a:p>
        </p:txBody>
      </p:sp>
      <p:sp>
        <p:nvSpPr>
          <p:cNvPr id="22536" name="Slide Number Placeholder 2"/>
          <p:cNvSpPr txBox="1">
            <a:spLocks noGrp="1"/>
          </p:cNvSpPr>
          <p:nvPr>
            <p:ph type="sldNum" sz="quarter"/>
          </p:nvPr>
        </p:nvSpPr>
        <p:spPr>
          <a:xfrm>
            <a:off x="8737600" y="6356350"/>
            <a:ext cx="2844800" cy="365125"/>
          </a:xfrm>
          <a:prstGeom prst="rect">
            <a:avLst/>
          </a:prstGeom>
          <a:noFill/>
          <a:ln w="9525">
            <a:noFill/>
          </a:ln>
        </p:spPr>
        <p:txBody>
          <a:bodyPr anchor="ctr" anchorCtr="0"/>
          <a:p>
            <a:pPr marL="0" indent="0" algn="r" eaLnBrk="1" hangingPunct="1">
              <a:spcBef>
                <a:spcPct val="0"/>
              </a:spcBef>
              <a:buNone/>
            </a:pPr>
            <a:fld id="{9A0DB2DC-4C9A-4742-B13C-FB6460FD3503}" type="slidenum">
              <a:rPr lang="en-US" altLang="en-US" sz="1200" dirty="0">
                <a:solidFill>
                  <a:srgbClr val="898989"/>
                </a:solidFill>
                <a:latin typeface="Calibri" panose="020F0502020204030204" pitchFamily="34" charset="0"/>
              </a:rPr>
            </a:fld>
            <a:endParaRPr lang="en-US" altLang="en-US" sz="1200" dirty="0">
              <a:solidFill>
                <a:srgbClr val="898989"/>
              </a:solidFill>
              <a:latin typeface="Calibri" panose="020F0502020204030204" pitchFamily="34" charset="0"/>
            </a:endParaRPr>
          </a:p>
        </p:txBody>
      </p:sp>
      <p:pic>
        <p:nvPicPr>
          <p:cNvPr id="22537" name="Picture 8"/>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22538"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22539"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sp>
        <p:nvSpPr>
          <p:cNvPr id="22540" name="AutoShape 2" descr="Making Globalization Work for Developing Countries JOSEPH E. STIGLITZ Sir  Winston Scott Memorial Lecture Central Bank of Barbados November ppt  download"/>
          <p:cNvSpPr>
            <a:spLocks noChangeAspect="1"/>
          </p:cNvSpPr>
          <p:nvPr/>
        </p:nvSpPr>
        <p:spPr>
          <a:xfrm>
            <a:off x="4419600" y="3276600"/>
            <a:ext cx="304800" cy="3048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endParaRPr lang="en-US" altLang="en-US" sz="1800" dirty="0"/>
          </a:p>
        </p:txBody>
      </p:sp>
    </p:spTree>
    <p:custDataLst>
      <p:tags r:id="rId4"/>
    </p:custDataLst>
  </p:cSld>
  <p:clrMapOvr>
    <a:masterClrMapping/>
  </p:clrMapOvr>
  <p:transition spd="slow" advTm="15093"/>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Subtitle 2"/>
          <p:cNvSpPr>
            <a:spLocks noGrp="1"/>
          </p:cNvSpPr>
          <p:nvPr>
            <p:ph type="subTitle" idx="1"/>
          </p:nvPr>
        </p:nvSpPr>
        <p:spPr/>
        <p:txBody>
          <a:bodyPr vert="horz" wrap="square" lIns="91440" tIns="45720" rIns="91440" bIns="45720" anchor="t" anchorCtr="0"/>
          <a:p>
            <a:pPr eaLnBrk="1" hangingPunct="1">
              <a:buClrTx/>
              <a:buSzTx/>
              <a:buFontTx/>
            </a:pPr>
            <a:endParaRPr lang="ar-SA" altLang="en-US" dirty="0">
              <a:solidFill>
                <a:srgbClr val="898989"/>
              </a:solidFill>
              <a:latin typeface="+mn-lt"/>
              <a:ea typeface="+mn-ea"/>
              <a:cs typeface="+mn-cs"/>
            </a:endParaRPr>
          </a:p>
        </p:txBody>
      </p:sp>
      <p:sp>
        <p:nvSpPr>
          <p:cNvPr id="4" name="Rounded Rectangle 3"/>
          <p:cNvSpPr/>
          <p:nvPr/>
        </p:nvSpPr>
        <p:spPr>
          <a:xfrm>
            <a:off x="1152525" y="585788"/>
            <a:ext cx="6578600" cy="4686300"/>
          </a:xfrm>
          <a:prstGeom prst="roundRect">
            <a:avLst/>
          </a:prstGeom>
          <a:solidFill>
            <a:srgbClr val="FFD95C"/>
          </a:solidFill>
          <a:ln>
            <a:solidFill>
              <a:srgbClr val="F7A427"/>
            </a:solidFill>
          </a:ln>
          <a:effectLst/>
        </p:spPr>
        <p:style>
          <a:lnRef idx="1">
            <a:schemeClr val="accent1"/>
          </a:lnRef>
          <a:fillRef idx="3">
            <a:schemeClr val="accent1"/>
          </a:fillRef>
          <a:effectRef idx="2">
            <a:schemeClr val="accent1"/>
          </a:effectRef>
          <a:fontRef idx="minor">
            <a:schemeClr val="lt1"/>
          </a:fontRef>
        </p:style>
        <p:txBody>
          <a:bodyPr anchor="ctr"/>
          <a:lstStyle/>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defRPr/>
            </a:pPr>
            <a:r>
              <a:rPr kumimoji="0" lang="en-US" sz="1800" b="1" i="0" u="none" strike="noStrike" kern="1200" cap="none" spc="0" normalizeH="0" baseline="0" noProof="0" dirty="0">
                <a:ln>
                  <a:noFill/>
                </a:ln>
                <a:solidFill>
                  <a:schemeClr val="tx1"/>
                </a:solidFill>
                <a:effectLst/>
                <a:uLnTx/>
                <a:uFillTx/>
                <a:latin typeface="+mn-lt"/>
                <a:ea typeface="+mn-ea"/>
                <a:cs typeface="+mn-cs"/>
              </a:rPr>
              <a:t>1. Foreign Direct Investments ( FDI) Investment in the real assets like factories, sales offices etc. by foreign fi rms falls under the category of Foreign Direct Investment. Total inflow of FDI has increased many folds during the last 15 years</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24580" name="TextBox 7"/>
          <p:cNvSpPr txBox="1"/>
          <p:nvPr/>
        </p:nvSpPr>
        <p:spPr>
          <a:xfrm>
            <a:off x="7486650" y="1714500"/>
            <a:ext cx="376238" cy="554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3000" b="1" dirty="0">
                <a:solidFill>
                  <a:srgbClr val="FFD95C"/>
                </a:solidFill>
                <a:latin typeface="Calibri" panose="020F0502020204030204" pitchFamily="34" charset="0"/>
              </a:rPr>
              <a:t>*</a:t>
            </a:r>
            <a:endParaRPr lang="en-US" altLang="en-US" sz="3000" b="1" dirty="0">
              <a:solidFill>
                <a:srgbClr val="FFD95C"/>
              </a:solidFill>
              <a:latin typeface="Calibri" panose="020F0502020204030204" pitchFamily="34" charset="0"/>
            </a:endParaRPr>
          </a:p>
        </p:txBody>
      </p:sp>
      <p:sp>
        <p:nvSpPr>
          <p:cNvPr id="34824" name="Title 1"/>
          <p:cNvSpPr>
            <a:spLocks noGrp="1"/>
          </p:cNvSpPr>
          <p:nvPr>
            <p:ph type="ctrTitle"/>
          </p:nvPr>
        </p:nvSpPr>
        <p:spPr>
          <a:xfrm>
            <a:off x="1412875" y="623888"/>
            <a:ext cx="5829300" cy="1101725"/>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t>Globalization-Indicators</a:t>
            </a: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endParaRPr kumimoji="0" lang="en-US" sz="1350" b="1" i="0" u="none" strike="noStrike" kern="0" cap="none" spc="0" normalizeH="0" baseline="0" noProof="0" dirty="0">
              <a:ln>
                <a:noFill/>
              </a:ln>
              <a:solidFill>
                <a:srgbClr val="007FA3"/>
              </a:solidFill>
              <a:effectLst/>
              <a:uLnTx/>
              <a:uFillTx/>
              <a:latin typeface="Helvetica" pitchFamily="34" charset="0"/>
              <a:ea typeface="+mj-ea"/>
              <a:cs typeface="+mj-cs"/>
            </a:endParaRPr>
          </a:p>
        </p:txBody>
      </p:sp>
      <p:sp>
        <p:nvSpPr>
          <p:cNvPr id="24582" name="Rectangle 4"/>
          <p:cNvSpPr/>
          <p:nvPr/>
        </p:nvSpPr>
        <p:spPr>
          <a:xfrm>
            <a:off x="6572250" y="5657850"/>
            <a:ext cx="1428750" cy="342900"/>
          </a:xfrm>
          <a:prstGeom prst="rect">
            <a:avLst/>
          </a:prstGeom>
          <a:noFill/>
          <a:ln w="9525">
            <a:noFill/>
          </a:ln>
        </p:spPr>
        <p:txBody>
          <a:bodyPr anchor="b"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900" dirty="0">
                <a:solidFill>
                  <a:srgbClr val="000000"/>
                </a:solidFill>
                <a:latin typeface="Times New Roman" panose="02020603050405020304" charset="0"/>
              </a:rPr>
              <a:t>1-</a:t>
            </a:r>
            <a:fld id="{9A0DB2DC-4C9A-4742-B13C-FB6460FD3503}" type="slidenum">
              <a:rPr lang="en-US" altLang="en-US" sz="900" dirty="0">
                <a:solidFill>
                  <a:srgbClr val="000000"/>
                </a:solidFill>
                <a:latin typeface="Times New Roman" panose="02020603050405020304" charset="0"/>
              </a:rPr>
            </a:fld>
            <a:endParaRPr lang="en-US" altLang="en-US" sz="900" dirty="0">
              <a:solidFill>
                <a:srgbClr val="000000"/>
              </a:solidFill>
              <a:latin typeface="Times New Roman" panose="02020603050405020304" charset="0"/>
            </a:endParaRPr>
          </a:p>
        </p:txBody>
      </p:sp>
      <p:sp>
        <p:nvSpPr>
          <p:cNvPr id="24583" name="Footer Placeholder 1"/>
          <p:cNvSpPr txBox="1">
            <a:spLocks noGrp="1"/>
          </p:cNvSpPr>
          <p:nvPr>
            <p:ph type="ftr" sz="quarter"/>
          </p:nvPr>
        </p:nvSpPr>
        <p:spPr>
          <a:xfrm>
            <a:off x="4165600" y="6356350"/>
            <a:ext cx="3860800" cy="365125"/>
          </a:xfrm>
          <a:prstGeom prst="rect">
            <a:avLst/>
          </a:prstGeom>
          <a:noFill/>
          <a:ln w="9525">
            <a:noFill/>
          </a:ln>
        </p:spPr>
        <p:txBody>
          <a:bodyPr anchor="ctr" anchorCtr="0"/>
          <a:p>
            <a:pPr marL="0" indent="0" algn="ctr" eaLnBrk="1" hangingPunct="1">
              <a:spcBef>
                <a:spcPct val="0"/>
              </a:spcBef>
              <a:buNone/>
            </a:pPr>
            <a:endParaRPr lang="en-US" altLang="en-US" sz="1200" dirty="0">
              <a:solidFill>
                <a:srgbClr val="898989"/>
              </a:solidFill>
              <a:latin typeface="Calibri" panose="020F0502020204030204" pitchFamily="34" charset="0"/>
            </a:endParaRPr>
          </a:p>
        </p:txBody>
      </p:sp>
      <p:sp>
        <p:nvSpPr>
          <p:cNvPr id="24584" name="Slide Number Placeholder 2"/>
          <p:cNvSpPr txBox="1">
            <a:spLocks noGrp="1"/>
          </p:cNvSpPr>
          <p:nvPr>
            <p:ph type="sldNum" sz="quarter"/>
          </p:nvPr>
        </p:nvSpPr>
        <p:spPr>
          <a:xfrm>
            <a:off x="8737600" y="6356350"/>
            <a:ext cx="2844800" cy="365125"/>
          </a:xfrm>
          <a:prstGeom prst="rect">
            <a:avLst/>
          </a:prstGeom>
          <a:noFill/>
          <a:ln w="9525">
            <a:noFill/>
          </a:ln>
        </p:spPr>
        <p:txBody>
          <a:bodyPr anchor="ctr" anchorCtr="0"/>
          <a:p>
            <a:pPr marL="0" indent="0" algn="r" eaLnBrk="1" hangingPunct="1">
              <a:spcBef>
                <a:spcPct val="0"/>
              </a:spcBef>
              <a:buNone/>
            </a:pPr>
            <a:fld id="{9A0DB2DC-4C9A-4742-B13C-FB6460FD3503}" type="slidenum">
              <a:rPr lang="en-US" altLang="en-US" sz="1200" dirty="0">
                <a:solidFill>
                  <a:srgbClr val="898989"/>
                </a:solidFill>
                <a:latin typeface="Calibri" panose="020F0502020204030204" pitchFamily="34" charset="0"/>
              </a:rPr>
            </a:fld>
            <a:endParaRPr lang="en-US" altLang="en-US" sz="1200" dirty="0">
              <a:solidFill>
                <a:srgbClr val="898989"/>
              </a:solidFill>
              <a:latin typeface="Calibri" panose="020F0502020204030204" pitchFamily="34" charset="0"/>
            </a:endParaRPr>
          </a:p>
        </p:txBody>
      </p:sp>
      <p:pic>
        <p:nvPicPr>
          <p:cNvPr id="24585" name="Picture 8"/>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24586"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24587"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sp>
        <p:nvSpPr>
          <p:cNvPr id="24588" name="AutoShape 2" descr="Making Globalization Work for Developing Countries JOSEPH E. STIGLITZ Sir  Winston Scott Memorial Lecture Central Bank of Barbados November ppt  download"/>
          <p:cNvSpPr>
            <a:spLocks noChangeAspect="1"/>
          </p:cNvSpPr>
          <p:nvPr/>
        </p:nvSpPr>
        <p:spPr>
          <a:xfrm>
            <a:off x="4419600" y="3276600"/>
            <a:ext cx="304800" cy="3048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endParaRPr lang="en-US" altLang="en-US" sz="1800" dirty="0"/>
          </a:p>
        </p:txBody>
      </p:sp>
    </p:spTree>
    <p:custDataLst>
      <p:tags r:id="rId4"/>
    </p:custDataLst>
  </p:cSld>
  <p:clrMapOvr>
    <a:masterClrMapping/>
  </p:clrMapOvr>
  <p:transition spd="slow" advTm="15093"/>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Subtitle 2"/>
          <p:cNvSpPr>
            <a:spLocks noGrp="1"/>
          </p:cNvSpPr>
          <p:nvPr>
            <p:ph type="subTitle" idx="1"/>
          </p:nvPr>
        </p:nvSpPr>
        <p:spPr/>
        <p:txBody>
          <a:bodyPr vert="horz" wrap="square" lIns="91440" tIns="45720" rIns="91440" bIns="45720" anchor="t" anchorCtr="0"/>
          <a:p>
            <a:pPr eaLnBrk="1" hangingPunct="1">
              <a:buClrTx/>
              <a:buSzTx/>
              <a:buFontTx/>
            </a:pPr>
            <a:endParaRPr lang="ar-SA" altLang="en-US" dirty="0">
              <a:solidFill>
                <a:srgbClr val="898989"/>
              </a:solidFill>
              <a:latin typeface="+mn-lt"/>
              <a:ea typeface="+mn-ea"/>
              <a:cs typeface="+mn-cs"/>
            </a:endParaRPr>
          </a:p>
        </p:txBody>
      </p:sp>
      <p:sp>
        <p:nvSpPr>
          <p:cNvPr id="4" name="Rounded Rectangle 3"/>
          <p:cNvSpPr/>
          <p:nvPr/>
        </p:nvSpPr>
        <p:spPr>
          <a:xfrm>
            <a:off x="1152525" y="536575"/>
            <a:ext cx="6578600" cy="4686300"/>
          </a:xfrm>
          <a:prstGeom prst="roundRect">
            <a:avLst/>
          </a:prstGeom>
          <a:solidFill>
            <a:srgbClr val="FFD95C"/>
          </a:solidFill>
          <a:ln>
            <a:solidFill>
              <a:srgbClr val="F7A427"/>
            </a:solid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just" defTabSz="914400" rtl="0" eaLnBrk="0" fontAlgn="base" latinLnBrk="0" hangingPunct="0">
              <a:lnSpc>
                <a:spcPct val="200000"/>
              </a:lnSpc>
              <a:spcBef>
                <a:spcPct val="0"/>
              </a:spcBef>
              <a:spcAft>
                <a:spcPct val="0"/>
              </a:spcAft>
              <a:buClrTx/>
              <a:buSzTx/>
              <a:buFontTx/>
              <a:buNone/>
              <a:defRPr/>
            </a:pPr>
            <a:r>
              <a:rPr kumimoji="0" lang="en-US" sz="1800" b="1" i="0" u="none" strike="noStrike" kern="1200" cap="none" spc="0" normalizeH="0" baseline="0" noProof="0" dirty="0">
                <a:ln>
                  <a:noFill/>
                </a:ln>
                <a:solidFill>
                  <a:schemeClr val="tx1"/>
                </a:solidFill>
                <a:effectLst/>
                <a:uLnTx/>
                <a:uFillTx/>
                <a:latin typeface="+mn-lt"/>
                <a:ea typeface="+mn-ea"/>
                <a:cs typeface="+mn-cs"/>
              </a:rPr>
              <a:t>2. Foreign Portfolio Investments (FPI) Accompanying the FDI boom, foreign portfolio equity investment has also accelerated globally. Cross border transactions in bonds and equities have soared in most countries, from less than 10% of GDP in 1980 to 150–250% in the recent past</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26628" name="TextBox 7"/>
          <p:cNvSpPr txBox="1"/>
          <p:nvPr/>
        </p:nvSpPr>
        <p:spPr>
          <a:xfrm>
            <a:off x="7486650" y="1714500"/>
            <a:ext cx="376238" cy="554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3000" b="1" dirty="0">
                <a:solidFill>
                  <a:srgbClr val="FFD95C"/>
                </a:solidFill>
                <a:latin typeface="Calibri" panose="020F0502020204030204" pitchFamily="34" charset="0"/>
              </a:rPr>
              <a:t>*</a:t>
            </a:r>
            <a:endParaRPr lang="en-US" altLang="en-US" sz="3000" b="1" dirty="0">
              <a:solidFill>
                <a:srgbClr val="FFD95C"/>
              </a:solidFill>
              <a:latin typeface="Calibri" panose="020F0502020204030204" pitchFamily="34" charset="0"/>
            </a:endParaRPr>
          </a:p>
        </p:txBody>
      </p:sp>
      <p:sp>
        <p:nvSpPr>
          <p:cNvPr id="34824" name="Title 1"/>
          <p:cNvSpPr>
            <a:spLocks noGrp="1"/>
          </p:cNvSpPr>
          <p:nvPr>
            <p:ph type="ctrTitle"/>
          </p:nvPr>
        </p:nvSpPr>
        <p:spPr>
          <a:xfrm>
            <a:off x="1412875" y="623888"/>
            <a:ext cx="5829300" cy="1101725"/>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t>Globalization-Indicators</a:t>
            </a: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endParaRPr kumimoji="0" lang="en-US" sz="1350" b="1" i="0" u="none" strike="noStrike" kern="0" cap="none" spc="0" normalizeH="0" baseline="0" noProof="0" dirty="0">
              <a:ln>
                <a:noFill/>
              </a:ln>
              <a:solidFill>
                <a:srgbClr val="007FA3"/>
              </a:solidFill>
              <a:effectLst/>
              <a:uLnTx/>
              <a:uFillTx/>
              <a:latin typeface="Helvetica" pitchFamily="34" charset="0"/>
              <a:ea typeface="+mj-ea"/>
              <a:cs typeface="+mj-cs"/>
            </a:endParaRPr>
          </a:p>
        </p:txBody>
      </p:sp>
      <p:sp>
        <p:nvSpPr>
          <p:cNvPr id="26630" name="Rectangle 4"/>
          <p:cNvSpPr/>
          <p:nvPr/>
        </p:nvSpPr>
        <p:spPr>
          <a:xfrm>
            <a:off x="6572250" y="5657850"/>
            <a:ext cx="1428750" cy="342900"/>
          </a:xfrm>
          <a:prstGeom prst="rect">
            <a:avLst/>
          </a:prstGeom>
          <a:noFill/>
          <a:ln w="9525">
            <a:noFill/>
          </a:ln>
        </p:spPr>
        <p:txBody>
          <a:bodyPr anchor="b"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900" dirty="0">
                <a:solidFill>
                  <a:srgbClr val="000000"/>
                </a:solidFill>
                <a:latin typeface="Times New Roman" panose="02020603050405020304" charset="0"/>
              </a:rPr>
              <a:t>1-</a:t>
            </a:r>
            <a:fld id="{9A0DB2DC-4C9A-4742-B13C-FB6460FD3503}" type="slidenum">
              <a:rPr lang="en-US" altLang="en-US" sz="900" dirty="0">
                <a:solidFill>
                  <a:srgbClr val="000000"/>
                </a:solidFill>
                <a:latin typeface="Times New Roman" panose="02020603050405020304" charset="0"/>
              </a:rPr>
            </a:fld>
            <a:endParaRPr lang="en-US" altLang="en-US" sz="900" dirty="0">
              <a:solidFill>
                <a:srgbClr val="000000"/>
              </a:solidFill>
              <a:latin typeface="Times New Roman" panose="02020603050405020304" charset="0"/>
            </a:endParaRPr>
          </a:p>
        </p:txBody>
      </p:sp>
      <p:sp>
        <p:nvSpPr>
          <p:cNvPr id="26631" name="Footer Placeholder 1"/>
          <p:cNvSpPr txBox="1">
            <a:spLocks noGrp="1"/>
          </p:cNvSpPr>
          <p:nvPr>
            <p:ph type="ftr" sz="quarter"/>
          </p:nvPr>
        </p:nvSpPr>
        <p:spPr>
          <a:xfrm>
            <a:off x="4165600" y="6356350"/>
            <a:ext cx="3860800" cy="365125"/>
          </a:xfrm>
          <a:prstGeom prst="rect">
            <a:avLst/>
          </a:prstGeom>
          <a:noFill/>
          <a:ln w="9525">
            <a:noFill/>
          </a:ln>
        </p:spPr>
        <p:txBody>
          <a:bodyPr anchor="ctr" anchorCtr="0"/>
          <a:p>
            <a:pPr marL="0" indent="0" algn="ctr" eaLnBrk="1" hangingPunct="1">
              <a:spcBef>
                <a:spcPct val="0"/>
              </a:spcBef>
              <a:buNone/>
            </a:pPr>
            <a:endParaRPr lang="en-US" altLang="en-US" sz="1200" dirty="0">
              <a:solidFill>
                <a:srgbClr val="898989"/>
              </a:solidFill>
              <a:latin typeface="Calibri" panose="020F0502020204030204" pitchFamily="34" charset="0"/>
            </a:endParaRPr>
          </a:p>
        </p:txBody>
      </p:sp>
      <p:sp>
        <p:nvSpPr>
          <p:cNvPr id="26632" name="Slide Number Placeholder 2"/>
          <p:cNvSpPr txBox="1">
            <a:spLocks noGrp="1"/>
          </p:cNvSpPr>
          <p:nvPr>
            <p:ph type="sldNum" sz="quarter"/>
          </p:nvPr>
        </p:nvSpPr>
        <p:spPr>
          <a:xfrm>
            <a:off x="8737600" y="6356350"/>
            <a:ext cx="2844800" cy="365125"/>
          </a:xfrm>
          <a:prstGeom prst="rect">
            <a:avLst/>
          </a:prstGeom>
          <a:noFill/>
          <a:ln w="9525">
            <a:noFill/>
          </a:ln>
        </p:spPr>
        <p:txBody>
          <a:bodyPr anchor="ctr" anchorCtr="0"/>
          <a:p>
            <a:pPr marL="0" indent="0" algn="r" eaLnBrk="1" hangingPunct="1">
              <a:spcBef>
                <a:spcPct val="0"/>
              </a:spcBef>
              <a:buNone/>
            </a:pPr>
            <a:fld id="{9A0DB2DC-4C9A-4742-B13C-FB6460FD3503}" type="slidenum">
              <a:rPr lang="en-US" altLang="en-US" sz="1200" dirty="0">
                <a:solidFill>
                  <a:srgbClr val="898989"/>
                </a:solidFill>
                <a:latin typeface="Calibri" panose="020F0502020204030204" pitchFamily="34" charset="0"/>
              </a:rPr>
            </a:fld>
            <a:endParaRPr lang="en-US" altLang="en-US" sz="1200" dirty="0">
              <a:solidFill>
                <a:srgbClr val="898989"/>
              </a:solidFill>
              <a:latin typeface="Calibri" panose="020F0502020204030204" pitchFamily="34" charset="0"/>
            </a:endParaRPr>
          </a:p>
        </p:txBody>
      </p:sp>
      <p:pic>
        <p:nvPicPr>
          <p:cNvPr id="26633" name="Picture 8"/>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26634"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26635"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sp>
        <p:nvSpPr>
          <p:cNvPr id="26636" name="AutoShape 2" descr="Making Globalization Work for Developing Countries JOSEPH E. STIGLITZ Sir  Winston Scott Memorial Lecture Central Bank of Barbados November ppt  download"/>
          <p:cNvSpPr>
            <a:spLocks noChangeAspect="1"/>
          </p:cNvSpPr>
          <p:nvPr/>
        </p:nvSpPr>
        <p:spPr>
          <a:xfrm>
            <a:off x="4419600" y="3276600"/>
            <a:ext cx="304800" cy="3048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endParaRPr lang="en-US" altLang="en-US" sz="1800" dirty="0"/>
          </a:p>
        </p:txBody>
      </p:sp>
    </p:spTree>
    <p:custDataLst>
      <p:tags r:id="rId4"/>
    </p:custDataLst>
  </p:cSld>
  <p:clrMapOvr>
    <a:masterClrMapping/>
  </p:clrMapOvr>
  <p:transition spd="slow" advTm="15093"/>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Subtitle 2"/>
          <p:cNvSpPr>
            <a:spLocks noGrp="1"/>
          </p:cNvSpPr>
          <p:nvPr>
            <p:ph type="subTitle" idx="1"/>
          </p:nvPr>
        </p:nvSpPr>
        <p:spPr/>
        <p:txBody>
          <a:bodyPr vert="horz" wrap="square" lIns="91440" tIns="45720" rIns="91440" bIns="45720" anchor="t" anchorCtr="0"/>
          <a:p>
            <a:pPr eaLnBrk="1" hangingPunct="1">
              <a:buClrTx/>
              <a:buSzTx/>
              <a:buFontTx/>
            </a:pPr>
            <a:endParaRPr lang="ar-SA" altLang="en-US" dirty="0">
              <a:solidFill>
                <a:srgbClr val="898989"/>
              </a:solidFill>
              <a:latin typeface="+mn-lt"/>
              <a:ea typeface="+mn-ea"/>
              <a:cs typeface="+mn-cs"/>
            </a:endParaRPr>
          </a:p>
        </p:txBody>
      </p:sp>
      <p:sp>
        <p:nvSpPr>
          <p:cNvPr id="4" name="Rounded Rectangle 3"/>
          <p:cNvSpPr/>
          <p:nvPr/>
        </p:nvSpPr>
        <p:spPr>
          <a:xfrm>
            <a:off x="1152525" y="585788"/>
            <a:ext cx="6578600" cy="4686300"/>
          </a:xfrm>
          <a:prstGeom prst="roundRect">
            <a:avLst/>
          </a:prstGeom>
          <a:solidFill>
            <a:srgbClr val="FFD95C"/>
          </a:solidFill>
          <a:ln>
            <a:solidFill>
              <a:srgbClr val="F7A427"/>
            </a:solid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just" defTabSz="914400" rtl="0" eaLnBrk="0" fontAlgn="base" latinLnBrk="0" hangingPunct="0">
              <a:lnSpc>
                <a:spcPct val="200000"/>
              </a:lnSpc>
              <a:spcBef>
                <a:spcPct val="0"/>
              </a:spcBef>
              <a:spcAft>
                <a:spcPct val="0"/>
              </a:spcAft>
              <a:buClrTx/>
              <a:buSzTx/>
              <a:buFontTx/>
              <a:buNone/>
              <a:defRPr/>
            </a:pPr>
            <a:r>
              <a:rPr kumimoji="0" lang="en-US" sz="1800" b="1" i="0" u="none" strike="noStrike" kern="1200" cap="none" spc="0" normalizeH="0" baseline="0" noProof="0" dirty="0">
                <a:ln>
                  <a:noFill/>
                </a:ln>
                <a:solidFill>
                  <a:schemeClr val="tx1"/>
                </a:solidFill>
                <a:effectLst/>
                <a:uLnTx/>
                <a:uFillTx/>
                <a:latin typeface="+mn-lt"/>
                <a:ea typeface="+mn-ea"/>
                <a:cs typeface="+mn-cs"/>
              </a:rPr>
              <a:t>3. Trade Since 1983, the pace of world trade has accelerated, reaching an average annual rate of 6 to 7%. This well outpaces the expansion of the world GDP, which has risen at an average of only 3.5% per year. However, the pace of world trade has been slower than the pace of world FDI, which has risen at above 15% per year since 1985</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28676" name="TextBox 7"/>
          <p:cNvSpPr txBox="1"/>
          <p:nvPr/>
        </p:nvSpPr>
        <p:spPr>
          <a:xfrm>
            <a:off x="7486650" y="1714500"/>
            <a:ext cx="376238" cy="554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3000" b="1" dirty="0">
                <a:solidFill>
                  <a:srgbClr val="FFD95C"/>
                </a:solidFill>
                <a:latin typeface="Calibri" panose="020F0502020204030204" pitchFamily="34" charset="0"/>
              </a:rPr>
              <a:t>*</a:t>
            </a:r>
            <a:endParaRPr lang="en-US" altLang="en-US" sz="3000" b="1" dirty="0">
              <a:solidFill>
                <a:srgbClr val="FFD95C"/>
              </a:solidFill>
              <a:latin typeface="Calibri" panose="020F0502020204030204" pitchFamily="34" charset="0"/>
            </a:endParaRPr>
          </a:p>
        </p:txBody>
      </p:sp>
      <p:sp>
        <p:nvSpPr>
          <p:cNvPr id="34824" name="Title 1"/>
          <p:cNvSpPr>
            <a:spLocks noGrp="1"/>
          </p:cNvSpPr>
          <p:nvPr>
            <p:ph type="ctrTitle"/>
          </p:nvPr>
        </p:nvSpPr>
        <p:spPr>
          <a:xfrm>
            <a:off x="1412875" y="623888"/>
            <a:ext cx="5829300" cy="1101725"/>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t>Globalization-Indicators</a:t>
            </a: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endParaRPr kumimoji="0" lang="en-US" sz="1350" b="1" i="0" u="none" strike="noStrike" kern="0" cap="none" spc="0" normalizeH="0" baseline="0" noProof="0" dirty="0">
              <a:ln>
                <a:noFill/>
              </a:ln>
              <a:solidFill>
                <a:srgbClr val="007FA3"/>
              </a:solidFill>
              <a:effectLst/>
              <a:uLnTx/>
              <a:uFillTx/>
              <a:latin typeface="Helvetica" pitchFamily="34" charset="0"/>
              <a:ea typeface="+mj-ea"/>
              <a:cs typeface="+mj-cs"/>
            </a:endParaRPr>
          </a:p>
        </p:txBody>
      </p:sp>
      <p:sp>
        <p:nvSpPr>
          <p:cNvPr id="28678" name="Rectangle 4"/>
          <p:cNvSpPr/>
          <p:nvPr/>
        </p:nvSpPr>
        <p:spPr>
          <a:xfrm>
            <a:off x="6572250" y="5657850"/>
            <a:ext cx="1428750" cy="342900"/>
          </a:xfrm>
          <a:prstGeom prst="rect">
            <a:avLst/>
          </a:prstGeom>
          <a:noFill/>
          <a:ln w="9525">
            <a:noFill/>
          </a:ln>
        </p:spPr>
        <p:txBody>
          <a:bodyPr anchor="b"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900" dirty="0">
                <a:solidFill>
                  <a:srgbClr val="000000"/>
                </a:solidFill>
                <a:latin typeface="Times New Roman" panose="02020603050405020304" charset="0"/>
              </a:rPr>
              <a:t>1-</a:t>
            </a:r>
            <a:fld id="{9A0DB2DC-4C9A-4742-B13C-FB6460FD3503}" type="slidenum">
              <a:rPr lang="en-US" altLang="en-US" sz="900" dirty="0">
                <a:solidFill>
                  <a:srgbClr val="000000"/>
                </a:solidFill>
                <a:latin typeface="Times New Roman" panose="02020603050405020304" charset="0"/>
              </a:rPr>
            </a:fld>
            <a:endParaRPr lang="en-US" altLang="en-US" sz="900" dirty="0">
              <a:solidFill>
                <a:srgbClr val="000000"/>
              </a:solidFill>
              <a:latin typeface="Times New Roman" panose="02020603050405020304" charset="0"/>
            </a:endParaRPr>
          </a:p>
        </p:txBody>
      </p:sp>
      <p:sp>
        <p:nvSpPr>
          <p:cNvPr id="28679" name="Footer Placeholder 1"/>
          <p:cNvSpPr txBox="1">
            <a:spLocks noGrp="1"/>
          </p:cNvSpPr>
          <p:nvPr>
            <p:ph type="ftr" sz="quarter"/>
          </p:nvPr>
        </p:nvSpPr>
        <p:spPr>
          <a:xfrm>
            <a:off x="4165600" y="6356350"/>
            <a:ext cx="3860800" cy="365125"/>
          </a:xfrm>
          <a:prstGeom prst="rect">
            <a:avLst/>
          </a:prstGeom>
          <a:noFill/>
          <a:ln w="9525">
            <a:noFill/>
          </a:ln>
        </p:spPr>
        <p:txBody>
          <a:bodyPr anchor="ctr" anchorCtr="0"/>
          <a:p>
            <a:pPr marL="0" indent="0" algn="ctr" eaLnBrk="1" hangingPunct="1">
              <a:spcBef>
                <a:spcPct val="0"/>
              </a:spcBef>
              <a:buNone/>
            </a:pPr>
            <a:endParaRPr lang="en-US" altLang="en-US" sz="1200" dirty="0">
              <a:solidFill>
                <a:srgbClr val="898989"/>
              </a:solidFill>
              <a:latin typeface="Calibri" panose="020F0502020204030204" pitchFamily="34" charset="0"/>
            </a:endParaRPr>
          </a:p>
        </p:txBody>
      </p:sp>
      <p:sp>
        <p:nvSpPr>
          <p:cNvPr id="28680" name="Slide Number Placeholder 2"/>
          <p:cNvSpPr txBox="1">
            <a:spLocks noGrp="1"/>
          </p:cNvSpPr>
          <p:nvPr>
            <p:ph type="sldNum" sz="quarter"/>
          </p:nvPr>
        </p:nvSpPr>
        <p:spPr>
          <a:xfrm>
            <a:off x="8737600" y="6356350"/>
            <a:ext cx="2844800" cy="365125"/>
          </a:xfrm>
          <a:prstGeom prst="rect">
            <a:avLst/>
          </a:prstGeom>
          <a:noFill/>
          <a:ln w="9525">
            <a:noFill/>
          </a:ln>
        </p:spPr>
        <p:txBody>
          <a:bodyPr anchor="ctr" anchorCtr="0"/>
          <a:p>
            <a:pPr marL="0" indent="0" algn="r" eaLnBrk="1" hangingPunct="1">
              <a:spcBef>
                <a:spcPct val="0"/>
              </a:spcBef>
              <a:buNone/>
            </a:pPr>
            <a:fld id="{9A0DB2DC-4C9A-4742-B13C-FB6460FD3503}" type="slidenum">
              <a:rPr lang="en-US" altLang="en-US" sz="1200" dirty="0">
                <a:solidFill>
                  <a:srgbClr val="898989"/>
                </a:solidFill>
                <a:latin typeface="Calibri" panose="020F0502020204030204" pitchFamily="34" charset="0"/>
              </a:rPr>
            </a:fld>
            <a:endParaRPr lang="en-US" altLang="en-US" sz="1200" dirty="0">
              <a:solidFill>
                <a:srgbClr val="898989"/>
              </a:solidFill>
              <a:latin typeface="Calibri" panose="020F0502020204030204" pitchFamily="34" charset="0"/>
            </a:endParaRPr>
          </a:p>
        </p:txBody>
      </p:sp>
      <p:pic>
        <p:nvPicPr>
          <p:cNvPr id="28681" name="Picture 8"/>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28682"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28683"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sp>
        <p:nvSpPr>
          <p:cNvPr id="28684" name="AutoShape 2" descr="Making Globalization Work for Developing Countries JOSEPH E. STIGLITZ Sir  Winston Scott Memorial Lecture Central Bank of Barbados November ppt  download"/>
          <p:cNvSpPr>
            <a:spLocks noChangeAspect="1"/>
          </p:cNvSpPr>
          <p:nvPr/>
        </p:nvSpPr>
        <p:spPr>
          <a:xfrm>
            <a:off x="4419600" y="3276600"/>
            <a:ext cx="304800" cy="3048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endParaRPr lang="en-US" altLang="en-US" sz="1800" dirty="0"/>
          </a:p>
        </p:txBody>
      </p:sp>
    </p:spTree>
    <p:custDataLst>
      <p:tags r:id="rId4"/>
    </p:custDataLst>
  </p:cSld>
  <p:clrMapOvr>
    <a:masterClrMapping/>
  </p:clrMapOvr>
  <p:transition spd="slow" advTm="15093"/>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Subtitle 2"/>
          <p:cNvSpPr>
            <a:spLocks noGrp="1"/>
          </p:cNvSpPr>
          <p:nvPr>
            <p:ph type="subTitle" idx="1"/>
          </p:nvPr>
        </p:nvSpPr>
        <p:spPr/>
        <p:txBody>
          <a:bodyPr vert="horz" wrap="square" lIns="91440" tIns="45720" rIns="91440" bIns="45720" anchor="t" anchorCtr="0"/>
          <a:p>
            <a:pPr eaLnBrk="1" hangingPunct="1">
              <a:buClrTx/>
              <a:buSzTx/>
              <a:buFontTx/>
            </a:pPr>
            <a:endParaRPr lang="ar-SA" altLang="en-US" dirty="0">
              <a:solidFill>
                <a:srgbClr val="898989"/>
              </a:solidFill>
              <a:latin typeface="+mn-lt"/>
              <a:ea typeface="+mn-ea"/>
              <a:cs typeface="+mn-cs"/>
            </a:endParaRPr>
          </a:p>
        </p:txBody>
      </p:sp>
      <p:sp>
        <p:nvSpPr>
          <p:cNvPr id="4" name="Rounded Rectangle 3"/>
          <p:cNvSpPr/>
          <p:nvPr/>
        </p:nvSpPr>
        <p:spPr>
          <a:xfrm>
            <a:off x="1152525" y="585788"/>
            <a:ext cx="6578600" cy="4686300"/>
          </a:xfrm>
          <a:prstGeom prst="roundRect">
            <a:avLst/>
          </a:prstGeom>
          <a:solidFill>
            <a:srgbClr val="FFD95C"/>
          </a:solidFill>
          <a:ln>
            <a:solidFill>
              <a:srgbClr val="F7A427"/>
            </a:solid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just" defTabSz="914400" rtl="0" eaLnBrk="0" fontAlgn="base" latinLnBrk="0" hangingPunct="0">
              <a:lnSpc>
                <a:spcPct val="200000"/>
              </a:lnSpc>
              <a:spcBef>
                <a:spcPct val="0"/>
              </a:spcBef>
              <a:spcAft>
                <a:spcPct val="0"/>
              </a:spcAft>
              <a:buClrTx/>
              <a:buSzTx/>
              <a:buFontTx/>
              <a:buNone/>
              <a:defRPr/>
            </a:pPr>
            <a:r>
              <a:rPr kumimoji="0" lang="en-US" sz="1800" b="1" i="0" u="none" strike="noStrike" kern="1200" cap="none" spc="0" normalizeH="0" baseline="0" noProof="0" dirty="0">
                <a:ln>
                  <a:noFill/>
                </a:ln>
                <a:solidFill>
                  <a:schemeClr val="tx1"/>
                </a:solidFill>
                <a:effectLst/>
                <a:uLnTx/>
                <a:uFillTx/>
                <a:latin typeface="+mn-lt"/>
                <a:ea typeface="+mn-ea"/>
                <a:cs typeface="+mn-cs"/>
              </a:rPr>
              <a:t>4. Global Governance by International Organizations like World Trade Organization. This is clear from the three factors outlined below: </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defRPr/>
            </a:pPr>
            <a:r>
              <a:rPr kumimoji="0" lang="en-US" sz="1800" b="1" i="0" u="none" strike="noStrike" kern="1200" cap="none" spc="0" normalizeH="0" baseline="0" noProof="0" dirty="0">
                <a:ln>
                  <a:noFill/>
                </a:ln>
                <a:solidFill>
                  <a:schemeClr val="tx1"/>
                </a:solidFill>
                <a:effectLst/>
                <a:uLnTx/>
                <a:uFillTx/>
                <a:latin typeface="+mn-lt"/>
                <a:ea typeface="+mn-ea"/>
                <a:cs typeface="+mn-cs"/>
              </a:rPr>
              <a:t>Deepening economic integration </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defRPr/>
            </a:pPr>
            <a:r>
              <a:rPr kumimoji="0" lang="en-US" sz="1800" b="1" i="0" u="none" strike="noStrike" kern="1200" cap="none" spc="0" normalizeH="0" baseline="0" noProof="0" dirty="0">
                <a:ln>
                  <a:noFill/>
                </a:ln>
                <a:solidFill>
                  <a:schemeClr val="tx1"/>
                </a:solidFill>
                <a:effectLst/>
                <a:uLnTx/>
                <a:uFillTx/>
                <a:latin typeface="+mn-lt"/>
                <a:ea typeface="+mn-ea"/>
                <a:cs typeface="+mn-cs"/>
              </a:rPr>
              <a:t>Reduction of import duty rates </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defRPr/>
            </a:pPr>
            <a:r>
              <a:rPr kumimoji="0" lang="en-US" sz="1800" b="1" i="0" u="none" strike="noStrike" kern="1200" cap="none" spc="0" normalizeH="0" baseline="0" noProof="0" dirty="0">
                <a:ln>
                  <a:noFill/>
                </a:ln>
                <a:solidFill>
                  <a:schemeClr val="tx1"/>
                </a:solidFill>
                <a:effectLst/>
                <a:uLnTx/>
                <a:uFillTx/>
                <a:latin typeface="+mn-lt"/>
                <a:ea typeface="+mn-ea"/>
                <a:cs typeface="+mn-cs"/>
              </a:rPr>
              <a:t>Increasing cooperation between countries for foreign investment</a:t>
            </a: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30724" name="TextBox 7"/>
          <p:cNvSpPr txBox="1"/>
          <p:nvPr/>
        </p:nvSpPr>
        <p:spPr>
          <a:xfrm>
            <a:off x="7486650" y="1714500"/>
            <a:ext cx="376238" cy="554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3000" b="1" dirty="0">
                <a:solidFill>
                  <a:srgbClr val="FFD95C"/>
                </a:solidFill>
                <a:latin typeface="Calibri" panose="020F0502020204030204" pitchFamily="34" charset="0"/>
              </a:rPr>
              <a:t>*</a:t>
            </a:r>
            <a:endParaRPr lang="en-US" altLang="en-US" sz="3000" b="1" dirty="0">
              <a:solidFill>
                <a:srgbClr val="FFD95C"/>
              </a:solidFill>
              <a:latin typeface="Calibri" panose="020F0502020204030204" pitchFamily="34" charset="0"/>
            </a:endParaRPr>
          </a:p>
        </p:txBody>
      </p:sp>
      <p:sp>
        <p:nvSpPr>
          <p:cNvPr id="34824" name="Title 1"/>
          <p:cNvSpPr>
            <a:spLocks noGrp="1"/>
          </p:cNvSpPr>
          <p:nvPr>
            <p:ph type="ctrTitle"/>
          </p:nvPr>
        </p:nvSpPr>
        <p:spPr>
          <a:xfrm>
            <a:off x="1412875" y="623888"/>
            <a:ext cx="5829300" cy="1101725"/>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t>Globalization-Indicators</a:t>
            </a: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endParaRPr kumimoji="0" lang="en-US" sz="1350" b="1" i="0" u="none" strike="noStrike" kern="0" cap="none" spc="0" normalizeH="0" baseline="0" noProof="0" dirty="0">
              <a:ln>
                <a:noFill/>
              </a:ln>
              <a:solidFill>
                <a:srgbClr val="007FA3"/>
              </a:solidFill>
              <a:effectLst/>
              <a:uLnTx/>
              <a:uFillTx/>
              <a:latin typeface="Helvetica" pitchFamily="34" charset="0"/>
              <a:ea typeface="+mj-ea"/>
              <a:cs typeface="+mj-cs"/>
            </a:endParaRPr>
          </a:p>
        </p:txBody>
      </p:sp>
      <p:sp>
        <p:nvSpPr>
          <p:cNvPr id="30726" name="Rectangle 4"/>
          <p:cNvSpPr/>
          <p:nvPr/>
        </p:nvSpPr>
        <p:spPr>
          <a:xfrm>
            <a:off x="6572250" y="5657850"/>
            <a:ext cx="1428750" cy="342900"/>
          </a:xfrm>
          <a:prstGeom prst="rect">
            <a:avLst/>
          </a:prstGeom>
          <a:noFill/>
          <a:ln w="9525">
            <a:noFill/>
          </a:ln>
        </p:spPr>
        <p:txBody>
          <a:bodyPr anchor="b"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900" dirty="0">
                <a:solidFill>
                  <a:srgbClr val="000000"/>
                </a:solidFill>
                <a:latin typeface="Times New Roman" panose="02020603050405020304" charset="0"/>
              </a:rPr>
              <a:t>1-</a:t>
            </a:r>
            <a:fld id="{9A0DB2DC-4C9A-4742-B13C-FB6460FD3503}" type="slidenum">
              <a:rPr lang="en-US" altLang="en-US" sz="900" dirty="0">
                <a:solidFill>
                  <a:srgbClr val="000000"/>
                </a:solidFill>
                <a:latin typeface="Times New Roman" panose="02020603050405020304" charset="0"/>
              </a:rPr>
            </a:fld>
            <a:endParaRPr lang="en-US" altLang="en-US" sz="900" dirty="0">
              <a:solidFill>
                <a:srgbClr val="000000"/>
              </a:solidFill>
              <a:latin typeface="Times New Roman" panose="02020603050405020304" charset="0"/>
            </a:endParaRPr>
          </a:p>
        </p:txBody>
      </p:sp>
      <p:sp>
        <p:nvSpPr>
          <p:cNvPr id="30727" name="Footer Placeholder 1"/>
          <p:cNvSpPr txBox="1">
            <a:spLocks noGrp="1"/>
          </p:cNvSpPr>
          <p:nvPr>
            <p:ph type="ftr" sz="quarter"/>
          </p:nvPr>
        </p:nvSpPr>
        <p:spPr>
          <a:xfrm>
            <a:off x="4165600" y="6356350"/>
            <a:ext cx="3860800" cy="365125"/>
          </a:xfrm>
          <a:prstGeom prst="rect">
            <a:avLst/>
          </a:prstGeom>
          <a:noFill/>
          <a:ln w="9525">
            <a:noFill/>
          </a:ln>
        </p:spPr>
        <p:txBody>
          <a:bodyPr anchor="ctr" anchorCtr="0"/>
          <a:p>
            <a:pPr marL="0" indent="0" algn="ctr" eaLnBrk="1" hangingPunct="1">
              <a:spcBef>
                <a:spcPct val="0"/>
              </a:spcBef>
              <a:buNone/>
            </a:pPr>
            <a:endParaRPr lang="en-US" altLang="en-US" sz="1200" dirty="0">
              <a:solidFill>
                <a:srgbClr val="898989"/>
              </a:solidFill>
              <a:latin typeface="Calibri" panose="020F0502020204030204" pitchFamily="34" charset="0"/>
            </a:endParaRPr>
          </a:p>
        </p:txBody>
      </p:sp>
      <p:sp>
        <p:nvSpPr>
          <p:cNvPr id="30728" name="Slide Number Placeholder 2"/>
          <p:cNvSpPr txBox="1">
            <a:spLocks noGrp="1"/>
          </p:cNvSpPr>
          <p:nvPr>
            <p:ph type="sldNum" sz="quarter"/>
          </p:nvPr>
        </p:nvSpPr>
        <p:spPr>
          <a:xfrm>
            <a:off x="8737600" y="6356350"/>
            <a:ext cx="2844800" cy="365125"/>
          </a:xfrm>
          <a:prstGeom prst="rect">
            <a:avLst/>
          </a:prstGeom>
          <a:noFill/>
          <a:ln w="9525">
            <a:noFill/>
          </a:ln>
        </p:spPr>
        <p:txBody>
          <a:bodyPr anchor="ctr" anchorCtr="0"/>
          <a:p>
            <a:pPr marL="0" indent="0" algn="r" eaLnBrk="1" hangingPunct="1">
              <a:spcBef>
                <a:spcPct val="0"/>
              </a:spcBef>
              <a:buNone/>
            </a:pPr>
            <a:fld id="{9A0DB2DC-4C9A-4742-B13C-FB6460FD3503}" type="slidenum">
              <a:rPr lang="en-US" altLang="en-US" sz="1200" dirty="0">
                <a:solidFill>
                  <a:srgbClr val="898989"/>
                </a:solidFill>
                <a:latin typeface="Calibri" panose="020F0502020204030204" pitchFamily="34" charset="0"/>
              </a:rPr>
            </a:fld>
            <a:endParaRPr lang="en-US" altLang="en-US" sz="1200" dirty="0">
              <a:solidFill>
                <a:srgbClr val="898989"/>
              </a:solidFill>
              <a:latin typeface="Calibri" panose="020F0502020204030204" pitchFamily="34" charset="0"/>
            </a:endParaRPr>
          </a:p>
        </p:txBody>
      </p:sp>
      <p:pic>
        <p:nvPicPr>
          <p:cNvPr id="30729" name="Picture 8"/>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30730"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30731"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sp>
        <p:nvSpPr>
          <p:cNvPr id="30732" name="AutoShape 2" descr="Making Globalization Work for Developing Countries JOSEPH E. STIGLITZ Sir  Winston Scott Memorial Lecture Central Bank of Barbados November ppt  download"/>
          <p:cNvSpPr>
            <a:spLocks noChangeAspect="1"/>
          </p:cNvSpPr>
          <p:nvPr/>
        </p:nvSpPr>
        <p:spPr>
          <a:xfrm>
            <a:off x="4419600" y="3276600"/>
            <a:ext cx="304800" cy="3048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endParaRPr lang="en-US" altLang="en-US" sz="1800" dirty="0"/>
          </a:p>
        </p:txBody>
      </p:sp>
    </p:spTree>
    <p:custDataLst>
      <p:tags r:id="rId4"/>
    </p:custDataLst>
  </p:cSld>
  <p:clrMapOvr>
    <a:masterClrMapping/>
  </p:clrMapOvr>
  <p:transition spd="slow" advTm="15093"/>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Subtitle 2"/>
          <p:cNvSpPr>
            <a:spLocks noGrp="1"/>
          </p:cNvSpPr>
          <p:nvPr>
            <p:ph type="subTitle" idx="1"/>
          </p:nvPr>
        </p:nvSpPr>
        <p:spPr/>
        <p:txBody>
          <a:bodyPr vert="horz" wrap="square" lIns="91440" tIns="45720" rIns="91440" bIns="45720" anchor="t" anchorCtr="0"/>
          <a:p>
            <a:pPr eaLnBrk="1" hangingPunct="1">
              <a:buClrTx/>
              <a:buSzTx/>
              <a:buFontTx/>
            </a:pPr>
            <a:endParaRPr lang="ar-SA" altLang="en-US" dirty="0">
              <a:solidFill>
                <a:srgbClr val="898989"/>
              </a:solidFill>
              <a:latin typeface="+mn-lt"/>
              <a:ea typeface="+mn-ea"/>
              <a:cs typeface="+mn-cs"/>
            </a:endParaRPr>
          </a:p>
        </p:txBody>
      </p:sp>
      <p:sp>
        <p:nvSpPr>
          <p:cNvPr id="4" name="Rounded Rectangle 3"/>
          <p:cNvSpPr/>
          <p:nvPr/>
        </p:nvSpPr>
        <p:spPr>
          <a:xfrm>
            <a:off x="1152525" y="585788"/>
            <a:ext cx="6578600" cy="4686300"/>
          </a:xfrm>
          <a:prstGeom prst="roundRect">
            <a:avLst/>
          </a:prstGeom>
          <a:solidFill>
            <a:srgbClr val="FFD95C"/>
          </a:solidFill>
          <a:ln>
            <a:solidFill>
              <a:srgbClr val="F7A427"/>
            </a:solidFill>
          </a:ln>
          <a:effectLst/>
        </p:spPr>
        <p:style>
          <a:lnRef idx="1">
            <a:schemeClr val="accent1"/>
          </a:lnRef>
          <a:fillRef idx="3">
            <a:schemeClr val="accent1"/>
          </a:fillRef>
          <a:effectRef idx="2">
            <a:schemeClr val="accent1"/>
          </a:effectRef>
          <a:fontRef idx="minor">
            <a:schemeClr val="lt1"/>
          </a:fontRef>
        </p:style>
        <p:txBody>
          <a:bodyPr anchor="ctr"/>
          <a:lstStyle/>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defRPr/>
            </a:pPr>
            <a:r>
              <a:rPr kumimoji="0" lang="en-US" sz="1400" b="1" i="0" u="none" strike="noStrike" kern="1200" cap="none" spc="0" normalizeH="0" baseline="0" noProof="0" dirty="0">
                <a:ln>
                  <a:noFill/>
                </a:ln>
                <a:solidFill>
                  <a:schemeClr val="tx1"/>
                </a:solidFill>
                <a:effectLst/>
                <a:uLnTx/>
                <a:uFillTx/>
                <a:latin typeface="+mn-lt"/>
                <a:ea typeface="+mn-ea"/>
                <a:cs typeface="+mn-cs"/>
              </a:rPr>
              <a:t>5. Business Restructuring—Flexibility and Closeness to Market For many companies, this new environment of continuous change meant restructuring, and in particular: </a:t>
            </a:r>
            <a:endParaRPr kumimoji="0" lang="en-US" sz="1400" b="1"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defRPr/>
            </a:pPr>
            <a:r>
              <a:rPr kumimoji="0" lang="en-US" sz="1400" b="1" i="0" u="none" strike="noStrike" kern="1200" cap="none" spc="0" normalizeH="0" baseline="0" noProof="0" dirty="0">
                <a:ln>
                  <a:noFill/>
                </a:ln>
                <a:solidFill>
                  <a:schemeClr val="tx1"/>
                </a:solidFill>
                <a:effectLst/>
                <a:uLnTx/>
                <a:uFillTx/>
                <a:latin typeface="+mn-lt"/>
                <a:ea typeface="+mn-ea"/>
                <a:cs typeface="+mn-cs"/>
              </a:rPr>
              <a:t>Flexible, just-in-time production systems (to supply a greater variety of goods in smaller lots, and to offer rapid response to market impulses with minimal inventories) </a:t>
            </a:r>
            <a:endParaRPr kumimoji="0" lang="en-US" sz="1400" b="1"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defRPr/>
            </a:pPr>
            <a:r>
              <a:rPr kumimoji="0" lang="en-US" sz="1400" b="1" i="0" u="none" strike="noStrike" kern="1200" cap="none" spc="0" normalizeH="0" baseline="0" noProof="0" dirty="0">
                <a:ln>
                  <a:noFill/>
                </a:ln>
                <a:solidFill>
                  <a:schemeClr val="tx1"/>
                </a:solidFill>
                <a:effectLst/>
                <a:uLnTx/>
                <a:uFillTx/>
                <a:latin typeface="+mn-lt"/>
                <a:ea typeface="+mn-ea"/>
                <a:cs typeface="+mn-cs"/>
              </a:rPr>
              <a:t>Moving production closer to the consumer and securing access to the local market (replacing exports with Foreign Direct Investment)</a:t>
            </a:r>
            <a:endParaRPr kumimoji="0" lang="en-US" sz="1400" b="1"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defRPr/>
            </a:pPr>
            <a:r>
              <a:rPr kumimoji="0" lang="en-US" sz="1400" b="1" i="0" u="none" strike="noStrike" kern="1200" cap="none" spc="0" normalizeH="0" baseline="0" noProof="0" dirty="0">
                <a:ln>
                  <a:noFill/>
                </a:ln>
                <a:solidFill>
                  <a:schemeClr val="tx1"/>
                </a:solidFill>
                <a:effectLst/>
                <a:uLnTx/>
                <a:uFillTx/>
                <a:latin typeface="+mn-lt"/>
                <a:ea typeface="+mn-ea"/>
                <a:cs typeface="+mn-cs"/>
              </a:rPr>
              <a:t>Diversification of operations (shifting resources out of declining sectors or regions and into promising ones)</a:t>
            </a:r>
            <a:endParaRPr kumimoji="0" lang="en-US" sz="1400" b="1" i="0" u="none" strike="noStrike" kern="1200" cap="none" spc="0" normalizeH="0" baseline="0" noProof="0" dirty="0">
              <a:ln>
                <a:noFill/>
              </a:ln>
              <a:solidFill>
                <a:schemeClr val="tx1"/>
              </a:solidFill>
              <a:effectLst/>
              <a:uLnTx/>
              <a:uFillTx/>
              <a:latin typeface="+mn-lt"/>
              <a:ea typeface="+mn-ea"/>
              <a:cs typeface="+mn-cs"/>
            </a:endParaRPr>
          </a:p>
        </p:txBody>
      </p:sp>
      <p:sp>
        <p:nvSpPr>
          <p:cNvPr id="32772" name="TextBox 7"/>
          <p:cNvSpPr txBox="1"/>
          <p:nvPr/>
        </p:nvSpPr>
        <p:spPr>
          <a:xfrm>
            <a:off x="7486650" y="1714500"/>
            <a:ext cx="376238" cy="554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3000" b="1" dirty="0">
                <a:solidFill>
                  <a:srgbClr val="FFD95C"/>
                </a:solidFill>
                <a:latin typeface="Calibri" panose="020F0502020204030204" pitchFamily="34" charset="0"/>
              </a:rPr>
              <a:t>*</a:t>
            </a:r>
            <a:endParaRPr lang="en-US" altLang="en-US" sz="3000" b="1" dirty="0">
              <a:solidFill>
                <a:srgbClr val="FFD95C"/>
              </a:solidFill>
              <a:latin typeface="Calibri" panose="020F0502020204030204" pitchFamily="34" charset="0"/>
            </a:endParaRPr>
          </a:p>
        </p:txBody>
      </p:sp>
      <p:sp>
        <p:nvSpPr>
          <p:cNvPr id="34824" name="Title 1"/>
          <p:cNvSpPr>
            <a:spLocks noGrp="1"/>
          </p:cNvSpPr>
          <p:nvPr>
            <p:ph type="ctrTitle"/>
          </p:nvPr>
        </p:nvSpPr>
        <p:spPr>
          <a:xfrm>
            <a:off x="1412875" y="484188"/>
            <a:ext cx="5829300" cy="1101725"/>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t>Globalization-Indicators</a:t>
            </a: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br>
              <a:rPr kumimoji="0" lang="en-US" sz="2400" b="1" i="0" u="none" strike="noStrike" kern="0" cap="none" spc="0" normalizeH="0" baseline="0" noProof="0" dirty="0">
                <a:ln>
                  <a:noFill/>
                </a:ln>
                <a:solidFill>
                  <a:srgbClr val="007FA3"/>
                </a:solidFill>
                <a:effectLst/>
                <a:uLnTx/>
                <a:uFillTx/>
                <a:latin typeface="Helvetica" pitchFamily="34" charset="0"/>
                <a:ea typeface="+mj-ea"/>
                <a:cs typeface="+mj-cs"/>
              </a:rPr>
            </a:br>
            <a:endParaRPr kumimoji="0" lang="en-US" sz="1350" b="1" i="0" u="none" strike="noStrike" kern="0" cap="none" spc="0" normalizeH="0" baseline="0" noProof="0" dirty="0">
              <a:ln>
                <a:noFill/>
              </a:ln>
              <a:solidFill>
                <a:srgbClr val="007FA3"/>
              </a:solidFill>
              <a:effectLst/>
              <a:uLnTx/>
              <a:uFillTx/>
              <a:latin typeface="Helvetica" pitchFamily="34" charset="0"/>
              <a:ea typeface="+mj-ea"/>
              <a:cs typeface="+mj-cs"/>
            </a:endParaRPr>
          </a:p>
        </p:txBody>
      </p:sp>
      <p:sp>
        <p:nvSpPr>
          <p:cNvPr id="32774" name="Rectangle 4"/>
          <p:cNvSpPr/>
          <p:nvPr/>
        </p:nvSpPr>
        <p:spPr>
          <a:xfrm>
            <a:off x="6572250" y="5657850"/>
            <a:ext cx="1428750" cy="342900"/>
          </a:xfrm>
          <a:prstGeom prst="rect">
            <a:avLst/>
          </a:prstGeom>
          <a:noFill/>
          <a:ln w="9525">
            <a:noFill/>
          </a:ln>
        </p:spPr>
        <p:txBody>
          <a:bodyPr anchor="b"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r>
              <a:rPr lang="en-US" altLang="en-US" sz="900" dirty="0">
                <a:solidFill>
                  <a:srgbClr val="000000"/>
                </a:solidFill>
                <a:latin typeface="Times New Roman" panose="02020603050405020304" charset="0"/>
              </a:rPr>
              <a:t>1-</a:t>
            </a:r>
            <a:fld id="{9A0DB2DC-4C9A-4742-B13C-FB6460FD3503}" type="slidenum">
              <a:rPr lang="en-US" altLang="en-US" sz="900" dirty="0">
                <a:solidFill>
                  <a:srgbClr val="000000"/>
                </a:solidFill>
                <a:latin typeface="Times New Roman" panose="02020603050405020304" charset="0"/>
              </a:rPr>
            </a:fld>
            <a:endParaRPr lang="en-US" altLang="en-US" sz="900" dirty="0">
              <a:solidFill>
                <a:srgbClr val="000000"/>
              </a:solidFill>
              <a:latin typeface="Times New Roman" panose="02020603050405020304" charset="0"/>
            </a:endParaRPr>
          </a:p>
        </p:txBody>
      </p:sp>
      <p:sp>
        <p:nvSpPr>
          <p:cNvPr id="32775" name="Footer Placeholder 1"/>
          <p:cNvSpPr txBox="1">
            <a:spLocks noGrp="1"/>
          </p:cNvSpPr>
          <p:nvPr>
            <p:ph type="ftr" sz="quarter"/>
          </p:nvPr>
        </p:nvSpPr>
        <p:spPr>
          <a:xfrm>
            <a:off x="4165600" y="6356350"/>
            <a:ext cx="3860800" cy="365125"/>
          </a:xfrm>
          <a:prstGeom prst="rect">
            <a:avLst/>
          </a:prstGeom>
          <a:noFill/>
          <a:ln w="9525">
            <a:noFill/>
          </a:ln>
        </p:spPr>
        <p:txBody>
          <a:bodyPr anchor="ctr" anchorCtr="0"/>
          <a:p>
            <a:pPr marL="0" indent="0" algn="ctr" eaLnBrk="1" hangingPunct="1">
              <a:spcBef>
                <a:spcPct val="0"/>
              </a:spcBef>
              <a:buNone/>
            </a:pPr>
            <a:endParaRPr lang="en-US" altLang="en-US" sz="1200" dirty="0">
              <a:solidFill>
                <a:srgbClr val="898989"/>
              </a:solidFill>
              <a:latin typeface="Calibri" panose="020F0502020204030204" pitchFamily="34" charset="0"/>
            </a:endParaRPr>
          </a:p>
        </p:txBody>
      </p:sp>
      <p:sp>
        <p:nvSpPr>
          <p:cNvPr id="32776" name="Slide Number Placeholder 2"/>
          <p:cNvSpPr txBox="1">
            <a:spLocks noGrp="1"/>
          </p:cNvSpPr>
          <p:nvPr>
            <p:ph type="sldNum" sz="quarter"/>
          </p:nvPr>
        </p:nvSpPr>
        <p:spPr>
          <a:xfrm>
            <a:off x="8737600" y="6356350"/>
            <a:ext cx="2844800" cy="365125"/>
          </a:xfrm>
          <a:prstGeom prst="rect">
            <a:avLst/>
          </a:prstGeom>
          <a:noFill/>
          <a:ln w="9525">
            <a:noFill/>
          </a:ln>
        </p:spPr>
        <p:txBody>
          <a:bodyPr anchor="ctr" anchorCtr="0"/>
          <a:p>
            <a:pPr marL="0" indent="0" algn="r" eaLnBrk="1" hangingPunct="1">
              <a:spcBef>
                <a:spcPct val="0"/>
              </a:spcBef>
              <a:buNone/>
            </a:pPr>
            <a:fld id="{9A0DB2DC-4C9A-4742-B13C-FB6460FD3503}" type="slidenum">
              <a:rPr lang="en-US" altLang="en-US" sz="1200" dirty="0">
                <a:solidFill>
                  <a:srgbClr val="898989"/>
                </a:solidFill>
                <a:latin typeface="Calibri" panose="020F0502020204030204" pitchFamily="34" charset="0"/>
              </a:rPr>
            </a:fld>
            <a:endParaRPr lang="en-US" altLang="en-US" sz="1200" dirty="0">
              <a:solidFill>
                <a:srgbClr val="898989"/>
              </a:solidFill>
              <a:latin typeface="Calibri" panose="020F0502020204030204" pitchFamily="34" charset="0"/>
            </a:endParaRPr>
          </a:p>
        </p:txBody>
      </p:sp>
      <p:pic>
        <p:nvPicPr>
          <p:cNvPr id="32777" name="Picture 8"/>
          <p:cNvPicPr>
            <a:picLocks noChangeAspect="1"/>
          </p:cNvPicPr>
          <p:nvPr/>
        </p:nvPicPr>
        <p:blipFill>
          <a:blip r:embed="rId1"/>
          <a:stretch>
            <a:fillRect/>
          </a:stretch>
        </p:blipFill>
        <p:spPr>
          <a:xfrm>
            <a:off x="6350" y="6165850"/>
            <a:ext cx="9144000" cy="669925"/>
          </a:xfrm>
          <a:prstGeom prst="rect">
            <a:avLst/>
          </a:prstGeom>
          <a:noFill/>
          <a:ln w="9525">
            <a:noFill/>
          </a:ln>
        </p:spPr>
      </p:pic>
      <p:pic>
        <p:nvPicPr>
          <p:cNvPr id="32778" name="Picture 15"/>
          <p:cNvPicPr>
            <a:picLocks noChangeAspect="1"/>
          </p:cNvPicPr>
          <p:nvPr/>
        </p:nvPicPr>
        <p:blipFill>
          <a:blip r:embed="rId2"/>
          <a:stretch>
            <a:fillRect/>
          </a:stretch>
        </p:blipFill>
        <p:spPr>
          <a:xfrm>
            <a:off x="7510463" y="5054600"/>
            <a:ext cx="1549400" cy="993775"/>
          </a:xfrm>
          <a:prstGeom prst="rect">
            <a:avLst/>
          </a:prstGeom>
          <a:noFill/>
          <a:ln w="9525">
            <a:noFill/>
          </a:ln>
        </p:spPr>
      </p:pic>
      <p:pic>
        <p:nvPicPr>
          <p:cNvPr id="32779" name="Picture 16" descr="BracU Logo | Brac University"/>
          <p:cNvPicPr>
            <a:picLocks noChangeAspect="1"/>
          </p:cNvPicPr>
          <p:nvPr/>
        </p:nvPicPr>
        <p:blipFill>
          <a:blip r:embed="rId3"/>
          <a:stretch>
            <a:fillRect/>
          </a:stretch>
        </p:blipFill>
        <p:spPr>
          <a:xfrm>
            <a:off x="84138" y="5054600"/>
            <a:ext cx="1549400" cy="1120775"/>
          </a:xfrm>
          <a:prstGeom prst="rect">
            <a:avLst/>
          </a:prstGeom>
          <a:noFill/>
          <a:ln w="9525">
            <a:noFill/>
          </a:ln>
        </p:spPr>
      </p:pic>
      <p:sp>
        <p:nvSpPr>
          <p:cNvPr id="32780" name="AutoShape 2" descr="Making Globalization Work for Developing Countries JOSEPH E. STIGLITZ Sir  Winston Scott Memorial Lecture Central Bank of Barbados November ppt  download"/>
          <p:cNvSpPr>
            <a:spLocks noChangeAspect="1"/>
          </p:cNvSpPr>
          <p:nvPr/>
        </p:nvSpPr>
        <p:spPr>
          <a:xfrm>
            <a:off x="4419600" y="3276600"/>
            <a:ext cx="304800" cy="3048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None/>
            </a:pPr>
            <a:endParaRPr lang="en-US" altLang="en-US" sz="1800" dirty="0"/>
          </a:p>
        </p:txBody>
      </p:sp>
    </p:spTree>
    <p:custDataLst>
      <p:tags r:id="rId4"/>
    </p:custDataLst>
  </p:cSld>
  <p:clrMapOvr>
    <a:masterClrMapping/>
  </p:clrMapOvr>
  <p:transition spd="slow" advTm="15093"/>
</p:sld>
</file>

<file path=ppt/tags/tag1.xml><?xml version="1.0" encoding="utf-8"?>
<p:tagLst xmlns:p="http://schemas.openxmlformats.org/presentationml/2006/main">
  <p:tag name="TIMING" val="|10.5"/>
</p:tagLst>
</file>

<file path=ppt/tags/tag2.xml><?xml version="1.0" encoding="utf-8"?>
<p:tagLst xmlns:p="http://schemas.openxmlformats.org/presentationml/2006/main">
  <p:tag name="TIMING" val="|10.5"/>
</p:tagLst>
</file>

<file path=ppt/tags/tag3.xml><?xml version="1.0" encoding="utf-8"?>
<p:tagLst xmlns:p="http://schemas.openxmlformats.org/presentationml/2006/main">
  <p:tag name="TIMING" val="|10.5"/>
</p:tagLst>
</file>

<file path=ppt/tags/tag4.xml><?xml version="1.0" encoding="utf-8"?>
<p:tagLst xmlns:p="http://schemas.openxmlformats.org/presentationml/2006/main">
  <p:tag name="TIMING" val="|10.5"/>
</p:tagLst>
</file>

<file path=ppt/tags/tag5.xml><?xml version="1.0" encoding="utf-8"?>
<p:tagLst xmlns:p="http://schemas.openxmlformats.org/presentationml/2006/main">
  <p:tag name="TIMING" val="|10.5"/>
</p:tagLst>
</file>

<file path=ppt/tags/tag6.xml><?xml version="1.0" encoding="utf-8"?>
<p:tagLst xmlns:p="http://schemas.openxmlformats.org/presentationml/2006/main">
  <p:tag name="TIMING" val="|10.5"/>
</p:tagLst>
</file>

<file path=ppt/tags/tag7.xml><?xml version="1.0" encoding="utf-8"?>
<p:tagLst xmlns:p="http://schemas.openxmlformats.org/presentationml/2006/main">
  <p:tag name="TIMING" val="|10.5"/>
</p:tagLst>
</file>

<file path=ppt/tags/tag8.xml><?xml version="1.0" encoding="utf-8"?>
<p:tagLst xmlns:p="http://schemas.openxmlformats.org/presentationml/2006/main">
  <p:tag name="TIMING" val="|10.5"/>
</p:tagLst>
</file>

<file path=ppt/tags/tag9.xml><?xml version="1.0" encoding="utf-8"?>
<p:tagLst xmlns:p="http://schemas.openxmlformats.org/presentationml/2006/main">
  <p:tag name="TIMING" val="|10.5"/>
</p:tagLst>
</file>

<file path=ppt/tags/tag10.xml><?xml version="1.0" encoding="utf-8"?>
<p:tagLst xmlns:p="http://schemas.openxmlformats.org/presentationml/2006/main">
  <p:tag name="TIMING" val="|10.5"/>
</p:tagLst>
</file>

<file path=ppt/theme/theme1.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4978</Words>
  <Application>WPS Presentation</Application>
  <PresentationFormat>On-screen Show (4:3)</PresentationFormat>
  <Paragraphs>159</Paragraphs>
  <Slides>17</Slides>
  <Notes>13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17</vt:i4>
      </vt:variant>
    </vt:vector>
  </HeadingPairs>
  <TitlesOfParts>
    <vt:vector size="28" baseType="lpstr">
      <vt:lpstr>Arial</vt:lpstr>
      <vt:lpstr>SimSun</vt:lpstr>
      <vt:lpstr>Wingdings</vt:lpstr>
      <vt:lpstr>MS PGothic</vt:lpstr>
      <vt:lpstr>Times</vt:lpstr>
      <vt:lpstr>Times New Roman</vt:lpstr>
      <vt:lpstr>Calibri</vt:lpstr>
      <vt:lpstr>Helvetica</vt:lpstr>
      <vt:lpstr>Microsoft YaHei</vt:lpstr>
      <vt:lpstr>Arial Unicode MS</vt:lpstr>
      <vt:lpstr>2_Default Design</vt:lpstr>
      <vt:lpstr>PowerPoint 演示文稿</vt:lpstr>
      <vt:lpstr>PowerPoint 演示文稿</vt:lpstr>
      <vt:lpstr>PowerPoint 演示文稿</vt:lpstr>
      <vt:lpstr>PowerPoint 演示文稿</vt:lpstr>
      <vt:lpstr>PowerPoint 演示文稿</vt:lpstr>
      <vt:lpstr>Global Capitalism  </vt:lpstr>
      <vt:lpstr>Problems with Global Capitalism  </vt:lpstr>
      <vt:lpstr>PowerPoint 演示文稿</vt:lpstr>
      <vt:lpstr>ROLE OF DEVELOPING COUNTRIES  </vt:lpstr>
      <vt:lpstr>PowerPoint 演示文稿</vt:lpstr>
      <vt:lpstr>Scope of Globalization  </vt:lpstr>
      <vt:lpstr> Two macro factors seem to underlie the trend towards greater globalization </vt:lpstr>
      <vt:lpstr>Globalization-Indicators  </vt:lpstr>
      <vt:lpstr>Globalization-Indicators  </vt:lpstr>
      <vt:lpstr>Globalization-Indicators  </vt:lpstr>
      <vt:lpstr>Globalization-Indicators  </vt:lpstr>
      <vt:lpstr>Globalization-Indicators  </vt:lpstr>
    </vt:vector>
  </TitlesOfParts>
  <Company>laserwords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laser</dc:creator>
  <cp:lastModifiedBy>Zoeb-Ur- Rahman</cp:lastModifiedBy>
  <cp:revision>110</cp:revision>
  <dcterms:created xsi:type="dcterms:W3CDTF">2008-02-08T10:41:00Z</dcterms:created>
  <dcterms:modified xsi:type="dcterms:W3CDTF">2024-11-01T18:51:14Z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2DE1B66911A44D9EB70CEC8934F51A88_13</vt:lpwstr>
  </property>
  <property fmtid="{D5CDD505-2E9C-101B-9397-08002B2CF9AE}" pid="3" name="KSOProductBuildVer">
    <vt:lpwstr>1033-12.2.0.18607</vt:lpwstr>
  </property>
</Properties>
</file>