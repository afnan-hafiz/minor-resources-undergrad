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74" r:id="rId4"/>
    <p:sldId id="275" r:id="rId6"/>
    <p:sldId id="276" r:id="rId7"/>
    <p:sldId id="277" r:id="rId8"/>
    <p:sldId id="278" r:id="rId9"/>
    <p:sldId id="279" r:id="rId10"/>
    <p:sldId id="280" r:id="rId11"/>
    <p:sldId id="281" r:id="rId12"/>
    <p:sldId id="282" r:id="rId13"/>
    <p:sldId id="284" r:id="rId14"/>
    <p:sldId id="293" r:id="rId15"/>
    <p:sldId id="291" r:id="rId16"/>
    <p:sldId id="292" r:id="rId17"/>
    <p:sldId id="285" r:id="rId18"/>
    <p:sldId id="286" r:id="rId19"/>
    <p:sldId id="287" r:id="rId20"/>
    <p:sldId id="2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0" name="Shape 300"/>
        <p:cNvGrpSpPr/>
        <p:nvPr/>
      </p:nvGrpSpPr>
      <p:grpSpPr>
        <a:xfrm>
          <a:off x="0" y="0"/>
          <a:ext cx="0" cy="0"/>
          <a:chOff x="0" y="0"/>
          <a:chExt cx="0" cy="0"/>
        </a:xfrm>
      </p:grpSpPr>
      <p:sp>
        <p:nvSpPr>
          <p:cNvPr id="301" name="Google Shape;301;p1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02" name="Google Shape;302;p1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4" name="Shape 314"/>
        <p:cNvGrpSpPr/>
        <p:nvPr/>
      </p:nvGrpSpPr>
      <p:grpSpPr>
        <a:xfrm>
          <a:off x="0" y="0"/>
          <a:ext cx="0" cy="0"/>
          <a:chOff x="0" y="0"/>
          <a:chExt cx="0" cy="0"/>
        </a:xfrm>
      </p:grpSpPr>
      <p:sp>
        <p:nvSpPr>
          <p:cNvPr id="315" name="Google Shape;315;p1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6" name="Google Shape;316;p1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1" name="Shape 321"/>
        <p:cNvGrpSpPr/>
        <p:nvPr/>
      </p:nvGrpSpPr>
      <p:grpSpPr>
        <a:xfrm>
          <a:off x="0" y="0"/>
          <a:ext cx="0" cy="0"/>
          <a:chOff x="0" y="0"/>
          <a:chExt cx="0" cy="0"/>
        </a:xfrm>
      </p:grpSpPr>
      <p:sp>
        <p:nvSpPr>
          <p:cNvPr id="322" name="Google Shape;322;p2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3" name="Google Shape;323;p2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8" name="Shape 328"/>
        <p:cNvGrpSpPr/>
        <p:nvPr/>
      </p:nvGrpSpPr>
      <p:grpSpPr>
        <a:xfrm>
          <a:off x="0" y="0"/>
          <a:ext cx="0" cy="0"/>
          <a:chOff x="0" y="0"/>
          <a:chExt cx="0" cy="0"/>
        </a:xfrm>
      </p:grpSpPr>
      <p:sp>
        <p:nvSpPr>
          <p:cNvPr id="329" name="Google Shape;329;p2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0" name="Google Shape;330;p2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5" name="Shape 335"/>
        <p:cNvGrpSpPr/>
        <p:nvPr/>
      </p:nvGrpSpPr>
      <p:grpSpPr>
        <a:xfrm>
          <a:off x="0" y="0"/>
          <a:ext cx="0" cy="0"/>
          <a:chOff x="0" y="0"/>
          <a:chExt cx="0" cy="0"/>
        </a:xfrm>
      </p:grpSpPr>
      <p:sp>
        <p:nvSpPr>
          <p:cNvPr id="336" name="Google Shape;336;p2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7" name="Google Shape;337;p2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2" name="Shape 342"/>
        <p:cNvGrpSpPr/>
        <p:nvPr/>
      </p:nvGrpSpPr>
      <p:grpSpPr>
        <a:xfrm>
          <a:off x="0" y="0"/>
          <a:ext cx="0" cy="0"/>
          <a:chOff x="0" y="0"/>
          <a:chExt cx="0" cy="0"/>
        </a:xfrm>
      </p:grpSpPr>
      <p:sp>
        <p:nvSpPr>
          <p:cNvPr id="343" name="Google Shape;343;p2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4" name="Google Shape;344;p2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9" name="Shape 349"/>
        <p:cNvGrpSpPr/>
        <p:nvPr/>
      </p:nvGrpSpPr>
      <p:grpSpPr>
        <a:xfrm>
          <a:off x="0" y="0"/>
          <a:ext cx="0" cy="0"/>
          <a:chOff x="0" y="0"/>
          <a:chExt cx="0" cy="0"/>
        </a:xfrm>
      </p:grpSpPr>
      <p:sp>
        <p:nvSpPr>
          <p:cNvPr id="350" name="Google Shape;350;p2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1" name="Google Shape;351;p2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6" name="Shape 356"/>
        <p:cNvGrpSpPr/>
        <p:nvPr/>
      </p:nvGrpSpPr>
      <p:grpSpPr>
        <a:xfrm>
          <a:off x="0" y="0"/>
          <a:ext cx="0" cy="0"/>
          <a:chOff x="0" y="0"/>
          <a:chExt cx="0" cy="0"/>
        </a:xfrm>
      </p:grpSpPr>
      <p:sp>
        <p:nvSpPr>
          <p:cNvPr id="357" name="Google Shape;357;p2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8" name="Google Shape;358;p2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3" name="Shape 363"/>
        <p:cNvGrpSpPr/>
        <p:nvPr/>
      </p:nvGrpSpPr>
      <p:grpSpPr>
        <a:xfrm>
          <a:off x="0" y="0"/>
          <a:ext cx="0" cy="0"/>
          <a:chOff x="0" y="0"/>
          <a:chExt cx="0" cy="0"/>
        </a:xfrm>
      </p:grpSpPr>
      <p:sp>
        <p:nvSpPr>
          <p:cNvPr id="364" name="Google Shape;364;p2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5" name="Google Shape;365;p2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6" name="Shape 376"/>
        <p:cNvGrpSpPr/>
        <p:nvPr/>
      </p:nvGrpSpPr>
      <p:grpSpPr>
        <a:xfrm>
          <a:off x="0" y="0"/>
          <a:ext cx="0" cy="0"/>
          <a:chOff x="0" y="0"/>
          <a:chExt cx="0" cy="0"/>
        </a:xfrm>
      </p:grpSpPr>
      <p:sp>
        <p:nvSpPr>
          <p:cNvPr id="377" name="Google Shape;377;p28: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panose="020B0604020202020204"/>
              <a:buNone/>
            </a:pPr>
            <a:fld id="{00000000-1234-1234-1234-123412341234}" type="slidenum">
              <a:rPr lang="en-US" sz="1800" b="0" i="0" u="none">
                <a:solidFill>
                  <a:srgbClr val="000000"/>
                </a:solidFill>
                <a:latin typeface="Arial" panose="020B0604020202020204"/>
                <a:ea typeface="Arial" panose="020B0604020202020204"/>
                <a:cs typeface="Arial" panose="020B0604020202020204"/>
                <a:sym typeface="Arial" panose="020B0604020202020204"/>
              </a:rPr>
            </a:fld>
            <a:endParaRPr lang="en-US"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8" name="Google Shape;378;p2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79" name="Google Shape;379;p28: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0" name="Shape 430"/>
        <p:cNvGrpSpPr/>
        <p:nvPr/>
      </p:nvGrpSpPr>
      <p:grpSpPr>
        <a:xfrm>
          <a:off x="0" y="0"/>
          <a:ext cx="0" cy="0"/>
          <a:chOff x="0" y="0"/>
          <a:chExt cx="0" cy="0"/>
        </a:xfrm>
      </p:grpSpPr>
      <p:sp>
        <p:nvSpPr>
          <p:cNvPr id="431" name="Google Shape;431;p3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32" name="Google Shape;432;p3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6" name="Shape 436"/>
        <p:cNvGrpSpPr/>
        <p:nvPr/>
      </p:nvGrpSpPr>
      <p:grpSpPr>
        <a:xfrm>
          <a:off x="0" y="0"/>
          <a:ext cx="0" cy="0"/>
          <a:chOff x="0" y="0"/>
          <a:chExt cx="0" cy="0"/>
        </a:xfrm>
      </p:grpSpPr>
      <p:sp>
        <p:nvSpPr>
          <p:cNvPr id="437" name="Google Shape;437;p3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38" name="Google Shape;438;p3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panose="020B0604020202020204"/>
              <a:buNone/>
            </a:pPr>
            <a:fld id="{00000000-1234-1234-1234-123412341234}" type="slidenum">
              <a:rPr lang="en-US" sz="1800" b="0" i="0" u="none">
                <a:solidFill>
                  <a:srgbClr val="000000"/>
                </a:solidFill>
                <a:latin typeface="Arial" panose="020B0604020202020204"/>
                <a:ea typeface="Arial" panose="020B0604020202020204"/>
                <a:cs typeface="Arial" panose="020B0604020202020204"/>
                <a:sym typeface="Arial" panose="020B0604020202020204"/>
              </a:rPr>
            </a:fld>
            <a:endParaRPr lang="en-US"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9" name="Google Shape;439;p3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5" name="Shape 385"/>
        <p:cNvGrpSpPr/>
        <p:nvPr/>
      </p:nvGrpSpPr>
      <p:grpSpPr>
        <a:xfrm>
          <a:off x="0" y="0"/>
          <a:ext cx="0" cy="0"/>
          <a:chOff x="0" y="0"/>
          <a:chExt cx="0" cy="0"/>
        </a:xfrm>
      </p:grpSpPr>
      <p:sp>
        <p:nvSpPr>
          <p:cNvPr id="386" name="Google Shape;386;p2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7" name="Google Shape;387;p2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3" name="Shape 393"/>
        <p:cNvGrpSpPr/>
        <p:nvPr/>
      </p:nvGrpSpPr>
      <p:grpSpPr>
        <a:xfrm>
          <a:off x="0" y="0"/>
          <a:ext cx="0" cy="0"/>
          <a:chOff x="0" y="0"/>
          <a:chExt cx="0" cy="0"/>
        </a:xfrm>
      </p:grpSpPr>
      <p:sp>
        <p:nvSpPr>
          <p:cNvPr id="394" name="Google Shape;394;p3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95" name="Google Shape;395;p30: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panose="020B0604020202020204"/>
              <a:buNone/>
            </a:pPr>
            <a:fld id="{00000000-1234-1234-1234-123412341234}" type="slidenum">
              <a:rPr lang="en-US" sz="1800" b="0" i="0" u="none">
                <a:solidFill>
                  <a:srgbClr val="000000"/>
                </a:solidFill>
                <a:latin typeface="Arial" panose="020B0604020202020204"/>
                <a:ea typeface="Arial" panose="020B0604020202020204"/>
                <a:cs typeface="Arial" panose="020B0604020202020204"/>
                <a:sym typeface="Arial" panose="020B0604020202020204"/>
              </a:rPr>
            </a:fld>
            <a:endParaRPr lang="en-US"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6" name="Google Shape;396;p3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8" name="Shape 408"/>
        <p:cNvGrpSpPr/>
        <p:nvPr/>
      </p:nvGrpSpPr>
      <p:grpSpPr>
        <a:xfrm>
          <a:off x="0" y="0"/>
          <a:ext cx="0" cy="0"/>
          <a:chOff x="0" y="0"/>
          <a:chExt cx="0" cy="0"/>
        </a:xfrm>
      </p:grpSpPr>
      <p:sp>
        <p:nvSpPr>
          <p:cNvPr id="409" name="Google Shape;409;p3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10" name="Google Shape;410;p3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panose="020B0604020202020204"/>
              <a:buNone/>
            </a:pPr>
            <a:fld id="{00000000-1234-1234-1234-123412341234}" type="slidenum">
              <a:rPr lang="en-US" sz="1800" b="0" i="0" u="none">
                <a:solidFill>
                  <a:srgbClr val="000000"/>
                </a:solidFill>
                <a:latin typeface="Arial" panose="020B0604020202020204"/>
                <a:ea typeface="Arial" panose="020B0604020202020204"/>
                <a:cs typeface="Arial" panose="020B0604020202020204"/>
                <a:sym typeface="Arial" panose="020B0604020202020204"/>
              </a:rPr>
            </a:fld>
            <a:endParaRPr lang="en-US"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1" name="Google Shape;411;p3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mm</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4" name="Shape 424"/>
        <p:cNvGrpSpPr/>
        <p:nvPr/>
      </p:nvGrpSpPr>
      <p:grpSpPr>
        <a:xfrm>
          <a:off x="0" y="0"/>
          <a:ext cx="0" cy="0"/>
          <a:chOff x="0" y="0"/>
          <a:chExt cx="0" cy="0"/>
        </a:xfrm>
      </p:grpSpPr>
      <p:sp>
        <p:nvSpPr>
          <p:cNvPr id="425" name="Google Shape;425;p3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26" name="Google Shape;426;p3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matchingName="Title, Clip Art and Text">
  <p:cSld name="CLIPART_AND_TEXT">
    <p:spTree>
      <p:nvGrpSpPr>
        <p:cNvPr id="88" name="Shape 88"/>
        <p:cNvGrpSpPr/>
        <p:nvPr/>
      </p:nvGrpSpPr>
      <p:grpSpPr>
        <a:xfrm>
          <a:off x="0" y="0"/>
          <a:ext cx="0" cy="0"/>
          <a:chOff x="0" y="0"/>
          <a:chExt cx="0" cy="0"/>
        </a:xfrm>
      </p:grpSpPr>
      <p:sp>
        <p:nvSpPr>
          <p:cNvPr id="89" name="Google Shape;89;p40"/>
          <p:cNvSpPr txBox="1"/>
          <p:nvPr>
            <p:ph type="title"/>
          </p:nvPr>
        </p:nvSpPr>
        <p:spPr>
          <a:xfrm>
            <a:off x="309033" y="38100"/>
            <a:ext cx="11523133" cy="13557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40"/>
          <p:cNvSpPr/>
          <p:nvPr>
            <p:ph type="clipArt" idx="2"/>
          </p:nvPr>
        </p:nvSpPr>
        <p:spPr>
          <a:xfrm>
            <a:off x="359833" y="1393825"/>
            <a:ext cx="5607051" cy="49149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1" name="Google Shape;91;p40"/>
          <p:cNvSpPr txBox="1"/>
          <p:nvPr>
            <p:ph type="body" idx="1"/>
          </p:nvPr>
        </p:nvSpPr>
        <p:spPr>
          <a:xfrm>
            <a:off x="6170084" y="1393825"/>
            <a:ext cx="5609167" cy="49149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92" name="Google Shape;92;p40"/>
          <p:cNvSpPr txBox="1"/>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r>
              <a:rPr lang="en-US"/>
              <a:t>7-</a:t>
            </a: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24000" y="146368"/>
            <a:ext cx="9144000" cy="2387600"/>
          </a:xfrm>
        </p:spPr>
        <p:txBody>
          <a:bodyPr/>
          <a:p>
            <a:r>
              <a:rPr lang="en-GB" altLang="en-US"/>
              <a:t>Week-4</a:t>
            </a:r>
            <a:br>
              <a:rPr lang="en-GB" altLang="en-US"/>
            </a:br>
            <a:r>
              <a:rPr lang="en-GB" altLang="en-US"/>
              <a:t>Session-2</a:t>
            </a:r>
            <a:endParaRPr lang="en-GB" altLang="en-US"/>
          </a:p>
        </p:txBody>
      </p:sp>
      <p:sp>
        <p:nvSpPr>
          <p:cNvPr id="3" name="Subtitle 2"/>
          <p:cNvSpPr>
            <a:spLocks noGrp="1"/>
          </p:cNvSpPr>
          <p:nvPr>
            <p:ph type="subTitle" idx="1"/>
          </p:nvPr>
        </p:nvSpPr>
        <p:spPr>
          <a:xfrm>
            <a:off x="1610360" y="2353945"/>
            <a:ext cx="9387840" cy="3491865"/>
          </a:xfrm>
        </p:spPr>
        <p:txBody>
          <a:bodyPr>
            <a:normAutofit fontScale="35000"/>
          </a:bodyPr>
          <a:p>
            <a:r>
              <a:rPr lang="en-US" sz="7200"/>
              <a:t>●Management and Leadership</a:t>
            </a:r>
            <a:endParaRPr lang="en-US" sz="7200"/>
          </a:p>
          <a:p>
            <a:r>
              <a:rPr lang="en-US" sz="7200"/>
              <a:t>-Management and Leadership</a:t>
            </a:r>
            <a:endParaRPr lang="en-US" sz="7200"/>
          </a:p>
          <a:p>
            <a:r>
              <a:rPr lang="en-US" sz="7200"/>
              <a:t>-	Levels of Management</a:t>
            </a:r>
            <a:endParaRPr lang="en-US" sz="7200"/>
          </a:p>
          <a:p>
            <a:r>
              <a:rPr lang="en-US" sz="7200"/>
              <a:t>-SWOT analysis</a:t>
            </a:r>
            <a:endParaRPr lang="en-US" sz="7200"/>
          </a:p>
          <a:p>
            <a:r>
              <a:rPr lang="en-US" sz="7200"/>
              <a:t>-Porter’s generic strategies</a:t>
            </a:r>
            <a:endParaRPr lang="en-US" sz="7200"/>
          </a:p>
          <a:p>
            <a:r>
              <a:rPr lang="en-US" sz="7200"/>
              <a:t>-Managerial skills</a:t>
            </a:r>
            <a:endParaRPr lang="en-US" sz="7200"/>
          </a:p>
          <a:p>
            <a:r>
              <a:rPr lang="en-US" sz="7200"/>
              <a:t>-Staffing, leadership, transparency etc.</a:t>
            </a:r>
            <a:endParaRPr lang="en-US" sz="7200"/>
          </a:p>
          <a:p>
            <a:endParaRPr lang="en-US" sz="7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03" name="Shape 303"/>
        <p:cNvGrpSpPr/>
        <p:nvPr/>
      </p:nvGrpSpPr>
      <p:grpSpPr>
        <a:xfrm>
          <a:off x="0" y="0"/>
          <a:ext cx="0" cy="0"/>
          <a:chOff x="0" y="0"/>
          <a:chExt cx="0" cy="0"/>
        </a:xfrm>
      </p:grpSpPr>
      <p:sp>
        <p:nvSpPr>
          <p:cNvPr id="304" name="Google Shape;304;p18"/>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305" name="Google Shape;305;p18"/>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306" name="Google Shape;306;p18"/>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307" name="Google Shape;307;p18"/>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308" name="Google Shape;308;p18"/>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309" name="Google Shape;309;p18"/>
          <p:cNvSpPr txBox="1"/>
          <p:nvPr/>
        </p:nvSpPr>
        <p:spPr>
          <a:xfrm>
            <a:off x="8839200" y="457200"/>
            <a:ext cx="1828800" cy="8743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Organizing: Creating a Unified System</a:t>
            </a:r>
            <a:endParaRPr lang="en-US" sz="17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10" name="Google Shape;310;p18"/>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LG4</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11" name="Google Shape;311;p18"/>
          <p:cNvSpPr txBox="1"/>
          <p:nvPr>
            <p:ph type="ctrTitle"/>
          </p:nvPr>
        </p:nvSpPr>
        <p:spPr>
          <a:xfrm>
            <a:off x="1905000" y="76200"/>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Helvetica Neue" panose="020B0604020202020204"/>
              <a:buNone/>
            </a:pP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LEVELS of MANAGEMENT</a:t>
            </a:r>
            <a:endPar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312" name="Google Shape;312;p18" descr="F705.psd"/>
          <p:cNvPicPr preferRelativeResize="0"/>
          <p:nvPr/>
        </p:nvPicPr>
        <p:blipFill rotWithShape="1">
          <a:blip r:embed="rId1"/>
          <a:srcRect/>
          <a:stretch>
            <a:fillRect/>
          </a:stretch>
        </p:blipFill>
        <p:spPr>
          <a:xfrm>
            <a:off x="3321050" y="1703387"/>
            <a:ext cx="5213350" cy="4164012"/>
          </a:xfrm>
          <a:prstGeom prst="rect">
            <a:avLst/>
          </a:prstGeom>
          <a:noFill/>
          <a:ln>
            <a:noFill/>
          </a:ln>
        </p:spPr>
      </p:pic>
      <p:sp>
        <p:nvSpPr>
          <p:cNvPr id="313" name="Google Shape;313;p18"/>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17" name="Shape 317"/>
        <p:cNvGrpSpPr/>
        <p:nvPr/>
      </p:nvGrpSpPr>
      <p:grpSpPr>
        <a:xfrm>
          <a:off x="0" y="0"/>
          <a:ext cx="0" cy="0"/>
          <a:chOff x="0" y="0"/>
          <a:chExt cx="0" cy="0"/>
        </a:xfrm>
      </p:grpSpPr>
      <p:sp>
        <p:nvSpPr>
          <p:cNvPr id="318" name="Google Shape;318;p19"/>
          <p:cNvSpPr txBox="1"/>
          <p:nvPr>
            <p:ph type="title"/>
          </p:nvPr>
        </p:nvSpPr>
        <p:spPr>
          <a:xfrm>
            <a:off x="1981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b="0" i="0" u="none">
                <a:solidFill>
                  <a:schemeClr val="dk1"/>
                </a:solidFill>
                <a:latin typeface="Calibri" panose="020F0502020204030204"/>
                <a:ea typeface="Calibri" panose="020F0502020204030204"/>
                <a:cs typeface="Calibri" panose="020F0502020204030204"/>
                <a:sym typeface="Calibri" panose="020F0502020204030204"/>
              </a:rPr>
              <a:t>Formulating Business-Level Strategies</a:t>
            </a:r>
            <a:endParaRPr lang="en-US" sz="4400" b="0" i="0" u="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9" name="Google Shape;319;p19"/>
          <p:cNvSpPr txBox="1"/>
          <p:nvPr>
            <p:ph type="body" idx="1"/>
          </p:nvPr>
        </p:nvSpPr>
        <p:spPr>
          <a:xfrm>
            <a:off x="1981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panose="020B0604020202020204"/>
              <a:buChar char="•"/>
            </a:pPr>
            <a:r>
              <a:rPr lang="en-US" sz="3200" b="0" i="0" u="none">
                <a:solidFill>
                  <a:schemeClr val="dk1"/>
                </a:solidFill>
                <a:latin typeface="Calibri" panose="020F0502020204030204"/>
                <a:ea typeface="Calibri" panose="020F0502020204030204"/>
                <a:cs typeface="Calibri" panose="020F0502020204030204"/>
                <a:sym typeface="Calibri" panose="020F0502020204030204"/>
              </a:rPr>
              <a:t>A number of frameworks have been developed for identifying the major strategic alternatives that organizations should consider when choosing their business-level strategies. Three important classification schemes are Porter’s generic strategies, the Miles and Snow typology, and strategies based on the product life cycle.</a:t>
            </a:r>
            <a:endParaRPr lang="en-US" sz="3200" b="0" i="0" u="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20" name="Google Shape;320;p19"/>
          <p:cNvPicPr preferRelativeResize="0"/>
          <p:nvPr/>
        </p:nvPicPr>
        <p:blipFill rotWithShape="1">
          <a:blip r:embed="rId1"/>
          <a:srcRect/>
          <a:stretch>
            <a:fillRect/>
          </a:stretch>
        </p:blipFill>
        <p:spPr>
          <a:xfrm>
            <a:off x="9906000" y="6096000"/>
            <a:ext cx="609600" cy="609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24" name="Shape 324"/>
        <p:cNvGrpSpPr/>
        <p:nvPr/>
      </p:nvGrpSpPr>
      <p:grpSpPr>
        <a:xfrm>
          <a:off x="0" y="0"/>
          <a:ext cx="0" cy="0"/>
          <a:chOff x="0" y="0"/>
          <a:chExt cx="0" cy="0"/>
        </a:xfrm>
      </p:grpSpPr>
      <p:sp>
        <p:nvSpPr>
          <p:cNvPr id="325" name="Google Shape;325;p20"/>
          <p:cNvSpPr txBox="1"/>
          <p:nvPr>
            <p:ph type="title"/>
          </p:nvPr>
        </p:nvSpPr>
        <p:spPr>
          <a:xfrm>
            <a:off x="1981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b="0" i="0" u="none">
                <a:solidFill>
                  <a:schemeClr val="dk1"/>
                </a:solidFill>
                <a:latin typeface="Calibri" panose="020F0502020204030204"/>
                <a:ea typeface="Calibri" panose="020F0502020204030204"/>
                <a:cs typeface="Calibri" panose="020F0502020204030204"/>
                <a:sym typeface="Calibri" panose="020F0502020204030204"/>
              </a:rPr>
              <a:t>Porter’s Generic Strategies</a:t>
            </a:r>
            <a:endParaRPr lang="en-US" sz="4400" b="0" i="0" u="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26" name="Google Shape;326;p20" descr="Porter&amp;#39;s Generic Strategies: Competitive Advantage | Hsint Sanda| 31 Aug  2018 | by Hsint Sanda | LinkedIn"/>
          <p:cNvPicPr preferRelativeResize="0"/>
          <p:nvPr>
            <p:ph type="body" idx="1"/>
          </p:nvPr>
        </p:nvPicPr>
        <p:blipFill rotWithShape="1">
          <a:blip r:embed="rId1"/>
          <a:srcRect/>
          <a:stretch>
            <a:fillRect/>
          </a:stretch>
        </p:blipFill>
        <p:spPr>
          <a:xfrm>
            <a:off x="3735387" y="1600200"/>
            <a:ext cx="4721225" cy="4525962"/>
          </a:xfrm>
          <a:prstGeom prst="rect">
            <a:avLst/>
          </a:prstGeom>
          <a:noFill/>
          <a:ln>
            <a:noFill/>
          </a:ln>
        </p:spPr>
      </p:pic>
      <p:pic>
        <p:nvPicPr>
          <p:cNvPr id="327" name="Google Shape;327;p20"/>
          <p:cNvPicPr preferRelativeResize="0"/>
          <p:nvPr/>
        </p:nvPicPr>
        <p:blipFill rotWithShape="1">
          <a:blip r:embed="rId2"/>
          <a:srcRect/>
          <a:stretch>
            <a:fillRect/>
          </a:stretch>
        </p:blipFill>
        <p:spPr>
          <a:xfrm>
            <a:off x="9906000" y="6096000"/>
            <a:ext cx="609600" cy="609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31" name="Shape 331"/>
        <p:cNvGrpSpPr/>
        <p:nvPr/>
      </p:nvGrpSpPr>
      <p:grpSpPr>
        <a:xfrm>
          <a:off x="0" y="0"/>
          <a:ext cx="0" cy="0"/>
          <a:chOff x="0" y="0"/>
          <a:chExt cx="0" cy="0"/>
        </a:xfrm>
      </p:grpSpPr>
      <p:sp>
        <p:nvSpPr>
          <p:cNvPr id="332" name="Google Shape;332;p21"/>
          <p:cNvSpPr txBox="1"/>
          <p:nvPr>
            <p:ph type="title"/>
          </p:nvPr>
        </p:nvSpPr>
        <p:spPr>
          <a:xfrm>
            <a:off x="1981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b="0" i="0" u="none">
                <a:solidFill>
                  <a:schemeClr val="dk1"/>
                </a:solidFill>
                <a:latin typeface="Calibri" panose="020F0502020204030204"/>
                <a:ea typeface="Calibri" panose="020F0502020204030204"/>
                <a:cs typeface="Calibri" panose="020F0502020204030204"/>
                <a:sym typeface="Calibri" panose="020F0502020204030204"/>
              </a:rPr>
              <a:t>Porter’s Generic Strategies</a:t>
            </a:r>
            <a:endParaRPr lang="en-US" sz="4400" b="0" i="0" u="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33" name="Google Shape;333;p21" descr="Management: Principles and Practices - ppt video online download"/>
          <p:cNvPicPr preferRelativeResize="0"/>
          <p:nvPr>
            <p:ph type="body" idx="1"/>
          </p:nvPr>
        </p:nvPicPr>
        <p:blipFill rotWithShape="1">
          <a:blip r:embed="rId1"/>
          <a:srcRect/>
          <a:stretch>
            <a:fillRect/>
          </a:stretch>
        </p:blipFill>
        <p:spPr>
          <a:xfrm>
            <a:off x="2590800" y="1219200"/>
            <a:ext cx="7315200" cy="5486400"/>
          </a:xfrm>
          <a:prstGeom prst="rect">
            <a:avLst/>
          </a:prstGeom>
          <a:noFill/>
          <a:ln>
            <a:noFill/>
          </a:ln>
        </p:spPr>
      </p:pic>
      <p:pic>
        <p:nvPicPr>
          <p:cNvPr id="334" name="Google Shape;334;p21"/>
          <p:cNvPicPr preferRelativeResize="0"/>
          <p:nvPr/>
        </p:nvPicPr>
        <p:blipFill rotWithShape="1">
          <a:blip r:embed="rId2"/>
          <a:srcRect/>
          <a:stretch>
            <a:fillRect/>
          </a:stretch>
        </p:blipFill>
        <p:spPr>
          <a:xfrm>
            <a:off x="9906000" y="6096000"/>
            <a:ext cx="609600" cy="609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38" name="Shape 338"/>
        <p:cNvGrpSpPr/>
        <p:nvPr/>
      </p:nvGrpSpPr>
      <p:grpSpPr>
        <a:xfrm>
          <a:off x="0" y="0"/>
          <a:ext cx="0" cy="0"/>
          <a:chOff x="0" y="0"/>
          <a:chExt cx="0" cy="0"/>
        </a:xfrm>
      </p:grpSpPr>
      <p:sp>
        <p:nvSpPr>
          <p:cNvPr id="339" name="Google Shape;339;p22"/>
          <p:cNvSpPr txBox="1"/>
          <p:nvPr>
            <p:ph type="title"/>
          </p:nvPr>
        </p:nvSpPr>
        <p:spPr>
          <a:xfrm>
            <a:off x="1981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b="0" i="0" u="none">
                <a:solidFill>
                  <a:schemeClr val="dk1"/>
                </a:solidFill>
                <a:latin typeface="Calibri" panose="020F0502020204030204"/>
                <a:ea typeface="Calibri" panose="020F0502020204030204"/>
                <a:cs typeface="Calibri" panose="020F0502020204030204"/>
                <a:sym typeface="Calibri" panose="020F0502020204030204"/>
              </a:rPr>
              <a:t>Differentiation strategy</a:t>
            </a:r>
            <a:endParaRPr lang="en-US" sz="4400" b="0" i="0" u="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40" name="Google Shape;340;p22"/>
          <p:cNvSpPr txBox="1"/>
          <p:nvPr>
            <p:ph type="body" idx="1"/>
          </p:nvPr>
        </p:nvSpPr>
        <p:spPr>
          <a:xfrm>
            <a:off x="1981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panose="020B0604020202020204"/>
              <a:buChar char="•"/>
            </a:pPr>
            <a:r>
              <a:rPr lang="en-US" sz="2400" b="0" i="0" u="none">
                <a:solidFill>
                  <a:schemeClr val="dk1"/>
                </a:solidFill>
                <a:latin typeface="Calibri" panose="020F0502020204030204"/>
                <a:ea typeface="Calibri" panose="020F0502020204030204"/>
                <a:cs typeface="Calibri" panose="020F0502020204030204"/>
                <a:sym typeface="Calibri" panose="020F0502020204030204"/>
              </a:rPr>
              <a:t>An organization that pursues a differentiation strategy seeks to distinguish itself from competitors through the quality (broadly defined) of its products or services. Firms that successfully implement a differentiation strategy are able to charge more than competitors because customers are willing to pay more to obtain the extra value they perceive.</a:t>
            </a:r>
            <a:endParaRPr lang="en-US" sz="24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480"/>
              </a:spcBef>
              <a:spcAft>
                <a:spcPts val="0"/>
              </a:spcAft>
              <a:buClr>
                <a:schemeClr val="dk1"/>
              </a:buClr>
              <a:buSzPts val="2400"/>
              <a:buFont typeface="Arial" panose="020B0604020202020204"/>
              <a:buChar char="•"/>
            </a:pPr>
            <a:r>
              <a:rPr lang="en-US" sz="2400" b="0" i="0" u="none">
                <a:solidFill>
                  <a:schemeClr val="dk1"/>
                </a:solidFill>
                <a:latin typeface="Calibri" panose="020F0502020204030204"/>
                <a:ea typeface="Calibri" panose="020F0502020204030204"/>
                <a:cs typeface="Calibri" panose="020F0502020204030204"/>
                <a:sym typeface="Calibri" panose="020F0502020204030204"/>
              </a:rPr>
              <a:t>Rolex pursues a differentiation strategy. </a:t>
            </a:r>
            <a:endParaRPr lang="en-US" sz="24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480"/>
              </a:spcBef>
              <a:spcAft>
                <a:spcPts val="0"/>
              </a:spcAft>
              <a:buClr>
                <a:schemeClr val="dk1"/>
              </a:buClr>
              <a:buSzPts val="2400"/>
              <a:buFont typeface="Arial" panose="020B0604020202020204"/>
              <a:buChar char="•"/>
            </a:pPr>
            <a:r>
              <a:rPr lang="en-US" sz="2400" b="0" i="0" u="none">
                <a:solidFill>
                  <a:schemeClr val="dk1"/>
                </a:solidFill>
                <a:latin typeface="Calibri" panose="020F0502020204030204"/>
                <a:ea typeface="Calibri" panose="020F0502020204030204"/>
                <a:cs typeface="Calibri" panose="020F0502020204030204"/>
                <a:sym typeface="Calibri" panose="020F0502020204030204"/>
              </a:rPr>
              <a:t>Rolex watches are handmade of precious metals like gold or platinum and stainless steel, and they are subjected to strenuous tests of quality and reliability. The firm’s reputation enables it to charge thousands of dollars for its watches</a:t>
            </a:r>
            <a:endParaRPr lang="en-US" sz="2400" b="0" i="0" u="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41" name="Google Shape;341;p22"/>
          <p:cNvPicPr preferRelativeResize="0"/>
          <p:nvPr/>
        </p:nvPicPr>
        <p:blipFill rotWithShape="1">
          <a:blip r:embed="rId1"/>
          <a:srcRect/>
          <a:stretch>
            <a:fillRect/>
          </a:stretch>
        </p:blipFill>
        <p:spPr>
          <a:xfrm>
            <a:off x="9906000" y="6096000"/>
            <a:ext cx="609600" cy="609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45" name="Shape 345"/>
        <p:cNvGrpSpPr/>
        <p:nvPr/>
      </p:nvGrpSpPr>
      <p:grpSpPr>
        <a:xfrm>
          <a:off x="0" y="0"/>
          <a:ext cx="0" cy="0"/>
          <a:chOff x="0" y="0"/>
          <a:chExt cx="0" cy="0"/>
        </a:xfrm>
      </p:grpSpPr>
      <p:sp>
        <p:nvSpPr>
          <p:cNvPr id="346" name="Google Shape;346;p23"/>
          <p:cNvSpPr txBox="1"/>
          <p:nvPr>
            <p:ph type="title"/>
          </p:nvPr>
        </p:nvSpPr>
        <p:spPr>
          <a:xfrm>
            <a:off x="1981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b="0" i="0" u="none">
                <a:solidFill>
                  <a:schemeClr val="dk1"/>
                </a:solidFill>
                <a:latin typeface="Calibri" panose="020F0502020204030204"/>
                <a:ea typeface="Calibri" panose="020F0502020204030204"/>
                <a:cs typeface="Calibri" panose="020F0502020204030204"/>
                <a:sym typeface="Calibri" panose="020F0502020204030204"/>
              </a:rPr>
              <a:t>Overall Cost Leadership Strategy</a:t>
            </a:r>
            <a:endParaRPr lang="en-US" sz="4400" b="0" i="0" u="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47" name="Google Shape;347;p23"/>
          <p:cNvSpPr txBox="1"/>
          <p:nvPr>
            <p:ph type="body" idx="1"/>
          </p:nvPr>
        </p:nvSpPr>
        <p:spPr>
          <a:xfrm>
            <a:off x="1981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panose="020B0604020202020204"/>
              <a:buChar char="•"/>
            </a:pPr>
            <a:r>
              <a:rPr lang="en-US" sz="2400" b="0" i="0" u="none">
                <a:solidFill>
                  <a:schemeClr val="dk1"/>
                </a:solidFill>
                <a:latin typeface="Calibri" panose="020F0502020204030204"/>
                <a:ea typeface="Calibri" panose="020F0502020204030204"/>
                <a:cs typeface="Calibri" panose="020F0502020204030204"/>
                <a:sym typeface="Calibri" panose="020F0502020204030204"/>
              </a:rPr>
              <a:t>Attempts to gain a competitive advantage by reducing its costs below the costs of competing firms. By keeping costs low, the organization is able to sell its products at low prices and still make a profit. </a:t>
            </a:r>
            <a:endParaRPr lang="en-US" sz="24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190500" algn="l" rtl="0">
              <a:lnSpc>
                <a:spcPct val="100000"/>
              </a:lnSpc>
              <a:spcBef>
                <a:spcPts val="480"/>
              </a:spcBef>
              <a:spcAft>
                <a:spcPts val="0"/>
              </a:spcAft>
              <a:buClr>
                <a:schemeClr val="dk1"/>
              </a:buClr>
              <a:buSzPts val="2400"/>
              <a:buFont typeface="Arial" panose="020B0604020202020204"/>
              <a:buNone/>
            </a:pPr>
            <a:endParaRPr sz="24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480"/>
              </a:spcBef>
              <a:spcAft>
                <a:spcPts val="0"/>
              </a:spcAft>
              <a:buClr>
                <a:schemeClr val="dk1"/>
              </a:buClr>
              <a:buSzPts val="2400"/>
              <a:buFont typeface="Arial" panose="020B0604020202020204"/>
              <a:buChar char="•"/>
            </a:pPr>
            <a:r>
              <a:rPr lang="en-US" sz="2400" b="0" i="0" u="none">
                <a:solidFill>
                  <a:schemeClr val="dk1"/>
                </a:solidFill>
                <a:latin typeface="Calibri" panose="020F0502020204030204"/>
                <a:ea typeface="Calibri" panose="020F0502020204030204"/>
                <a:cs typeface="Calibri" panose="020F0502020204030204"/>
                <a:sym typeface="Calibri" panose="020F0502020204030204"/>
              </a:rPr>
              <a:t>Timex uses an overall cost leadership strategy. For decades,. The price of Timex watches, starting around $39.95, is low because of the company’s efficient high volume manufacturing capacity</a:t>
            </a:r>
            <a:endParaRPr lang="en-US" sz="2400" b="0" i="0" u="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48" name="Google Shape;348;p23"/>
          <p:cNvPicPr preferRelativeResize="0"/>
          <p:nvPr/>
        </p:nvPicPr>
        <p:blipFill rotWithShape="1">
          <a:blip r:embed="rId1"/>
          <a:srcRect/>
          <a:stretch>
            <a:fillRect/>
          </a:stretch>
        </p:blipFill>
        <p:spPr>
          <a:xfrm>
            <a:off x="9906000" y="6096000"/>
            <a:ext cx="609600" cy="609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52" name="Shape 352"/>
        <p:cNvGrpSpPr/>
        <p:nvPr/>
      </p:nvGrpSpPr>
      <p:grpSpPr>
        <a:xfrm>
          <a:off x="0" y="0"/>
          <a:ext cx="0" cy="0"/>
          <a:chOff x="0" y="0"/>
          <a:chExt cx="0" cy="0"/>
        </a:xfrm>
      </p:grpSpPr>
      <p:sp>
        <p:nvSpPr>
          <p:cNvPr id="353" name="Google Shape;353;p24"/>
          <p:cNvSpPr txBox="1"/>
          <p:nvPr>
            <p:ph type="title"/>
          </p:nvPr>
        </p:nvSpPr>
        <p:spPr>
          <a:xfrm>
            <a:off x="1981200" y="274637"/>
            <a:ext cx="8229600" cy="7921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b="0" i="0" u="none">
                <a:solidFill>
                  <a:schemeClr val="dk1"/>
                </a:solidFill>
                <a:latin typeface="Calibri" panose="020F0502020204030204"/>
                <a:ea typeface="Calibri" panose="020F0502020204030204"/>
                <a:cs typeface="Calibri" panose="020F0502020204030204"/>
                <a:sym typeface="Calibri" panose="020F0502020204030204"/>
              </a:rPr>
              <a:t>A Focus Strategy</a:t>
            </a:r>
            <a:endParaRPr lang="en-US" sz="4400" b="0" i="0" u="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54" name="Google Shape;354;p24"/>
          <p:cNvSpPr txBox="1"/>
          <p:nvPr>
            <p:ph type="body" idx="1"/>
          </p:nvPr>
        </p:nvSpPr>
        <p:spPr>
          <a:xfrm>
            <a:off x="1981200" y="914400"/>
            <a:ext cx="8229600" cy="52117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panose="020B0604020202020204"/>
              <a:buChar char="•"/>
            </a:pPr>
            <a:r>
              <a:rPr lang="en-US" sz="1800" b="0" i="0" u="none">
                <a:solidFill>
                  <a:schemeClr val="dk1"/>
                </a:solidFill>
                <a:latin typeface="Calibri" panose="020F0502020204030204"/>
                <a:ea typeface="Calibri" panose="020F0502020204030204"/>
                <a:cs typeface="Calibri" panose="020F0502020204030204"/>
                <a:sym typeface="Calibri" panose="020F0502020204030204"/>
              </a:rPr>
              <a:t>concentrates on a specific regional market, product line, or group of buyers. This strategy may have either a differentiation focus, whereby the firm differentiates its products in the focus market, or an overall cost leadership focus, whereby the firm manufactures and sells its products at low cost in the focus market. </a:t>
            </a:r>
            <a:endParaRPr lang="en-US" sz="18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360"/>
              </a:spcBef>
              <a:spcAft>
                <a:spcPts val="0"/>
              </a:spcAft>
              <a:buClr>
                <a:schemeClr val="dk1"/>
              </a:buClr>
              <a:buSzPts val="1800"/>
              <a:buFont typeface="Arial" panose="020B0604020202020204"/>
              <a:buChar char="•"/>
            </a:pPr>
            <a:r>
              <a:rPr lang="en-US" sz="1800" b="0" i="0" u="none">
                <a:solidFill>
                  <a:schemeClr val="dk1"/>
                </a:solidFill>
                <a:latin typeface="Calibri" panose="020F0502020204030204"/>
                <a:ea typeface="Calibri" panose="020F0502020204030204"/>
                <a:cs typeface="Calibri" panose="020F0502020204030204"/>
                <a:sym typeface="Calibri" panose="020F0502020204030204"/>
              </a:rPr>
              <a:t>In the watch industry, Tag Heuer follows a focus differentiation strategy by selling only rugged waterproof watches to active consumers. </a:t>
            </a:r>
            <a:endParaRPr lang="en-US" sz="18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360"/>
              </a:spcBef>
              <a:spcAft>
                <a:spcPts val="0"/>
              </a:spcAft>
              <a:buClr>
                <a:schemeClr val="dk1"/>
              </a:buClr>
              <a:buSzPts val="1800"/>
              <a:buFont typeface="Arial" panose="020B0604020202020204"/>
              <a:buChar char="•"/>
            </a:pPr>
            <a:r>
              <a:rPr lang="en-US" sz="1800" b="0" i="0" u="none">
                <a:solidFill>
                  <a:schemeClr val="dk1"/>
                </a:solidFill>
                <a:latin typeface="Calibri" panose="020F0502020204030204"/>
                <a:ea typeface="Calibri" panose="020F0502020204030204"/>
                <a:cs typeface="Calibri" panose="020F0502020204030204"/>
                <a:sym typeface="Calibri" panose="020F0502020204030204"/>
              </a:rPr>
              <a:t>Fiat follows a focus cost leadership strategy by selling its automobiles only in Italy and in selected regions of Europe; </a:t>
            </a:r>
            <a:endParaRPr lang="en-US" sz="18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360"/>
              </a:spcBef>
              <a:spcAft>
                <a:spcPts val="0"/>
              </a:spcAft>
              <a:buClr>
                <a:schemeClr val="dk1"/>
              </a:buClr>
              <a:buSzPts val="1800"/>
              <a:buFont typeface="Arial" panose="020B0604020202020204"/>
              <a:buChar char="•"/>
            </a:pPr>
            <a:r>
              <a:rPr lang="en-US" sz="1800" b="0" i="0" u="none">
                <a:solidFill>
                  <a:schemeClr val="dk1"/>
                </a:solidFill>
                <a:latin typeface="Calibri" panose="020F0502020204030204"/>
                <a:ea typeface="Calibri" panose="020F0502020204030204"/>
                <a:cs typeface="Calibri" panose="020F0502020204030204"/>
                <a:sym typeface="Calibri" panose="020F0502020204030204"/>
              </a:rPr>
              <a:t>Alfa Romeo uses focus differentiation to sell its high-performance cars in these same markets. </a:t>
            </a:r>
            <a:endParaRPr lang="en-US" sz="18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360"/>
              </a:spcBef>
              <a:spcAft>
                <a:spcPts val="0"/>
              </a:spcAft>
              <a:buClr>
                <a:schemeClr val="dk1"/>
              </a:buClr>
              <a:buSzPts val="1800"/>
              <a:buFont typeface="Arial" panose="020B0604020202020204"/>
              <a:buChar char="•"/>
            </a:pPr>
            <a:r>
              <a:rPr lang="en-US" sz="1800" b="0" i="0" u="none">
                <a:solidFill>
                  <a:schemeClr val="dk1"/>
                </a:solidFill>
                <a:latin typeface="Calibri" panose="020F0502020204030204"/>
                <a:ea typeface="Calibri" panose="020F0502020204030204"/>
                <a:cs typeface="Calibri" panose="020F0502020204030204"/>
                <a:sym typeface="Calibri" panose="020F0502020204030204"/>
              </a:rPr>
              <a:t>Hasselblad makes expensive cameras targeted at professional photographers. </a:t>
            </a:r>
            <a:endParaRPr lang="en-US" sz="18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360"/>
              </a:spcBef>
              <a:spcAft>
                <a:spcPts val="0"/>
              </a:spcAft>
              <a:buClr>
                <a:schemeClr val="dk1"/>
              </a:buClr>
              <a:buSzPts val="1800"/>
              <a:buFont typeface="Arial" panose="020B0604020202020204"/>
              <a:buChar char="•"/>
            </a:pPr>
            <a:r>
              <a:rPr lang="en-US" sz="1800" b="0" i="0" u="none">
                <a:solidFill>
                  <a:schemeClr val="dk1"/>
                </a:solidFill>
                <a:latin typeface="Calibri" panose="020F0502020204030204"/>
                <a:ea typeface="Calibri" panose="020F0502020204030204"/>
                <a:cs typeface="Calibri" panose="020F0502020204030204"/>
                <a:sym typeface="Calibri" panose="020F0502020204030204"/>
              </a:rPr>
              <a:t>Fisher-Price uses focus differentiation to sell electronic calculators with large, brightly colored buttons to the parents of preschoolers; </a:t>
            </a:r>
            <a:endParaRPr lang="en-US" sz="18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360"/>
              </a:spcBef>
              <a:spcAft>
                <a:spcPts val="0"/>
              </a:spcAft>
              <a:buClr>
                <a:schemeClr val="dk1"/>
              </a:buClr>
              <a:buSzPts val="1800"/>
              <a:buFont typeface="Arial" panose="020B0604020202020204"/>
              <a:buChar char="•"/>
            </a:pPr>
            <a:r>
              <a:rPr lang="en-US" sz="1800" b="0" i="0" u="none">
                <a:solidFill>
                  <a:schemeClr val="dk1"/>
                </a:solidFill>
                <a:latin typeface="Calibri" panose="020F0502020204030204"/>
                <a:ea typeface="Calibri" panose="020F0502020204030204"/>
                <a:cs typeface="Calibri" panose="020F0502020204030204"/>
                <a:sym typeface="Calibri" panose="020F0502020204030204"/>
              </a:rPr>
              <a:t>stockbroker Edward Jones focuses on small-town settings. </a:t>
            </a:r>
            <a:endParaRPr lang="en-US" sz="18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360"/>
              </a:spcBef>
              <a:spcAft>
                <a:spcPts val="0"/>
              </a:spcAft>
              <a:buClr>
                <a:schemeClr val="dk1"/>
              </a:buClr>
              <a:buSzPts val="1800"/>
              <a:buFont typeface="Arial" panose="020B0604020202020204"/>
              <a:buChar char="•"/>
            </a:pPr>
            <a:r>
              <a:rPr lang="en-US" sz="1800" b="0" i="0" u="none">
                <a:solidFill>
                  <a:schemeClr val="dk1"/>
                </a:solidFill>
                <a:latin typeface="Calibri" panose="020F0502020204030204"/>
                <a:ea typeface="Calibri" panose="020F0502020204030204"/>
                <a:cs typeface="Calibri" panose="020F0502020204030204"/>
                <a:sym typeface="Calibri" panose="020F0502020204030204"/>
              </a:rPr>
              <a:t>General Mills focuses one part of its new-product development on consumers who eat meals while driving—their watchword is “Can we make it ‘one-handed’?” so that drivers can safely eat or drink it.</a:t>
            </a:r>
            <a:endParaRPr lang="en-US" sz="1800" b="0" i="0" u="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55" name="Google Shape;355;p24"/>
          <p:cNvPicPr preferRelativeResize="0"/>
          <p:nvPr/>
        </p:nvPicPr>
        <p:blipFill rotWithShape="1">
          <a:blip r:embed="rId1"/>
          <a:srcRect/>
          <a:stretch>
            <a:fillRect/>
          </a:stretch>
        </p:blipFill>
        <p:spPr>
          <a:xfrm>
            <a:off x="9906000" y="6096000"/>
            <a:ext cx="609600" cy="609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59" name="Shape 359"/>
        <p:cNvGrpSpPr/>
        <p:nvPr/>
      </p:nvGrpSpPr>
      <p:grpSpPr>
        <a:xfrm>
          <a:off x="0" y="0"/>
          <a:ext cx="0" cy="0"/>
          <a:chOff x="0" y="0"/>
          <a:chExt cx="0" cy="0"/>
        </a:xfrm>
      </p:grpSpPr>
      <p:sp>
        <p:nvSpPr>
          <p:cNvPr id="360" name="Google Shape;360;p25"/>
          <p:cNvSpPr txBox="1"/>
          <p:nvPr>
            <p:ph type="title"/>
          </p:nvPr>
        </p:nvSpPr>
        <p:spPr>
          <a:xfrm>
            <a:off x="1981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FFFFFF"/>
              </a:buClr>
              <a:buSzPts val="4400"/>
              <a:buFont typeface="Roboto" panose="02000000000000000000"/>
              <a:buNone/>
            </a:pPr>
            <a:r>
              <a:rPr lang="en-US" sz="4400" b="0" i="0" u="none">
                <a:solidFill>
                  <a:srgbClr val="FFFFFF"/>
                </a:solidFill>
                <a:latin typeface="Roboto" panose="02000000000000000000"/>
                <a:ea typeface="Roboto" panose="02000000000000000000"/>
                <a:cs typeface="Roboto" panose="02000000000000000000"/>
                <a:sym typeface="Roboto" panose="02000000000000000000"/>
              </a:rPr>
              <a:t> </a:t>
            </a:r>
            <a:r>
              <a:rPr lang="en-US" sz="4400" b="0" i="0" u="none">
                <a:solidFill>
                  <a:srgbClr val="FF0000"/>
                </a:solidFill>
                <a:latin typeface="Roboto" panose="02000000000000000000"/>
                <a:ea typeface="Roboto" panose="02000000000000000000"/>
                <a:cs typeface="Roboto" panose="02000000000000000000"/>
                <a:sym typeface="Roboto" panose="02000000000000000000"/>
              </a:rPr>
              <a:t>The Miles and Snow Typology</a:t>
            </a:r>
            <a:endParaRPr>
              <a:solidFill>
                <a:srgbClr val="FF0000"/>
              </a:solidFill>
            </a:endParaRPr>
          </a:p>
        </p:txBody>
      </p:sp>
      <p:pic>
        <p:nvPicPr>
          <p:cNvPr id="361" name="Google Shape;361;p25" descr="Management: Principles and Practices - ppt video online download"/>
          <p:cNvPicPr preferRelativeResize="0"/>
          <p:nvPr>
            <p:ph type="body" idx="1"/>
          </p:nvPr>
        </p:nvPicPr>
        <p:blipFill rotWithShape="1">
          <a:blip r:embed="rId1"/>
          <a:srcRect/>
          <a:stretch>
            <a:fillRect/>
          </a:stretch>
        </p:blipFill>
        <p:spPr>
          <a:xfrm>
            <a:off x="2438400" y="1292225"/>
            <a:ext cx="7239000" cy="5235575"/>
          </a:xfrm>
          <a:prstGeom prst="rect">
            <a:avLst/>
          </a:prstGeom>
          <a:noFill/>
          <a:ln>
            <a:noFill/>
          </a:ln>
        </p:spPr>
      </p:pic>
      <p:pic>
        <p:nvPicPr>
          <p:cNvPr id="362" name="Google Shape;362;p25"/>
          <p:cNvPicPr preferRelativeResize="0"/>
          <p:nvPr/>
        </p:nvPicPr>
        <p:blipFill rotWithShape="1">
          <a:blip r:embed="rId2"/>
          <a:srcRect/>
          <a:stretch>
            <a:fillRect/>
          </a:stretch>
        </p:blipFill>
        <p:spPr>
          <a:xfrm>
            <a:off x="9906000" y="6096000"/>
            <a:ext cx="609600" cy="609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66" name="Shape 366"/>
        <p:cNvGrpSpPr/>
        <p:nvPr/>
      </p:nvGrpSpPr>
      <p:grpSpPr>
        <a:xfrm>
          <a:off x="0" y="0"/>
          <a:ext cx="0" cy="0"/>
          <a:chOff x="0" y="0"/>
          <a:chExt cx="0" cy="0"/>
        </a:xfrm>
      </p:grpSpPr>
      <p:sp>
        <p:nvSpPr>
          <p:cNvPr id="367" name="Google Shape;367;p26"/>
          <p:cNvSpPr txBox="1"/>
          <p:nvPr>
            <p:ph type="title"/>
          </p:nvPr>
        </p:nvSpPr>
        <p:spPr>
          <a:xfrm>
            <a:off x="1981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Arial Black" panose="020B0A04020102020204"/>
              <a:buNone/>
            </a:pPr>
            <a:r>
              <a:rPr lang="en-US" sz="4400" b="0" i="0" u="none">
                <a:solidFill>
                  <a:schemeClr val="dk1"/>
                </a:solidFill>
                <a:latin typeface="Arial Black" panose="020B0A04020102020204"/>
                <a:ea typeface="Arial Black" panose="020B0A04020102020204"/>
                <a:cs typeface="Arial Black" panose="020B0A04020102020204"/>
                <a:sym typeface="Arial Black" panose="020B0A04020102020204"/>
              </a:rPr>
              <a:t>Organizing</a:t>
            </a:r>
            <a:endParaRPr lang="en-US" sz="4400" b="0" i="0" u="none">
              <a:solidFill>
                <a:schemeClr val="dk1"/>
              </a:solidFill>
              <a:latin typeface="Arial Black" panose="020B0A04020102020204"/>
              <a:ea typeface="Arial Black" panose="020B0A04020102020204"/>
              <a:cs typeface="Arial Black" panose="020B0A04020102020204"/>
              <a:sym typeface="Arial Black" panose="020B0A04020102020204"/>
            </a:endParaRPr>
          </a:p>
        </p:txBody>
      </p:sp>
      <p:sp>
        <p:nvSpPr>
          <p:cNvPr id="368" name="Google Shape;368;p26"/>
          <p:cNvSpPr txBox="1"/>
          <p:nvPr>
            <p:ph type="body" idx="1"/>
          </p:nvPr>
        </p:nvSpPr>
        <p:spPr>
          <a:xfrm>
            <a:off x="1981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panose="020B0604020202020204"/>
              <a:buChar char="•"/>
            </a:pPr>
            <a:r>
              <a:rPr lang="en-US" sz="3200" b="0" i="0" u="none">
                <a:solidFill>
                  <a:schemeClr val="dk1"/>
                </a:solidFill>
                <a:latin typeface="Calibri" panose="020F0502020204030204"/>
                <a:ea typeface="Calibri" panose="020F0502020204030204"/>
                <a:cs typeface="Calibri" panose="020F0502020204030204"/>
                <a:sym typeface="Calibri" panose="020F0502020204030204"/>
              </a:rPr>
              <a:t>After managers have planned a course of action, they must organize the firm to accomplish their goals. That means allocating resources, (such as funds for various departments), assigning tasks, establishing procedures.</a:t>
            </a:r>
            <a:endParaRPr lang="en-US" sz="3200" b="0" i="0" u="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80" name="Shape 380"/>
        <p:cNvGrpSpPr/>
        <p:nvPr/>
      </p:nvGrpSpPr>
      <p:grpSpPr>
        <a:xfrm>
          <a:off x="0" y="0"/>
          <a:ext cx="0" cy="0"/>
          <a:chOff x="0" y="0"/>
          <a:chExt cx="0" cy="0"/>
        </a:xfrm>
      </p:grpSpPr>
      <p:sp>
        <p:nvSpPr>
          <p:cNvPr id="381" name="Google Shape;381;p28"/>
          <p:cNvSpPr txBox="1"/>
          <p:nvPr/>
        </p:nvSpPr>
        <p:spPr>
          <a:xfrm>
            <a:off x="807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r>
              <a:rPr lang="en-US" sz="1200" b="0" i="0" u="none">
                <a:solidFill>
                  <a:srgbClr val="898989"/>
                </a:solidFill>
                <a:latin typeface="Calibri" panose="020F0502020204030204"/>
                <a:ea typeface="Calibri" panose="020F0502020204030204"/>
                <a:cs typeface="Calibri" panose="020F0502020204030204"/>
                <a:sym typeface="Calibri" panose="020F0502020204030204"/>
              </a:rPr>
              <a:t>7-</a:t>
            </a:r>
            <a:fld id="{00000000-1234-1234-1234-123412341234}" type="slidenum">
              <a:rPr lang="en-US" sz="1200" b="0" i="0" u="none">
                <a:solidFill>
                  <a:srgbClr val="898989"/>
                </a:solidFill>
                <a:latin typeface="Calibri" panose="020F0502020204030204"/>
                <a:ea typeface="Calibri" panose="020F0502020204030204"/>
                <a:cs typeface="Calibri" panose="020F0502020204030204"/>
                <a:sym typeface="Calibri" panose="020F0502020204030204"/>
              </a:rPr>
            </a:fld>
            <a:endParaRPr lang="en-US" sz="1200" b="0" i="0" u="non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382" name="Google Shape;382;p28"/>
          <p:cNvSpPr txBox="1"/>
          <p:nvPr>
            <p:ph type="title"/>
          </p:nvPr>
        </p:nvSpPr>
        <p:spPr>
          <a:xfrm>
            <a:off x="1985962" y="317500"/>
            <a:ext cx="8412162" cy="10763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Arial Black" panose="020B0A04020102020204"/>
              <a:buNone/>
            </a:pPr>
            <a:r>
              <a:rPr lang="en-US" sz="4400" b="0" i="0" u="none">
                <a:solidFill>
                  <a:schemeClr val="dk1"/>
                </a:solidFill>
                <a:latin typeface="Arial Black" panose="020B0A04020102020204"/>
                <a:ea typeface="Arial Black" panose="020B0A04020102020204"/>
                <a:cs typeface="Arial Black" panose="020B0A04020102020204"/>
                <a:sym typeface="Arial Black" panose="020B0A04020102020204"/>
              </a:rPr>
              <a:t>Organizing</a:t>
            </a:r>
            <a:endParaRPr lang="en-US" sz="4400" b="0" i="0" u="none">
              <a:solidFill>
                <a:schemeClr val="dk1"/>
              </a:solidFill>
              <a:latin typeface="Arial Black" panose="020B0A04020102020204"/>
              <a:ea typeface="Arial Black" panose="020B0A04020102020204"/>
              <a:cs typeface="Arial Black" panose="020B0A04020102020204"/>
              <a:sym typeface="Arial Black" panose="020B0A04020102020204"/>
            </a:endParaRPr>
          </a:p>
        </p:txBody>
      </p:sp>
      <p:sp>
        <p:nvSpPr>
          <p:cNvPr id="383" name="Google Shape;383;p28"/>
          <p:cNvSpPr txBox="1"/>
          <p:nvPr>
            <p:ph type="body" idx="1"/>
          </p:nvPr>
        </p:nvSpPr>
        <p:spPr>
          <a:xfrm>
            <a:off x="5943600" y="1752600"/>
            <a:ext cx="4194175" cy="46863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rgbClr val="660066"/>
              </a:buClr>
              <a:buSzPts val="2000"/>
              <a:buFont typeface="Arial" panose="020B0604020202020204"/>
              <a:buChar char="•"/>
            </a:pPr>
            <a:r>
              <a:rPr lang="en-US" sz="2000" b="1" i="0" u="none">
                <a:solidFill>
                  <a:schemeClr val="dk1"/>
                </a:solidFill>
                <a:latin typeface="Calibri" panose="020F0502020204030204"/>
                <a:ea typeface="Calibri" panose="020F0502020204030204"/>
                <a:cs typeface="Calibri" panose="020F0502020204030204"/>
                <a:sym typeface="Calibri" panose="020F0502020204030204"/>
              </a:rPr>
              <a:t>Skills/Tasks</a:t>
            </a:r>
            <a:endParaRPr lang="en-US" sz="2000" b="1" i="0" u="none">
              <a:solidFill>
                <a:schemeClr val="dk1"/>
              </a:solidFill>
              <a:latin typeface="Calibri" panose="020F0502020204030204"/>
              <a:ea typeface="Calibri" panose="020F0502020204030204"/>
              <a:cs typeface="Calibri" panose="020F0502020204030204"/>
              <a:sym typeface="Calibri" panose="020F0502020204030204"/>
            </a:endParaRPr>
          </a:p>
          <a:p>
            <a:pPr marL="742950" lvl="1" indent="-285750" algn="l" rtl="0">
              <a:lnSpc>
                <a:spcPct val="100000"/>
              </a:lnSpc>
              <a:spcBef>
                <a:spcPts val="360"/>
              </a:spcBef>
              <a:spcAft>
                <a:spcPts val="0"/>
              </a:spcAft>
              <a:buClr>
                <a:srgbClr val="660066"/>
              </a:buClr>
              <a:buSzPts val="1800"/>
              <a:buFont typeface="Arial" panose="020B0604020202020204"/>
              <a:buChar char="–"/>
            </a:pPr>
            <a:r>
              <a:rPr lang="en-US" sz="1800" b="1" i="0" u="none">
                <a:solidFill>
                  <a:schemeClr val="dk1"/>
                </a:solidFill>
                <a:latin typeface="Calibri" panose="020F0502020204030204"/>
                <a:ea typeface="Calibri" panose="020F0502020204030204"/>
                <a:cs typeface="Calibri" panose="020F0502020204030204"/>
                <a:sym typeface="Calibri" panose="020F0502020204030204"/>
              </a:rPr>
              <a:t>Technical</a:t>
            </a:r>
            <a:r>
              <a:rPr lang="en-US" sz="1800" b="0" i="0" u="none">
                <a:solidFill>
                  <a:schemeClr val="dk1"/>
                </a:solidFill>
                <a:latin typeface="Calibri" panose="020F0502020204030204"/>
                <a:ea typeface="Calibri" panose="020F0502020204030204"/>
                <a:cs typeface="Calibri" panose="020F0502020204030204"/>
                <a:sym typeface="Calibri" panose="020F0502020204030204"/>
              </a:rPr>
              <a:t>- task in specific discipline</a:t>
            </a:r>
            <a:endParaRPr lang="en-US" sz="1800" b="0" i="0" u="none">
              <a:solidFill>
                <a:schemeClr val="dk1"/>
              </a:solidFill>
              <a:latin typeface="Calibri" panose="020F0502020204030204"/>
              <a:ea typeface="Calibri" panose="020F0502020204030204"/>
              <a:cs typeface="Calibri" panose="020F0502020204030204"/>
              <a:sym typeface="Calibri" panose="020F0502020204030204"/>
            </a:endParaRPr>
          </a:p>
          <a:p>
            <a:pPr marL="742950" lvl="1" indent="-285750" algn="l" rtl="0">
              <a:lnSpc>
                <a:spcPct val="100000"/>
              </a:lnSpc>
              <a:spcBef>
                <a:spcPts val="360"/>
              </a:spcBef>
              <a:spcAft>
                <a:spcPts val="0"/>
              </a:spcAft>
              <a:buClr>
                <a:srgbClr val="660066"/>
              </a:buClr>
              <a:buSzPts val="1800"/>
              <a:buFont typeface="Arial" panose="020B0604020202020204"/>
              <a:buChar char="–"/>
            </a:pPr>
            <a:r>
              <a:rPr lang="en-US" sz="1800" b="1" i="0" u="none">
                <a:solidFill>
                  <a:schemeClr val="dk1"/>
                </a:solidFill>
                <a:latin typeface="Calibri" panose="020F0502020204030204"/>
                <a:ea typeface="Calibri" panose="020F0502020204030204"/>
                <a:cs typeface="Calibri" panose="020F0502020204030204"/>
                <a:sym typeface="Calibri" panose="020F0502020204030204"/>
              </a:rPr>
              <a:t>Human relation- </a:t>
            </a:r>
            <a:r>
              <a:rPr lang="en-US" sz="1800" b="0" i="0" u="none">
                <a:solidFill>
                  <a:schemeClr val="dk1"/>
                </a:solidFill>
                <a:latin typeface="Calibri" panose="020F0502020204030204"/>
                <a:ea typeface="Calibri" panose="020F0502020204030204"/>
                <a:cs typeface="Calibri" panose="020F0502020204030204"/>
                <a:sym typeface="Calibri" panose="020F0502020204030204"/>
              </a:rPr>
              <a:t>involve communication and motivation</a:t>
            </a:r>
            <a:endParaRPr lang="en-US" sz="1800" b="0" i="0" u="none">
              <a:solidFill>
                <a:schemeClr val="dk1"/>
              </a:solidFill>
              <a:latin typeface="Calibri" panose="020F0502020204030204"/>
              <a:ea typeface="Calibri" panose="020F0502020204030204"/>
              <a:cs typeface="Calibri" panose="020F0502020204030204"/>
              <a:sym typeface="Calibri" panose="020F0502020204030204"/>
            </a:endParaRPr>
          </a:p>
          <a:p>
            <a:pPr marL="742950" lvl="1" indent="-285750" algn="l" rtl="0">
              <a:lnSpc>
                <a:spcPct val="100000"/>
              </a:lnSpc>
              <a:spcBef>
                <a:spcPts val="360"/>
              </a:spcBef>
              <a:spcAft>
                <a:spcPts val="0"/>
              </a:spcAft>
              <a:buClr>
                <a:srgbClr val="660066"/>
              </a:buClr>
              <a:buSzPts val="1800"/>
              <a:buFont typeface="Arial" panose="020B0604020202020204"/>
              <a:buChar char="–"/>
            </a:pPr>
            <a:r>
              <a:rPr lang="en-US" sz="1800" b="1" i="0" u="none">
                <a:solidFill>
                  <a:schemeClr val="dk1"/>
                </a:solidFill>
                <a:latin typeface="Calibri" panose="020F0502020204030204"/>
                <a:ea typeface="Calibri" panose="020F0502020204030204"/>
                <a:cs typeface="Calibri" panose="020F0502020204030204"/>
                <a:sym typeface="Calibri" panose="020F0502020204030204"/>
              </a:rPr>
              <a:t>Conceptua</a:t>
            </a:r>
            <a:r>
              <a:rPr lang="en-US" sz="1800" b="0" i="0" u="none">
                <a:solidFill>
                  <a:schemeClr val="dk1"/>
                </a:solidFill>
                <a:latin typeface="Calibri" panose="020F0502020204030204"/>
                <a:ea typeface="Calibri" panose="020F0502020204030204"/>
                <a:cs typeface="Calibri" panose="020F0502020204030204"/>
                <a:sym typeface="Calibri" panose="020F0502020204030204"/>
              </a:rPr>
              <a:t>l- the ability to picture the org. as a whole</a:t>
            </a:r>
            <a:endParaRPr lang="en-US" sz="18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lvl="0" indent="-342900" algn="l" rtl="0">
              <a:lnSpc>
                <a:spcPct val="100000"/>
              </a:lnSpc>
              <a:spcBef>
                <a:spcPts val="640"/>
              </a:spcBef>
              <a:spcAft>
                <a:spcPts val="0"/>
              </a:spcAft>
              <a:buClr>
                <a:srgbClr val="660066"/>
              </a:buClr>
              <a:buSzPts val="3200"/>
              <a:buFont typeface="Arial" panose="020B0604020202020204"/>
              <a:buChar char="•"/>
            </a:pPr>
            <a:r>
              <a:rPr lang="en-US" sz="3200" b="0" i="0" u="none">
                <a:solidFill>
                  <a:schemeClr val="dk1"/>
                </a:solidFill>
                <a:latin typeface="Calibri" panose="020F0502020204030204"/>
                <a:ea typeface="Calibri" panose="020F0502020204030204"/>
                <a:cs typeface="Calibri" panose="020F0502020204030204"/>
                <a:sym typeface="Calibri" panose="020F0502020204030204"/>
              </a:rPr>
              <a:t>Staffing</a:t>
            </a:r>
            <a:endParaRPr lang="en-US" sz="3200" b="0" i="0" u="none">
              <a:solidFill>
                <a:schemeClr val="dk1"/>
              </a:solidFill>
              <a:latin typeface="Calibri" panose="020F0502020204030204"/>
              <a:ea typeface="Calibri" panose="020F0502020204030204"/>
              <a:cs typeface="Calibri" panose="020F0502020204030204"/>
              <a:sym typeface="Calibri" panose="020F0502020204030204"/>
            </a:endParaRPr>
          </a:p>
          <a:p>
            <a:pPr marL="742950" lvl="1" indent="-285750" algn="l" rtl="0">
              <a:lnSpc>
                <a:spcPct val="100000"/>
              </a:lnSpc>
              <a:spcBef>
                <a:spcPts val="400"/>
              </a:spcBef>
              <a:spcAft>
                <a:spcPts val="0"/>
              </a:spcAft>
              <a:buClr>
                <a:schemeClr val="dk1"/>
              </a:buClr>
              <a:buSzPts val="2000"/>
              <a:buNone/>
            </a:pPr>
            <a:r>
              <a:rPr lang="en-US" sz="2000" b="0" i="0" u="none">
                <a:solidFill>
                  <a:schemeClr val="dk1"/>
                </a:solidFill>
                <a:latin typeface="Calibri" panose="020F0502020204030204"/>
                <a:ea typeface="Calibri" panose="020F0502020204030204"/>
                <a:cs typeface="Calibri" panose="020F0502020204030204"/>
                <a:sym typeface="Calibri" panose="020F0502020204030204"/>
              </a:rPr>
              <a:t>      Involves recruiting, hiring, motivating and retaining the best people available to accomplish the company’s objectives.</a:t>
            </a:r>
            <a:endParaRPr lang="en-US" sz="20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lvl="0" indent="-215900" algn="l" rtl="0">
              <a:spcBef>
                <a:spcPts val="400"/>
              </a:spcBef>
              <a:spcAft>
                <a:spcPts val="0"/>
              </a:spcAft>
              <a:buClr>
                <a:schemeClr val="dk1"/>
              </a:buClr>
              <a:buSzPts val="2000"/>
              <a:buNone/>
            </a:pPr>
            <a:endParaRPr sz="2000" b="0" i="0" u="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84" name="Google Shape;384;p28" descr="co_teams"/>
          <p:cNvPicPr preferRelativeResize="0"/>
          <p:nvPr/>
        </p:nvPicPr>
        <p:blipFill rotWithShape="1">
          <a:blip r:embed="rId1"/>
          <a:srcRect/>
          <a:stretch>
            <a:fillRect/>
          </a:stretch>
        </p:blipFill>
        <p:spPr>
          <a:xfrm>
            <a:off x="2133600" y="2362200"/>
            <a:ext cx="3810000" cy="3048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3">
                                            <p:txEl>
                                              <p:pRg st="0" end="0"/>
                                            </p:txEl>
                                          </p:spTgt>
                                        </p:tgtEl>
                                        <p:attrNameLst>
                                          <p:attrName>style.visibility</p:attrName>
                                        </p:attrNameLst>
                                      </p:cBhvr>
                                      <p:to>
                                        <p:strVal val="visible"/>
                                      </p:to>
                                    </p:set>
                                    <p:animEffect transition="in" filter="fade">
                                      <p:cBhvr>
                                        <p:cTn id="7" dur="500"/>
                                        <p:tgtEl>
                                          <p:spTgt spid="3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3">
                                            <p:txEl>
                                              <p:pRg st="1" end="1"/>
                                            </p:txEl>
                                          </p:spTgt>
                                        </p:tgtEl>
                                        <p:attrNameLst>
                                          <p:attrName>style.visibility</p:attrName>
                                        </p:attrNameLst>
                                      </p:cBhvr>
                                      <p:to>
                                        <p:strVal val="visible"/>
                                      </p:to>
                                    </p:set>
                                    <p:animEffect transition="in" filter="fade">
                                      <p:cBhvr>
                                        <p:cTn id="12" dur="500"/>
                                        <p:tgtEl>
                                          <p:spTgt spid="3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3">
                                            <p:txEl>
                                              <p:pRg st="2" end="2"/>
                                            </p:txEl>
                                          </p:spTgt>
                                        </p:tgtEl>
                                        <p:attrNameLst>
                                          <p:attrName>style.visibility</p:attrName>
                                        </p:attrNameLst>
                                      </p:cBhvr>
                                      <p:to>
                                        <p:strVal val="visible"/>
                                      </p:to>
                                    </p:set>
                                    <p:animEffect transition="in" filter="fade">
                                      <p:cBhvr>
                                        <p:cTn id="17" dur="500"/>
                                        <p:tgtEl>
                                          <p:spTgt spid="3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3">
                                            <p:txEl>
                                              <p:pRg st="3" end="3"/>
                                            </p:txEl>
                                          </p:spTgt>
                                        </p:tgtEl>
                                        <p:attrNameLst>
                                          <p:attrName>style.visibility</p:attrName>
                                        </p:attrNameLst>
                                      </p:cBhvr>
                                      <p:to>
                                        <p:strVal val="visible"/>
                                      </p:to>
                                    </p:set>
                                    <p:animEffect transition="in" filter="fade">
                                      <p:cBhvr>
                                        <p:cTn id="22" dur="500"/>
                                        <p:tgtEl>
                                          <p:spTgt spid="38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83">
                                            <p:txEl>
                                              <p:pRg st="4" end="4"/>
                                            </p:txEl>
                                          </p:spTgt>
                                        </p:tgtEl>
                                        <p:attrNameLst>
                                          <p:attrName>style.visibility</p:attrName>
                                        </p:attrNameLst>
                                      </p:cBhvr>
                                      <p:to>
                                        <p:strVal val="visible"/>
                                      </p:to>
                                    </p:set>
                                    <p:animEffect transition="in" filter="fade">
                                      <p:cBhvr>
                                        <p:cTn id="27" dur="500"/>
                                        <p:tgtEl>
                                          <p:spTgt spid="38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3">
                                            <p:txEl>
                                              <p:pRg st="5" end="5"/>
                                            </p:txEl>
                                          </p:spTgt>
                                        </p:tgtEl>
                                        <p:attrNameLst>
                                          <p:attrName>style.visibility</p:attrName>
                                        </p:attrNameLst>
                                      </p:cBhvr>
                                      <p:to>
                                        <p:strVal val="visible"/>
                                      </p:to>
                                    </p:set>
                                    <p:animEffect transition="in" filter="fade">
                                      <p:cBhvr>
                                        <p:cTn id="32" dur="500"/>
                                        <p:tgtEl>
                                          <p:spTgt spid="38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3">
                                            <p:txEl>
                                              <p:pRg st="6" end="6"/>
                                            </p:txEl>
                                          </p:spTgt>
                                        </p:tgtEl>
                                        <p:attrNameLst>
                                          <p:attrName>style.visibility</p:attrName>
                                        </p:attrNameLst>
                                      </p:cBhvr>
                                      <p:to>
                                        <p:strVal val="visible"/>
                                      </p:to>
                                    </p:set>
                                    <p:animEffect transition="in" filter="fade">
                                      <p:cBhvr>
                                        <p:cTn id="37" dur="500"/>
                                        <p:tgtEl>
                                          <p:spTgt spid="383">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ctrTitle"/>
          </p:nvPr>
        </p:nvSpPr>
        <p:spPr/>
        <p:txBody>
          <a:bodyPr/>
          <a:p>
            <a:r>
              <a:rPr lang="en-GB" altLang="en-US"/>
              <a:t>Leading</a:t>
            </a:r>
            <a:endParaRPr lang="en-GB" altLang="en-US"/>
          </a:p>
        </p:txBody>
      </p:sp>
      <p:sp>
        <p:nvSpPr>
          <p:cNvPr id="6" name="Subtitle 5"/>
          <p:cNvSpPr>
            <a:spLocks noGrp="1"/>
          </p:cNvSpPr>
          <p:nvPr>
            <p:ph type="subTitle" idx="1"/>
          </p:nvPr>
        </p:nvSpPr>
        <p:spPr/>
        <p:txBody>
          <a:bodyPr/>
          <a:p>
            <a:r>
              <a:rPr lang="en-US">
                <a:sym typeface="+mn-ea"/>
              </a:rPr>
              <a:t>Leading involves communicating and directing employees to carry out the tasks and activities required to achieve the goals. </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33" name="Shape 433"/>
        <p:cNvGrpSpPr/>
        <p:nvPr/>
      </p:nvGrpSpPr>
      <p:grpSpPr>
        <a:xfrm>
          <a:off x="0" y="0"/>
          <a:ext cx="0" cy="0"/>
          <a:chOff x="0" y="0"/>
          <a:chExt cx="0" cy="0"/>
        </a:xfrm>
      </p:grpSpPr>
      <p:sp>
        <p:nvSpPr>
          <p:cNvPr id="434" name="Google Shape;434;p33"/>
          <p:cNvSpPr txBox="1"/>
          <p:nvPr>
            <p:ph type="title"/>
          </p:nvPr>
        </p:nvSpPr>
        <p:spPr>
          <a:xfrm>
            <a:off x="1981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b="0" i="0" u="none">
                <a:solidFill>
                  <a:schemeClr val="dk1"/>
                </a:solidFill>
                <a:latin typeface="Calibri" panose="020F0502020204030204"/>
                <a:ea typeface="Calibri" panose="020F0502020204030204"/>
                <a:cs typeface="Calibri" panose="020F0502020204030204"/>
                <a:sym typeface="Calibri" panose="020F0502020204030204"/>
              </a:rPr>
              <a:t>Controlling</a:t>
            </a:r>
            <a:endParaRPr lang="en-US" sz="4400" b="0" i="0" u="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35" name="Google Shape;435;p33"/>
          <p:cNvSpPr txBox="1"/>
          <p:nvPr>
            <p:ph type="body" idx="1"/>
          </p:nvPr>
        </p:nvSpPr>
        <p:spPr>
          <a:xfrm>
            <a:off x="1981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panose="020B0604020202020204"/>
              <a:buChar char="•"/>
            </a:pPr>
            <a:r>
              <a:rPr lang="en-US" sz="2400" b="0" i="0" u="none">
                <a:solidFill>
                  <a:schemeClr val="dk1"/>
                </a:solidFill>
                <a:latin typeface="Calibri" panose="020F0502020204030204"/>
                <a:ea typeface="Calibri" panose="020F0502020204030204"/>
                <a:cs typeface="Calibri" panose="020F0502020204030204"/>
                <a:sym typeface="Calibri" panose="020F0502020204030204"/>
              </a:rPr>
              <a:t>The Control function measures performance relative to the planned objectives and standards, rewards people for work well done, and takes corrective action when necessary. Thus the control process (see Figure 7.8) provides the feedback that lets managers and workers adjust to deviations from plans and to changes in the environment that have affected performance. Controlling consist of five steps:</a:t>
            </a:r>
            <a:endParaRPr lang="en-US" sz="2400" b="0" i="0" u="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40" name="Shape 440"/>
        <p:cNvGrpSpPr/>
        <p:nvPr/>
      </p:nvGrpSpPr>
      <p:grpSpPr>
        <a:xfrm>
          <a:off x="0" y="0"/>
          <a:ext cx="0" cy="0"/>
          <a:chOff x="0" y="0"/>
          <a:chExt cx="0" cy="0"/>
        </a:xfrm>
      </p:grpSpPr>
      <p:sp>
        <p:nvSpPr>
          <p:cNvPr id="441" name="Google Shape;441;p34"/>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442" name="Google Shape;442;p34"/>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443" name="Google Shape;443;p34"/>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444" name="Google Shape;444;p34"/>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445" name="Google Shape;445;p34"/>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446" name="Google Shape;446;p34"/>
          <p:cNvSpPr txBox="1"/>
          <p:nvPr/>
        </p:nvSpPr>
        <p:spPr>
          <a:xfrm>
            <a:off x="8839200" y="457200"/>
            <a:ext cx="1828800" cy="8286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600"/>
              <a:buFont typeface="Helvetica Neue" panose="020B0604020202020204"/>
              <a:buNone/>
            </a:pPr>
            <a:r>
              <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Controlling: Making Sure it Works</a:t>
            </a:r>
            <a:endParaRPr lang="en-US" sz="16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47" name="Google Shape;447;p34"/>
          <p:cNvSpPr txBox="1"/>
          <p:nvPr>
            <p:ph type="ctrTitle"/>
          </p:nvPr>
        </p:nvSpPr>
        <p:spPr>
          <a:xfrm>
            <a:off x="1752600" y="76200"/>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Helvetica Neue" panose="020B0604020202020204"/>
              <a:buNone/>
            </a:pP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FIVE STEPS of CONTROLLING</a:t>
            </a:r>
            <a:endPar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48" name="Google Shape;448;p34"/>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LG6</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449" name="Google Shape;449;p34" descr="f708.psd"/>
          <p:cNvPicPr preferRelativeResize="0"/>
          <p:nvPr/>
        </p:nvPicPr>
        <p:blipFill rotWithShape="1">
          <a:blip r:embed="rId1"/>
          <a:srcRect/>
          <a:stretch>
            <a:fillRect/>
          </a:stretch>
        </p:blipFill>
        <p:spPr>
          <a:xfrm>
            <a:off x="2543175" y="2254250"/>
            <a:ext cx="7058025" cy="3079750"/>
          </a:xfrm>
          <a:prstGeom prst="rect">
            <a:avLst/>
          </a:prstGeom>
          <a:noFill/>
          <a:ln>
            <a:noFill/>
          </a:ln>
        </p:spPr>
      </p:pic>
      <p:sp>
        <p:nvSpPr>
          <p:cNvPr id="450" name="Google Shape;450;p34"/>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88" name="Shape 388"/>
        <p:cNvGrpSpPr/>
        <p:nvPr/>
      </p:nvGrpSpPr>
      <p:grpSpPr>
        <a:xfrm>
          <a:off x="0" y="0"/>
          <a:ext cx="0" cy="0"/>
          <a:chOff x="0" y="0"/>
          <a:chExt cx="0" cy="0"/>
        </a:xfrm>
      </p:grpSpPr>
      <p:sp>
        <p:nvSpPr>
          <p:cNvPr id="389" name="Google Shape;389;p29"/>
          <p:cNvSpPr txBox="1"/>
          <p:nvPr>
            <p:ph type="title"/>
          </p:nvPr>
        </p:nvSpPr>
        <p:spPr>
          <a:xfrm>
            <a:off x="1755775" y="38100"/>
            <a:ext cx="8642350" cy="13557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90" name="Google Shape;390;p29"/>
          <p:cNvSpPr/>
          <p:nvPr>
            <p:ph type="clipArt" idx="2"/>
          </p:nvPr>
        </p:nvSpPr>
        <p:spPr>
          <a:xfrm>
            <a:off x="1793875" y="1393825"/>
            <a:ext cx="4205287" cy="4914900"/>
          </a:xfrm>
          <a:prstGeom prst="rect">
            <a:avLst/>
          </a:prstGeom>
          <a:noFill/>
          <a:ln>
            <a:noFill/>
          </a:ln>
        </p:spPr>
      </p:sp>
      <p:sp>
        <p:nvSpPr>
          <p:cNvPr id="391" name="Google Shape;391;p29"/>
          <p:cNvSpPr txBox="1"/>
          <p:nvPr>
            <p:ph type="body" idx="1"/>
          </p:nvPr>
        </p:nvSpPr>
        <p:spPr>
          <a:xfrm>
            <a:off x="6151562" y="1393825"/>
            <a:ext cx="4206875" cy="4914900"/>
          </a:xfrm>
          <a:prstGeom prst="rect">
            <a:avLst/>
          </a:prstGeom>
          <a:noFill/>
          <a:ln>
            <a:noFill/>
          </a:ln>
        </p:spPr>
        <p:txBody>
          <a:bodyPr spcFirstLastPara="1" wrap="square" lIns="91425" tIns="45700" rIns="91425" bIns="45700" anchor="t" anchorCtr="0">
            <a:noAutofit/>
          </a:bodyPr>
          <a:lstStyle/>
          <a:p>
            <a:pPr marL="342900" lvl="0" indent="-139700" algn="l" rtl="0">
              <a:spcBef>
                <a:spcPts val="0"/>
              </a:spcBef>
              <a:spcAft>
                <a:spcPts val="0"/>
              </a:spcAft>
              <a:buClr>
                <a:schemeClr val="dk1"/>
              </a:buClr>
              <a:buSzPts val="3200"/>
              <a:buNone/>
            </a:pPr>
            <a:endParaRPr sz="32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92" name="Google Shape;392;p29" descr="Chapter Seven Management and Leadership McGraw-Hill/Irwin Copyright © 2012  by The McGraw-Hill Companies, Inc. All rights reserved. - ppt download"/>
          <p:cNvPicPr preferRelativeResize="0"/>
          <p:nvPr/>
        </p:nvPicPr>
        <p:blipFill rotWithShape="1">
          <a:blip r:embed="rId1"/>
          <a:srcRect/>
          <a:stretch>
            <a:fillRect/>
          </a:stretch>
        </p:blipFill>
        <p:spPr>
          <a:xfrm>
            <a:off x="1524000" y="0"/>
            <a:ext cx="9144000"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97" name="Shape 397"/>
        <p:cNvGrpSpPr/>
        <p:nvPr/>
      </p:nvGrpSpPr>
      <p:grpSpPr>
        <a:xfrm>
          <a:off x="0" y="0"/>
          <a:ext cx="0" cy="0"/>
          <a:chOff x="0" y="0"/>
          <a:chExt cx="0" cy="0"/>
        </a:xfrm>
      </p:grpSpPr>
      <p:sp>
        <p:nvSpPr>
          <p:cNvPr id="398" name="Google Shape;398;p30"/>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399" name="Google Shape;399;p30"/>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400" name="Google Shape;400;p30"/>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401" name="Google Shape;401;p30"/>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402" name="Google Shape;402;p30"/>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403" name="Google Shape;403;p30"/>
          <p:cNvSpPr txBox="1"/>
          <p:nvPr/>
        </p:nvSpPr>
        <p:spPr>
          <a:xfrm>
            <a:off x="8839200" y="541337"/>
            <a:ext cx="1828800" cy="7359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Helvetica Neue" panose="020B0604020202020204"/>
              <a:buNone/>
            </a:pPr>
            <a:r>
              <a:rPr lang="en-US" sz="14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Leading: Providing Continuous Vision and Values.</a:t>
            </a:r>
            <a:endParaRPr lang="en-US" sz="14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04" name="Google Shape;404;p30"/>
          <p:cNvSpPr txBox="1"/>
          <p:nvPr/>
        </p:nvSpPr>
        <p:spPr>
          <a:xfrm>
            <a:off x="2057400" y="1787525"/>
            <a:ext cx="8077200" cy="3583305"/>
          </a:xfrm>
          <a:prstGeom prst="rect">
            <a:avLst/>
          </a:prstGeom>
          <a:noFill/>
          <a:ln>
            <a:noFill/>
          </a:ln>
        </p:spPr>
        <p:txBody>
          <a:bodyPr spcFirstLastPara="1" wrap="square" lIns="91425" tIns="45700" rIns="91425" bIns="45700" anchor="t" anchorCtr="0">
            <a:spAutoFit/>
          </a:bodyPr>
          <a:lstStyle/>
          <a:p>
            <a:pPr marL="342900" marR="0" lvl="2" indent="-342900" algn="l" rtl="0">
              <a:lnSpc>
                <a:spcPct val="100000"/>
              </a:lnSpc>
              <a:spcBef>
                <a:spcPts val="0"/>
              </a:spcBef>
              <a:spcAft>
                <a:spcPts val="0"/>
              </a:spcAft>
              <a:buClr>
                <a:srgbClr val="000000"/>
              </a:buClr>
              <a:buSzPts val="2700"/>
              <a:buFont typeface="Arial" panose="020B0604020202020204"/>
              <a:buChar char="•"/>
            </a:pPr>
            <a:r>
              <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Leaders must:</a:t>
            </a:r>
            <a:endParaRPr lang="en-US" sz="27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42900" marR="0" lvl="2" indent="-342900" algn="l" rtl="0">
              <a:lnSpc>
                <a:spcPct val="100000"/>
              </a:lnSpc>
              <a:spcBef>
                <a:spcPts val="1200"/>
              </a:spcBef>
              <a:spcAft>
                <a:spcPts val="0"/>
              </a:spcAft>
              <a:buClr>
                <a:srgbClr val="000000"/>
              </a:buClr>
              <a:buSzPts val="2500"/>
              <a:buFont typeface="Merriweather Sans"/>
              <a:buChar char="-"/>
            </a:pPr>
            <a:r>
              <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Communicate a vision and rally others around that vision.</a:t>
            </a:r>
            <a:endPar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42900" marR="0" lvl="2" indent="-342900" algn="l" rtl="0">
              <a:lnSpc>
                <a:spcPct val="100000"/>
              </a:lnSpc>
              <a:spcBef>
                <a:spcPts val="1200"/>
              </a:spcBef>
              <a:spcAft>
                <a:spcPts val="0"/>
              </a:spcAft>
              <a:buClr>
                <a:srgbClr val="000000"/>
              </a:buClr>
              <a:buSzPts val="2500"/>
              <a:buFont typeface="Merriweather Sans"/>
              <a:buChar char="-"/>
            </a:pPr>
            <a:r>
              <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Establish corporate values.</a:t>
            </a:r>
            <a:endPar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42900" marR="0" lvl="2" indent="-342900" algn="l" rtl="0">
              <a:lnSpc>
                <a:spcPct val="100000"/>
              </a:lnSpc>
              <a:spcBef>
                <a:spcPts val="1200"/>
              </a:spcBef>
              <a:spcAft>
                <a:spcPts val="0"/>
              </a:spcAft>
              <a:buClr>
                <a:srgbClr val="000000"/>
              </a:buClr>
              <a:buSzPts val="2500"/>
              <a:buFont typeface="Merriweather Sans"/>
              <a:buChar char="-"/>
            </a:pPr>
            <a:r>
              <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Promote corporate ethics.</a:t>
            </a:r>
            <a:endPar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42900" marR="0" lvl="2" indent="-342900" algn="l" rtl="0">
              <a:lnSpc>
                <a:spcPct val="100000"/>
              </a:lnSpc>
              <a:spcBef>
                <a:spcPts val="1200"/>
              </a:spcBef>
              <a:spcAft>
                <a:spcPts val="0"/>
              </a:spcAft>
              <a:buClr>
                <a:srgbClr val="000000"/>
              </a:buClr>
              <a:buSzPts val="2500"/>
              <a:buFont typeface="Merriweather Sans"/>
              <a:buChar char="-"/>
            </a:pPr>
            <a:r>
              <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Embrace change.</a:t>
            </a:r>
            <a:endPar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42900" marR="0" lvl="2" indent="-342900" algn="l" rtl="0">
              <a:lnSpc>
                <a:spcPct val="100000"/>
              </a:lnSpc>
              <a:spcBef>
                <a:spcPts val="1200"/>
              </a:spcBef>
              <a:spcAft>
                <a:spcPts val="0"/>
              </a:spcAft>
              <a:buClr>
                <a:srgbClr val="000000"/>
              </a:buClr>
              <a:buSzPts val="2500"/>
              <a:buFont typeface="Merriweather Sans"/>
              <a:buChar char="-"/>
            </a:pPr>
            <a:r>
              <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Stress accountability and responsibility</a:t>
            </a:r>
            <a:endPar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05" name="Google Shape;405;p30"/>
          <p:cNvSpPr txBox="1"/>
          <p:nvPr>
            <p:ph type="ctrTitle"/>
          </p:nvPr>
        </p:nvSpPr>
        <p:spPr>
          <a:xfrm>
            <a:off x="1981200" y="5397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Helvetica Neue" panose="020B0604020202020204"/>
              <a:buNone/>
            </a:pP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LEADERSHIP</a:t>
            </a:r>
            <a:endPar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06" name="Google Shape;406;p30"/>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LG5</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07" name="Google Shape;407;p30"/>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12" name="Shape 412"/>
        <p:cNvGrpSpPr/>
        <p:nvPr/>
      </p:nvGrpSpPr>
      <p:grpSpPr>
        <a:xfrm>
          <a:off x="0" y="0"/>
          <a:ext cx="0" cy="0"/>
          <a:chOff x="0" y="0"/>
          <a:chExt cx="0" cy="0"/>
        </a:xfrm>
      </p:grpSpPr>
      <p:sp>
        <p:nvSpPr>
          <p:cNvPr id="413" name="Google Shape;413;p31"/>
          <p:cNvSpPr txBox="1"/>
          <p:nvPr>
            <p:ph type="subTitle" idx="1"/>
          </p:nvPr>
        </p:nvSpPr>
        <p:spPr>
          <a:xfrm>
            <a:off x="2895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a:solidFill>
                <a:srgbClr val="888888"/>
              </a:solidFill>
            </a:endParaRPr>
          </a:p>
        </p:txBody>
      </p:sp>
      <p:sp>
        <p:nvSpPr>
          <p:cNvPr id="414" name="Google Shape;414;p31"/>
          <p:cNvSpPr/>
          <p:nvPr/>
        </p:nvSpPr>
        <p:spPr>
          <a:xfrm>
            <a:off x="1981200" y="381000"/>
            <a:ext cx="8153400" cy="6248400"/>
          </a:xfrm>
          <a:prstGeom prst="roundRect">
            <a:avLst>
              <a:gd name="adj" fmla="val 16667"/>
            </a:avLst>
          </a:prstGeom>
          <a:solidFill>
            <a:srgbClr val="FDD8C3"/>
          </a:solidFill>
          <a:ln w="9525" cap="flat" cmpd="sng">
            <a:solidFill>
              <a:srgbClr val="FDD8C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415" name="Google Shape;415;p31"/>
          <p:cNvSpPr/>
          <p:nvPr/>
        </p:nvSpPr>
        <p:spPr>
          <a:xfrm>
            <a:off x="8839200" y="152400"/>
            <a:ext cx="1644650" cy="1600200"/>
          </a:xfrm>
          <a:prstGeom prst="ellipse">
            <a:avLst/>
          </a:prstGeom>
          <a:solidFill>
            <a:srgbClr val="660066"/>
          </a:solidFill>
          <a:ln w="9525" cap="flat" cmpd="sng">
            <a:solidFill>
              <a:srgbClr val="660066"/>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416" name="Google Shape;416;p31"/>
          <p:cNvSpPr txBox="1"/>
          <p:nvPr/>
        </p:nvSpPr>
        <p:spPr>
          <a:xfrm>
            <a:off x="9982200" y="1143000"/>
            <a:ext cx="50165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59B57"/>
              </a:buClr>
              <a:buSzPts val="4000"/>
              <a:buFont typeface="Calibri" panose="020F0502020204030204"/>
              <a:buNone/>
            </a:pPr>
            <a:r>
              <a:rPr lang="en-US" sz="4000" b="1" i="0" u="none">
                <a:solidFill>
                  <a:srgbClr val="E59B57"/>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E59B57"/>
              </a:solidFill>
              <a:latin typeface="Calibri" panose="020F0502020204030204"/>
              <a:ea typeface="Calibri" panose="020F0502020204030204"/>
              <a:cs typeface="Calibri" panose="020F0502020204030204"/>
              <a:sym typeface="Calibri" panose="020F0502020204030204"/>
            </a:endParaRPr>
          </a:p>
        </p:txBody>
      </p:sp>
      <p:sp>
        <p:nvSpPr>
          <p:cNvPr id="417" name="Google Shape;417;p31"/>
          <p:cNvSpPr txBox="1"/>
          <p:nvPr/>
        </p:nvSpPr>
        <p:spPr>
          <a:xfrm>
            <a:off x="8686800" y="0"/>
            <a:ext cx="609600" cy="7054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4000"/>
              <a:buFont typeface="Calibri" panose="020F0502020204030204"/>
              <a:buNone/>
            </a:pPr>
            <a:r>
              <a:rPr lang="en-US" sz="4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4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418" name="Google Shape;418;p31"/>
          <p:cNvSpPr txBox="1"/>
          <p:nvPr/>
        </p:nvSpPr>
        <p:spPr>
          <a:xfrm>
            <a:off x="8839200" y="609600"/>
            <a:ext cx="1828800" cy="612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0" i="1" u="none">
                <a:solidFill>
                  <a:schemeClr val="lt1"/>
                </a:solidFill>
                <a:latin typeface="Helvetica Neue" panose="020B0604020202020204"/>
                <a:ea typeface="Helvetica Neue" panose="020B0604020202020204"/>
                <a:cs typeface="Helvetica Neue" panose="020B0604020202020204"/>
                <a:sym typeface="Helvetica Neue" panose="020B0604020202020204"/>
              </a:rPr>
              <a:t>Leadership Styles</a:t>
            </a:r>
            <a:endParaRPr lang="en-US" sz="1700" b="0" i="1"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19" name="Google Shape;419;p31"/>
          <p:cNvSpPr txBox="1"/>
          <p:nvPr/>
        </p:nvSpPr>
        <p:spPr>
          <a:xfrm>
            <a:off x="2057400" y="990600"/>
            <a:ext cx="5257800" cy="582993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800"/>
              <a:buFont typeface="Arial" panose="020B0604020202020204"/>
              <a:buNone/>
            </a:pPr>
            <a:endParaRPr sz="800" b="0" i="0"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42900" marR="0" lvl="2" indent="-342900" algn="l" rtl="0">
              <a:lnSpc>
                <a:spcPct val="100000"/>
              </a:lnSpc>
              <a:spcBef>
                <a:spcPts val="0"/>
              </a:spcBef>
              <a:spcAft>
                <a:spcPts val="0"/>
              </a:spcAft>
              <a:buClr>
                <a:srgbClr val="000000"/>
              </a:buClr>
              <a:buSzPts val="2700"/>
              <a:buFont typeface="Arial" panose="020B0604020202020204"/>
              <a:buChar char="•"/>
            </a:pPr>
            <a:r>
              <a:rPr lang="en-US" sz="2700" b="1"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Autocratic Leadership -- </a:t>
            </a:r>
            <a:r>
              <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Making managerial decisions without  consulting others.</a:t>
            </a:r>
            <a:endPar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42900" marR="0" lvl="2" indent="-342900" algn="l" rtl="0">
              <a:lnSpc>
                <a:spcPct val="100000"/>
              </a:lnSpc>
              <a:spcBef>
                <a:spcPts val="1200"/>
              </a:spcBef>
              <a:spcAft>
                <a:spcPts val="0"/>
              </a:spcAft>
              <a:buClr>
                <a:srgbClr val="000000"/>
              </a:buClr>
              <a:buSzPts val="2700"/>
              <a:buFont typeface="Arial" panose="020B0604020202020204"/>
              <a:buChar char="•"/>
            </a:pPr>
            <a:r>
              <a:rPr lang="en-US" sz="2700" b="1"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Participative or Democratic Leadership -- </a:t>
            </a:r>
            <a:r>
              <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Managers and employees work together to make decisions.</a:t>
            </a:r>
            <a:r>
              <a:rPr lang="en-US" sz="12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 flexibility, good listening skill, empathy</a:t>
            </a:r>
            <a:r>
              <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 </a:t>
            </a:r>
            <a:endPar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42900" marR="0" lvl="2" indent="-342900" algn="l" rtl="0">
              <a:lnSpc>
                <a:spcPct val="100000"/>
              </a:lnSpc>
              <a:spcBef>
                <a:spcPts val="1200"/>
              </a:spcBef>
              <a:spcAft>
                <a:spcPts val="0"/>
              </a:spcAft>
              <a:buClr>
                <a:srgbClr val="000000"/>
              </a:buClr>
              <a:buSzPts val="2700"/>
              <a:buFont typeface="Arial" panose="020B0604020202020204"/>
              <a:buChar char="•"/>
            </a:pPr>
            <a:r>
              <a:rPr lang="en-US" sz="2700" b="1"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Free-Rein Leadership -- </a:t>
            </a:r>
            <a:r>
              <a:rPr lang="en-US" sz="25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Managers set objectives and employees are free to do whatever is appropriate to accomplish those objectives. </a:t>
            </a:r>
            <a:r>
              <a:rPr lang="en-US" sz="12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Warmth, friendliness &amp; understanding</a:t>
            </a:r>
            <a:endParaRPr lang="en-US" sz="12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20" name="Google Shape;420;p31"/>
          <p:cNvSpPr txBox="1"/>
          <p:nvPr>
            <p:ph type="ctrTitle"/>
          </p:nvPr>
        </p:nvSpPr>
        <p:spPr>
          <a:xfrm>
            <a:off x="1981200" y="5397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Helvetica Neue" panose="020B0604020202020204"/>
              <a:buNone/>
            </a:pPr>
            <a:r>
              <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LEADERSHIP STYLES</a:t>
            </a:r>
            <a:endParaRPr lang="en-US" sz="3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21" name="Google Shape;421;p31"/>
          <p:cNvSpPr txBox="1"/>
          <p:nvPr/>
        </p:nvSpPr>
        <p:spPr>
          <a:xfrm>
            <a:off x="9296400" y="1295400"/>
            <a:ext cx="685800" cy="3511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Helvetica Neue" panose="020B0604020202020204"/>
              <a:buNone/>
            </a:pPr>
            <a:r>
              <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LG5</a:t>
            </a:r>
            <a:endParaRPr lang="en-US" sz="17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422" name="Google Shape;422;p31" descr="Phil.gif"/>
          <p:cNvPicPr preferRelativeResize="0"/>
          <p:nvPr/>
        </p:nvPicPr>
        <p:blipFill rotWithShape="1">
          <a:blip r:embed="rId1"/>
          <a:srcRect/>
          <a:stretch>
            <a:fillRect/>
          </a:stretch>
        </p:blipFill>
        <p:spPr>
          <a:xfrm>
            <a:off x="7315200" y="1752600"/>
            <a:ext cx="2628900" cy="4241800"/>
          </a:xfrm>
          <a:prstGeom prst="rect">
            <a:avLst/>
          </a:prstGeom>
          <a:noFill/>
          <a:ln>
            <a:noFill/>
          </a:ln>
        </p:spPr>
      </p:pic>
      <p:sp>
        <p:nvSpPr>
          <p:cNvPr id="423" name="Google Shape;423;p31"/>
          <p:cNvSpPr txBox="1"/>
          <p:nvPr/>
        </p:nvSpPr>
        <p:spPr>
          <a:xfrm>
            <a:off x="8763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Times New Roman" panose="02020603050405020304"/>
              <a:buNone/>
            </a:pPr>
            <a:r>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a:t>
            </a:r>
            <a:fld id="{00000000-1234-1234-1234-123412341234}" type="slidenum">
              <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12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427" name="Shape 427"/>
        <p:cNvGrpSpPr/>
        <p:nvPr/>
      </p:nvGrpSpPr>
      <p:grpSpPr>
        <a:xfrm>
          <a:off x="0" y="0"/>
          <a:ext cx="0" cy="0"/>
          <a:chOff x="0" y="0"/>
          <a:chExt cx="0" cy="0"/>
        </a:xfrm>
      </p:grpSpPr>
      <p:sp>
        <p:nvSpPr>
          <p:cNvPr id="428" name="Google Shape;428;p32"/>
          <p:cNvSpPr txBox="1"/>
          <p:nvPr>
            <p:ph type="title"/>
          </p:nvPr>
        </p:nvSpPr>
        <p:spPr>
          <a:xfrm>
            <a:off x="1981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Helvetica Neue" panose="020B0604020202020204"/>
              <a:buNone/>
            </a:pPr>
            <a:r>
              <a:rPr lang="en-US" sz="44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LEADERSHIP STYLES</a:t>
            </a:r>
            <a:endParaRPr lang="en-US" sz="44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29" name="Google Shape;429;p32"/>
          <p:cNvSpPr txBox="1"/>
          <p:nvPr>
            <p:ph type="body" idx="1"/>
          </p:nvPr>
        </p:nvSpPr>
        <p:spPr>
          <a:xfrm>
            <a:off x="1981200" y="1600200"/>
            <a:ext cx="8229600" cy="45259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panose="020B0604020202020204"/>
              <a:buNone/>
            </a:pPr>
            <a:r>
              <a:rPr lang="en-US" sz="3200" b="1" i="0" u="none">
                <a:solidFill>
                  <a:schemeClr val="dk1"/>
                </a:solidFill>
                <a:latin typeface="Calibri" panose="020F0502020204030204"/>
                <a:ea typeface="Calibri" panose="020F0502020204030204"/>
                <a:cs typeface="Calibri" panose="020F0502020204030204"/>
                <a:sym typeface="Calibri" panose="020F0502020204030204"/>
              </a:rPr>
              <a:t>Other concepts:</a:t>
            </a:r>
            <a:endParaRPr lang="en-US" sz="3200" b="1" i="0" u="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3200"/>
              </a:spcBef>
              <a:spcAft>
                <a:spcPts val="0"/>
              </a:spcAft>
              <a:buClr>
                <a:srgbClr val="660066"/>
              </a:buClr>
              <a:buSzPts val="3200"/>
              <a:buFont typeface="Noto Sans Symbols"/>
              <a:buChar char="❖"/>
            </a:pPr>
            <a:r>
              <a:rPr lang="en-US" sz="3200" b="0" i="0" u="none">
                <a:solidFill>
                  <a:schemeClr val="dk1"/>
                </a:solidFill>
                <a:latin typeface="Calibri" panose="020F0502020204030204"/>
                <a:ea typeface="Calibri" panose="020F0502020204030204"/>
                <a:cs typeface="Calibri" panose="020F0502020204030204"/>
                <a:sym typeface="Calibri" panose="020F0502020204030204"/>
              </a:rPr>
              <a:t>Directing</a:t>
            </a:r>
            <a:endParaRPr lang="en-US" sz="3200" b="0" i="0" u="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660066"/>
              </a:buClr>
              <a:buSzPts val="3200"/>
              <a:buFont typeface="Noto Sans Symbols"/>
              <a:buChar char="❖"/>
            </a:pPr>
            <a:r>
              <a:rPr lang="en-US" sz="3200" b="0" i="0" u="none">
                <a:solidFill>
                  <a:schemeClr val="dk1"/>
                </a:solidFill>
                <a:latin typeface="Calibri" panose="020F0502020204030204"/>
                <a:ea typeface="Calibri" panose="020F0502020204030204"/>
                <a:cs typeface="Calibri" panose="020F0502020204030204"/>
                <a:sym typeface="Calibri" panose="020F0502020204030204"/>
              </a:rPr>
              <a:t>Empowerment</a:t>
            </a:r>
            <a:endParaRPr lang="en-US" sz="3200" b="0" i="0" u="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660066"/>
              </a:buClr>
              <a:buSzPts val="3200"/>
              <a:buFont typeface="Noto Sans Symbols"/>
              <a:buChar char="❖"/>
            </a:pPr>
            <a:r>
              <a:rPr lang="en-US" sz="3200" b="0" i="0" u="none">
                <a:solidFill>
                  <a:schemeClr val="dk1"/>
                </a:solidFill>
                <a:latin typeface="Calibri" panose="020F0502020204030204"/>
                <a:ea typeface="Calibri" panose="020F0502020204030204"/>
                <a:cs typeface="Calibri" panose="020F0502020204030204"/>
                <a:sym typeface="Calibri" panose="020F0502020204030204"/>
              </a:rPr>
              <a:t>Enabling</a:t>
            </a:r>
            <a:endParaRPr lang="en-US" sz="3200" b="0" i="0" u="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660066"/>
              </a:buClr>
              <a:buSzPts val="3200"/>
              <a:buFont typeface="Noto Sans Symbols"/>
              <a:buChar char="❖"/>
            </a:pPr>
            <a:r>
              <a:rPr lang="en-US" sz="3200" b="0" i="0" u="none">
                <a:solidFill>
                  <a:schemeClr val="dk1"/>
                </a:solidFill>
                <a:latin typeface="Calibri" panose="020F0502020204030204"/>
                <a:ea typeface="Calibri" panose="020F0502020204030204"/>
                <a:cs typeface="Calibri" panose="020F0502020204030204"/>
                <a:sym typeface="Calibri" panose="020F0502020204030204"/>
              </a:rPr>
              <a:t>Knowledge management</a:t>
            </a:r>
            <a:endParaRPr lang="en-US" sz="3200" b="0" i="0" u="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139700" algn="l" rtl="0">
              <a:spcBef>
                <a:spcPts val="640"/>
              </a:spcBef>
              <a:spcAft>
                <a:spcPts val="0"/>
              </a:spcAft>
              <a:buClr>
                <a:schemeClr val="dk1"/>
              </a:buClr>
              <a:buSzPts val="3200"/>
              <a:buFont typeface="Arial" panose="020B0604020202020204"/>
              <a:buNone/>
            </a:pPr>
            <a:endParaRPr sz="3200" b="0" i="0" u="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4832</Words>
  <Application>WPS Presentation</Application>
  <PresentationFormat>Widescreen</PresentationFormat>
  <Paragraphs>136</Paragraphs>
  <Slides>18</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18</vt:i4>
      </vt:variant>
    </vt:vector>
  </HeadingPairs>
  <TitlesOfParts>
    <vt:vector size="36" baseType="lpstr">
      <vt:lpstr>Arial</vt:lpstr>
      <vt:lpstr>SimSun</vt:lpstr>
      <vt:lpstr>Wingdings</vt:lpstr>
      <vt:lpstr>Arial</vt:lpstr>
      <vt:lpstr>Calibri</vt:lpstr>
      <vt:lpstr>Helvetica Neue</vt:lpstr>
      <vt:lpstr>Times New Roman</vt:lpstr>
      <vt:lpstr>Roboto</vt:lpstr>
      <vt:lpstr>Times New Roman</vt:lpstr>
      <vt:lpstr>Arial Black</vt:lpstr>
      <vt:lpstr>Merriweather Sans</vt:lpstr>
      <vt:lpstr>Noto Sans Symbols</vt:lpstr>
      <vt:lpstr>Calibri Light</vt:lpstr>
      <vt:lpstr>Microsoft YaHei</vt:lpstr>
      <vt:lpstr>Arial Unicode MS</vt:lpstr>
      <vt:lpstr>Segoe Print</vt:lpstr>
      <vt:lpstr>Calibri</vt:lpstr>
      <vt:lpstr>Office Theme</vt:lpstr>
      <vt:lpstr>Week-4 Session-2</vt:lpstr>
      <vt:lpstr>LEVELS of MANAGEMENT</vt:lpstr>
      <vt:lpstr>Formulating Business-Level Strategies</vt:lpstr>
      <vt:lpstr>Porter’s Generic Strategies</vt:lpstr>
      <vt:lpstr>Porter’s Generic Strategies</vt:lpstr>
      <vt:lpstr>Differentiation strategy</vt:lpstr>
      <vt:lpstr>Overall Cost Leadership Strategy</vt:lpstr>
      <vt:lpstr>A Focus Strategy</vt:lpstr>
      <vt:lpstr> The Miles and Snow Typology</vt:lpstr>
      <vt:lpstr>Organizing</vt:lpstr>
      <vt:lpstr>Organizing</vt:lpstr>
      <vt:lpstr>PowerPoint 演示文稿</vt:lpstr>
      <vt:lpstr>Controlling</vt:lpstr>
      <vt:lpstr>FIVE STEPS of CONTROLLING</vt:lpstr>
      <vt:lpstr>PowerPoint 演示文稿</vt:lpstr>
      <vt:lpstr>LEADERSHIP</vt:lpstr>
      <vt:lpstr>LEADERSHIP STYLES</vt:lpstr>
      <vt:lpstr>LEADERSHIP STYLES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Week-4 Session-2</dc:title>
  <dc:creator>User</dc:creator>
  <cp:lastModifiedBy>Zoeb-Ur- Rahman</cp:lastModifiedBy>
  <cp:revision>5</cp:revision>
  <dcterms:created xsi:type="dcterms:W3CDTF">2024-06-24T17:11:00Z</dcterms:created>
  <dcterms:modified xsi:type="dcterms:W3CDTF">2024-11-16T16:55:20Z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E00CBD8717A34BAF9FD3E19168A9DD0D_13</vt:lpwstr>
  </property>
  <property fmtid="{D5CDD505-2E9C-101B-9397-08002B2CF9AE}" pid="3" name="KSOProductBuildVer">
    <vt:lpwstr>1033-12.2.0.18607</vt:lpwstr>
  </property>
</Properties>
</file>