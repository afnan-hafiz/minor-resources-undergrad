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793" autoAdjust="0"/>
  </p:normalViewPr>
  <p:slideViewPr>
    <p:cSldViewPr>
      <p:cViewPr varScale="1">
        <p:scale>
          <a:sx n="68" d="100"/>
          <a:sy n="68" d="100"/>
        </p:scale>
        <p:origin x="13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C7FFC-370A-471B-AAC8-448BFD39669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C3365-A655-446A-B51A-26CF7071B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6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C3365-A655-446A-B51A-26CF7071B0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22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317" y="5333444"/>
            <a:ext cx="833621" cy="4811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317" y="5333444"/>
            <a:ext cx="833621" cy="4811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3829" y="774010"/>
            <a:ext cx="3605415" cy="5574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13317" y="5333444"/>
            <a:ext cx="833621" cy="4811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29564"/>
            <a:ext cx="10358120" cy="128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7794" y="1567942"/>
            <a:ext cx="8078470" cy="3934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c.gov.bd/acts/partnershipact1932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en.banglapedia.org/index.php?title=Partnership_Busines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1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7335" y="0"/>
            <a:ext cx="9144000" cy="6324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388" y="5029200"/>
            <a:ext cx="1201947" cy="11016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6939" y="6431381"/>
            <a:ext cx="593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4285" y="3452486"/>
            <a:ext cx="4583430" cy="1576714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255"/>
              </a:spcBef>
            </a:pPr>
            <a:r>
              <a:rPr sz="2400" spc="-5" dirty="0">
                <a:latin typeface="Arial MT"/>
                <a:cs typeface="Arial MT"/>
              </a:rPr>
              <a:t>Becoming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Entrepreneur</a:t>
            </a:r>
            <a:endParaRPr lang="en-US" sz="2400" spc="-5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buClr>
                <a:srgbClr val="3399FF"/>
              </a:buClr>
              <a:buSzPct val="75000"/>
              <a:tabLst>
                <a:tab pos="926465" algn="l"/>
                <a:tab pos="927100" algn="l"/>
              </a:tabLst>
            </a:pPr>
            <a:r>
              <a:rPr lang="en-US" sz="2400" spc="-5" dirty="0">
                <a:latin typeface="Arial MT"/>
                <a:cs typeface="Arial MT"/>
              </a:rPr>
              <a:t>	Small</a:t>
            </a:r>
            <a:r>
              <a:rPr lang="en-US" sz="2400" spc="-1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Business</a:t>
            </a:r>
            <a:r>
              <a:rPr lang="en-US" sz="2400" spc="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Basics</a:t>
            </a:r>
            <a:endParaRPr lang="en-US"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  <a:buClr>
                <a:srgbClr val="3399FF"/>
              </a:buClr>
              <a:buSzPct val="75000"/>
              <a:tabLst>
                <a:tab pos="926465" algn="l"/>
                <a:tab pos="927100" algn="l"/>
              </a:tabLst>
            </a:pPr>
            <a:r>
              <a:rPr lang="en-US" sz="2400" spc="-5" dirty="0">
                <a:latin typeface="Arial MT"/>
                <a:cs typeface="Arial MT"/>
              </a:rPr>
              <a:t>	Starting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a</a:t>
            </a:r>
            <a:r>
              <a:rPr lang="en-US" sz="2400" spc="-10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Small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5" dirty="0">
                <a:latin typeface="Arial MT"/>
                <a:cs typeface="Arial MT"/>
              </a:rPr>
              <a:t>Business</a:t>
            </a:r>
            <a:endParaRPr lang="en-US" sz="2400" dirty="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24555" y="1210055"/>
            <a:ext cx="6872605" cy="1729105"/>
            <a:chOff x="2924555" y="1210055"/>
            <a:chExt cx="6872605" cy="172910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4555" y="1210055"/>
              <a:ext cx="5612130" cy="111937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4555" y="1819655"/>
              <a:ext cx="6872478" cy="111937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227070" y="1342085"/>
            <a:ext cx="623443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>
                <a:solidFill>
                  <a:srgbClr val="4471C4"/>
                </a:solidFill>
                <a:latin typeface="Times New Roman"/>
                <a:cs typeface="Times New Roman"/>
              </a:rPr>
              <a:t>Entrepreneurship</a:t>
            </a:r>
            <a:r>
              <a:rPr sz="4000" spc="15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4471C4"/>
                </a:solidFill>
                <a:latin typeface="Times New Roman"/>
                <a:cs typeface="Times New Roman"/>
              </a:rPr>
              <a:t>and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spc="-5" dirty="0">
                <a:solidFill>
                  <a:srgbClr val="4471C4"/>
                </a:solidFill>
                <a:latin typeface="Times New Roman"/>
                <a:cs typeface="Times New Roman"/>
              </a:rPr>
              <a:t>Small</a:t>
            </a:r>
            <a:r>
              <a:rPr sz="4000" dirty="0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sz="4000" spc="-5" dirty="0">
                <a:solidFill>
                  <a:srgbClr val="4471C4"/>
                </a:solidFill>
                <a:latin typeface="Times New Roman"/>
                <a:cs typeface="Times New Roman"/>
              </a:rPr>
              <a:t>Business Management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39" y="6431381"/>
            <a:ext cx="593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52600" y="914400"/>
            <a:ext cx="81006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55" dirty="0">
                <a:solidFill>
                  <a:srgbClr val="4471C4"/>
                </a:solidFill>
                <a:latin typeface="Calibri Light"/>
                <a:cs typeface="Calibri Light"/>
              </a:rPr>
              <a:t>Becoming</a:t>
            </a:r>
            <a:r>
              <a:rPr sz="6000" b="0" spc="-12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6000" b="0" spc="-25" dirty="0">
                <a:solidFill>
                  <a:srgbClr val="4471C4"/>
                </a:solidFill>
                <a:latin typeface="Calibri Light"/>
                <a:cs typeface="Calibri Light"/>
              </a:rPr>
              <a:t>an</a:t>
            </a:r>
            <a:r>
              <a:rPr sz="6000"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sz="6000" b="0" spc="-70" dirty="0">
                <a:solidFill>
                  <a:srgbClr val="4471C4"/>
                </a:solidFill>
                <a:latin typeface="Calibri Light"/>
                <a:cs typeface="Calibri Light"/>
              </a:rPr>
              <a:t>Entrepreneur</a:t>
            </a:r>
            <a:endParaRPr sz="60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4105" y="2753138"/>
            <a:ext cx="765810" cy="151193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200" b="1" spc="-10" dirty="0">
                <a:solidFill>
                  <a:srgbClr val="0066FF"/>
                </a:solidFill>
                <a:latin typeface="Calibri"/>
                <a:cs typeface="Calibri"/>
              </a:rPr>
              <a:t>Goal</a:t>
            </a:r>
            <a:r>
              <a:rPr sz="2200" b="1" spc="-6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6FF"/>
                </a:solidFill>
                <a:latin typeface="Calibri"/>
                <a:cs typeface="Calibri"/>
              </a:rPr>
              <a:t>1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00" b="1" spc="-10" dirty="0">
                <a:solidFill>
                  <a:srgbClr val="0066FF"/>
                </a:solidFill>
                <a:latin typeface="Calibri"/>
                <a:cs typeface="Calibri"/>
              </a:rPr>
              <a:t>Goal</a:t>
            </a:r>
            <a:r>
              <a:rPr sz="2200" b="1" spc="-6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6FF"/>
                </a:solidFill>
                <a:latin typeface="Calibri"/>
                <a:cs typeface="Calibri"/>
              </a:rPr>
              <a:t>2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200" b="1" spc="-10" dirty="0">
                <a:solidFill>
                  <a:srgbClr val="0066FF"/>
                </a:solidFill>
                <a:latin typeface="Calibri"/>
                <a:cs typeface="Calibri"/>
              </a:rPr>
              <a:t>Goal</a:t>
            </a:r>
            <a:r>
              <a:rPr sz="2200" b="1" spc="-65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0066FF"/>
                </a:solidFill>
                <a:latin typeface="Calibri"/>
                <a:cs typeface="Calibri"/>
              </a:rPr>
              <a:t>3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1800" y="2753138"/>
            <a:ext cx="7182484" cy="1511935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200" spc="-5" dirty="0">
                <a:latin typeface="Calibri"/>
                <a:cs typeface="Calibri"/>
              </a:rPr>
              <a:t>Identify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characteristics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successful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entrepreneurs.</a:t>
            </a:r>
            <a:endParaRPr sz="2200" dirty="0">
              <a:latin typeface="Calibri"/>
              <a:cs typeface="Calibri"/>
            </a:endParaRPr>
          </a:p>
          <a:p>
            <a:pPr marL="12700" marR="5080">
              <a:lnSpc>
                <a:spcPct val="147700"/>
              </a:lnSpc>
              <a:spcBef>
                <a:spcPts val="5"/>
              </a:spcBef>
            </a:pPr>
            <a:r>
              <a:rPr sz="2200" spc="-20" dirty="0">
                <a:latin typeface="Calibri"/>
                <a:cs typeface="Calibri"/>
              </a:rPr>
              <a:t>Recognize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importance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entrepreneurship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economy.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Describe </a:t>
            </a:r>
            <a:r>
              <a:rPr sz="2200" spc="-10" dirty="0">
                <a:latin typeface="Calibri"/>
                <a:cs typeface="Calibri"/>
              </a:rPr>
              <a:t>opportunities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risks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5" dirty="0">
                <a:latin typeface="Calibri"/>
                <a:cs typeface="Calibri"/>
              </a:rPr>
              <a:t>entrepreneurship.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570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60" dirty="0">
                <a:solidFill>
                  <a:srgbClr val="4471C4"/>
                </a:solidFill>
                <a:latin typeface="Calibri Light"/>
                <a:cs typeface="Calibri Light"/>
              </a:rPr>
              <a:t>W</a:t>
            </a:r>
            <a:r>
              <a:rPr b="0" spc="-40" dirty="0">
                <a:solidFill>
                  <a:srgbClr val="4471C4"/>
                </a:solidFill>
                <a:latin typeface="Calibri Light"/>
                <a:cs typeface="Calibri Light"/>
              </a:rPr>
              <a:t>H</a:t>
            </a:r>
            <a:r>
              <a:rPr b="0" spc="-385" dirty="0">
                <a:solidFill>
                  <a:srgbClr val="4471C4"/>
                </a:solidFill>
                <a:latin typeface="Calibri Light"/>
                <a:cs typeface="Calibri Light"/>
              </a:rPr>
              <a:t>A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T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i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s</a:t>
            </a:r>
            <a:r>
              <a:rPr b="0" spc="-6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E</a:t>
            </a:r>
            <a:r>
              <a:rPr b="0" spc="-40" dirty="0">
                <a:solidFill>
                  <a:srgbClr val="4471C4"/>
                </a:solidFill>
                <a:latin typeface="Calibri Light"/>
                <a:cs typeface="Calibri Light"/>
              </a:rPr>
              <a:t>N</a:t>
            </a: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TRE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P</a:t>
            </a: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RE</a:t>
            </a:r>
            <a:r>
              <a:rPr b="0" spc="-65" dirty="0">
                <a:solidFill>
                  <a:srgbClr val="4471C4"/>
                </a:solidFill>
                <a:latin typeface="Calibri Light"/>
                <a:cs typeface="Calibri Light"/>
              </a:rPr>
              <a:t>N</a:t>
            </a: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E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U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R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S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H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I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P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995371"/>
            <a:ext cx="9577070" cy="836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Entrepreneurship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•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Accepting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risk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starting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running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spc="-5" dirty="0">
                <a:latin typeface="Calibri"/>
                <a:cs typeface="Calibri"/>
              </a:rPr>
              <a:t>business.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0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39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Who</a:t>
            </a:r>
            <a:r>
              <a:rPr b="0" spc="-12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4471C4"/>
                </a:solidFill>
                <a:latin typeface="Calibri Light"/>
                <a:cs typeface="Calibri Light"/>
              </a:rPr>
              <a:t>is</a:t>
            </a:r>
            <a:r>
              <a:rPr b="0" spc="-7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an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entrepreneur?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2291587"/>
            <a:ext cx="9830435" cy="394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Person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conducting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(Webster)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19010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Person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up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deals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make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profits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(Collins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Cobuild)</a:t>
            </a:r>
            <a:endParaRPr sz="2800" dirty="0">
              <a:latin typeface="Calibri"/>
              <a:cs typeface="Calibri"/>
            </a:endParaRPr>
          </a:p>
          <a:p>
            <a:pPr marL="241300" marR="66040" indent="-229235">
              <a:lnSpc>
                <a:spcPct val="19000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Calibri"/>
                <a:cs typeface="Calibri"/>
              </a:rPr>
              <a:t>Organizer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economic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venture,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 </a:t>
            </a:r>
            <a:r>
              <a:rPr sz="2800" spc="-10" dirty="0">
                <a:latin typeface="Calibri"/>
                <a:cs typeface="Calibri"/>
              </a:rPr>
              <a:t>owns,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organizes,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manages,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assumes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risks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(Chandrashekhar)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0800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250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65" dirty="0">
                <a:solidFill>
                  <a:srgbClr val="4471C4"/>
                </a:solidFill>
                <a:latin typeface="Calibri Light"/>
                <a:cs typeface="Calibri Light"/>
              </a:rPr>
              <a:t>Why</a:t>
            </a:r>
            <a:r>
              <a:rPr b="0" spc="-114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entrepreneurship?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197" y="1828800"/>
            <a:ext cx="10320020" cy="41370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530"/>
              </a:spcBef>
              <a:buFont typeface="Arial MT"/>
              <a:buChar char="•"/>
              <a:tabLst>
                <a:tab pos="241935" algn="l"/>
              </a:tabLst>
            </a:pPr>
            <a:r>
              <a:rPr sz="3600" spc="-15" dirty="0">
                <a:latin typeface="Calibri"/>
                <a:cs typeface="Calibri"/>
              </a:rPr>
              <a:t>Process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10" dirty="0">
                <a:latin typeface="Calibri"/>
                <a:cs typeface="Calibri"/>
              </a:rPr>
              <a:t>creating </a:t>
            </a:r>
            <a:r>
              <a:rPr sz="3600" spc="-5" dirty="0">
                <a:latin typeface="Calibri"/>
                <a:cs typeface="Calibri"/>
              </a:rPr>
              <a:t>something </a:t>
            </a:r>
            <a:r>
              <a:rPr sz="3600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different</a:t>
            </a:r>
            <a:r>
              <a:rPr sz="3600" spc="-20" dirty="0">
                <a:latin typeface="Calibri"/>
                <a:cs typeface="Calibri"/>
              </a:rPr>
              <a:t>, </a:t>
            </a:r>
            <a:r>
              <a:rPr sz="3600" spc="-5" dirty="0">
                <a:latin typeface="Calibri"/>
                <a:cs typeface="Calibri"/>
              </a:rPr>
              <a:t>with </a:t>
            </a:r>
            <a:r>
              <a:rPr sz="3600" spc="-1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value</a:t>
            </a:r>
            <a:r>
              <a:rPr sz="3600" spc="-10" dirty="0">
                <a:latin typeface="Calibri"/>
                <a:cs typeface="Calibri"/>
              </a:rPr>
              <a:t>, </a:t>
            </a:r>
            <a:r>
              <a:rPr sz="3600" spc="-5" dirty="0">
                <a:latin typeface="Calibri"/>
                <a:cs typeface="Calibri"/>
              </a:rPr>
              <a:t>by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devoting </a:t>
            </a:r>
            <a:r>
              <a:rPr sz="3600" spc="-5" dirty="0">
                <a:latin typeface="Calibri"/>
                <a:cs typeface="Calibri"/>
              </a:rPr>
              <a:t>necessary </a:t>
            </a:r>
            <a:r>
              <a:rPr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time and </a:t>
            </a:r>
            <a:r>
              <a:rPr sz="360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effort</a:t>
            </a:r>
            <a:r>
              <a:rPr sz="3600" spc="-25" dirty="0">
                <a:latin typeface="Calibri"/>
                <a:cs typeface="Calibri"/>
              </a:rPr>
              <a:t>, </a:t>
            </a:r>
            <a:r>
              <a:rPr sz="3600" spc="-5" dirty="0">
                <a:latin typeface="Calibri"/>
                <a:cs typeface="Calibri"/>
              </a:rPr>
              <a:t>by </a:t>
            </a:r>
            <a:r>
              <a:rPr sz="3600" dirty="0">
                <a:latin typeface="Calibri"/>
                <a:cs typeface="Calibri"/>
              </a:rPr>
              <a:t>assuming the 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accompanying</a:t>
            </a:r>
            <a:r>
              <a:rPr sz="3600" spc="13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financial,</a:t>
            </a:r>
            <a:r>
              <a:rPr sz="3600" spc="14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psychological,</a:t>
            </a:r>
            <a:r>
              <a:rPr sz="3600" spc="1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18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social 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chemeClr val="accent3">
                    <a:lumMod val="75000"/>
                  </a:schemeClr>
                </a:solidFill>
                <a:latin typeface="Calibri"/>
                <a:cs typeface="Calibri"/>
              </a:rPr>
              <a:t>risks</a:t>
            </a:r>
            <a:r>
              <a:rPr sz="3600" spc="-10" dirty="0">
                <a:latin typeface="Calibri"/>
                <a:cs typeface="Calibri"/>
              </a:rPr>
              <a:t>, </a:t>
            </a:r>
            <a:r>
              <a:rPr sz="3600" dirty="0">
                <a:latin typeface="Calibri"/>
                <a:cs typeface="Calibri"/>
              </a:rPr>
              <a:t>and </a:t>
            </a:r>
            <a:r>
              <a:rPr sz="3600" spc="-5" dirty="0">
                <a:latin typeface="Calibri"/>
                <a:cs typeface="Calibri"/>
              </a:rPr>
              <a:t>receiving </a:t>
            </a:r>
            <a:r>
              <a:rPr sz="3600" dirty="0">
                <a:latin typeface="Calibri"/>
                <a:cs typeface="Calibri"/>
              </a:rPr>
              <a:t>the </a:t>
            </a:r>
            <a:r>
              <a:rPr sz="3600" spc="-5" dirty="0">
                <a:latin typeface="Calibri"/>
                <a:cs typeface="Calibri"/>
              </a:rPr>
              <a:t>resulting </a:t>
            </a:r>
            <a:r>
              <a:rPr sz="3600" spc="-25" dirty="0">
                <a:solidFill>
                  <a:schemeClr val="accent4">
                    <a:lumMod val="75000"/>
                  </a:schemeClr>
                </a:solidFill>
                <a:latin typeface="Calibri"/>
                <a:cs typeface="Calibri"/>
              </a:rPr>
              <a:t>rewards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10" dirty="0">
                <a:latin typeface="Calibri"/>
                <a:cs typeface="Calibri"/>
              </a:rPr>
              <a:t>monetary 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15" dirty="0">
                <a:latin typeface="Calibri"/>
                <a:cs typeface="Calibri"/>
              </a:rPr>
              <a:t> personal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solidFill>
                  <a:schemeClr val="accent6"/>
                </a:solidFill>
                <a:latin typeface="Calibri"/>
                <a:cs typeface="Calibri"/>
              </a:rPr>
              <a:t>satisfaction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(Bowen</a:t>
            </a:r>
            <a:r>
              <a:rPr sz="3600" dirty="0">
                <a:latin typeface="Calibri"/>
                <a:cs typeface="Calibri"/>
              </a:rPr>
              <a:t> and</a:t>
            </a:r>
            <a:r>
              <a:rPr sz="3600" spc="-5" dirty="0">
                <a:latin typeface="Calibri"/>
                <a:cs typeface="Calibri"/>
              </a:rPr>
              <a:t> Hisrich,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1986).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4087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495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solidFill>
                  <a:srgbClr val="4471C4"/>
                </a:solidFill>
                <a:latin typeface="Calibri Light"/>
                <a:cs typeface="Calibri Light"/>
              </a:rPr>
              <a:t>Role</a:t>
            </a:r>
            <a:r>
              <a:rPr b="0" spc="-114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of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the</a:t>
            </a:r>
            <a:r>
              <a:rPr b="0" spc="-114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Entrepreneur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954784"/>
            <a:ext cx="10281920" cy="42561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5080" indent="-229235">
              <a:lnSpc>
                <a:spcPct val="200000"/>
              </a:lnSpc>
              <a:spcBef>
                <a:spcPts val="5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innovator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-5" dirty="0">
                <a:latin typeface="Calibri"/>
                <a:cs typeface="Calibri"/>
              </a:rPr>
              <a:t> combines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Calibri"/>
                <a:cs typeface="Calibri"/>
              </a:rPr>
              <a:t>technical</a:t>
            </a:r>
            <a:r>
              <a:rPr sz="2800" spc="-35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6"/>
                </a:solidFill>
                <a:latin typeface="Calibri"/>
                <a:cs typeface="Calibri"/>
              </a:rPr>
              <a:t>innovations</a:t>
            </a:r>
            <a:r>
              <a:rPr sz="2800" spc="-35" dirty="0">
                <a:solidFill>
                  <a:schemeClr val="accent6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financial </a:t>
            </a:r>
            <a:r>
              <a:rPr sz="2800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Calibri"/>
              </a:rPr>
              <a:t>finesses</a:t>
            </a:r>
            <a:r>
              <a:rPr sz="2800" spc="-5" dirty="0">
                <a:latin typeface="Calibri"/>
                <a:cs typeface="Calibri"/>
              </a:rPr>
              <a:t>. </a:t>
            </a:r>
            <a:r>
              <a:rPr sz="2800" spc="-10" dirty="0">
                <a:latin typeface="Calibri"/>
                <a:cs typeface="Calibri"/>
              </a:rPr>
              <a:t>Important </a:t>
            </a:r>
            <a:r>
              <a:rPr sz="2800" spc="-20" dirty="0">
                <a:latin typeface="Calibri"/>
                <a:cs typeface="Calibri"/>
              </a:rPr>
              <a:t>role </a:t>
            </a:r>
            <a:r>
              <a:rPr sz="2800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producing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competitive products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1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processes, </a:t>
            </a:r>
            <a:r>
              <a:rPr sz="28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and services</a:t>
            </a:r>
            <a:r>
              <a:rPr sz="2800" dirty="0">
                <a:latin typeface="Calibri"/>
                <a:cs typeface="Calibri"/>
              </a:rPr>
              <a:t>.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Generation </a:t>
            </a:r>
            <a:r>
              <a:rPr sz="2800" spc="-5" dirty="0">
                <a:latin typeface="Calibri"/>
                <a:cs typeface="Calibri"/>
              </a:rPr>
              <a:t>of new employment </a:t>
            </a:r>
            <a:r>
              <a:rPr sz="2800" spc="-10" dirty="0">
                <a:latin typeface="Calibri"/>
                <a:cs typeface="Calibri"/>
              </a:rPr>
              <a:t>Local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regional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economic development </a:t>
            </a:r>
            <a:r>
              <a:rPr sz="2800" spc="-15" dirty="0">
                <a:latin typeface="Calibri"/>
                <a:cs typeface="Calibri"/>
              </a:rPr>
              <a:t>Improved </a:t>
            </a:r>
            <a:r>
              <a:rPr sz="2800" spc="-10" dirty="0">
                <a:latin typeface="Calibri"/>
                <a:cs typeface="Calibri"/>
              </a:rPr>
              <a:t>allocation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transfer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technologies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056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70" dirty="0">
                <a:solidFill>
                  <a:srgbClr val="4471C4"/>
                </a:solidFill>
                <a:latin typeface="Calibri Light"/>
                <a:cs typeface="Calibri Light"/>
              </a:rPr>
              <a:t>NOTABLE</a:t>
            </a: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4471C4"/>
                </a:solidFill>
                <a:latin typeface="Calibri Light"/>
                <a:cs typeface="Calibri Light"/>
              </a:rPr>
              <a:t>ENTREPRENEURS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1402080"/>
            <a:ext cx="8093964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67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Famous</a:t>
            </a:r>
            <a:r>
              <a:rPr b="0" spc="-10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55" dirty="0">
                <a:solidFill>
                  <a:srgbClr val="4471C4"/>
                </a:solidFill>
                <a:latin typeface="Calibri Light"/>
                <a:cs typeface="Calibri Light"/>
              </a:rPr>
              <a:t>Entrepreneurs</a:t>
            </a:r>
            <a:r>
              <a:rPr b="0" spc="-9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4471C4"/>
                </a:solidFill>
                <a:latin typeface="Calibri Light"/>
                <a:cs typeface="Calibri Light"/>
              </a:rPr>
              <a:t>–</a:t>
            </a:r>
            <a:r>
              <a:rPr b="0" spc="-85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Bangladesh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700783"/>
            <a:ext cx="1524000" cy="21366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194" y="3759530"/>
            <a:ext cx="20421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Muhammad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Yunus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0207" y="1426463"/>
            <a:ext cx="2040636" cy="24109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64448" y="3911930"/>
            <a:ext cx="19678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Fazle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Hasan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Abed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2200" y="4192523"/>
            <a:ext cx="1434084" cy="18059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74494" y="6025388"/>
            <a:ext cx="2258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Latifur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Rahman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7238" y="6257645"/>
            <a:ext cx="168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Bibi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Russel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84320" y="2705100"/>
            <a:ext cx="6309360" cy="3493135"/>
            <a:chOff x="4084320" y="2705100"/>
            <a:chExt cx="6309360" cy="349313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4320" y="2705100"/>
              <a:ext cx="3764279" cy="23454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48600" y="4192524"/>
              <a:ext cx="2545079" cy="2005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994900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b="0" spc="-50" dirty="0">
                <a:solidFill>
                  <a:srgbClr val="4471C4"/>
                </a:solidFill>
                <a:latin typeface="Calibri Light"/>
                <a:cs typeface="Calibri Light"/>
              </a:rPr>
              <a:t>YOU’RE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NEVER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70" dirty="0">
                <a:solidFill>
                  <a:srgbClr val="4471C4"/>
                </a:solidFill>
                <a:latin typeface="Calibri Light"/>
                <a:cs typeface="Calibri Light"/>
              </a:rPr>
              <a:t>TOO</a:t>
            </a:r>
            <a:r>
              <a:rPr b="0" spc="-10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60" dirty="0">
                <a:solidFill>
                  <a:srgbClr val="4471C4"/>
                </a:solidFill>
                <a:latin typeface="Calibri Light"/>
                <a:cs typeface="Calibri Light"/>
              </a:rPr>
              <a:t>YOUNG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to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be</a:t>
            </a:r>
            <a:r>
              <a:rPr b="0" spc="-8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20" dirty="0">
                <a:solidFill>
                  <a:srgbClr val="4471C4"/>
                </a:solidFill>
                <a:latin typeface="Calibri Light"/>
                <a:cs typeface="Calibri Light"/>
              </a:rPr>
              <a:t>an</a:t>
            </a:r>
          </a:p>
          <a:p>
            <a:pPr marL="12700">
              <a:lnSpc>
                <a:spcPts val="5015"/>
              </a:lnSpc>
            </a:pPr>
            <a:r>
              <a:rPr b="0" spc="-40" dirty="0">
                <a:solidFill>
                  <a:srgbClr val="4471C4"/>
                </a:solidFill>
                <a:latin typeface="Calibri Light"/>
                <a:cs typeface="Calibri Light"/>
              </a:rPr>
              <a:t>ENTREPRENEUR</a:t>
            </a:r>
            <a:r>
              <a:rPr b="0" spc="-11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(Spotlight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15" dirty="0">
                <a:solidFill>
                  <a:srgbClr val="4471C4"/>
                </a:solidFill>
                <a:latin typeface="Calibri Light"/>
                <a:cs typeface="Calibri Light"/>
              </a:rPr>
              <a:t>on</a:t>
            </a:r>
            <a:r>
              <a:rPr b="0" spc="-10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471C4"/>
                </a:solidFill>
                <a:latin typeface="Calibri Light"/>
                <a:cs typeface="Calibri Light"/>
              </a:rPr>
              <a:t>Small</a:t>
            </a:r>
            <a:r>
              <a:rPr b="0" spc="-90" dirty="0">
                <a:solidFill>
                  <a:srgbClr val="4471C4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471C4"/>
                </a:solidFill>
                <a:latin typeface="Calibri Light"/>
                <a:cs typeface="Calibri Light"/>
              </a:rPr>
              <a:t>Business)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887118"/>
            <a:ext cx="10218420" cy="28390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Leanna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Archer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12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years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old,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hair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line.</a:t>
            </a:r>
            <a:endParaRPr sz="2800" dirty="0">
              <a:latin typeface="Calibri"/>
              <a:cs typeface="Calibri"/>
            </a:endParaRPr>
          </a:p>
          <a:p>
            <a:pPr marL="241300" marR="86995" indent="-22923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spc="-15" dirty="0">
                <a:latin typeface="Calibri"/>
                <a:cs typeface="Calibri"/>
              </a:rPr>
              <a:t>Alexis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Holmes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Started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baking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fundraiser,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now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16-year-old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owns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bakery.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Jack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Short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Daniel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Lyons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medical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students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started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Factory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Green,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carbon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neutral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apparel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company,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spc="-15" dirty="0">
                <a:latin typeface="Calibri"/>
                <a:cs typeface="Calibri"/>
              </a:rPr>
              <a:t>undergrads.</a:t>
            </a:r>
            <a:endParaRPr sz="2800" dirty="0">
              <a:latin typeface="Calibri"/>
              <a:cs typeface="Calibri"/>
            </a:endParaRPr>
          </a:p>
          <a:p>
            <a:pPr marL="321945" indent="-30988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sz="2800" spc="-5" dirty="0">
                <a:latin typeface="Calibri"/>
                <a:cs typeface="Calibri"/>
              </a:rPr>
              <a:t>Mark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Zuckerberg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Launched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Facebook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Harvard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freshman.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400" y="609676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36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libri Light"/>
                <a:cs typeface="Calibri Light"/>
              </a:rPr>
              <a:t>KEY</a:t>
            </a:r>
            <a:r>
              <a:rPr b="0" spc="-7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TERMS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2029" y="1679934"/>
            <a:ext cx="10515600" cy="425744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18770" indent="-228600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Entrepreneur-</a:t>
            </a:r>
            <a:r>
              <a:rPr sz="2800" spc="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individual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risk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taker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innovator.</a:t>
            </a:r>
            <a:endParaRPr sz="2800" dirty="0">
              <a:latin typeface="Calibri"/>
              <a:cs typeface="Calibri"/>
            </a:endParaRPr>
          </a:p>
          <a:p>
            <a:pPr marL="241300" marR="353060" indent="-228600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Entrepreneurship-</a:t>
            </a:r>
            <a:r>
              <a:rPr sz="2800" spc="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business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creative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risky.</a:t>
            </a:r>
            <a:endParaRPr sz="2800" dirty="0">
              <a:latin typeface="Calibri"/>
              <a:cs typeface="Calibri"/>
            </a:endParaRPr>
          </a:p>
          <a:p>
            <a:pPr marL="241300" marR="473075" indent="-228600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Characteristics:</a:t>
            </a:r>
            <a:r>
              <a:rPr sz="2800" spc="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Creative,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confident,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goal-oriented,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motivated,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hard-working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238885" algn="l"/>
              </a:tabLst>
            </a:pP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Risks:	</a:t>
            </a:r>
            <a:r>
              <a:rPr sz="2800" spc="-15" dirty="0">
                <a:latin typeface="Calibri"/>
                <a:cs typeface="Calibri"/>
              </a:rPr>
              <a:t>Unproven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idea,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little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management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experience,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long-hours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guarantee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profit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407474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36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5" dirty="0">
                <a:latin typeface="Calibri Light"/>
                <a:cs typeface="Calibri Light"/>
              </a:rPr>
              <a:t>KEY</a:t>
            </a:r>
            <a:r>
              <a:rPr b="0" spc="-7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TERMS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803866"/>
            <a:ext cx="11125200" cy="413561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430"/>
              </a:spcBef>
              <a:buFont typeface="Arial MT"/>
              <a:buChar char="●"/>
              <a:tabLst>
                <a:tab pos="241300" algn="l"/>
              </a:tabLst>
            </a:pPr>
            <a:r>
              <a:rPr sz="2800" spc="-35" dirty="0">
                <a:solidFill>
                  <a:srgbClr val="4471C4"/>
                </a:solidFill>
                <a:latin typeface="Calibri"/>
                <a:cs typeface="Calibri"/>
              </a:rPr>
              <a:t>Venture</a:t>
            </a:r>
            <a:r>
              <a:rPr sz="2800" spc="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Capital-</a:t>
            </a:r>
            <a:r>
              <a:rPr sz="2800" spc="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Money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investors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finance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products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businesses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good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chance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profitable</a:t>
            </a:r>
            <a:endParaRPr lang="en-US" sz="2800" spc="-15" dirty="0">
              <a:latin typeface="Calibri"/>
              <a:cs typeface="Calibri"/>
            </a:endParaRPr>
          </a:p>
          <a:p>
            <a:pPr marL="241300" marR="5080" indent="-228600">
              <a:lnSpc>
                <a:spcPct val="150000"/>
              </a:lnSpc>
              <a:spcBef>
                <a:spcPts val="430"/>
              </a:spcBef>
              <a:buFont typeface="Arial MT"/>
              <a:buChar char="●"/>
              <a:tabLst>
                <a:tab pos="241300" algn="l"/>
              </a:tabLst>
            </a:pPr>
            <a:endParaRPr sz="2800" dirty="0">
              <a:latin typeface="Calibri"/>
              <a:cs typeface="Calibri"/>
            </a:endParaRPr>
          </a:p>
          <a:p>
            <a:pPr marL="93345">
              <a:lnSpc>
                <a:spcPct val="150000"/>
              </a:lnSpc>
              <a:spcBef>
                <a:spcPts val="675"/>
              </a:spcBef>
            </a:pPr>
            <a:r>
              <a:rPr sz="2800" spc="-15" dirty="0">
                <a:latin typeface="Calibri"/>
                <a:cs typeface="Calibri"/>
              </a:rPr>
              <a:t>*</a:t>
            </a: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Innovation-</a:t>
            </a:r>
            <a:r>
              <a:rPr sz="2800" spc="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brand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creation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invention</a:t>
            </a:r>
            <a:endParaRPr sz="2800" dirty="0">
              <a:latin typeface="Calibri"/>
              <a:cs typeface="Calibri"/>
            </a:endParaRPr>
          </a:p>
          <a:p>
            <a:pPr marL="12700" marR="283210" indent="80645">
              <a:lnSpc>
                <a:spcPct val="150000"/>
              </a:lnSpc>
              <a:spcBef>
                <a:spcPts val="1040"/>
              </a:spcBef>
              <a:tabLst>
                <a:tab pos="7328534" algn="l"/>
              </a:tabLst>
            </a:pPr>
            <a:r>
              <a:rPr sz="2800" spc="-10" dirty="0">
                <a:latin typeface="Calibri"/>
                <a:cs typeface="Calibri"/>
              </a:rPr>
              <a:t>*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Imp</a:t>
            </a:r>
            <a:r>
              <a:rPr sz="2800" spc="-35" dirty="0">
                <a:solidFill>
                  <a:srgbClr val="4471C4"/>
                </a:solidFill>
                <a:latin typeface="Calibri"/>
                <a:cs typeface="Calibri"/>
              </a:rPr>
              <a:t>r</a:t>
            </a:r>
            <a:r>
              <a:rPr sz="2800" spc="-25" dirty="0">
                <a:solidFill>
                  <a:srgbClr val="4471C4"/>
                </a:solidFill>
                <a:latin typeface="Calibri"/>
                <a:cs typeface="Calibri"/>
              </a:rPr>
              <a:t>o</a:t>
            </a:r>
            <a:r>
              <a:rPr sz="2800" spc="-35" dirty="0">
                <a:solidFill>
                  <a:srgbClr val="4471C4"/>
                </a:solidFill>
                <a:latin typeface="Calibri"/>
                <a:cs typeface="Calibri"/>
              </a:rPr>
              <a:t>v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eme</a:t>
            </a:r>
            <a:r>
              <a:rPr sz="2800" spc="-30" dirty="0">
                <a:solidFill>
                  <a:srgbClr val="4471C4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ts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gni</a:t>
            </a:r>
            <a:r>
              <a:rPr sz="2800" spc="-15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3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gn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</a:t>
            </a:r>
            <a:r>
              <a:rPr sz="2800" spc="-25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tion  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existing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product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4085" y="420732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dirty="0"/>
              <a:t>Entrepreneurship VS </a:t>
            </a:r>
            <a:r>
              <a:rPr spc="-15" dirty="0"/>
              <a:t>Working </a:t>
            </a:r>
            <a:r>
              <a:rPr dirty="0"/>
              <a:t>for </a:t>
            </a:r>
            <a:r>
              <a:rPr spc="-1210" dirty="0"/>
              <a:t> </a:t>
            </a:r>
            <a:r>
              <a:rPr dirty="0"/>
              <a:t>others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752600"/>
            <a:ext cx="9629140" cy="450110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cs typeface="Arial"/>
              </a:rPr>
              <a:t>Entrepreneurship</a:t>
            </a:r>
            <a:endParaRPr sz="2800" dirty="0"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3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Own the</a:t>
            </a:r>
            <a:r>
              <a:rPr sz="2800" spc="-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business</a:t>
            </a:r>
            <a:endParaRPr sz="2800" dirty="0"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Freedom</a:t>
            </a:r>
            <a:r>
              <a:rPr sz="2800" spc="2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to</a:t>
            </a:r>
            <a:r>
              <a:rPr sz="2800" dirty="0">
                <a:cs typeface="Arial MT"/>
              </a:rPr>
              <a:t> succeed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as</a:t>
            </a:r>
            <a:r>
              <a:rPr sz="2800" spc="-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well</a:t>
            </a:r>
            <a:r>
              <a:rPr sz="2800" spc="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as</a:t>
            </a:r>
            <a:r>
              <a:rPr sz="2800" spc="-10" dirty="0">
                <a:cs typeface="Arial MT"/>
              </a:rPr>
              <a:t> </a:t>
            </a:r>
            <a:r>
              <a:rPr sz="2800" dirty="0">
                <a:cs typeface="Arial MT"/>
              </a:rPr>
              <a:t>freedom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to </a:t>
            </a:r>
            <a:r>
              <a:rPr sz="2800" dirty="0">
                <a:cs typeface="Arial MT"/>
              </a:rPr>
              <a:t>fail</a:t>
            </a:r>
          </a:p>
          <a:p>
            <a:pPr marL="241300" marR="5080" indent="-229235">
              <a:lnSpc>
                <a:spcPts val="2690"/>
              </a:lnSpc>
              <a:spcBef>
                <a:spcPts val="97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Do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not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receive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any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benefits such </a:t>
            </a:r>
            <a:r>
              <a:rPr sz="2800" spc="-5" dirty="0">
                <a:cs typeface="Arial MT"/>
              </a:rPr>
              <a:t>as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paid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vacation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time, day </a:t>
            </a:r>
            <a:r>
              <a:rPr sz="2800" spc="-760" dirty="0">
                <a:cs typeface="Arial MT"/>
              </a:rPr>
              <a:t> </a:t>
            </a:r>
            <a:r>
              <a:rPr sz="2800" dirty="0">
                <a:cs typeface="Arial MT"/>
              </a:rPr>
              <a:t>care,</a:t>
            </a:r>
            <a:r>
              <a:rPr sz="2800" spc="-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 company</a:t>
            </a:r>
            <a:r>
              <a:rPr sz="2800" spc="1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car or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health</a:t>
            </a:r>
            <a:r>
              <a:rPr sz="2800" spc="5" dirty="0">
                <a:cs typeface="Arial MT"/>
              </a:rPr>
              <a:t> </a:t>
            </a:r>
            <a:r>
              <a:rPr sz="2800" dirty="0">
                <a:cs typeface="Arial MT"/>
              </a:rPr>
              <a:t>insurance.</a:t>
            </a:r>
            <a:endParaRPr lang="en-US" sz="2800" dirty="0">
              <a:cs typeface="Arial MT"/>
            </a:endParaRPr>
          </a:p>
          <a:p>
            <a:pPr marL="12065" marR="5080">
              <a:lnSpc>
                <a:spcPts val="2690"/>
              </a:lnSpc>
              <a:spcBef>
                <a:spcPts val="975"/>
              </a:spcBef>
              <a:tabLst>
                <a:tab pos="241935" algn="l"/>
              </a:tabLst>
            </a:pPr>
            <a:endParaRPr sz="2800" dirty="0"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cs typeface="Arial"/>
              </a:rPr>
              <a:t>Working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cs typeface="Arial"/>
              </a:rPr>
              <a:t>for</a:t>
            </a:r>
            <a:r>
              <a:rPr sz="2800" u="heavy" spc="-25" dirty="0">
                <a:uFill>
                  <a:solidFill>
                    <a:srgbClr val="000000"/>
                  </a:solidFill>
                </a:uFill>
                <a:cs typeface="Arial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cs typeface="Arial"/>
              </a:rPr>
              <a:t>others</a:t>
            </a:r>
            <a:endParaRPr sz="2800" dirty="0"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Somebody</a:t>
            </a:r>
            <a:r>
              <a:rPr sz="2800" spc="5" dirty="0">
                <a:cs typeface="Arial MT"/>
              </a:rPr>
              <a:t> </a:t>
            </a:r>
            <a:r>
              <a:rPr sz="2800" dirty="0">
                <a:cs typeface="Arial MT"/>
              </a:rPr>
              <a:t>else</a:t>
            </a:r>
            <a:r>
              <a:rPr sz="2800" spc="-10" dirty="0">
                <a:cs typeface="Arial MT"/>
              </a:rPr>
              <a:t> </a:t>
            </a:r>
            <a:r>
              <a:rPr sz="2800" dirty="0">
                <a:cs typeface="Arial MT"/>
              </a:rPr>
              <a:t>assumes</a:t>
            </a:r>
            <a:r>
              <a:rPr sz="2800" spc="-5" dirty="0">
                <a:cs typeface="Arial MT"/>
              </a:rPr>
              <a:t> </a:t>
            </a:r>
            <a:r>
              <a:rPr sz="2800" dirty="0">
                <a:cs typeface="Arial MT"/>
              </a:rPr>
              <a:t>entrepreneurial</a:t>
            </a:r>
            <a:r>
              <a:rPr sz="2800" spc="15" dirty="0">
                <a:cs typeface="Arial MT"/>
              </a:rPr>
              <a:t> </a:t>
            </a:r>
            <a:r>
              <a:rPr sz="2800" dirty="0">
                <a:cs typeface="Arial MT"/>
              </a:rPr>
              <a:t>risk</a:t>
            </a:r>
          </a:p>
          <a:p>
            <a:pPr marL="241300" marR="636905" indent="-229235">
              <a:lnSpc>
                <a:spcPts val="2690"/>
              </a:lnSpc>
              <a:spcBef>
                <a:spcPts val="975"/>
              </a:spcBef>
              <a:buChar char="•"/>
              <a:tabLst>
                <a:tab pos="241935" algn="l"/>
              </a:tabLst>
            </a:pPr>
            <a:r>
              <a:rPr sz="2800" spc="-5" dirty="0">
                <a:cs typeface="Arial MT"/>
              </a:rPr>
              <a:t>Provides</a:t>
            </a:r>
            <a:r>
              <a:rPr sz="2800" spc="5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with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benefits</a:t>
            </a:r>
            <a:r>
              <a:rPr sz="2800" spc="1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such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as</a:t>
            </a:r>
            <a:r>
              <a:rPr sz="280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paid</a:t>
            </a:r>
            <a:r>
              <a:rPr sz="2800" spc="20" dirty="0">
                <a:cs typeface="Arial MT"/>
              </a:rPr>
              <a:t> </a:t>
            </a:r>
            <a:r>
              <a:rPr sz="2800" spc="-5" dirty="0">
                <a:cs typeface="Arial MT"/>
              </a:rPr>
              <a:t>vacation and</a:t>
            </a:r>
            <a:r>
              <a:rPr sz="2800" spc="10" dirty="0">
                <a:cs typeface="Arial MT"/>
              </a:rPr>
              <a:t> </a:t>
            </a:r>
            <a:r>
              <a:rPr sz="2800" dirty="0">
                <a:cs typeface="Arial MT"/>
              </a:rPr>
              <a:t>health </a:t>
            </a:r>
            <a:r>
              <a:rPr sz="2800" spc="-760" dirty="0">
                <a:cs typeface="Arial MT"/>
              </a:rPr>
              <a:t> </a:t>
            </a:r>
            <a:r>
              <a:rPr sz="2800" dirty="0">
                <a:cs typeface="Arial MT"/>
              </a:rPr>
              <a:t>insurance.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721232"/>
            <a:ext cx="59486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Calibri Light"/>
                <a:cs typeface="Calibri Light"/>
              </a:rPr>
              <a:t>3</a:t>
            </a:r>
            <a:r>
              <a:rPr sz="3200" b="0" spc="-5" dirty="0">
                <a:latin typeface="Calibri Light"/>
                <a:cs typeface="Calibri Light"/>
              </a:rPr>
              <a:t> </a:t>
            </a:r>
            <a:r>
              <a:rPr sz="3200" b="0" spc="-15" dirty="0">
                <a:latin typeface="Calibri Light"/>
                <a:cs typeface="Calibri Light"/>
              </a:rPr>
              <a:t>Reasons</a:t>
            </a:r>
            <a:r>
              <a:rPr sz="3200" b="0" spc="-10" dirty="0">
                <a:latin typeface="Calibri Light"/>
                <a:cs typeface="Calibri Light"/>
              </a:rPr>
              <a:t> </a:t>
            </a:r>
            <a:r>
              <a:rPr sz="3200" b="0" spc="-15" dirty="0">
                <a:latin typeface="Calibri Light"/>
                <a:cs typeface="Calibri Light"/>
              </a:rPr>
              <a:t>most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small</a:t>
            </a:r>
            <a:r>
              <a:rPr sz="3200" b="0" spc="10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businesses</a:t>
            </a:r>
            <a:r>
              <a:rPr sz="3200" b="0" spc="-5" dirty="0">
                <a:latin typeface="Calibri Light"/>
                <a:cs typeface="Calibri Light"/>
              </a:rPr>
              <a:t> </a:t>
            </a:r>
            <a:r>
              <a:rPr sz="3200" b="0" spc="-20" dirty="0">
                <a:latin typeface="Calibri Light"/>
                <a:cs typeface="Calibri Light"/>
              </a:rPr>
              <a:t>fail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887118"/>
            <a:ext cx="4919980" cy="15601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Lack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money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Lack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Not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keeping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adequate </a:t>
            </a:r>
            <a:r>
              <a:rPr sz="2800" spc="-20" dirty="0">
                <a:latin typeface="Calibri"/>
                <a:cs typeface="Calibri"/>
              </a:rPr>
              <a:t>records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05583"/>
            <a:ext cx="10515600" cy="4351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311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Checkpoint</a:t>
            </a:r>
            <a:r>
              <a:rPr b="0" spc="-50" dirty="0">
                <a:latin typeface="Calibri Light"/>
                <a:cs typeface="Calibri Light"/>
              </a:rPr>
              <a:t> </a:t>
            </a:r>
            <a:r>
              <a:rPr b="0" spc="5" dirty="0">
                <a:latin typeface="Wingdings"/>
                <a:cs typeface="Wingdings"/>
              </a:rPr>
              <a:t>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9385" y="2185542"/>
            <a:ext cx="9770745" cy="24110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sources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financing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entrepreneurs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their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businesses?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Personal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savings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Friends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family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30" dirty="0">
                <a:latin typeface="Calibri"/>
                <a:cs typeface="Calibri"/>
              </a:rPr>
              <a:t>Venture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capital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Bank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loans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0156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0" spc="-5" dirty="0">
                <a:latin typeface="Calibri Light"/>
                <a:cs typeface="Calibri Light"/>
              </a:rPr>
              <a:t>Common</a:t>
            </a:r>
            <a:r>
              <a:rPr sz="3200" b="0" spc="15" dirty="0">
                <a:latin typeface="Calibri Light"/>
                <a:cs typeface="Calibri Light"/>
              </a:rPr>
              <a:t> </a:t>
            </a:r>
            <a:r>
              <a:rPr sz="3200" b="0" spc="-35" dirty="0">
                <a:latin typeface="Calibri Light"/>
                <a:cs typeface="Calibri Light"/>
              </a:rPr>
              <a:t>Types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of</a:t>
            </a:r>
            <a:r>
              <a:rPr sz="3200" b="0" dirty="0">
                <a:latin typeface="Calibri Light"/>
                <a:cs typeface="Calibri Light"/>
              </a:rPr>
              <a:t> Small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Businesses</a:t>
            </a:r>
            <a:r>
              <a:rPr sz="3200" b="0" spc="-1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as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spc="-25" dirty="0">
                <a:latin typeface="Calibri Light"/>
                <a:cs typeface="Calibri Light"/>
              </a:rPr>
              <a:t>Percent</a:t>
            </a:r>
            <a:r>
              <a:rPr sz="3200" b="0" spc="-5" dirty="0">
                <a:latin typeface="Calibri Light"/>
                <a:cs typeface="Calibri Light"/>
              </a:rPr>
              <a:t> of</a:t>
            </a:r>
            <a:r>
              <a:rPr sz="3200" b="0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All</a:t>
            </a:r>
            <a:r>
              <a:rPr sz="3200" b="0" spc="5" dirty="0">
                <a:latin typeface="Calibri Light"/>
                <a:cs typeface="Calibri Light"/>
              </a:rPr>
              <a:t> </a:t>
            </a:r>
            <a:r>
              <a:rPr sz="3200" b="0" dirty="0">
                <a:latin typeface="Calibri Light"/>
                <a:cs typeface="Calibri Light"/>
              </a:rPr>
              <a:t>Small </a:t>
            </a:r>
            <a:r>
              <a:rPr sz="3200" b="0" spc="-705" dirty="0">
                <a:latin typeface="Calibri Light"/>
                <a:cs typeface="Calibri Light"/>
              </a:rPr>
              <a:t> </a:t>
            </a:r>
            <a:r>
              <a:rPr sz="3200" b="0" spc="-5" dirty="0">
                <a:latin typeface="Calibri Light"/>
                <a:cs typeface="Calibri Light"/>
              </a:rPr>
              <a:t>Businesses</a:t>
            </a:r>
            <a:endParaRPr sz="32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604" y="1716182"/>
            <a:ext cx="6303230" cy="44154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66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BUSINESS</a:t>
            </a:r>
            <a:r>
              <a:rPr b="0" spc="-6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PLAN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60194" y="1339342"/>
            <a:ext cx="7419340" cy="44151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Business</a:t>
            </a:r>
            <a:r>
              <a:rPr sz="2800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Plan-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written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description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idea 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carried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ELEMENTS</a:t>
            </a:r>
            <a:endParaRPr sz="2800">
              <a:latin typeface="Calibri"/>
              <a:cs typeface="Calibri"/>
            </a:endParaRPr>
          </a:p>
          <a:p>
            <a:pPr marL="12700" marR="724535" algn="just">
              <a:lnSpc>
                <a:spcPct val="119600"/>
              </a:lnSpc>
            </a:pPr>
            <a:r>
              <a:rPr sz="2800" b="1" spc="-5" dirty="0">
                <a:latin typeface="Calibri"/>
                <a:cs typeface="Calibri"/>
              </a:rPr>
              <a:t>1)Description of the business &amp; </a:t>
            </a:r>
            <a:r>
              <a:rPr sz="2800" b="1" spc="-10" dirty="0">
                <a:latin typeface="Calibri"/>
                <a:cs typeface="Calibri"/>
              </a:rPr>
              <a:t>goals 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2)Customer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Analysis-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knowing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your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customer</a:t>
            </a:r>
            <a:endParaRPr sz="2800">
              <a:latin typeface="Calibri"/>
              <a:cs typeface="Calibri"/>
            </a:endParaRPr>
          </a:p>
          <a:p>
            <a:pPr marL="12700" marR="1121410" algn="just">
              <a:lnSpc>
                <a:spcPct val="119600"/>
              </a:lnSpc>
              <a:spcBef>
                <a:spcPts val="15"/>
              </a:spcBef>
            </a:pPr>
            <a:r>
              <a:rPr sz="2800" b="1" spc="-10" dirty="0">
                <a:latin typeface="Calibri"/>
                <a:cs typeface="Calibri"/>
              </a:rPr>
              <a:t>3)Operations Plan- </a:t>
            </a:r>
            <a:r>
              <a:rPr sz="2800" b="1" spc="-15" dirty="0">
                <a:latin typeface="Calibri"/>
                <a:cs typeface="Calibri"/>
              </a:rPr>
              <a:t>organizing </a:t>
            </a:r>
            <a:r>
              <a:rPr sz="2800" b="1" spc="-5" dirty="0">
                <a:latin typeface="Calibri"/>
                <a:cs typeface="Calibri"/>
              </a:rPr>
              <a:t>the business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4)Marketing </a:t>
            </a:r>
            <a:r>
              <a:rPr sz="2800" b="1" spc="-5" dirty="0">
                <a:latin typeface="Calibri"/>
                <a:cs typeface="Calibri"/>
              </a:rPr>
              <a:t>Plan- </a:t>
            </a:r>
            <a:r>
              <a:rPr sz="2800" b="1" spc="-15" dirty="0">
                <a:latin typeface="Calibri"/>
                <a:cs typeface="Calibri"/>
              </a:rPr>
              <a:t>marketing </a:t>
            </a:r>
            <a:r>
              <a:rPr sz="2800" b="1" spc="-5" dirty="0">
                <a:latin typeface="Calibri"/>
                <a:cs typeface="Calibri"/>
              </a:rPr>
              <a:t>&amp; </a:t>
            </a:r>
            <a:r>
              <a:rPr sz="2800" b="1" spc="-10" dirty="0">
                <a:latin typeface="Calibri"/>
                <a:cs typeface="Calibri"/>
              </a:rPr>
              <a:t>advertising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5)Financial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Plan-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Creating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Budget:</a:t>
            </a:r>
            <a:endParaRPr sz="2800">
              <a:latin typeface="Calibri"/>
              <a:cs typeface="Calibri"/>
            </a:endParaRPr>
          </a:p>
          <a:p>
            <a:pPr marL="927100" algn="just">
              <a:lnSpc>
                <a:spcPct val="100000"/>
              </a:lnSpc>
              <a:spcBef>
                <a:spcPts val="675"/>
              </a:spcBef>
            </a:pPr>
            <a:r>
              <a:rPr sz="2800" b="1" spc="-15" dirty="0">
                <a:latin typeface="Calibri"/>
                <a:cs typeface="Calibri"/>
              </a:rPr>
              <a:t>start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up,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short</a:t>
            </a:r>
            <a:r>
              <a:rPr sz="2800" b="1" spc="-15" dirty="0">
                <a:latin typeface="Calibri"/>
                <a:cs typeface="Calibri"/>
              </a:rPr>
              <a:t> term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&amp;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long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term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05583"/>
            <a:ext cx="10515600" cy="4351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311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Checkpoint</a:t>
            </a:r>
            <a:r>
              <a:rPr b="0" spc="-50" dirty="0">
                <a:latin typeface="Calibri Light"/>
                <a:cs typeface="Calibri Light"/>
              </a:rPr>
              <a:t> </a:t>
            </a:r>
            <a:r>
              <a:rPr b="0" spc="5" dirty="0">
                <a:latin typeface="Wingdings"/>
                <a:cs typeface="Wingdings"/>
              </a:rPr>
              <a:t>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9385" y="2149323"/>
            <a:ext cx="9768840" cy="19989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“strategic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alternatives”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plan?</a:t>
            </a:r>
            <a:endParaRPr sz="2800">
              <a:latin typeface="Calibri"/>
              <a:cs typeface="Calibri"/>
            </a:endParaRPr>
          </a:p>
          <a:p>
            <a:pPr marL="698500" marR="877569" lvl="1" indent="-228600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Strategic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alternatives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alternative</a:t>
            </a:r>
            <a:r>
              <a:rPr sz="2400" spc="-5" dirty="0">
                <a:latin typeface="Calibri"/>
                <a:cs typeface="Calibri"/>
              </a:rPr>
              <a:t> plans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production,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staffing,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financing,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25" dirty="0">
                <a:latin typeface="Calibri"/>
                <a:cs typeface="Calibri"/>
              </a:rPr>
              <a:t>Even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best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business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cannot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</a:t>
            </a:r>
            <a:r>
              <a:rPr sz="2400" spc="-5" dirty="0">
                <a:latin typeface="Calibri"/>
                <a:cs typeface="Calibri"/>
              </a:rPr>
              <a:t> every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possible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circumstance.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9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alternate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plan</a:t>
            </a:r>
            <a:r>
              <a:rPr sz="2400" spc="-10" dirty="0">
                <a:latin typeface="Calibri"/>
                <a:cs typeface="Calibri"/>
              </a:rPr>
              <a:t> allows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business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prepared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unforeseeable.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18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855210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15"/>
              </a:lnSpc>
              <a:spcBef>
                <a:spcPts val="100"/>
              </a:spcBef>
            </a:pPr>
            <a:r>
              <a:rPr b="0" spc="-5" dirty="0">
                <a:latin typeface="Calibri Light"/>
                <a:cs typeface="Calibri Light"/>
              </a:rPr>
              <a:t>FINANCING</a:t>
            </a:r>
          </a:p>
          <a:p>
            <a:pPr marL="12700">
              <a:lnSpc>
                <a:spcPts val="5015"/>
              </a:lnSpc>
            </a:pPr>
            <a:r>
              <a:rPr b="0" dirty="0">
                <a:latin typeface="Calibri Light"/>
                <a:cs typeface="Calibri Light"/>
              </a:rPr>
              <a:t>THE</a:t>
            </a:r>
            <a:r>
              <a:rPr b="0" spc="-3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SMALL</a:t>
            </a:r>
            <a:r>
              <a:rPr b="0" spc="-25" dirty="0">
                <a:latin typeface="Calibri Light"/>
                <a:cs typeface="Calibri Light"/>
              </a:rPr>
              <a:t> </a:t>
            </a:r>
            <a:r>
              <a:rPr b="0" spc="-10" dirty="0">
                <a:latin typeface="Calibri Light"/>
                <a:cs typeface="Calibri Light"/>
              </a:rPr>
              <a:t>BUSINESS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/>
              <a:t>Types</a:t>
            </a:r>
            <a:r>
              <a:rPr spc="-5" dirty="0"/>
              <a:t> of</a:t>
            </a:r>
            <a:r>
              <a:rPr spc="-15" dirty="0"/>
              <a:t> </a:t>
            </a:r>
            <a:r>
              <a:rPr spc="-5" dirty="0"/>
              <a:t>financing</a:t>
            </a:r>
          </a:p>
          <a:p>
            <a:pPr marL="698500" marR="415925" lvl="1" indent="-228600">
              <a:lnSpc>
                <a:spcPts val="3240"/>
              </a:lnSpc>
              <a:spcBef>
                <a:spcPts val="5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Start-up financing- </a:t>
            </a:r>
            <a:r>
              <a:rPr sz="3000" b="1" dirty="0">
                <a:latin typeface="Calibri"/>
                <a:cs typeface="Calibri"/>
              </a:rPr>
              <a:t>the </a:t>
            </a:r>
            <a:r>
              <a:rPr sz="3000" b="1" spc="-10" dirty="0">
                <a:latin typeface="Calibri"/>
                <a:cs typeface="Calibri"/>
              </a:rPr>
              <a:t>money </a:t>
            </a:r>
            <a:r>
              <a:rPr sz="3000" b="1" spc="-5" dirty="0">
                <a:latin typeface="Calibri"/>
                <a:cs typeface="Calibri"/>
              </a:rPr>
              <a:t>and </a:t>
            </a:r>
            <a:r>
              <a:rPr sz="3000" b="1" spc="-10" dirty="0">
                <a:latin typeface="Calibri"/>
                <a:cs typeface="Calibri"/>
              </a:rPr>
              <a:t>details of </a:t>
            </a:r>
            <a:r>
              <a:rPr sz="3000" b="1" spc="-665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getting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business</a:t>
            </a:r>
            <a:r>
              <a:rPr sz="3000" b="1" spc="20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started: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-35" dirty="0">
                <a:latin typeface="Calibri"/>
                <a:cs typeface="Calibri"/>
              </a:rPr>
              <a:t>inventory, 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supplies</a:t>
            </a:r>
            <a:endParaRPr sz="3000">
              <a:latin typeface="Calibri"/>
              <a:cs typeface="Calibri"/>
            </a:endParaRPr>
          </a:p>
          <a:p>
            <a:pPr marL="698500" marR="377190" lvl="1" indent="-228600">
              <a:lnSpc>
                <a:spcPts val="324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Short-term financing- </a:t>
            </a:r>
            <a:r>
              <a:rPr sz="3000" b="1" dirty="0">
                <a:latin typeface="Calibri"/>
                <a:cs typeface="Calibri"/>
              </a:rPr>
              <a:t>the </a:t>
            </a:r>
            <a:r>
              <a:rPr sz="3000" b="1" spc="-10" dirty="0">
                <a:latin typeface="Calibri"/>
                <a:cs typeface="Calibri"/>
              </a:rPr>
              <a:t>money </a:t>
            </a:r>
            <a:r>
              <a:rPr sz="3000" b="1" dirty="0">
                <a:latin typeface="Calibri"/>
                <a:cs typeface="Calibri"/>
              </a:rPr>
              <a:t>needed </a:t>
            </a:r>
            <a:r>
              <a:rPr sz="3000" b="1" spc="-20" dirty="0">
                <a:latin typeface="Calibri"/>
                <a:cs typeface="Calibri"/>
              </a:rPr>
              <a:t>for </a:t>
            </a:r>
            <a:r>
              <a:rPr sz="3000" b="1" spc="-6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first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year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 </a:t>
            </a:r>
            <a:r>
              <a:rPr sz="3000" b="1" spc="-10" dirty="0">
                <a:latin typeface="Calibri"/>
                <a:cs typeface="Calibri"/>
              </a:rPr>
              <a:t>expenses</a:t>
            </a:r>
            <a:endParaRPr sz="300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45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Long-term</a:t>
            </a:r>
            <a:r>
              <a:rPr sz="30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financing-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3-5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year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plan</a:t>
            </a:r>
            <a:r>
              <a:rPr sz="3000" b="1" spc="-2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success </a:t>
            </a:r>
            <a:r>
              <a:rPr sz="3000" b="1" spc="-665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for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 </a:t>
            </a:r>
            <a:r>
              <a:rPr sz="3000" b="1" spc="-5" dirty="0">
                <a:latin typeface="Calibri"/>
                <a:cs typeface="Calibri"/>
              </a:rPr>
              <a:t>business,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identify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long</a:t>
            </a:r>
            <a:r>
              <a:rPr sz="3000" b="1" spc="20" dirty="0">
                <a:latin typeface="Calibri"/>
                <a:cs typeface="Calibri"/>
              </a:rPr>
              <a:t> </a:t>
            </a:r>
            <a:r>
              <a:rPr sz="3000" b="1" spc="-15" dirty="0">
                <a:latin typeface="Calibri"/>
                <a:cs typeface="Calibri"/>
              </a:rPr>
              <a:t>term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financial 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needs.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6490970" cy="128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50"/>
              </a:lnSpc>
              <a:spcBef>
                <a:spcPts val="100"/>
              </a:spcBef>
            </a:pPr>
            <a:r>
              <a:rPr dirty="0"/>
              <a:t>FORMS</a:t>
            </a:r>
            <a:r>
              <a:rPr spc="-40" dirty="0"/>
              <a:t> </a:t>
            </a:r>
            <a:r>
              <a:rPr dirty="0"/>
              <a:t>of</a:t>
            </a:r>
          </a:p>
          <a:p>
            <a:pPr marL="12700">
              <a:lnSpc>
                <a:spcPts val="4950"/>
              </a:lnSpc>
            </a:pPr>
            <a:r>
              <a:rPr dirty="0"/>
              <a:t>BUSINESS</a:t>
            </a:r>
            <a:r>
              <a:rPr spc="-50" dirty="0"/>
              <a:t> </a:t>
            </a:r>
            <a:r>
              <a:rPr dirty="0"/>
              <a:t>OWNERSHIP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2928" y="1851040"/>
            <a:ext cx="6343916" cy="34107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dirty="0"/>
              <a:t>MAJOR</a:t>
            </a:r>
            <a:r>
              <a:rPr spc="-20" dirty="0"/>
              <a:t> </a:t>
            </a:r>
            <a:r>
              <a:rPr dirty="0"/>
              <a:t>BENEFITS</a:t>
            </a:r>
            <a:r>
              <a:rPr spc="-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SOLE </a:t>
            </a:r>
            <a:r>
              <a:rPr spc="-1210" dirty="0"/>
              <a:t> </a:t>
            </a:r>
            <a:r>
              <a:rPr spc="-5" dirty="0"/>
              <a:t>PROPRIETORSHIP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814575"/>
            <a:ext cx="6558915" cy="3542029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465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Ease</a:t>
            </a:r>
            <a:r>
              <a:rPr sz="2700" dirty="0">
                <a:latin typeface="Arial MT"/>
                <a:cs typeface="Arial MT"/>
              </a:rPr>
              <a:t> of starting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and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ending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 </a:t>
            </a:r>
            <a:r>
              <a:rPr sz="2700" spc="-5" dirty="0">
                <a:latin typeface="Arial MT"/>
                <a:cs typeface="Arial MT"/>
              </a:rPr>
              <a:t>business</a:t>
            </a:r>
            <a:endParaRPr sz="27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7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Being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your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own boss</a:t>
            </a:r>
            <a:endParaRPr sz="27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8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dirty="0">
                <a:latin typeface="Arial MT"/>
                <a:cs typeface="Arial MT"/>
              </a:rPr>
              <a:t>Pride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ownership</a:t>
            </a:r>
            <a:endParaRPr sz="27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8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Leaving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a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legacy</a:t>
            </a:r>
            <a:endParaRPr sz="27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70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Retention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5" dirty="0">
                <a:latin typeface="Arial MT"/>
                <a:cs typeface="Arial MT"/>
              </a:rPr>
              <a:t>company </a:t>
            </a:r>
            <a:r>
              <a:rPr sz="2700" dirty="0">
                <a:latin typeface="Arial MT"/>
                <a:cs typeface="Arial MT"/>
              </a:rPr>
              <a:t>profit</a:t>
            </a:r>
            <a:endParaRPr sz="2700">
              <a:latin typeface="Arial MT"/>
              <a:cs typeface="Arial MT"/>
            </a:endParaRPr>
          </a:p>
          <a:p>
            <a:pPr marL="354330" indent="-341630">
              <a:lnSpc>
                <a:spcPct val="100000"/>
              </a:lnSpc>
              <a:spcBef>
                <a:spcPts val="1385"/>
              </a:spcBef>
              <a:buChar char="•"/>
              <a:tabLst>
                <a:tab pos="353695" algn="l"/>
                <a:tab pos="354330" algn="l"/>
              </a:tabLst>
            </a:pPr>
            <a:r>
              <a:rPr sz="2700" spc="-5" dirty="0">
                <a:latin typeface="Arial MT"/>
                <a:cs typeface="Arial MT"/>
              </a:rPr>
              <a:t>No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special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taxes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pc="-50" dirty="0"/>
              <a:t>DISADVANTAGES </a:t>
            </a:r>
            <a:r>
              <a:rPr dirty="0"/>
              <a:t>of SOLE </a:t>
            </a:r>
            <a:r>
              <a:rPr spc="-1215" dirty="0"/>
              <a:t> </a:t>
            </a:r>
            <a:r>
              <a:rPr spc="-5" dirty="0"/>
              <a:t>PROPRIETORSHIPS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916683"/>
            <a:ext cx="9588500" cy="3937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Arial"/>
                <a:cs typeface="Arial"/>
              </a:rPr>
              <a:t>Unlimited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Liability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-- </a:t>
            </a:r>
            <a:r>
              <a:rPr sz="2600" i="1" dirty="0">
                <a:latin typeface="Arial"/>
                <a:cs typeface="Arial"/>
              </a:rPr>
              <a:t>Any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debts</a:t>
            </a:r>
            <a:r>
              <a:rPr sz="2600" i="1" spc="-1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or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damages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incurred</a:t>
            </a:r>
            <a:r>
              <a:rPr sz="2600" i="1" spc="-2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by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the</a:t>
            </a:r>
            <a:endParaRPr sz="2600">
              <a:latin typeface="Arial"/>
              <a:cs typeface="Arial"/>
            </a:endParaRPr>
          </a:p>
          <a:p>
            <a:pPr marL="241300" marR="5080">
              <a:lnSpc>
                <a:spcPct val="70000"/>
              </a:lnSpc>
              <a:spcBef>
                <a:spcPts val="465"/>
              </a:spcBef>
            </a:pPr>
            <a:r>
              <a:rPr sz="2600" i="1" dirty="0">
                <a:latin typeface="Arial"/>
                <a:cs typeface="Arial"/>
              </a:rPr>
              <a:t>business</a:t>
            </a:r>
            <a:r>
              <a:rPr sz="2600" i="1" spc="-2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are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your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debts,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even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if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it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means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selling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your</a:t>
            </a:r>
            <a:r>
              <a:rPr sz="2600" i="1" spc="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home,</a:t>
            </a:r>
            <a:r>
              <a:rPr sz="2600" i="1" spc="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car </a:t>
            </a:r>
            <a:r>
              <a:rPr sz="2600" i="1" spc="-70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or</a:t>
            </a:r>
            <a:r>
              <a:rPr sz="2600" i="1" spc="-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anything</a:t>
            </a:r>
            <a:r>
              <a:rPr sz="2600" i="1" spc="-1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else.</a:t>
            </a:r>
            <a:endParaRPr sz="26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Limited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financial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resources</a:t>
            </a:r>
            <a:endParaRPr sz="2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Management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difficulties</a:t>
            </a:r>
            <a:endParaRPr sz="2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Overwhelming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time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commitment</a:t>
            </a:r>
            <a:endParaRPr sz="2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Few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fringe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benefits</a:t>
            </a:r>
            <a:endParaRPr sz="2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Limited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growth</a:t>
            </a:r>
            <a:endParaRPr sz="2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Limited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life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span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9216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MAJOR</a:t>
            </a:r>
            <a:r>
              <a:rPr spc="-20" dirty="0"/>
              <a:t> </a:t>
            </a:r>
            <a:r>
              <a:rPr dirty="0"/>
              <a:t>TYPES</a:t>
            </a:r>
            <a:r>
              <a:rPr spc="-1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25" dirty="0"/>
              <a:t>PARTNERSHIPS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977644"/>
            <a:ext cx="9864725" cy="33375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spc="-5" dirty="0">
                <a:latin typeface="Arial"/>
                <a:cs typeface="Arial"/>
              </a:rPr>
              <a:t>General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Partnership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--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All </a:t>
            </a:r>
            <a:r>
              <a:rPr sz="3200" i="1" spc="-5" dirty="0">
                <a:latin typeface="Arial"/>
                <a:cs typeface="Arial"/>
              </a:rPr>
              <a:t>owners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share</a:t>
            </a:r>
            <a:r>
              <a:rPr sz="3200" i="1" spc="-2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in</a:t>
            </a:r>
            <a:r>
              <a:rPr sz="3200" i="1" spc="-15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operating </a:t>
            </a:r>
            <a:r>
              <a:rPr sz="3200" i="1" spc="-87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the </a:t>
            </a:r>
            <a:r>
              <a:rPr sz="3200" i="1" spc="-5" dirty="0">
                <a:latin typeface="Arial"/>
                <a:cs typeface="Arial"/>
              </a:rPr>
              <a:t>business and </a:t>
            </a:r>
            <a:r>
              <a:rPr sz="3200" i="1" dirty="0">
                <a:latin typeface="Arial"/>
                <a:cs typeface="Arial"/>
              </a:rPr>
              <a:t>in assuming </a:t>
            </a:r>
            <a:r>
              <a:rPr sz="3200" i="1" spc="-5" dirty="0">
                <a:latin typeface="Arial"/>
                <a:cs typeface="Arial"/>
              </a:rPr>
              <a:t>liability </a:t>
            </a:r>
            <a:r>
              <a:rPr sz="3200" i="1" dirty="0">
                <a:latin typeface="Arial"/>
                <a:cs typeface="Arial"/>
              </a:rPr>
              <a:t>for the </a:t>
            </a:r>
            <a:r>
              <a:rPr sz="3200" i="1" spc="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business’s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spc="-5" dirty="0">
                <a:latin typeface="Arial"/>
                <a:cs typeface="Arial"/>
              </a:rPr>
              <a:t>debts.</a:t>
            </a:r>
            <a:endParaRPr sz="3200">
              <a:latin typeface="Arial"/>
              <a:cs typeface="Arial"/>
            </a:endParaRPr>
          </a:p>
          <a:p>
            <a:pPr marL="241300" marR="455295" indent="-228600">
              <a:lnSpc>
                <a:spcPts val="3120"/>
              </a:lnSpc>
              <a:spcBef>
                <a:spcPts val="316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b="1" spc="-5" dirty="0">
                <a:latin typeface="Arial"/>
                <a:cs typeface="Arial"/>
              </a:rPr>
              <a:t>Limited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Partnership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--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00" i="1" spc="-1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partnership</a:t>
            </a:r>
            <a:r>
              <a:rPr sz="2800" i="1" spc="1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with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one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or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more </a:t>
            </a:r>
            <a:r>
              <a:rPr sz="2800" i="1" spc="-76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general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partners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and </a:t>
            </a:r>
            <a:r>
              <a:rPr sz="2800" i="1" dirty="0">
                <a:latin typeface="Arial"/>
                <a:cs typeface="Arial"/>
              </a:rPr>
              <a:t>one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or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more</a:t>
            </a:r>
            <a:r>
              <a:rPr sz="2800" i="1" spc="1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limited</a:t>
            </a:r>
            <a:r>
              <a:rPr sz="2800" i="1" spc="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partners.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4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spc="-10" dirty="0">
                <a:latin typeface="Arial"/>
                <a:cs typeface="Arial"/>
                <a:hlinkClick r:id="rId3"/>
              </a:rPr>
              <a:t>http://www.roc.gov.bd/acts/partnershipact1932.html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4540885" cy="12839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pc="-65" dirty="0"/>
              <a:t>ADVANTAGES</a:t>
            </a:r>
            <a:r>
              <a:rPr spc="-85" dirty="0"/>
              <a:t> </a:t>
            </a:r>
            <a:r>
              <a:rPr dirty="0"/>
              <a:t>of </a:t>
            </a:r>
            <a:r>
              <a:rPr spc="-1205" dirty="0"/>
              <a:t> </a:t>
            </a:r>
            <a:r>
              <a:rPr spc="-25" dirty="0"/>
              <a:t>PARTNERSHIPS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812442"/>
            <a:ext cx="8803640" cy="296164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6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More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financial </a:t>
            </a:r>
            <a:r>
              <a:rPr sz="2800" dirty="0">
                <a:latin typeface="Arial MT"/>
                <a:cs typeface="Arial MT"/>
              </a:rPr>
              <a:t>resources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Shared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management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pooled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skills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knowledge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5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Longer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survival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No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special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taxes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  <a:hlinkClick r:id="rId3"/>
              </a:rPr>
              <a:t>http://en.banglapedia.org/index.php?title=Partnership_Business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5473700" cy="12839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spc="-50" dirty="0"/>
              <a:t>DISADVANTAGES</a:t>
            </a:r>
            <a:r>
              <a:rPr spc="-70" dirty="0"/>
              <a:t> </a:t>
            </a:r>
            <a:r>
              <a:rPr dirty="0"/>
              <a:t>of </a:t>
            </a:r>
            <a:r>
              <a:rPr spc="-1210" dirty="0"/>
              <a:t> </a:t>
            </a:r>
            <a:r>
              <a:rPr spc="-25" dirty="0"/>
              <a:t>PARTNERSHIPS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4394" y="1812442"/>
            <a:ext cx="5241925" cy="242633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6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Unlimited </a:t>
            </a:r>
            <a:r>
              <a:rPr sz="2800" dirty="0">
                <a:latin typeface="Arial MT"/>
                <a:cs typeface="Arial MT"/>
              </a:rPr>
              <a:t>liability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Division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profits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55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Arial MT"/>
                <a:cs typeface="Arial MT"/>
              </a:rPr>
              <a:t>Difficult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terminate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7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Disagreements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among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partners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29564"/>
            <a:ext cx="4553585" cy="12839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>
              <a:lnSpc>
                <a:spcPts val="4620"/>
              </a:lnSpc>
              <a:spcBef>
                <a:spcPts val="805"/>
              </a:spcBef>
            </a:pPr>
            <a:r>
              <a:rPr dirty="0"/>
              <a:t>CONVENTIONAL </a:t>
            </a:r>
            <a:r>
              <a:rPr spc="-1210" dirty="0"/>
              <a:t> </a:t>
            </a:r>
            <a:r>
              <a:rPr dirty="0"/>
              <a:t>CORPOR</a:t>
            </a:r>
            <a:r>
              <a:rPr spc="-335" dirty="0"/>
              <a:t>A</a:t>
            </a:r>
            <a:r>
              <a:rPr dirty="0"/>
              <a:t>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986787"/>
            <a:ext cx="10192385" cy="312674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9235">
              <a:lnSpc>
                <a:spcPct val="88800"/>
              </a:lnSpc>
              <a:spcBef>
                <a:spcPts val="4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latin typeface="Arial"/>
                <a:cs typeface="Arial"/>
              </a:rPr>
              <a:t>Conventional</a:t>
            </a:r>
            <a:r>
              <a:rPr sz="2800" b="1" spc="5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(C)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Corporation</a:t>
            </a:r>
            <a:r>
              <a:rPr sz="2800" b="1" spc="6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--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state-chartered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legal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entity </a:t>
            </a:r>
            <a:r>
              <a:rPr sz="2800" i="1" spc="-76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with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authority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to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act and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have</a:t>
            </a:r>
            <a:r>
              <a:rPr sz="2800" i="1" spc="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liability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separate</a:t>
            </a:r>
            <a:r>
              <a:rPr sz="2800" i="1" spc="10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from </a:t>
            </a:r>
            <a:r>
              <a:rPr sz="2800" i="1" dirty="0">
                <a:latin typeface="Arial"/>
                <a:cs typeface="Arial"/>
              </a:rPr>
              <a:t>its </a:t>
            </a:r>
            <a:r>
              <a:rPr sz="2800" i="1" spc="-5" dirty="0">
                <a:latin typeface="Arial"/>
                <a:cs typeface="Arial"/>
              </a:rPr>
              <a:t>owners </a:t>
            </a:r>
            <a:r>
              <a:rPr sz="2800" i="1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(its</a:t>
            </a:r>
            <a:r>
              <a:rPr sz="2800" i="1" spc="-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stockholders).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4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buFont typeface="Arial MT"/>
              <a:buChar char="•"/>
              <a:tabLst>
                <a:tab pos="241935" algn="l"/>
              </a:tabLst>
            </a:pPr>
            <a:r>
              <a:rPr sz="2800" b="1" spc="-25" dirty="0">
                <a:latin typeface="Arial"/>
                <a:cs typeface="Arial"/>
              </a:rPr>
              <a:t>CORPORATIONS</a:t>
            </a:r>
            <a:endParaRPr sz="2800">
              <a:latin typeface="Arial"/>
              <a:cs typeface="Arial"/>
            </a:endParaRPr>
          </a:p>
          <a:p>
            <a:pPr marL="241300" marR="168275" indent="-229235">
              <a:lnSpc>
                <a:spcPts val="2940"/>
              </a:lnSpc>
              <a:spcBef>
                <a:spcPts val="1110"/>
              </a:spcBef>
              <a:buChar char="•"/>
              <a:tabLst>
                <a:tab pos="241935" algn="l"/>
              </a:tabLst>
            </a:pP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 large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company</a:t>
            </a:r>
            <a:r>
              <a:rPr sz="2800" spc="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or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group of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companies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authorized</a:t>
            </a:r>
            <a:r>
              <a:rPr sz="2800" spc="2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act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 </a:t>
            </a:r>
            <a:r>
              <a:rPr sz="2800" spc="-76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single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 entity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 and</a:t>
            </a:r>
            <a:r>
              <a:rPr sz="2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recognized</a:t>
            </a:r>
            <a:r>
              <a:rPr sz="2800" spc="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sz="2800" spc="-10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2023"/>
                </a:solidFill>
                <a:latin typeface="Arial MT"/>
                <a:cs typeface="Arial MT"/>
              </a:rPr>
              <a:t>such</a:t>
            </a:r>
            <a:r>
              <a:rPr sz="2800" spc="-1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sz="2800" spc="5" dirty="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F2023"/>
                </a:solidFill>
                <a:latin typeface="Arial MT"/>
                <a:cs typeface="Arial MT"/>
              </a:rPr>
              <a:t>law.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73072"/>
            <a:ext cx="8557895" cy="3909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Mainly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three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continuing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Bangladesh.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815"/>
              </a:lnSpc>
            </a:pPr>
            <a:r>
              <a:rPr sz="2800" spc="-10" dirty="0">
                <a:latin typeface="Calibri"/>
                <a:cs typeface="Calibri"/>
              </a:rPr>
              <a:t>These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  <a:p>
            <a:pPr marL="718820" lvl="1" indent="-478155">
              <a:lnSpc>
                <a:spcPts val="3025"/>
              </a:lnSpc>
              <a:buAutoNum type="arabicParenBoth"/>
              <a:tabLst>
                <a:tab pos="719455" algn="l"/>
              </a:tabLst>
            </a:pPr>
            <a:r>
              <a:rPr sz="2800" spc="-10" dirty="0">
                <a:latin typeface="Calibri"/>
                <a:cs typeface="Calibri"/>
              </a:rPr>
              <a:t>Limited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Company,</a:t>
            </a:r>
            <a:endParaRPr sz="2800">
              <a:latin typeface="Calibri"/>
              <a:cs typeface="Calibri"/>
            </a:endParaRPr>
          </a:p>
          <a:p>
            <a:pPr marL="719455" lvl="1" indent="-478790">
              <a:lnSpc>
                <a:spcPts val="3025"/>
              </a:lnSpc>
              <a:buAutoNum type="arabicParenBoth"/>
              <a:tabLst>
                <a:tab pos="720090" algn="l"/>
              </a:tabLst>
            </a:pPr>
            <a:r>
              <a:rPr sz="2800" spc="-20" dirty="0">
                <a:latin typeface="Calibri"/>
                <a:cs typeface="Calibri"/>
              </a:rPr>
              <a:t>Partnership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719455" lvl="1" indent="-478790">
              <a:lnSpc>
                <a:spcPts val="3190"/>
              </a:lnSpc>
              <a:buAutoNum type="arabicParenBoth"/>
              <a:tabLst>
                <a:tab pos="720090" algn="l"/>
              </a:tabLst>
            </a:pPr>
            <a:r>
              <a:rPr sz="2800" spc="-10" dirty="0">
                <a:latin typeface="Calibri"/>
                <a:cs typeface="Calibri"/>
              </a:rPr>
              <a:t>Sole</a:t>
            </a:r>
            <a:r>
              <a:rPr sz="2800" spc="-20" dirty="0">
                <a:latin typeface="Calibri"/>
                <a:cs typeface="Calibri"/>
              </a:rPr>
              <a:t> Proprietorship.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AutoNum type="arabicParenBoth"/>
            </a:pPr>
            <a:endParaRPr sz="22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spc="-10" dirty="0">
                <a:latin typeface="Calibri"/>
                <a:cs typeface="Calibri"/>
              </a:rPr>
              <a:t>Limited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Companies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two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 </a:t>
            </a:r>
            <a:r>
              <a:rPr sz="2800" spc="-10" dirty="0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  <a:p>
            <a:pPr marL="707390" lvl="2" indent="-466725">
              <a:lnSpc>
                <a:spcPts val="3025"/>
              </a:lnSpc>
              <a:buAutoNum type="alphaLcParenBoth"/>
              <a:tabLst>
                <a:tab pos="708025" algn="l"/>
              </a:tabLst>
            </a:pPr>
            <a:r>
              <a:rPr sz="2800" spc="-20" dirty="0">
                <a:latin typeface="Calibri"/>
                <a:cs typeface="Calibri"/>
              </a:rPr>
              <a:t>Private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Limited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Company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  <a:p>
            <a:pPr marL="725170" lvl="2" indent="-484505">
              <a:lnSpc>
                <a:spcPts val="3190"/>
              </a:lnSpc>
              <a:buAutoNum type="alphaLcParenBoth"/>
              <a:tabLst>
                <a:tab pos="725805" algn="l"/>
              </a:tabLst>
            </a:pPr>
            <a:r>
              <a:rPr sz="2800" spc="-10" dirty="0">
                <a:latin typeface="Calibri"/>
                <a:cs typeface="Calibri"/>
              </a:rPr>
              <a:t>Public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Limited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Company.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973072"/>
            <a:ext cx="10198735" cy="3395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25" dirty="0">
                <a:latin typeface="Calibri"/>
                <a:cs typeface="Calibri"/>
              </a:rPr>
              <a:t>To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form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Private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Limited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Company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minimum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two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maximum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fifty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directors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required.</a:t>
            </a:r>
            <a:endParaRPr sz="2800">
              <a:latin typeface="Calibri"/>
              <a:cs typeface="Calibri"/>
            </a:endParaRPr>
          </a:p>
          <a:p>
            <a:pPr marL="241300" marR="16637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latin typeface="Calibri"/>
                <a:cs typeface="Calibri"/>
              </a:rPr>
              <a:t>On the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other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hand,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for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Public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Limited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Company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minimum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member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should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seven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dirty="0">
                <a:latin typeface="Calibri"/>
                <a:cs typeface="Calibri"/>
              </a:rPr>
              <a:t> the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maximum</a:t>
            </a:r>
            <a:r>
              <a:rPr sz="2800" b="1" spc="-5" dirty="0">
                <a:latin typeface="Calibri"/>
                <a:cs typeface="Calibri"/>
              </a:rPr>
              <a:t> is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unlimited.</a:t>
            </a:r>
            <a:endParaRPr sz="2800">
              <a:latin typeface="Calibri"/>
              <a:cs typeface="Calibri"/>
            </a:endParaRPr>
          </a:p>
          <a:p>
            <a:pPr marL="241300" marR="26034" indent="-229235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dirty="0"/>
              <a:t>	</a:t>
            </a:r>
            <a:r>
              <a:rPr sz="2800" b="1" spc="-20" dirty="0">
                <a:latin typeface="Calibri"/>
                <a:cs typeface="Calibri"/>
              </a:rPr>
              <a:t>For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forming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Joint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35" dirty="0">
                <a:latin typeface="Calibri"/>
                <a:cs typeface="Calibri"/>
              </a:rPr>
              <a:t>Venture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Company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minimum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member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should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be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two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maximum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30" dirty="0">
                <a:latin typeface="Calibri"/>
                <a:cs typeface="Calibri"/>
              </a:rPr>
              <a:t>fifty.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Out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of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all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members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minimum,</a:t>
            </a:r>
            <a:r>
              <a:rPr sz="2800" b="1" spc="-5" dirty="0">
                <a:latin typeface="Calibri"/>
                <a:cs typeface="Calibri"/>
              </a:rPr>
              <a:t> one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should 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Bangladeshi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minimum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one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should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40" dirty="0">
                <a:latin typeface="Calibri"/>
                <a:cs typeface="Calibri"/>
              </a:rPr>
              <a:t>Foreigner.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In 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Bangladesh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no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scope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to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start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 </a:t>
            </a:r>
            <a:r>
              <a:rPr sz="2800" b="1" spc="-10" dirty="0">
                <a:latin typeface="Calibri"/>
                <a:cs typeface="Calibri"/>
              </a:rPr>
              <a:t>Limited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Company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by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one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55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u="heavy" spc="15" dirty="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Corporation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972" y="1242060"/>
            <a:ext cx="3684270" cy="8915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28827" y="1496555"/>
            <a:ext cx="3827779" cy="5333365"/>
            <a:chOff x="528827" y="1496555"/>
            <a:chExt cx="3827779" cy="53333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007" y="2481187"/>
              <a:ext cx="122882" cy="1226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1695" y="2407352"/>
              <a:ext cx="2178889" cy="2915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" y="2645663"/>
              <a:ext cx="500634" cy="6271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276" y="2648711"/>
              <a:ext cx="2841498" cy="6240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047" y="3072383"/>
              <a:ext cx="448830" cy="58445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9868" y="3043427"/>
              <a:ext cx="1948433" cy="62407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8471" y="3381755"/>
              <a:ext cx="546354" cy="7170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2227" y="3433571"/>
              <a:ext cx="942594" cy="6210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" y="3831336"/>
              <a:ext cx="500634" cy="6271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5276" y="3834383"/>
              <a:ext cx="2256281" cy="62407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" y="4226052"/>
              <a:ext cx="500634" cy="6271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276" y="4229099"/>
              <a:ext cx="2932938" cy="6240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047" y="4652771"/>
              <a:ext cx="448830" cy="5844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29868" y="4623815"/>
              <a:ext cx="1386078" cy="62407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" y="5017007"/>
              <a:ext cx="500634" cy="6271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5276" y="5020056"/>
              <a:ext cx="2701290" cy="62407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047" y="5443715"/>
              <a:ext cx="448830" cy="58445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29868" y="5414771"/>
              <a:ext cx="3126485" cy="6240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" y="5806439"/>
              <a:ext cx="500634" cy="62712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276" y="5809488"/>
              <a:ext cx="2259329" cy="6240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047" y="6234690"/>
              <a:ext cx="448830" cy="58444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9868" y="6205727"/>
              <a:ext cx="2913126" cy="62407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8827" y="1496555"/>
              <a:ext cx="3710178" cy="88621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97863" y="1592579"/>
              <a:ext cx="2559558" cy="79019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16939" y="1693621"/>
            <a:ext cx="3255645" cy="4950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292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ahoma"/>
                <a:cs typeface="Tahoma"/>
              </a:rPr>
              <a:t>Advantages</a:t>
            </a:r>
            <a:endParaRPr sz="2800">
              <a:latin typeface="Tahoma"/>
              <a:cs typeface="Tahoma"/>
            </a:endParaRPr>
          </a:p>
          <a:p>
            <a:pPr marL="323850" indent="-311785">
              <a:lnSpc>
                <a:spcPct val="100000"/>
              </a:lnSpc>
              <a:spcBef>
                <a:spcPts val="1650"/>
              </a:spcBef>
              <a:buClr>
                <a:srgbClr val="800080"/>
              </a:buClr>
              <a:buFont typeface="Tahoma"/>
              <a:buChar char="•"/>
              <a:tabLst>
                <a:tab pos="323215" algn="l"/>
                <a:tab pos="324485" algn="l"/>
              </a:tabLst>
            </a:pPr>
            <a:r>
              <a:rPr sz="2200" b="1" spc="-10" dirty="0">
                <a:latin typeface="Tahoma"/>
                <a:cs typeface="Tahoma"/>
              </a:rPr>
              <a:t>Limited</a:t>
            </a:r>
            <a:r>
              <a:rPr sz="2200" b="1" spc="-5" dirty="0">
                <a:latin typeface="Tahoma"/>
                <a:cs typeface="Tahoma"/>
              </a:rPr>
              <a:t> liability</a:t>
            </a:r>
            <a:endParaRPr sz="2200">
              <a:latin typeface="Tahoma"/>
              <a:cs typeface="Tahoma"/>
            </a:endParaRPr>
          </a:p>
          <a:p>
            <a:pPr marL="323850" indent="-311785">
              <a:lnSpc>
                <a:spcPct val="100000"/>
              </a:lnSpc>
              <a:spcBef>
                <a:spcPts val="480"/>
              </a:spcBef>
              <a:buClr>
                <a:srgbClr val="800080"/>
              </a:buClr>
              <a:buFont typeface="Tahoma"/>
              <a:buChar char="•"/>
              <a:tabLst>
                <a:tab pos="323215" algn="l"/>
                <a:tab pos="324485" algn="l"/>
              </a:tabLst>
            </a:pPr>
            <a:r>
              <a:rPr sz="2200" b="1" spc="-10" dirty="0">
                <a:latin typeface="Tahoma"/>
                <a:cs typeface="Tahoma"/>
              </a:rPr>
              <a:t>More</a:t>
            </a:r>
            <a:r>
              <a:rPr sz="2200" b="1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money</a:t>
            </a:r>
            <a:r>
              <a:rPr sz="2200" b="1" spc="5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for</a:t>
            </a:r>
            <a:endParaRPr sz="2200">
              <a:latin typeface="Tahoma"/>
              <a:cs typeface="Tahoma"/>
            </a:endParaRPr>
          </a:p>
          <a:p>
            <a:pPr marL="488315" indent="-476250">
              <a:lnSpc>
                <a:spcPct val="100000"/>
              </a:lnSpc>
              <a:spcBef>
                <a:spcPts val="470"/>
              </a:spcBef>
              <a:buClr>
                <a:srgbClr val="800080"/>
              </a:buClr>
              <a:buFont typeface="Arial MT"/>
              <a:buChar char="•"/>
              <a:tabLst>
                <a:tab pos="488315" algn="l"/>
                <a:tab pos="488950" algn="l"/>
              </a:tabLst>
            </a:pPr>
            <a:r>
              <a:rPr sz="2200" b="1" spc="-5" dirty="0">
                <a:latin typeface="Tahoma"/>
                <a:cs typeface="Tahoma"/>
              </a:rPr>
              <a:t>investment</a:t>
            </a:r>
            <a:endParaRPr sz="2200">
              <a:latin typeface="Tahoma"/>
              <a:cs typeface="Tahoma"/>
            </a:endParaRPr>
          </a:p>
          <a:p>
            <a:pPr marL="318770" indent="-306705">
              <a:lnSpc>
                <a:spcPct val="100000"/>
              </a:lnSpc>
              <a:spcBef>
                <a:spcPts val="430"/>
              </a:spcBef>
              <a:buClr>
                <a:srgbClr val="800080"/>
              </a:buClr>
              <a:buSzPct val="125000"/>
              <a:buFont typeface="Arial MT"/>
              <a:buChar char="•"/>
              <a:tabLst>
                <a:tab pos="318770" algn="l"/>
                <a:tab pos="319405" algn="l"/>
              </a:tabLst>
            </a:pPr>
            <a:r>
              <a:rPr sz="2200" b="1" spc="-10" dirty="0">
                <a:latin typeface="Tahoma"/>
                <a:cs typeface="Tahoma"/>
              </a:rPr>
              <a:t>Size</a:t>
            </a:r>
            <a:endParaRPr sz="2200">
              <a:latin typeface="Tahoma"/>
              <a:cs typeface="Tahoma"/>
            </a:endParaRPr>
          </a:p>
          <a:p>
            <a:pPr marL="323850" indent="-311785">
              <a:lnSpc>
                <a:spcPct val="100000"/>
              </a:lnSpc>
              <a:spcBef>
                <a:spcPts val="515"/>
              </a:spcBef>
              <a:buClr>
                <a:srgbClr val="800080"/>
              </a:buClr>
              <a:buFont typeface="Tahoma"/>
              <a:buChar char="•"/>
              <a:tabLst>
                <a:tab pos="323215" algn="l"/>
                <a:tab pos="324485" algn="l"/>
              </a:tabLst>
            </a:pPr>
            <a:r>
              <a:rPr sz="2200" b="1" spc="-10" dirty="0">
                <a:latin typeface="Tahoma"/>
                <a:cs typeface="Tahoma"/>
              </a:rPr>
              <a:t>Perpetual</a:t>
            </a:r>
            <a:r>
              <a:rPr sz="2200" b="1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life</a:t>
            </a:r>
            <a:endParaRPr sz="2200">
              <a:latin typeface="Tahoma"/>
              <a:cs typeface="Tahoma"/>
            </a:endParaRPr>
          </a:p>
          <a:p>
            <a:pPr marL="323850" indent="-311785">
              <a:lnSpc>
                <a:spcPct val="100000"/>
              </a:lnSpc>
              <a:spcBef>
                <a:spcPts val="470"/>
              </a:spcBef>
              <a:buClr>
                <a:srgbClr val="800080"/>
              </a:buClr>
              <a:buFont typeface="Tahoma"/>
              <a:buChar char="•"/>
              <a:tabLst>
                <a:tab pos="323215" algn="l"/>
                <a:tab pos="324485" algn="l"/>
              </a:tabLst>
            </a:pPr>
            <a:r>
              <a:rPr sz="2200" b="1" spc="-5" dirty="0">
                <a:latin typeface="Tahoma"/>
                <a:cs typeface="Tahoma"/>
              </a:rPr>
              <a:t>Ease</a:t>
            </a:r>
            <a:r>
              <a:rPr sz="2200" b="1" spc="-15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of </a:t>
            </a:r>
            <a:r>
              <a:rPr sz="2200" b="1" spc="-10" dirty="0">
                <a:latin typeface="Tahoma"/>
                <a:cs typeface="Tahoma"/>
              </a:rPr>
              <a:t>ownership</a:t>
            </a:r>
            <a:endParaRPr sz="2200">
              <a:latin typeface="Tahoma"/>
              <a:cs typeface="Tahoma"/>
            </a:endParaRPr>
          </a:p>
          <a:p>
            <a:pPr marL="488315" indent="-476250">
              <a:lnSpc>
                <a:spcPct val="100000"/>
              </a:lnSpc>
              <a:spcBef>
                <a:spcPts val="470"/>
              </a:spcBef>
              <a:buClr>
                <a:srgbClr val="800080"/>
              </a:buClr>
              <a:buFont typeface="Arial MT"/>
              <a:buChar char="•"/>
              <a:tabLst>
                <a:tab pos="488315" algn="l"/>
                <a:tab pos="488950" algn="l"/>
              </a:tabLst>
            </a:pPr>
            <a:r>
              <a:rPr sz="2200" b="1" spc="-10" dirty="0">
                <a:latin typeface="Tahoma"/>
                <a:cs typeface="Tahoma"/>
              </a:rPr>
              <a:t>change</a:t>
            </a:r>
            <a:endParaRPr sz="2200">
              <a:latin typeface="Tahoma"/>
              <a:cs typeface="Tahoma"/>
            </a:endParaRPr>
          </a:p>
          <a:p>
            <a:pPr marL="323850" indent="-311785">
              <a:lnSpc>
                <a:spcPct val="100000"/>
              </a:lnSpc>
              <a:spcBef>
                <a:spcPts val="480"/>
              </a:spcBef>
              <a:buClr>
                <a:srgbClr val="800080"/>
              </a:buClr>
              <a:buFont typeface="Tahoma"/>
              <a:buChar char="•"/>
              <a:tabLst>
                <a:tab pos="323215" algn="l"/>
                <a:tab pos="324485" algn="l"/>
              </a:tabLst>
            </a:pPr>
            <a:r>
              <a:rPr sz="2200" b="1" spc="-5" dirty="0">
                <a:latin typeface="Tahoma"/>
                <a:cs typeface="Tahoma"/>
              </a:rPr>
              <a:t>Ease</a:t>
            </a:r>
            <a:r>
              <a:rPr sz="2200" b="1" spc="-25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of </a:t>
            </a:r>
            <a:r>
              <a:rPr sz="2200" b="1" spc="-10" dirty="0">
                <a:latin typeface="Tahoma"/>
                <a:cs typeface="Tahoma"/>
              </a:rPr>
              <a:t>drawing</a:t>
            </a:r>
            <a:endParaRPr sz="2200">
              <a:latin typeface="Tahoma"/>
              <a:cs typeface="Tahoma"/>
            </a:endParaRPr>
          </a:p>
          <a:p>
            <a:pPr marL="488315" indent="-476250">
              <a:lnSpc>
                <a:spcPct val="100000"/>
              </a:lnSpc>
              <a:spcBef>
                <a:spcPts val="470"/>
              </a:spcBef>
              <a:buClr>
                <a:srgbClr val="800080"/>
              </a:buClr>
              <a:buFont typeface="Arial MT"/>
              <a:buChar char="•"/>
              <a:tabLst>
                <a:tab pos="488315" algn="l"/>
                <a:tab pos="488950" algn="l"/>
              </a:tabLst>
            </a:pPr>
            <a:r>
              <a:rPr sz="2200" b="1" spc="-5" dirty="0">
                <a:latin typeface="Tahoma"/>
                <a:cs typeface="Tahoma"/>
              </a:rPr>
              <a:t>talented</a:t>
            </a:r>
            <a:r>
              <a:rPr sz="2200" b="1" spc="-40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employees</a:t>
            </a:r>
            <a:endParaRPr sz="2200">
              <a:latin typeface="Tahoma"/>
              <a:cs typeface="Tahoma"/>
            </a:endParaRPr>
          </a:p>
          <a:p>
            <a:pPr marL="323850" indent="-311785">
              <a:lnSpc>
                <a:spcPct val="100000"/>
              </a:lnSpc>
              <a:spcBef>
                <a:spcPts val="465"/>
              </a:spcBef>
              <a:buClr>
                <a:srgbClr val="800080"/>
              </a:buClr>
              <a:buFont typeface="Tahoma"/>
              <a:buChar char="•"/>
              <a:tabLst>
                <a:tab pos="323215" algn="l"/>
                <a:tab pos="324485" algn="l"/>
              </a:tabLst>
            </a:pPr>
            <a:r>
              <a:rPr sz="2200" b="1" spc="-10" dirty="0">
                <a:latin typeface="Tahoma"/>
                <a:cs typeface="Tahoma"/>
              </a:rPr>
              <a:t>Separation</a:t>
            </a:r>
            <a:r>
              <a:rPr sz="2200" b="1" spc="-15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of</a:t>
            </a:r>
            <a:endParaRPr sz="2200">
              <a:latin typeface="Tahoma"/>
              <a:cs typeface="Tahoma"/>
            </a:endParaRPr>
          </a:p>
          <a:p>
            <a:pPr marL="488315" indent="-476250">
              <a:lnSpc>
                <a:spcPct val="100000"/>
              </a:lnSpc>
              <a:spcBef>
                <a:spcPts val="484"/>
              </a:spcBef>
              <a:buClr>
                <a:srgbClr val="800080"/>
              </a:buClr>
              <a:buFont typeface="Arial MT"/>
              <a:buChar char="•"/>
              <a:tabLst>
                <a:tab pos="488315" algn="l"/>
                <a:tab pos="488950" algn="l"/>
              </a:tabLst>
            </a:pPr>
            <a:r>
              <a:rPr sz="2200" b="1" spc="-10" dirty="0">
                <a:latin typeface="Tahoma"/>
                <a:cs typeface="Tahoma"/>
              </a:rPr>
              <a:t>ownership/mgmt.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58611" y="1510283"/>
            <a:ext cx="3622040" cy="3691890"/>
            <a:chOff x="5658611" y="1510283"/>
            <a:chExt cx="3622040" cy="369189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72623" y="2392795"/>
              <a:ext cx="122882" cy="1226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91783" y="2162555"/>
              <a:ext cx="3327654" cy="62407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81471" y="2496311"/>
              <a:ext cx="500634" cy="62712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91783" y="2497836"/>
              <a:ext cx="2615945" cy="62407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81471" y="2831591"/>
              <a:ext cx="500634" cy="62712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91783" y="2833116"/>
              <a:ext cx="2605277" cy="62407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81471" y="3166872"/>
              <a:ext cx="500634" cy="62712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91783" y="3168395"/>
              <a:ext cx="945641" cy="62407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81471" y="3518916"/>
              <a:ext cx="500634" cy="62712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91783" y="3520439"/>
              <a:ext cx="3245358" cy="62407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81471" y="3870960"/>
              <a:ext cx="500634" cy="62712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91783" y="3872483"/>
              <a:ext cx="2242566" cy="62407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29883" y="4224527"/>
              <a:ext cx="3350514" cy="62407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81471" y="4575048"/>
              <a:ext cx="500634" cy="62712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891783" y="4576572"/>
              <a:ext cx="1884425" cy="62407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58611" y="1510283"/>
              <a:ext cx="3519678" cy="88773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07963" y="1606295"/>
              <a:ext cx="3085338" cy="79019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846445" y="1572385"/>
            <a:ext cx="3190240" cy="3443604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165"/>
              </a:spcBef>
            </a:pPr>
            <a:r>
              <a:rPr sz="2800" b="1" spc="-10" dirty="0">
                <a:latin typeface="Tahoma"/>
                <a:cs typeface="Tahoma"/>
              </a:rPr>
              <a:t>Disadvantages</a:t>
            </a:r>
            <a:endParaRPr sz="2800">
              <a:latin typeface="Tahoma"/>
              <a:cs typeface="Tahoma"/>
            </a:endParaRPr>
          </a:p>
          <a:p>
            <a:pPr marL="220979" indent="-208915">
              <a:lnSpc>
                <a:spcPct val="100000"/>
              </a:lnSpc>
              <a:spcBef>
                <a:spcPts val="835"/>
              </a:spcBef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5" dirty="0">
                <a:latin typeface="Tahoma"/>
                <a:cs typeface="Tahoma"/>
              </a:rPr>
              <a:t>Extensive</a:t>
            </a:r>
            <a:r>
              <a:rPr sz="2200" b="1" spc="-15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paperwork</a:t>
            </a:r>
            <a:endParaRPr sz="2200">
              <a:latin typeface="Tahoma"/>
              <a:cs typeface="Tahoma"/>
            </a:endParaRPr>
          </a:p>
          <a:p>
            <a:pPr marL="220979" indent="-208915">
              <a:lnSpc>
                <a:spcPct val="100000"/>
              </a:lnSpc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10" dirty="0">
                <a:latin typeface="Tahoma"/>
                <a:cs typeface="Tahoma"/>
              </a:rPr>
              <a:t>Double</a:t>
            </a:r>
            <a:r>
              <a:rPr sz="2200" b="1" spc="-35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taxation</a:t>
            </a:r>
            <a:endParaRPr sz="2200">
              <a:latin typeface="Tahoma"/>
              <a:cs typeface="Tahoma"/>
            </a:endParaRPr>
          </a:p>
          <a:p>
            <a:pPr marL="220979" indent="-208915">
              <a:lnSpc>
                <a:spcPct val="100000"/>
              </a:lnSpc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10" dirty="0">
                <a:latin typeface="Tahoma"/>
                <a:cs typeface="Tahoma"/>
              </a:rPr>
              <a:t>Two</a:t>
            </a:r>
            <a:r>
              <a:rPr sz="2200" b="1" spc="-20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tax</a:t>
            </a:r>
            <a:r>
              <a:rPr sz="2200" b="1" spc="-40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returns</a:t>
            </a:r>
            <a:endParaRPr sz="2200">
              <a:latin typeface="Tahoma"/>
              <a:cs typeface="Tahoma"/>
            </a:endParaRPr>
          </a:p>
          <a:p>
            <a:pPr marL="220979" indent="-208915">
              <a:lnSpc>
                <a:spcPct val="100000"/>
              </a:lnSpc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10" dirty="0">
                <a:latin typeface="Tahoma"/>
                <a:cs typeface="Tahoma"/>
              </a:rPr>
              <a:t>Size</a:t>
            </a:r>
            <a:endParaRPr sz="2200">
              <a:latin typeface="Tahoma"/>
              <a:cs typeface="Tahoma"/>
            </a:endParaRPr>
          </a:p>
          <a:p>
            <a:pPr marL="220979" indent="-208915">
              <a:lnSpc>
                <a:spcPct val="100000"/>
              </a:lnSpc>
              <a:spcBef>
                <a:spcPts val="135"/>
              </a:spcBef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10" dirty="0">
                <a:latin typeface="Tahoma"/>
                <a:cs typeface="Tahoma"/>
              </a:rPr>
              <a:t>Termination</a:t>
            </a:r>
            <a:r>
              <a:rPr sz="2200" b="1" spc="10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difficult</a:t>
            </a:r>
            <a:endParaRPr sz="2200">
              <a:latin typeface="Tahoma"/>
              <a:cs typeface="Tahoma"/>
            </a:endParaRPr>
          </a:p>
          <a:p>
            <a:pPr marL="221615" marR="29209" indent="-221615">
              <a:lnSpc>
                <a:spcPct val="105000"/>
              </a:lnSpc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10" dirty="0">
                <a:latin typeface="Tahoma"/>
                <a:cs typeface="Tahoma"/>
              </a:rPr>
              <a:t>Conflict</a:t>
            </a:r>
            <a:r>
              <a:rPr sz="2200" b="1" spc="15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with </a:t>
            </a:r>
            <a:r>
              <a:rPr sz="2200" b="1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Stockholder</a:t>
            </a:r>
            <a:r>
              <a:rPr sz="2200" b="1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&amp;</a:t>
            </a:r>
            <a:r>
              <a:rPr sz="2200" b="1" spc="-35" dirty="0">
                <a:latin typeface="Tahoma"/>
                <a:cs typeface="Tahoma"/>
              </a:rPr>
              <a:t> </a:t>
            </a:r>
            <a:r>
              <a:rPr sz="2200" b="1" spc="-5" dirty="0">
                <a:latin typeface="Tahoma"/>
                <a:cs typeface="Tahoma"/>
              </a:rPr>
              <a:t>Board</a:t>
            </a:r>
            <a:endParaRPr sz="2200">
              <a:latin typeface="Tahoma"/>
              <a:cs typeface="Tahoma"/>
            </a:endParaRPr>
          </a:p>
          <a:p>
            <a:pPr marL="220979" indent="-208915">
              <a:lnSpc>
                <a:spcPct val="100000"/>
              </a:lnSpc>
              <a:spcBef>
                <a:spcPts val="135"/>
              </a:spcBef>
              <a:buClr>
                <a:srgbClr val="800080"/>
              </a:buClr>
              <a:buFont typeface="Tahoma"/>
              <a:buChar char="•"/>
              <a:tabLst>
                <a:tab pos="221615" algn="l"/>
              </a:tabLst>
            </a:pPr>
            <a:r>
              <a:rPr sz="2200" b="1" spc="-5" dirty="0">
                <a:latin typeface="Tahoma"/>
                <a:cs typeface="Tahoma"/>
              </a:rPr>
              <a:t>Initial</a:t>
            </a:r>
            <a:r>
              <a:rPr sz="2200" b="1" spc="-20" dirty="0">
                <a:latin typeface="Tahoma"/>
                <a:cs typeface="Tahoma"/>
              </a:rPr>
              <a:t> </a:t>
            </a:r>
            <a:r>
              <a:rPr sz="2200" b="1" spc="-10" dirty="0">
                <a:latin typeface="Tahoma"/>
                <a:cs typeface="Tahoma"/>
              </a:rPr>
              <a:t>cost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49" name="object 4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05583"/>
            <a:ext cx="10515600" cy="43510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Arial MT"/>
                <a:cs typeface="Arial MT"/>
              </a:rPr>
              <a:t>SLIDE</a:t>
            </a:r>
            <a:r>
              <a:rPr sz="12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FFFF00"/>
                </a:solidFill>
                <a:latin typeface="Arial MT"/>
                <a:cs typeface="Arial MT"/>
              </a:rPr>
              <a:t>29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14248"/>
            <a:ext cx="311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latin typeface="Calibri Light"/>
                <a:cs typeface="Calibri Light"/>
              </a:rPr>
              <a:t>Checkpoint</a:t>
            </a:r>
            <a:r>
              <a:rPr b="0" spc="-50" dirty="0">
                <a:latin typeface="Calibri Light"/>
                <a:cs typeface="Calibri Light"/>
              </a:rPr>
              <a:t> </a:t>
            </a:r>
            <a:r>
              <a:rPr b="0" spc="5" dirty="0">
                <a:latin typeface="Wingdings"/>
                <a:cs typeface="Wingdings"/>
              </a:rPr>
              <a:t>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9385" y="2185542"/>
            <a:ext cx="9263380" cy="19551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844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In addition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owner-supplied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capital,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several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sources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financing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small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business?</a:t>
            </a:r>
            <a:endParaRPr sz="280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3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Borrowed </a:t>
            </a:r>
            <a:r>
              <a:rPr sz="2400" spc="-5" dirty="0">
                <a:latin typeface="Calibri"/>
                <a:cs typeface="Calibri"/>
              </a:rPr>
              <a:t>money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10" dirty="0">
                <a:latin typeface="Calibri"/>
                <a:cs typeface="Calibri"/>
              </a:rPr>
              <a:t>come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banks, </a:t>
            </a:r>
            <a:r>
              <a:rPr sz="2400" spc="-5" dirty="0">
                <a:latin typeface="Calibri"/>
                <a:cs typeface="Calibri"/>
              </a:rPr>
              <a:t>finance </a:t>
            </a:r>
            <a:r>
              <a:rPr sz="2400" spc="-10" dirty="0">
                <a:latin typeface="Calibri"/>
                <a:cs typeface="Calibri"/>
              </a:rPr>
              <a:t>companies, </a:t>
            </a:r>
            <a:r>
              <a:rPr sz="2400" spc="-5" dirty="0">
                <a:latin typeface="Calibri"/>
                <a:cs typeface="Calibri"/>
              </a:rPr>
              <a:t>or other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individuals,</a:t>
            </a:r>
            <a:r>
              <a:rPr sz="2400" spc="-5" dirty="0">
                <a:latin typeface="Calibri"/>
                <a:cs typeface="Calibri"/>
              </a:rPr>
              <a:t> such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5" dirty="0">
                <a:latin typeface="Calibri"/>
                <a:cs typeface="Calibri"/>
              </a:rPr>
              <a:t>friends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family.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suppliers </a:t>
            </a:r>
            <a:r>
              <a:rPr sz="2400" spc="-20" dirty="0">
                <a:latin typeface="Calibri"/>
                <a:cs typeface="Calibri"/>
              </a:rPr>
              <a:t>may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extend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credit.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82" y="5027240"/>
            <a:ext cx="1201947" cy="11016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0194" y="370077"/>
            <a:ext cx="4208780" cy="13004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60"/>
              </a:lnSpc>
              <a:spcBef>
                <a:spcPts val="695"/>
              </a:spcBef>
            </a:pPr>
            <a:r>
              <a:rPr b="0" spc="-15" dirty="0">
                <a:latin typeface="Calibri Light"/>
                <a:cs typeface="Calibri Light"/>
              </a:rPr>
              <a:t>Entrepreneur- </a:t>
            </a:r>
            <a:r>
              <a:rPr b="0" spc="-10" dirty="0">
                <a:latin typeface="Calibri Light"/>
                <a:cs typeface="Calibri Light"/>
              </a:rPr>
              <a:t> </a:t>
            </a:r>
            <a:r>
              <a:rPr b="0" spc="-5" dirty="0">
                <a:latin typeface="Calibri Light"/>
                <a:cs typeface="Calibri Light"/>
              </a:rPr>
              <a:t>ONLINE</a:t>
            </a:r>
            <a:r>
              <a:rPr b="0" spc="-6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RESEARCH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887118"/>
            <a:ext cx="414718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WHO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INSPIRES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YOU?</a:t>
            </a:r>
            <a:endParaRPr sz="28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60" dirty="0">
                <a:latin typeface="Calibri"/>
                <a:cs typeface="Calibri"/>
              </a:rPr>
              <a:t>WHAT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IDEAS </a:t>
            </a:r>
            <a:r>
              <a:rPr sz="2800" spc="-5" dirty="0">
                <a:latin typeface="Calibri"/>
                <a:cs typeface="Calibri"/>
              </a:rPr>
              <a:t>INSPIRE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YOU?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6109750"/>
            <a:ext cx="609600" cy="5958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1155</Words>
  <Application>Microsoft Office PowerPoint</Application>
  <PresentationFormat>Widescreen</PresentationFormat>
  <Paragraphs>168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Arial MT</vt:lpstr>
      <vt:lpstr>Calibri</vt:lpstr>
      <vt:lpstr>Calibri Light</vt:lpstr>
      <vt:lpstr>Tahoma</vt:lpstr>
      <vt:lpstr>Times New Roman</vt:lpstr>
      <vt:lpstr>Wingdings</vt:lpstr>
      <vt:lpstr>Office Theme</vt:lpstr>
      <vt:lpstr>Entrepreneurship and Small Business Management</vt:lpstr>
      <vt:lpstr>Becoming an Entrepreneur</vt:lpstr>
      <vt:lpstr>WHAT is ENTREPRENEURSHIP?</vt:lpstr>
      <vt:lpstr>Who is an entrepreneur?</vt:lpstr>
      <vt:lpstr>Why entrepreneurship?</vt:lpstr>
      <vt:lpstr>Role of the Entrepreneur</vt:lpstr>
      <vt:lpstr>NOTABLE ENTREPRENEURS</vt:lpstr>
      <vt:lpstr>Famous Entrepreneurs – Bangladesh</vt:lpstr>
      <vt:lpstr>YOU’RE NEVER TOO YOUNG to be an ENTREPRENEUR (Spotlight on Small Business)</vt:lpstr>
      <vt:lpstr>KEY TERMS</vt:lpstr>
      <vt:lpstr>KEY TERMS</vt:lpstr>
      <vt:lpstr>Entrepreneurship VS Working for  others</vt:lpstr>
      <vt:lpstr>3 Reasons most small businesses fail</vt:lpstr>
      <vt:lpstr>Checkpoint </vt:lpstr>
      <vt:lpstr>Common Types of Small Businesses as Percent of All Small  Businesses</vt:lpstr>
      <vt:lpstr>BUSINESS PLAN</vt:lpstr>
      <vt:lpstr>Checkpoint </vt:lpstr>
      <vt:lpstr>FINANCING THE SMALL BUSINESS</vt:lpstr>
      <vt:lpstr>FORMS of BUSINESS OWNERSHIP</vt:lpstr>
      <vt:lpstr>MAJOR BENEFITS of SOLE  PROPRIETORSHIP</vt:lpstr>
      <vt:lpstr>DISADVANTAGES of SOLE  PROPRIETORSHIPS</vt:lpstr>
      <vt:lpstr>MAJOR TYPES of PARTNERSHIPS</vt:lpstr>
      <vt:lpstr>ADVANTAGES of  PARTNERSHIPS</vt:lpstr>
      <vt:lpstr>DISADVANTAGES of  PARTNERSHIPS</vt:lpstr>
      <vt:lpstr>CONVENTIONAL  CORPORATIONS</vt:lpstr>
      <vt:lpstr>PowerPoint Presentation</vt:lpstr>
      <vt:lpstr>PowerPoint Presentation</vt:lpstr>
      <vt:lpstr>Corporation</vt:lpstr>
      <vt:lpstr>Checkpoint </vt:lpstr>
      <vt:lpstr>Entrepreneur-  ONLINE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Azfar Hossain</cp:lastModifiedBy>
  <cp:revision>1</cp:revision>
  <dcterms:created xsi:type="dcterms:W3CDTF">2023-06-01T07:16:47Z</dcterms:created>
  <dcterms:modified xsi:type="dcterms:W3CDTF">2023-06-01T07:46:10Z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2023-06-01T00:00:00Z</vt:filetime>
  </property>
</Properties>
</file>