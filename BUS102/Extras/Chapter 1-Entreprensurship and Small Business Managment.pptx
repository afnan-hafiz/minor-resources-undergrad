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86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3" r:id="rId30"/>
    <p:sldId id="284" r:id="rId31"/>
    <p:sldId id="285" r:id="rId3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0"/>
    <p:restoredTop sz="78795" autoAdjust="0"/>
  </p:normalViewPr>
  <p:slideViewPr>
    <p:cSldViewPr>
      <p:cViewPr>
        <p:scale>
          <a:sx n="60" d="100"/>
          <a:sy n="60" d="100"/>
        </p:scale>
        <p:origin x="606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C7FFC-370A-471B-AAC8-448BFD396692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C3365-A655-446A-B51A-26CF7071B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6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I want</a:t>
            </a:r>
            <a:r>
              <a:rPr lang="en-US" baseline="0" dirty="0" smtClean="0"/>
              <a:t> to become a entrepreneur I have to keep in mind 3 goals.</a:t>
            </a:r>
            <a:br>
              <a:rPr lang="en-US" baseline="0" dirty="0" smtClean="0"/>
            </a:br>
            <a:r>
              <a:rPr lang="en-US" baseline="0" dirty="0" smtClean="0"/>
              <a:t>Identify , Recognize and Describe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52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65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r>
              <a:rPr lang="en-US" baseline="0" dirty="0" smtClean="0"/>
              <a:t> Entrepreneurship you have to own the </a:t>
            </a:r>
            <a:r>
              <a:rPr lang="en-US" baseline="0" dirty="0" err="1" smtClean="0"/>
              <a:t>business,have</a:t>
            </a:r>
            <a:r>
              <a:rPr lang="en-US" baseline="0" dirty="0" smtClean="0"/>
              <a:t> huge </a:t>
            </a:r>
            <a:r>
              <a:rPr lang="en-US" baseline="0" dirty="0" err="1" smtClean="0"/>
              <a:t>liability,have</a:t>
            </a:r>
            <a:r>
              <a:rPr lang="en-US" baseline="0" dirty="0" smtClean="0"/>
              <a:t> minimum fringe benefits and have to be accountable for success and failure.</a:t>
            </a:r>
            <a:br>
              <a:rPr lang="en-US" baseline="0" dirty="0" smtClean="0"/>
            </a:br>
            <a:r>
              <a:rPr lang="en-US" baseline="0" dirty="0" smtClean="0"/>
              <a:t>Whereas, working for others you don’t have to own ,have liability and enjoy many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22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 reasons your small business can fall.</a:t>
            </a:r>
            <a:br>
              <a:rPr lang="en-US" dirty="0" smtClean="0"/>
            </a:br>
            <a:r>
              <a:rPr lang="en-US" dirty="0" smtClean="0"/>
              <a:t>1.Lack of money</a:t>
            </a:r>
            <a:br>
              <a:rPr lang="en-US" dirty="0" smtClean="0"/>
            </a:br>
            <a:r>
              <a:rPr lang="en-US" dirty="0" smtClean="0"/>
              <a:t>2.Lack of management capability </a:t>
            </a:r>
            <a:br>
              <a:rPr lang="en-US" dirty="0" smtClean="0"/>
            </a:br>
            <a:r>
              <a:rPr lang="en-US" dirty="0" smtClean="0"/>
              <a:t>3. Lack of adequate records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23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Entrepreneurs</a:t>
            </a:r>
            <a:r>
              <a:rPr lang="en-US" baseline="0" dirty="0" smtClean="0"/>
              <a:t> use their personal savings or family friends money or lure big investors or take loan for new business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52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75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57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56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1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317" y="5333444"/>
            <a:ext cx="833621" cy="4811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317" y="5333444"/>
            <a:ext cx="833621" cy="4811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3829" y="774010"/>
            <a:ext cx="3605415" cy="5574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13317" y="5333444"/>
            <a:ext cx="833621" cy="4811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29564"/>
            <a:ext cx="10358120" cy="128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7794" y="1567942"/>
            <a:ext cx="8078470" cy="3934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roc.gov.bd/acts/partnershipact1932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en.banglapedia.org/index.php?title=Partnership_Busines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7335" y="0"/>
            <a:ext cx="9144000" cy="6324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388" y="5029200"/>
            <a:ext cx="1201947" cy="11016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6939" y="6431381"/>
            <a:ext cx="593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4285" y="3452486"/>
            <a:ext cx="4583430" cy="1576714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255"/>
              </a:spcBef>
            </a:pPr>
            <a:r>
              <a:rPr sz="2400" spc="-5" dirty="0">
                <a:latin typeface="Arial MT"/>
                <a:cs typeface="Arial MT"/>
              </a:rPr>
              <a:t>Becoming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Entrepreneur</a:t>
            </a:r>
            <a:endParaRPr lang="en-US" sz="24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buClr>
                <a:srgbClr val="3399FF"/>
              </a:buClr>
              <a:buSzPct val="75000"/>
              <a:tabLst>
                <a:tab pos="926465" algn="l"/>
                <a:tab pos="927100" algn="l"/>
              </a:tabLst>
            </a:pPr>
            <a:r>
              <a:rPr lang="en-US" sz="2400" spc="-5" dirty="0">
                <a:latin typeface="Arial MT"/>
                <a:cs typeface="Arial MT"/>
              </a:rPr>
              <a:t>	Small</a:t>
            </a:r>
            <a:r>
              <a:rPr lang="en-US" sz="2400" spc="-1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Business</a:t>
            </a:r>
            <a:r>
              <a:rPr lang="en-US" sz="2400" spc="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Basics</a:t>
            </a:r>
            <a:endParaRPr lang="en-US"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buClr>
                <a:srgbClr val="3399FF"/>
              </a:buClr>
              <a:buSzPct val="75000"/>
              <a:tabLst>
                <a:tab pos="926465" algn="l"/>
                <a:tab pos="927100" algn="l"/>
              </a:tabLst>
            </a:pPr>
            <a:r>
              <a:rPr lang="en-US" sz="2400" spc="-5" dirty="0">
                <a:latin typeface="Arial MT"/>
                <a:cs typeface="Arial MT"/>
              </a:rPr>
              <a:t>	Starting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a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Small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Business</a:t>
            </a:r>
            <a:endParaRPr lang="en-US" sz="2400" dirty="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24555" y="1210055"/>
            <a:ext cx="6872605" cy="1729105"/>
            <a:chOff x="2924555" y="1210055"/>
            <a:chExt cx="6872605" cy="172910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4555" y="1210055"/>
              <a:ext cx="5612130" cy="11193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4555" y="1819655"/>
              <a:ext cx="6872478" cy="111937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227070" y="1342085"/>
            <a:ext cx="623443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solidFill>
                  <a:srgbClr val="4471C4"/>
                </a:solidFill>
                <a:latin typeface="Times New Roman"/>
                <a:cs typeface="Times New Roman"/>
              </a:rPr>
              <a:t>Entrepreneurship</a:t>
            </a:r>
            <a:r>
              <a:rPr sz="4000" spc="1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4471C4"/>
                </a:solidFill>
                <a:latin typeface="Times New Roman"/>
                <a:cs typeface="Times New Roman"/>
              </a:rPr>
              <a:t>and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0" spc="-5" dirty="0">
                <a:solidFill>
                  <a:srgbClr val="4471C4"/>
                </a:solidFill>
                <a:latin typeface="Times New Roman"/>
                <a:cs typeface="Times New Roman"/>
              </a:rPr>
              <a:t>Small</a:t>
            </a:r>
            <a:r>
              <a:rPr sz="400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4471C4"/>
                </a:solidFill>
                <a:latin typeface="Times New Roman"/>
                <a:cs typeface="Times New Roman"/>
              </a:rPr>
              <a:t>Business Management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6939" y="6431381"/>
            <a:ext cx="593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52600" y="914400"/>
            <a:ext cx="81006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55" dirty="0">
                <a:solidFill>
                  <a:srgbClr val="4471C4"/>
                </a:solidFill>
                <a:latin typeface="Calibri Light"/>
                <a:cs typeface="Calibri Light"/>
              </a:rPr>
              <a:t>Becoming</a:t>
            </a:r>
            <a:r>
              <a:rPr sz="6000" b="0" spc="-12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6000" b="0" spc="-25" dirty="0">
                <a:solidFill>
                  <a:srgbClr val="4471C4"/>
                </a:solidFill>
                <a:latin typeface="Calibri Light"/>
                <a:cs typeface="Calibri Light"/>
              </a:rPr>
              <a:t>an</a:t>
            </a:r>
            <a:r>
              <a:rPr sz="6000"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6000" b="0" spc="-70" dirty="0">
                <a:solidFill>
                  <a:srgbClr val="4471C4"/>
                </a:solidFill>
                <a:latin typeface="Calibri Light"/>
                <a:cs typeface="Calibri Light"/>
              </a:rPr>
              <a:t>Entrepreneur</a:t>
            </a:r>
            <a:endParaRPr sz="60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4105" y="2753138"/>
            <a:ext cx="765810" cy="151193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200" b="1" spc="-10" dirty="0">
                <a:solidFill>
                  <a:srgbClr val="0066FF"/>
                </a:solidFill>
                <a:latin typeface="Calibri"/>
                <a:cs typeface="Calibri"/>
              </a:rPr>
              <a:t>Goal</a:t>
            </a:r>
            <a:r>
              <a:rPr sz="2200" b="1" spc="-6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6FF"/>
                </a:solidFill>
                <a:latin typeface="Calibri"/>
                <a:cs typeface="Calibri"/>
              </a:rPr>
              <a:t>1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00" b="1" spc="-10" dirty="0">
                <a:solidFill>
                  <a:srgbClr val="0066FF"/>
                </a:solidFill>
                <a:latin typeface="Calibri"/>
                <a:cs typeface="Calibri"/>
              </a:rPr>
              <a:t>Goal</a:t>
            </a:r>
            <a:r>
              <a:rPr sz="2200" b="1" spc="-6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6FF"/>
                </a:solidFill>
                <a:latin typeface="Calibri"/>
                <a:cs typeface="Calibri"/>
              </a:rPr>
              <a:t>2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200" b="1" spc="-10" dirty="0">
                <a:solidFill>
                  <a:srgbClr val="0066FF"/>
                </a:solidFill>
                <a:latin typeface="Calibri"/>
                <a:cs typeface="Calibri"/>
              </a:rPr>
              <a:t>Goal</a:t>
            </a:r>
            <a:r>
              <a:rPr sz="2200" b="1" spc="-6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6FF"/>
                </a:solidFill>
                <a:latin typeface="Calibri"/>
                <a:cs typeface="Calibri"/>
              </a:rPr>
              <a:t>3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1800" y="2753138"/>
            <a:ext cx="7182484" cy="151193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200" spc="-5" dirty="0">
                <a:solidFill>
                  <a:schemeClr val="accent1"/>
                </a:solidFill>
                <a:latin typeface="Calibri"/>
                <a:cs typeface="Calibri"/>
              </a:rPr>
              <a:t>Identify</a:t>
            </a:r>
            <a:r>
              <a:rPr sz="2200" spc="25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chemeClr val="accent1"/>
                </a:solidFill>
                <a:latin typeface="Calibri"/>
                <a:cs typeface="Calibri"/>
              </a:rPr>
              <a:t>characteristics</a:t>
            </a:r>
            <a:r>
              <a:rPr sz="2200" spc="-15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accent1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chemeClr val="accent1"/>
                </a:solidFill>
                <a:latin typeface="Calibri"/>
                <a:cs typeface="Calibri"/>
              </a:rPr>
              <a:t>successful</a:t>
            </a:r>
            <a:r>
              <a:rPr sz="2200" spc="5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chemeClr val="accent1"/>
                </a:solidFill>
                <a:latin typeface="Calibri"/>
                <a:cs typeface="Calibri"/>
              </a:rPr>
              <a:t>entrepreneurs.</a:t>
            </a:r>
            <a:endParaRPr sz="2200" dirty="0">
              <a:solidFill>
                <a:schemeClr val="accent1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47700"/>
              </a:lnSpc>
              <a:spcBef>
                <a:spcPts val="5"/>
              </a:spcBef>
            </a:pPr>
            <a:r>
              <a:rPr sz="2200" spc="-20" dirty="0">
                <a:solidFill>
                  <a:schemeClr val="accent1"/>
                </a:solidFill>
                <a:latin typeface="Calibri"/>
                <a:cs typeface="Calibri"/>
              </a:rPr>
              <a:t>Recognize</a:t>
            </a:r>
            <a:r>
              <a:rPr sz="2200" spc="45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chemeClr val="accent1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chemeClr val="accent1"/>
                </a:solidFill>
                <a:latin typeface="Calibri"/>
                <a:cs typeface="Calibri"/>
              </a:rPr>
              <a:t>importance</a:t>
            </a:r>
            <a:r>
              <a:rPr sz="2200" spc="-1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accent1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chemeClr val="accent1"/>
                </a:solidFill>
                <a:latin typeface="Calibri"/>
                <a:cs typeface="Calibri"/>
              </a:rPr>
              <a:t>entrepreneurship</a:t>
            </a:r>
            <a:r>
              <a:rPr sz="220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chemeClr val="accent1"/>
                </a:solidFill>
                <a:latin typeface="Calibri"/>
                <a:cs typeface="Calibri"/>
              </a:rPr>
              <a:t>in</a:t>
            </a:r>
            <a:r>
              <a:rPr sz="2200" spc="5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chemeClr val="accent1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chemeClr val="accent1"/>
                </a:solidFill>
                <a:latin typeface="Calibri"/>
                <a:cs typeface="Calibri"/>
              </a:rPr>
              <a:t>economy</a:t>
            </a:r>
            <a:r>
              <a:rPr sz="2200" spc="-30" dirty="0">
                <a:latin typeface="Calibri"/>
                <a:cs typeface="Calibri"/>
              </a:rPr>
              <a:t>.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chemeClr val="accent1"/>
                </a:solidFill>
                <a:latin typeface="Calibri"/>
                <a:cs typeface="Calibri"/>
              </a:rPr>
              <a:t>Describe </a:t>
            </a:r>
            <a:r>
              <a:rPr sz="2200" spc="-10" dirty="0">
                <a:solidFill>
                  <a:schemeClr val="accent1"/>
                </a:solidFill>
                <a:latin typeface="Calibri"/>
                <a:cs typeface="Calibri"/>
              </a:rPr>
              <a:t>opportunities</a:t>
            </a:r>
            <a:r>
              <a:rPr sz="2200" spc="2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chemeClr val="accent1"/>
                </a:solidFill>
                <a:latin typeface="Calibri"/>
                <a:cs typeface="Calibri"/>
              </a:rPr>
              <a:t>and</a:t>
            </a:r>
            <a:r>
              <a:rPr sz="2200" spc="-10" dirty="0">
                <a:solidFill>
                  <a:schemeClr val="accent1"/>
                </a:solidFill>
                <a:latin typeface="Calibri"/>
                <a:cs typeface="Calibri"/>
              </a:rPr>
              <a:t> risks</a:t>
            </a:r>
            <a:r>
              <a:rPr sz="2200" spc="1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accent1"/>
                </a:solidFill>
                <a:latin typeface="Calibri"/>
                <a:cs typeface="Calibri"/>
              </a:rPr>
              <a:t>of </a:t>
            </a:r>
            <a:r>
              <a:rPr sz="2200" spc="-15" dirty="0">
                <a:solidFill>
                  <a:schemeClr val="accent1"/>
                </a:solidFill>
                <a:latin typeface="Calibri"/>
                <a:cs typeface="Calibri"/>
              </a:rPr>
              <a:t>entrepreneurship.</a:t>
            </a:r>
            <a:endParaRPr sz="2200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570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60" dirty="0">
                <a:solidFill>
                  <a:srgbClr val="4471C4"/>
                </a:solidFill>
                <a:latin typeface="Calibri Light"/>
                <a:cs typeface="Calibri Light"/>
              </a:rPr>
              <a:t>W</a:t>
            </a:r>
            <a:r>
              <a:rPr b="0" spc="-40" dirty="0">
                <a:solidFill>
                  <a:srgbClr val="4471C4"/>
                </a:solidFill>
                <a:latin typeface="Calibri Light"/>
                <a:cs typeface="Calibri Light"/>
              </a:rPr>
              <a:t>H</a:t>
            </a:r>
            <a:r>
              <a:rPr b="0" spc="-385" dirty="0">
                <a:solidFill>
                  <a:srgbClr val="4471C4"/>
                </a:solidFill>
                <a:latin typeface="Calibri Light"/>
                <a:cs typeface="Calibri Light"/>
              </a:rPr>
              <a:t>A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T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i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s</a:t>
            </a:r>
            <a:r>
              <a:rPr b="0" spc="-6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E</a:t>
            </a:r>
            <a:r>
              <a:rPr b="0" spc="-40" dirty="0">
                <a:solidFill>
                  <a:srgbClr val="4471C4"/>
                </a:solidFill>
                <a:latin typeface="Calibri Light"/>
                <a:cs typeface="Calibri Light"/>
              </a:rPr>
              <a:t>N</a:t>
            </a: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TRE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P</a:t>
            </a: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RE</a:t>
            </a:r>
            <a:r>
              <a:rPr b="0" spc="-65" dirty="0">
                <a:solidFill>
                  <a:srgbClr val="4471C4"/>
                </a:solidFill>
                <a:latin typeface="Calibri Light"/>
                <a:cs typeface="Calibri Light"/>
              </a:rPr>
              <a:t>N</a:t>
            </a: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E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U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R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S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H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I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P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995371"/>
            <a:ext cx="9577070" cy="8362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Entrepreneurship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•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Accepting</a:t>
            </a:r>
            <a:r>
              <a:rPr sz="2800" spc="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the risk</a:t>
            </a:r>
            <a:r>
              <a:rPr sz="2800" spc="1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of </a:t>
            </a:r>
            <a:r>
              <a:rPr sz="2800" spc="-1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starting</a:t>
            </a:r>
            <a:r>
              <a:rPr sz="2800" spc="1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and</a:t>
            </a:r>
            <a:r>
              <a:rPr sz="2800" spc="1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running</a:t>
            </a:r>
            <a:r>
              <a:rPr sz="2800" spc="4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a</a:t>
            </a:r>
            <a:endParaRPr sz="2800" dirty="0">
              <a:solidFill>
                <a:schemeClr val="accent2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spc="-5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business.</a:t>
            </a:r>
            <a:endParaRPr sz="2800" dirty="0">
              <a:solidFill>
                <a:schemeClr val="accent2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0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539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Who</a:t>
            </a:r>
            <a:r>
              <a:rPr b="0" spc="-12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4471C4"/>
                </a:solidFill>
                <a:latin typeface="Calibri Light"/>
                <a:cs typeface="Calibri Light"/>
              </a:rPr>
              <a:t>is</a:t>
            </a:r>
            <a:r>
              <a:rPr b="0" spc="-7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an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entrepreneur?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291587"/>
            <a:ext cx="9830435" cy="394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Person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conducting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(Webster)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ct val="190100"/>
              </a:lnSpc>
              <a:spcBef>
                <a:spcPts val="99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Person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up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deals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make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profits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(Collins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Cobuild)</a:t>
            </a:r>
            <a:endParaRPr sz="2800" dirty="0">
              <a:latin typeface="Calibri"/>
              <a:cs typeface="Calibri"/>
            </a:endParaRPr>
          </a:p>
          <a:p>
            <a:pPr marL="241300" marR="66040" indent="-229235">
              <a:lnSpc>
                <a:spcPct val="19000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Organizer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economic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venture,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 </a:t>
            </a:r>
            <a:r>
              <a:rPr sz="2800" spc="-10" dirty="0">
                <a:latin typeface="Calibri"/>
                <a:cs typeface="Calibri"/>
              </a:rPr>
              <a:t>owns,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organizes,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manages,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assumes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risks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(Chandrashekhar)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0800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50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65" dirty="0">
                <a:solidFill>
                  <a:srgbClr val="4471C4"/>
                </a:solidFill>
                <a:latin typeface="Calibri Light"/>
                <a:cs typeface="Calibri Light"/>
              </a:rPr>
              <a:t>Why</a:t>
            </a:r>
            <a:r>
              <a:rPr b="0" spc="-114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entrepreneurship?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197" y="1828800"/>
            <a:ext cx="10320020" cy="41370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530"/>
              </a:spcBef>
              <a:buFont typeface="Arial MT"/>
              <a:buChar char="•"/>
              <a:tabLst>
                <a:tab pos="241935" algn="l"/>
              </a:tabLst>
            </a:pPr>
            <a:r>
              <a:rPr sz="3600" spc="-15" dirty="0">
                <a:latin typeface="Calibri"/>
                <a:cs typeface="Calibri"/>
              </a:rPr>
              <a:t>Process </a:t>
            </a:r>
            <a:r>
              <a:rPr sz="3600" spc="-5" dirty="0">
                <a:latin typeface="Calibri"/>
                <a:cs typeface="Calibri"/>
              </a:rPr>
              <a:t>of </a:t>
            </a:r>
            <a:r>
              <a:rPr sz="3600" spc="-10" dirty="0">
                <a:latin typeface="Calibri"/>
                <a:cs typeface="Calibri"/>
              </a:rPr>
              <a:t>creating </a:t>
            </a:r>
            <a:r>
              <a:rPr sz="3600" spc="-5" dirty="0">
                <a:latin typeface="Calibri"/>
                <a:cs typeface="Calibri"/>
              </a:rPr>
              <a:t>something </a:t>
            </a:r>
            <a:r>
              <a:rPr sz="3600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different</a:t>
            </a:r>
            <a:r>
              <a:rPr sz="3600" spc="-20" dirty="0">
                <a:latin typeface="Calibri"/>
                <a:cs typeface="Calibri"/>
              </a:rPr>
              <a:t>, </a:t>
            </a:r>
            <a:r>
              <a:rPr sz="3600" spc="-5" dirty="0">
                <a:latin typeface="Calibri"/>
                <a:cs typeface="Calibri"/>
              </a:rPr>
              <a:t>with </a:t>
            </a:r>
            <a:r>
              <a:rPr sz="3600" spc="-1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value</a:t>
            </a:r>
            <a:r>
              <a:rPr sz="3600" spc="-10" dirty="0">
                <a:latin typeface="Calibri"/>
                <a:cs typeface="Calibri"/>
              </a:rPr>
              <a:t>, </a:t>
            </a:r>
            <a:r>
              <a:rPr sz="3600" spc="-5" dirty="0">
                <a:latin typeface="Calibri"/>
                <a:cs typeface="Calibri"/>
              </a:rPr>
              <a:t>by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devoting </a:t>
            </a:r>
            <a:r>
              <a:rPr sz="3600" spc="-5" dirty="0">
                <a:latin typeface="Calibri"/>
                <a:cs typeface="Calibri"/>
              </a:rPr>
              <a:t>necessary </a:t>
            </a:r>
            <a:r>
              <a:rPr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time and </a:t>
            </a:r>
            <a:r>
              <a:rPr sz="36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effort</a:t>
            </a:r>
            <a:r>
              <a:rPr sz="3600" spc="-25" dirty="0">
                <a:latin typeface="Calibri"/>
                <a:cs typeface="Calibri"/>
              </a:rPr>
              <a:t>, </a:t>
            </a:r>
            <a:r>
              <a:rPr sz="3600" spc="-5" dirty="0">
                <a:latin typeface="Calibri"/>
                <a:cs typeface="Calibri"/>
              </a:rPr>
              <a:t>by </a:t>
            </a:r>
            <a:r>
              <a:rPr sz="3600" dirty="0">
                <a:latin typeface="Calibri"/>
                <a:cs typeface="Calibri"/>
              </a:rPr>
              <a:t>assuming the 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accompanying</a:t>
            </a:r>
            <a:r>
              <a:rPr sz="3600" spc="13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financial,</a:t>
            </a:r>
            <a:r>
              <a:rPr sz="3600" spc="14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psychological,</a:t>
            </a:r>
            <a:r>
              <a:rPr sz="3600" spc="1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18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social 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risks</a:t>
            </a:r>
            <a:r>
              <a:rPr sz="3600" spc="-10" dirty="0">
                <a:latin typeface="Calibri"/>
                <a:cs typeface="Calibri"/>
              </a:rPr>
              <a:t>, </a:t>
            </a:r>
            <a:r>
              <a:rPr sz="3600" dirty="0">
                <a:latin typeface="Calibri"/>
                <a:cs typeface="Calibri"/>
              </a:rPr>
              <a:t>and </a:t>
            </a:r>
            <a:r>
              <a:rPr sz="3600" spc="-5" dirty="0">
                <a:latin typeface="Calibri"/>
                <a:cs typeface="Calibri"/>
              </a:rPr>
              <a:t>receiving </a:t>
            </a:r>
            <a:r>
              <a:rPr sz="3600" dirty="0">
                <a:latin typeface="Calibri"/>
                <a:cs typeface="Calibri"/>
              </a:rPr>
              <a:t>the </a:t>
            </a:r>
            <a:r>
              <a:rPr sz="3600" spc="-5" dirty="0">
                <a:latin typeface="Calibri"/>
                <a:cs typeface="Calibri"/>
              </a:rPr>
              <a:t>resulting </a:t>
            </a:r>
            <a:r>
              <a:rPr sz="3600" spc="-25" dirty="0">
                <a:solidFill>
                  <a:schemeClr val="accent4">
                    <a:lumMod val="75000"/>
                  </a:schemeClr>
                </a:solidFill>
                <a:latin typeface="Calibri"/>
                <a:cs typeface="Calibri"/>
              </a:rPr>
              <a:t>rewards </a:t>
            </a:r>
            <a:r>
              <a:rPr sz="3600" spc="-5" dirty="0">
                <a:latin typeface="Calibri"/>
                <a:cs typeface="Calibri"/>
              </a:rPr>
              <a:t>of </a:t>
            </a:r>
            <a:r>
              <a:rPr sz="3600" spc="-10" dirty="0">
                <a:latin typeface="Calibri"/>
                <a:cs typeface="Calibri"/>
              </a:rPr>
              <a:t>monetary 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15" dirty="0">
                <a:latin typeface="Calibri"/>
                <a:cs typeface="Calibri"/>
              </a:rPr>
              <a:t> personal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5" dirty="0">
                <a:solidFill>
                  <a:schemeClr val="accent6"/>
                </a:solidFill>
                <a:latin typeface="Calibri"/>
                <a:cs typeface="Calibri"/>
              </a:rPr>
              <a:t>satisfaction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(Bowen</a:t>
            </a:r>
            <a:r>
              <a:rPr sz="3600" dirty="0">
                <a:latin typeface="Calibri"/>
                <a:cs typeface="Calibri"/>
              </a:rPr>
              <a:t> and</a:t>
            </a:r>
            <a:r>
              <a:rPr sz="3600" spc="-5" dirty="0">
                <a:latin typeface="Calibri"/>
                <a:cs typeface="Calibri"/>
              </a:rPr>
              <a:t> Hisrich,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1986).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4087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95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Role</a:t>
            </a:r>
            <a:r>
              <a:rPr b="0" spc="-114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of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the</a:t>
            </a:r>
            <a:r>
              <a:rPr b="0" spc="-114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Entrepreneur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954784"/>
            <a:ext cx="10281920" cy="42561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marR="5080" indent="-229235">
              <a:lnSpc>
                <a:spcPct val="200000"/>
              </a:lnSpc>
              <a:spcBef>
                <a:spcPts val="5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innovator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</a:t>
            </a:r>
            <a:r>
              <a:rPr sz="2800" spc="-5" dirty="0">
                <a:latin typeface="Calibri"/>
                <a:cs typeface="Calibri"/>
              </a:rPr>
              <a:t> combines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Calibri"/>
                <a:cs typeface="Calibri"/>
              </a:rPr>
              <a:t>technical</a:t>
            </a:r>
            <a:r>
              <a:rPr sz="2800" spc="-35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Calibri"/>
                <a:cs typeface="Calibri"/>
              </a:rPr>
              <a:t>innovations</a:t>
            </a:r>
            <a:r>
              <a:rPr sz="2800" spc="-35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financial 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finesses</a:t>
            </a:r>
            <a:r>
              <a:rPr sz="2800" spc="-5" dirty="0">
                <a:latin typeface="Calibri"/>
                <a:cs typeface="Calibri"/>
              </a:rPr>
              <a:t>. </a:t>
            </a:r>
            <a:r>
              <a:rPr sz="2800" spc="-10" dirty="0">
                <a:latin typeface="Calibri"/>
                <a:cs typeface="Calibri"/>
              </a:rPr>
              <a:t>Important </a:t>
            </a:r>
            <a:r>
              <a:rPr sz="2800" spc="-20" dirty="0">
                <a:latin typeface="Calibri"/>
                <a:cs typeface="Calibri"/>
              </a:rPr>
              <a:t>role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producing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competitive products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processes, </a:t>
            </a:r>
            <a:r>
              <a:rPr sz="28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and services</a:t>
            </a:r>
            <a:r>
              <a:rPr sz="2800" dirty="0">
                <a:latin typeface="Calibri"/>
                <a:cs typeface="Calibri"/>
              </a:rPr>
              <a:t>.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Generation </a:t>
            </a:r>
            <a:r>
              <a:rPr sz="2800" spc="-5" dirty="0">
                <a:latin typeface="Calibri"/>
                <a:cs typeface="Calibri"/>
              </a:rPr>
              <a:t>of new employment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economic development </a:t>
            </a:r>
            <a:r>
              <a:rPr sz="2800" spc="-15" dirty="0">
                <a:latin typeface="Calibri"/>
                <a:cs typeface="Calibri"/>
              </a:rPr>
              <a:t>Improved </a:t>
            </a:r>
            <a:r>
              <a:rPr sz="2800" spc="-10" dirty="0">
                <a:latin typeface="Calibri"/>
                <a:cs typeface="Calibri"/>
              </a:rPr>
              <a:t>allocation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transfer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technologies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56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70" dirty="0">
                <a:solidFill>
                  <a:srgbClr val="4471C4"/>
                </a:solidFill>
                <a:latin typeface="Calibri Light"/>
                <a:cs typeface="Calibri Light"/>
              </a:rPr>
              <a:t>NOTABLE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4471C4"/>
                </a:solidFill>
                <a:latin typeface="Calibri Light"/>
                <a:cs typeface="Calibri Light"/>
              </a:rPr>
              <a:t>ENTREPRENEURS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1402080"/>
            <a:ext cx="8093964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67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Famous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Entrepreneurs</a:t>
            </a:r>
            <a:r>
              <a:rPr b="0" spc="-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–</a:t>
            </a:r>
            <a:r>
              <a:rPr b="0" spc="-8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Bangladesh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1700783"/>
            <a:ext cx="1524000" cy="21366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194" y="3759530"/>
            <a:ext cx="2042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Muhammad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Yunus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0207" y="1426463"/>
            <a:ext cx="2040636" cy="24109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64448" y="3911930"/>
            <a:ext cx="19678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Fazle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Hasan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Abed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62200" y="4192523"/>
            <a:ext cx="1434084" cy="18059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74494" y="6025388"/>
            <a:ext cx="2258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Latifur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Rahman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7238" y="6257645"/>
            <a:ext cx="1681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Bibi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Russel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84320" y="2705100"/>
            <a:ext cx="6309360" cy="3493135"/>
            <a:chOff x="4084320" y="2705100"/>
            <a:chExt cx="6309360" cy="349313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4320" y="2705100"/>
              <a:ext cx="3764279" cy="23454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48600" y="4192524"/>
              <a:ext cx="2545079" cy="2005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994900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YOU’RE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NEVER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70" dirty="0">
                <a:solidFill>
                  <a:srgbClr val="4471C4"/>
                </a:solidFill>
                <a:latin typeface="Calibri Light"/>
                <a:cs typeface="Calibri Light"/>
              </a:rPr>
              <a:t>TOO</a:t>
            </a:r>
            <a:r>
              <a:rPr b="0" spc="-10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60" dirty="0">
                <a:solidFill>
                  <a:srgbClr val="4471C4"/>
                </a:solidFill>
                <a:latin typeface="Calibri Light"/>
                <a:cs typeface="Calibri Light"/>
              </a:rPr>
              <a:t>YOUNG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to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be</a:t>
            </a:r>
            <a:r>
              <a:rPr b="0" spc="-8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an</a:t>
            </a:r>
          </a:p>
          <a:p>
            <a:pPr marL="12700">
              <a:lnSpc>
                <a:spcPts val="5015"/>
              </a:lnSpc>
            </a:pPr>
            <a:r>
              <a:rPr b="0" spc="-40" dirty="0">
                <a:solidFill>
                  <a:srgbClr val="4471C4"/>
                </a:solidFill>
                <a:latin typeface="Calibri Light"/>
                <a:cs typeface="Calibri Light"/>
              </a:rPr>
              <a:t>ENTREPRENEUR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(Spotlight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on</a:t>
            </a:r>
            <a:r>
              <a:rPr b="0" spc="-10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Small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Business)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887118"/>
            <a:ext cx="10218420" cy="28390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Leanna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Archer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12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years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old,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hair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line.</a:t>
            </a:r>
            <a:endParaRPr sz="2800" dirty="0">
              <a:latin typeface="Calibri"/>
              <a:cs typeface="Calibri"/>
            </a:endParaRPr>
          </a:p>
          <a:p>
            <a:pPr marL="241300" marR="86995" indent="-22923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libri"/>
                <a:cs typeface="Calibri"/>
              </a:rPr>
              <a:t>Alexis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Holmes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Started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baking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fundraiser,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now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16-year-old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owns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bakery.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Jack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Short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Daniel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Lyons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medical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students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started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Factory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Green,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carbon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neutral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apparel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company,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spc="-15" dirty="0">
                <a:latin typeface="Calibri"/>
                <a:cs typeface="Calibri"/>
              </a:rPr>
              <a:t>undergrads.</a:t>
            </a:r>
            <a:endParaRPr sz="2800" dirty="0">
              <a:latin typeface="Calibri"/>
              <a:cs typeface="Calibri"/>
            </a:endParaRPr>
          </a:p>
          <a:p>
            <a:pPr marL="321945" indent="-30988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sz="2800" spc="-5" dirty="0">
                <a:latin typeface="Calibri"/>
                <a:cs typeface="Calibri"/>
              </a:rPr>
              <a:t>Mark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Zuckerberg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Launched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Facebook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Harvard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freshman.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609676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36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libri Light"/>
                <a:cs typeface="Calibri Light"/>
              </a:rPr>
              <a:t>KEY</a:t>
            </a:r>
            <a:r>
              <a:rPr b="0" spc="-7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TERMS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2029" y="1679934"/>
            <a:ext cx="10515600" cy="425744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18770" indent="-228600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Entrepreneur-</a:t>
            </a:r>
            <a:r>
              <a:rPr sz="2800" spc="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individual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risk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taker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innovator.</a:t>
            </a:r>
            <a:endParaRPr sz="2800" dirty="0">
              <a:latin typeface="Calibri"/>
              <a:cs typeface="Calibri"/>
            </a:endParaRPr>
          </a:p>
          <a:p>
            <a:pPr marL="241300" marR="353060" indent="-228600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Entrepreneurship-</a:t>
            </a:r>
            <a:r>
              <a:rPr sz="2800" spc="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business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creative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risky.</a:t>
            </a:r>
            <a:endParaRPr sz="2800" dirty="0">
              <a:latin typeface="Calibri"/>
              <a:cs typeface="Calibri"/>
            </a:endParaRPr>
          </a:p>
          <a:p>
            <a:pPr marL="241300" marR="473075" indent="-228600">
              <a:lnSpc>
                <a:spcPct val="15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Characteristics:</a:t>
            </a:r>
            <a:r>
              <a:rPr sz="2800" spc="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Creative,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confident,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goal-oriented,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motivated,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hard-working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15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238885" algn="l"/>
              </a:tabLst>
            </a:pP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Risks:	</a:t>
            </a:r>
            <a:r>
              <a:rPr sz="2800" spc="-15" dirty="0">
                <a:latin typeface="Calibri"/>
                <a:cs typeface="Calibri"/>
              </a:rPr>
              <a:t>Unproven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idea,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little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management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experience,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long-hours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guarantee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profit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36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libri Light"/>
                <a:cs typeface="Calibri Light"/>
              </a:rPr>
              <a:t>KEY</a:t>
            </a:r>
            <a:r>
              <a:rPr b="0" spc="-7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TERMS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803866"/>
            <a:ext cx="11125200" cy="413561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430"/>
              </a:spcBef>
              <a:buFont typeface="Arial MT"/>
              <a:buChar char="●"/>
              <a:tabLst>
                <a:tab pos="241300" algn="l"/>
              </a:tabLst>
            </a:pPr>
            <a:r>
              <a:rPr sz="2800" spc="-35" dirty="0">
                <a:solidFill>
                  <a:srgbClr val="4471C4"/>
                </a:solidFill>
                <a:latin typeface="Calibri"/>
                <a:cs typeface="Calibri"/>
              </a:rPr>
              <a:t>Venture</a:t>
            </a:r>
            <a:r>
              <a:rPr sz="2800" spc="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Capital-</a:t>
            </a:r>
            <a:r>
              <a:rPr sz="2800" spc="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Money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investors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finance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products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businesses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good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profitable</a:t>
            </a:r>
            <a:endParaRPr lang="en-US" sz="2800" spc="-15" dirty="0">
              <a:latin typeface="Calibri"/>
              <a:cs typeface="Calibri"/>
            </a:endParaRPr>
          </a:p>
          <a:p>
            <a:pPr marL="241300" marR="5080" indent="-228600">
              <a:lnSpc>
                <a:spcPct val="150000"/>
              </a:lnSpc>
              <a:spcBef>
                <a:spcPts val="430"/>
              </a:spcBef>
              <a:buFont typeface="Arial MT"/>
              <a:buChar char="●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  <a:p>
            <a:pPr marL="93345">
              <a:lnSpc>
                <a:spcPct val="150000"/>
              </a:lnSpc>
              <a:spcBef>
                <a:spcPts val="675"/>
              </a:spcBef>
            </a:pPr>
            <a:r>
              <a:rPr sz="2800" spc="-15" dirty="0">
                <a:latin typeface="Calibri"/>
                <a:cs typeface="Calibri"/>
              </a:rPr>
              <a:t>*</a:t>
            </a: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Innovation-</a:t>
            </a:r>
            <a:r>
              <a:rPr sz="2800" spc="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brand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creation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invention</a:t>
            </a:r>
            <a:endParaRPr sz="2800" dirty="0">
              <a:latin typeface="Calibri"/>
              <a:cs typeface="Calibri"/>
            </a:endParaRPr>
          </a:p>
          <a:p>
            <a:pPr marL="12700" marR="283210" indent="80645">
              <a:lnSpc>
                <a:spcPct val="150000"/>
              </a:lnSpc>
              <a:spcBef>
                <a:spcPts val="1040"/>
              </a:spcBef>
              <a:tabLst>
                <a:tab pos="7328534" algn="l"/>
              </a:tabLst>
            </a:pPr>
            <a:r>
              <a:rPr sz="2800" spc="-10" dirty="0">
                <a:latin typeface="Calibri"/>
                <a:cs typeface="Calibri"/>
              </a:rPr>
              <a:t>*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Imp</a:t>
            </a:r>
            <a:r>
              <a:rPr sz="2800" spc="-3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2800" spc="-25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2800" spc="-3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eme</a:t>
            </a:r>
            <a:r>
              <a:rPr sz="2800" spc="-30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ts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gni</a:t>
            </a:r>
            <a:r>
              <a:rPr sz="2800" spc="-15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3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gn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</a:t>
            </a:r>
            <a:r>
              <a:rPr sz="2800" spc="-25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tion  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0" dirty="0">
                <a:latin typeface="Calibri"/>
                <a:cs typeface="Calibri"/>
              </a:rPr>
              <a:t>existing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product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085" y="420732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dirty="0"/>
              <a:t>Entrepreneurship VS </a:t>
            </a:r>
            <a:r>
              <a:rPr spc="-15" dirty="0"/>
              <a:t>Working </a:t>
            </a:r>
            <a:r>
              <a:rPr dirty="0"/>
              <a:t>for </a:t>
            </a:r>
            <a:r>
              <a:rPr spc="-1210" dirty="0"/>
              <a:t> </a:t>
            </a:r>
            <a:r>
              <a:rPr dirty="0"/>
              <a:t>others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752600"/>
            <a:ext cx="9629140" cy="450110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cs typeface="Arial"/>
              </a:rPr>
              <a:t>Entrepreneurship</a:t>
            </a:r>
            <a:endParaRPr sz="2800" dirty="0"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3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Own the</a:t>
            </a:r>
            <a:r>
              <a:rPr sz="2800" spc="-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business</a:t>
            </a:r>
            <a:endParaRPr sz="2800" dirty="0"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Freedom</a:t>
            </a:r>
            <a:r>
              <a:rPr sz="2800" spc="2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to</a:t>
            </a:r>
            <a:r>
              <a:rPr sz="2800" dirty="0">
                <a:cs typeface="Arial MT"/>
              </a:rPr>
              <a:t> succeed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as</a:t>
            </a:r>
            <a:r>
              <a:rPr sz="2800" spc="-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well</a:t>
            </a:r>
            <a:r>
              <a:rPr sz="2800" spc="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as</a:t>
            </a:r>
            <a:r>
              <a:rPr sz="2800" spc="-10" dirty="0">
                <a:cs typeface="Arial MT"/>
              </a:rPr>
              <a:t> </a:t>
            </a:r>
            <a:r>
              <a:rPr sz="2800" dirty="0">
                <a:cs typeface="Arial MT"/>
              </a:rPr>
              <a:t>freedom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to </a:t>
            </a:r>
            <a:r>
              <a:rPr sz="2800" dirty="0">
                <a:cs typeface="Arial MT"/>
              </a:rPr>
              <a:t>fail</a:t>
            </a:r>
          </a:p>
          <a:p>
            <a:pPr marL="241300" marR="5080" indent="-229235">
              <a:lnSpc>
                <a:spcPts val="2690"/>
              </a:lnSpc>
              <a:spcBef>
                <a:spcPts val="97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Do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not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receive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any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benefits such </a:t>
            </a:r>
            <a:r>
              <a:rPr sz="2800" spc="-5" dirty="0">
                <a:cs typeface="Arial MT"/>
              </a:rPr>
              <a:t>as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paid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vacation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time, day </a:t>
            </a:r>
            <a:r>
              <a:rPr sz="2800" spc="-760" dirty="0">
                <a:cs typeface="Arial MT"/>
              </a:rPr>
              <a:t> </a:t>
            </a:r>
            <a:r>
              <a:rPr sz="2800" dirty="0">
                <a:cs typeface="Arial MT"/>
              </a:rPr>
              <a:t>care,</a:t>
            </a:r>
            <a:r>
              <a:rPr sz="2800" spc="-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 company</a:t>
            </a:r>
            <a:r>
              <a:rPr sz="2800" spc="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car or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health</a:t>
            </a:r>
            <a:r>
              <a:rPr sz="2800" spc="5" dirty="0">
                <a:cs typeface="Arial MT"/>
              </a:rPr>
              <a:t> </a:t>
            </a:r>
            <a:r>
              <a:rPr sz="2800" dirty="0">
                <a:cs typeface="Arial MT"/>
              </a:rPr>
              <a:t>insurance.</a:t>
            </a:r>
            <a:endParaRPr lang="en-US" sz="2800" dirty="0">
              <a:cs typeface="Arial MT"/>
            </a:endParaRPr>
          </a:p>
          <a:p>
            <a:pPr marL="12065" marR="5080">
              <a:lnSpc>
                <a:spcPts val="2690"/>
              </a:lnSpc>
              <a:spcBef>
                <a:spcPts val="975"/>
              </a:spcBef>
              <a:tabLst>
                <a:tab pos="241935" algn="l"/>
              </a:tabLst>
            </a:pPr>
            <a:endParaRPr sz="2800" dirty="0"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cs typeface="Arial"/>
              </a:rPr>
              <a:t>Working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cs typeface="Arial"/>
              </a:rPr>
              <a:t>for</a:t>
            </a:r>
            <a:r>
              <a:rPr sz="2800" u="heavy" spc="-25" dirty="0">
                <a:uFill>
                  <a:solidFill>
                    <a:srgbClr val="000000"/>
                  </a:solidFill>
                </a:uFill>
                <a:cs typeface="Arial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cs typeface="Arial"/>
              </a:rPr>
              <a:t>others</a:t>
            </a:r>
            <a:endParaRPr sz="2800" dirty="0"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Somebody</a:t>
            </a:r>
            <a:r>
              <a:rPr sz="2800" spc="5" dirty="0">
                <a:cs typeface="Arial MT"/>
              </a:rPr>
              <a:t> </a:t>
            </a:r>
            <a:r>
              <a:rPr sz="2800" dirty="0">
                <a:cs typeface="Arial MT"/>
              </a:rPr>
              <a:t>else</a:t>
            </a:r>
            <a:r>
              <a:rPr sz="2800" spc="-10" dirty="0">
                <a:cs typeface="Arial MT"/>
              </a:rPr>
              <a:t> </a:t>
            </a:r>
            <a:r>
              <a:rPr sz="2800" dirty="0">
                <a:cs typeface="Arial MT"/>
              </a:rPr>
              <a:t>assumes</a:t>
            </a:r>
            <a:r>
              <a:rPr sz="2800" spc="-5" dirty="0">
                <a:cs typeface="Arial MT"/>
              </a:rPr>
              <a:t> </a:t>
            </a:r>
            <a:r>
              <a:rPr sz="2800" dirty="0">
                <a:cs typeface="Arial MT"/>
              </a:rPr>
              <a:t>entrepreneurial</a:t>
            </a:r>
            <a:r>
              <a:rPr sz="2800" spc="15" dirty="0">
                <a:cs typeface="Arial MT"/>
              </a:rPr>
              <a:t> </a:t>
            </a:r>
            <a:r>
              <a:rPr sz="2800" dirty="0">
                <a:cs typeface="Arial MT"/>
              </a:rPr>
              <a:t>risk</a:t>
            </a:r>
          </a:p>
          <a:p>
            <a:pPr marL="241300" marR="636905" indent="-229235">
              <a:lnSpc>
                <a:spcPts val="2690"/>
              </a:lnSpc>
              <a:spcBef>
                <a:spcPts val="97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Provides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with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benefits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such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as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paid</a:t>
            </a:r>
            <a:r>
              <a:rPr sz="2800" spc="2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vacation and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health </a:t>
            </a:r>
            <a:r>
              <a:rPr sz="2800" spc="-760" dirty="0">
                <a:cs typeface="Arial MT"/>
              </a:rPr>
              <a:t> </a:t>
            </a:r>
            <a:r>
              <a:rPr sz="2800" dirty="0">
                <a:cs typeface="Arial MT"/>
              </a:rPr>
              <a:t>insurance.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8433" y="41081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79" y="447912"/>
            <a:ext cx="59486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Calibri Light"/>
                <a:cs typeface="Calibri Light"/>
              </a:rPr>
              <a:t>3</a:t>
            </a:r>
            <a:r>
              <a:rPr sz="3200" b="0" spc="-5" dirty="0">
                <a:latin typeface="Calibri Light"/>
                <a:cs typeface="Calibri Light"/>
              </a:rPr>
              <a:t> </a:t>
            </a:r>
            <a:r>
              <a:rPr sz="3200" b="0" spc="-15" dirty="0">
                <a:latin typeface="Calibri Light"/>
                <a:cs typeface="Calibri Light"/>
              </a:rPr>
              <a:t>Reasons</a:t>
            </a:r>
            <a:r>
              <a:rPr sz="3200" b="0" spc="-10" dirty="0">
                <a:latin typeface="Calibri Light"/>
                <a:cs typeface="Calibri Light"/>
              </a:rPr>
              <a:t> </a:t>
            </a:r>
            <a:r>
              <a:rPr sz="3200" b="0" spc="-15" dirty="0">
                <a:latin typeface="Calibri Light"/>
                <a:cs typeface="Calibri Light"/>
              </a:rPr>
              <a:t>most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small</a:t>
            </a:r>
            <a:r>
              <a:rPr sz="3200" b="0" spc="10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businesses</a:t>
            </a:r>
            <a:r>
              <a:rPr sz="3200" b="0" spc="-5" dirty="0">
                <a:latin typeface="Calibri Light"/>
                <a:cs typeface="Calibri Light"/>
              </a:rPr>
              <a:t> </a:t>
            </a:r>
            <a:r>
              <a:rPr sz="3200" b="0" spc="-20" dirty="0">
                <a:latin typeface="Calibri Light"/>
                <a:cs typeface="Calibri Light"/>
              </a:rPr>
              <a:t>fail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20" y="2408396"/>
            <a:ext cx="4919980" cy="52963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770"/>
              </a:spcBef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Lack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money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8384309-F688-2AFB-3FCD-816A26050AC0}"/>
              </a:ext>
            </a:extLst>
          </p:cNvPr>
          <p:cNvSpPr txBox="1"/>
          <p:nvPr/>
        </p:nvSpPr>
        <p:spPr>
          <a:xfrm>
            <a:off x="3505200" y="4114800"/>
            <a:ext cx="4919980" cy="52963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660"/>
              </a:spcBef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Not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keeping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adequate </a:t>
            </a:r>
            <a:r>
              <a:rPr sz="2800" spc="-20" dirty="0">
                <a:latin typeface="Calibri"/>
                <a:cs typeface="Calibri"/>
              </a:rPr>
              <a:t>records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AA27F38-C326-1D32-4639-4DB2F5E12D74}"/>
              </a:ext>
            </a:extLst>
          </p:cNvPr>
          <p:cNvSpPr txBox="1"/>
          <p:nvPr/>
        </p:nvSpPr>
        <p:spPr>
          <a:xfrm>
            <a:off x="7010400" y="2458693"/>
            <a:ext cx="4919980" cy="52963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675"/>
              </a:spcBef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Lack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C360B7-A068-FCB7-C248-BE6A5CE83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86" y="2958682"/>
            <a:ext cx="1743075" cy="261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259665-1B19-A777-FB30-22EBEA1E2A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994" y="4894607"/>
            <a:ext cx="2609850" cy="1752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A20730-5B48-18D1-73D9-755674A80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240" y="2958682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92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1567" y="412046"/>
            <a:ext cx="1201947" cy="11016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C1587B-C199-7CC0-A5EC-FFE1D098FB80}"/>
              </a:ext>
            </a:extLst>
          </p:cNvPr>
          <p:cNvSpPr txBox="1"/>
          <p:nvPr/>
        </p:nvSpPr>
        <p:spPr>
          <a:xfrm>
            <a:off x="5943600" y="5512925"/>
            <a:ext cx="297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lvl="1">
              <a:lnSpc>
                <a:spcPct val="100000"/>
              </a:lnSpc>
              <a:spcBef>
                <a:spcPts val="215"/>
              </a:spcBef>
              <a:tabLst>
                <a:tab pos="699135" algn="l"/>
              </a:tabLst>
            </a:pPr>
            <a:r>
              <a:rPr lang="en-US" sz="2800" dirty="0">
                <a:latin typeface="Calibri"/>
                <a:cs typeface="Calibri"/>
              </a:rPr>
              <a:t>Bank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loans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72D58-B8F4-655D-F9D7-76F6CD4F2CD0}"/>
              </a:ext>
            </a:extLst>
          </p:cNvPr>
          <p:cNvSpPr txBox="1"/>
          <p:nvPr/>
        </p:nvSpPr>
        <p:spPr>
          <a:xfrm>
            <a:off x="414386" y="5512925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lvl="1">
              <a:lnSpc>
                <a:spcPct val="100000"/>
              </a:lnSpc>
              <a:spcBef>
                <a:spcPts val="204"/>
              </a:spcBef>
              <a:tabLst>
                <a:tab pos="699135" algn="l"/>
              </a:tabLst>
            </a:pPr>
            <a:r>
              <a:rPr lang="en-US" sz="2800" spc="-30" dirty="0">
                <a:latin typeface="Calibri"/>
                <a:cs typeface="Calibri"/>
              </a:rPr>
              <a:t>Venture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capital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E11D5D-DB2C-1E74-AEE8-789C4CAD1166}"/>
              </a:ext>
            </a:extLst>
          </p:cNvPr>
          <p:cNvSpPr txBox="1"/>
          <p:nvPr/>
        </p:nvSpPr>
        <p:spPr>
          <a:xfrm>
            <a:off x="5755170" y="2905780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lvl="1">
              <a:lnSpc>
                <a:spcPct val="100000"/>
              </a:lnSpc>
              <a:spcBef>
                <a:spcPts val="220"/>
              </a:spcBef>
              <a:tabLst>
                <a:tab pos="699135" algn="l"/>
              </a:tabLst>
            </a:pPr>
            <a:r>
              <a:rPr lang="en-US" sz="2800" spc="-5" dirty="0">
                <a:latin typeface="Calibri"/>
                <a:cs typeface="Calibri"/>
              </a:rPr>
              <a:t>Friends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family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2019BB-9923-8A88-19F3-3D166AC87310}"/>
              </a:ext>
            </a:extLst>
          </p:cNvPr>
          <p:cNvSpPr txBox="1"/>
          <p:nvPr/>
        </p:nvSpPr>
        <p:spPr>
          <a:xfrm>
            <a:off x="533400" y="3016362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lvl="1">
              <a:lnSpc>
                <a:spcPct val="100000"/>
              </a:lnSpc>
              <a:spcBef>
                <a:spcPts val="200"/>
              </a:spcBef>
              <a:tabLst>
                <a:tab pos="699135" algn="l"/>
              </a:tabLst>
            </a:pPr>
            <a:r>
              <a:rPr lang="en-US" sz="2800" spc="-15" dirty="0">
                <a:latin typeface="Calibri"/>
                <a:cs typeface="Calibri"/>
              </a:rPr>
              <a:t>Personal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savings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D3AC2AD3-DD8A-4FAB-E6CA-FB2A737D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12" y="664168"/>
            <a:ext cx="10358120" cy="1292662"/>
          </a:xfrm>
        </p:spPr>
        <p:txBody>
          <a:bodyPr/>
          <a:lstStyle/>
          <a:p>
            <a:r>
              <a:rPr lang="en-US" sz="2800" spc="-10" dirty="0">
                <a:latin typeface="Calibri"/>
                <a:cs typeface="Calibri"/>
              </a:rPr>
              <a:t>What</a:t>
            </a:r>
            <a:r>
              <a:rPr lang="en-US" sz="2800" spc="1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are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the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sources</a:t>
            </a:r>
            <a:r>
              <a:rPr lang="en-US" sz="2800" spc="3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of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financing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that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entrepreneurs</a:t>
            </a:r>
            <a:r>
              <a:rPr lang="en-US" sz="2800" spc="3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use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for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their </a:t>
            </a:r>
            <a:r>
              <a:rPr lang="en-US" sz="2800" spc="-6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new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businesses?</a:t>
            </a:r>
            <a:r>
              <a:rPr lang="en-US" sz="2800" dirty="0">
                <a:latin typeface="Calibri"/>
                <a:cs typeface="Calibri"/>
              </a:rPr>
              <a:t/>
            </a:r>
            <a:br>
              <a:rPr lang="en-US" sz="2800" dirty="0">
                <a:latin typeface="Calibri"/>
                <a:cs typeface="Calibri"/>
              </a:rPr>
            </a:br>
            <a:endParaRPr lang="en-US" sz="2800" dirty="0"/>
          </a:p>
        </p:txBody>
      </p:sp>
      <p:pic>
        <p:nvPicPr>
          <p:cNvPr id="1030" name="Picture 6" descr="What is Venture Capital and How it is Helps Companies Grow">
            <a:extLst>
              <a:ext uri="{FF2B5EF4-FFF2-40B4-BE49-F238E27FC236}">
                <a16:creationId xmlns:a16="http://schemas.microsoft.com/office/drawing/2014/main" id="{E362435C-D1FA-AE66-6113-3A50228C39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3"/>
          <a:stretch/>
        </p:blipFill>
        <p:spPr bwMode="auto">
          <a:xfrm>
            <a:off x="1066800" y="4200730"/>
            <a:ext cx="1854814" cy="12501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9E6854-189F-6057-90D0-D6BCD197D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240" y="4040755"/>
            <a:ext cx="2256203" cy="14101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2" name="Picture 8" descr="Viewpoint: In defense of Kevin Plank - Baltimore Business Journal">
            <a:extLst>
              <a:ext uri="{FF2B5EF4-FFF2-40B4-BE49-F238E27FC236}">
                <a16:creationId xmlns:a16="http://schemas.microsoft.com/office/drawing/2014/main" id="{4A02FB65-F311-9588-8579-FA152D264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913" y="1619578"/>
            <a:ext cx="2475836" cy="13967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A52882-13D9-4853-1F6E-ACA598BE3A4D}"/>
              </a:ext>
            </a:extLst>
          </p:cNvPr>
          <p:cNvSpPr txBox="1"/>
          <p:nvPr/>
        </p:nvSpPr>
        <p:spPr>
          <a:xfrm>
            <a:off x="2105225" y="2657255"/>
            <a:ext cx="135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Kevin Plank</a:t>
            </a:r>
          </a:p>
        </p:txBody>
      </p:sp>
      <p:pic>
        <p:nvPicPr>
          <p:cNvPr id="1034" name="Picture 10" descr="Sam Walton - The Brain behind World famous Walmart">
            <a:extLst>
              <a:ext uri="{FF2B5EF4-FFF2-40B4-BE49-F238E27FC236}">
                <a16:creationId xmlns:a16="http://schemas.microsoft.com/office/drawing/2014/main" id="{1E958557-EE3F-2179-6990-56133E7CC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689" y="1453884"/>
            <a:ext cx="1814870" cy="14518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1507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156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b="0" spc="-5" dirty="0">
                <a:latin typeface="Calibri Light"/>
                <a:cs typeface="Calibri Light"/>
              </a:rPr>
              <a:t>Common</a:t>
            </a:r>
            <a:r>
              <a:rPr sz="3200" b="0" spc="15" dirty="0">
                <a:latin typeface="Calibri Light"/>
                <a:cs typeface="Calibri Light"/>
              </a:rPr>
              <a:t> </a:t>
            </a:r>
            <a:r>
              <a:rPr sz="3200" b="0" spc="-35" dirty="0">
                <a:latin typeface="Calibri Light"/>
                <a:cs typeface="Calibri Light"/>
              </a:rPr>
              <a:t>Types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spc="-5" dirty="0">
                <a:latin typeface="Calibri Light"/>
                <a:cs typeface="Calibri Light"/>
              </a:rPr>
              <a:t>of</a:t>
            </a:r>
            <a:r>
              <a:rPr sz="3200" b="0" dirty="0">
                <a:latin typeface="Calibri Light"/>
                <a:cs typeface="Calibri Light"/>
              </a:rPr>
              <a:t> Small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Businesses</a:t>
            </a:r>
            <a:r>
              <a:rPr sz="3200" b="0" spc="-1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as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spc="-25" dirty="0">
                <a:latin typeface="Calibri Light"/>
                <a:cs typeface="Calibri Light"/>
              </a:rPr>
              <a:t>Percent</a:t>
            </a:r>
            <a:r>
              <a:rPr sz="3200" b="0" spc="-5" dirty="0">
                <a:latin typeface="Calibri Light"/>
                <a:cs typeface="Calibri Light"/>
              </a:rPr>
              <a:t> of</a:t>
            </a:r>
            <a:r>
              <a:rPr sz="3200" b="0" dirty="0">
                <a:latin typeface="Calibri Light"/>
                <a:cs typeface="Calibri Light"/>
              </a:rPr>
              <a:t> </a:t>
            </a:r>
            <a:r>
              <a:rPr sz="3200" b="0" spc="-5" dirty="0">
                <a:latin typeface="Calibri Light"/>
                <a:cs typeface="Calibri Light"/>
              </a:rPr>
              <a:t>All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Small </a:t>
            </a:r>
            <a:r>
              <a:rPr sz="3200" b="0" spc="-705" dirty="0">
                <a:latin typeface="Calibri Light"/>
                <a:cs typeface="Calibri Light"/>
              </a:rPr>
              <a:t> </a:t>
            </a:r>
            <a:r>
              <a:rPr sz="3200" b="0" spc="-5" dirty="0">
                <a:latin typeface="Calibri Light"/>
                <a:cs typeface="Calibri Light"/>
              </a:rPr>
              <a:t>Businesses</a:t>
            </a:r>
            <a:endParaRPr sz="32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4384" y="1604156"/>
            <a:ext cx="6303230" cy="4415434"/>
          </a:xfrm>
          <a:prstGeom prst="snip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79722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087" y="237708"/>
            <a:ext cx="1201947" cy="11016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66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 Light"/>
                <a:cs typeface="Calibri Light"/>
              </a:rPr>
              <a:t>BUSINESS</a:t>
            </a:r>
            <a:r>
              <a:rPr b="0" spc="-6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PLAN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2675" y="2819866"/>
            <a:ext cx="9903206" cy="356033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800" u="sng" spc="-5" dirty="0">
                <a:latin typeface="Calibri"/>
                <a:cs typeface="Calibri"/>
              </a:rPr>
              <a:t>5</a:t>
            </a:r>
            <a:r>
              <a:rPr sz="2800" u="sng" spc="-15" dirty="0">
                <a:latin typeface="Calibri"/>
                <a:cs typeface="Calibri"/>
              </a:rPr>
              <a:t> </a:t>
            </a:r>
            <a:r>
              <a:rPr sz="2800" u="sng" spc="-10" dirty="0">
                <a:latin typeface="Calibri"/>
                <a:cs typeface="Calibri"/>
              </a:rPr>
              <a:t>ELEMENTS</a:t>
            </a:r>
            <a:r>
              <a:rPr lang="en-US" sz="2800" u="sng" spc="-10" dirty="0">
                <a:latin typeface="Calibri"/>
                <a:cs typeface="Calibri"/>
              </a:rPr>
              <a:t> of a Business Plan:</a:t>
            </a:r>
            <a:endParaRPr sz="2800" u="sng" spc="-10" dirty="0">
              <a:latin typeface="Calibri"/>
              <a:cs typeface="Calibri"/>
            </a:endParaRPr>
          </a:p>
          <a:p>
            <a:pPr marL="527050" marR="724535" indent="-514350" algn="just">
              <a:lnSpc>
                <a:spcPct val="119600"/>
              </a:lnSpc>
              <a:buFont typeface="+mj-lt"/>
              <a:buAutoNum type="arabicPeriod"/>
            </a:pPr>
            <a:r>
              <a:rPr sz="2800" spc="-5" dirty="0">
                <a:latin typeface="Calibri"/>
                <a:cs typeface="Calibri"/>
              </a:rPr>
              <a:t>Description of the business &amp; </a:t>
            </a:r>
            <a:r>
              <a:rPr sz="2800" spc="-10" dirty="0">
                <a:latin typeface="Calibri"/>
                <a:cs typeface="Calibri"/>
              </a:rPr>
              <a:t>goals </a:t>
            </a:r>
            <a:r>
              <a:rPr sz="2800" spc="-5" dirty="0">
                <a:latin typeface="Calibri"/>
                <a:cs typeface="Calibri"/>
              </a:rPr>
              <a:t> </a:t>
            </a:r>
            <a:endParaRPr lang="en-US" sz="2800" spc="-5" dirty="0">
              <a:latin typeface="Calibri"/>
              <a:cs typeface="Calibri"/>
            </a:endParaRPr>
          </a:p>
          <a:p>
            <a:pPr marL="527050" marR="724535" indent="-514350" algn="just">
              <a:lnSpc>
                <a:spcPct val="119600"/>
              </a:lnSpc>
              <a:buFont typeface="+mj-lt"/>
              <a:buAutoNum type="arabicPeriod"/>
            </a:pPr>
            <a:r>
              <a:rPr sz="2800" spc="-10" dirty="0">
                <a:latin typeface="Calibri"/>
                <a:cs typeface="Calibri"/>
              </a:rPr>
              <a:t>Customer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Analysis-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knowing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your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</a:t>
            </a:r>
            <a:endParaRPr sz="2800" dirty="0">
              <a:latin typeface="Calibri"/>
              <a:cs typeface="Calibri"/>
            </a:endParaRPr>
          </a:p>
          <a:p>
            <a:pPr marL="527050" marR="1121410" indent="-514350" algn="just">
              <a:lnSpc>
                <a:spcPct val="119600"/>
              </a:lnSpc>
              <a:spcBef>
                <a:spcPts val="15"/>
              </a:spcBef>
              <a:buFont typeface="+mj-lt"/>
              <a:buAutoNum type="arabicPeriod"/>
            </a:pPr>
            <a:r>
              <a:rPr sz="2800" spc="-10" dirty="0">
                <a:latin typeface="Calibri"/>
                <a:cs typeface="Calibri"/>
              </a:rPr>
              <a:t>Operations Plan- </a:t>
            </a:r>
            <a:r>
              <a:rPr sz="2800" spc="-15" dirty="0">
                <a:latin typeface="Calibri"/>
                <a:cs typeface="Calibri"/>
              </a:rPr>
              <a:t>organizing </a:t>
            </a:r>
            <a:r>
              <a:rPr sz="2800" spc="-5" dirty="0">
                <a:latin typeface="Calibri"/>
                <a:cs typeface="Calibri"/>
              </a:rPr>
              <a:t>the business </a:t>
            </a:r>
            <a:r>
              <a:rPr sz="2800" spc="-620" dirty="0">
                <a:latin typeface="Calibri"/>
                <a:cs typeface="Calibri"/>
              </a:rPr>
              <a:t> </a:t>
            </a:r>
            <a:endParaRPr lang="en-US" sz="2800" spc="-620" dirty="0">
              <a:latin typeface="Calibri"/>
              <a:cs typeface="Calibri"/>
            </a:endParaRPr>
          </a:p>
          <a:p>
            <a:pPr marL="527050" marR="1121410" indent="-514350" algn="just">
              <a:lnSpc>
                <a:spcPct val="119600"/>
              </a:lnSpc>
              <a:spcBef>
                <a:spcPts val="15"/>
              </a:spcBef>
              <a:buFont typeface="+mj-lt"/>
              <a:buAutoNum type="arabicPeriod"/>
            </a:pPr>
            <a:r>
              <a:rPr sz="2800" spc="-15" dirty="0">
                <a:latin typeface="Calibri"/>
                <a:cs typeface="Calibri"/>
              </a:rPr>
              <a:t>Marketing </a:t>
            </a:r>
            <a:r>
              <a:rPr sz="2800" spc="-5" dirty="0">
                <a:latin typeface="Calibri"/>
                <a:cs typeface="Calibri"/>
              </a:rPr>
              <a:t>Plan- </a:t>
            </a:r>
            <a:r>
              <a:rPr sz="2800" spc="-15" dirty="0">
                <a:latin typeface="Calibri"/>
                <a:cs typeface="Calibri"/>
              </a:rPr>
              <a:t>marketing </a:t>
            </a:r>
            <a:r>
              <a:rPr sz="2800" spc="-5" dirty="0">
                <a:latin typeface="Calibri"/>
                <a:cs typeface="Calibri"/>
              </a:rPr>
              <a:t>&amp; </a:t>
            </a:r>
            <a:r>
              <a:rPr sz="2800" spc="-10" dirty="0">
                <a:latin typeface="Calibri"/>
                <a:cs typeface="Calibri"/>
              </a:rPr>
              <a:t>advertising </a:t>
            </a:r>
            <a:r>
              <a:rPr sz="2800" spc="-620" dirty="0">
                <a:latin typeface="Calibri"/>
                <a:cs typeface="Calibri"/>
              </a:rPr>
              <a:t> </a:t>
            </a:r>
            <a:endParaRPr lang="en-US" sz="2800" spc="-620" dirty="0">
              <a:latin typeface="Calibri"/>
              <a:cs typeface="Calibri"/>
            </a:endParaRPr>
          </a:p>
          <a:p>
            <a:pPr marL="527050" marR="1121410" indent="-514350" algn="just">
              <a:lnSpc>
                <a:spcPct val="119600"/>
              </a:lnSpc>
              <a:spcBef>
                <a:spcPts val="15"/>
              </a:spcBef>
              <a:buFont typeface="+mj-lt"/>
              <a:buAutoNum type="arabicPeriod"/>
            </a:pPr>
            <a:r>
              <a:rPr sz="2800" spc="-5" dirty="0">
                <a:latin typeface="Calibri"/>
                <a:cs typeface="Calibri"/>
              </a:rPr>
              <a:t>Financial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Plan-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Budget: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start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up,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short</a:t>
            </a:r>
            <a:r>
              <a:rPr sz="2800" spc="-15" dirty="0">
                <a:latin typeface="Calibri"/>
                <a:cs typeface="Calibri"/>
              </a:rPr>
              <a:t> term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term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06A3C36-5B61-10D3-4043-21D44BA3F26B}"/>
              </a:ext>
            </a:extLst>
          </p:cNvPr>
          <p:cNvSpPr txBox="1"/>
          <p:nvPr/>
        </p:nvSpPr>
        <p:spPr>
          <a:xfrm>
            <a:off x="688720" y="1611545"/>
            <a:ext cx="9903206" cy="83099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1" spc="-5" dirty="0">
                <a:latin typeface="Calibri"/>
                <a:cs typeface="Calibri"/>
              </a:rPr>
              <a:t>Business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Plan-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written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description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idea 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carried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out.</a:t>
            </a:r>
            <a:endParaRPr lang="en-US" sz="2800" spc="-1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215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05583"/>
            <a:ext cx="10515600" cy="43510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311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 Light"/>
                <a:cs typeface="Calibri Light"/>
              </a:rPr>
              <a:t>Checkpoint</a:t>
            </a:r>
            <a:r>
              <a:rPr b="0" spc="-50" dirty="0">
                <a:latin typeface="Calibri Light"/>
                <a:cs typeface="Calibri Light"/>
              </a:rPr>
              <a:t> </a:t>
            </a:r>
            <a:r>
              <a:rPr b="0" spc="5" dirty="0">
                <a:latin typeface="Wingdings"/>
                <a:cs typeface="Wingdings"/>
              </a:rPr>
              <a:t>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9385" y="2149323"/>
            <a:ext cx="9768840" cy="19989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“strategic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alternatives”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plan?</a:t>
            </a:r>
            <a:endParaRPr sz="2800">
              <a:latin typeface="Calibri"/>
              <a:cs typeface="Calibri"/>
            </a:endParaRPr>
          </a:p>
          <a:p>
            <a:pPr marL="698500" marR="877569" lvl="1" indent="-228600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Strategic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alternatives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alternative</a:t>
            </a:r>
            <a:r>
              <a:rPr sz="2400" spc="-5" dirty="0">
                <a:latin typeface="Calibri"/>
                <a:cs typeface="Calibri"/>
              </a:rPr>
              <a:t> plans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production,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staffing,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financing,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25" dirty="0">
                <a:latin typeface="Calibri"/>
                <a:cs typeface="Calibri"/>
              </a:rPr>
              <a:t>Even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business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cannot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</a:t>
            </a:r>
            <a:r>
              <a:rPr sz="2400" spc="-5" dirty="0">
                <a:latin typeface="Calibri"/>
                <a:cs typeface="Calibri"/>
              </a:rPr>
              <a:t> every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possible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circumstance.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9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plan</a:t>
            </a:r>
            <a:r>
              <a:rPr sz="2400" spc="-10" dirty="0">
                <a:latin typeface="Calibri"/>
                <a:cs typeface="Calibri"/>
              </a:rPr>
              <a:t> allows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business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prepared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unforeseeable.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0910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5070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855210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b="0" spc="-5" dirty="0">
                <a:latin typeface="Calibri Light"/>
                <a:cs typeface="Calibri Light"/>
              </a:rPr>
              <a:t>FINANCING</a:t>
            </a:r>
          </a:p>
          <a:p>
            <a:pPr marL="12700">
              <a:lnSpc>
                <a:spcPts val="5015"/>
              </a:lnSpc>
            </a:pPr>
            <a:r>
              <a:rPr b="0" dirty="0">
                <a:latin typeface="Calibri Light"/>
                <a:cs typeface="Calibri Light"/>
              </a:rPr>
              <a:t>THE</a:t>
            </a:r>
            <a:r>
              <a:rPr b="0" spc="-30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SMALL</a:t>
            </a:r>
            <a:r>
              <a:rPr b="0" spc="-25" dirty="0">
                <a:latin typeface="Calibri Light"/>
                <a:cs typeface="Calibri Light"/>
              </a:rPr>
              <a:t> </a:t>
            </a:r>
            <a:r>
              <a:rPr b="0" spc="-10" dirty="0">
                <a:latin typeface="Calibri Light"/>
                <a:cs typeface="Calibri Light"/>
              </a:rPr>
              <a:t>BUSINESS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63499" y="1881749"/>
            <a:ext cx="11582401" cy="405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b="0" spc="-25" dirty="0"/>
              <a:t>Types</a:t>
            </a:r>
            <a:r>
              <a:rPr b="0" spc="-5" dirty="0"/>
              <a:t> of</a:t>
            </a:r>
            <a:r>
              <a:rPr b="0" spc="-15" dirty="0"/>
              <a:t> </a:t>
            </a:r>
            <a:r>
              <a:rPr b="0" spc="-5" dirty="0"/>
              <a:t>financing</a:t>
            </a:r>
          </a:p>
          <a:p>
            <a:pPr marL="698500" marR="415925" lvl="1" indent="-228600">
              <a:lnSpc>
                <a:spcPts val="324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spc="-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Start-up financing-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money </a:t>
            </a:r>
            <a:r>
              <a:rPr sz="3000" spc="-5" dirty="0">
                <a:latin typeface="Calibri"/>
                <a:cs typeface="Calibri"/>
              </a:rPr>
              <a:t>and </a:t>
            </a:r>
            <a:r>
              <a:rPr sz="3000" spc="-10" dirty="0">
                <a:latin typeface="Calibri"/>
                <a:cs typeface="Calibri"/>
              </a:rPr>
              <a:t>details of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getting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business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started: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inventory, 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supplies</a:t>
            </a:r>
            <a:endParaRPr lang="en-US" sz="3000" spc="-5" dirty="0">
              <a:latin typeface="Calibri"/>
              <a:cs typeface="Calibri"/>
            </a:endParaRPr>
          </a:p>
          <a:p>
            <a:pPr marL="698500" marR="415925" lvl="1" indent="-228600">
              <a:lnSpc>
                <a:spcPts val="324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endParaRPr sz="3000" dirty="0">
              <a:latin typeface="Calibri"/>
              <a:cs typeface="Calibri"/>
            </a:endParaRPr>
          </a:p>
          <a:p>
            <a:pPr marL="698500" marR="377190" lvl="1" indent="-228600">
              <a:lnSpc>
                <a:spcPts val="324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spc="-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Short-term financing-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money </a:t>
            </a:r>
            <a:r>
              <a:rPr sz="3000" dirty="0">
                <a:latin typeface="Calibri"/>
                <a:cs typeface="Calibri"/>
              </a:rPr>
              <a:t>needed </a:t>
            </a:r>
            <a:r>
              <a:rPr sz="3000" spc="-20" dirty="0">
                <a:latin typeface="Calibri"/>
                <a:cs typeface="Calibri"/>
              </a:rPr>
              <a:t>for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first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year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10" dirty="0">
                <a:latin typeface="Calibri"/>
                <a:cs typeface="Calibri"/>
              </a:rPr>
              <a:t>expenses</a:t>
            </a:r>
            <a:endParaRPr lang="en-US" sz="3000" spc="-10" dirty="0">
              <a:latin typeface="Calibri"/>
              <a:cs typeface="Calibri"/>
            </a:endParaRPr>
          </a:p>
          <a:p>
            <a:pPr marL="698500" marR="377190" lvl="1" indent="-228600">
              <a:lnSpc>
                <a:spcPts val="324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endParaRPr sz="3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45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spc="-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Long-term</a:t>
            </a:r>
            <a:r>
              <a:rPr sz="3000" spc="-3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financing-</a:t>
            </a:r>
            <a:r>
              <a:rPr sz="3000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3-5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year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plan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success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for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business,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identify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long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term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financial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needs.</a:t>
            </a:r>
          </a:p>
        </p:txBody>
      </p:sp>
    </p:spTree>
    <p:extLst>
      <p:ext uri="{BB962C8B-B14F-4D97-AF65-F5344CB8AC3E}">
        <p14:creationId xmlns:p14="http://schemas.microsoft.com/office/powerpoint/2010/main" val="1061777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329564"/>
            <a:ext cx="9674861" cy="575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50"/>
              </a:lnSpc>
              <a:spcBef>
                <a:spcPts val="100"/>
              </a:spcBef>
            </a:pPr>
            <a:r>
              <a:rPr sz="2400" dirty="0"/>
              <a:t>FORMS</a:t>
            </a:r>
            <a:r>
              <a:rPr sz="2400" spc="-40" dirty="0"/>
              <a:t> </a:t>
            </a:r>
            <a:r>
              <a:rPr sz="2400" dirty="0"/>
              <a:t>of</a:t>
            </a:r>
            <a:r>
              <a:rPr lang="en-US" sz="2400" dirty="0"/>
              <a:t> </a:t>
            </a:r>
            <a:r>
              <a:rPr sz="2400" dirty="0"/>
              <a:t>BUSINESS</a:t>
            </a:r>
            <a:r>
              <a:rPr sz="2400" spc="-50" dirty="0"/>
              <a:t> </a:t>
            </a:r>
            <a:r>
              <a:rPr sz="2400" dirty="0"/>
              <a:t>OWNERSHIP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B3D5D1-25B4-8948-2B20-3F4BE1683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3886200" cy="1943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E2BD20-1139-C806-BD08-7ADC0DFF0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828800"/>
            <a:ext cx="3886200" cy="1943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1C679B-CD72-C30C-79AE-42367433D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163020"/>
            <a:ext cx="2895600" cy="2171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00866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69" y="990600"/>
            <a:ext cx="10741661" cy="352917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Mainly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three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structure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continuing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Bangladesh.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2815"/>
              </a:lnSpc>
            </a:pPr>
            <a:r>
              <a:rPr sz="2800" spc="-10" dirty="0">
                <a:latin typeface="Calibri"/>
                <a:cs typeface="Calibri"/>
              </a:rPr>
              <a:t>These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endParaRPr sz="2800" dirty="0">
              <a:latin typeface="Calibri"/>
              <a:cs typeface="Calibri"/>
            </a:endParaRPr>
          </a:p>
          <a:p>
            <a:pPr marL="718820" lvl="1" indent="-478155">
              <a:lnSpc>
                <a:spcPts val="3025"/>
              </a:lnSpc>
              <a:buAutoNum type="arabicParenBoth"/>
              <a:tabLst>
                <a:tab pos="719455" algn="l"/>
              </a:tabLst>
            </a:pPr>
            <a:r>
              <a:rPr sz="2800" spc="-10" dirty="0">
                <a:latin typeface="Calibri"/>
                <a:cs typeface="Calibri"/>
              </a:rPr>
              <a:t>Limited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Company,</a:t>
            </a:r>
            <a:endParaRPr sz="2800" dirty="0">
              <a:latin typeface="Calibri"/>
              <a:cs typeface="Calibri"/>
            </a:endParaRPr>
          </a:p>
          <a:p>
            <a:pPr marL="719455" lvl="1" indent="-478790">
              <a:lnSpc>
                <a:spcPts val="3025"/>
              </a:lnSpc>
              <a:buAutoNum type="arabicParenBoth"/>
              <a:tabLst>
                <a:tab pos="720090" algn="l"/>
              </a:tabLst>
            </a:pPr>
            <a:r>
              <a:rPr sz="2800" spc="-20" dirty="0">
                <a:latin typeface="Calibri"/>
                <a:cs typeface="Calibri"/>
              </a:rPr>
              <a:t>Partnership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endParaRPr sz="2800" dirty="0">
              <a:latin typeface="Calibri"/>
              <a:cs typeface="Calibri"/>
            </a:endParaRPr>
          </a:p>
          <a:p>
            <a:pPr marL="719455" lvl="1" indent="-478790">
              <a:lnSpc>
                <a:spcPts val="3190"/>
              </a:lnSpc>
              <a:buAutoNum type="arabicParenBoth"/>
              <a:tabLst>
                <a:tab pos="720090" algn="l"/>
              </a:tabLst>
            </a:pPr>
            <a:r>
              <a:rPr sz="2800" spc="-10" dirty="0">
                <a:latin typeface="Calibri"/>
                <a:cs typeface="Calibri"/>
              </a:rPr>
              <a:t>Sole</a:t>
            </a:r>
            <a:r>
              <a:rPr sz="2800" spc="-20" dirty="0">
                <a:latin typeface="Calibri"/>
                <a:cs typeface="Calibri"/>
              </a:rPr>
              <a:t> Proprietorship.</a:t>
            </a:r>
            <a:endParaRPr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rabicParenBoth"/>
            </a:pP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spc="-10" dirty="0">
                <a:latin typeface="Calibri"/>
                <a:cs typeface="Calibri"/>
              </a:rPr>
              <a:t>Limited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Companies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two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 </a:t>
            </a:r>
            <a:r>
              <a:rPr sz="2800" spc="-10" dirty="0">
                <a:latin typeface="Calibri"/>
                <a:cs typeface="Calibri"/>
              </a:rPr>
              <a:t>is</a:t>
            </a:r>
            <a:endParaRPr sz="2800" dirty="0">
              <a:latin typeface="Calibri"/>
              <a:cs typeface="Calibri"/>
            </a:endParaRPr>
          </a:p>
          <a:p>
            <a:pPr marL="707390" lvl="2" indent="-466725">
              <a:lnSpc>
                <a:spcPts val="3025"/>
              </a:lnSpc>
              <a:buAutoNum type="alphaLcParenBoth"/>
              <a:tabLst>
                <a:tab pos="708025" algn="l"/>
              </a:tabLst>
            </a:pPr>
            <a:r>
              <a:rPr sz="2800" spc="-20" dirty="0">
                <a:latin typeface="Calibri"/>
                <a:cs typeface="Calibri"/>
              </a:rPr>
              <a:t>Private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Limited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Company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endParaRPr sz="2800" dirty="0">
              <a:latin typeface="Calibri"/>
              <a:cs typeface="Calibri"/>
            </a:endParaRPr>
          </a:p>
          <a:p>
            <a:pPr marL="725170" lvl="2" indent="-484505">
              <a:lnSpc>
                <a:spcPts val="3190"/>
              </a:lnSpc>
              <a:buAutoNum type="alphaLcParenBoth"/>
              <a:tabLst>
                <a:tab pos="725805" algn="l"/>
              </a:tabLst>
            </a:pPr>
            <a:r>
              <a:rPr sz="2800" spc="-10" dirty="0">
                <a:latin typeface="Calibri"/>
                <a:cs typeface="Calibri"/>
              </a:rPr>
              <a:t>Public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Limited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Company.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07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085" y="617728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10358120" cy="650756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z="3200" dirty="0"/>
              <a:t>SOLE </a:t>
            </a:r>
            <a:r>
              <a:rPr sz="3200" spc="-1210" dirty="0"/>
              <a:t> </a:t>
            </a:r>
            <a:r>
              <a:rPr sz="3200" spc="-5" dirty="0"/>
              <a:t>PROPRIETORSHIP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FCCF3-F86F-4477-0034-9D38E410C259}"/>
              </a:ext>
            </a:extLst>
          </p:cNvPr>
          <p:cNvSpPr txBox="1"/>
          <p:nvPr/>
        </p:nvSpPr>
        <p:spPr>
          <a:xfrm>
            <a:off x="457200" y="1978029"/>
            <a:ext cx="10668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spc="-5" dirty="0">
                <a:latin typeface="Arial MT"/>
              </a:rPr>
              <a:t> A sole proprietorship is a business with one owner.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700" spc="-5" dirty="0">
              <a:latin typeface="Arial 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spc="-5" dirty="0">
                <a:latin typeface="Arial MT"/>
              </a:rPr>
              <a:t>It is the simplest business form under which one can operate a business.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700" spc="-5" dirty="0">
              <a:latin typeface="Arial 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spc="-5" dirty="0">
                <a:latin typeface="Arial MT"/>
              </a:rPr>
              <a:t>It simply refers to a person who owns the business and is personally responsible for its debts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spc="-5" dirty="0">
                <a:latin typeface="Arial MT"/>
              </a:rPr>
              <a:t>Owner is solely responsible for all liabilities.</a:t>
            </a:r>
          </a:p>
        </p:txBody>
      </p:sp>
    </p:spTree>
    <p:extLst>
      <p:ext uri="{BB962C8B-B14F-4D97-AF65-F5344CB8AC3E}">
        <p14:creationId xmlns:p14="http://schemas.microsoft.com/office/powerpoint/2010/main" val="1368201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4085" y="617728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10358120" cy="650756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z="3200" dirty="0"/>
              <a:t>MAJOR</a:t>
            </a:r>
            <a:r>
              <a:rPr sz="3200" spc="-20" dirty="0"/>
              <a:t> </a:t>
            </a:r>
            <a:r>
              <a:rPr sz="3200" dirty="0"/>
              <a:t>BENEFITS</a:t>
            </a:r>
            <a:r>
              <a:rPr sz="3200" spc="-5" dirty="0"/>
              <a:t> </a:t>
            </a:r>
            <a:r>
              <a:rPr sz="3200" dirty="0"/>
              <a:t>of</a:t>
            </a:r>
            <a:r>
              <a:rPr sz="3200" spc="-30" dirty="0"/>
              <a:t> </a:t>
            </a:r>
            <a:r>
              <a:rPr sz="3200" dirty="0"/>
              <a:t>SOLE </a:t>
            </a:r>
            <a:r>
              <a:rPr sz="3200" spc="-1210" dirty="0"/>
              <a:t> </a:t>
            </a:r>
            <a:r>
              <a:rPr sz="3200" spc="-5" dirty="0"/>
              <a:t>PROPRIETORSHIP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515337"/>
            <a:ext cx="8912861" cy="357854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465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Ease</a:t>
            </a:r>
            <a:r>
              <a:rPr sz="2700" dirty="0">
                <a:latin typeface="Arial MT"/>
                <a:cs typeface="Arial MT"/>
              </a:rPr>
              <a:t> of starting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and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ending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 </a:t>
            </a:r>
            <a:r>
              <a:rPr sz="2700" spc="-5" dirty="0">
                <a:latin typeface="Arial MT"/>
                <a:cs typeface="Arial MT"/>
              </a:rPr>
              <a:t>business</a:t>
            </a:r>
            <a:endParaRPr sz="2700" dirty="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7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Being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your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own boss</a:t>
            </a:r>
            <a:endParaRPr sz="2700" dirty="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8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dirty="0">
                <a:latin typeface="Arial MT"/>
                <a:cs typeface="Arial MT"/>
              </a:rPr>
              <a:t>Pride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ownership</a:t>
            </a:r>
            <a:endParaRPr sz="2700" dirty="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8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Leaving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legacy</a:t>
            </a:r>
            <a:endParaRPr sz="2700" dirty="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7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Retention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company </a:t>
            </a:r>
            <a:r>
              <a:rPr sz="2700" dirty="0">
                <a:latin typeface="Arial MT"/>
                <a:cs typeface="Arial MT"/>
              </a:rPr>
              <a:t>profit</a:t>
            </a:r>
          </a:p>
          <a:p>
            <a:pPr marL="354330" indent="-341630">
              <a:lnSpc>
                <a:spcPct val="100000"/>
              </a:lnSpc>
              <a:spcBef>
                <a:spcPts val="1385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No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special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taxes</a:t>
            </a:r>
          </a:p>
        </p:txBody>
      </p:sp>
    </p:spTree>
    <p:extLst>
      <p:ext uri="{BB962C8B-B14F-4D97-AF65-F5344CB8AC3E}">
        <p14:creationId xmlns:p14="http://schemas.microsoft.com/office/powerpoint/2010/main" val="1825730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800" y="373017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407430"/>
            <a:ext cx="10358120" cy="650756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z="3200" spc="-50" dirty="0"/>
              <a:t>DISADVANTAGES </a:t>
            </a:r>
            <a:r>
              <a:rPr sz="3200" dirty="0"/>
              <a:t>of SOLE </a:t>
            </a:r>
            <a:r>
              <a:rPr sz="3200" spc="-1215" dirty="0"/>
              <a:t> </a:t>
            </a:r>
            <a:r>
              <a:rPr sz="3200" spc="-5" dirty="0"/>
              <a:t>PROPRIETORSHIPS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3903" y="1492462"/>
            <a:ext cx="10972800" cy="49925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</a:rPr>
              <a:t>Unlimited Liability -- Any debts or damages incurred by the</a:t>
            </a:r>
            <a:r>
              <a:rPr lang="en-US" sz="2400" spc="-5" dirty="0">
                <a:latin typeface="Arial MT"/>
              </a:rPr>
              <a:t> </a:t>
            </a:r>
            <a:r>
              <a:rPr sz="2400" spc="-5" dirty="0">
                <a:latin typeface="Arial MT"/>
              </a:rPr>
              <a:t>business are your debts, even if it means selling your home, car  or anything else.</a:t>
            </a:r>
          </a:p>
          <a:p>
            <a:pPr marL="241300" indent="-228600">
              <a:lnSpc>
                <a:spcPct val="15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</a:rPr>
              <a:t>Limited financial resources</a:t>
            </a:r>
          </a:p>
          <a:p>
            <a:pPr marL="241300" indent="-228600">
              <a:lnSpc>
                <a:spcPct val="15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</a:rPr>
              <a:t>Management difficulties</a:t>
            </a:r>
          </a:p>
          <a:p>
            <a:pPr marL="241300" indent="-228600">
              <a:lnSpc>
                <a:spcPct val="15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</a:rPr>
              <a:t>Overwhelming time commitment</a:t>
            </a:r>
          </a:p>
          <a:p>
            <a:pPr marL="241300" indent="-228600">
              <a:lnSpc>
                <a:spcPct val="15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</a:rPr>
              <a:t>Few fringe benefits</a:t>
            </a:r>
          </a:p>
          <a:p>
            <a:pPr marL="241300" indent="-228600">
              <a:lnSpc>
                <a:spcPct val="15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</a:rPr>
              <a:t>Limited growth</a:t>
            </a:r>
          </a:p>
          <a:p>
            <a:pPr marL="241300" indent="-228600">
              <a:lnSpc>
                <a:spcPct val="15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</a:rPr>
              <a:t>Limited life span</a:t>
            </a:r>
          </a:p>
        </p:txBody>
      </p:sp>
    </p:spTree>
    <p:extLst>
      <p:ext uri="{BB962C8B-B14F-4D97-AF65-F5344CB8AC3E}">
        <p14:creationId xmlns:p14="http://schemas.microsoft.com/office/powerpoint/2010/main" val="3599339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087" y="412046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9216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MAJOR</a:t>
            </a:r>
            <a:r>
              <a:rPr spc="-20" dirty="0"/>
              <a:t> </a:t>
            </a:r>
            <a:r>
              <a:rPr dirty="0"/>
              <a:t>TYPES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25" dirty="0"/>
              <a:t>PARTNERSHIPS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394" y="1977644"/>
            <a:ext cx="9864725" cy="33375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spc="-5" dirty="0">
                <a:latin typeface="Arial"/>
                <a:cs typeface="Arial"/>
              </a:rPr>
              <a:t>General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Partnership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--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All </a:t>
            </a:r>
            <a:r>
              <a:rPr sz="3200" i="1" spc="-5" dirty="0">
                <a:latin typeface="Arial"/>
                <a:cs typeface="Arial"/>
              </a:rPr>
              <a:t>owners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share</a:t>
            </a:r>
            <a:r>
              <a:rPr sz="3200" i="1" spc="-2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in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operating </a:t>
            </a:r>
            <a:r>
              <a:rPr sz="3200" i="1" spc="-87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the </a:t>
            </a:r>
            <a:r>
              <a:rPr sz="3200" i="1" spc="-5" dirty="0">
                <a:latin typeface="Arial"/>
                <a:cs typeface="Arial"/>
              </a:rPr>
              <a:t>business and </a:t>
            </a:r>
            <a:r>
              <a:rPr sz="3200" i="1" dirty="0">
                <a:latin typeface="Arial"/>
                <a:cs typeface="Arial"/>
              </a:rPr>
              <a:t>in assuming </a:t>
            </a:r>
            <a:r>
              <a:rPr sz="3200" i="1" spc="-5" dirty="0">
                <a:latin typeface="Arial"/>
                <a:cs typeface="Arial"/>
              </a:rPr>
              <a:t>liability </a:t>
            </a:r>
            <a:r>
              <a:rPr sz="3200" i="1" dirty="0">
                <a:latin typeface="Arial"/>
                <a:cs typeface="Arial"/>
              </a:rPr>
              <a:t>for the 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business’s</a:t>
            </a:r>
            <a:r>
              <a:rPr sz="3200" i="1" spc="-30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debts.</a:t>
            </a:r>
            <a:endParaRPr sz="3200" dirty="0">
              <a:latin typeface="Arial"/>
              <a:cs typeface="Arial"/>
            </a:endParaRPr>
          </a:p>
          <a:p>
            <a:pPr marL="241300" marR="455295" indent="-228600">
              <a:lnSpc>
                <a:spcPts val="3120"/>
              </a:lnSpc>
              <a:spcBef>
                <a:spcPts val="316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spc="-5" dirty="0">
                <a:latin typeface="Arial"/>
                <a:cs typeface="Arial"/>
              </a:rPr>
              <a:t>Limited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Partnership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--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00" i="1" spc="-12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partnership</a:t>
            </a:r>
            <a:r>
              <a:rPr sz="2800" i="1" spc="1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with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one</a:t>
            </a:r>
            <a:r>
              <a:rPr sz="2800" i="1" spc="-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or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more </a:t>
            </a:r>
            <a:r>
              <a:rPr sz="2800" i="1" spc="-76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general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partners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and </a:t>
            </a:r>
            <a:r>
              <a:rPr sz="2800" i="1" dirty="0">
                <a:latin typeface="Arial"/>
                <a:cs typeface="Arial"/>
              </a:rPr>
              <a:t>one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or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more</a:t>
            </a:r>
            <a:r>
              <a:rPr sz="2800" i="1" spc="1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limited</a:t>
            </a:r>
            <a:r>
              <a:rPr sz="2800" i="1" spc="2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partners.</a:t>
            </a:r>
            <a:endParaRPr sz="28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49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i="1" spc="-10" dirty="0">
                <a:latin typeface="Arial"/>
                <a:cs typeface="Arial"/>
                <a:hlinkClick r:id="rId4"/>
              </a:rPr>
              <a:t>http://www.roc.gov.bd/acts/partnershipact1932.html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0409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10132061" cy="693138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pc="-65" dirty="0"/>
              <a:t>ADVANTAGES</a:t>
            </a:r>
            <a:r>
              <a:rPr spc="-85" dirty="0"/>
              <a:t> </a:t>
            </a:r>
            <a:r>
              <a:rPr dirty="0"/>
              <a:t>of </a:t>
            </a:r>
            <a:r>
              <a:rPr spc="-1205" dirty="0"/>
              <a:t> </a:t>
            </a:r>
            <a:r>
              <a:rPr spc="-25" dirty="0"/>
              <a:t>PARTNERSHIPS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394" y="1812442"/>
            <a:ext cx="8803640" cy="296164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6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More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financial </a:t>
            </a:r>
            <a:r>
              <a:rPr sz="2800" dirty="0">
                <a:latin typeface="Arial MT"/>
                <a:cs typeface="Arial MT"/>
              </a:rPr>
              <a:t>resources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Shared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management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pooled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skills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knowledge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5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Longer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survival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No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special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taxes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  <a:hlinkClick r:id="rId3"/>
              </a:rPr>
              <a:t>http://en.banglapedia.org/index.php?title=Partnership_Business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83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5473700" cy="12839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pc="-50" dirty="0"/>
              <a:t>DISADVANTAGES</a:t>
            </a:r>
            <a:r>
              <a:rPr spc="-70" dirty="0"/>
              <a:t> </a:t>
            </a:r>
            <a:r>
              <a:rPr dirty="0"/>
              <a:t>of </a:t>
            </a:r>
            <a:r>
              <a:rPr spc="-1210" dirty="0"/>
              <a:t> </a:t>
            </a:r>
            <a:r>
              <a:rPr spc="-25" dirty="0"/>
              <a:t>PARTNERSHIPS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394" y="1812442"/>
            <a:ext cx="5241925" cy="242633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6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Unlimited </a:t>
            </a:r>
            <a:r>
              <a:rPr sz="2800" dirty="0">
                <a:latin typeface="Arial MT"/>
                <a:cs typeface="Arial MT"/>
              </a:rPr>
              <a:t>liability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Division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profits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55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Arial MT"/>
                <a:cs typeface="Arial MT"/>
              </a:rPr>
              <a:t>Difficult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terminate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Disagreements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among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partners</a:t>
            </a:r>
            <a:endParaRPr sz="2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31998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4087" y="489777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421248" cy="650756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z="3600" dirty="0"/>
              <a:t>CONVENTIONAL CORPOR</a:t>
            </a:r>
            <a:r>
              <a:rPr sz="3600" spc="-335" dirty="0"/>
              <a:t>A</a:t>
            </a:r>
            <a:r>
              <a:rPr sz="3600" dirty="0"/>
              <a:t>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986787"/>
            <a:ext cx="10192385" cy="312674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9235">
              <a:lnSpc>
                <a:spcPct val="88800"/>
              </a:lnSpc>
              <a:spcBef>
                <a:spcPts val="4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latin typeface="Arial"/>
                <a:cs typeface="Arial"/>
              </a:rPr>
              <a:t>Conventional</a:t>
            </a:r>
            <a:r>
              <a:rPr sz="2800" b="1" spc="5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(C)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Corporation</a:t>
            </a:r>
            <a:r>
              <a:rPr sz="2800" b="1" spc="6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--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state-chartered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legal</a:t>
            </a:r>
            <a:r>
              <a:rPr sz="2800" i="1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entity </a:t>
            </a:r>
            <a:r>
              <a:rPr sz="2800" i="1" spc="-76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with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authority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to</a:t>
            </a:r>
            <a:r>
              <a:rPr sz="2800" i="1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act and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have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liability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separate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from </a:t>
            </a:r>
            <a:r>
              <a:rPr sz="2800" i="1" dirty="0">
                <a:latin typeface="Arial"/>
                <a:cs typeface="Arial"/>
              </a:rPr>
              <a:t>its </a:t>
            </a:r>
            <a:r>
              <a:rPr sz="2800" i="1" spc="-5" dirty="0">
                <a:latin typeface="Arial"/>
                <a:cs typeface="Arial"/>
              </a:rPr>
              <a:t>owners </a:t>
            </a:r>
            <a:r>
              <a:rPr sz="2800" i="1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(its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stockholders).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4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800" b="1" spc="-25" dirty="0">
                <a:latin typeface="Arial"/>
                <a:cs typeface="Arial"/>
              </a:rPr>
              <a:t>CORPORATIONS</a:t>
            </a:r>
            <a:endParaRPr sz="2800">
              <a:latin typeface="Arial"/>
              <a:cs typeface="Arial"/>
            </a:endParaRPr>
          </a:p>
          <a:p>
            <a:pPr marL="241300" marR="168275" indent="-229235">
              <a:lnSpc>
                <a:spcPts val="2940"/>
              </a:lnSpc>
              <a:spcBef>
                <a:spcPts val="1110"/>
              </a:spcBef>
              <a:buChar char="•"/>
              <a:tabLst>
                <a:tab pos="241935" algn="l"/>
              </a:tabLst>
            </a:pP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 large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company</a:t>
            </a:r>
            <a:r>
              <a:rPr sz="2800" spc="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or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group of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companies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authorized</a:t>
            </a:r>
            <a:r>
              <a:rPr sz="2800" spc="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act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 </a:t>
            </a:r>
            <a:r>
              <a:rPr sz="2800" spc="-7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single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entity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 and</a:t>
            </a:r>
            <a:r>
              <a:rPr sz="2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recognized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such</a:t>
            </a:r>
            <a:r>
              <a:rPr sz="2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sz="2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1F2023"/>
                </a:solidFill>
                <a:latin typeface="Arial MT"/>
                <a:cs typeface="Arial MT"/>
              </a:rPr>
              <a:t>law.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9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7032" y="685800"/>
            <a:ext cx="11042968" cy="436991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2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</a:t>
            </a:r>
            <a:r>
              <a:rPr sz="2800" spc="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sz="2800" spc="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z="2800" spc="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sz="2800" spc="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800" spc="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sz="2800" spc="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fifty </a:t>
            </a:r>
            <a:r>
              <a:rPr sz="2800" spc="-62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directors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required.</a:t>
            </a:r>
            <a:endParaRPr lang="en-US" sz="2800" spc="-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166370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On the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hand,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sz="2800" spc="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sz="2800" spc="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z="2800" spc="1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sz="2800" spc="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</a:t>
            </a:r>
            <a:r>
              <a:rPr sz="2800" spc="-62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sz="2800" spc="-2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800" spc="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seven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</a:t>
            </a:r>
            <a:r>
              <a:rPr sz="2800" spc="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unlimited.</a:t>
            </a:r>
            <a:endParaRPr lang="en-US" sz="2800" spc="-1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166370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26034" indent="-229235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forming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sz="2800" spc="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3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Venture</a:t>
            </a:r>
            <a:r>
              <a:rPr sz="2800" spc="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z="2800" spc="25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member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sz="2800" spc="1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2800" spc="-62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800" spc="5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3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fifty</a:t>
            </a:r>
            <a:r>
              <a:rPr sz="2800" spc="-3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minimum,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 one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should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Bangladeshi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0" dirty="0">
                <a:latin typeface="Arial" panose="020B0604020202020204" pitchFamily="34" charset="0"/>
                <a:cs typeface="Arial" panose="020B0604020202020204" pitchFamily="34" charset="0"/>
              </a:rPr>
              <a:t>Foreigner.</a:t>
            </a:r>
            <a:r>
              <a:rPr sz="28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Bangladesh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scope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man.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87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0" y="674370"/>
            <a:ext cx="3655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u="heavy" spc="1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Corporation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977294" y="1676400"/>
            <a:ext cx="5189412" cy="45416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292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chemeClr val="accent3">
                    <a:lumMod val="75000"/>
                  </a:schemeClr>
                </a:solidFill>
                <a:latin typeface="Bodoni 72 Book" pitchFamily="2" charset="0"/>
                <a:cs typeface="Tahoma"/>
              </a:rPr>
              <a:t>Advantages</a:t>
            </a:r>
            <a:endParaRPr sz="3200" b="1" dirty="0">
              <a:solidFill>
                <a:schemeClr val="accent3">
                  <a:lumMod val="75000"/>
                </a:schemeClr>
              </a:solidFill>
              <a:latin typeface="Bodoni 72 Book" pitchFamily="2" charset="0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650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323215" algn="l"/>
                <a:tab pos="32448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Limited</a:t>
            </a:r>
            <a:r>
              <a:rPr sz="2800" spc="-5" dirty="0">
                <a:latin typeface="Bodoni 72 Book" pitchFamily="2" charset="0"/>
                <a:cs typeface="Tahoma"/>
              </a:rPr>
              <a:t> liability</a:t>
            </a:r>
            <a:endParaRPr sz="2800" dirty="0">
              <a:latin typeface="Bodoni 72 Book" pitchFamily="2" charset="0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480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323215" algn="l"/>
                <a:tab pos="32448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More</a:t>
            </a:r>
            <a:r>
              <a:rPr sz="2800" dirty="0">
                <a:latin typeface="Bodoni 72 Book" pitchFamily="2" charset="0"/>
                <a:cs typeface="Tahoma"/>
              </a:rPr>
              <a:t> </a:t>
            </a:r>
            <a:r>
              <a:rPr sz="2800" spc="-5" dirty="0">
                <a:latin typeface="Bodoni 72 Book" pitchFamily="2" charset="0"/>
                <a:cs typeface="Tahoma"/>
              </a:rPr>
              <a:t>money</a:t>
            </a:r>
            <a:r>
              <a:rPr sz="2800" spc="5" dirty="0">
                <a:latin typeface="Bodoni 72 Book" pitchFamily="2" charset="0"/>
                <a:cs typeface="Tahoma"/>
              </a:rPr>
              <a:t> </a:t>
            </a:r>
            <a:r>
              <a:rPr sz="2800" spc="-10" dirty="0">
                <a:latin typeface="Bodoni 72 Book" pitchFamily="2" charset="0"/>
                <a:cs typeface="Tahoma"/>
              </a:rPr>
              <a:t>for</a:t>
            </a:r>
            <a:r>
              <a:rPr lang="en-US" sz="2800" dirty="0">
                <a:latin typeface="Bodoni 72 Book" pitchFamily="2" charset="0"/>
                <a:cs typeface="Tahoma"/>
              </a:rPr>
              <a:t> i</a:t>
            </a:r>
            <a:r>
              <a:rPr sz="2800" spc="-5" dirty="0">
                <a:latin typeface="Bodoni 72 Book" pitchFamily="2" charset="0"/>
                <a:cs typeface="Tahoma"/>
              </a:rPr>
              <a:t>nvestment</a:t>
            </a:r>
            <a:endParaRPr sz="2800" dirty="0">
              <a:latin typeface="Bodoni 72 Book" pitchFamily="2" charset="0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430"/>
              </a:spcBef>
              <a:buClr>
                <a:srgbClr val="800080"/>
              </a:buClr>
              <a:buSzPct val="125000"/>
              <a:buFont typeface="Wingdings" pitchFamily="2" charset="2"/>
              <a:buChar char="ü"/>
              <a:tabLst>
                <a:tab pos="318770" algn="l"/>
                <a:tab pos="31940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Size</a:t>
            </a:r>
            <a:endParaRPr sz="2800" dirty="0">
              <a:latin typeface="Bodoni 72 Book" pitchFamily="2" charset="0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515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323215" algn="l"/>
                <a:tab pos="32448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Perpetual</a:t>
            </a:r>
            <a:r>
              <a:rPr sz="2800" dirty="0">
                <a:latin typeface="Bodoni 72 Book" pitchFamily="2" charset="0"/>
                <a:cs typeface="Tahoma"/>
              </a:rPr>
              <a:t> </a:t>
            </a:r>
            <a:r>
              <a:rPr sz="2800" spc="-5" dirty="0">
                <a:latin typeface="Bodoni 72 Book" pitchFamily="2" charset="0"/>
                <a:cs typeface="Tahoma"/>
              </a:rPr>
              <a:t>life</a:t>
            </a:r>
            <a:endParaRPr sz="2800" dirty="0">
              <a:latin typeface="Bodoni 72 Book" pitchFamily="2" charset="0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470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323215" algn="l"/>
                <a:tab pos="324485" algn="l"/>
              </a:tabLst>
            </a:pPr>
            <a:r>
              <a:rPr sz="2800" spc="-5" dirty="0">
                <a:latin typeface="Bodoni 72 Book" pitchFamily="2" charset="0"/>
                <a:cs typeface="Tahoma"/>
              </a:rPr>
              <a:t>Ease</a:t>
            </a:r>
            <a:r>
              <a:rPr sz="2800" spc="-15" dirty="0">
                <a:latin typeface="Bodoni 72 Book" pitchFamily="2" charset="0"/>
                <a:cs typeface="Tahoma"/>
              </a:rPr>
              <a:t> </a:t>
            </a:r>
            <a:r>
              <a:rPr sz="2800" spc="-5" dirty="0">
                <a:latin typeface="Bodoni 72 Book" pitchFamily="2" charset="0"/>
                <a:cs typeface="Tahoma"/>
              </a:rPr>
              <a:t>of </a:t>
            </a:r>
            <a:r>
              <a:rPr sz="2800" spc="-10" dirty="0">
                <a:latin typeface="Bodoni 72 Book" pitchFamily="2" charset="0"/>
                <a:cs typeface="Tahoma"/>
              </a:rPr>
              <a:t>ownership</a:t>
            </a:r>
            <a:r>
              <a:rPr lang="en-US" sz="2800" dirty="0">
                <a:latin typeface="Bodoni 72 Book" pitchFamily="2" charset="0"/>
                <a:cs typeface="Tahoma"/>
              </a:rPr>
              <a:t> </a:t>
            </a:r>
            <a:r>
              <a:rPr sz="2800" spc="-10" dirty="0">
                <a:latin typeface="Bodoni 72 Book" pitchFamily="2" charset="0"/>
                <a:cs typeface="Tahoma"/>
              </a:rPr>
              <a:t>change</a:t>
            </a:r>
            <a:endParaRPr sz="2800" dirty="0">
              <a:latin typeface="Bodoni 72 Book" pitchFamily="2" charset="0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480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323215" algn="l"/>
                <a:tab pos="324485" algn="l"/>
              </a:tabLst>
            </a:pPr>
            <a:r>
              <a:rPr sz="2800" spc="-5" dirty="0">
                <a:latin typeface="Bodoni 72 Book" pitchFamily="2" charset="0"/>
                <a:cs typeface="Tahoma"/>
              </a:rPr>
              <a:t>Ease</a:t>
            </a:r>
            <a:r>
              <a:rPr sz="2800" spc="-25" dirty="0">
                <a:latin typeface="Bodoni 72 Book" pitchFamily="2" charset="0"/>
                <a:cs typeface="Tahoma"/>
              </a:rPr>
              <a:t> </a:t>
            </a:r>
            <a:r>
              <a:rPr sz="2800" spc="-5" dirty="0">
                <a:latin typeface="Bodoni 72 Book" pitchFamily="2" charset="0"/>
                <a:cs typeface="Tahoma"/>
              </a:rPr>
              <a:t>of </a:t>
            </a:r>
            <a:r>
              <a:rPr sz="2800" spc="-10" dirty="0">
                <a:latin typeface="Bodoni 72 Book" pitchFamily="2" charset="0"/>
                <a:cs typeface="Tahoma"/>
              </a:rPr>
              <a:t>drawing</a:t>
            </a:r>
            <a:r>
              <a:rPr lang="en-US" sz="2800" dirty="0">
                <a:latin typeface="Bodoni 72 Book" pitchFamily="2" charset="0"/>
                <a:cs typeface="Tahoma"/>
              </a:rPr>
              <a:t> </a:t>
            </a:r>
            <a:r>
              <a:rPr sz="2800" spc="-5" dirty="0">
                <a:latin typeface="Bodoni 72 Book" pitchFamily="2" charset="0"/>
                <a:cs typeface="Tahoma"/>
              </a:rPr>
              <a:t>talented</a:t>
            </a:r>
            <a:r>
              <a:rPr sz="2800" spc="-40" dirty="0">
                <a:latin typeface="Bodoni 72 Book" pitchFamily="2" charset="0"/>
                <a:cs typeface="Tahoma"/>
              </a:rPr>
              <a:t> </a:t>
            </a:r>
            <a:r>
              <a:rPr sz="2800" spc="-5" dirty="0">
                <a:latin typeface="Bodoni 72 Book" pitchFamily="2" charset="0"/>
                <a:cs typeface="Tahoma"/>
              </a:rPr>
              <a:t>employees</a:t>
            </a:r>
            <a:endParaRPr sz="2800" dirty="0">
              <a:latin typeface="Bodoni 72 Book" pitchFamily="2" charset="0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465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323215" algn="l"/>
                <a:tab pos="32448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Separation</a:t>
            </a:r>
            <a:r>
              <a:rPr sz="2800" spc="-15" dirty="0">
                <a:latin typeface="Bodoni 72 Book" pitchFamily="2" charset="0"/>
                <a:cs typeface="Tahoma"/>
              </a:rPr>
              <a:t> </a:t>
            </a:r>
            <a:r>
              <a:rPr sz="2800" spc="-10" dirty="0">
                <a:latin typeface="Bodoni 72 Book" pitchFamily="2" charset="0"/>
                <a:cs typeface="Tahoma"/>
              </a:rPr>
              <a:t>of</a:t>
            </a:r>
            <a:r>
              <a:rPr lang="en-US" sz="2800" dirty="0">
                <a:latin typeface="Bodoni 72 Book" pitchFamily="2" charset="0"/>
                <a:cs typeface="Tahoma"/>
              </a:rPr>
              <a:t> </a:t>
            </a:r>
            <a:r>
              <a:rPr sz="2800" spc="-10" dirty="0">
                <a:latin typeface="Bodoni 72 Book" pitchFamily="2" charset="0"/>
                <a:cs typeface="Tahoma"/>
              </a:rPr>
              <a:t>ownership/</a:t>
            </a:r>
            <a:r>
              <a:rPr lang="en-US" sz="2800" spc="-10" dirty="0">
                <a:latin typeface="Bodoni 72 Book" pitchFamily="2" charset="0"/>
                <a:cs typeface="Tahoma"/>
              </a:rPr>
              <a:t>management</a:t>
            </a:r>
            <a:endParaRPr sz="2800" dirty="0">
              <a:latin typeface="Bodoni 72 Book" pitchFamily="2" charset="0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15200" y="1600200"/>
            <a:ext cx="4419600" cy="426026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165"/>
              </a:spcBef>
            </a:pPr>
            <a:r>
              <a:rPr sz="3200" b="1" spc="-5" dirty="0">
                <a:solidFill>
                  <a:schemeClr val="accent2">
                    <a:lumMod val="60000"/>
                    <a:lumOff val="40000"/>
                  </a:schemeClr>
                </a:solidFill>
                <a:latin typeface="Bodoni 72 Book" pitchFamily="2" charset="0"/>
                <a:cs typeface="Tahoma"/>
              </a:rPr>
              <a:t>Disadvantages</a:t>
            </a:r>
          </a:p>
          <a:p>
            <a:pPr marL="354964" indent="-342900">
              <a:lnSpc>
                <a:spcPct val="100000"/>
              </a:lnSpc>
              <a:spcBef>
                <a:spcPts val="835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22161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Extensive paperwork</a:t>
            </a:r>
          </a:p>
          <a:p>
            <a:pPr marL="354964" indent="-342900">
              <a:lnSpc>
                <a:spcPct val="100000"/>
              </a:lnSpc>
              <a:buClr>
                <a:srgbClr val="800080"/>
              </a:buClr>
              <a:buFont typeface="Wingdings" pitchFamily="2" charset="2"/>
              <a:buChar char="ü"/>
              <a:tabLst>
                <a:tab pos="22161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Double taxation</a:t>
            </a:r>
          </a:p>
          <a:p>
            <a:pPr marL="354964" indent="-342900">
              <a:lnSpc>
                <a:spcPct val="100000"/>
              </a:lnSpc>
              <a:buClr>
                <a:srgbClr val="800080"/>
              </a:buClr>
              <a:buFont typeface="Wingdings" pitchFamily="2" charset="2"/>
              <a:buChar char="ü"/>
              <a:tabLst>
                <a:tab pos="22161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Two tax returns</a:t>
            </a:r>
          </a:p>
          <a:p>
            <a:pPr marL="354964" indent="-342900">
              <a:lnSpc>
                <a:spcPct val="100000"/>
              </a:lnSpc>
              <a:buClr>
                <a:srgbClr val="800080"/>
              </a:buClr>
              <a:buFont typeface="Wingdings" pitchFamily="2" charset="2"/>
              <a:buChar char="ü"/>
              <a:tabLst>
                <a:tab pos="22161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Size</a:t>
            </a:r>
          </a:p>
          <a:p>
            <a:pPr marL="354964" indent="-342900">
              <a:lnSpc>
                <a:spcPct val="100000"/>
              </a:lnSpc>
              <a:spcBef>
                <a:spcPts val="135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22161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Termination difficult</a:t>
            </a:r>
          </a:p>
          <a:p>
            <a:pPr marL="342900" marR="29209" indent="-342900">
              <a:lnSpc>
                <a:spcPct val="105000"/>
              </a:lnSpc>
              <a:buClr>
                <a:srgbClr val="800080"/>
              </a:buClr>
              <a:buFont typeface="Wingdings" pitchFamily="2" charset="2"/>
              <a:buChar char="ü"/>
              <a:tabLst>
                <a:tab pos="22161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Conflict with  Stockholder &amp; Board</a:t>
            </a:r>
          </a:p>
          <a:p>
            <a:pPr marL="354964" indent="-342900">
              <a:lnSpc>
                <a:spcPct val="100000"/>
              </a:lnSpc>
              <a:spcBef>
                <a:spcPts val="135"/>
              </a:spcBef>
              <a:buClr>
                <a:srgbClr val="800080"/>
              </a:buClr>
              <a:buFont typeface="Wingdings" pitchFamily="2" charset="2"/>
              <a:buChar char="ü"/>
              <a:tabLst>
                <a:tab pos="221615" algn="l"/>
              </a:tabLst>
            </a:pPr>
            <a:r>
              <a:rPr sz="2800" spc="-10" dirty="0">
                <a:latin typeface="Bodoni 72 Book" pitchFamily="2" charset="0"/>
                <a:cs typeface="Tahoma"/>
              </a:rPr>
              <a:t>Initial cost</a:t>
            </a:r>
          </a:p>
        </p:txBody>
      </p: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54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05583"/>
            <a:ext cx="10515600" cy="43510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29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311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 Light"/>
                <a:cs typeface="Calibri Light"/>
              </a:rPr>
              <a:t>Checkpoint</a:t>
            </a:r>
            <a:r>
              <a:rPr b="0" spc="-50" dirty="0">
                <a:latin typeface="Calibri Light"/>
                <a:cs typeface="Calibri Light"/>
              </a:rPr>
              <a:t> </a:t>
            </a:r>
            <a:r>
              <a:rPr b="0" spc="5" dirty="0">
                <a:latin typeface="Wingdings"/>
                <a:cs typeface="Wingdings"/>
              </a:rPr>
              <a:t>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9385" y="2185542"/>
            <a:ext cx="9263380" cy="19551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844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In addition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owner-supplied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capital,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several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sources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financing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small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business?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3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Borrowed </a:t>
            </a:r>
            <a:r>
              <a:rPr sz="2400" spc="-5" dirty="0">
                <a:latin typeface="Calibri"/>
                <a:cs typeface="Calibri"/>
              </a:rPr>
              <a:t>money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10" dirty="0">
                <a:latin typeface="Calibri"/>
                <a:cs typeface="Calibri"/>
              </a:rPr>
              <a:t>come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alibri"/>
                <a:cs typeface="Calibri"/>
              </a:rPr>
              <a:t>banks, </a:t>
            </a:r>
            <a:r>
              <a:rPr sz="2400" spc="-5" dirty="0">
                <a:latin typeface="Calibri"/>
                <a:cs typeface="Calibri"/>
              </a:rPr>
              <a:t>finance </a:t>
            </a:r>
            <a:r>
              <a:rPr sz="2400" spc="-10" dirty="0">
                <a:latin typeface="Calibri"/>
                <a:cs typeface="Calibri"/>
              </a:rPr>
              <a:t>companies, </a:t>
            </a:r>
            <a:r>
              <a:rPr sz="2400" spc="-5" dirty="0">
                <a:latin typeface="Calibri"/>
                <a:cs typeface="Calibri"/>
              </a:rPr>
              <a:t>or other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individuals,</a:t>
            </a:r>
            <a:r>
              <a:rPr sz="2400" spc="-5" dirty="0">
                <a:latin typeface="Calibri"/>
                <a:cs typeface="Calibri"/>
              </a:rPr>
              <a:t> such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5" dirty="0">
                <a:latin typeface="Calibri"/>
                <a:cs typeface="Calibri"/>
              </a:rPr>
              <a:t>friends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family.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suppliers </a:t>
            </a:r>
            <a:r>
              <a:rPr sz="2400" spc="-20" dirty="0">
                <a:latin typeface="Calibri"/>
                <a:cs typeface="Calibri"/>
              </a:rPr>
              <a:t>may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extend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credit.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7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0194" y="370077"/>
            <a:ext cx="4208780" cy="13004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60"/>
              </a:lnSpc>
              <a:spcBef>
                <a:spcPts val="695"/>
              </a:spcBef>
            </a:pPr>
            <a:r>
              <a:rPr b="0" spc="-15" dirty="0">
                <a:latin typeface="Calibri Light"/>
                <a:cs typeface="Calibri Light"/>
              </a:rPr>
              <a:t>Entrepreneur- </a:t>
            </a:r>
            <a:r>
              <a:rPr b="0" spc="-1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ONLINE</a:t>
            </a:r>
            <a:r>
              <a:rPr b="0" spc="-65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RESEARCH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887118"/>
            <a:ext cx="414718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WHO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INSPIRES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YOU?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60" dirty="0">
                <a:latin typeface="Calibri"/>
                <a:cs typeface="Calibri"/>
              </a:rPr>
              <a:t>WHAT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IDEAS </a:t>
            </a:r>
            <a:r>
              <a:rPr sz="2800" spc="-5" dirty="0">
                <a:latin typeface="Calibri"/>
                <a:cs typeface="Calibri"/>
              </a:rPr>
              <a:t>INSPIRE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YOU?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20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1126</Words>
  <Application>Microsoft Office PowerPoint</Application>
  <PresentationFormat>Widescreen</PresentationFormat>
  <Paragraphs>187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Black</vt:lpstr>
      <vt:lpstr>Arial MT</vt:lpstr>
      <vt:lpstr>Bodoni 72 Book</vt:lpstr>
      <vt:lpstr>Calibri</vt:lpstr>
      <vt:lpstr>Calibri Light</vt:lpstr>
      <vt:lpstr>Tahoma</vt:lpstr>
      <vt:lpstr>Times New Roman</vt:lpstr>
      <vt:lpstr>Wingdings</vt:lpstr>
      <vt:lpstr>Office Theme</vt:lpstr>
      <vt:lpstr>Entrepreneurship and Small Business Management</vt:lpstr>
      <vt:lpstr>Becoming an Entrepreneur</vt:lpstr>
      <vt:lpstr>WHAT is ENTREPRENEURSHIP?</vt:lpstr>
      <vt:lpstr>Who is an entrepreneur?</vt:lpstr>
      <vt:lpstr>Why entrepreneurship?</vt:lpstr>
      <vt:lpstr>Role of the Entrepreneur</vt:lpstr>
      <vt:lpstr>NOTABLE ENTREPRENEURS</vt:lpstr>
      <vt:lpstr>Famous Entrepreneurs – Bangladesh</vt:lpstr>
      <vt:lpstr>YOU’RE NEVER TOO YOUNG to be an ENTREPRENEUR (Spotlight on Small Business)</vt:lpstr>
      <vt:lpstr>KEY TERMS</vt:lpstr>
      <vt:lpstr>KEY TERMS</vt:lpstr>
      <vt:lpstr>Entrepreneurship VS Working for  others</vt:lpstr>
      <vt:lpstr>3 Reasons most small businesses fail</vt:lpstr>
      <vt:lpstr>What are the sources of financing that entrepreneurs use for their  new businesses? </vt:lpstr>
      <vt:lpstr>Common Types of Small Businesses as Percent of All Small  Businesses</vt:lpstr>
      <vt:lpstr>BUSINESS PLAN</vt:lpstr>
      <vt:lpstr>Checkpoint </vt:lpstr>
      <vt:lpstr>FINANCING THE SMALL BUSINESS</vt:lpstr>
      <vt:lpstr>FORMS of BUSINESS OWNERSHIP</vt:lpstr>
      <vt:lpstr>PowerPoint Presentation</vt:lpstr>
      <vt:lpstr>SOLE  PROPRIETORSHIP</vt:lpstr>
      <vt:lpstr>MAJOR BENEFITS of SOLE  PROPRIETORSHIP</vt:lpstr>
      <vt:lpstr>DISADVANTAGES of SOLE  PROPRIETORSHIPS</vt:lpstr>
      <vt:lpstr>MAJOR TYPES of PARTNERSHIPS</vt:lpstr>
      <vt:lpstr>ADVANTAGES of  PARTNERSHIPS</vt:lpstr>
      <vt:lpstr>DISADVANTAGES of  PARTNERSHIPS</vt:lpstr>
      <vt:lpstr>CONVENTIONAL CORPORATIONS</vt:lpstr>
      <vt:lpstr>PowerPoint Presentation</vt:lpstr>
      <vt:lpstr>Corporation</vt:lpstr>
      <vt:lpstr>Checkpoint </vt:lpstr>
      <vt:lpstr>Entrepreneur-  ONLINE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Dell</cp:lastModifiedBy>
  <cp:revision>8</cp:revision>
  <dcterms:created xsi:type="dcterms:W3CDTF">2023-06-01T07:16:47Z</dcterms:created>
  <dcterms:modified xsi:type="dcterms:W3CDTF">2023-10-26T17:09:25Z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2023-06-01T00:00:00Z</vt:filetime>
  </property>
</Properties>
</file>