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260" r:id="rId1"/>
  </p:sldMasterIdLst>
  <p:notesMasterIdLst>
    <p:notesMasterId r:id="rId49"/>
  </p:notesMasterIdLst>
  <p:handoutMasterIdLst>
    <p:handoutMasterId r:id="rId50"/>
  </p:handoutMasterIdLst>
  <p:sldIdLst>
    <p:sldId id="357" r:id="rId2"/>
    <p:sldId id="460" r:id="rId3"/>
    <p:sldId id="458" r:id="rId4"/>
    <p:sldId id="459" r:id="rId5"/>
    <p:sldId id="256" r:id="rId6"/>
    <p:sldId id="422" r:id="rId7"/>
    <p:sldId id="432" r:id="rId8"/>
    <p:sldId id="400" r:id="rId9"/>
    <p:sldId id="426" r:id="rId10"/>
    <p:sldId id="423" r:id="rId11"/>
    <p:sldId id="424" r:id="rId12"/>
    <p:sldId id="427" r:id="rId13"/>
    <p:sldId id="445" r:id="rId14"/>
    <p:sldId id="448" r:id="rId15"/>
    <p:sldId id="449" r:id="rId16"/>
    <p:sldId id="425" r:id="rId17"/>
    <p:sldId id="434" r:id="rId18"/>
    <p:sldId id="451" r:id="rId19"/>
    <p:sldId id="452" r:id="rId20"/>
    <p:sldId id="453" r:id="rId21"/>
    <p:sldId id="454" r:id="rId22"/>
    <p:sldId id="455" r:id="rId23"/>
    <p:sldId id="456" r:id="rId24"/>
    <p:sldId id="435" r:id="rId25"/>
    <p:sldId id="450" r:id="rId26"/>
    <p:sldId id="436" r:id="rId27"/>
    <p:sldId id="437" r:id="rId28"/>
    <p:sldId id="438" r:id="rId29"/>
    <p:sldId id="304" r:id="rId30"/>
    <p:sldId id="433" r:id="rId31"/>
    <p:sldId id="405" r:id="rId32"/>
    <p:sldId id="388" r:id="rId33"/>
    <p:sldId id="307" r:id="rId34"/>
    <p:sldId id="340" r:id="rId35"/>
    <p:sldId id="342" r:id="rId36"/>
    <p:sldId id="406" r:id="rId37"/>
    <p:sldId id="408" r:id="rId38"/>
    <p:sldId id="409" r:id="rId39"/>
    <p:sldId id="410" r:id="rId40"/>
    <p:sldId id="262" r:id="rId41"/>
    <p:sldId id="457" r:id="rId42"/>
    <p:sldId id="263" r:id="rId43"/>
    <p:sldId id="264" r:id="rId44"/>
    <p:sldId id="446" r:id="rId45"/>
    <p:sldId id="447" r:id="rId46"/>
    <p:sldId id="431" r:id="rId47"/>
    <p:sldId id="461" r:id="rId48"/>
  </p:sldIdLst>
  <p:sldSz cx="9144000" cy="6858000" type="screen4x3"/>
  <p:notesSz cx="7010400" cy="9296400"/>
  <p:kinsoku lang="ja-JP" invalStChars="、。，．・：；？！゛゜ヽヾゝゞ々ー’”）〕］｝〉》」』】°‰′″℃￠％ぁぃぅぇぉっゃゅょゎァィゥェォッャュョヮヵヶ!%),.:;?]}｡｣､･ｧｨｩｪｫｬｭｮｯｰﾞﾟ" invalEndChars="‘“（〔［｛〈《「『【￥＄$([\{｢￡"/>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p15:clr>
            <a:srgbClr val="A4A3A4"/>
          </p15:clr>
        </p15:guide>
        <p15:guide id="2" pos="53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8CF4EA"/>
    <a:srgbClr val="00B7A5"/>
    <a:srgbClr val="FAFD00"/>
    <a:srgbClr val="D49FFF"/>
    <a:srgbClr val="83FD65"/>
    <a:srgbClr val="C0FEF9"/>
    <a:srgbClr val="60C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09" autoAdjust="0"/>
    <p:restoredTop sz="93613" autoAdjust="0"/>
  </p:normalViewPr>
  <p:slideViewPr>
    <p:cSldViewPr>
      <p:cViewPr varScale="1">
        <p:scale>
          <a:sx n="68" d="100"/>
          <a:sy n="68" d="100"/>
        </p:scale>
        <p:origin x="1842" y="78"/>
      </p:cViewPr>
      <p:guideLst>
        <p:guide orient="horz" pos="1200"/>
        <p:guide pos="53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829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3481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35452" y="4416006"/>
            <a:ext cx="5137930" cy="4183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02" tIns="48206" rIns="94802" bIns="4820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6083" name="Rectangle 3"/>
          <p:cNvSpPr>
            <a:spLocks noGrp="1" noRot="1" noChangeAspect="1" noChangeArrowheads="1" noTextEdit="1"/>
          </p:cNvSpPr>
          <p:nvPr>
            <p:ph type="sldImg" idx="2"/>
          </p:nvPr>
        </p:nvSpPr>
        <p:spPr bwMode="auto">
          <a:xfrm>
            <a:off x="1190625" y="704850"/>
            <a:ext cx="4629150" cy="3471863"/>
          </a:xfrm>
          <a:prstGeom prst="rect">
            <a:avLst/>
          </a:prstGeom>
          <a:noFill/>
          <a:ln w="12700">
            <a:solidFill>
              <a:schemeClr val="tx1"/>
            </a:solidFill>
            <a:miter lim="800000"/>
            <a:headEnd/>
            <a:tailEnd/>
          </a:ln>
          <a:effectLst/>
        </p:spPr>
      </p:sp>
    </p:spTree>
    <p:extLst>
      <p:ext uri="{BB962C8B-B14F-4D97-AF65-F5344CB8AC3E}">
        <p14:creationId xmlns:p14="http://schemas.microsoft.com/office/powerpoint/2010/main" val="2434615847"/>
      </p:ext>
    </p:extLst>
  </p:cSld>
  <p:clrMap bg1="lt1" tx1="dk1" bg2="lt2" tx2="dk2" accent1="accent1" accent2="accent2" accent3="accent3" accent4="accent4" accent5="accent5" accent6="accent6" hlink="hlink" folHlink="folHlink"/>
  <p:notesStyle>
    <a:lvl1pPr algn="l" defTabSz="955675"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66725" algn="l" defTabSz="955675"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35038" algn="l" defTabSz="955675"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401763" algn="l" defTabSz="955675"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70075" algn="l" defTabSz="955675"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p:spPr>
        <p:txBody>
          <a:bodyPr/>
          <a:lstStyle/>
          <a:p>
            <a:endParaRPr lang="en-US" dirty="0"/>
          </a:p>
        </p:txBody>
      </p:sp>
    </p:spTree>
    <p:extLst>
      <p:ext uri="{BB962C8B-B14F-4D97-AF65-F5344CB8AC3E}">
        <p14:creationId xmlns:p14="http://schemas.microsoft.com/office/powerpoint/2010/main" val="3722727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Society now has important direct</a:t>
            </a:r>
            <a:r>
              <a:rPr lang="en-US" baseline="0" dirty="0"/>
              <a:t> or indirect stakes in the stock market. </a:t>
            </a:r>
            <a:r>
              <a:rPr lang="en-US" dirty="0"/>
              <a:t>Institutional investors such as pension funds, insurance firms and mutual funds own more than</a:t>
            </a:r>
            <a:r>
              <a:rPr lang="en-US" baseline="0" dirty="0"/>
              <a:t> 61% of all US stock. In addition, more than 47% of US households now own stock or bonds directly.</a:t>
            </a:r>
            <a:endParaRPr lang="en-US" dirty="0"/>
          </a:p>
        </p:txBody>
      </p:sp>
    </p:spTree>
    <p:extLst>
      <p:ext uri="{BB962C8B-B14F-4D97-AF65-F5344CB8AC3E}">
        <p14:creationId xmlns:p14="http://schemas.microsoft.com/office/powerpoint/2010/main" val="576351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4294967295"/>
          </p:nvPr>
        </p:nvSpPr>
        <p:spPr bwMode="auto">
          <a:xfrm>
            <a:off x="3970578" y="8829130"/>
            <a:ext cx="3038259" cy="465830"/>
          </a:xfrm>
          <a:prstGeom prst="rect">
            <a:avLst/>
          </a:prstGeom>
          <a:noFill/>
          <a:ln>
            <a:miter lim="800000"/>
            <a:headEnd/>
            <a:tailEnd/>
          </a:ln>
        </p:spPr>
        <p:txBody>
          <a:bodyPr lIns="91684" tIns="45842" rIns="91684" bIns="45842"/>
          <a:lstStyle/>
          <a:p>
            <a:fld id="{00C6F7E7-32F7-4C66-BE0E-9EEFC2BF3A24}" type="slidenum">
              <a:rPr lang="en-US"/>
              <a:pPr/>
              <a:t>37</a:t>
            </a:fld>
            <a:endParaRPr 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p:spPr>
        <p:txBody>
          <a:bodyPr/>
          <a:lstStyle/>
          <a:p>
            <a:pPr eaLnBrk="1" hangingPunct="1">
              <a:spcBef>
                <a:spcPct val="0"/>
              </a:spcBef>
            </a:pPr>
            <a:endParaRPr lang="en-US" altLang="en-US"/>
          </a:p>
        </p:txBody>
      </p:sp>
    </p:spTree>
    <p:extLst>
      <p:ext uri="{BB962C8B-B14F-4D97-AF65-F5344CB8AC3E}">
        <p14:creationId xmlns:p14="http://schemas.microsoft.com/office/powerpoint/2010/main" val="1265738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4294967295"/>
          </p:nvPr>
        </p:nvSpPr>
        <p:spPr bwMode="auto">
          <a:xfrm>
            <a:off x="3970578" y="8829130"/>
            <a:ext cx="3038259" cy="465830"/>
          </a:xfrm>
          <a:prstGeom prst="rect">
            <a:avLst/>
          </a:prstGeom>
          <a:noFill/>
          <a:ln>
            <a:miter lim="800000"/>
            <a:headEnd/>
            <a:tailEnd/>
          </a:ln>
        </p:spPr>
        <p:txBody>
          <a:bodyPr lIns="91684" tIns="45842" rIns="91684" bIns="45842"/>
          <a:lstStyle/>
          <a:p>
            <a:fld id="{BE488A9B-7EC7-419B-953E-065A04F08DFD}" type="slidenum">
              <a:rPr lang="en-US"/>
              <a:pPr/>
              <a:t>38</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p:spPr>
        <p:txBody>
          <a:bodyPr/>
          <a:lstStyle/>
          <a:p>
            <a:pPr eaLnBrk="1" hangingPunct="1">
              <a:spcBef>
                <a:spcPct val="0"/>
              </a:spcBef>
            </a:pPr>
            <a:endParaRPr lang="en-US" altLang="en-US"/>
          </a:p>
        </p:txBody>
      </p:sp>
    </p:spTree>
    <p:extLst>
      <p:ext uri="{BB962C8B-B14F-4D97-AF65-F5344CB8AC3E}">
        <p14:creationId xmlns:p14="http://schemas.microsoft.com/office/powerpoint/2010/main" val="143056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B8C3CDF0-0991-4E22-96F0-AF5F8E6817D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87563" tIns="43781" rIns="87563" bIns="43781"/>
          <a:lstStyle>
            <a:lvl1pPr defTabSz="890831">
              <a:defRPr>
                <a:solidFill>
                  <a:schemeClr val="tx1"/>
                </a:solidFill>
                <a:latin typeface="Times New Roman" panose="02020603050405020304" pitchFamily="18" charset="0"/>
              </a:defRPr>
            </a:lvl1pPr>
            <a:lvl2pPr marL="711449" indent="-273634" defTabSz="890831">
              <a:defRPr>
                <a:solidFill>
                  <a:schemeClr val="tx1"/>
                </a:solidFill>
                <a:latin typeface="Times New Roman" panose="02020603050405020304" pitchFamily="18" charset="0"/>
              </a:defRPr>
            </a:lvl2pPr>
            <a:lvl3pPr marL="1094537" indent="-218907" defTabSz="890831">
              <a:defRPr>
                <a:solidFill>
                  <a:schemeClr val="tx1"/>
                </a:solidFill>
                <a:latin typeface="Times New Roman" panose="02020603050405020304" pitchFamily="18" charset="0"/>
              </a:defRPr>
            </a:lvl3pPr>
            <a:lvl4pPr marL="1532352" indent="-218907" defTabSz="890831">
              <a:defRPr>
                <a:solidFill>
                  <a:schemeClr val="tx1"/>
                </a:solidFill>
                <a:latin typeface="Times New Roman" panose="02020603050405020304" pitchFamily="18" charset="0"/>
              </a:defRPr>
            </a:lvl4pPr>
            <a:lvl5pPr marL="1970166" indent="-218907" defTabSz="890831">
              <a:defRPr>
                <a:solidFill>
                  <a:schemeClr val="tx1"/>
                </a:solidFill>
                <a:latin typeface="Times New Roman" panose="02020603050405020304" pitchFamily="18" charset="0"/>
              </a:defRPr>
            </a:lvl5pPr>
            <a:lvl6pPr marL="2407981" indent="-218907" defTabSz="890831" eaLnBrk="0" fontAlgn="base" hangingPunct="0">
              <a:spcBef>
                <a:spcPct val="0"/>
              </a:spcBef>
              <a:spcAft>
                <a:spcPct val="0"/>
              </a:spcAft>
              <a:defRPr>
                <a:solidFill>
                  <a:schemeClr val="tx1"/>
                </a:solidFill>
                <a:latin typeface="Times New Roman" panose="02020603050405020304" pitchFamily="18" charset="0"/>
              </a:defRPr>
            </a:lvl6pPr>
            <a:lvl7pPr marL="2845796" indent="-218907" defTabSz="890831" eaLnBrk="0" fontAlgn="base" hangingPunct="0">
              <a:spcBef>
                <a:spcPct val="0"/>
              </a:spcBef>
              <a:spcAft>
                <a:spcPct val="0"/>
              </a:spcAft>
              <a:defRPr>
                <a:solidFill>
                  <a:schemeClr val="tx1"/>
                </a:solidFill>
                <a:latin typeface="Times New Roman" panose="02020603050405020304" pitchFamily="18" charset="0"/>
              </a:defRPr>
            </a:lvl7pPr>
            <a:lvl8pPr marL="3283610" indent="-218907" defTabSz="890831" eaLnBrk="0" fontAlgn="base" hangingPunct="0">
              <a:spcBef>
                <a:spcPct val="0"/>
              </a:spcBef>
              <a:spcAft>
                <a:spcPct val="0"/>
              </a:spcAft>
              <a:defRPr>
                <a:solidFill>
                  <a:schemeClr val="tx1"/>
                </a:solidFill>
                <a:latin typeface="Times New Roman" panose="02020603050405020304" pitchFamily="18" charset="0"/>
              </a:defRPr>
            </a:lvl8pPr>
            <a:lvl9pPr marL="3721425" indent="-218907" defTabSz="890831" eaLnBrk="0" fontAlgn="base" hangingPunct="0">
              <a:spcBef>
                <a:spcPct val="0"/>
              </a:spcBef>
              <a:spcAft>
                <a:spcPct val="0"/>
              </a:spcAft>
              <a:defRPr>
                <a:solidFill>
                  <a:schemeClr val="tx1"/>
                </a:solidFill>
                <a:latin typeface="Times New Roman" panose="02020603050405020304" pitchFamily="18" charset="0"/>
              </a:defRPr>
            </a:lvl9pPr>
          </a:lstStyle>
          <a:p>
            <a:fld id="{230A2A39-CA18-4BB6-B161-6289B21FA8BB}" type="slidenum">
              <a:rPr lang="en-US" altLang="en-US"/>
              <a:pPr/>
              <a:t>40</a:t>
            </a:fld>
            <a:endParaRPr lang="en-US" altLang="en-US"/>
          </a:p>
        </p:txBody>
      </p:sp>
      <p:sp>
        <p:nvSpPr>
          <p:cNvPr id="26627" name="Rectangle 2">
            <a:extLst>
              <a:ext uri="{FF2B5EF4-FFF2-40B4-BE49-F238E27FC236}">
                <a16:creationId xmlns:a16="http://schemas.microsoft.com/office/drawing/2014/main" id="{88F2C34F-CE77-4AB1-A129-6F134F1CC4F4}"/>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B3DC5C4D-A4B8-4BA9-B47E-E29C42A855B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pPr eaLnBrk="1" hangingPunct="1"/>
            <a:r>
              <a:rPr lang="en-US" altLang="en-US">
                <a:latin typeface="Arial" panose="020B0604020202020204" pitchFamily="34" charset="0"/>
              </a:rPr>
              <a:t>It is sometimes helpful to relate corporate decisions to individual circumstances. For example, consider discussing how individuals choose to buy cars or homes and how this decision would affect a personal balance sheet.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F866768-B553-4AD3-9270-4E7FBD0BD7DA}" type="slidenum">
              <a:rPr lang="en-US" smtClean="0"/>
              <a:pPr>
                <a:defRPr/>
              </a:pPr>
              <a:t>‹#›</a:t>
            </a:fld>
            <a:endParaRPr lang="en-US"/>
          </a:p>
        </p:txBody>
      </p:sp>
    </p:spTree>
    <p:extLst>
      <p:ext uri="{BB962C8B-B14F-4D97-AF65-F5344CB8AC3E}">
        <p14:creationId xmlns:p14="http://schemas.microsoft.com/office/powerpoint/2010/main" val="4133064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CD637C6-3A19-4914-A616-01A59BB83BF2}" type="slidenum">
              <a:rPr lang="en-US" smtClean="0"/>
              <a:pPr>
                <a:defRPr/>
              </a:pPr>
              <a:t>‹#›</a:t>
            </a:fld>
            <a:endParaRPr lang="en-US"/>
          </a:p>
        </p:txBody>
      </p:sp>
    </p:spTree>
    <p:extLst>
      <p:ext uri="{BB962C8B-B14F-4D97-AF65-F5344CB8AC3E}">
        <p14:creationId xmlns:p14="http://schemas.microsoft.com/office/powerpoint/2010/main" val="526759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2E70213-A215-4868-8199-F32FF9D86DBD}" type="slidenum">
              <a:rPr lang="en-US" smtClean="0"/>
              <a:pPr>
                <a:defRPr/>
              </a:pPr>
              <a:t>‹#›</a:t>
            </a:fld>
            <a:endParaRPr lang="en-US"/>
          </a:p>
        </p:txBody>
      </p:sp>
    </p:spTree>
    <p:extLst>
      <p:ext uri="{BB962C8B-B14F-4D97-AF65-F5344CB8AC3E}">
        <p14:creationId xmlns:p14="http://schemas.microsoft.com/office/powerpoint/2010/main" val="776130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079291DC-2DEA-4407-8149-EB657BC1D661}" type="slidenum">
              <a:rPr lang="en-US" smtClean="0"/>
              <a:pPr>
                <a:defRPr/>
              </a:pPr>
              <a:t>‹#›</a:t>
            </a:fld>
            <a:endParaRPr lang="en-US"/>
          </a:p>
        </p:txBody>
      </p:sp>
    </p:spTree>
    <p:extLst>
      <p:ext uri="{BB962C8B-B14F-4D97-AF65-F5344CB8AC3E}">
        <p14:creationId xmlns:p14="http://schemas.microsoft.com/office/powerpoint/2010/main" val="3864649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FCEE4924-B1FB-452D-B271-5710EF4EE816}" type="slidenum">
              <a:rPr lang="en-US" smtClean="0"/>
              <a:pPr>
                <a:defRPr/>
              </a:pPr>
              <a:t>‹#›</a:t>
            </a:fld>
            <a:endParaRPr lang="en-US"/>
          </a:p>
        </p:txBody>
      </p:sp>
    </p:spTree>
    <p:extLst>
      <p:ext uri="{BB962C8B-B14F-4D97-AF65-F5344CB8AC3E}">
        <p14:creationId xmlns:p14="http://schemas.microsoft.com/office/powerpoint/2010/main" val="2214645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24F4B8AD-EA23-4F73-99C3-D2ED2E8CBB9F}" type="slidenum">
              <a:rPr lang="en-US" smtClean="0"/>
              <a:pPr>
                <a:defRPr/>
              </a:pPr>
              <a:t>‹#›</a:t>
            </a:fld>
            <a:endParaRPr lang="en-US"/>
          </a:p>
        </p:txBody>
      </p:sp>
    </p:spTree>
    <p:extLst>
      <p:ext uri="{BB962C8B-B14F-4D97-AF65-F5344CB8AC3E}">
        <p14:creationId xmlns:p14="http://schemas.microsoft.com/office/powerpoint/2010/main" val="1926437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A2489E20-BF3E-4064-AB18-C9283E1A8C69}" type="slidenum">
              <a:rPr lang="en-US" smtClean="0"/>
              <a:pPr>
                <a:defRPr/>
              </a:pPr>
              <a:t>‹#›</a:t>
            </a:fld>
            <a:endParaRPr lang="en-US"/>
          </a:p>
        </p:txBody>
      </p:sp>
    </p:spTree>
    <p:extLst>
      <p:ext uri="{BB962C8B-B14F-4D97-AF65-F5344CB8AC3E}">
        <p14:creationId xmlns:p14="http://schemas.microsoft.com/office/powerpoint/2010/main" val="3897714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7808866-4F5A-4E1D-9939-E79E5159AB47}" type="slidenum">
              <a:rPr lang="en-US" smtClean="0"/>
              <a:pPr>
                <a:defRPr/>
              </a:pPr>
              <a:t>‹#›</a:t>
            </a:fld>
            <a:endParaRPr lang="en-US"/>
          </a:p>
        </p:txBody>
      </p:sp>
    </p:spTree>
    <p:extLst>
      <p:ext uri="{BB962C8B-B14F-4D97-AF65-F5344CB8AC3E}">
        <p14:creationId xmlns:p14="http://schemas.microsoft.com/office/powerpoint/2010/main" val="2228373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882D035-BE9D-478B-A253-17CADBFC28F7}" type="slidenum">
              <a:rPr lang="en-US" smtClean="0"/>
              <a:pPr>
                <a:defRPr/>
              </a:pPr>
              <a:t>‹#›</a:t>
            </a:fld>
            <a:endParaRPr lang="en-US"/>
          </a:p>
        </p:txBody>
      </p:sp>
    </p:spTree>
    <p:extLst>
      <p:ext uri="{BB962C8B-B14F-4D97-AF65-F5344CB8AC3E}">
        <p14:creationId xmlns:p14="http://schemas.microsoft.com/office/powerpoint/2010/main" val="2536813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02BD472-8B7E-434A-80DB-8A5A0F266030}" type="slidenum">
              <a:rPr lang="en-US" smtClean="0"/>
              <a:pPr>
                <a:defRPr/>
              </a:pPr>
              <a:t>‹#›</a:t>
            </a:fld>
            <a:endParaRPr lang="en-US"/>
          </a:p>
        </p:txBody>
      </p:sp>
    </p:spTree>
    <p:extLst>
      <p:ext uri="{BB962C8B-B14F-4D97-AF65-F5344CB8AC3E}">
        <p14:creationId xmlns:p14="http://schemas.microsoft.com/office/powerpoint/2010/main" val="45550910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02BD472-8B7E-434A-80DB-8A5A0F266030}" type="slidenum">
              <a:rPr lang="en-US" smtClean="0"/>
              <a:pPr>
                <a:defRPr/>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489913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02BD472-8B7E-434A-80DB-8A5A0F266030}" type="slidenum">
              <a:rPr lang="en-US" smtClean="0"/>
              <a:pPr>
                <a:defRPr/>
              </a:pPr>
              <a:t>‹#›</a:t>
            </a:fld>
            <a:endParaRPr lang="en-US"/>
          </a:p>
        </p:txBody>
      </p:sp>
    </p:spTree>
    <p:extLst>
      <p:ext uri="{BB962C8B-B14F-4D97-AF65-F5344CB8AC3E}">
        <p14:creationId xmlns:p14="http://schemas.microsoft.com/office/powerpoint/2010/main" val="121121477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02BD472-8B7E-434A-80DB-8A5A0F266030}" type="slidenum">
              <a:rPr lang="en-US" smtClean="0"/>
              <a:pPr>
                <a:defRPr/>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58413902"/>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02BD472-8B7E-434A-80DB-8A5A0F266030}" type="slidenum">
              <a:rPr lang="en-US" smtClean="0"/>
              <a:pPr>
                <a:defRPr/>
              </a:pPr>
              <a:t>‹#›</a:t>
            </a:fld>
            <a:endParaRPr lang="en-US"/>
          </a:p>
        </p:txBody>
      </p:sp>
    </p:spTree>
    <p:extLst>
      <p:ext uri="{BB962C8B-B14F-4D97-AF65-F5344CB8AC3E}">
        <p14:creationId xmlns:p14="http://schemas.microsoft.com/office/powerpoint/2010/main" val="1256476132"/>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5285AA0-AE0F-4C6C-8BF1-57D7FDC5FA11}" type="slidenum">
              <a:rPr lang="en-US" smtClean="0"/>
              <a:pPr>
                <a:defRPr/>
              </a:pPr>
              <a:t>‹#›</a:t>
            </a:fld>
            <a:endParaRPr lang="en-US"/>
          </a:p>
        </p:txBody>
      </p:sp>
    </p:spTree>
    <p:extLst>
      <p:ext uri="{BB962C8B-B14F-4D97-AF65-F5344CB8AC3E}">
        <p14:creationId xmlns:p14="http://schemas.microsoft.com/office/powerpoint/2010/main" val="6259401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3640702-33FC-465B-8503-1C2A3738A7B9}" type="slidenum">
              <a:rPr lang="en-US" smtClean="0"/>
              <a:pPr>
                <a:defRPr/>
              </a:pPr>
              <a:t>‹#›</a:t>
            </a:fld>
            <a:endParaRPr lang="en-US"/>
          </a:p>
        </p:txBody>
      </p:sp>
    </p:spTree>
    <p:extLst>
      <p:ext uri="{BB962C8B-B14F-4D97-AF65-F5344CB8AC3E}">
        <p14:creationId xmlns:p14="http://schemas.microsoft.com/office/powerpoint/2010/main" val="3728949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pPr>
              <a:defRPr/>
            </a:pPr>
            <a:fld id="{802BD472-8B7E-434A-80DB-8A5A0F266030}" type="slidenum">
              <a:rPr lang="en-US" smtClean="0"/>
              <a:pPr>
                <a:defRPr/>
              </a:pPr>
              <a:t>‹#›</a:t>
            </a:fld>
            <a:endParaRPr lang="en-US"/>
          </a:p>
        </p:txBody>
      </p:sp>
    </p:spTree>
    <p:extLst>
      <p:ext uri="{BB962C8B-B14F-4D97-AF65-F5344CB8AC3E}">
        <p14:creationId xmlns:p14="http://schemas.microsoft.com/office/powerpoint/2010/main" val="1703494726"/>
      </p:ext>
    </p:extLst>
  </p:cSld>
  <p:clrMap bg1="lt1" tx1="dk1" bg2="lt2" tx2="dk2" accent1="accent1" accent2="accent2" accent3="accent3" accent4="accent4" accent5="accent5" accent6="accent6" hlink="hlink" folHlink="folHlink"/>
  <p:sldLayoutIdLst>
    <p:sldLayoutId id="2147484261" r:id="rId1"/>
    <p:sldLayoutId id="2147484262" r:id="rId2"/>
    <p:sldLayoutId id="2147484263" r:id="rId3"/>
    <p:sldLayoutId id="2147484264" r:id="rId4"/>
    <p:sldLayoutId id="2147484265" r:id="rId5"/>
    <p:sldLayoutId id="2147484266" r:id="rId6"/>
    <p:sldLayoutId id="2147484267" r:id="rId7"/>
    <p:sldLayoutId id="2147484268" r:id="rId8"/>
    <p:sldLayoutId id="2147484269" r:id="rId9"/>
    <p:sldLayoutId id="2147484270" r:id="rId10"/>
    <p:sldLayoutId id="2147484271" r:id="rId11"/>
    <p:sldLayoutId id="2147484272" r:id="rId12"/>
    <p:sldLayoutId id="2147484273" r:id="rId13"/>
    <p:sldLayoutId id="2147484274" r:id="rId14"/>
    <p:sldLayoutId id="2147484275" r:id="rId15"/>
    <p:sldLayoutId id="2147484276"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6"/>
          <p:cNvSpPr>
            <a:spLocks noGrp="1" noChangeArrowheads="1"/>
          </p:cNvSpPr>
          <p:nvPr>
            <p:ph type="ctrTitle"/>
          </p:nvPr>
        </p:nvSpPr>
        <p:spPr>
          <a:xfrm>
            <a:off x="503928" y="762000"/>
            <a:ext cx="7968996" cy="2590800"/>
          </a:xfrm>
        </p:spPr>
        <p:txBody>
          <a:bodyPr>
            <a:normAutofit fontScale="90000"/>
          </a:bodyPr>
          <a:lstStyle/>
          <a:p>
            <a:pPr algn="ctr" eaLnBrk="1" hangingPunct="1"/>
            <a:r>
              <a:rPr lang="en-US" dirty="0"/>
              <a:t/>
            </a:r>
            <a:br>
              <a:rPr lang="en-US" dirty="0"/>
            </a:br>
            <a:r>
              <a:rPr lang="en-US" sz="4400" dirty="0">
                <a:solidFill>
                  <a:schemeClr val="tx1"/>
                </a:solidFill>
              </a:rPr>
              <a:t>BBA Program</a:t>
            </a:r>
            <a:br>
              <a:rPr lang="en-US" sz="4400" dirty="0">
                <a:solidFill>
                  <a:schemeClr val="tx1"/>
                </a:solidFill>
              </a:rPr>
            </a:br>
            <a:r>
              <a:rPr lang="en-US" sz="1800" dirty="0">
                <a:solidFill>
                  <a:schemeClr val="tx1"/>
                </a:solidFill>
              </a:rPr>
              <a:t/>
            </a:r>
            <a:br>
              <a:rPr lang="en-US" sz="1800" dirty="0">
                <a:solidFill>
                  <a:schemeClr val="tx1"/>
                </a:solidFill>
              </a:rPr>
            </a:br>
            <a:r>
              <a:rPr lang="en-US" dirty="0">
                <a:solidFill>
                  <a:schemeClr val="tx1"/>
                </a:solidFill>
                <a:latin typeface="Algerian" panose="04020705040A02060702" pitchFamily="82" charset="0"/>
              </a:rPr>
              <a:t>BUS102</a:t>
            </a:r>
            <a:br>
              <a:rPr lang="en-US" dirty="0">
                <a:solidFill>
                  <a:schemeClr val="tx1"/>
                </a:solidFill>
                <a:latin typeface="Algerian" panose="04020705040A02060702" pitchFamily="82" charset="0"/>
              </a:rPr>
            </a:br>
            <a:r>
              <a:rPr lang="en-US" sz="1800" dirty="0">
                <a:solidFill>
                  <a:schemeClr val="tx1"/>
                </a:solidFill>
              </a:rPr>
              <a:t/>
            </a:r>
            <a:br>
              <a:rPr lang="en-US" sz="1800" dirty="0">
                <a:solidFill>
                  <a:schemeClr val="tx1"/>
                </a:solidFill>
              </a:rPr>
            </a:br>
            <a:r>
              <a:rPr lang="en-US" sz="4400" dirty="0" smtClean="0">
                <a:solidFill>
                  <a:schemeClr val="tx1"/>
                </a:solidFill>
              </a:rPr>
              <a:t>Fall</a:t>
            </a:r>
            <a:r>
              <a:rPr lang="en-US" sz="4400" dirty="0" smtClean="0">
                <a:solidFill>
                  <a:schemeClr val="tx1"/>
                </a:solidFill>
              </a:rPr>
              <a:t> </a:t>
            </a:r>
            <a:r>
              <a:rPr lang="en-US" sz="4400" dirty="0" smtClean="0">
                <a:solidFill>
                  <a:schemeClr val="tx1"/>
                </a:solidFill>
              </a:rPr>
              <a:t>2023</a:t>
            </a:r>
            <a:endParaRPr lang="en-US" sz="4400" dirty="0">
              <a:solidFill>
                <a:schemeClr val="tx1"/>
              </a:solidFill>
            </a:endParaRPr>
          </a:p>
        </p:txBody>
      </p:sp>
      <p:sp>
        <p:nvSpPr>
          <p:cNvPr id="3076" name="Rectangle 7"/>
          <p:cNvSpPr>
            <a:spLocks noGrp="1" noChangeArrowheads="1"/>
          </p:cNvSpPr>
          <p:nvPr>
            <p:ph type="subTitle" idx="1"/>
          </p:nvPr>
        </p:nvSpPr>
        <p:spPr>
          <a:xfrm>
            <a:off x="-159774" y="3962400"/>
            <a:ext cx="9296400" cy="2438400"/>
          </a:xfrm>
        </p:spPr>
        <p:txBody>
          <a:bodyPr>
            <a:noAutofit/>
          </a:bodyPr>
          <a:lstStyle/>
          <a:p>
            <a:pPr algn="ctr" eaLnBrk="1" hangingPunct="1">
              <a:spcBef>
                <a:spcPts val="0"/>
              </a:spcBef>
            </a:pPr>
            <a:endParaRPr lang="en-US" sz="1200" dirty="0"/>
          </a:p>
          <a:p>
            <a:pPr algn="ctr">
              <a:spcBef>
                <a:spcPts val="0"/>
              </a:spcBef>
            </a:pPr>
            <a:r>
              <a:rPr lang="en-US" sz="3800" b="1" i="1" dirty="0">
                <a:solidFill>
                  <a:srgbClr val="0000FF"/>
                </a:solidFill>
                <a:latin typeface="+mj-lt"/>
              </a:rPr>
              <a:t>Overviews of:</a:t>
            </a:r>
          </a:p>
          <a:p>
            <a:pPr algn="ctr">
              <a:spcBef>
                <a:spcPts val="0"/>
              </a:spcBef>
            </a:pPr>
            <a:endParaRPr lang="en-US" b="1" i="1" dirty="0">
              <a:solidFill>
                <a:srgbClr val="0000FF"/>
              </a:solidFill>
              <a:latin typeface="+mj-lt"/>
            </a:endParaRPr>
          </a:p>
          <a:p>
            <a:pPr algn="ctr">
              <a:spcBef>
                <a:spcPts val="0"/>
              </a:spcBef>
            </a:pPr>
            <a:r>
              <a:rPr lang="en-US" sz="3800" b="1" i="1" dirty="0" smtClean="0">
                <a:solidFill>
                  <a:srgbClr val="0000FF"/>
                </a:solidFill>
              </a:rPr>
              <a:t>Finance, Financial Environment &amp;</a:t>
            </a:r>
            <a:endParaRPr lang="en-US" sz="3800" b="1" i="1" dirty="0">
              <a:solidFill>
                <a:srgbClr val="0000FF"/>
              </a:solidFill>
            </a:endParaRPr>
          </a:p>
          <a:p>
            <a:pPr algn="ctr" eaLnBrk="1" hangingPunct="1">
              <a:spcBef>
                <a:spcPts val="0"/>
              </a:spcBef>
            </a:pPr>
            <a:r>
              <a:rPr lang="en-US" sz="3800" b="1" i="1" dirty="0">
                <a:solidFill>
                  <a:srgbClr val="0000FF"/>
                </a:solidFill>
                <a:latin typeface="+mj-lt"/>
              </a:rPr>
              <a:t> Financial Management</a:t>
            </a:r>
          </a:p>
        </p:txBody>
      </p:sp>
      <p:pic>
        <p:nvPicPr>
          <p:cNvPr id="4" name="Picture 3"/>
          <p:cNvPicPr/>
          <p:nvPr/>
        </p:nvPicPr>
        <p:blipFill rotWithShape="1">
          <a:blip r:embed="rId3">
            <a:extLst>
              <a:ext uri="{28A0092B-C50C-407E-A947-70E740481C1C}">
                <a14:useLocalDpi xmlns:a14="http://schemas.microsoft.com/office/drawing/2010/main" val="0"/>
              </a:ext>
            </a:extLst>
          </a:blip>
          <a:srcRect l="15110" t="26223" r="11556" b="25778"/>
          <a:stretch/>
        </p:blipFill>
        <p:spPr bwMode="auto">
          <a:xfrm>
            <a:off x="228600" y="152400"/>
            <a:ext cx="1219199" cy="1066800"/>
          </a:xfrm>
          <a:prstGeom prst="rect">
            <a:avLst/>
          </a:prstGeom>
          <a:ln>
            <a:noFill/>
          </a:ln>
          <a:extLst>
            <a:ext uri="{53640926-AAD7-44D8-BBD7-CCE9431645EC}">
              <a14:shadowObscured xmlns:a14="http://schemas.microsoft.com/office/drawing/2010/main"/>
            </a:ext>
          </a:extLst>
        </p:spPr>
      </p:pic>
      <p:pic>
        <p:nvPicPr>
          <p:cNvPr id="5" name="Picture 4"/>
          <p:cNvPicPr/>
          <p:nvPr/>
        </p:nvPicPr>
        <p:blipFill>
          <a:blip r:embed="rId4"/>
          <a:srcRect/>
          <a:stretch>
            <a:fillRect/>
          </a:stretch>
        </p:blipFill>
        <p:spPr bwMode="auto">
          <a:xfrm>
            <a:off x="7543800" y="152400"/>
            <a:ext cx="1371601" cy="1219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9"/>
          <p:cNvSpPr>
            <a:spLocks noGrp="1" noChangeArrowheads="1"/>
          </p:cNvSpPr>
          <p:nvPr>
            <p:ph type="title"/>
          </p:nvPr>
        </p:nvSpPr>
        <p:spPr>
          <a:xfrm>
            <a:off x="457200" y="446868"/>
            <a:ext cx="8229600" cy="772332"/>
          </a:xfrm>
        </p:spPr>
        <p:txBody>
          <a:bodyPr>
            <a:normAutofit/>
          </a:bodyPr>
          <a:lstStyle/>
          <a:p>
            <a:pPr algn="ctr" eaLnBrk="1" hangingPunct="1"/>
            <a:r>
              <a:rPr lang="en-US" b="1" dirty="0" smtClean="0">
                <a:solidFill>
                  <a:srgbClr val="0000FF"/>
                </a:solidFill>
              </a:rPr>
              <a:t>A few Simple Questions</a:t>
            </a:r>
            <a:endParaRPr lang="en-US" b="1" dirty="0">
              <a:solidFill>
                <a:srgbClr val="0000FF"/>
              </a:solidFill>
            </a:endParaRPr>
          </a:p>
        </p:txBody>
      </p:sp>
      <p:sp>
        <p:nvSpPr>
          <p:cNvPr id="4102" name="Rectangle 10"/>
          <p:cNvSpPr>
            <a:spLocks noGrp="1" noChangeArrowheads="1"/>
          </p:cNvSpPr>
          <p:nvPr>
            <p:ph idx="1"/>
          </p:nvPr>
        </p:nvSpPr>
        <p:spPr>
          <a:xfrm>
            <a:off x="457200" y="1371600"/>
            <a:ext cx="8229600" cy="5181600"/>
          </a:xfrm>
        </p:spPr>
        <p:txBody>
          <a:bodyPr>
            <a:normAutofit lnSpcReduction="10000"/>
          </a:bodyPr>
          <a:lstStyle/>
          <a:p>
            <a:pPr marL="457200" marR="0" indent="-457200">
              <a:lnSpc>
                <a:spcPct val="107000"/>
              </a:lnSpc>
              <a:spcBef>
                <a:spcPts val="0"/>
              </a:spcBef>
              <a:spcAft>
                <a:spcPts val="0"/>
              </a:spcAft>
            </a:pPr>
            <a:r>
              <a:rPr lang="en-US" sz="2800" dirty="0" smtClean="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You received Tk100,000 as a gift from your grannies</a:t>
            </a:r>
            <a:r>
              <a:rPr lang="en-US" sz="28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and want to invest it for the next 5 years before you go abroad for higher studies. </a:t>
            </a:r>
          </a:p>
          <a:p>
            <a:pPr marL="0" marR="0" indent="0">
              <a:lnSpc>
                <a:spcPct val="107000"/>
              </a:lnSpc>
              <a:spcBef>
                <a:spcPts val="0"/>
              </a:spcBef>
              <a:spcAft>
                <a:spcPts val="0"/>
              </a:spcAft>
              <a:buNone/>
            </a:pPr>
            <a:endParaRPr lang="en-US" sz="16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857250" lvl="1" indent="-457200">
              <a:lnSpc>
                <a:spcPct val="107000"/>
              </a:lnSpc>
              <a:spcBef>
                <a:spcPts val="0"/>
              </a:spcBef>
            </a:pPr>
            <a:r>
              <a:rPr lang="en-US" sz="2400" b="1" i="1"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What are your choices?</a:t>
            </a:r>
          </a:p>
          <a:p>
            <a:pPr marL="857250" lvl="1" indent="-457200">
              <a:lnSpc>
                <a:spcPct val="107000"/>
              </a:lnSpc>
              <a:spcBef>
                <a:spcPts val="0"/>
              </a:spcBef>
            </a:pPr>
            <a:r>
              <a:rPr lang="en-US" sz="2400" b="1" i="1"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What matters will you consider in making your choice?</a:t>
            </a:r>
          </a:p>
          <a:p>
            <a:pPr marL="400050" lvl="1" indent="0">
              <a:lnSpc>
                <a:spcPct val="107000"/>
              </a:lnSpc>
              <a:spcBef>
                <a:spcPts val="0"/>
              </a:spcBef>
              <a:buNone/>
            </a:pPr>
            <a:endParaRPr lang="en-US" sz="2400" b="1" i="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457200" indent="-457200">
              <a:lnSpc>
                <a:spcPct val="107000"/>
              </a:lnSpc>
              <a:spcBef>
                <a:spcPts val="0"/>
              </a:spcBef>
            </a:pPr>
            <a:r>
              <a:rPr lang="en-US" sz="28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You </a:t>
            </a:r>
            <a:r>
              <a:rPr lang="en-US" sz="28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need </a:t>
            </a:r>
            <a:r>
              <a:rPr lang="en-US" sz="28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Tk100,000 </a:t>
            </a:r>
            <a:r>
              <a:rPr lang="en-US" sz="28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to pay your tuition fee that you do not have now. </a:t>
            </a:r>
            <a:endParaRPr lang="en-US" sz="28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0" indent="0">
              <a:lnSpc>
                <a:spcPct val="107000"/>
              </a:lnSpc>
              <a:spcBef>
                <a:spcPts val="0"/>
              </a:spcBef>
              <a:buNone/>
            </a:pPr>
            <a:endParaRPr lang="en-US" sz="16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857250" lvl="1" indent="-457200">
              <a:lnSpc>
                <a:spcPct val="107000"/>
              </a:lnSpc>
              <a:spcBef>
                <a:spcPts val="0"/>
              </a:spcBef>
            </a:pPr>
            <a:r>
              <a:rPr lang="en-US" sz="2400" b="1" i="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What are your choices?</a:t>
            </a:r>
          </a:p>
          <a:p>
            <a:pPr marL="857250" lvl="1" indent="-457200">
              <a:lnSpc>
                <a:spcPct val="107000"/>
              </a:lnSpc>
              <a:spcBef>
                <a:spcPts val="0"/>
              </a:spcBef>
            </a:pPr>
            <a:r>
              <a:rPr lang="en-US" sz="2400" b="1" i="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What matters will you consider in making your choice?</a:t>
            </a:r>
          </a:p>
          <a:p>
            <a:pPr marL="457200" marR="0" indent="-457200">
              <a:lnSpc>
                <a:spcPct val="107000"/>
              </a:lnSpc>
              <a:spcBef>
                <a:spcPts val="0"/>
              </a:spcBef>
              <a:spcAft>
                <a:spcPts val="0"/>
              </a:spcAft>
            </a:pPr>
            <a:endParaRPr lang="en-US" sz="2800" b="1"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457200" marR="0" indent="-457200">
              <a:lnSpc>
                <a:spcPct val="107000"/>
              </a:lnSpc>
              <a:spcBef>
                <a:spcPts val="0"/>
              </a:spcBef>
              <a:spcAft>
                <a:spcPts val="0"/>
              </a:spcAft>
              <a:buNone/>
            </a:pPr>
            <a:endParaRPr lang="en-US" sz="1700" dirty="0">
              <a:effectLst/>
              <a:latin typeface="+mj-lt"/>
              <a:ea typeface="Calibri" panose="020F0502020204030204" pitchFamily="34" charset="0"/>
              <a:cs typeface="Times New Roman" panose="02020603050405020304" pitchFamily="18" charset="0"/>
            </a:endParaRPr>
          </a:p>
          <a:p>
            <a:pPr eaLnBrk="1" hangingPunct="1"/>
            <a:endParaRPr lang="en-US" dirty="0"/>
          </a:p>
        </p:txBody>
      </p:sp>
      <p:sp>
        <p:nvSpPr>
          <p:cNvPr id="7"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CF1985C0-D56F-477E-A5B7-B5A717BFBE01}" type="slidenum">
              <a:rPr lang="en-US"/>
              <a:pPr>
                <a:defRPr/>
              </a:pPr>
              <a:t>2</a:t>
            </a:fld>
            <a:endParaRPr lang="en-US" dirty="0"/>
          </a:p>
        </p:txBody>
      </p:sp>
      <p:sp>
        <p:nvSpPr>
          <p:cNvPr id="4099"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dirty="0"/>
          </a:p>
        </p:txBody>
      </p:sp>
      <p:sp>
        <p:nvSpPr>
          <p:cNvPr id="4100"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dirty="0"/>
          </a:p>
        </p:txBody>
      </p:sp>
    </p:spTree>
    <p:extLst>
      <p:ext uri="{BB962C8B-B14F-4D97-AF65-F5344CB8AC3E}">
        <p14:creationId xmlns:p14="http://schemas.microsoft.com/office/powerpoint/2010/main" val="3021535257"/>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9"/>
          <p:cNvSpPr>
            <a:spLocks noGrp="1" noChangeArrowheads="1"/>
          </p:cNvSpPr>
          <p:nvPr>
            <p:ph type="title"/>
          </p:nvPr>
        </p:nvSpPr>
        <p:spPr>
          <a:xfrm>
            <a:off x="457200" y="446868"/>
            <a:ext cx="8229600" cy="772332"/>
          </a:xfrm>
        </p:spPr>
        <p:txBody>
          <a:bodyPr>
            <a:normAutofit/>
          </a:bodyPr>
          <a:lstStyle/>
          <a:p>
            <a:pPr algn="ctr" eaLnBrk="1" hangingPunct="1"/>
            <a:r>
              <a:rPr lang="en-US" b="1" dirty="0" smtClean="0">
                <a:solidFill>
                  <a:srgbClr val="0000FF"/>
                </a:solidFill>
              </a:rPr>
              <a:t>A few Simple Problems and Questions</a:t>
            </a:r>
            <a:endParaRPr lang="en-US" b="1" dirty="0">
              <a:solidFill>
                <a:srgbClr val="0000FF"/>
              </a:solidFill>
            </a:endParaRPr>
          </a:p>
        </p:txBody>
      </p:sp>
      <p:sp>
        <p:nvSpPr>
          <p:cNvPr id="4102" name="Rectangle 10"/>
          <p:cNvSpPr>
            <a:spLocks noGrp="1" noChangeArrowheads="1"/>
          </p:cNvSpPr>
          <p:nvPr>
            <p:ph idx="1"/>
          </p:nvPr>
        </p:nvSpPr>
        <p:spPr>
          <a:xfrm>
            <a:off x="457200" y="1371600"/>
            <a:ext cx="8229600" cy="5181600"/>
          </a:xfrm>
        </p:spPr>
        <p:txBody>
          <a:bodyPr>
            <a:normAutofit/>
          </a:bodyPr>
          <a:lstStyle/>
          <a:p>
            <a:pPr marL="457200" marR="0" indent="-457200">
              <a:lnSpc>
                <a:spcPct val="107000"/>
              </a:lnSpc>
              <a:spcBef>
                <a:spcPts val="0"/>
              </a:spcBef>
              <a:spcAft>
                <a:spcPts val="0"/>
              </a:spcAft>
            </a:pPr>
            <a:r>
              <a:rPr lang="en-US" sz="2800" dirty="0" smtClean="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Suppose you put Tk10,000 in a deposit account at BRAC </a:t>
            </a:r>
            <a:r>
              <a:rPr lang="en-US" sz="28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Bank. </a:t>
            </a:r>
          </a:p>
          <a:p>
            <a:pPr marL="0" marR="0" indent="0">
              <a:lnSpc>
                <a:spcPct val="107000"/>
              </a:lnSpc>
              <a:spcBef>
                <a:spcPts val="0"/>
              </a:spcBef>
              <a:spcAft>
                <a:spcPts val="0"/>
              </a:spcAft>
              <a:buNone/>
            </a:pPr>
            <a:endParaRPr lang="en-US" sz="16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857250" lvl="1" indent="-457200">
              <a:lnSpc>
                <a:spcPct val="107000"/>
              </a:lnSpc>
              <a:spcBef>
                <a:spcPts val="0"/>
              </a:spcBef>
            </a:pPr>
            <a:r>
              <a:rPr lang="en-US" sz="2400" b="1" i="1"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How much you expect to receive after 5 years if you earn 10% simple interest annually?</a:t>
            </a:r>
          </a:p>
          <a:p>
            <a:pPr marL="400050" lvl="1" indent="0">
              <a:lnSpc>
                <a:spcPct val="107000"/>
              </a:lnSpc>
              <a:spcBef>
                <a:spcPts val="0"/>
              </a:spcBef>
              <a:buNone/>
            </a:pPr>
            <a:r>
              <a:rPr lang="en-US" sz="26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a:t>
            </a:r>
            <a:r>
              <a:rPr lang="en-US" sz="12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a:t>
            </a:r>
          </a:p>
          <a:p>
            <a:pPr marL="400050" lvl="1" indent="0">
              <a:lnSpc>
                <a:spcPct val="107000"/>
              </a:lnSpc>
              <a:spcBef>
                <a:spcPts val="0"/>
              </a:spcBef>
              <a:buNone/>
            </a:pPr>
            <a:r>
              <a:rPr lang="en-US" sz="12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a:t>
            </a:r>
            <a:endParaRPr lang="en-US" sz="12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857250" lvl="1" indent="-457200">
              <a:lnSpc>
                <a:spcPct val="107000"/>
              </a:lnSpc>
              <a:spcBef>
                <a:spcPts val="0"/>
              </a:spcBef>
            </a:pPr>
            <a:r>
              <a:rPr lang="en-US" sz="2400" b="1" i="1"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How </a:t>
            </a:r>
            <a:r>
              <a:rPr lang="en-US" sz="2400" b="1" i="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much you expect to receive after 5 years if you earn 10</a:t>
            </a:r>
            <a:r>
              <a:rPr lang="en-US" sz="2400" b="1" i="1"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interest compounded annually?</a:t>
            </a:r>
            <a:endParaRPr lang="en-US" sz="2400" b="1" i="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0" indent="0">
              <a:buNone/>
            </a:pPr>
            <a:r>
              <a:rPr lang="en-US" sz="2800" b="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a:t>
            </a:r>
            <a:r>
              <a:rPr lang="en-US" sz="2800" b="1"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a:t>
            </a:r>
            <a:endParaRPr lang="en-US" dirty="0"/>
          </a:p>
        </p:txBody>
      </p:sp>
      <p:sp>
        <p:nvSpPr>
          <p:cNvPr id="7"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CF1985C0-D56F-477E-A5B7-B5A717BFBE01}" type="slidenum">
              <a:rPr lang="en-US"/>
              <a:pPr>
                <a:defRPr/>
              </a:pPr>
              <a:t>3</a:t>
            </a:fld>
            <a:endParaRPr lang="en-US" dirty="0"/>
          </a:p>
        </p:txBody>
      </p:sp>
      <p:sp>
        <p:nvSpPr>
          <p:cNvPr id="4099"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dirty="0"/>
          </a:p>
        </p:txBody>
      </p:sp>
      <p:sp>
        <p:nvSpPr>
          <p:cNvPr id="4100"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dirty="0"/>
          </a:p>
        </p:txBody>
      </p:sp>
    </p:spTree>
    <p:extLst>
      <p:ext uri="{BB962C8B-B14F-4D97-AF65-F5344CB8AC3E}">
        <p14:creationId xmlns:p14="http://schemas.microsoft.com/office/powerpoint/2010/main" val="987154509"/>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9"/>
          <p:cNvSpPr>
            <a:spLocks noGrp="1" noChangeArrowheads="1"/>
          </p:cNvSpPr>
          <p:nvPr>
            <p:ph type="title"/>
          </p:nvPr>
        </p:nvSpPr>
        <p:spPr>
          <a:xfrm>
            <a:off x="457200" y="446868"/>
            <a:ext cx="8229600" cy="772332"/>
          </a:xfrm>
        </p:spPr>
        <p:txBody>
          <a:bodyPr>
            <a:normAutofit/>
          </a:bodyPr>
          <a:lstStyle/>
          <a:p>
            <a:pPr algn="ctr" eaLnBrk="1" hangingPunct="1"/>
            <a:r>
              <a:rPr lang="en-US" b="1" dirty="0" smtClean="0">
                <a:solidFill>
                  <a:srgbClr val="0000FF"/>
                </a:solidFill>
              </a:rPr>
              <a:t>A few Simple Problems and Questions</a:t>
            </a:r>
            <a:endParaRPr lang="en-US" b="1" dirty="0">
              <a:solidFill>
                <a:srgbClr val="0000FF"/>
              </a:solidFill>
            </a:endParaRPr>
          </a:p>
        </p:txBody>
      </p:sp>
      <p:sp>
        <p:nvSpPr>
          <p:cNvPr id="4102" name="Rectangle 10"/>
          <p:cNvSpPr>
            <a:spLocks noGrp="1" noChangeArrowheads="1"/>
          </p:cNvSpPr>
          <p:nvPr>
            <p:ph idx="1"/>
          </p:nvPr>
        </p:nvSpPr>
        <p:spPr>
          <a:xfrm>
            <a:off x="457200" y="1371600"/>
            <a:ext cx="8534400" cy="5176684"/>
          </a:xfrm>
        </p:spPr>
        <p:txBody>
          <a:bodyPr>
            <a:noAutofit/>
          </a:bodyPr>
          <a:lstStyle/>
          <a:p>
            <a:pPr marL="457200" indent="-457200">
              <a:lnSpc>
                <a:spcPct val="107000"/>
              </a:lnSpc>
              <a:spcBef>
                <a:spcPts val="0"/>
              </a:spcBef>
            </a:pPr>
            <a:r>
              <a:rPr lang="en-US" sz="2400" dirty="0" smtClean="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Suppose you </a:t>
            </a:r>
            <a:r>
              <a:rPr lang="en-US" sz="24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can buy a </a:t>
            </a:r>
            <a:r>
              <a:rPr lang="en-US" sz="2400" dirty="0" err="1"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Shanchaypatra</a:t>
            </a:r>
            <a:r>
              <a:rPr lang="en-US" sz="24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and earn </a:t>
            </a:r>
            <a:r>
              <a:rPr lang="en-US" sz="24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10% interest compounded </a:t>
            </a:r>
            <a:r>
              <a:rPr lang="en-US" sz="24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annually for 5 years, or </a:t>
            </a:r>
          </a:p>
          <a:p>
            <a:pPr marL="457200" indent="-457200">
              <a:lnSpc>
                <a:spcPct val="107000"/>
              </a:lnSpc>
              <a:spcBef>
                <a:spcPts val="0"/>
              </a:spcBef>
            </a:pPr>
            <a:r>
              <a:rPr lang="en-US" sz="24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You </a:t>
            </a:r>
            <a:r>
              <a:rPr lang="en-US" sz="24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can </a:t>
            </a:r>
            <a:r>
              <a:rPr lang="en-US" sz="24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make a deposit </a:t>
            </a:r>
            <a:r>
              <a:rPr lang="en-US" sz="24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at BRAC </a:t>
            </a:r>
            <a:r>
              <a:rPr lang="en-US" sz="24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Bank and earn 10</a:t>
            </a:r>
            <a:r>
              <a:rPr lang="en-US" sz="24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interest compounded </a:t>
            </a:r>
            <a:r>
              <a:rPr lang="en-US" sz="24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annually for 5 years.</a:t>
            </a:r>
          </a:p>
          <a:p>
            <a:pPr marL="0" indent="0">
              <a:lnSpc>
                <a:spcPct val="107000"/>
              </a:lnSpc>
              <a:spcBef>
                <a:spcPts val="0"/>
              </a:spcBef>
              <a:buNone/>
            </a:pPr>
            <a:endParaRPr lang="en-US" sz="12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857250" lvl="1" indent="-457200">
              <a:lnSpc>
                <a:spcPct val="107000"/>
              </a:lnSpc>
              <a:spcBef>
                <a:spcPts val="0"/>
              </a:spcBef>
            </a:pPr>
            <a:r>
              <a:rPr lang="en-US" sz="2400" b="1"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Which saving/investment will you prefer? Why?</a:t>
            </a:r>
            <a:endParaRPr lang="en-US" sz="2400" b="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457200" indent="-457200">
              <a:lnSpc>
                <a:spcPct val="107000"/>
              </a:lnSpc>
              <a:spcBef>
                <a:spcPts val="0"/>
              </a:spcBef>
            </a:pPr>
            <a:endParaRPr lang="en-US" sz="16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457200" indent="-457200">
              <a:lnSpc>
                <a:spcPct val="107000"/>
              </a:lnSpc>
              <a:spcBef>
                <a:spcPts val="0"/>
              </a:spcBef>
            </a:pPr>
            <a:r>
              <a:rPr lang="en-US" sz="24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Suppose you </a:t>
            </a:r>
            <a:r>
              <a:rPr lang="en-US" sz="24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are deciding whether to invest in  META or in TSLA and have collected the following info:</a:t>
            </a:r>
          </a:p>
          <a:p>
            <a:pPr marL="457200" indent="-457200">
              <a:lnSpc>
                <a:spcPct val="107000"/>
              </a:lnSpc>
              <a:spcBef>
                <a:spcPts val="0"/>
              </a:spcBef>
            </a:pPr>
            <a:endParaRPr lang="en-US" sz="24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0" indent="0">
              <a:lnSpc>
                <a:spcPct val="107000"/>
              </a:lnSpc>
              <a:spcBef>
                <a:spcPts val="0"/>
              </a:spcBef>
              <a:buNone/>
            </a:pPr>
            <a:endParaRPr lang="en-US" sz="24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0" indent="0">
              <a:lnSpc>
                <a:spcPct val="107000"/>
              </a:lnSpc>
              <a:spcBef>
                <a:spcPts val="0"/>
              </a:spcBef>
              <a:buNone/>
            </a:pPr>
            <a:endParaRPr lang="en-US" sz="24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400050" lvl="1" indent="0">
              <a:lnSpc>
                <a:spcPct val="107000"/>
              </a:lnSpc>
              <a:spcBef>
                <a:spcPts val="0"/>
              </a:spcBef>
              <a:buNone/>
            </a:pPr>
            <a:endParaRPr lang="en-US" sz="1200" b="1"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857250" lvl="1" indent="-457200">
              <a:lnSpc>
                <a:spcPct val="107000"/>
              </a:lnSpc>
              <a:spcBef>
                <a:spcPts val="0"/>
              </a:spcBef>
            </a:pPr>
            <a:endParaRPr lang="en-US" sz="1200" b="1"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857250" lvl="1" indent="-457200">
              <a:lnSpc>
                <a:spcPct val="107000"/>
              </a:lnSpc>
              <a:spcBef>
                <a:spcPts val="0"/>
              </a:spcBef>
            </a:pPr>
            <a:r>
              <a:rPr lang="en-US" sz="2400" b="1"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Which stock </a:t>
            </a:r>
            <a:r>
              <a:rPr lang="en-US" sz="2400" b="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will you prefer? Why</a:t>
            </a:r>
            <a:r>
              <a:rPr lang="en-US" sz="2400" b="1"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a:t>
            </a:r>
            <a:endParaRPr lang="en-US" sz="2400" b="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7"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CF1985C0-D56F-477E-A5B7-B5A717BFBE01}" type="slidenum">
              <a:rPr lang="en-US"/>
              <a:pPr>
                <a:defRPr/>
              </a:pPr>
              <a:t>4</a:t>
            </a:fld>
            <a:endParaRPr lang="en-US" dirty="0"/>
          </a:p>
        </p:txBody>
      </p:sp>
      <p:sp>
        <p:nvSpPr>
          <p:cNvPr id="4099"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dirty="0"/>
          </a:p>
        </p:txBody>
      </p:sp>
      <p:sp>
        <p:nvSpPr>
          <p:cNvPr id="4100"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233489477"/>
              </p:ext>
            </p:extLst>
          </p:nvPr>
        </p:nvGraphicFramePr>
        <p:xfrm>
          <a:off x="1143000" y="4788733"/>
          <a:ext cx="6096000" cy="11125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504630318"/>
                    </a:ext>
                  </a:extLst>
                </a:gridCol>
                <a:gridCol w="2006600">
                  <a:extLst>
                    <a:ext uri="{9D8B030D-6E8A-4147-A177-3AD203B41FA5}">
                      <a16:colId xmlns:a16="http://schemas.microsoft.com/office/drawing/2014/main" val="1110642539"/>
                    </a:ext>
                  </a:extLst>
                </a:gridCol>
                <a:gridCol w="2032000">
                  <a:extLst>
                    <a:ext uri="{9D8B030D-6E8A-4147-A177-3AD203B41FA5}">
                      <a16:colId xmlns:a16="http://schemas.microsoft.com/office/drawing/2014/main" val="2819229458"/>
                    </a:ext>
                  </a:extLst>
                </a:gridCol>
              </a:tblGrid>
              <a:tr h="370840">
                <a:tc>
                  <a:txBody>
                    <a:bodyPr/>
                    <a:lstStyle/>
                    <a:p>
                      <a:pPr algn="ctr"/>
                      <a:r>
                        <a:rPr lang="en-US" dirty="0" smtClean="0">
                          <a:solidFill>
                            <a:schemeClr val="tx1"/>
                          </a:solidFill>
                        </a:rPr>
                        <a:t>Stock</a:t>
                      </a:r>
                      <a:endParaRPr lang="en-US" dirty="0">
                        <a:solidFill>
                          <a:schemeClr val="tx1"/>
                        </a:solidFill>
                      </a:endParaRPr>
                    </a:p>
                  </a:txBody>
                  <a:tcPr/>
                </a:tc>
                <a:tc>
                  <a:txBody>
                    <a:bodyPr/>
                    <a:lstStyle/>
                    <a:p>
                      <a:pPr algn="ctr"/>
                      <a:r>
                        <a:rPr lang="en-US" dirty="0" smtClean="0">
                          <a:solidFill>
                            <a:schemeClr val="tx1"/>
                          </a:solidFill>
                        </a:rPr>
                        <a:t>Expected Return</a:t>
                      </a:r>
                      <a:endParaRPr lang="en-US" dirty="0">
                        <a:solidFill>
                          <a:schemeClr val="tx1"/>
                        </a:solidFill>
                      </a:endParaRPr>
                    </a:p>
                  </a:txBody>
                  <a:tcPr/>
                </a:tc>
                <a:tc>
                  <a:txBody>
                    <a:bodyPr/>
                    <a:lstStyle/>
                    <a:p>
                      <a:pPr algn="ctr"/>
                      <a:r>
                        <a:rPr lang="en-US" dirty="0" smtClean="0">
                          <a:solidFill>
                            <a:schemeClr val="tx1"/>
                          </a:solidFill>
                        </a:rPr>
                        <a:t>Expected Risk</a:t>
                      </a:r>
                      <a:endParaRPr lang="en-US" dirty="0">
                        <a:solidFill>
                          <a:schemeClr val="tx1"/>
                        </a:solidFill>
                      </a:endParaRPr>
                    </a:p>
                  </a:txBody>
                  <a:tcPr/>
                </a:tc>
                <a:extLst>
                  <a:ext uri="{0D108BD9-81ED-4DB2-BD59-A6C34878D82A}">
                    <a16:rowId xmlns:a16="http://schemas.microsoft.com/office/drawing/2014/main" val="3601586393"/>
                  </a:ext>
                </a:extLst>
              </a:tr>
              <a:tr h="370840">
                <a:tc>
                  <a:txBody>
                    <a:bodyPr/>
                    <a:lstStyle/>
                    <a:p>
                      <a:pPr algn="ctr"/>
                      <a:r>
                        <a:rPr lang="en-US" dirty="0" smtClean="0">
                          <a:solidFill>
                            <a:schemeClr val="tx1"/>
                          </a:solidFill>
                        </a:rPr>
                        <a:t>META</a:t>
                      </a:r>
                      <a:endParaRPr lang="en-US" dirty="0">
                        <a:solidFill>
                          <a:schemeClr val="tx1"/>
                        </a:solidFill>
                      </a:endParaRPr>
                    </a:p>
                  </a:txBody>
                  <a:tcPr/>
                </a:tc>
                <a:tc>
                  <a:txBody>
                    <a:bodyPr/>
                    <a:lstStyle/>
                    <a:p>
                      <a:pPr algn="ctr"/>
                      <a:r>
                        <a:rPr lang="en-US" dirty="0" smtClean="0">
                          <a:solidFill>
                            <a:schemeClr val="tx1"/>
                          </a:solidFill>
                        </a:rPr>
                        <a:t>15%</a:t>
                      </a:r>
                      <a:endParaRPr lang="en-US" dirty="0">
                        <a:solidFill>
                          <a:schemeClr val="tx1"/>
                        </a:solidFill>
                      </a:endParaRPr>
                    </a:p>
                  </a:txBody>
                  <a:tcPr/>
                </a:tc>
                <a:tc>
                  <a:txBody>
                    <a:bodyPr/>
                    <a:lstStyle/>
                    <a:p>
                      <a:pPr algn="ctr"/>
                      <a:r>
                        <a:rPr lang="en-US" dirty="0" smtClean="0">
                          <a:solidFill>
                            <a:schemeClr val="tx1"/>
                          </a:solidFill>
                        </a:rPr>
                        <a:t>10%</a:t>
                      </a:r>
                      <a:endParaRPr lang="en-US" dirty="0">
                        <a:solidFill>
                          <a:schemeClr val="tx1"/>
                        </a:solidFill>
                      </a:endParaRPr>
                    </a:p>
                  </a:txBody>
                  <a:tcPr/>
                </a:tc>
                <a:extLst>
                  <a:ext uri="{0D108BD9-81ED-4DB2-BD59-A6C34878D82A}">
                    <a16:rowId xmlns:a16="http://schemas.microsoft.com/office/drawing/2014/main" val="220709051"/>
                  </a:ext>
                </a:extLst>
              </a:tr>
              <a:tr h="370840">
                <a:tc>
                  <a:txBody>
                    <a:bodyPr/>
                    <a:lstStyle/>
                    <a:p>
                      <a:pPr algn="ctr"/>
                      <a:r>
                        <a:rPr lang="en-US" dirty="0" smtClean="0">
                          <a:solidFill>
                            <a:schemeClr val="tx1"/>
                          </a:solidFill>
                        </a:rPr>
                        <a:t>TSLA</a:t>
                      </a:r>
                      <a:endParaRPr lang="en-US" dirty="0">
                        <a:solidFill>
                          <a:schemeClr val="tx1"/>
                        </a:solidFill>
                      </a:endParaRPr>
                    </a:p>
                  </a:txBody>
                  <a:tcPr/>
                </a:tc>
                <a:tc>
                  <a:txBody>
                    <a:bodyPr/>
                    <a:lstStyle/>
                    <a:p>
                      <a:pPr algn="ctr"/>
                      <a:r>
                        <a:rPr lang="en-US" dirty="0" smtClean="0">
                          <a:solidFill>
                            <a:schemeClr val="tx1"/>
                          </a:solidFill>
                        </a:rPr>
                        <a:t>20%</a:t>
                      </a:r>
                      <a:endParaRPr lang="en-US" dirty="0">
                        <a:solidFill>
                          <a:schemeClr val="tx1"/>
                        </a:solidFill>
                      </a:endParaRPr>
                    </a:p>
                  </a:txBody>
                  <a:tcPr/>
                </a:tc>
                <a:tc>
                  <a:txBody>
                    <a:bodyPr/>
                    <a:lstStyle/>
                    <a:p>
                      <a:pPr algn="ctr"/>
                      <a:r>
                        <a:rPr lang="en-US" dirty="0" smtClean="0">
                          <a:solidFill>
                            <a:schemeClr val="tx1"/>
                          </a:solidFill>
                        </a:rPr>
                        <a:t>15%</a:t>
                      </a:r>
                      <a:endParaRPr lang="en-US" dirty="0">
                        <a:solidFill>
                          <a:schemeClr val="tx1"/>
                        </a:solidFill>
                      </a:endParaRPr>
                    </a:p>
                  </a:txBody>
                  <a:tcPr/>
                </a:tc>
                <a:extLst>
                  <a:ext uri="{0D108BD9-81ED-4DB2-BD59-A6C34878D82A}">
                    <a16:rowId xmlns:a16="http://schemas.microsoft.com/office/drawing/2014/main" val="2543381393"/>
                  </a:ext>
                </a:extLst>
              </a:tr>
            </a:tbl>
          </a:graphicData>
        </a:graphic>
      </p:graphicFrame>
    </p:spTree>
    <p:extLst>
      <p:ext uri="{BB962C8B-B14F-4D97-AF65-F5344CB8AC3E}">
        <p14:creationId xmlns:p14="http://schemas.microsoft.com/office/powerpoint/2010/main" val="3413781550"/>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9"/>
          <p:cNvSpPr>
            <a:spLocks noGrp="1" noChangeArrowheads="1"/>
          </p:cNvSpPr>
          <p:nvPr>
            <p:ph type="title"/>
          </p:nvPr>
        </p:nvSpPr>
        <p:spPr>
          <a:xfrm>
            <a:off x="457200" y="446868"/>
            <a:ext cx="8229600" cy="850392"/>
          </a:xfrm>
        </p:spPr>
        <p:txBody>
          <a:bodyPr>
            <a:normAutofit/>
          </a:bodyPr>
          <a:lstStyle/>
          <a:p>
            <a:pPr algn="ctr" eaLnBrk="1" hangingPunct="1"/>
            <a:r>
              <a:rPr lang="en-US" sz="4800" b="1" dirty="0">
                <a:solidFill>
                  <a:srgbClr val="0000FF"/>
                </a:solidFill>
              </a:rPr>
              <a:t>Major Topics of Discussion</a:t>
            </a:r>
          </a:p>
        </p:txBody>
      </p:sp>
      <p:sp>
        <p:nvSpPr>
          <p:cNvPr id="4102" name="Rectangle 10"/>
          <p:cNvSpPr>
            <a:spLocks noGrp="1" noChangeArrowheads="1"/>
          </p:cNvSpPr>
          <p:nvPr>
            <p:ph idx="1"/>
          </p:nvPr>
        </p:nvSpPr>
        <p:spPr>
          <a:xfrm>
            <a:off x="457200" y="1600200"/>
            <a:ext cx="8534400" cy="4953000"/>
          </a:xfrm>
        </p:spPr>
        <p:txBody>
          <a:bodyPr>
            <a:normAutofit lnSpcReduction="10000"/>
          </a:bodyPr>
          <a:lstStyle/>
          <a:p>
            <a:pPr marL="457200" marR="0" indent="-457200">
              <a:lnSpc>
                <a:spcPct val="107000"/>
              </a:lnSpc>
              <a:spcBef>
                <a:spcPts val="0"/>
              </a:spcBef>
              <a:spcAft>
                <a:spcPts val="0"/>
              </a:spcAft>
            </a:pPr>
            <a:r>
              <a:rPr lang="en-US" sz="3600" b="1" dirty="0" smtClean="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What </a:t>
            </a:r>
            <a:r>
              <a:rPr lang="en-US" sz="3600" b="1"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is Finance?</a:t>
            </a:r>
          </a:p>
          <a:p>
            <a:pPr marL="457200" marR="0" indent="-457200">
              <a:lnSpc>
                <a:spcPct val="107000"/>
              </a:lnSpc>
              <a:spcBef>
                <a:spcPts val="0"/>
              </a:spcBef>
              <a:spcAft>
                <a:spcPts val="0"/>
              </a:spcAft>
            </a:pPr>
            <a:endParaRPr lang="en-US" sz="1600"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endParaRPr>
          </a:p>
          <a:p>
            <a:pPr marL="457200" indent="-457200">
              <a:lnSpc>
                <a:spcPct val="107000"/>
              </a:lnSpc>
              <a:spcBef>
                <a:spcPts val="0"/>
              </a:spcBef>
            </a:pPr>
            <a:r>
              <a:rPr lang="en-US" sz="3600" b="1"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 Major Fields of Finance</a:t>
            </a:r>
          </a:p>
          <a:p>
            <a:pPr marL="457200" indent="-457200">
              <a:lnSpc>
                <a:spcPct val="107000"/>
              </a:lnSpc>
              <a:spcBef>
                <a:spcPts val="0"/>
              </a:spcBef>
              <a:buNone/>
            </a:pPr>
            <a:endParaRPr lang="en-US" sz="1600" b="1"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endParaRPr>
          </a:p>
          <a:p>
            <a:pPr marL="457200" indent="-457200">
              <a:lnSpc>
                <a:spcPct val="107000"/>
              </a:lnSpc>
              <a:spcBef>
                <a:spcPts val="0"/>
              </a:spcBef>
            </a:pPr>
            <a:r>
              <a:rPr lang="en-US" sz="3600" b="1"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Interrelationships with other Fields of Business Administration</a:t>
            </a:r>
            <a:endParaRPr lang="en-US" sz="1700" b="1"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endParaRPr>
          </a:p>
          <a:p>
            <a:pPr marL="457200" marR="0" indent="-457200">
              <a:lnSpc>
                <a:spcPct val="107000"/>
              </a:lnSpc>
              <a:spcBef>
                <a:spcPts val="0"/>
              </a:spcBef>
              <a:spcAft>
                <a:spcPts val="0"/>
              </a:spcAft>
            </a:pPr>
            <a:endParaRPr lang="en-US" sz="1600"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endParaRPr>
          </a:p>
          <a:p>
            <a:pPr marL="457200" marR="0" indent="-457200">
              <a:lnSpc>
                <a:spcPct val="107000"/>
              </a:lnSpc>
              <a:spcBef>
                <a:spcPts val="0"/>
              </a:spcBef>
              <a:spcAft>
                <a:spcPts val="0"/>
              </a:spcAft>
            </a:pPr>
            <a:r>
              <a:rPr lang="en-US" sz="3600" b="1" dirty="0" smtClean="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Career </a:t>
            </a:r>
            <a:r>
              <a:rPr lang="en-US" sz="3600" b="1"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Opportunities in Finance</a:t>
            </a:r>
          </a:p>
          <a:p>
            <a:pPr marL="457200" marR="0" indent="-457200">
              <a:lnSpc>
                <a:spcPct val="107000"/>
              </a:lnSpc>
              <a:spcBef>
                <a:spcPts val="0"/>
              </a:spcBef>
              <a:spcAft>
                <a:spcPts val="0"/>
              </a:spcAft>
              <a:buNone/>
            </a:pPr>
            <a:endParaRPr lang="en-US" sz="1700" b="1"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endParaRPr>
          </a:p>
          <a:p>
            <a:pPr marL="457200" marR="0" indent="-457200">
              <a:lnSpc>
                <a:spcPct val="107000"/>
              </a:lnSpc>
              <a:spcBef>
                <a:spcPts val="0"/>
              </a:spcBef>
              <a:spcAft>
                <a:spcPts val="0"/>
              </a:spcAft>
            </a:pPr>
            <a:r>
              <a:rPr lang="en-US" sz="3600" b="1"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Essential Knowledge, Skills and Abilities for Success</a:t>
            </a:r>
          </a:p>
          <a:p>
            <a:pPr marL="457200" marR="0" indent="-457200">
              <a:lnSpc>
                <a:spcPct val="107000"/>
              </a:lnSpc>
              <a:spcBef>
                <a:spcPts val="0"/>
              </a:spcBef>
              <a:spcAft>
                <a:spcPts val="0"/>
              </a:spcAft>
              <a:buNone/>
            </a:pPr>
            <a:endParaRPr lang="en-US" sz="1700" dirty="0">
              <a:effectLst/>
              <a:latin typeface="+mj-lt"/>
              <a:ea typeface="Calibri" panose="020F0502020204030204" pitchFamily="34" charset="0"/>
              <a:cs typeface="Times New Roman" panose="02020603050405020304" pitchFamily="18" charset="0"/>
            </a:endParaRPr>
          </a:p>
          <a:p>
            <a:pPr eaLnBrk="1" hangingPunct="1"/>
            <a:endParaRPr lang="en-US" dirty="0"/>
          </a:p>
        </p:txBody>
      </p:sp>
      <p:sp>
        <p:nvSpPr>
          <p:cNvPr id="7"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CF1985C0-D56F-477E-A5B7-B5A717BFBE01}" type="slidenum">
              <a:rPr lang="en-US"/>
              <a:pPr>
                <a:defRPr/>
              </a:pPr>
              <a:t>5</a:t>
            </a:fld>
            <a:endParaRPr lang="en-US" dirty="0"/>
          </a:p>
        </p:txBody>
      </p:sp>
      <p:sp>
        <p:nvSpPr>
          <p:cNvPr id="4099"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dirty="0"/>
          </a:p>
        </p:txBody>
      </p:sp>
      <p:sp>
        <p:nvSpPr>
          <p:cNvPr id="4100"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dirty="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Rectangle 10"/>
          <p:cNvSpPr>
            <a:spLocks noGrp="1" noChangeArrowheads="1"/>
          </p:cNvSpPr>
          <p:nvPr>
            <p:ph idx="1"/>
          </p:nvPr>
        </p:nvSpPr>
        <p:spPr>
          <a:xfrm>
            <a:off x="152400" y="1524000"/>
            <a:ext cx="8839200" cy="5181600"/>
          </a:xfrm>
        </p:spPr>
        <p:txBody>
          <a:bodyPr>
            <a:normAutofit/>
          </a:bodyPr>
          <a:lstStyle/>
          <a:p>
            <a:pPr marL="228600" marR="0">
              <a:lnSpc>
                <a:spcPct val="107000"/>
              </a:lnSpc>
              <a:spcBef>
                <a:spcPts val="0"/>
              </a:spcBef>
              <a:spcAft>
                <a:spcPts val="0"/>
              </a:spcAft>
            </a:pPr>
            <a:r>
              <a:rPr lang="en-US" sz="3500" b="1"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Overview of the Financial Environment</a:t>
            </a:r>
          </a:p>
          <a:p>
            <a:pPr marL="0" marR="0" indent="0">
              <a:lnSpc>
                <a:spcPct val="107000"/>
              </a:lnSpc>
              <a:spcBef>
                <a:spcPts val="0"/>
              </a:spcBef>
              <a:spcAft>
                <a:spcPts val="0"/>
              </a:spcAft>
              <a:buNone/>
            </a:pPr>
            <a:endParaRPr lang="en-US" sz="1600" b="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914400" lvl="1" indent="-457200">
              <a:lnSpc>
                <a:spcPct val="107000"/>
              </a:lnSpc>
              <a:spcBef>
                <a:spcPts val="0"/>
              </a:spcBef>
            </a:pPr>
            <a:r>
              <a:rPr lang="en-US" sz="3000"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Capital Allocation Process and Interest Rate Determination</a:t>
            </a:r>
          </a:p>
          <a:p>
            <a:pPr marL="914400" lvl="1" indent="-457200">
              <a:lnSpc>
                <a:spcPct val="107000"/>
              </a:lnSpc>
              <a:spcBef>
                <a:spcPts val="0"/>
              </a:spcBef>
              <a:buNone/>
            </a:pPr>
            <a:endParaRPr lang="en-US"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914400" lvl="1" indent="-457200">
              <a:lnSpc>
                <a:spcPct val="107000"/>
              </a:lnSpc>
              <a:spcBef>
                <a:spcPts val="0"/>
              </a:spcBef>
            </a:pPr>
            <a:r>
              <a:rPr lang="en-US" sz="3000"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The </a:t>
            </a:r>
            <a:r>
              <a:rPr lang="en-US" sz="30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Components of the Financial System and their </a:t>
            </a:r>
            <a:r>
              <a:rPr lang="en-US" sz="3000"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Roles</a:t>
            </a:r>
          </a:p>
          <a:p>
            <a:pPr marL="457200" lvl="1" indent="0">
              <a:lnSpc>
                <a:spcPct val="107000"/>
              </a:lnSpc>
              <a:spcBef>
                <a:spcPts val="0"/>
              </a:spcBef>
              <a:buNone/>
            </a:pPr>
            <a:endParaRPr lang="en-US" sz="1000"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endParaRPr>
          </a:p>
          <a:p>
            <a:pPr marL="1314450" lvl="2" indent="-457200">
              <a:lnSpc>
                <a:spcPct val="107000"/>
              </a:lnSpc>
              <a:spcBef>
                <a:spcPts val="0"/>
              </a:spcBef>
            </a:pPr>
            <a:r>
              <a:rPr lang="en-US" sz="2800" b="1" i="1"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Financial Securities</a:t>
            </a:r>
          </a:p>
          <a:p>
            <a:pPr marL="1314450" lvl="2" indent="-457200">
              <a:lnSpc>
                <a:spcPct val="107000"/>
              </a:lnSpc>
              <a:spcBef>
                <a:spcPts val="0"/>
              </a:spcBef>
            </a:pPr>
            <a:r>
              <a:rPr lang="en-US" sz="2800" b="1" i="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Financial </a:t>
            </a:r>
            <a:r>
              <a:rPr lang="en-US" sz="2800" b="1" i="1"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Institutions / Intermediaries and</a:t>
            </a:r>
          </a:p>
          <a:p>
            <a:pPr marL="1314450" lvl="2" indent="-457200">
              <a:lnSpc>
                <a:spcPct val="107000"/>
              </a:lnSpc>
              <a:spcBef>
                <a:spcPts val="0"/>
              </a:spcBef>
            </a:pPr>
            <a:r>
              <a:rPr lang="en-US" sz="2800" b="1" i="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Financial </a:t>
            </a:r>
            <a:r>
              <a:rPr lang="en-US" sz="2800" b="1" i="1" dirty="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Markets</a:t>
            </a:r>
          </a:p>
          <a:p>
            <a:pPr marL="914400" lvl="1" indent="-457200">
              <a:lnSpc>
                <a:spcPct val="107000"/>
              </a:lnSpc>
              <a:spcBef>
                <a:spcPts val="0"/>
              </a:spcBef>
              <a:buNone/>
            </a:pPr>
            <a:endParaRPr lang="en-US" dirty="0">
              <a:solidFill>
                <a:schemeClr val="tx1">
                  <a:lumMod val="85000"/>
                  <a:lumOff val="15000"/>
                </a:schemeClr>
              </a:solidFill>
              <a:effectLst/>
              <a:latin typeface="+mj-lt"/>
              <a:ea typeface="Times New Roman" panose="02020603050405020304" pitchFamily="18" charset="0"/>
              <a:cs typeface="Times New Roman" panose="02020603050405020304" pitchFamily="18" charset="0"/>
            </a:endParaRPr>
          </a:p>
          <a:p>
            <a:pPr marL="914400" indent="-457200" eaLnBrk="1" hangingPunct="1"/>
            <a:endParaRPr lang="en-US" sz="3000" dirty="0"/>
          </a:p>
        </p:txBody>
      </p:sp>
      <p:sp>
        <p:nvSpPr>
          <p:cNvPr id="7"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CF1985C0-D56F-477E-A5B7-B5A717BFBE01}" type="slidenum">
              <a:rPr lang="en-US"/>
              <a:pPr>
                <a:defRPr/>
              </a:pPr>
              <a:t>6</a:t>
            </a:fld>
            <a:endParaRPr lang="en-US" dirty="0"/>
          </a:p>
        </p:txBody>
      </p:sp>
      <p:sp>
        <p:nvSpPr>
          <p:cNvPr id="4099"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dirty="0"/>
          </a:p>
        </p:txBody>
      </p:sp>
      <p:sp>
        <p:nvSpPr>
          <p:cNvPr id="4100"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dirty="0"/>
          </a:p>
        </p:txBody>
      </p:sp>
      <p:sp>
        <p:nvSpPr>
          <p:cNvPr id="9" name="Rectangle 9"/>
          <p:cNvSpPr txBox="1">
            <a:spLocks noChangeArrowheads="1"/>
          </p:cNvSpPr>
          <p:nvPr/>
        </p:nvSpPr>
        <p:spPr>
          <a:xfrm>
            <a:off x="609600" y="304800"/>
            <a:ext cx="8229600" cy="850392"/>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800" b="1" dirty="0">
                <a:solidFill>
                  <a:srgbClr val="0000FF"/>
                </a:solidFill>
              </a:rPr>
              <a:t>Major Topics of Discussion …</a:t>
            </a:r>
          </a:p>
        </p:txBody>
      </p:sp>
    </p:spTree>
    <p:extLst>
      <p:ext uri="{BB962C8B-B14F-4D97-AF65-F5344CB8AC3E}">
        <p14:creationId xmlns:p14="http://schemas.microsoft.com/office/powerpoint/2010/main" val="1777429441"/>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447800"/>
            <a:ext cx="8991600" cy="5257800"/>
          </a:xfrm>
        </p:spPr>
        <p:txBody>
          <a:bodyPr>
            <a:normAutofit lnSpcReduction="10000"/>
          </a:bodyPr>
          <a:lstStyle/>
          <a:p>
            <a:pPr marL="465138" indent="-579438">
              <a:lnSpc>
                <a:spcPct val="107000"/>
              </a:lnSpc>
              <a:spcBef>
                <a:spcPts val="0"/>
              </a:spcBef>
            </a:pPr>
            <a:r>
              <a:rPr lang="en-US" sz="3600" b="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Overview of Financial Management</a:t>
            </a:r>
          </a:p>
          <a:p>
            <a:pPr marL="0" indent="0">
              <a:lnSpc>
                <a:spcPct val="107000"/>
              </a:lnSpc>
              <a:spcBef>
                <a:spcPts val="0"/>
              </a:spcBef>
              <a:buNone/>
            </a:pPr>
            <a:endParaRPr lang="en-US" sz="1700" b="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914400" lvl="1" indent="-457200">
              <a:lnSpc>
                <a:spcPct val="107000"/>
              </a:lnSpc>
              <a:spcBef>
                <a:spcPts val="0"/>
              </a:spcBef>
            </a:pPr>
            <a:r>
              <a:rPr lang="en-US" sz="32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The Value Maximization Objective of the Corporation, Agency Conflicts, Corporate Social Responsibility (CSR</a:t>
            </a:r>
            <a:r>
              <a:rPr lang="en-US" sz="32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a:t>
            </a:r>
            <a:r>
              <a:rPr lang="en-US" sz="32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Corporate </a:t>
            </a:r>
            <a:r>
              <a:rPr lang="en-US" sz="32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Governance, etc.</a:t>
            </a:r>
            <a:endParaRPr lang="en-US" sz="32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914400" lvl="1" indent="-457200">
              <a:lnSpc>
                <a:spcPct val="107000"/>
              </a:lnSpc>
              <a:spcBef>
                <a:spcPts val="0"/>
              </a:spcBef>
              <a:buNone/>
            </a:pPr>
            <a:endParaRPr lang="en-US" sz="17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914400" lvl="1" indent="-457200">
              <a:lnSpc>
                <a:spcPct val="107000"/>
              </a:lnSpc>
              <a:spcBef>
                <a:spcPts val="0"/>
              </a:spcBef>
            </a:pPr>
            <a:r>
              <a:rPr lang="en-US" sz="31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Financial Management – 2 Major Functions:</a:t>
            </a:r>
          </a:p>
          <a:p>
            <a:pPr marL="457200" lvl="1" indent="0">
              <a:lnSpc>
                <a:spcPct val="107000"/>
              </a:lnSpc>
              <a:spcBef>
                <a:spcPts val="0"/>
              </a:spcBef>
              <a:buNone/>
            </a:pPr>
            <a:endParaRPr lang="en-US" sz="11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1314450" lvl="2" indent="-457200">
              <a:lnSpc>
                <a:spcPct val="107000"/>
              </a:lnSpc>
              <a:spcBef>
                <a:spcPts val="0"/>
              </a:spcBef>
            </a:pPr>
            <a:r>
              <a:rPr lang="en-US" sz="2700" b="1" i="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Investment Decisions and </a:t>
            </a:r>
          </a:p>
          <a:p>
            <a:pPr marL="1314450" lvl="2" indent="-457200">
              <a:lnSpc>
                <a:spcPct val="107000"/>
              </a:lnSpc>
              <a:spcBef>
                <a:spcPts val="0"/>
              </a:spcBef>
            </a:pPr>
            <a:r>
              <a:rPr lang="en-US" sz="2700" b="1" i="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Financing Decisions</a:t>
            </a:r>
          </a:p>
          <a:p>
            <a:pPr marL="914400" lvl="1" indent="-457200">
              <a:lnSpc>
                <a:spcPct val="107000"/>
              </a:lnSpc>
              <a:spcBef>
                <a:spcPts val="0"/>
              </a:spcBef>
              <a:buNone/>
            </a:pPr>
            <a:endParaRPr lang="en-US" sz="17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914400" lvl="1" indent="-457200">
              <a:lnSpc>
                <a:spcPct val="107000"/>
              </a:lnSpc>
              <a:spcBef>
                <a:spcPts val="0"/>
              </a:spcBef>
            </a:pPr>
            <a:r>
              <a:rPr lang="en-US" sz="32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Ethical Issues for Finance Professionals</a:t>
            </a:r>
          </a:p>
          <a:p>
            <a:endParaRPr lang="en-US" dirty="0"/>
          </a:p>
        </p:txBody>
      </p:sp>
      <p:sp>
        <p:nvSpPr>
          <p:cNvPr id="4" name="Slide Number Placeholder 3"/>
          <p:cNvSpPr>
            <a:spLocks noGrp="1"/>
          </p:cNvSpPr>
          <p:nvPr>
            <p:ph type="sldNum" sz="quarter" idx="12"/>
          </p:nvPr>
        </p:nvSpPr>
        <p:spPr/>
        <p:txBody>
          <a:bodyPr/>
          <a:lstStyle/>
          <a:p>
            <a:pPr>
              <a:defRPr/>
            </a:pPr>
            <a:fld id="{7CD637C6-3A19-4914-A616-01A59BB83BF2}" type="slidenum">
              <a:rPr lang="en-US" smtClean="0"/>
              <a:pPr>
                <a:defRPr/>
              </a:pPr>
              <a:t>7</a:t>
            </a:fld>
            <a:endParaRPr lang="en-US" dirty="0"/>
          </a:p>
        </p:txBody>
      </p:sp>
      <p:sp>
        <p:nvSpPr>
          <p:cNvPr id="6" name="Rectangle 9"/>
          <p:cNvSpPr txBox="1">
            <a:spLocks noChangeArrowheads="1"/>
          </p:cNvSpPr>
          <p:nvPr/>
        </p:nvSpPr>
        <p:spPr>
          <a:xfrm>
            <a:off x="609600" y="304800"/>
            <a:ext cx="8229600" cy="850392"/>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800" b="1" dirty="0">
                <a:solidFill>
                  <a:srgbClr val="0000FF"/>
                </a:solidFill>
              </a:rPr>
              <a:t>Major Topics of Discussion …</a:t>
            </a:r>
          </a:p>
        </p:txBody>
      </p:sp>
    </p:spTree>
    <p:extLst>
      <p:ext uri="{BB962C8B-B14F-4D97-AF65-F5344CB8AC3E}">
        <p14:creationId xmlns:p14="http://schemas.microsoft.com/office/powerpoint/2010/main" val="3707470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95300" y="304800"/>
            <a:ext cx="8229600" cy="762000"/>
          </a:xfrm>
        </p:spPr>
        <p:txBody>
          <a:bodyPr>
            <a:noAutofit/>
          </a:bodyPr>
          <a:lstStyle/>
          <a:p>
            <a:pPr algn="ctr" eaLnBrk="1" hangingPunct="1"/>
            <a:r>
              <a:rPr lang="en-US" sz="4400" b="1" dirty="0">
                <a:solidFill>
                  <a:srgbClr val="0000FF"/>
                </a:solidFill>
              </a:rPr>
              <a:t>What is Finance? </a:t>
            </a:r>
            <a:r>
              <a:rPr lang="en-US" sz="4400" b="1" i="1" dirty="0">
                <a:solidFill>
                  <a:srgbClr val="0000FF"/>
                </a:solidFill>
              </a:rPr>
              <a:t>Who Cares?!</a:t>
            </a:r>
          </a:p>
        </p:txBody>
      </p:sp>
      <p:sp>
        <p:nvSpPr>
          <p:cNvPr id="3" name="Content Placeholder 2"/>
          <p:cNvSpPr>
            <a:spLocks noGrp="1"/>
          </p:cNvSpPr>
          <p:nvPr>
            <p:ph idx="1"/>
          </p:nvPr>
        </p:nvSpPr>
        <p:spPr>
          <a:xfrm>
            <a:off x="0" y="1295400"/>
            <a:ext cx="9156290" cy="5791200"/>
          </a:xfrm>
        </p:spPr>
        <p:txBody>
          <a:bodyPr>
            <a:noAutofit/>
          </a:bodyPr>
          <a:lstStyle/>
          <a:p>
            <a:pPr marL="463550" indent="-463550">
              <a:defRPr/>
            </a:pPr>
            <a:r>
              <a:rPr lang="en-US" sz="2800" b="1" i="1" dirty="0">
                <a:solidFill>
                  <a:schemeClr val="tx1">
                    <a:lumMod val="85000"/>
                    <a:lumOff val="15000"/>
                  </a:schemeClr>
                </a:solidFill>
                <a:latin typeface="Cambria" panose="02040503050406030204" pitchFamily="18" charset="0"/>
                <a:ea typeface="Cambria" panose="02040503050406030204" pitchFamily="18" charset="0"/>
              </a:rPr>
              <a:t>Finance is the art and science of managing money.</a:t>
            </a:r>
          </a:p>
          <a:p>
            <a:pPr marL="463550" indent="-463550">
              <a:buNone/>
              <a:defRPr/>
            </a:pPr>
            <a:endParaRPr lang="en-US" sz="600" b="1" i="1" dirty="0">
              <a:solidFill>
                <a:schemeClr val="tx1">
                  <a:lumMod val="85000"/>
                  <a:lumOff val="15000"/>
                </a:schemeClr>
              </a:solidFill>
              <a:latin typeface="Cambria" panose="02040503050406030204" pitchFamily="18" charset="0"/>
              <a:ea typeface="Cambria" panose="02040503050406030204" pitchFamily="18" charset="0"/>
            </a:endParaRPr>
          </a:p>
          <a:p>
            <a:pPr marL="463550" indent="-463550">
              <a:defRPr/>
            </a:pPr>
            <a:r>
              <a:rPr lang="en-US" sz="2400" dirty="0">
                <a:solidFill>
                  <a:schemeClr val="tx1">
                    <a:lumMod val="85000"/>
                    <a:lumOff val="15000"/>
                  </a:schemeClr>
                </a:solidFill>
                <a:latin typeface="Cambria" panose="02040503050406030204" pitchFamily="18" charset="0"/>
                <a:ea typeface="Cambria" panose="02040503050406030204" pitchFamily="18" charset="0"/>
              </a:rPr>
              <a:t>It </a:t>
            </a:r>
            <a:r>
              <a:rPr lang="en-US" sz="2400" dirty="0" smtClean="0">
                <a:solidFill>
                  <a:schemeClr val="tx1">
                    <a:lumMod val="85000"/>
                    <a:lumOff val="15000"/>
                  </a:schemeClr>
                </a:solidFill>
                <a:latin typeface="Cambria" panose="02040503050406030204" pitchFamily="18" charset="0"/>
                <a:ea typeface="Cambria" panose="02040503050406030204" pitchFamily="18" charset="0"/>
              </a:rPr>
              <a:t>involves fund transfer </a:t>
            </a:r>
            <a:r>
              <a:rPr lang="en-US" sz="2400" dirty="0">
                <a:solidFill>
                  <a:schemeClr val="tx1">
                    <a:lumMod val="85000"/>
                    <a:lumOff val="15000"/>
                  </a:schemeClr>
                </a:solidFill>
                <a:latin typeface="Cambria" panose="02040503050406030204" pitchFamily="18" charset="0"/>
                <a:ea typeface="Cambria" panose="02040503050406030204" pitchFamily="18" charset="0"/>
              </a:rPr>
              <a:t>and re-distribution processes - involving instruments, platforms, infrastructure, institutions and </a:t>
            </a:r>
            <a:r>
              <a:rPr lang="en-US" sz="2400" b="1" i="1" dirty="0" smtClean="0">
                <a:solidFill>
                  <a:schemeClr val="tx1">
                    <a:lumMod val="85000"/>
                    <a:lumOff val="15000"/>
                  </a:schemeClr>
                </a:solidFill>
                <a:latin typeface="Cambria" panose="02040503050406030204" pitchFamily="18" charset="0"/>
                <a:ea typeface="Cambria" panose="02040503050406030204" pitchFamily="18" charset="0"/>
              </a:rPr>
              <a:t>people (entrepreneurs, investors, managers, dealers, regulators, and more)</a:t>
            </a:r>
            <a:r>
              <a:rPr lang="en-US" sz="2400" dirty="0" smtClean="0">
                <a:solidFill>
                  <a:schemeClr val="tx1">
                    <a:lumMod val="85000"/>
                    <a:lumOff val="15000"/>
                  </a:schemeClr>
                </a:solidFill>
                <a:latin typeface="Cambria" panose="02040503050406030204" pitchFamily="18" charset="0"/>
                <a:ea typeface="Cambria" panose="02040503050406030204" pitchFamily="18" charset="0"/>
              </a:rPr>
              <a:t> </a:t>
            </a:r>
            <a:r>
              <a:rPr lang="en-US" sz="2400" dirty="0">
                <a:solidFill>
                  <a:schemeClr val="tx1">
                    <a:lumMod val="85000"/>
                    <a:lumOff val="15000"/>
                  </a:schemeClr>
                </a:solidFill>
                <a:latin typeface="Cambria" panose="02040503050406030204" pitchFamily="18" charset="0"/>
                <a:ea typeface="Cambria" panose="02040503050406030204" pitchFamily="18" charset="0"/>
              </a:rPr>
              <a:t>that facilitate the transfer of money between entities.</a:t>
            </a:r>
          </a:p>
          <a:p>
            <a:pPr marL="0" indent="0">
              <a:buNone/>
              <a:defRPr/>
            </a:pPr>
            <a:endParaRPr lang="en-US" sz="600" dirty="0">
              <a:solidFill>
                <a:schemeClr val="tx1">
                  <a:lumMod val="85000"/>
                  <a:lumOff val="15000"/>
                </a:schemeClr>
              </a:solidFill>
              <a:latin typeface="Cambria" panose="02040503050406030204" pitchFamily="18" charset="0"/>
              <a:ea typeface="Cambria" panose="02040503050406030204" pitchFamily="18" charset="0"/>
            </a:endParaRPr>
          </a:p>
          <a:p>
            <a:pPr marL="463550" indent="-463550">
              <a:defRPr/>
            </a:pPr>
            <a:r>
              <a:rPr lang="en-US" sz="2400" dirty="0">
                <a:solidFill>
                  <a:schemeClr val="tx1">
                    <a:lumMod val="85000"/>
                    <a:lumOff val="15000"/>
                  </a:schemeClr>
                </a:solidFill>
                <a:latin typeface="Cambria" panose="02040503050406030204" pitchFamily="18" charset="0"/>
                <a:ea typeface="Cambria" panose="02040503050406030204" pitchFamily="18" charset="0"/>
              </a:rPr>
              <a:t>It is associated with and shaped by </a:t>
            </a:r>
            <a:r>
              <a:rPr lang="en-US" sz="2400" b="1" i="1" dirty="0">
                <a:solidFill>
                  <a:schemeClr val="tx1">
                    <a:lumMod val="85000"/>
                    <a:lumOff val="15000"/>
                  </a:schemeClr>
                </a:solidFill>
                <a:latin typeface="Cambria" panose="02040503050406030204" pitchFamily="18" charset="0"/>
                <a:ea typeface="Cambria" panose="02040503050406030204" pitchFamily="18" charset="0"/>
              </a:rPr>
              <a:t>human </a:t>
            </a:r>
            <a:r>
              <a:rPr lang="en-US" sz="2400" b="1" i="1" dirty="0" smtClean="0">
                <a:solidFill>
                  <a:schemeClr val="tx1">
                    <a:lumMod val="85000"/>
                    <a:lumOff val="15000"/>
                  </a:schemeClr>
                </a:solidFill>
                <a:latin typeface="Cambria" panose="02040503050406030204" pitchFamily="18" charset="0"/>
                <a:ea typeface="Cambria" panose="02040503050406030204" pitchFamily="18" charset="0"/>
              </a:rPr>
              <a:t>sentiments</a:t>
            </a:r>
            <a:r>
              <a:rPr lang="en-US" sz="2400" b="1" i="1" dirty="0">
                <a:solidFill>
                  <a:schemeClr val="tx1">
                    <a:lumMod val="85000"/>
                    <a:lumOff val="15000"/>
                  </a:schemeClr>
                </a:solidFill>
                <a:latin typeface="Cambria" panose="02040503050406030204" pitchFamily="18" charset="0"/>
                <a:ea typeface="Cambria" panose="02040503050406030204" pitchFamily="18" charset="0"/>
              </a:rPr>
              <a:t>, attitude and behavior (and spirit!)</a:t>
            </a:r>
            <a:r>
              <a:rPr lang="en-US" sz="2400" dirty="0" smtClean="0">
                <a:solidFill>
                  <a:schemeClr val="tx1">
                    <a:lumMod val="85000"/>
                    <a:lumOff val="15000"/>
                  </a:schemeClr>
                </a:solidFill>
                <a:latin typeface="Cambria" panose="02040503050406030204" pitchFamily="18" charset="0"/>
                <a:ea typeface="Cambria" panose="02040503050406030204" pitchFamily="18" charset="0"/>
              </a:rPr>
              <a:t> </a:t>
            </a:r>
            <a:r>
              <a:rPr lang="en-US" sz="2400" dirty="0">
                <a:solidFill>
                  <a:schemeClr val="tx1">
                    <a:lumMod val="85000"/>
                    <a:lumOff val="15000"/>
                  </a:schemeClr>
                </a:solidFill>
                <a:latin typeface="Cambria" panose="02040503050406030204" pitchFamily="18" charset="0"/>
                <a:ea typeface="Cambria" panose="02040503050406030204" pitchFamily="18" charset="0"/>
              </a:rPr>
              <a:t>- rational, irrational, wild and crazy, greed and deception, animal instincts, and much more…</a:t>
            </a:r>
          </a:p>
          <a:p>
            <a:pPr marL="463550" indent="-463550">
              <a:defRPr/>
            </a:pPr>
            <a:endParaRPr lang="en-US" sz="600" dirty="0">
              <a:solidFill>
                <a:schemeClr val="tx1">
                  <a:lumMod val="85000"/>
                  <a:lumOff val="15000"/>
                </a:schemeClr>
              </a:solidFill>
              <a:latin typeface="Cambria" panose="02040503050406030204" pitchFamily="18" charset="0"/>
              <a:ea typeface="Cambria" panose="02040503050406030204" pitchFamily="18" charset="0"/>
            </a:endParaRPr>
          </a:p>
          <a:p>
            <a:pPr marL="463550" indent="-463550">
              <a:defRPr/>
            </a:pPr>
            <a:r>
              <a:rPr lang="en-US" sz="2400" b="1" dirty="0">
                <a:solidFill>
                  <a:schemeClr val="tx1">
                    <a:lumMod val="85000"/>
                    <a:lumOff val="15000"/>
                  </a:schemeClr>
                </a:solidFill>
                <a:latin typeface="Cambria" panose="02040503050406030204" pitchFamily="18" charset="0"/>
                <a:ea typeface="Cambria" panose="02040503050406030204" pitchFamily="18" charset="0"/>
                <a:cs typeface="Calibri" panose="020F0502020204030204" pitchFamily="34" charset="0"/>
              </a:rPr>
              <a:t>Everyone cares: </a:t>
            </a:r>
            <a:r>
              <a:rPr lang="en-US" sz="2400" dirty="0">
                <a:solidFill>
                  <a:schemeClr val="tx1">
                    <a:lumMod val="85000"/>
                    <a:lumOff val="15000"/>
                  </a:schemeClr>
                </a:solidFill>
                <a:latin typeface="Cambria" panose="02040503050406030204" pitchFamily="18" charset="0"/>
                <a:ea typeface="Cambria" panose="02040503050406030204" pitchFamily="18" charset="0"/>
                <a:cs typeface="Calibri" panose="020F0502020204030204" pitchFamily="34" charset="0"/>
              </a:rPr>
              <a:t>All entities (individuals, households, businesses, governments) earn/raise and spend/invest </a:t>
            </a:r>
            <a:r>
              <a:rPr lang="en-US" sz="2400" dirty="0" smtClean="0">
                <a:solidFill>
                  <a:schemeClr val="tx1">
                    <a:lumMod val="85000"/>
                    <a:lumOff val="15000"/>
                  </a:schemeClr>
                </a:solidFill>
                <a:latin typeface="Cambria" panose="02040503050406030204" pitchFamily="18" charset="0"/>
                <a:ea typeface="Cambria" panose="02040503050406030204" pitchFamily="18" charset="0"/>
                <a:cs typeface="Calibri" panose="020F0502020204030204" pitchFamily="34" charset="0"/>
              </a:rPr>
              <a:t>money and want to enhance utilities/welfare.</a:t>
            </a:r>
            <a:r>
              <a:rPr lang="en-US" sz="2800" dirty="0" smtClean="0">
                <a:solidFill>
                  <a:schemeClr val="tx1">
                    <a:lumMod val="85000"/>
                    <a:lumOff val="15000"/>
                  </a:schemeClr>
                </a:solidFill>
                <a:latin typeface="Cambria" panose="02040503050406030204" pitchFamily="18" charset="0"/>
                <a:ea typeface="Cambria" panose="02040503050406030204" pitchFamily="18" charset="0"/>
                <a:cs typeface="Calibri" panose="020F0502020204030204" pitchFamily="34" charset="0"/>
              </a:rPr>
              <a:t> </a:t>
            </a:r>
            <a:endParaRPr lang="en-US" sz="2800" dirty="0">
              <a:solidFill>
                <a:schemeClr val="tx1">
                  <a:lumMod val="85000"/>
                  <a:lumOff val="15000"/>
                </a:schemeClr>
              </a:solidFill>
              <a:latin typeface="Cambria" panose="02040503050406030204" pitchFamily="18" charset="0"/>
              <a:ea typeface="Cambria" panose="02040503050406030204" pitchFamily="18" charset="0"/>
              <a:cs typeface="Calibri" panose="020F0502020204030204" pitchFamily="34" charset="0"/>
            </a:endParaRPr>
          </a:p>
          <a:p>
            <a:pPr marL="463550" indent="-463550">
              <a:defRPr/>
            </a:pPr>
            <a:endParaRPr lang="en-US" sz="2800" dirty="0">
              <a:solidFill>
                <a:schemeClr val="tx1">
                  <a:lumMod val="85000"/>
                  <a:lumOff val="15000"/>
                </a:schemeClr>
              </a:solidFill>
              <a:latin typeface="+mj-lt"/>
            </a:endParaRPr>
          </a:p>
          <a:p>
            <a:pPr marL="400050" lvl="1" indent="0" eaLnBrk="1" hangingPunct="1">
              <a:buFont typeface="Wingdings" pitchFamily="2" charset="2"/>
              <a:buNone/>
              <a:defRPr/>
            </a:pPr>
            <a:endParaRPr lang="en-US" sz="2800" dirty="0"/>
          </a:p>
          <a:p>
            <a:pPr marL="400050" lvl="1" indent="0" eaLnBrk="1" hangingPunct="1">
              <a:buFont typeface="Wingdings" pitchFamily="2" charset="2"/>
              <a:buNone/>
              <a:defRPr/>
            </a:pPr>
            <a:endParaRPr lang="en-US" sz="2800" dirty="0"/>
          </a:p>
          <a:p>
            <a:pPr eaLnBrk="1" hangingPunct="1">
              <a:defRPr/>
            </a:pPr>
            <a:endParaRPr lang="en-US" sz="2800" dirty="0"/>
          </a:p>
        </p:txBody>
      </p:sp>
      <p:sp>
        <p:nvSpPr>
          <p:cNvPr id="4" name="Slide Number Placeholder 3"/>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2F019031-0C6B-4C26-BE6C-4ED2AE42AC67}" type="slidenum">
              <a:rPr lang="en-US"/>
              <a:pPr>
                <a:defRPr/>
              </a:pPr>
              <a:t>8</a:t>
            </a:fld>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19100" y="228600"/>
            <a:ext cx="8229600" cy="762000"/>
          </a:xfrm>
        </p:spPr>
        <p:txBody>
          <a:bodyPr>
            <a:normAutofit/>
          </a:bodyPr>
          <a:lstStyle/>
          <a:p>
            <a:pPr algn="ctr" eaLnBrk="1" hangingPunct="1"/>
            <a:r>
              <a:rPr lang="en-US" sz="4400" b="1" dirty="0">
                <a:solidFill>
                  <a:srgbClr val="0000FF"/>
                </a:solidFill>
              </a:rPr>
              <a:t>Finance: Fundamentals</a:t>
            </a:r>
          </a:p>
        </p:txBody>
      </p:sp>
      <p:sp>
        <p:nvSpPr>
          <p:cNvPr id="3" name="Content Placeholder 2"/>
          <p:cNvSpPr>
            <a:spLocks noGrp="1"/>
          </p:cNvSpPr>
          <p:nvPr>
            <p:ph idx="1"/>
          </p:nvPr>
        </p:nvSpPr>
        <p:spPr>
          <a:xfrm>
            <a:off x="404352" y="1406013"/>
            <a:ext cx="8511048" cy="5451987"/>
          </a:xfrm>
        </p:spPr>
        <p:txBody>
          <a:bodyPr>
            <a:normAutofit fontScale="62500" lnSpcReduction="20000"/>
          </a:bodyPr>
          <a:lstStyle/>
          <a:p>
            <a:pPr marL="465138" indent="-465138">
              <a:defRPr/>
            </a:pPr>
            <a:r>
              <a:rPr lang="en-US" sz="4500" dirty="0">
                <a:solidFill>
                  <a:schemeClr val="tx1">
                    <a:lumMod val="85000"/>
                    <a:lumOff val="15000"/>
                  </a:schemeClr>
                </a:solidFill>
                <a:latin typeface="Cambria" panose="02040503050406030204" pitchFamily="18" charset="0"/>
                <a:ea typeface="Cambria" panose="02040503050406030204" pitchFamily="18" charset="0"/>
              </a:rPr>
              <a:t>At all levels and for everyone, </a:t>
            </a:r>
            <a:r>
              <a:rPr lang="en-US" sz="4500" dirty="0" smtClean="0">
                <a:solidFill>
                  <a:schemeClr val="tx1">
                    <a:lumMod val="85000"/>
                    <a:lumOff val="15000"/>
                  </a:schemeClr>
                </a:solidFill>
                <a:latin typeface="Cambria" panose="02040503050406030204" pitchFamily="18" charset="0"/>
                <a:ea typeface="Cambria" panose="02040503050406030204" pitchFamily="18" charset="0"/>
              </a:rPr>
              <a:t>sound </a:t>
            </a:r>
            <a:r>
              <a:rPr lang="en-US" sz="4500" dirty="0">
                <a:solidFill>
                  <a:schemeClr val="tx1">
                    <a:lumMod val="85000"/>
                    <a:lumOff val="15000"/>
                  </a:schemeClr>
                </a:solidFill>
                <a:latin typeface="Cambria" panose="02040503050406030204" pitchFamily="18" charset="0"/>
                <a:ea typeface="Cambria" panose="02040503050406030204" pitchFamily="18" charset="0"/>
              </a:rPr>
              <a:t>financial </a:t>
            </a:r>
            <a:r>
              <a:rPr lang="en-US" sz="4500" dirty="0" smtClean="0">
                <a:solidFill>
                  <a:schemeClr val="tx1">
                    <a:lumMod val="85000"/>
                    <a:lumOff val="15000"/>
                  </a:schemeClr>
                </a:solidFill>
                <a:latin typeface="Cambria" panose="02040503050406030204" pitchFamily="18" charset="0"/>
                <a:ea typeface="Cambria" panose="02040503050406030204" pitchFamily="18" charset="0"/>
              </a:rPr>
              <a:t>decision-making are </a:t>
            </a:r>
            <a:r>
              <a:rPr lang="en-US" sz="4500" dirty="0">
                <a:solidFill>
                  <a:schemeClr val="tx1">
                    <a:lumMod val="85000"/>
                    <a:lumOff val="15000"/>
                  </a:schemeClr>
                </a:solidFill>
                <a:latin typeface="Cambria" panose="02040503050406030204" pitchFamily="18" charset="0"/>
                <a:ea typeface="Cambria" panose="02040503050406030204" pitchFamily="18" charset="0"/>
              </a:rPr>
              <a:t>essential at </a:t>
            </a:r>
            <a:r>
              <a:rPr lang="en-US" sz="4500" dirty="0" smtClean="0">
                <a:solidFill>
                  <a:schemeClr val="tx1">
                    <a:lumMod val="85000"/>
                    <a:lumOff val="15000"/>
                  </a:schemeClr>
                </a:solidFill>
                <a:latin typeface="Cambria" panose="02040503050406030204" pitchFamily="18" charset="0"/>
                <a:ea typeface="Cambria" panose="02040503050406030204" pitchFamily="18" charset="0"/>
              </a:rPr>
              <a:t>– both at individual </a:t>
            </a:r>
            <a:r>
              <a:rPr lang="en-US" sz="4500" dirty="0">
                <a:solidFill>
                  <a:schemeClr val="tx1">
                    <a:lumMod val="85000"/>
                    <a:lumOff val="15000"/>
                  </a:schemeClr>
                </a:solidFill>
                <a:latin typeface="Cambria" panose="02040503050406030204" pitchFamily="18" charset="0"/>
                <a:ea typeface="Cambria" panose="02040503050406030204" pitchFamily="18" charset="0"/>
              </a:rPr>
              <a:t>and collective </a:t>
            </a:r>
            <a:r>
              <a:rPr lang="en-US" sz="4500" dirty="0" smtClean="0">
                <a:solidFill>
                  <a:schemeClr val="tx1">
                    <a:lumMod val="85000"/>
                    <a:lumOff val="15000"/>
                  </a:schemeClr>
                </a:solidFill>
                <a:latin typeface="Cambria" panose="02040503050406030204" pitchFamily="18" charset="0"/>
                <a:ea typeface="Cambria" panose="02040503050406030204" pitchFamily="18" charset="0"/>
              </a:rPr>
              <a:t>(business/organization and macro-economy) levels</a:t>
            </a:r>
            <a:endParaRPr lang="en-US" sz="4500" dirty="0">
              <a:solidFill>
                <a:schemeClr val="tx1">
                  <a:lumMod val="85000"/>
                  <a:lumOff val="15000"/>
                </a:schemeClr>
              </a:solidFill>
              <a:latin typeface="Cambria" panose="02040503050406030204" pitchFamily="18" charset="0"/>
              <a:ea typeface="Cambria" panose="02040503050406030204" pitchFamily="18" charset="0"/>
            </a:endParaRPr>
          </a:p>
          <a:p>
            <a:pPr marL="0" indent="0">
              <a:buNone/>
              <a:defRPr/>
            </a:pPr>
            <a:endParaRPr lang="en-US" sz="1300" b="0" i="0" u="none" strike="noStrike" baseline="0" dirty="0">
              <a:solidFill>
                <a:schemeClr val="tx1">
                  <a:lumMod val="85000"/>
                  <a:lumOff val="15000"/>
                </a:schemeClr>
              </a:solidFill>
              <a:latin typeface="Cambria" panose="02040503050406030204" pitchFamily="18" charset="0"/>
              <a:ea typeface="Cambria" panose="02040503050406030204" pitchFamily="18" charset="0"/>
            </a:endParaRPr>
          </a:p>
          <a:p>
            <a:pPr marL="465138" indent="-465138">
              <a:defRPr/>
            </a:pPr>
            <a:r>
              <a:rPr lang="en-US" sz="4500" b="0" i="0" u="none" strike="noStrike" baseline="0" dirty="0">
                <a:solidFill>
                  <a:schemeClr val="tx1">
                    <a:lumMod val="85000"/>
                    <a:lumOff val="15000"/>
                  </a:schemeClr>
                </a:solidFill>
                <a:latin typeface="Cambria" panose="02040503050406030204" pitchFamily="18" charset="0"/>
                <a:ea typeface="Cambria" panose="02040503050406030204" pitchFamily="18" charset="0"/>
              </a:rPr>
              <a:t>To make rational financial decisions, </a:t>
            </a:r>
            <a:r>
              <a:rPr lang="en-US" sz="4500" dirty="0">
                <a:solidFill>
                  <a:schemeClr val="tx1">
                    <a:lumMod val="85000"/>
                    <a:lumOff val="15000"/>
                  </a:schemeClr>
                </a:solidFill>
                <a:latin typeface="Cambria" panose="02040503050406030204" pitchFamily="18" charset="0"/>
                <a:ea typeface="Cambria" panose="02040503050406030204" pitchFamily="18" charset="0"/>
              </a:rPr>
              <a:t>we</a:t>
            </a:r>
            <a:r>
              <a:rPr lang="en-US" sz="4500" b="0" i="0" u="none" strike="noStrike" baseline="0" dirty="0">
                <a:solidFill>
                  <a:schemeClr val="tx1">
                    <a:lumMod val="85000"/>
                    <a:lumOff val="15000"/>
                  </a:schemeClr>
                </a:solidFill>
                <a:latin typeface="Cambria" panose="02040503050406030204" pitchFamily="18" charset="0"/>
                <a:ea typeface="Cambria" panose="02040503050406030204" pitchFamily="18" charset="0"/>
              </a:rPr>
              <a:t> </a:t>
            </a:r>
            <a:r>
              <a:rPr lang="en-US" sz="4500" dirty="0">
                <a:solidFill>
                  <a:schemeClr val="tx1">
                    <a:lumMod val="85000"/>
                    <a:lumOff val="15000"/>
                  </a:schemeClr>
                </a:solidFill>
                <a:latin typeface="Cambria" panose="02040503050406030204" pitchFamily="18" charset="0"/>
                <a:ea typeface="Cambria" panose="02040503050406030204" pitchFamily="18" charset="0"/>
              </a:rPr>
              <a:t>must understand three </a:t>
            </a:r>
            <a:r>
              <a:rPr lang="en-US" sz="4500" dirty="0" smtClean="0">
                <a:solidFill>
                  <a:schemeClr val="tx1">
                    <a:lumMod val="85000"/>
                    <a:lumOff val="15000"/>
                  </a:schemeClr>
                </a:solidFill>
                <a:latin typeface="Cambria" panose="02040503050406030204" pitchFamily="18" charset="0"/>
                <a:ea typeface="Cambria" panose="02040503050406030204" pitchFamily="18" charset="0"/>
              </a:rPr>
              <a:t>simple, general </a:t>
            </a:r>
            <a:r>
              <a:rPr lang="en-US" sz="4500" dirty="0">
                <a:solidFill>
                  <a:schemeClr val="tx1">
                    <a:lumMod val="85000"/>
                    <a:lumOff val="15000"/>
                  </a:schemeClr>
                </a:solidFill>
                <a:latin typeface="Cambria" panose="02040503050406030204" pitchFamily="18" charset="0"/>
                <a:ea typeface="Cambria" panose="02040503050406030204" pitchFamily="18" charset="0"/>
              </a:rPr>
              <a:t>and very reasonable, concepts: </a:t>
            </a:r>
            <a:r>
              <a:rPr lang="en-US" sz="4500" i="1" dirty="0">
                <a:solidFill>
                  <a:schemeClr val="tx1">
                    <a:lumMod val="85000"/>
                    <a:lumOff val="15000"/>
                  </a:schemeClr>
                </a:solidFill>
                <a:latin typeface="Cambria" panose="02040503050406030204" pitchFamily="18" charset="0"/>
                <a:ea typeface="Cambria" panose="02040503050406030204" pitchFamily="18" charset="0"/>
              </a:rPr>
              <a:t>everything else equal,</a:t>
            </a:r>
          </a:p>
          <a:p>
            <a:pPr marL="0" indent="0">
              <a:buNone/>
              <a:defRPr/>
            </a:pPr>
            <a:endParaRPr lang="en-US" sz="1000" i="1" dirty="0">
              <a:solidFill>
                <a:schemeClr val="tx1">
                  <a:lumMod val="85000"/>
                  <a:lumOff val="15000"/>
                </a:schemeClr>
              </a:solidFill>
              <a:latin typeface="Cambria" panose="02040503050406030204" pitchFamily="18" charset="0"/>
              <a:ea typeface="Cambria" panose="02040503050406030204" pitchFamily="18" charset="0"/>
            </a:endParaRPr>
          </a:p>
          <a:p>
            <a:pPr marL="852488" lvl="1" indent="-395288"/>
            <a:r>
              <a:rPr lang="en-US" sz="4000" b="1" dirty="0">
                <a:solidFill>
                  <a:schemeClr val="tx1">
                    <a:lumMod val="85000"/>
                    <a:lumOff val="15000"/>
                  </a:schemeClr>
                </a:solidFill>
                <a:latin typeface="Cambria" panose="02040503050406030204" pitchFamily="18" charset="0"/>
                <a:ea typeface="Cambria" panose="02040503050406030204" pitchFamily="18" charset="0"/>
              </a:rPr>
              <a:t>More return is preferred to less; </a:t>
            </a:r>
          </a:p>
          <a:p>
            <a:pPr marL="852488" lvl="1" indent="-395288"/>
            <a:r>
              <a:rPr lang="en-US" sz="4000" b="1" dirty="0">
                <a:solidFill>
                  <a:schemeClr val="tx1">
                    <a:lumMod val="85000"/>
                    <a:lumOff val="15000"/>
                  </a:schemeClr>
                </a:solidFill>
                <a:latin typeface="Cambria" panose="02040503050406030204" pitchFamily="18" charset="0"/>
                <a:ea typeface="Cambria" panose="02040503050406030204" pitchFamily="18" charset="0"/>
              </a:rPr>
              <a:t>The sooner cash is received, the more valuable; and</a:t>
            </a:r>
          </a:p>
          <a:p>
            <a:pPr marL="852488" lvl="1" indent="-395288"/>
            <a:r>
              <a:rPr lang="en-US" sz="4000" b="1" dirty="0">
                <a:solidFill>
                  <a:schemeClr val="tx1">
                    <a:lumMod val="85000"/>
                    <a:lumOff val="15000"/>
                  </a:schemeClr>
                </a:solidFill>
                <a:latin typeface="Cambria" panose="02040503050406030204" pitchFamily="18" charset="0"/>
                <a:ea typeface="Cambria" panose="02040503050406030204" pitchFamily="18" charset="0"/>
              </a:rPr>
              <a:t>Less risky assets are preferred to riskier assets.</a:t>
            </a:r>
          </a:p>
          <a:p>
            <a:pPr lvl="1"/>
            <a:endParaRPr lang="en-US" sz="1300" dirty="0">
              <a:solidFill>
                <a:schemeClr val="tx1">
                  <a:lumMod val="85000"/>
                  <a:lumOff val="15000"/>
                </a:schemeClr>
              </a:solidFill>
              <a:latin typeface="Cambria" panose="02040503050406030204" pitchFamily="18" charset="0"/>
              <a:ea typeface="Cambria" panose="02040503050406030204" pitchFamily="18" charset="0"/>
            </a:endParaRPr>
          </a:p>
          <a:p>
            <a:pPr marL="465138" indent="-465138" algn="l"/>
            <a:r>
              <a:rPr lang="en-US" sz="4500" dirty="0">
                <a:solidFill>
                  <a:schemeClr val="tx1">
                    <a:lumMod val="85000"/>
                    <a:lumOff val="15000"/>
                  </a:schemeClr>
                </a:solidFill>
                <a:latin typeface="Cambria" panose="02040503050406030204" pitchFamily="18" charset="0"/>
                <a:ea typeface="Cambria" panose="02040503050406030204" pitchFamily="18" charset="0"/>
              </a:rPr>
              <a:t> Ethics is very </a:t>
            </a:r>
            <a:r>
              <a:rPr lang="en-US" sz="4500" dirty="0" smtClean="0">
                <a:solidFill>
                  <a:schemeClr val="tx1">
                    <a:lumMod val="85000"/>
                    <a:lumOff val="15000"/>
                  </a:schemeClr>
                </a:solidFill>
                <a:latin typeface="Cambria" panose="02040503050406030204" pitchFamily="18" charset="0"/>
                <a:ea typeface="Cambria" panose="02040503050406030204" pitchFamily="18" charset="0"/>
              </a:rPr>
              <a:t>critical in finance (</a:t>
            </a:r>
            <a:r>
              <a:rPr lang="en-US" sz="4500" i="1" dirty="0" smtClean="0">
                <a:solidFill>
                  <a:schemeClr val="tx1">
                    <a:lumMod val="85000"/>
                    <a:lumOff val="15000"/>
                  </a:schemeClr>
                </a:solidFill>
                <a:latin typeface="Cambria" panose="02040503050406030204" pitchFamily="18" charset="0"/>
                <a:ea typeface="Cambria" panose="02040503050406030204" pitchFamily="18" charset="0"/>
              </a:rPr>
              <a:t>as in life!</a:t>
            </a:r>
            <a:r>
              <a:rPr lang="en-US" sz="4500" dirty="0" smtClean="0">
                <a:solidFill>
                  <a:schemeClr val="tx1">
                    <a:lumMod val="85000"/>
                    <a:lumOff val="15000"/>
                  </a:schemeClr>
                </a:solidFill>
                <a:latin typeface="Cambria" panose="02040503050406030204" pitchFamily="18" charset="0"/>
                <a:ea typeface="Cambria" panose="02040503050406030204" pitchFamily="18" charset="0"/>
              </a:rPr>
              <a:t>)</a:t>
            </a:r>
            <a:endParaRPr lang="en-US" sz="4500" b="1" i="1" dirty="0">
              <a:solidFill>
                <a:schemeClr val="tx1">
                  <a:lumMod val="85000"/>
                  <a:lumOff val="15000"/>
                </a:schemeClr>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2F019031-0C6B-4C26-BE6C-4ED2AE42AC67}" type="slidenum">
              <a:rPr lang="en-US"/>
              <a:pPr>
                <a:defRPr/>
              </a:pPr>
              <a:t>9</a:t>
            </a:fld>
            <a:endParaRPr lang="en-US" dirty="0"/>
          </a:p>
        </p:txBody>
      </p:sp>
    </p:spTree>
    <p:extLst>
      <p:ext uri="{BB962C8B-B14F-4D97-AF65-F5344CB8AC3E}">
        <p14:creationId xmlns:p14="http://schemas.microsoft.com/office/powerpoint/2010/main" val="21126430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C6B4E-0FDB-46E3-AF86-869618D74F0B}"/>
              </a:ext>
            </a:extLst>
          </p:cNvPr>
          <p:cNvSpPr>
            <a:spLocks noGrp="1"/>
          </p:cNvSpPr>
          <p:nvPr>
            <p:ph type="title"/>
          </p:nvPr>
        </p:nvSpPr>
        <p:spPr>
          <a:xfrm>
            <a:off x="457200" y="704088"/>
            <a:ext cx="8229600" cy="819912"/>
          </a:xfrm>
        </p:spPr>
        <p:txBody>
          <a:bodyPr>
            <a:noAutofit/>
          </a:bodyPr>
          <a:lstStyle/>
          <a:p>
            <a:pPr algn="ctr"/>
            <a:r>
              <a:rPr lang="en-US" sz="4800" b="1" dirty="0">
                <a:solidFill>
                  <a:srgbClr val="0000FF"/>
                </a:solidFill>
                <a:effectLst/>
                <a:ea typeface="Times New Roman" panose="02020603050405020304" pitchFamily="18" charset="0"/>
                <a:cs typeface="Times New Roman" panose="02020603050405020304" pitchFamily="18" charset="0"/>
              </a:rPr>
              <a:t>Major Fields of Finance</a:t>
            </a:r>
            <a:endParaRPr lang="en-US" sz="4800" b="1" dirty="0">
              <a:solidFill>
                <a:srgbClr val="0000FF"/>
              </a:solidFill>
            </a:endParaRPr>
          </a:p>
        </p:txBody>
      </p:sp>
      <p:sp>
        <p:nvSpPr>
          <p:cNvPr id="3" name="Content Placeholder 2">
            <a:extLst>
              <a:ext uri="{FF2B5EF4-FFF2-40B4-BE49-F238E27FC236}">
                <a16:creationId xmlns:a16="http://schemas.microsoft.com/office/drawing/2014/main" id="{C883C660-038A-4B86-84DC-11F83160C6EE}"/>
              </a:ext>
            </a:extLst>
          </p:cNvPr>
          <p:cNvSpPr>
            <a:spLocks noGrp="1"/>
          </p:cNvSpPr>
          <p:nvPr>
            <p:ph idx="1"/>
          </p:nvPr>
        </p:nvSpPr>
        <p:spPr>
          <a:xfrm>
            <a:off x="457200" y="1905000"/>
            <a:ext cx="8229600" cy="4501488"/>
          </a:xfrm>
        </p:spPr>
        <p:txBody>
          <a:bodyPr>
            <a:normAutofit/>
          </a:bodyPr>
          <a:lstStyle/>
          <a:p>
            <a:r>
              <a:rPr lang="en-US" sz="2400" dirty="0" smtClean="0"/>
              <a:t>Personal Finance</a:t>
            </a:r>
          </a:p>
          <a:p>
            <a:r>
              <a:rPr lang="en-US" sz="2400" dirty="0" smtClean="0"/>
              <a:t>Financial </a:t>
            </a:r>
            <a:r>
              <a:rPr lang="en-US" sz="2400" dirty="0"/>
              <a:t>Management / Managerial/Corporate Finance</a:t>
            </a:r>
          </a:p>
          <a:p>
            <a:r>
              <a:rPr lang="en-US" sz="2400" dirty="0"/>
              <a:t>Financial Markets and Institutions / Finance Services</a:t>
            </a:r>
          </a:p>
          <a:p>
            <a:r>
              <a:rPr lang="en-US" sz="2400" dirty="0"/>
              <a:t>Investments and Behavioral Finance</a:t>
            </a:r>
          </a:p>
          <a:p>
            <a:r>
              <a:rPr lang="en-US" sz="2400" dirty="0"/>
              <a:t>Financial Derivatives and Engineering &amp; Risk Management</a:t>
            </a:r>
          </a:p>
          <a:p>
            <a:r>
              <a:rPr lang="en-US" sz="2400" dirty="0"/>
              <a:t>International Finance</a:t>
            </a:r>
          </a:p>
          <a:p>
            <a:endParaRPr lang="en-US" sz="2400" dirty="0"/>
          </a:p>
        </p:txBody>
      </p:sp>
      <p:sp>
        <p:nvSpPr>
          <p:cNvPr id="4" name="Slide Number Placeholder 3">
            <a:extLst>
              <a:ext uri="{FF2B5EF4-FFF2-40B4-BE49-F238E27FC236}">
                <a16:creationId xmlns:a16="http://schemas.microsoft.com/office/drawing/2014/main" id="{7F28FE39-F5DE-4A57-A73D-983961743EA8}"/>
              </a:ext>
            </a:extLst>
          </p:cNvPr>
          <p:cNvSpPr>
            <a:spLocks noGrp="1"/>
          </p:cNvSpPr>
          <p:nvPr>
            <p:ph type="sldNum" sz="quarter" idx="12"/>
          </p:nvPr>
        </p:nvSpPr>
        <p:spPr/>
        <p:txBody>
          <a:bodyPr/>
          <a:lstStyle/>
          <a:p>
            <a:pPr>
              <a:defRPr/>
            </a:pPr>
            <a:fld id="{7CD637C6-3A19-4914-A616-01A59BB83BF2}" type="slidenum">
              <a:rPr lang="en-US" smtClean="0"/>
              <a:pPr>
                <a:defRPr/>
              </a:pPr>
              <a:t>10</a:t>
            </a:fld>
            <a:endParaRPr lang="en-US" dirty="0"/>
          </a:p>
        </p:txBody>
      </p:sp>
    </p:spTree>
    <p:extLst>
      <p:ext uri="{BB962C8B-B14F-4D97-AF65-F5344CB8AC3E}">
        <p14:creationId xmlns:p14="http://schemas.microsoft.com/office/powerpoint/2010/main" val="12473326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C6B4E-0FDB-46E3-AF86-869618D74F0B}"/>
              </a:ext>
            </a:extLst>
          </p:cNvPr>
          <p:cNvSpPr>
            <a:spLocks noGrp="1"/>
          </p:cNvSpPr>
          <p:nvPr>
            <p:ph type="title"/>
          </p:nvPr>
        </p:nvSpPr>
        <p:spPr>
          <a:xfrm>
            <a:off x="266700" y="228600"/>
            <a:ext cx="8610600" cy="1746912"/>
          </a:xfrm>
        </p:spPr>
        <p:txBody>
          <a:bodyPr>
            <a:noAutofit/>
          </a:bodyPr>
          <a:lstStyle/>
          <a:p>
            <a:pPr algn="ctr"/>
            <a:r>
              <a:rPr lang="en-US" sz="3800" b="1" dirty="0">
                <a:solidFill>
                  <a:srgbClr val="0000FF"/>
                </a:solidFill>
                <a:effectLst/>
                <a:ea typeface="Times New Roman" panose="02020603050405020304" pitchFamily="18" charset="0"/>
                <a:cs typeface="Times New Roman" panose="02020603050405020304" pitchFamily="18" charset="0"/>
              </a:rPr>
              <a:t>Interrelationships of Finance with other Fields of </a:t>
            </a:r>
            <a:br>
              <a:rPr lang="en-US" sz="3800" b="1" dirty="0">
                <a:solidFill>
                  <a:srgbClr val="0000FF"/>
                </a:solidFill>
                <a:effectLst/>
                <a:ea typeface="Times New Roman" panose="02020603050405020304" pitchFamily="18" charset="0"/>
                <a:cs typeface="Times New Roman" panose="02020603050405020304" pitchFamily="18" charset="0"/>
              </a:rPr>
            </a:br>
            <a:r>
              <a:rPr lang="en-US" sz="3800" b="1" dirty="0">
                <a:solidFill>
                  <a:srgbClr val="0000FF"/>
                </a:solidFill>
                <a:effectLst/>
                <a:ea typeface="Times New Roman" panose="02020603050405020304" pitchFamily="18" charset="0"/>
                <a:cs typeface="Times New Roman" panose="02020603050405020304" pitchFamily="18" charset="0"/>
              </a:rPr>
              <a:t>Business Administration</a:t>
            </a:r>
            <a:endParaRPr lang="en-US" sz="3800" b="1" dirty="0">
              <a:solidFill>
                <a:srgbClr val="0000FF"/>
              </a:solidFill>
            </a:endParaRPr>
          </a:p>
        </p:txBody>
      </p:sp>
      <p:sp>
        <p:nvSpPr>
          <p:cNvPr id="3" name="Content Placeholder 2">
            <a:extLst>
              <a:ext uri="{FF2B5EF4-FFF2-40B4-BE49-F238E27FC236}">
                <a16:creationId xmlns:a16="http://schemas.microsoft.com/office/drawing/2014/main" id="{C883C660-038A-4B86-84DC-11F83160C6EE}"/>
              </a:ext>
            </a:extLst>
          </p:cNvPr>
          <p:cNvSpPr>
            <a:spLocks noGrp="1"/>
          </p:cNvSpPr>
          <p:nvPr>
            <p:ph idx="1"/>
          </p:nvPr>
        </p:nvSpPr>
        <p:spPr>
          <a:xfrm>
            <a:off x="457200" y="2514600"/>
            <a:ext cx="8229600" cy="3733800"/>
          </a:xfrm>
        </p:spPr>
        <p:txBody>
          <a:bodyPr>
            <a:normAutofit/>
          </a:bodyPr>
          <a:lstStyle/>
          <a:p>
            <a:r>
              <a:rPr lang="en-US" sz="2400" dirty="0">
                <a:solidFill>
                  <a:schemeClr val="tx1">
                    <a:lumMod val="85000"/>
                    <a:lumOff val="15000"/>
                  </a:schemeClr>
                </a:solidFill>
              </a:rPr>
              <a:t>Economics</a:t>
            </a:r>
          </a:p>
          <a:p>
            <a:r>
              <a:rPr lang="en-US" sz="2400" dirty="0">
                <a:solidFill>
                  <a:schemeClr val="tx1">
                    <a:lumMod val="85000"/>
                    <a:lumOff val="15000"/>
                  </a:schemeClr>
                </a:solidFill>
              </a:rPr>
              <a:t>Accounting</a:t>
            </a:r>
          </a:p>
          <a:p>
            <a:r>
              <a:rPr lang="en-US" sz="2400" dirty="0" smtClean="0">
                <a:solidFill>
                  <a:schemeClr val="tx1">
                    <a:lumMod val="85000"/>
                    <a:lumOff val="15000"/>
                  </a:schemeClr>
                </a:solidFill>
              </a:rPr>
              <a:t>Management (including HRM and Strategy)</a:t>
            </a:r>
            <a:endParaRPr lang="en-US" sz="2400" dirty="0">
              <a:solidFill>
                <a:schemeClr val="tx1">
                  <a:lumMod val="85000"/>
                  <a:lumOff val="15000"/>
                </a:schemeClr>
              </a:solidFill>
            </a:endParaRPr>
          </a:p>
          <a:p>
            <a:r>
              <a:rPr lang="en-US" sz="2400" dirty="0" smtClean="0">
                <a:solidFill>
                  <a:schemeClr val="tx1">
                    <a:lumMod val="85000"/>
                    <a:lumOff val="15000"/>
                  </a:schemeClr>
                </a:solidFill>
              </a:rPr>
              <a:t>Marketing and Entrepreneurship</a:t>
            </a:r>
            <a:endParaRPr lang="en-US" sz="2400" dirty="0">
              <a:solidFill>
                <a:schemeClr val="tx1">
                  <a:lumMod val="85000"/>
                  <a:lumOff val="15000"/>
                </a:schemeClr>
              </a:solidFill>
            </a:endParaRPr>
          </a:p>
          <a:p>
            <a:r>
              <a:rPr lang="en-US" sz="2400" dirty="0">
                <a:solidFill>
                  <a:schemeClr val="tx1">
                    <a:lumMod val="85000"/>
                    <a:lumOff val="15000"/>
                  </a:schemeClr>
                </a:solidFill>
              </a:rPr>
              <a:t>Operations and Supply Chain Management</a:t>
            </a:r>
          </a:p>
          <a:p>
            <a:r>
              <a:rPr lang="en-US" sz="2400" dirty="0">
                <a:solidFill>
                  <a:schemeClr val="tx1">
                    <a:lumMod val="85000"/>
                    <a:lumOff val="15000"/>
                  </a:schemeClr>
                </a:solidFill>
              </a:rPr>
              <a:t>Information Systems &amp; Technology</a:t>
            </a:r>
          </a:p>
        </p:txBody>
      </p:sp>
      <p:sp>
        <p:nvSpPr>
          <p:cNvPr id="4" name="Slide Number Placeholder 3">
            <a:extLst>
              <a:ext uri="{FF2B5EF4-FFF2-40B4-BE49-F238E27FC236}">
                <a16:creationId xmlns:a16="http://schemas.microsoft.com/office/drawing/2014/main" id="{7F28FE39-F5DE-4A57-A73D-983961743EA8}"/>
              </a:ext>
            </a:extLst>
          </p:cNvPr>
          <p:cNvSpPr>
            <a:spLocks noGrp="1"/>
          </p:cNvSpPr>
          <p:nvPr>
            <p:ph type="sldNum" sz="quarter" idx="12"/>
          </p:nvPr>
        </p:nvSpPr>
        <p:spPr/>
        <p:txBody>
          <a:bodyPr/>
          <a:lstStyle/>
          <a:p>
            <a:pPr>
              <a:defRPr/>
            </a:pPr>
            <a:fld id="{7CD637C6-3A19-4914-A616-01A59BB83BF2}" type="slidenum">
              <a:rPr lang="en-US" smtClean="0"/>
              <a:pPr>
                <a:defRPr/>
              </a:pPr>
              <a:t>11</a:t>
            </a:fld>
            <a:endParaRPr lang="en-US" dirty="0"/>
          </a:p>
        </p:txBody>
      </p:sp>
    </p:spTree>
    <p:extLst>
      <p:ext uri="{BB962C8B-B14F-4D97-AF65-F5344CB8AC3E}">
        <p14:creationId xmlns:p14="http://schemas.microsoft.com/office/powerpoint/2010/main" val="5017771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C6B4E-0FDB-46E3-AF86-869618D74F0B}"/>
              </a:ext>
            </a:extLst>
          </p:cNvPr>
          <p:cNvSpPr>
            <a:spLocks noGrp="1"/>
          </p:cNvSpPr>
          <p:nvPr>
            <p:ph type="title"/>
          </p:nvPr>
        </p:nvSpPr>
        <p:spPr>
          <a:xfrm>
            <a:off x="152400" y="304800"/>
            <a:ext cx="8839200" cy="762000"/>
          </a:xfrm>
        </p:spPr>
        <p:txBody>
          <a:bodyPr>
            <a:noAutofit/>
          </a:bodyPr>
          <a:lstStyle/>
          <a:p>
            <a:pPr marL="228600" marR="0" algn="ctr">
              <a:lnSpc>
                <a:spcPct val="107000"/>
              </a:lnSpc>
              <a:spcBef>
                <a:spcPts val="0"/>
              </a:spcBef>
              <a:spcAft>
                <a:spcPts val="0"/>
              </a:spcAft>
            </a:pPr>
            <a:r>
              <a:rPr lang="en-US" sz="4400" b="1" dirty="0">
                <a:solidFill>
                  <a:srgbClr val="0000FF"/>
                </a:solidFill>
                <a:effectLst/>
                <a:ea typeface="Times New Roman" panose="02020603050405020304" pitchFamily="18" charset="0"/>
                <a:cs typeface="Times New Roman" panose="02020603050405020304" pitchFamily="18" charset="0"/>
              </a:rPr>
              <a:t>Career Opportunities in Finance</a:t>
            </a:r>
            <a:endParaRPr lang="en-US" sz="4400" b="1" dirty="0">
              <a:solidFill>
                <a:srgbClr val="0000FF"/>
              </a:solidFill>
              <a:effectLst/>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883C660-038A-4B86-84DC-11F83160C6EE}"/>
              </a:ext>
            </a:extLst>
          </p:cNvPr>
          <p:cNvSpPr>
            <a:spLocks noGrp="1"/>
          </p:cNvSpPr>
          <p:nvPr>
            <p:ph idx="1"/>
          </p:nvPr>
        </p:nvSpPr>
        <p:spPr>
          <a:xfrm>
            <a:off x="304800" y="1295400"/>
            <a:ext cx="8153400" cy="5638800"/>
          </a:xfrm>
        </p:spPr>
        <p:txBody>
          <a:bodyPr>
            <a:normAutofit fontScale="47500" lnSpcReduction="20000"/>
          </a:bodyPr>
          <a:lstStyle/>
          <a:p>
            <a:pPr algn="l">
              <a:lnSpc>
                <a:spcPct val="120000"/>
              </a:lnSpc>
              <a:spcBef>
                <a:spcPts val="0"/>
              </a:spcBef>
            </a:pPr>
            <a:r>
              <a:rPr lang="en-US" sz="5800" b="0" i="0" u="none" strike="noStrike" baseline="0" dirty="0">
                <a:solidFill>
                  <a:schemeClr val="tx1">
                    <a:lumMod val="85000"/>
                    <a:lumOff val="15000"/>
                  </a:schemeClr>
                </a:solidFill>
                <a:latin typeface="+mj-lt"/>
              </a:rPr>
              <a:t>Careers in finance typically fall into one of two broad categories: </a:t>
            </a:r>
          </a:p>
          <a:p>
            <a:pPr lvl="1">
              <a:lnSpc>
                <a:spcPct val="120000"/>
              </a:lnSpc>
              <a:spcBef>
                <a:spcPts val="0"/>
              </a:spcBef>
            </a:pPr>
            <a:r>
              <a:rPr lang="en-US" sz="5800" dirty="0">
                <a:solidFill>
                  <a:schemeClr val="tx1">
                    <a:lumMod val="85000"/>
                    <a:lumOff val="15000"/>
                  </a:schemeClr>
                </a:solidFill>
                <a:latin typeface="+mj-lt"/>
              </a:rPr>
              <a:t>F</a:t>
            </a:r>
            <a:r>
              <a:rPr lang="en-US" sz="5800" b="0" i="0" u="none" strike="noStrike" baseline="0" dirty="0">
                <a:solidFill>
                  <a:schemeClr val="tx1">
                    <a:lumMod val="85000"/>
                    <a:lumOff val="15000"/>
                  </a:schemeClr>
                </a:solidFill>
                <a:latin typeface="+mj-lt"/>
              </a:rPr>
              <a:t>inancial services and </a:t>
            </a:r>
          </a:p>
          <a:p>
            <a:pPr lvl="1">
              <a:lnSpc>
                <a:spcPct val="120000"/>
              </a:lnSpc>
              <a:spcBef>
                <a:spcPts val="0"/>
              </a:spcBef>
            </a:pPr>
            <a:r>
              <a:rPr lang="en-US" sz="5800" dirty="0">
                <a:solidFill>
                  <a:schemeClr val="tx1">
                    <a:lumMod val="85000"/>
                    <a:lumOff val="15000"/>
                  </a:schemeClr>
                </a:solidFill>
                <a:latin typeface="+mj-lt"/>
              </a:rPr>
              <a:t>M</a:t>
            </a:r>
            <a:r>
              <a:rPr lang="en-US" sz="5800" b="0" i="0" u="none" strike="noStrike" baseline="0" dirty="0">
                <a:solidFill>
                  <a:schemeClr val="tx1">
                    <a:lumMod val="85000"/>
                    <a:lumOff val="15000"/>
                  </a:schemeClr>
                </a:solidFill>
                <a:latin typeface="+mj-lt"/>
              </a:rPr>
              <a:t>anagerial </a:t>
            </a:r>
            <a:r>
              <a:rPr lang="en-US" sz="5800" b="0" i="0" u="none" strike="noStrike" baseline="0" dirty="0" smtClean="0">
                <a:solidFill>
                  <a:schemeClr val="tx1">
                    <a:lumMod val="85000"/>
                    <a:lumOff val="15000"/>
                  </a:schemeClr>
                </a:solidFill>
                <a:latin typeface="+mj-lt"/>
              </a:rPr>
              <a:t>finance</a:t>
            </a:r>
          </a:p>
          <a:p>
            <a:pPr marL="457200" lvl="1" indent="0">
              <a:lnSpc>
                <a:spcPct val="120000"/>
              </a:lnSpc>
              <a:spcBef>
                <a:spcPts val="0"/>
              </a:spcBef>
              <a:buNone/>
            </a:pPr>
            <a:endParaRPr lang="en-US" sz="1300" b="0" i="0" u="none" strike="noStrike" baseline="0" dirty="0">
              <a:solidFill>
                <a:schemeClr val="tx1">
                  <a:lumMod val="85000"/>
                  <a:lumOff val="15000"/>
                </a:schemeClr>
              </a:solidFill>
              <a:latin typeface="+mj-lt"/>
            </a:endParaRPr>
          </a:p>
          <a:p>
            <a:pPr marL="0" indent="0" algn="l">
              <a:lnSpc>
                <a:spcPct val="120000"/>
              </a:lnSpc>
              <a:spcBef>
                <a:spcPts val="0"/>
              </a:spcBef>
              <a:buNone/>
            </a:pPr>
            <a:endParaRPr lang="en-US" sz="1300" b="0" i="0" u="none" strike="noStrike" baseline="0" dirty="0">
              <a:solidFill>
                <a:schemeClr val="tx1">
                  <a:lumMod val="85000"/>
                  <a:lumOff val="15000"/>
                </a:schemeClr>
              </a:solidFill>
              <a:latin typeface="+mj-lt"/>
            </a:endParaRPr>
          </a:p>
          <a:p>
            <a:pPr algn="just">
              <a:lnSpc>
                <a:spcPct val="120000"/>
              </a:lnSpc>
              <a:spcBef>
                <a:spcPts val="0"/>
              </a:spcBef>
            </a:pPr>
            <a:r>
              <a:rPr lang="en-US" sz="5100" b="1" i="0" u="none" strike="noStrike" baseline="0" dirty="0">
                <a:solidFill>
                  <a:schemeClr val="tx1">
                    <a:lumMod val="95000"/>
                    <a:lumOff val="5000"/>
                  </a:schemeClr>
                </a:solidFill>
                <a:latin typeface="+mj-lt"/>
              </a:rPr>
              <a:t>Financial services </a:t>
            </a:r>
            <a:r>
              <a:rPr lang="en-US" sz="5100" b="0" i="0" u="none" strike="noStrike" baseline="0" dirty="0">
                <a:solidFill>
                  <a:schemeClr val="tx1">
                    <a:lumMod val="85000"/>
                    <a:lumOff val="15000"/>
                  </a:schemeClr>
                </a:solidFill>
                <a:latin typeface="+mj-lt"/>
              </a:rPr>
              <a:t>is the area of finance concerned with the design and delivery of </a:t>
            </a:r>
            <a:r>
              <a:rPr lang="en-US" sz="5100" b="0" i="0" u="none" strike="noStrike" baseline="0" dirty="0" smtClean="0">
                <a:solidFill>
                  <a:schemeClr val="tx1">
                    <a:lumMod val="85000"/>
                    <a:lumOff val="15000"/>
                  </a:schemeClr>
                </a:solidFill>
                <a:latin typeface="+mj-lt"/>
              </a:rPr>
              <a:t>financial products and advice </a:t>
            </a:r>
            <a:r>
              <a:rPr lang="en-US" sz="5100" b="0" i="0" u="none" strike="noStrike" baseline="0" dirty="0">
                <a:solidFill>
                  <a:schemeClr val="tx1">
                    <a:lumMod val="85000"/>
                    <a:lumOff val="15000"/>
                  </a:schemeClr>
                </a:solidFill>
                <a:latin typeface="+mj-lt"/>
              </a:rPr>
              <a:t>to individuals, businesses, and governments. It involves a variety of interesting career opportunities within the areas </a:t>
            </a:r>
            <a:r>
              <a:rPr lang="en-US" sz="5100" b="0" i="0" u="none" strike="noStrike" baseline="0" dirty="0" smtClean="0">
                <a:solidFill>
                  <a:schemeClr val="tx1">
                    <a:lumMod val="85000"/>
                    <a:lumOff val="15000"/>
                  </a:schemeClr>
                </a:solidFill>
                <a:latin typeface="+mj-lt"/>
              </a:rPr>
              <a:t>of:</a:t>
            </a:r>
          </a:p>
          <a:p>
            <a:pPr lvl="1" algn="just">
              <a:lnSpc>
                <a:spcPct val="120000"/>
              </a:lnSpc>
              <a:spcBef>
                <a:spcPts val="0"/>
              </a:spcBef>
            </a:pPr>
            <a:r>
              <a:rPr lang="en-US" sz="4200" b="0" i="0" u="none" strike="noStrike" baseline="0" dirty="0" smtClean="0">
                <a:solidFill>
                  <a:schemeClr val="tx1">
                    <a:lumMod val="85000"/>
                    <a:lumOff val="15000"/>
                  </a:schemeClr>
                </a:solidFill>
                <a:latin typeface="+mj-lt"/>
              </a:rPr>
              <a:t>Banking</a:t>
            </a:r>
          </a:p>
          <a:p>
            <a:pPr lvl="1" algn="just">
              <a:lnSpc>
                <a:spcPct val="120000"/>
              </a:lnSpc>
              <a:spcBef>
                <a:spcPts val="0"/>
              </a:spcBef>
            </a:pPr>
            <a:r>
              <a:rPr lang="en-US" sz="4200" b="0" i="0" u="none" strike="noStrike" baseline="0" dirty="0" smtClean="0">
                <a:solidFill>
                  <a:schemeClr val="tx1">
                    <a:lumMod val="85000"/>
                    <a:lumOff val="15000"/>
                  </a:schemeClr>
                </a:solidFill>
                <a:latin typeface="+mj-lt"/>
              </a:rPr>
              <a:t>personal </a:t>
            </a:r>
            <a:r>
              <a:rPr lang="en-US" sz="4200" b="0" i="0" u="none" strike="noStrike" baseline="0" dirty="0">
                <a:solidFill>
                  <a:schemeClr val="tx1">
                    <a:lumMod val="85000"/>
                    <a:lumOff val="15000"/>
                  </a:schemeClr>
                </a:solidFill>
                <a:latin typeface="+mj-lt"/>
              </a:rPr>
              <a:t>financial </a:t>
            </a:r>
            <a:r>
              <a:rPr lang="en-US" sz="4200" b="0" i="0" u="none" strike="noStrike" baseline="0" dirty="0" smtClean="0">
                <a:solidFill>
                  <a:schemeClr val="tx1">
                    <a:lumMod val="85000"/>
                    <a:lumOff val="15000"/>
                  </a:schemeClr>
                </a:solidFill>
                <a:latin typeface="+mj-lt"/>
              </a:rPr>
              <a:t>planning</a:t>
            </a:r>
          </a:p>
          <a:p>
            <a:pPr lvl="1" algn="just">
              <a:lnSpc>
                <a:spcPct val="120000"/>
              </a:lnSpc>
              <a:spcBef>
                <a:spcPts val="0"/>
              </a:spcBef>
            </a:pPr>
            <a:r>
              <a:rPr lang="en-US" sz="4200" b="0" i="0" u="none" strike="noStrike" baseline="0" dirty="0" smtClean="0">
                <a:solidFill>
                  <a:schemeClr val="tx1">
                    <a:lumMod val="85000"/>
                    <a:lumOff val="15000"/>
                  </a:schemeClr>
                </a:solidFill>
                <a:latin typeface="+mj-lt"/>
              </a:rPr>
              <a:t>Investments</a:t>
            </a:r>
          </a:p>
          <a:p>
            <a:pPr lvl="1" algn="just">
              <a:lnSpc>
                <a:spcPct val="120000"/>
              </a:lnSpc>
              <a:spcBef>
                <a:spcPts val="0"/>
              </a:spcBef>
            </a:pPr>
            <a:r>
              <a:rPr lang="en-US" sz="4200" dirty="0">
                <a:solidFill>
                  <a:schemeClr val="tx1">
                    <a:lumMod val="85000"/>
                    <a:lumOff val="15000"/>
                  </a:schemeClr>
                </a:solidFill>
                <a:latin typeface="+mj-lt"/>
              </a:rPr>
              <a:t>R</a:t>
            </a:r>
            <a:r>
              <a:rPr lang="en-US" sz="4200" b="0" i="0" u="none" strike="noStrike" baseline="0" dirty="0" smtClean="0">
                <a:solidFill>
                  <a:schemeClr val="tx1">
                    <a:lumMod val="85000"/>
                    <a:lumOff val="15000"/>
                  </a:schemeClr>
                </a:solidFill>
                <a:latin typeface="+mj-lt"/>
              </a:rPr>
              <a:t>eal estate</a:t>
            </a:r>
          </a:p>
          <a:p>
            <a:pPr lvl="1" algn="just">
              <a:lnSpc>
                <a:spcPct val="120000"/>
              </a:lnSpc>
              <a:spcBef>
                <a:spcPts val="0"/>
              </a:spcBef>
            </a:pPr>
            <a:r>
              <a:rPr lang="en-US" sz="4200" dirty="0" smtClean="0">
                <a:solidFill>
                  <a:schemeClr val="tx1">
                    <a:lumMod val="85000"/>
                    <a:lumOff val="15000"/>
                  </a:schemeClr>
                </a:solidFill>
                <a:latin typeface="+mj-lt"/>
              </a:rPr>
              <a:t>I</a:t>
            </a:r>
            <a:r>
              <a:rPr lang="en-US" sz="4200" b="0" i="0" u="none" strike="noStrike" baseline="0" dirty="0" smtClean="0">
                <a:solidFill>
                  <a:schemeClr val="tx1">
                    <a:lumMod val="85000"/>
                    <a:lumOff val="15000"/>
                  </a:schemeClr>
                </a:solidFill>
                <a:latin typeface="+mj-lt"/>
              </a:rPr>
              <a:t>nsurance</a:t>
            </a:r>
          </a:p>
          <a:p>
            <a:pPr lvl="1" algn="just">
              <a:lnSpc>
                <a:spcPct val="120000"/>
              </a:lnSpc>
              <a:spcBef>
                <a:spcPts val="0"/>
              </a:spcBef>
            </a:pPr>
            <a:r>
              <a:rPr lang="en-US" sz="4200" dirty="0" smtClean="0">
                <a:solidFill>
                  <a:schemeClr val="tx1">
                    <a:lumMod val="85000"/>
                    <a:lumOff val="15000"/>
                  </a:schemeClr>
                </a:solidFill>
                <a:latin typeface="+mj-lt"/>
              </a:rPr>
              <a:t>Etc.</a:t>
            </a:r>
            <a:endParaRPr lang="en-US" sz="4200" b="0" i="0" u="none" strike="noStrike" baseline="0" dirty="0">
              <a:solidFill>
                <a:schemeClr val="tx1">
                  <a:lumMod val="85000"/>
                  <a:lumOff val="15000"/>
                </a:schemeClr>
              </a:solidFill>
              <a:latin typeface="+mj-lt"/>
            </a:endParaRPr>
          </a:p>
          <a:p>
            <a:pPr marL="0" indent="0" algn="l">
              <a:lnSpc>
                <a:spcPct val="120000"/>
              </a:lnSpc>
              <a:spcBef>
                <a:spcPts val="0"/>
              </a:spcBef>
              <a:buNone/>
            </a:pPr>
            <a:endParaRPr lang="en-US" sz="1300" dirty="0">
              <a:solidFill>
                <a:schemeClr val="tx1">
                  <a:lumMod val="85000"/>
                  <a:lumOff val="15000"/>
                </a:schemeClr>
              </a:solidFill>
              <a:latin typeface="+mj-lt"/>
            </a:endParaRPr>
          </a:p>
        </p:txBody>
      </p:sp>
      <p:sp>
        <p:nvSpPr>
          <p:cNvPr id="4" name="Slide Number Placeholder 3">
            <a:extLst>
              <a:ext uri="{FF2B5EF4-FFF2-40B4-BE49-F238E27FC236}">
                <a16:creationId xmlns:a16="http://schemas.microsoft.com/office/drawing/2014/main" id="{7F28FE39-F5DE-4A57-A73D-983961743EA8}"/>
              </a:ext>
            </a:extLst>
          </p:cNvPr>
          <p:cNvSpPr>
            <a:spLocks noGrp="1"/>
          </p:cNvSpPr>
          <p:nvPr>
            <p:ph type="sldNum" sz="quarter" idx="12"/>
          </p:nvPr>
        </p:nvSpPr>
        <p:spPr/>
        <p:txBody>
          <a:bodyPr/>
          <a:lstStyle/>
          <a:p>
            <a:pPr>
              <a:defRPr/>
            </a:pPr>
            <a:fld id="{7CD637C6-3A19-4914-A616-01A59BB83BF2}" type="slidenum">
              <a:rPr lang="en-US" smtClean="0"/>
              <a:pPr>
                <a:defRPr/>
              </a:pPr>
              <a:t>12</a:t>
            </a:fld>
            <a:endParaRPr lang="en-US" dirty="0"/>
          </a:p>
        </p:txBody>
      </p:sp>
    </p:spTree>
    <p:extLst>
      <p:ext uri="{BB962C8B-B14F-4D97-AF65-F5344CB8AC3E}">
        <p14:creationId xmlns:p14="http://schemas.microsoft.com/office/powerpoint/2010/main" val="24497924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C6B4E-0FDB-46E3-AF86-869618D74F0B}"/>
              </a:ext>
            </a:extLst>
          </p:cNvPr>
          <p:cNvSpPr>
            <a:spLocks noGrp="1"/>
          </p:cNvSpPr>
          <p:nvPr>
            <p:ph type="title"/>
          </p:nvPr>
        </p:nvSpPr>
        <p:spPr>
          <a:xfrm>
            <a:off x="152400" y="304800"/>
            <a:ext cx="8839200" cy="762000"/>
          </a:xfrm>
        </p:spPr>
        <p:txBody>
          <a:bodyPr>
            <a:noAutofit/>
          </a:bodyPr>
          <a:lstStyle/>
          <a:p>
            <a:pPr marL="228600" marR="0" algn="ctr">
              <a:lnSpc>
                <a:spcPct val="107000"/>
              </a:lnSpc>
              <a:spcBef>
                <a:spcPts val="0"/>
              </a:spcBef>
              <a:spcAft>
                <a:spcPts val="0"/>
              </a:spcAft>
            </a:pPr>
            <a:r>
              <a:rPr lang="en-US" sz="4400" b="1" dirty="0">
                <a:solidFill>
                  <a:srgbClr val="0000FF"/>
                </a:solidFill>
                <a:effectLst/>
                <a:ea typeface="Times New Roman" panose="02020603050405020304" pitchFamily="18" charset="0"/>
                <a:cs typeface="Times New Roman" panose="02020603050405020304" pitchFamily="18" charset="0"/>
              </a:rPr>
              <a:t>Career Opportunities in Finance</a:t>
            </a:r>
            <a:endParaRPr lang="en-US" sz="4400" b="1" dirty="0">
              <a:solidFill>
                <a:srgbClr val="0000FF"/>
              </a:solidFill>
              <a:effectLst/>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883C660-038A-4B86-84DC-11F83160C6EE}"/>
              </a:ext>
            </a:extLst>
          </p:cNvPr>
          <p:cNvSpPr>
            <a:spLocks noGrp="1"/>
          </p:cNvSpPr>
          <p:nvPr>
            <p:ph idx="1"/>
          </p:nvPr>
        </p:nvSpPr>
        <p:spPr>
          <a:xfrm>
            <a:off x="304800" y="1143000"/>
            <a:ext cx="8229600" cy="5715000"/>
          </a:xfrm>
        </p:spPr>
        <p:txBody>
          <a:bodyPr>
            <a:normAutofit/>
          </a:bodyPr>
          <a:lstStyle/>
          <a:p>
            <a:pPr marL="0" indent="0" algn="l">
              <a:lnSpc>
                <a:spcPct val="120000"/>
              </a:lnSpc>
              <a:spcBef>
                <a:spcPts val="0"/>
              </a:spcBef>
              <a:buNone/>
            </a:pPr>
            <a:endParaRPr lang="en-US" sz="1300" dirty="0">
              <a:latin typeface="+mj-lt"/>
            </a:endParaRPr>
          </a:p>
          <a:p>
            <a:pPr algn="just">
              <a:lnSpc>
                <a:spcPct val="120000"/>
              </a:lnSpc>
              <a:spcBef>
                <a:spcPts val="0"/>
              </a:spcBef>
            </a:pPr>
            <a:r>
              <a:rPr lang="en-US" sz="2600" b="1" i="0" u="none" strike="noStrike" baseline="0" dirty="0">
                <a:latin typeface="+mj-lt"/>
              </a:rPr>
              <a:t>Managerial finance </a:t>
            </a:r>
            <a:r>
              <a:rPr lang="en-US" sz="2600" i="0" u="none" strike="noStrike" baseline="0" dirty="0">
                <a:latin typeface="+mj-lt"/>
              </a:rPr>
              <a:t>is concerned with the duties of the </a:t>
            </a:r>
            <a:r>
              <a:rPr lang="en-US" sz="2600" i="1" u="none" strike="noStrike" baseline="0" dirty="0">
                <a:latin typeface="+mj-lt"/>
              </a:rPr>
              <a:t>financial manager </a:t>
            </a:r>
            <a:r>
              <a:rPr lang="en-US" sz="2600" i="0" u="none" strike="noStrike" baseline="0" dirty="0">
                <a:latin typeface="+mj-lt"/>
              </a:rPr>
              <a:t>working in a business. Financial managers administer the financial affairs of all types of businesses: private and public, large and small, profit seeking and not for profit. They perform such varied </a:t>
            </a:r>
            <a:r>
              <a:rPr lang="en-US" sz="2600" i="0" u="none" strike="noStrike" baseline="0" dirty="0" smtClean="0">
                <a:latin typeface="+mj-lt"/>
              </a:rPr>
              <a:t>tasks:</a:t>
            </a:r>
          </a:p>
          <a:p>
            <a:pPr marL="0" indent="0" algn="just">
              <a:lnSpc>
                <a:spcPct val="120000"/>
              </a:lnSpc>
              <a:spcBef>
                <a:spcPts val="0"/>
              </a:spcBef>
              <a:buNone/>
            </a:pPr>
            <a:endParaRPr lang="en-US" sz="1200" i="0" u="none" strike="noStrike" baseline="0" dirty="0" smtClean="0">
              <a:latin typeface="+mj-lt"/>
            </a:endParaRPr>
          </a:p>
          <a:p>
            <a:pPr lvl="1" algn="just">
              <a:lnSpc>
                <a:spcPct val="120000"/>
              </a:lnSpc>
              <a:spcBef>
                <a:spcPts val="0"/>
              </a:spcBef>
            </a:pPr>
            <a:r>
              <a:rPr lang="en-US" sz="2600" dirty="0">
                <a:latin typeface="+mj-lt"/>
              </a:rPr>
              <a:t>D</a:t>
            </a:r>
            <a:r>
              <a:rPr lang="en-US" sz="2600" i="0" u="none" strike="noStrike" baseline="0" dirty="0" smtClean="0">
                <a:latin typeface="+mj-lt"/>
              </a:rPr>
              <a:t>eveloping financial </a:t>
            </a:r>
            <a:r>
              <a:rPr lang="en-US" sz="2600" i="0" u="none" strike="noStrike" baseline="0" dirty="0">
                <a:latin typeface="+mj-lt"/>
              </a:rPr>
              <a:t>plan or </a:t>
            </a:r>
            <a:r>
              <a:rPr lang="en-US" sz="2600" i="0" u="none" strike="noStrike" baseline="0" dirty="0" smtClean="0">
                <a:latin typeface="+mj-lt"/>
              </a:rPr>
              <a:t>budget</a:t>
            </a:r>
          </a:p>
          <a:p>
            <a:pPr lvl="1" algn="just">
              <a:lnSpc>
                <a:spcPct val="120000"/>
              </a:lnSpc>
              <a:spcBef>
                <a:spcPts val="0"/>
              </a:spcBef>
            </a:pPr>
            <a:r>
              <a:rPr lang="en-US" sz="2600" dirty="0">
                <a:latin typeface="+mj-lt"/>
              </a:rPr>
              <a:t>M</a:t>
            </a:r>
            <a:r>
              <a:rPr lang="en-US" sz="2600" i="0" u="none" strike="noStrike" baseline="0" dirty="0" smtClean="0">
                <a:latin typeface="+mj-lt"/>
              </a:rPr>
              <a:t>anaging cash, credits, inventory, etc.</a:t>
            </a:r>
          </a:p>
          <a:p>
            <a:pPr lvl="1" algn="just">
              <a:lnSpc>
                <a:spcPct val="120000"/>
              </a:lnSpc>
              <a:spcBef>
                <a:spcPts val="0"/>
              </a:spcBef>
            </a:pPr>
            <a:r>
              <a:rPr lang="en-US" sz="2600" dirty="0">
                <a:latin typeface="+mj-lt"/>
              </a:rPr>
              <a:t>E</a:t>
            </a:r>
            <a:r>
              <a:rPr lang="en-US" sz="2600" i="0" u="none" strike="noStrike" baseline="0" dirty="0" smtClean="0">
                <a:latin typeface="+mj-lt"/>
              </a:rPr>
              <a:t>valuating </a:t>
            </a:r>
            <a:r>
              <a:rPr lang="en-US" sz="2600" i="0" u="none" strike="noStrike" baseline="0" dirty="0">
                <a:latin typeface="+mj-lt"/>
              </a:rPr>
              <a:t>proposed large </a:t>
            </a:r>
            <a:r>
              <a:rPr lang="en-US" sz="2600" i="0" u="none" strike="noStrike" baseline="0" dirty="0" smtClean="0">
                <a:latin typeface="+mj-lt"/>
              </a:rPr>
              <a:t>expenditures</a:t>
            </a:r>
          </a:p>
          <a:p>
            <a:pPr lvl="1" algn="just">
              <a:lnSpc>
                <a:spcPct val="120000"/>
              </a:lnSpc>
              <a:spcBef>
                <a:spcPts val="0"/>
              </a:spcBef>
            </a:pPr>
            <a:r>
              <a:rPr lang="en-US" sz="2600" dirty="0">
                <a:latin typeface="+mj-lt"/>
              </a:rPr>
              <a:t>R</a:t>
            </a:r>
            <a:r>
              <a:rPr lang="en-US" sz="2600" i="0" u="none" strike="noStrike" baseline="0" dirty="0" smtClean="0">
                <a:latin typeface="+mj-lt"/>
              </a:rPr>
              <a:t>aising </a:t>
            </a:r>
            <a:r>
              <a:rPr lang="en-US" sz="2600" i="0" u="none" strike="noStrike" baseline="0" dirty="0">
                <a:latin typeface="+mj-lt"/>
              </a:rPr>
              <a:t>money to fund the firm’s operations.</a:t>
            </a:r>
            <a:endParaRPr lang="en-US" sz="2600" dirty="0">
              <a:latin typeface="+mj-lt"/>
            </a:endParaRPr>
          </a:p>
        </p:txBody>
      </p:sp>
      <p:sp>
        <p:nvSpPr>
          <p:cNvPr id="4" name="Slide Number Placeholder 3">
            <a:extLst>
              <a:ext uri="{FF2B5EF4-FFF2-40B4-BE49-F238E27FC236}">
                <a16:creationId xmlns:a16="http://schemas.microsoft.com/office/drawing/2014/main" id="{7F28FE39-F5DE-4A57-A73D-983961743EA8}"/>
              </a:ext>
            </a:extLst>
          </p:cNvPr>
          <p:cNvSpPr>
            <a:spLocks noGrp="1"/>
          </p:cNvSpPr>
          <p:nvPr>
            <p:ph type="sldNum" sz="quarter" idx="12"/>
          </p:nvPr>
        </p:nvSpPr>
        <p:spPr/>
        <p:txBody>
          <a:bodyPr/>
          <a:lstStyle/>
          <a:p>
            <a:pPr>
              <a:defRPr/>
            </a:pPr>
            <a:fld id="{7CD637C6-3A19-4914-A616-01A59BB83BF2}" type="slidenum">
              <a:rPr lang="en-US" smtClean="0"/>
              <a:pPr>
                <a:defRPr/>
              </a:pPr>
              <a:t>13</a:t>
            </a:fld>
            <a:endParaRPr lang="en-US" dirty="0"/>
          </a:p>
        </p:txBody>
      </p:sp>
    </p:spTree>
    <p:extLst>
      <p:ext uri="{BB962C8B-B14F-4D97-AF65-F5344CB8AC3E}">
        <p14:creationId xmlns:p14="http://schemas.microsoft.com/office/powerpoint/2010/main" val="36154980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94BDB1E-AB10-4DD0-9486-5E7DCBD3579E}"/>
              </a:ext>
            </a:extLst>
          </p:cNvPr>
          <p:cNvSpPr>
            <a:spLocks noGrp="1"/>
          </p:cNvSpPr>
          <p:nvPr>
            <p:ph type="sldNum" sz="quarter" idx="12"/>
          </p:nvPr>
        </p:nvSpPr>
        <p:spPr/>
        <p:txBody>
          <a:bodyPr/>
          <a:lstStyle/>
          <a:p>
            <a:pPr>
              <a:defRPr/>
            </a:pPr>
            <a:fld id="{7CD637C6-3A19-4914-A616-01A59BB83BF2}" type="slidenum">
              <a:rPr lang="en-US" smtClean="0"/>
              <a:pPr>
                <a:defRPr/>
              </a:pPr>
              <a:t>14</a:t>
            </a:fld>
            <a:endParaRPr lang="en-US" dirty="0"/>
          </a:p>
        </p:txBody>
      </p:sp>
      <p:sp>
        <p:nvSpPr>
          <p:cNvPr id="10" name="Rectangle 9"/>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37DC79E-A9F5-4336-91B4-F8569CAD69EF}"/>
              </a:ext>
            </a:extLst>
          </p:cNvPr>
          <p:cNvSpPr>
            <a:spLocks noGrp="1"/>
          </p:cNvSpPr>
          <p:nvPr>
            <p:ph type="title"/>
          </p:nvPr>
        </p:nvSpPr>
        <p:spPr>
          <a:xfrm>
            <a:off x="228600" y="152401"/>
            <a:ext cx="8915400" cy="588266"/>
          </a:xfrm>
        </p:spPr>
        <p:txBody>
          <a:bodyPr>
            <a:noAutofit/>
          </a:bodyPr>
          <a:lstStyle/>
          <a:p>
            <a:pPr algn="ctr"/>
            <a:r>
              <a:rPr lang="en-US" sz="2400" b="1" dirty="0">
                <a:solidFill>
                  <a:srgbClr val="0000FF"/>
                </a:solidFill>
              </a:rPr>
              <a:t>Career Opportunities for BBA Finance Majors in Bangladesh</a:t>
            </a:r>
          </a:p>
        </p:txBody>
      </p:sp>
      <p:graphicFrame>
        <p:nvGraphicFramePr>
          <p:cNvPr id="9" name="Table 8"/>
          <p:cNvGraphicFramePr>
            <a:graphicFrameLocks noGrp="1"/>
          </p:cNvGraphicFramePr>
          <p:nvPr>
            <p:extLst/>
          </p:nvPr>
        </p:nvGraphicFramePr>
        <p:xfrm>
          <a:off x="152401" y="740666"/>
          <a:ext cx="8839199" cy="5995414"/>
        </p:xfrm>
        <a:graphic>
          <a:graphicData uri="http://schemas.openxmlformats.org/drawingml/2006/table">
            <a:tbl>
              <a:tblPr firstRow="1" firstCol="1" bandRow="1">
                <a:tableStyleId>{3C2FFA5D-87B4-456A-9821-1D502468CF0F}</a:tableStyleId>
              </a:tblPr>
              <a:tblGrid>
                <a:gridCol w="304798">
                  <a:extLst>
                    <a:ext uri="{9D8B030D-6E8A-4147-A177-3AD203B41FA5}">
                      <a16:colId xmlns:a16="http://schemas.microsoft.com/office/drawing/2014/main" val="2329477805"/>
                    </a:ext>
                  </a:extLst>
                </a:gridCol>
                <a:gridCol w="1828800">
                  <a:extLst>
                    <a:ext uri="{9D8B030D-6E8A-4147-A177-3AD203B41FA5}">
                      <a16:colId xmlns:a16="http://schemas.microsoft.com/office/drawing/2014/main" val="1957474425"/>
                    </a:ext>
                  </a:extLst>
                </a:gridCol>
                <a:gridCol w="2474873">
                  <a:extLst>
                    <a:ext uri="{9D8B030D-6E8A-4147-A177-3AD203B41FA5}">
                      <a16:colId xmlns:a16="http://schemas.microsoft.com/office/drawing/2014/main" val="3876322505"/>
                    </a:ext>
                  </a:extLst>
                </a:gridCol>
                <a:gridCol w="2266462">
                  <a:extLst>
                    <a:ext uri="{9D8B030D-6E8A-4147-A177-3AD203B41FA5}">
                      <a16:colId xmlns:a16="http://schemas.microsoft.com/office/drawing/2014/main" val="1176144686"/>
                    </a:ext>
                  </a:extLst>
                </a:gridCol>
                <a:gridCol w="1208780">
                  <a:extLst>
                    <a:ext uri="{9D8B030D-6E8A-4147-A177-3AD203B41FA5}">
                      <a16:colId xmlns:a16="http://schemas.microsoft.com/office/drawing/2014/main" val="2857067790"/>
                    </a:ext>
                  </a:extLst>
                </a:gridCol>
                <a:gridCol w="755486">
                  <a:extLst>
                    <a:ext uri="{9D8B030D-6E8A-4147-A177-3AD203B41FA5}">
                      <a16:colId xmlns:a16="http://schemas.microsoft.com/office/drawing/2014/main" val="587883415"/>
                    </a:ext>
                  </a:extLst>
                </a:gridCol>
              </a:tblGrid>
              <a:tr h="402334">
                <a:tc>
                  <a:txBody>
                    <a:bodyPr/>
                    <a:lstStyle/>
                    <a:p>
                      <a:pPr marL="0" marR="0" algn="ctr">
                        <a:lnSpc>
                          <a:spcPct val="107000"/>
                        </a:lnSpc>
                        <a:spcBef>
                          <a:spcPts val="0"/>
                        </a:spcBef>
                        <a:spcAft>
                          <a:spcPts val="0"/>
                        </a:spcAft>
                      </a:pPr>
                      <a:r>
                        <a:rPr lang="en-US" sz="1200" dirty="0">
                          <a:effectLst/>
                        </a:rPr>
                        <a:t>Sl.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7000"/>
                        </a:lnSpc>
                        <a:spcBef>
                          <a:spcPts val="0"/>
                        </a:spcBef>
                        <a:spcAft>
                          <a:spcPts val="0"/>
                        </a:spcAft>
                      </a:pPr>
                      <a:r>
                        <a:rPr lang="en-US" sz="1200" dirty="0">
                          <a:effectLst/>
                        </a:rPr>
                        <a:t>Company Name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7000"/>
                        </a:lnSpc>
                        <a:spcBef>
                          <a:spcPts val="0"/>
                        </a:spcBef>
                        <a:spcAft>
                          <a:spcPts val="0"/>
                        </a:spcAft>
                      </a:pPr>
                      <a:r>
                        <a:rPr lang="en-US" sz="1200" dirty="0">
                          <a:effectLst/>
                        </a:rPr>
                        <a:t>Position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7000"/>
                        </a:lnSpc>
                        <a:spcBef>
                          <a:spcPts val="0"/>
                        </a:spcBef>
                        <a:spcAft>
                          <a:spcPts val="0"/>
                        </a:spcAft>
                      </a:pPr>
                      <a:r>
                        <a:rPr lang="en-US" sz="1200" dirty="0">
                          <a:effectLst/>
                        </a:rPr>
                        <a:t>Educational Requirements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7000"/>
                        </a:lnSpc>
                        <a:spcBef>
                          <a:spcPts val="0"/>
                        </a:spcBef>
                        <a:spcAft>
                          <a:spcPts val="0"/>
                        </a:spcAft>
                      </a:pPr>
                      <a:r>
                        <a:rPr lang="en-US" sz="1200" dirty="0">
                          <a:effectLst/>
                        </a:rPr>
                        <a:t>Experience Requirements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7000"/>
                        </a:lnSpc>
                        <a:spcBef>
                          <a:spcPts val="0"/>
                        </a:spcBef>
                        <a:spcAft>
                          <a:spcPts val="0"/>
                        </a:spcAft>
                      </a:pPr>
                      <a:r>
                        <a:rPr lang="en-US" sz="1200" dirty="0">
                          <a:effectLst/>
                        </a:rPr>
                        <a:t>Salary</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extLst>
                  <a:ext uri="{0D108BD9-81ED-4DB2-BD59-A6C34878D82A}">
                    <a16:rowId xmlns:a16="http://schemas.microsoft.com/office/drawing/2014/main" val="4049772082"/>
                  </a:ext>
                </a:extLst>
              </a:tr>
              <a:tr h="304800">
                <a:tc>
                  <a:txBody>
                    <a:bodyPr/>
                    <a:lstStyle/>
                    <a:p>
                      <a:pPr marL="0" marR="0" algn="ctr">
                        <a:lnSpc>
                          <a:spcPct val="100000"/>
                        </a:lnSpc>
                        <a:spcBef>
                          <a:spcPts val="0"/>
                        </a:spcBef>
                        <a:spcAft>
                          <a:spcPts val="0"/>
                        </a:spcAft>
                      </a:pPr>
                      <a:r>
                        <a:rPr lang="en-US" sz="1400" dirty="0">
                          <a:effectLst/>
                        </a:rPr>
                        <a:t>1.</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err="1">
                          <a:effectLst/>
                        </a:rPr>
                        <a:t>Robi</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Specialist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BBA/MBA in Accounting/Finance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err="1">
                          <a:effectLst/>
                        </a:rPr>
                        <a:t>Freshers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100" dirty="0">
                          <a:effectLst/>
                        </a:rPr>
                        <a:t>Negotiable</a:t>
                      </a:r>
                    </a:p>
                    <a:p>
                      <a:pPr marL="0" marR="0" algn="ctr">
                        <a:lnSpc>
                          <a:spcPct val="100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extLst>
                  <a:ext uri="{0D108BD9-81ED-4DB2-BD59-A6C34878D82A}">
                    <a16:rowId xmlns:a16="http://schemas.microsoft.com/office/drawing/2014/main" val="2166650535"/>
                  </a:ext>
                </a:extLst>
              </a:tr>
              <a:tr h="320040">
                <a:tc>
                  <a:txBody>
                    <a:bodyPr/>
                    <a:lstStyle/>
                    <a:p>
                      <a:pPr marL="0" marR="0" algn="ctr">
                        <a:lnSpc>
                          <a:spcPct val="100000"/>
                        </a:lnSpc>
                        <a:spcBef>
                          <a:spcPts val="0"/>
                        </a:spcBef>
                        <a:spcAft>
                          <a:spcPts val="0"/>
                        </a:spcAft>
                      </a:pPr>
                      <a:r>
                        <a:rPr lang="en-US" sz="1400">
                          <a:effectLst/>
                        </a:rPr>
                        <a:t>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Dutch-Bangla Bank Ltd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Management Trainee Officer (MTO)</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Masters in any discipline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a:effectLst/>
                        </a:rPr>
                        <a:t> </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100" dirty="0">
                          <a:effectLst/>
                        </a:rPr>
                        <a:t>55,000/-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extLst>
                  <a:ext uri="{0D108BD9-81ED-4DB2-BD59-A6C34878D82A}">
                    <a16:rowId xmlns:a16="http://schemas.microsoft.com/office/drawing/2014/main" val="428839764"/>
                  </a:ext>
                </a:extLst>
              </a:tr>
              <a:tr h="304800">
                <a:tc>
                  <a:txBody>
                    <a:bodyPr/>
                    <a:lstStyle/>
                    <a:p>
                      <a:pPr marL="0" marR="0" algn="ctr">
                        <a:lnSpc>
                          <a:spcPct val="100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IDLC</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Management Trainee-Investment Banking</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BBA/MBA- Finance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err="1">
                          <a:effectLst/>
                        </a:rPr>
                        <a:t>Freshers</a:t>
                      </a:r>
                      <a:r>
                        <a:rPr lang="en-US" sz="1400" dirty="0">
                          <a:effectLst/>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100" dirty="0">
                          <a:effectLst/>
                        </a:rPr>
                        <a:t>Negotiable</a:t>
                      </a:r>
                    </a:p>
                    <a:p>
                      <a:pPr marL="0" marR="0" algn="ctr">
                        <a:lnSpc>
                          <a:spcPct val="100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extLst>
                  <a:ext uri="{0D108BD9-81ED-4DB2-BD59-A6C34878D82A}">
                    <a16:rowId xmlns:a16="http://schemas.microsoft.com/office/drawing/2014/main" val="3579520605"/>
                  </a:ext>
                </a:extLst>
              </a:tr>
              <a:tr h="472440">
                <a:tc>
                  <a:txBody>
                    <a:bodyPr/>
                    <a:lstStyle/>
                    <a:p>
                      <a:pPr marL="0" marR="0" algn="ctr">
                        <a:lnSpc>
                          <a:spcPct val="100000"/>
                        </a:lnSpc>
                        <a:spcBef>
                          <a:spcPts val="0"/>
                        </a:spcBef>
                        <a:spcAft>
                          <a:spcPts val="0"/>
                        </a:spcAft>
                      </a:pPr>
                      <a:r>
                        <a:rPr lang="en-US" sz="1400">
                          <a:effectLst/>
                        </a:rPr>
                        <a:t>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Bangladesh Finance Limited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Relationship Officer/ Senior Relationship </a:t>
                      </a:r>
                      <a:r>
                        <a:rPr lang="en-US" sz="1400" dirty="0" smtClean="0">
                          <a:effectLst/>
                        </a:rPr>
                        <a:t>Officer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smtClean="0">
                          <a:effectLst/>
                        </a:rPr>
                        <a:t>Post-graduation in </a:t>
                      </a:r>
                      <a:r>
                        <a:rPr lang="en-US" sz="1400" dirty="0">
                          <a:effectLst/>
                        </a:rPr>
                        <a:t>Business Studies.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b="0" dirty="0" smtClean="0">
                          <a:effectLst/>
                        </a:rPr>
                        <a:t>0-1year(s</a:t>
                      </a:r>
                      <a:r>
                        <a:rPr lang="en-US" sz="1400" b="0" dirty="0">
                          <a:effectLst/>
                        </a:rPr>
                        <a:t>)</a:t>
                      </a:r>
                    </a:p>
                    <a:p>
                      <a:pPr marL="0" marR="0" algn="ctr">
                        <a:lnSpc>
                          <a:spcPct val="100000"/>
                        </a:lnSpc>
                        <a:spcBef>
                          <a:spcPts val="0"/>
                        </a:spcBef>
                        <a:spcAft>
                          <a:spcPts val="0"/>
                        </a:spcAft>
                      </a:pP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lnR w="12700" cap="flat" cmpd="sng" algn="ctr">
                      <a:solidFill>
                        <a:schemeClr val="accent1"/>
                      </a:solidFill>
                      <a:prstDash val="solid"/>
                      <a:round/>
                      <a:headEnd type="none" w="med" len="med"/>
                      <a:tailEnd type="none" w="med" len="med"/>
                    </a:lnR>
                  </a:tcPr>
                </a:tc>
                <a:tc>
                  <a:txBody>
                    <a:bodyPr/>
                    <a:lstStyle/>
                    <a:p>
                      <a:pPr marL="0" marR="0" algn="ctr">
                        <a:lnSpc>
                          <a:spcPct val="100000"/>
                        </a:lnSpc>
                        <a:spcBef>
                          <a:spcPts val="0"/>
                        </a:spcBef>
                        <a:spcAft>
                          <a:spcPts val="0"/>
                        </a:spcAft>
                      </a:pPr>
                      <a:r>
                        <a:rPr lang="en-US" sz="1100" dirty="0">
                          <a:effectLst/>
                        </a:rPr>
                        <a:t>Negotiable</a:t>
                      </a:r>
                    </a:p>
                    <a:p>
                      <a:pPr marL="381000" marR="0" algn="ctr">
                        <a:lnSpc>
                          <a:spcPct val="100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1894260869"/>
                  </a:ext>
                </a:extLst>
              </a:tr>
              <a:tr h="457200">
                <a:tc>
                  <a:txBody>
                    <a:bodyPr/>
                    <a:lstStyle/>
                    <a:p>
                      <a:pPr marL="0" marR="0" algn="ctr">
                        <a:lnSpc>
                          <a:spcPct val="100000"/>
                        </a:lnSpc>
                        <a:spcBef>
                          <a:spcPts val="0"/>
                        </a:spcBef>
                        <a:spcAft>
                          <a:spcPts val="0"/>
                        </a:spcAft>
                      </a:pPr>
                      <a:r>
                        <a:rPr lang="en-US" sz="1400">
                          <a:effectLst/>
                        </a:rPr>
                        <a:t>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err="1">
                          <a:effectLst/>
                        </a:rPr>
                        <a:t>Pran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Business Development Executive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MBA/BBA or equivalent degree in Business </a:t>
                      </a:r>
                      <a:r>
                        <a:rPr lang="en-US" sz="1400" dirty="0" smtClean="0">
                          <a:effectLst/>
                        </a:rPr>
                        <a:t>Studies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smtClean="0">
                          <a:effectLst/>
                        </a:rPr>
                        <a:t>0-1 </a:t>
                      </a:r>
                      <a:r>
                        <a:rPr lang="en-US" sz="1400" dirty="0">
                          <a:effectLst/>
                        </a:rPr>
                        <a:t>year(s</a:t>
                      </a:r>
                      <a:r>
                        <a:rPr lang="en-US" sz="1400" dirty="0" smtClean="0">
                          <a:effectLst/>
                        </a:rPr>
                        <a:t>)</a:t>
                      </a:r>
                      <a:endParaRPr lang="en-US" sz="1400" dirty="0">
                        <a:effectLst/>
                      </a:endParaRPr>
                    </a:p>
                  </a:txBody>
                  <a:tcPr marL="37960" marR="37960" marT="0" marB="0"/>
                </a:tc>
                <a:tc>
                  <a:txBody>
                    <a:bodyPr/>
                    <a:lstStyle/>
                    <a:p>
                      <a:pPr marL="0" marR="0" algn="ctr">
                        <a:lnSpc>
                          <a:spcPct val="100000"/>
                        </a:lnSpc>
                        <a:spcBef>
                          <a:spcPts val="0"/>
                        </a:spcBef>
                        <a:spcAft>
                          <a:spcPts val="0"/>
                        </a:spcAft>
                      </a:pPr>
                      <a:r>
                        <a:rPr lang="en-US" sz="1100" dirty="0">
                          <a:effectLst/>
                        </a:rPr>
                        <a:t>Negotiable</a:t>
                      </a:r>
                    </a:p>
                    <a:p>
                      <a:pPr marL="381000" marR="0" algn="ctr">
                        <a:lnSpc>
                          <a:spcPct val="100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extLst>
                  <a:ext uri="{0D108BD9-81ED-4DB2-BD59-A6C34878D82A}">
                    <a16:rowId xmlns:a16="http://schemas.microsoft.com/office/drawing/2014/main" val="3737252493"/>
                  </a:ext>
                </a:extLst>
              </a:tr>
              <a:tr h="411480">
                <a:tc>
                  <a:txBody>
                    <a:bodyPr/>
                    <a:lstStyle/>
                    <a:p>
                      <a:pPr marL="0" marR="0" algn="ctr">
                        <a:lnSpc>
                          <a:spcPct val="100000"/>
                        </a:lnSpc>
                        <a:spcBef>
                          <a:spcPts val="0"/>
                        </a:spcBef>
                        <a:spcAft>
                          <a:spcPts val="0"/>
                        </a:spcAft>
                      </a:pPr>
                      <a:r>
                        <a:rPr lang="en-US" sz="1400">
                          <a:effectLst/>
                        </a:rPr>
                        <a:t>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err="1">
                          <a:effectLst/>
                        </a:rPr>
                        <a:t>Daraz</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Executive- Finance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a:effectLst/>
                        </a:rPr>
                        <a:t>BBA major in Finance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0-1 years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100" dirty="0">
                          <a:effectLst/>
                        </a:rPr>
                        <a:t>Negotiable</a:t>
                      </a:r>
                    </a:p>
                    <a:p>
                      <a:pPr marL="381000" marR="0" algn="ctr">
                        <a:lnSpc>
                          <a:spcPct val="100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extLst>
                  <a:ext uri="{0D108BD9-81ED-4DB2-BD59-A6C34878D82A}">
                    <a16:rowId xmlns:a16="http://schemas.microsoft.com/office/drawing/2014/main" val="1722874534"/>
                  </a:ext>
                </a:extLst>
              </a:tr>
              <a:tr h="381000">
                <a:tc>
                  <a:txBody>
                    <a:bodyPr/>
                    <a:lstStyle/>
                    <a:p>
                      <a:pPr marL="0" marR="0" algn="ctr">
                        <a:lnSpc>
                          <a:spcPct val="100000"/>
                        </a:lnSpc>
                        <a:spcBef>
                          <a:spcPts val="0"/>
                        </a:spcBef>
                        <a:spcAft>
                          <a:spcPts val="0"/>
                        </a:spcAft>
                      </a:pPr>
                      <a:r>
                        <a:rPr lang="en-US" sz="1400">
                          <a:effectLst/>
                        </a:rPr>
                        <a:t>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Marico</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Executive-Finance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Bachelors in Finance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a:effectLst/>
                        </a:rPr>
                        <a:t>1 year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100" dirty="0">
                          <a:effectLst/>
                        </a:rPr>
                        <a:t>Negotiable</a:t>
                      </a:r>
                    </a:p>
                    <a:p>
                      <a:pPr marL="381000" marR="0" algn="ctr">
                        <a:lnSpc>
                          <a:spcPct val="100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extLst>
                  <a:ext uri="{0D108BD9-81ED-4DB2-BD59-A6C34878D82A}">
                    <a16:rowId xmlns:a16="http://schemas.microsoft.com/office/drawing/2014/main" val="2775428762"/>
                  </a:ext>
                </a:extLst>
              </a:tr>
              <a:tr h="457200">
                <a:tc>
                  <a:txBody>
                    <a:bodyPr/>
                    <a:lstStyle/>
                    <a:p>
                      <a:pPr marL="0" marR="0" algn="ctr">
                        <a:lnSpc>
                          <a:spcPct val="100000"/>
                        </a:lnSpc>
                        <a:spcBef>
                          <a:spcPts val="0"/>
                        </a:spcBef>
                        <a:spcAft>
                          <a:spcPts val="0"/>
                        </a:spcAft>
                      </a:pPr>
                      <a:r>
                        <a:rPr lang="en-US" sz="1400">
                          <a:effectLst/>
                        </a:rPr>
                        <a:t>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BKash</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a:effectLst/>
                        </a:rPr>
                        <a:t>Officer/ Sr. Officer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Graduation in Economics &amp; Finance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smtClean="0">
                          <a:effectLst/>
                        </a:rPr>
                        <a:t>1-3 </a:t>
                      </a:r>
                      <a:r>
                        <a:rPr lang="en-US" sz="1400" dirty="0">
                          <a:effectLst/>
                        </a:rPr>
                        <a:t>years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100" dirty="0">
                          <a:effectLst/>
                        </a:rPr>
                        <a:t>Negotiable</a:t>
                      </a:r>
                    </a:p>
                    <a:p>
                      <a:pPr marL="381000" marR="0" algn="ctr">
                        <a:lnSpc>
                          <a:spcPct val="100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extLst>
                  <a:ext uri="{0D108BD9-81ED-4DB2-BD59-A6C34878D82A}">
                    <a16:rowId xmlns:a16="http://schemas.microsoft.com/office/drawing/2014/main" val="3606152660"/>
                  </a:ext>
                </a:extLst>
              </a:tr>
              <a:tr h="640080">
                <a:tc>
                  <a:txBody>
                    <a:bodyPr/>
                    <a:lstStyle/>
                    <a:p>
                      <a:pPr marL="0" marR="0" algn="ctr">
                        <a:lnSpc>
                          <a:spcPct val="100000"/>
                        </a:lnSpc>
                        <a:spcBef>
                          <a:spcPts val="0"/>
                        </a:spcBef>
                        <a:spcAft>
                          <a:spcPts val="0"/>
                        </a:spcAft>
                      </a:pPr>
                      <a:r>
                        <a:rPr lang="en-US" sz="1400">
                          <a:effectLst/>
                        </a:rPr>
                        <a:t>9.</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err="1">
                          <a:effectLst/>
                        </a:rPr>
                        <a:t>Swisscontact</a:t>
                      </a:r>
                      <a:r>
                        <a:rPr lang="en-US" sz="1400" dirty="0">
                          <a:effectLst/>
                        </a:rPr>
                        <a:t> Bangladesh</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Officer/Senior Officer - Finance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A bachelor's degree in Finance, Accounting, Business Administration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1 </a:t>
                      </a:r>
                      <a:r>
                        <a:rPr lang="en-US" sz="1400" dirty="0" smtClean="0">
                          <a:effectLst/>
                        </a:rPr>
                        <a:t>-3 </a:t>
                      </a:r>
                      <a:r>
                        <a:rPr lang="en-US" sz="1400" dirty="0">
                          <a:effectLst/>
                        </a:rPr>
                        <a:t>year(s)</a:t>
                      </a:r>
                    </a:p>
                    <a:p>
                      <a:pPr marL="0" marR="0" algn="ctr">
                        <a:lnSpc>
                          <a:spcPct val="100000"/>
                        </a:lnSpc>
                        <a:spcBef>
                          <a:spcPts val="0"/>
                        </a:spcBef>
                        <a:spcAft>
                          <a:spcPts val="0"/>
                        </a:spcAft>
                      </a:pPr>
                      <a:r>
                        <a:rPr lang="en-US" sz="1400" dirty="0">
                          <a:effectLst/>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100" dirty="0">
                          <a:effectLst/>
                        </a:rPr>
                        <a:t>Negotiable</a:t>
                      </a:r>
                    </a:p>
                    <a:p>
                      <a:pPr marL="381000" marR="0" algn="ctr">
                        <a:lnSpc>
                          <a:spcPct val="100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extLst>
                  <a:ext uri="{0D108BD9-81ED-4DB2-BD59-A6C34878D82A}">
                    <a16:rowId xmlns:a16="http://schemas.microsoft.com/office/drawing/2014/main" val="2902439695"/>
                  </a:ext>
                </a:extLst>
              </a:tr>
              <a:tr h="426720">
                <a:tc>
                  <a:txBody>
                    <a:bodyPr/>
                    <a:lstStyle/>
                    <a:p>
                      <a:pPr marL="0" marR="0" algn="ctr">
                        <a:lnSpc>
                          <a:spcPct val="100000"/>
                        </a:lnSpc>
                        <a:spcBef>
                          <a:spcPts val="0"/>
                        </a:spcBef>
                        <a:spcAft>
                          <a:spcPts val="0"/>
                        </a:spcAft>
                      </a:pPr>
                      <a:r>
                        <a:rPr lang="en-US" sz="1400" dirty="0" smtClean="0">
                          <a:effectLst/>
                        </a:rPr>
                        <a:t>10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err="1">
                          <a:effectLst/>
                        </a:rPr>
                        <a:t>Dekko</a:t>
                      </a:r>
                      <a:r>
                        <a:rPr lang="en-US" sz="1400" dirty="0">
                          <a:effectLst/>
                        </a:rPr>
                        <a:t> </a:t>
                      </a:r>
                      <a:r>
                        <a:rPr lang="en-US" sz="1400" dirty="0" err="1">
                          <a:effectLst/>
                        </a:rPr>
                        <a:t>Isho</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Executive/ Sr. Executive (Finance &amp; Accounts)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Masters / MBA in Accounting/ Finance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1 </a:t>
                      </a:r>
                      <a:r>
                        <a:rPr lang="en-US" sz="1400" dirty="0" smtClean="0">
                          <a:effectLst/>
                        </a:rPr>
                        <a:t>-4 </a:t>
                      </a:r>
                      <a:r>
                        <a:rPr lang="en-US" sz="1400" dirty="0">
                          <a:effectLst/>
                        </a:rPr>
                        <a:t>year(s</a:t>
                      </a:r>
                      <a:r>
                        <a:rPr lang="en-US" sz="1400" dirty="0" smtClean="0">
                          <a:effectLst/>
                        </a:rPr>
                        <a:t>)</a:t>
                      </a:r>
                      <a:endParaRPr lang="en-US" sz="1400" dirty="0">
                        <a:effectLst/>
                      </a:endParaRPr>
                    </a:p>
                  </a:txBody>
                  <a:tcPr marL="37960" marR="37960" marT="0" marB="0"/>
                </a:tc>
                <a:tc>
                  <a:txBody>
                    <a:bodyPr/>
                    <a:lstStyle/>
                    <a:p>
                      <a:pPr marL="0" marR="0" algn="ctr">
                        <a:lnSpc>
                          <a:spcPct val="100000"/>
                        </a:lnSpc>
                        <a:spcBef>
                          <a:spcPts val="0"/>
                        </a:spcBef>
                        <a:spcAft>
                          <a:spcPts val="0"/>
                        </a:spcAft>
                      </a:pPr>
                      <a:r>
                        <a:rPr lang="en-US" sz="1100" dirty="0">
                          <a:effectLst/>
                        </a:rPr>
                        <a:t>Negotiable</a:t>
                      </a:r>
                    </a:p>
                    <a:p>
                      <a:pPr marL="0" marR="0" algn="ctr">
                        <a:lnSpc>
                          <a:spcPct val="100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extLst>
                  <a:ext uri="{0D108BD9-81ED-4DB2-BD59-A6C34878D82A}">
                    <a16:rowId xmlns:a16="http://schemas.microsoft.com/office/drawing/2014/main" val="4151268914"/>
                  </a:ext>
                </a:extLst>
              </a:tr>
              <a:tr h="533400">
                <a:tc>
                  <a:txBody>
                    <a:bodyPr/>
                    <a:lstStyle/>
                    <a:p>
                      <a:pPr marL="0" marR="0" algn="ctr">
                        <a:lnSpc>
                          <a:spcPct val="100000"/>
                        </a:lnSpc>
                        <a:spcBef>
                          <a:spcPts val="0"/>
                        </a:spcBef>
                        <a:spcAft>
                          <a:spcPts val="0"/>
                        </a:spcAft>
                      </a:pPr>
                      <a:r>
                        <a:rPr lang="en-US" sz="1400" dirty="0" smtClean="0">
                          <a:effectLst/>
                        </a:rPr>
                        <a:t>11</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Bengal Commercial Bank Limited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Trainee/ Assistant Relationship Officer, Micro Credit Program</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Masters in any discipline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smtClean="0">
                          <a:effectLst/>
                        </a:rPr>
                        <a:t>2 </a:t>
                      </a:r>
                      <a:r>
                        <a:rPr lang="en-US" sz="1400" dirty="0">
                          <a:effectLst/>
                        </a:rPr>
                        <a:t>year(s)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100" dirty="0">
                          <a:effectLst/>
                        </a:rPr>
                        <a:t>Negotiable</a:t>
                      </a:r>
                    </a:p>
                    <a:p>
                      <a:pPr marL="0" marR="0" algn="ctr">
                        <a:lnSpc>
                          <a:spcPct val="100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extLst>
                  <a:ext uri="{0D108BD9-81ED-4DB2-BD59-A6C34878D82A}">
                    <a16:rowId xmlns:a16="http://schemas.microsoft.com/office/drawing/2014/main" val="325635562"/>
                  </a:ext>
                </a:extLst>
              </a:tr>
              <a:tr h="426720">
                <a:tc>
                  <a:txBody>
                    <a:bodyPr/>
                    <a:lstStyle/>
                    <a:p>
                      <a:pPr marL="0" marR="0" algn="ctr">
                        <a:lnSpc>
                          <a:spcPct val="100000"/>
                        </a:lnSpc>
                        <a:spcBef>
                          <a:spcPts val="0"/>
                        </a:spcBef>
                        <a:spcAft>
                          <a:spcPts val="0"/>
                        </a:spcAft>
                      </a:pPr>
                      <a:r>
                        <a:rPr lang="en-US" sz="1400" dirty="0" smtClean="0">
                          <a:effectLst/>
                        </a:rPr>
                        <a:t>12</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Save the Children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a:effectLst/>
                        </a:rPr>
                        <a:t>Officer- Finance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err="1">
                          <a:effectLst/>
                        </a:rPr>
                        <a:t>M.Com</a:t>
                      </a:r>
                      <a:r>
                        <a:rPr lang="en-US" sz="1400" dirty="0">
                          <a:effectLst/>
                        </a:rPr>
                        <a:t>/ MBA in Accounting/Finance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400" dirty="0" smtClean="0">
                          <a:effectLst/>
                        </a:rPr>
                        <a:t>3 </a:t>
                      </a:r>
                      <a:r>
                        <a:rPr lang="en-US" sz="1400" dirty="0">
                          <a:effectLst/>
                        </a:rPr>
                        <a:t>year(s)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tc>
                  <a:txBody>
                    <a:bodyPr/>
                    <a:lstStyle/>
                    <a:p>
                      <a:pPr marL="0" marR="0" algn="ctr">
                        <a:lnSpc>
                          <a:spcPct val="100000"/>
                        </a:lnSpc>
                        <a:spcBef>
                          <a:spcPts val="0"/>
                        </a:spcBef>
                        <a:spcAft>
                          <a:spcPts val="0"/>
                        </a:spcAft>
                      </a:pPr>
                      <a:r>
                        <a:rPr lang="en-US" sz="1100" dirty="0">
                          <a:effectLst/>
                        </a:rPr>
                        <a:t>Negotiable</a:t>
                      </a:r>
                    </a:p>
                    <a:p>
                      <a:pPr marL="0" marR="0" algn="ctr">
                        <a:lnSpc>
                          <a:spcPct val="100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60" marR="37960" marT="0" marB="0"/>
                </a:tc>
                <a:extLst>
                  <a:ext uri="{0D108BD9-81ED-4DB2-BD59-A6C34878D82A}">
                    <a16:rowId xmlns:a16="http://schemas.microsoft.com/office/drawing/2014/main" val="950090731"/>
                  </a:ext>
                </a:extLst>
              </a:tr>
            </a:tbl>
          </a:graphicData>
        </a:graphic>
      </p:graphicFrame>
    </p:spTree>
    <p:extLst>
      <p:ext uri="{BB962C8B-B14F-4D97-AF65-F5344CB8AC3E}">
        <p14:creationId xmlns:p14="http://schemas.microsoft.com/office/powerpoint/2010/main" val="42556890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94BDB1E-AB10-4DD0-9486-5E7DCBD3579E}"/>
              </a:ext>
            </a:extLst>
          </p:cNvPr>
          <p:cNvSpPr>
            <a:spLocks noGrp="1"/>
          </p:cNvSpPr>
          <p:nvPr>
            <p:ph type="sldNum" sz="quarter" idx="12"/>
          </p:nvPr>
        </p:nvSpPr>
        <p:spPr/>
        <p:txBody>
          <a:bodyPr/>
          <a:lstStyle/>
          <a:p>
            <a:pPr>
              <a:defRPr/>
            </a:pPr>
            <a:fld id="{7CD637C6-3A19-4914-A616-01A59BB83BF2}" type="slidenum">
              <a:rPr lang="en-US" smtClean="0"/>
              <a:pPr>
                <a:defRPr/>
              </a:pPr>
              <a:t>15</a:t>
            </a:fld>
            <a:endParaRPr lang="en-US"/>
          </a:p>
        </p:txBody>
      </p:sp>
      <p:sp>
        <p:nvSpPr>
          <p:cNvPr id="10" name="Rectangle 9"/>
          <p:cNvSpPr/>
          <p:nvPr/>
        </p:nvSpPr>
        <p:spPr>
          <a:xfrm>
            <a:off x="0" y="-87086"/>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7DC79E-A9F5-4336-91B4-F8569CAD69EF}"/>
              </a:ext>
            </a:extLst>
          </p:cNvPr>
          <p:cNvSpPr>
            <a:spLocks noGrp="1"/>
          </p:cNvSpPr>
          <p:nvPr>
            <p:ph type="title"/>
          </p:nvPr>
        </p:nvSpPr>
        <p:spPr>
          <a:xfrm>
            <a:off x="228600" y="76201"/>
            <a:ext cx="8915400" cy="457199"/>
          </a:xfrm>
        </p:spPr>
        <p:txBody>
          <a:bodyPr>
            <a:noAutofit/>
          </a:bodyPr>
          <a:lstStyle/>
          <a:p>
            <a:pPr algn="ctr"/>
            <a:r>
              <a:rPr lang="en-US" sz="2400" b="1" dirty="0">
                <a:solidFill>
                  <a:srgbClr val="0000FF"/>
                </a:solidFill>
              </a:rPr>
              <a:t>Career Opportunities for BBA Finance Majors in Bangladesh</a:t>
            </a:r>
          </a:p>
        </p:txBody>
      </p:sp>
      <p:graphicFrame>
        <p:nvGraphicFramePr>
          <p:cNvPr id="3" name="Table 2"/>
          <p:cNvGraphicFramePr>
            <a:graphicFrameLocks noGrp="1"/>
          </p:cNvGraphicFramePr>
          <p:nvPr>
            <p:extLst/>
          </p:nvPr>
        </p:nvGraphicFramePr>
        <p:xfrm>
          <a:off x="228600" y="696686"/>
          <a:ext cx="8763000" cy="6080477"/>
        </p:xfrm>
        <a:graphic>
          <a:graphicData uri="http://schemas.openxmlformats.org/drawingml/2006/table">
            <a:tbl>
              <a:tblPr firstRow="1" firstCol="1" bandRow="1">
                <a:tableStyleId>{3C2FFA5D-87B4-456A-9821-1D502468CF0F}</a:tableStyleId>
              </a:tblPr>
              <a:tblGrid>
                <a:gridCol w="304799">
                  <a:extLst>
                    <a:ext uri="{9D8B030D-6E8A-4147-A177-3AD203B41FA5}">
                      <a16:colId xmlns:a16="http://schemas.microsoft.com/office/drawing/2014/main" val="4183389177"/>
                    </a:ext>
                  </a:extLst>
                </a:gridCol>
                <a:gridCol w="1708846">
                  <a:extLst>
                    <a:ext uri="{9D8B030D-6E8A-4147-A177-3AD203B41FA5}">
                      <a16:colId xmlns:a16="http://schemas.microsoft.com/office/drawing/2014/main" val="589796098"/>
                    </a:ext>
                  </a:extLst>
                </a:gridCol>
                <a:gridCol w="1872554">
                  <a:extLst>
                    <a:ext uri="{9D8B030D-6E8A-4147-A177-3AD203B41FA5}">
                      <a16:colId xmlns:a16="http://schemas.microsoft.com/office/drawing/2014/main" val="1803328790"/>
                    </a:ext>
                  </a:extLst>
                </a:gridCol>
                <a:gridCol w="2971800">
                  <a:extLst>
                    <a:ext uri="{9D8B030D-6E8A-4147-A177-3AD203B41FA5}">
                      <a16:colId xmlns:a16="http://schemas.microsoft.com/office/drawing/2014/main" val="436132691"/>
                    </a:ext>
                  </a:extLst>
                </a:gridCol>
                <a:gridCol w="1066800">
                  <a:extLst>
                    <a:ext uri="{9D8B030D-6E8A-4147-A177-3AD203B41FA5}">
                      <a16:colId xmlns:a16="http://schemas.microsoft.com/office/drawing/2014/main" val="3464389871"/>
                    </a:ext>
                  </a:extLst>
                </a:gridCol>
                <a:gridCol w="838201">
                  <a:extLst>
                    <a:ext uri="{9D8B030D-6E8A-4147-A177-3AD203B41FA5}">
                      <a16:colId xmlns:a16="http://schemas.microsoft.com/office/drawing/2014/main" val="488994678"/>
                    </a:ext>
                  </a:extLst>
                </a:gridCol>
              </a:tblGrid>
              <a:tr h="378933">
                <a:tc>
                  <a:txBody>
                    <a:bodyPr/>
                    <a:lstStyle/>
                    <a:p>
                      <a:pPr marL="0" marR="0" algn="ctr">
                        <a:lnSpc>
                          <a:spcPct val="107000"/>
                        </a:lnSpc>
                        <a:spcBef>
                          <a:spcPts val="0"/>
                        </a:spcBef>
                        <a:spcAft>
                          <a:spcPts val="0"/>
                        </a:spcAft>
                      </a:pPr>
                      <a:r>
                        <a:rPr lang="en-US" sz="1100" dirty="0">
                          <a:effectLst/>
                        </a:rPr>
                        <a:t>Sl.</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100" dirty="0">
                          <a:effectLst/>
                        </a:rPr>
                        <a:t>Company Name</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100" dirty="0">
                          <a:effectLst/>
                        </a:rPr>
                        <a:t>Position</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100" dirty="0">
                          <a:effectLst/>
                        </a:rPr>
                        <a:t>Educational Requirements</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100" dirty="0">
                          <a:effectLst/>
                        </a:rPr>
                        <a:t>Experience Requirements</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100" dirty="0">
                          <a:effectLst/>
                        </a:rPr>
                        <a:t>Salary</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extLst>
                  <a:ext uri="{0D108BD9-81ED-4DB2-BD59-A6C34878D82A}">
                    <a16:rowId xmlns:a16="http://schemas.microsoft.com/office/drawing/2014/main" val="1303395969"/>
                  </a:ext>
                </a:extLst>
              </a:tr>
              <a:tr h="454939">
                <a:tc>
                  <a:txBody>
                    <a:bodyPr/>
                    <a:lstStyle/>
                    <a:p>
                      <a:pPr marL="0" marR="0" algn="ctr">
                        <a:lnSpc>
                          <a:spcPct val="107000"/>
                        </a:lnSpc>
                        <a:spcBef>
                          <a:spcPts val="0"/>
                        </a:spcBef>
                        <a:spcAft>
                          <a:spcPts val="0"/>
                        </a:spcAft>
                      </a:pPr>
                      <a:r>
                        <a:rPr lang="en-US" sz="1400" b="0" dirty="0" smtClean="0">
                          <a:effectLst/>
                        </a:rPr>
                        <a:t>13</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b="0" dirty="0">
                          <a:effectLst/>
                        </a:rPr>
                        <a:t>ACI</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a:effectLst/>
                        </a:rPr>
                        <a:t>Senior Executive - Accounts &amp; Finance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a:effectLst/>
                        </a:rPr>
                        <a:t>BBA and MBA majoring in Accounts/ Finance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smtClean="0">
                          <a:effectLst/>
                        </a:rPr>
                        <a:t>2-4 </a:t>
                      </a:r>
                      <a:r>
                        <a:rPr lang="en-US" sz="1400" dirty="0">
                          <a:effectLst/>
                        </a:rPr>
                        <a:t>year(s)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200" dirty="0">
                          <a:effectLst/>
                        </a:rPr>
                        <a:t>Negotiable</a:t>
                      </a:r>
                    </a:p>
                    <a:p>
                      <a:pPr marL="0" marR="0" algn="ctr">
                        <a:lnSpc>
                          <a:spcPct val="107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extLst>
                  <a:ext uri="{0D108BD9-81ED-4DB2-BD59-A6C34878D82A}">
                    <a16:rowId xmlns:a16="http://schemas.microsoft.com/office/drawing/2014/main" val="509076071"/>
                  </a:ext>
                </a:extLst>
              </a:tr>
              <a:tr h="688250">
                <a:tc>
                  <a:txBody>
                    <a:bodyPr/>
                    <a:lstStyle/>
                    <a:p>
                      <a:pPr marL="0" marR="0" algn="ctr">
                        <a:lnSpc>
                          <a:spcPct val="107000"/>
                        </a:lnSpc>
                        <a:spcBef>
                          <a:spcPts val="0"/>
                        </a:spcBef>
                        <a:spcAft>
                          <a:spcPts val="0"/>
                        </a:spcAft>
                      </a:pPr>
                      <a:r>
                        <a:rPr lang="en-US" sz="1400" b="0" dirty="0" smtClean="0">
                          <a:effectLst/>
                        </a:rPr>
                        <a:t>14</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b="0" dirty="0">
                          <a:effectLst/>
                        </a:rPr>
                        <a:t>The ACME Laboratories Limited</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a:effectLst/>
                        </a:rPr>
                        <a:t>Executive - Finance &amp; Accounts (API Project)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a:effectLst/>
                        </a:rPr>
                        <a:t>MBA/BBA or equivalent degree in Business Studies (Accounting or Finance)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smtClean="0">
                          <a:effectLst/>
                        </a:rPr>
                        <a:t>3-5 </a:t>
                      </a:r>
                      <a:r>
                        <a:rPr lang="en-US" sz="1400" dirty="0">
                          <a:effectLst/>
                        </a:rPr>
                        <a:t>year(s)</a:t>
                      </a:r>
                    </a:p>
                    <a:p>
                      <a:pPr marL="0" marR="0" algn="ctr">
                        <a:lnSpc>
                          <a:spcPct val="107000"/>
                        </a:lnSpc>
                        <a:spcBef>
                          <a:spcPts val="0"/>
                        </a:spcBef>
                        <a:spcAft>
                          <a:spcPts val="0"/>
                        </a:spcAft>
                      </a:pPr>
                      <a:r>
                        <a:rPr lang="en-US" sz="1400" dirty="0">
                          <a:effectLst/>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200" dirty="0">
                          <a:effectLst/>
                        </a:rPr>
                        <a:t>Negotiable</a:t>
                      </a:r>
                    </a:p>
                    <a:p>
                      <a:pPr marL="0" marR="0" algn="ctr">
                        <a:lnSpc>
                          <a:spcPct val="107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extLst>
                  <a:ext uri="{0D108BD9-81ED-4DB2-BD59-A6C34878D82A}">
                    <a16:rowId xmlns:a16="http://schemas.microsoft.com/office/drawing/2014/main" val="3826744797"/>
                  </a:ext>
                </a:extLst>
              </a:tr>
              <a:tr h="688250">
                <a:tc>
                  <a:txBody>
                    <a:bodyPr/>
                    <a:lstStyle/>
                    <a:p>
                      <a:pPr marL="0" marR="0" algn="ctr">
                        <a:lnSpc>
                          <a:spcPct val="107000"/>
                        </a:lnSpc>
                        <a:spcBef>
                          <a:spcPts val="0"/>
                        </a:spcBef>
                        <a:spcAft>
                          <a:spcPts val="0"/>
                        </a:spcAft>
                      </a:pPr>
                      <a:r>
                        <a:rPr lang="en-US" sz="1400" b="0" dirty="0" smtClean="0">
                          <a:effectLst/>
                        </a:rPr>
                        <a:t>15</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b="0" dirty="0">
                          <a:effectLst/>
                        </a:rPr>
                        <a:t>Roxy Paints Limited</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a:effectLst/>
                        </a:rPr>
                        <a:t>Assistant Manager - Accounts &amp; Finance</a:t>
                      </a:r>
                    </a:p>
                    <a:p>
                      <a:pPr marL="0" marR="0" algn="ctr">
                        <a:lnSpc>
                          <a:spcPct val="107000"/>
                        </a:lnSpc>
                        <a:spcBef>
                          <a:spcPts val="0"/>
                        </a:spcBef>
                        <a:spcAft>
                          <a:spcPts val="0"/>
                        </a:spcAft>
                      </a:pPr>
                      <a:r>
                        <a:rPr lang="en-US" sz="1400" dirty="0">
                          <a:effectLst/>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a:effectLst/>
                        </a:rPr>
                        <a:t>MBA/M.Com in Accounting/Finance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smtClean="0">
                          <a:effectLst/>
                        </a:rPr>
                        <a:t>3-5 </a:t>
                      </a:r>
                      <a:r>
                        <a:rPr lang="en-US" sz="1400" dirty="0">
                          <a:effectLst/>
                        </a:rPr>
                        <a:t>year(s)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200">
                          <a:effectLst/>
                        </a:rPr>
                        <a:t>30000 - 35000</a:t>
                      </a:r>
                    </a:p>
                    <a:p>
                      <a:pPr marL="0" marR="0" algn="ctr">
                        <a:lnSpc>
                          <a:spcPct val="107000"/>
                        </a:lnSpc>
                        <a:spcBef>
                          <a:spcPts val="0"/>
                        </a:spcBef>
                        <a:spcAft>
                          <a:spcPts val="0"/>
                        </a:spcAft>
                      </a:pPr>
                      <a:r>
                        <a:rPr lang="en-US" sz="1200">
                          <a:effectLst/>
                        </a:rPr>
                        <a:t>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extLst>
                  <a:ext uri="{0D108BD9-81ED-4DB2-BD59-A6C34878D82A}">
                    <a16:rowId xmlns:a16="http://schemas.microsoft.com/office/drawing/2014/main" val="813099873"/>
                  </a:ext>
                </a:extLst>
              </a:tr>
              <a:tr h="454939">
                <a:tc>
                  <a:txBody>
                    <a:bodyPr/>
                    <a:lstStyle/>
                    <a:p>
                      <a:pPr marL="0" marR="0" algn="ctr">
                        <a:lnSpc>
                          <a:spcPct val="107000"/>
                        </a:lnSpc>
                        <a:spcBef>
                          <a:spcPts val="0"/>
                        </a:spcBef>
                        <a:spcAft>
                          <a:spcPts val="0"/>
                        </a:spcAft>
                      </a:pPr>
                      <a:r>
                        <a:rPr lang="en-US" sz="1400" b="0" dirty="0" smtClean="0">
                          <a:effectLst/>
                        </a:rPr>
                        <a:t>16</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b="0" dirty="0">
                          <a:effectLst/>
                        </a:rPr>
                        <a:t>IPDC</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a:effectLst/>
                        </a:rPr>
                        <a:t>Relationship Manager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a:effectLst/>
                        </a:rPr>
                        <a:t>Bachelor degree in Finance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smtClean="0">
                          <a:effectLst/>
                        </a:rPr>
                        <a:t>3-7 </a:t>
                      </a:r>
                      <a:r>
                        <a:rPr lang="en-US" sz="1400" dirty="0">
                          <a:effectLst/>
                        </a:rPr>
                        <a:t>year(s)</a:t>
                      </a:r>
                    </a:p>
                    <a:p>
                      <a:pPr marL="0" marR="0" algn="ctr">
                        <a:lnSpc>
                          <a:spcPct val="107000"/>
                        </a:lnSpc>
                        <a:spcBef>
                          <a:spcPts val="0"/>
                        </a:spcBef>
                        <a:spcAft>
                          <a:spcPts val="0"/>
                        </a:spcAft>
                      </a:pPr>
                      <a:r>
                        <a:rPr lang="en-US" sz="1400" dirty="0">
                          <a:effectLst/>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200" dirty="0">
                          <a:effectLst/>
                        </a:rPr>
                        <a:t>Negotiable</a:t>
                      </a:r>
                    </a:p>
                    <a:p>
                      <a:pPr marL="0" marR="0" algn="ctr">
                        <a:lnSpc>
                          <a:spcPct val="107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extLst>
                  <a:ext uri="{0D108BD9-81ED-4DB2-BD59-A6C34878D82A}">
                    <a16:rowId xmlns:a16="http://schemas.microsoft.com/office/drawing/2014/main" val="192740698"/>
                  </a:ext>
                </a:extLst>
              </a:tr>
              <a:tr h="390041">
                <a:tc>
                  <a:txBody>
                    <a:bodyPr/>
                    <a:lstStyle/>
                    <a:p>
                      <a:pPr marL="0" marR="0" algn="ctr">
                        <a:lnSpc>
                          <a:spcPct val="107000"/>
                        </a:lnSpc>
                        <a:spcBef>
                          <a:spcPts val="0"/>
                        </a:spcBef>
                        <a:spcAft>
                          <a:spcPts val="0"/>
                        </a:spcAft>
                      </a:pPr>
                      <a:r>
                        <a:rPr lang="en-US" sz="1400" b="0" dirty="0" smtClean="0">
                          <a:effectLst/>
                        </a:rPr>
                        <a:t>17</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b="0" dirty="0" err="1">
                          <a:effectLst/>
                        </a:rPr>
                        <a:t>Meena</a:t>
                      </a:r>
                      <a:r>
                        <a:rPr lang="en-US" sz="1400" b="0" dirty="0">
                          <a:effectLst/>
                        </a:rPr>
                        <a:t> Bazar</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a:effectLst/>
                        </a:rPr>
                        <a:t>Assistant </a:t>
                      </a:r>
                      <a:r>
                        <a:rPr lang="en-US" sz="1400" dirty="0" smtClean="0">
                          <a:effectLst/>
                        </a:rPr>
                        <a:t>Manager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a:effectLst/>
                        </a:rPr>
                        <a:t>M.B.A. in Accounts or Finance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smtClean="0">
                          <a:effectLst/>
                        </a:rPr>
                        <a:t>4-6 </a:t>
                      </a:r>
                      <a:r>
                        <a:rPr lang="en-US" sz="1400" dirty="0">
                          <a:effectLst/>
                        </a:rPr>
                        <a:t>year(s)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200" dirty="0">
                          <a:effectLst/>
                        </a:rPr>
                        <a:t>Negotiable</a:t>
                      </a:r>
                    </a:p>
                    <a:p>
                      <a:pPr marL="0" marR="0" algn="ctr">
                        <a:lnSpc>
                          <a:spcPct val="107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extLst>
                  <a:ext uri="{0D108BD9-81ED-4DB2-BD59-A6C34878D82A}">
                    <a16:rowId xmlns:a16="http://schemas.microsoft.com/office/drawing/2014/main" val="1007921296"/>
                  </a:ext>
                </a:extLst>
              </a:tr>
              <a:tr h="732740">
                <a:tc>
                  <a:txBody>
                    <a:bodyPr/>
                    <a:lstStyle/>
                    <a:p>
                      <a:pPr marL="0" marR="0" algn="ctr">
                        <a:lnSpc>
                          <a:spcPct val="107000"/>
                        </a:lnSpc>
                        <a:spcBef>
                          <a:spcPts val="0"/>
                        </a:spcBef>
                        <a:spcAft>
                          <a:spcPts val="0"/>
                        </a:spcAft>
                      </a:pPr>
                      <a:r>
                        <a:rPr lang="en-US" sz="1400" b="0" dirty="0" smtClean="0">
                          <a:effectLst/>
                        </a:rPr>
                        <a:t>18</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b="0" dirty="0">
                          <a:effectLst/>
                        </a:rPr>
                        <a:t>Asiatic Marketing Communications Limited</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a:effectLst/>
                        </a:rPr>
                        <a:t>Associate Manager/Manager - Finance &amp; Accounts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smtClean="0">
                          <a:effectLst/>
                        </a:rPr>
                        <a:t>MBA/MSC</a:t>
                      </a:r>
                      <a:r>
                        <a:rPr lang="en-US" sz="1400" dirty="0">
                          <a:effectLst/>
                        </a:rPr>
                        <a:t>, BBA/BSC in Finance &amp; Accounts from reputed </a:t>
                      </a:r>
                      <a:r>
                        <a:rPr lang="en-US" sz="1400" dirty="0" smtClean="0">
                          <a:effectLst/>
                        </a:rPr>
                        <a:t>University</a:t>
                      </a:r>
                      <a:endParaRPr lang="en-US" sz="1400" dirty="0">
                        <a:effectLst/>
                      </a:endParaRPr>
                    </a:p>
                  </a:txBody>
                  <a:tcPr marL="51008" marR="51008" marT="0" marB="0"/>
                </a:tc>
                <a:tc>
                  <a:txBody>
                    <a:bodyPr/>
                    <a:lstStyle/>
                    <a:p>
                      <a:pPr marL="0" marR="0" algn="ctr">
                        <a:lnSpc>
                          <a:spcPct val="107000"/>
                        </a:lnSpc>
                        <a:spcBef>
                          <a:spcPts val="0"/>
                        </a:spcBef>
                        <a:spcAft>
                          <a:spcPts val="0"/>
                        </a:spcAft>
                      </a:pPr>
                      <a:r>
                        <a:rPr lang="en-US" sz="1400" dirty="0" smtClean="0">
                          <a:effectLst/>
                        </a:rPr>
                        <a:t>5-7 </a:t>
                      </a:r>
                      <a:r>
                        <a:rPr lang="en-US" sz="1400" dirty="0">
                          <a:effectLst/>
                        </a:rPr>
                        <a:t>year(s)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200" dirty="0">
                          <a:effectLst/>
                        </a:rPr>
                        <a:t>Negotiable</a:t>
                      </a:r>
                    </a:p>
                    <a:p>
                      <a:pPr marL="0" marR="0" algn="ctr">
                        <a:lnSpc>
                          <a:spcPct val="107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extLst>
                  <a:ext uri="{0D108BD9-81ED-4DB2-BD59-A6C34878D82A}">
                    <a16:rowId xmlns:a16="http://schemas.microsoft.com/office/drawing/2014/main" val="1035345789"/>
                  </a:ext>
                </a:extLst>
              </a:tr>
              <a:tr h="606293">
                <a:tc>
                  <a:txBody>
                    <a:bodyPr/>
                    <a:lstStyle/>
                    <a:p>
                      <a:pPr marL="0" marR="0" algn="ctr">
                        <a:lnSpc>
                          <a:spcPct val="107000"/>
                        </a:lnSpc>
                        <a:spcBef>
                          <a:spcPts val="0"/>
                        </a:spcBef>
                        <a:spcAft>
                          <a:spcPts val="0"/>
                        </a:spcAft>
                      </a:pPr>
                      <a:r>
                        <a:rPr lang="en-US" sz="1400" b="0" dirty="0" smtClean="0">
                          <a:effectLst/>
                        </a:rPr>
                        <a:t>19</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b="0" dirty="0">
                          <a:effectLst/>
                        </a:rPr>
                        <a:t>BRAC Enterprises</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a:effectLst/>
                        </a:rPr>
                        <a:t>Manager/ Sr. Manager, Finance &amp; Accounts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a:effectLst/>
                        </a:rPr>
                        <a:t>MBA/M. Com in Accounting and Finance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smtClean="0">
                          <a:effectLst/>
                        </a:rPr>
                        <a:t>8 </a:t>
                      </a:r>
                      <a:r>
                        <a:rPr lang="en-US" sz="1400" dirty="0">
                          <a:effectLst/>
                        </a:rPr>
                        <a:t>year(s)</a:t>
                      </a:r>
                    </a:p>
                    <a:p>
                      <a:pPr marL="0" marR="0" algn="ctr">
                        <a:lnSpc>
                          <a:spcPct val="107000"/>
                        </a:lnSpc>
                        <a:spcBef>
                          <a:spcPts val="0"/>
                        </a:spcBef>
                        <a:spcAft>
                          <a:spcPts val="0"/>
                        </a:spcAft>
                      </a:pPr>
                      <a:r>
                        <a:rPr lang="en-US" sz="1400" dirty="0">
                          <a:effectLst/>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200" dirty="0">
                          <a:effectLst/>
                        </a:rPr>
                        <a:t>Negotiable</a:t>
                      </a:r>
                    </a:p>
                    <a:p>
                      <a:pPr marL="0" marR="0" algn="ctr">
                        <a:lnSpc>
                          <a:spcPct val="107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extLst>
                  <a:ext uri="{0D108BD9-81ED-4DB2-BD59-A6C34878D82A}">
                    <a16:rowId xmlns:a16="http://schemas.microsoft.com/office/drawing/2014/main" val="1816733688"/>
                  </a:ext>
                </a:extLst>
              </a:tr>
              <a:tr h="467035">
                <a:tc>
                  <a:txBody>
                    <a:bodyPr/>
                    <a:lstStyle/>
                    <a:p>
                      <a:pPr marL="0" marR="0" algn="ctr">
                        <a:lnSpc>
                          <a:spcPct val="107000"/>
                        </a:lnSpc>
                        <a:spcBef>
                          <a:spcPts val="0"/>
                        </a:spcBef>
                        <a:spcAft>
                          <a:spcPts val="0"/>
                        </a:spcAft>
                      </a:pPr>
                      <a:r>
                        <a:rPr lang="en-US" sz="1400" b="0" dirty="0" smtClean="0">
                          <a:effectLst/>
                        </a:rPr>
                        <a:t>20</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b="0" dirty="0">
                          <a:effectLst/>
                        </a:rPr>
                        <a:t>IPDC Finance Limited</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a:effectLst/>
                        </a:rPr>
                        <a:t>Head of Business Finance Credit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a:effectLst/>
                        </a:rPr>
                        <a:t>Bachelor of Business Administration (BBA)</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smtClean="0">
                          <a:effectLst/>
                        </a:rPr>
                        <a:t>7-9 </a:t>
                      </a:r>
                      <a:r>
                        <a:rPr lang="en-US" sz="1400" dirty="0">
                          <a:effectLst/>
                        </a:rPr>
                        <a:t>year(s)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200" dirty="0">
                          <a:effectLst/>
                        </a:rPr>
                        <a:t>Negotiable</a:t>
                      </a:r>
                    </a:p>
                    <a:p>
                      <a:pPr marL="0" marR="0" algn="ctr">
                        <a:lnSpc>
                          <a:spcPct val="107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extLst>
                  <a:ext uri="{0D108BD9-81ED-4DB2-BD59-A6C34878D82A}">
                    <a16:rowId xmlns:a16="http://schemas.microsoft.com/office/drawing/2014/main" val="4157611622"/>
                  </a:ext>
                </a:extLst>
              </a:tr>
              <a:tr h="454939">
                <a:tc>
                  <a:txBody>
                    <a:bodyPr/>
                    <a:lstStyle/>
                    <a:p>
                      <a:pPr marL="0" marR="0" algn="ctr">
                        <a:lnSpc>
                          <a:spcPct val="107000"/>
                        </a:lnSpc>
                        <a:spcBef>
                          <a:spcPts val="0"/>
                        </a:spcBef>
                        <a:spcAft>
                          <a:spcPts val="0"/>
                        </a:spcAft>
                      </a:pPr>
                      <a:r>
                        <a:rPr lang="en-US" sz="1400" b="0" dirty="0" smtClean="0">
                          <a:effectLst/>
                        </a:rPr>
                        <a:t>21</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b="0" dirty="0">
                          <a:effectLst/>
                        </a:rPr>
                        <a:t>ASA</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a:effectLst/>
                        </a:rPr>
                        <a:t>Assistant Director (Finance &amp; MIS)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a:effectLst/>
                        </a:rPr>
                        <a:t>Masters with Honors in Accounting/Finance/AIS/MIS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smtClean="0">
                          <a:effectLst/>
                        </a:rPr>
                        <a:t>10 </a:t>
                      </a:r>
                      <a:r>
                        <a:rPr lang="en-US" sz="1400" dirty="0">
                          <a:effectLst/>
                        </a:rPr>
                        <a:t>year(s)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200" dirty="0">
                          <a:effectLst/>
                        </a:rPr>
                        <a:t>Negotiable</a:t>
                      </a:r>
                    </a:p>
                    <a:p>
                      <a:pPr marL="0" marR="0" algn="ctr">
                        <a:lnSpc>
                          <a:spcPct val="107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extLst>
                  <a:ext uri="{0D108BD9-81ED-4DB2-BD59-A6C34878D82A}">
                    <a16:rowId xmlns:a16="http://schemas.microsoft.com/office/drawing/2014/main" val="3919012824"/>
                  </a:ext>
                </a:extLst>
              </a:tr>
              <a:tr h="757867">
                <a:tc>
                  <a:txBody>
                    <a:bodyPr/>
                    <a:lstStyle/>
                    <a:p>
                      <a:pPr marL="0" marR="0" algn="ctr">
                        <a:lnSpc>
                          <a:spcPct val="107000"/>
                        </a:lnSpc>
                        <a:spcBef>
                          <a:spcPts val="0"/>
                        </a:spcBef>
                        <a:spcAft>
                          <a:spcPts val="0"/>
                        </a:spcAft>
                      </a:pPr>
                      <a:r>
                        <a:rPr lang="en-US" sz="1400" b="0" dirty="0" smtClean="0">
                          <a:effectLst/>
                        </a:rPr>
                        <a:t>22</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b="0" dirty="0">
                          <a:effectLst/>
                        </a:rPr>
                        <a:t>Ring Shine Textiles Limited</a:t>
                      </a:r>
                      <a:endParaRPr lang="en-US"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a:effectLst/>
                        </a:rPr>
                        <a:t>Chief Financial Officer (CFO)</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a:effectLst/>
                        </a:rPr>
                        <a:t>Masters/ MBA in Finance or Accounting and qualified or partly qualified of CFA/CPA/CA/CMA/CCA</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400" dirty="0" smtClean="0">
                          <a:effectLst/>
                        </a:rPr>
                        <a:t>10 </a:t>
                      </a:r>
                      <a:r>
                        <a:rPr lang="en-US" sz="1400" dirty="0">
                          <a:effectLst/>
                        </a:rPr>
                        <a:t>year(s)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tc>
                  <a:txBody>
                    <a:bodyPr/>
                    <a:lstStyle/>
                    <a:p>
                      <a:pPr marL="0" marR="0" algn="ctr">
                        <a:lnSpc>
                          <a:spcPct val="107000"/>
                        </a:lnSpc>
                        <a:spcBef>
                          <a:spcPts val="0"/>
                        </a:spcBef>
                        <a:spcAft>
                          <a:spcPts val="0"/>
                        </a:spcAft>
                      </a:pPr>
                      <a:r>
                        <a:rPr lang="en-US" sz="1200" dirty="0">
                          <a:effectLst/>
                        </a:rPr>
                        <a:t>Tk. 83000 (Monthly)</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008" marR="51008" marT="0" marB="0"/>
                </a:tc>
                <a:extLst>
                  <a:ext uri="{0D108BD9-81ED-4DB2-BD59-A6C34878D82A}">
                    <a16:rowId xmlns:a16="http://schemas.microsoft.com/office/drawing/2014/main" val="2340510182"/>
                  </a:ext>
                </a:extLst>
              </a:tr>
            </a:tbl>
          </a:graphicData>
        </a:graphic>
      </p:graphicFrame>
    </p:spTree>
    <p:extLst>
      <p:ext uri="{BB962C8B-B14F-4D97-AF65-F5344CB8AC3E}">
        <p14:creationId xmlns:p14="http://schemas.microsoft.com/office/powerpoint/2010/main" val="20584742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C6B4E-0FDB-46E3-AF86-869618D74F0B}"/>
              </a:ext>
            </a:extLst>
          </p:cNvPr>
          <p:cNvSpPr>
            <a:spLocks noGrp="1"/>
          </p:cNvSpPr>
          <p:nvPr>
            <p:ph type="title"/>
          </p:nvPr>
        </p:nvSpPr>
        <p:spPr>
          <a:xfrm>
            <a:off x="457200" y="339985"/>
            <a:ext cx="8229600" cy="1219200"/>
          </a:xfrm>
        </p:spPr>
        <p:txBody>
          <a:bodyPr>
            <a:noAutofit/>
          </a:bodyPr>
          <a:lstStyle/>
          <a:p>
            <a:pPr marL="228600" marR="0" algn="ctr">
              <a:lnSpc>
                <a:spcPct val="107000"/>
              </a:lnSpc>
              <a:spcBef>
                <a:spcPts val="0"/>
              </a:spcBef>
              <a:spcAft>
                <a:spcPts val="0"/>
              </a:spcAft>
            </a:pPr>
            <a:r>
              <a:rPr lang="en-US" sz="4000" b="1" dirty="0">
                <a:solidFill>
                  <a:srgbClr val="0000FF"/>
                </a:solidFill>
                <a:effectLst/>
                <a:ea typeface="Times New Roman" panose="02020603050405020304" pitchFamily="18" charset="0"/>
                <a:cs typeface="Times New Roman" panose="02020603050405020304" pitchFamily="18" charset="0"/>
              </a:rPr>
              <a:t>Essential Knowledge, Skills and Abilities for Success in Finance</a:t>
            </a:r>
            <a:endParaRPr lang="en-US" sz="4000" b="1" dirty="0">
              <a:solidFill>
                <a:srgbClr val="0000FF"/>
              </a:solidFill>
              <a:effectLst/>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883C660-038A-4B86-84DC-11F83160C6EE}"/>
              </a:ext>
            </a:extLst>
          </p:cNvPr>
          <p:cNvSpPr>
            <a:spLocks noGrp="1"/>
          </p:cNvSpPr>
          <p:nvPr>
            <p:ph idx="1"/>
          </p:nvPr>
        </p:nvSpPr>
        <p:spPr>
          <a:xfrm>
            <a:off x="457200" y="1981200"/>
            <a:ext cx="7924800" cy="4876800"/>
          </a:xfrm>
        </p:spPr>
        <p:txBody>
          <a:bodyPr>
            <a:normAutofit lnSpcReduction="10000"/>
          </a:bodyPr>
          <a:lstStyle/>
          <a:p>
            <a:pPr>
              <a:spcBef>
                <a:spcPts val="0"/>
              </a:spcBef>
            </a:pPr>
            <a:r>
              <a:rPr lang="en-US" sz="2400" dirty="0">
                <a:latin typeface="+mj-lt"/>
              </a:rPr>
              <a:t>Understanding of basic concepts and principles</a:t>
            </a:r>
          </a:p>
          <a:p>
            <a:pPr>
              <a:spcBef>
                <a:spcPts val="0"/>
              </a:spcBef>
            </a:pPr>
            <a:r>
              <a:rPr lang="en-US" sz="2400" dirty="0">
                <a:latin typeface="+mj-lt"/>
              </a:rPr>
              <a:t>Qualitative and quantitative skills</a:t>
            </a:r>
          </a:p>
          <a:p>
            <a:pPr>
              <a:spcBef>
                <a:spcPts val="0"/>
              </a:spcBef>
            </a:pPr>
            <a:r>
              <a:rPr lang="en-US" sz="2400" dirty="0">
                <a:latin typeface="+mj-lt"/>
              </a:rPr>
              <a:t>Problem-solving skills</a:t>
            </a:r>
          </a:p>
          <a:p>
            <a:pPr>
              <a:spcBef>
                <a:spcPts val="0"/>
              </a:spcBef>
            </a:pPr>
            <a:r>
              <a:rPr lang="en-US" sz="2400" dirty="0">
                <a:latin typeface="+mj-lt"/>
              </a:rPr>
              <a:t>Analytical ability</a:t>
            </a:r>
          </a:p>
          <a:p>
            <a:pPr>
              <a:spcBef>
                <a:spcPts val="0"/>
              </a:spcBef>
            </a:pPr>
            <a:r>
              <a:rPr lang="en-US" sz="2400" dirty="0">
                <a:latin typeface="+mj-lt"/>
              </a:rPr>
              <a:t>Data analytics </a:t>
            </a:r>
          </a:p>
          <a:p>
            <a:pPr>
              <a:spcBef>
                <a:spcPts val="0"/>
              </a:spcBef>
            </a:pPr>
            <a:r>
              <a:rPr lang="en-US" sz="2400" dirty="0" smtClean="0">
                <a:latin typeface="+mj-lt"/>
              </a:rPr>
              <a:t>Ethics</a:t>
            </a:r>
          </a:p>
          <a:p>
            <a:pPr marL="0" indent="0">
              <a:spcBef>
                <a:spcPts val="0"/>
              </a:spcBef>
              <a:buNone/>
            </a:pPr>
            <a:endParaRPr lang="en-US" sz="2400" dirty="0">
              <a:latin typeface="+mj-lt"/>
            </a:endParaRPr>
          </a:p>
          <a:p>
            <a:pPr>
              <a:spcBef>
                <a:spcPts val="0"/>
              </a:spcBef>
            </a:pPr>
            <a:r>
              <a:rPr lang="en-US" sz="2400" dirty="0">
                <a:latin typeface="+mj-lt"/>
              </a:rPr>
              <a:t>Professional Certifications</a:t>
            </a:r>
          </a:p>
          <a:p>
            <a:pPr lvl="1">
              <a:spcBef>
                <a:spcPts val="0"/>
              </a:spcBef>
            </a:pPr>
            <a:r>
              <a:rPr lang="en-US" sz="2000" b="1" i="1" dirty="0">
                <a:latin typeface="+mj-lt"/>
              </a:rPr>
              <a:t>C</a:t>
            </a:r>
            <a:r>
              <a:rPr lang="en-US" sz="2000" b="1" i="1" u="none" strike="noStrike" baseline="0" dirty="0">
                <a:latin typeface="+mj-lt"/>
              </a:rPr>
              <a:t>hartered Financial Analyst (CFA): </a:t>
            </a:r>
            <a:r>
              <a:rPr lang="en-US" sz="2000" dirty="0">
                <a:latin typeface="+mj-lt"/>
              </a:rPr>
              <a:t>o</a:t>
            </a:r>
            <a:r>
              <a:rPr lang="en-US" sz="2000" b="0" i="0" u="none" strike="noStrike" baseline="0" dirty="0">
                <a:latin typeface="+mj-lt"/>
              </a:rPr>
              <a:t>ffered by the CFA Institute, the CFA program is a graduate level course of study focused primarily on the investments side of finance; and many others</a:t>
            </a:r>
            <a:r>
              <a:rPr lang="en-US" sz="2000" b="0" i="0" u="none" strike="noStrike" baseline="0" dirty="0" smtClean="0">
                <a:latin typeface="+mj-lt"/>
              </a:rPr>
              <a:t>.</a:t>
            </a:r>
          </a:p>
          <a:p>
            <a:pPr lvl="1"/>
            <a:r>
              <a:rPr lang="en-US" sz="2000" dirty="0"/>
              <a:t>Certified Financial Planner ® (CFP</a:t>
            </a:r>
            <a:r>
              <a:rPr lang="en-US" sz="2000" dirty="0" smtClean="0"/>
              <a:t>®), Certified </a:t>
            </a:r>
            <a:r>
              <a:rPr lang="en-US" sz="2000" dirty="0"/>
              <a:t>Fund Specialist (</a:t>
            </a:r>
            <a:r>
              <a:rPr lang="en-US" sz="2000" dirty="0" smtClean="0"/>
              <a:t>CFS), Chartered </a:t>
            </a:r>
            <a:r>
              <a:rPr lang="en-US" sz="2000" dirty="0"/>
              <a:t>Financial Consultant (</a:t>
            </a:r>
            <a:r>
              <a:rPr lang="en-US" sz="2000" dirty="0" err="1" smtClean="0"/>
              <a:t>ChFC</a:t>
            </a:r>
            <a:r>
              <a:rPr lang="en-US" sz="2000" dirty="0" smtClean="0"/>
              <a:t>), Chartered </a:t>
            </a:r>
            <a:r>
              <a:rPr lang="en-US" sz="2000" dirty="0"/>
              <a:t>Investment Counselor (</a:t>
            </a:r>
            <a:r>
              <a:rPr lang="en-US" sz="2000" dirty="0" smtClean="0"/>
              <a:t>CIC) and m</a:t>
            </a:r>
            <a:r>
              <a:rPr lang="en-US" sz="2000" dirty="0" smtClean="0">
                <a:latin typeface="+mj-lt"/>
              </a:rPr>
              <a:t>any others </a:t>
            </a:r>
            <a:endParaRPr lang="en-US" sz="2000" dirty="0">
              <a:latin typeface="+mj-lt"/>
            </a:endParaRPr>
          </a:p>
          <a:p>
            <a:pPr>
              <a:spcBef>
                <a:spcPts val="0"/>
              </a:spcBef>
            </a:pPr>
            <a:endParaRPr lang="en-US" dirty="0"/>
          </a:p>
        </p:txBody>
      </p:sp>
      <p:sp>
        <p:nvSpPr>
          <p:cNvPr id="4" name="Slide Number Placeholder 3">
            <a:extLst>
              <a:ext uri="{FF2B5EF4-FFF2-40B4-BE49-F238E27FC236}">
                <a16:creationId xmlns:a16="http://schemas.microsoft.com/office/drawing/2014/main" id="{7F28FE39-F5DE-4A57-A73D-983961743EA8}"/>
              </a:ext>
            </a:extLst>
          </p:cNvPr>
          <p:cNvSpPr>
            <a:spLocks noGrp="1"/>
          </p:cNvSpPr>
          <p:nvPr>
            <p:ph type="sldNum" sz="quarter" idx="12"/>
          </p:nvPr>
        </p:nvSpPr>
        <p:spPr/>
        <p:txBody>
          <a:bodyPr/>
          <a:lstStyle/>
          <a:p>
            <a:pPr>
              <a:defRPr/>
            </a:pPr>
            <a:fld id="{7CD637C6-3A19-4914-A616-01A59BB83BF2}" type="slidenum">
              <a:rPr lang="en-US" smtClean="0"/>
              <a:pPr>
                <a:defRPr/>
              </a:pPr>
              <a:t>16</a:t>
            </a:fld>
            <a:endParaRPr lang="en-US"/>
          </a:p>
        </p:txBody>
      </p:sp>
    </p:spTree>
    <p:extLst>
      <p:ext uri="{BB962C8B-B14F-4D97-AF65-F5344CB8AC3E}">
        <p14:creationId xmlns:p14="http://schemas.microsoft.com/office/powerpoint/2010/main" val="9659610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4"/>
          <p:cNvSpPr>
            <a:spLocks noGrp="1" noChangeArrowheads="1"/>
          </p:cNvSpPr>
          <p:nvPr>
            <p:ph type="title"/>
          </p:nvPr>
        </p:nvSpPr>
        <p:spPr>
          <a:xfrm>
            <a:off x="228600" y="304799"/>
            <a:ext cx="8763000" cy="1219201"/>
          </a:xfrm>
        </p:spPr>
        <p:txBody>
          <a:bodyPr>
            <a:noAutofit/>
          </a:bodyPr>
          <a:lstStyle/>
          <a:p>
            <a:pPr algn="ctr" eaLnBrk="1" hangingPunct="1"/>
            <a:r>
              <a:rPr lang="en-US" sz="4000" b="1" dirty="0">
                <a:solidFill>
                  <a:srgbClr val="0000FF"/>
                </a:solidFill>
                <a:effectLst/>
                <a:ea typeface="Times New Roman" panose="02020603050405020304" pitchFamily="18" charset="0"/>
              </a:rPr>
              <a:t>An Overview of Financial Environment/System</a:t>
            </a:r>
            <a:endParaRPr lang="en-US" sz="4000" b="1" dirty="0">
              <a:solidFill>
                <a:srgbClr val="0000FF"/>
              </a:solidFill>
            </a:endParaRPr>
          </a:p>
        </p:txBody>
      </p:sp>
      <p:sp>
        <p:nvSpPr>
          <p:cNvPr id="25606" name="Rectangle 5"/>
          <p:cNvSpPr>
            <a:spLocks noGrp="1" noChangeArrowheads="1"/>
          </p:cNvSpPr>
          <p:nvPr>
            <p:ph idx="1"/>
          </p:nvPr>
        </p:nvSpPr>
        <p:spPr>
          <a:xfrm>
            <a:off x="228600" y="1828800"/>
            <a:ext cx="7924800" cy="4724400"/>
          </a:xfrm>
        </p:spPr>
        <p:txBody>
          <a:bodyPr>
            <a:normAutofit fontScale="70000" lnSpcReduction="20000"/>
          </a:bodyPr>
          <a:lstStyle/>
          <a:p>
            <a:pPr eaLnBrk="1" hangingPunct="1">
              <a:lnSpc>
                <a:spcPct val="120000"/>
              </a:lnSpc>
              <a:spcBef>
                <a:spcPts val="0"/>
              </a:spcBef>
            </a:pPr>
            <a:r>
              <a:rPr lang="en-US" sz="3600" dirty="0">
                <a:latin typeface="Cambria" panose="02040503050406030204" pitchFamily="18" charset="0"/>
                <a:ea typeface="Cambria" panose="02040503050406030204" pitchFamily="18" charset="0"/>
              </a:rPr>
              <a:t>A well-functioning / efficient financial system is essential for stable economic growth.</a:t>
            </a:r>
          </a:p>
          <a:p>
            <a:pPr marL="0" indent="0" eaLnBrk="1" hangingPunct="1">
              <a:lnSpc>
                <a:spcPct val="120000"/>
              </a:lnSpc>
              <a:spcBef>
                <a:spcPts val="0"/>
              </a:spcBef>
              <a:buNone/>
            </a:pPr>
            <a:endParaRPr lang="en-US" sz="1200" dirty="0">
              <a:latin typeface="Cambria" panose="02040503050406030204" pitchFamily="18" charset="0"/>
              <a:ea typeface="Cambria" panose="02040503050406030204" pitchFamily="18" charset="0"/>
            </a:endParaRPr>
          </a:p>
          <a:p>
            <a:pPr lvl="1">
              <a:lnSpc>
                <a:spcPct val="120000"/>
              </a:lnSpc>
              <a:spcBef>
                <a:spcPts val="0"/>
              </a:spcBef>
            </a:pPr>
            <a:r>
              <a:rPr lang="en-US" sz="3400" b="1" dirty="0">
                <a:latin typeface="Cambria" panose="02040503050406030204" pitchFamily="18" charset="0"/>
                <a:ea typeface="Cambria" panose="02040503050406030204" pitchFamily="18" charset="0"/>
              </a:rPr>
              <a:t>Allocational Efficiency: </a:t>
            </a:r>
            <a:r>
              <a:rPr lang="en-US" sz="3400" dirty="0">
                <a:latin typeface="Cambria" panose="02040503050406030204" pitchFamily="18" charset="0"/>
                <a:ea typeface="Cambria" panose="02040503050406030204" pitchFamily="18" charset="0"/>
              </a:rPr>
              <a:t>Funds/capital flow from savers/lenders to users/borrowers efficiently for most productive uses.</a:t>
            </a:r>
          </a:p>
          <a:p>
            <a:pPr marL="457200" lvl="1" indent="0">
              <a:lnSpc>
                <a:spcPct val="120000"/>
              </a:lnSpc>
              <a:spcBef>
                <a:spcPts val="0"/>
              </a:spcBef>
              <a:buNone/>
            </a:pPr>
            <a:endParaRPr lang="en-US" sz="1400" dirty="0">
              <a:latin typeface="Cambria" panose="02040503050406030204" pitchFamily="18" charset="0"/>
              <a:ea typeface="Cambria" panose="02040503050406030204" pitchFamily="18" charset="0"/>
            </a:endParaRPr>
          </a:p>
          <a:p>
            <a:pPr lvl="1">
              <a:lnSpc>
                <a:spcPct val="120000"/>
              </a:lnSpc>
              <a:spcBef>
                <a:spcPts val="0"/>
              </a:spcBef>
            </a:pPr>
            <a:r>
              <a:rPr lang="en-US" sz="3400" b="1" dirty="0">
                <a:latin typeface="Cambria" panose="02040503050406030204" pitchFamily="18" charset="0"/>
                <a:ea typeface="Cambria" panose="02040503050406030204" pitchFamily="18" charset="0"/>
              </a:rPr>
              <a:t>Operational Efficiency: </a:t>
            </a:r>
            <a:r>
              <a:rPr lang="en-US" sz="3400" dirty="0">
                <a:latin typeface="Cambria" panose="02040503050406030204" pitchFamily="18" charset="0"/>
                <a:ea typeface="Cambria" panose="02040503050406030204" pitchFamily="18" charset="0"/>
              </a:rPr>
              <a:t>Funds/capital flow from savers/lenders to users/borrowers efficiently at low transaction cost.</a:t>
            </a:r>
          </a:p>
          <a:p>
            <a:pPr marL="457200" lvl="1" indent="0">
              <a:lnSpc>
                <a:spcPct val="120000"/>
              </a:lnSpc>
              <a:spcBef>
                <a:spcPts val="0"/>
              </a:spcBef>
              <a:buNone/>
            </a:pPr>
            <a:endParaRPr lang="en-US" sz="1400" dirty="0">
              <a:latin typeface="Cambria" panose="02040503050406030204" pitchFamily="18" charset="0"/>
              <a:ea typeface="Cambria" panose="02040503050406030204" pitchFamily="18" charset="0"/>
            </a:endParaRPr>
          </a:p>
          <a:p>
            <a:pPr lvl="1">
              <a:lnSpc>
                <a:spcPct val="120000"/>
              </a:lnSpc>
              <a:spcBef>
                <a:spcPts val="0"/>
              </a:spcBef>
            </a:pPr>
            <a:r>
              <a:rPr lang="en-US" sz="3400" b="1" dirty="0">
                <a:latin typeface="Cambria" panose="02040503050406030204" pitchFamily="18" charset="0"/>
                <a:ea typeface="Cambria" panose="02040503050406030204" pitchFamily="18" charset="0"/>
              </a:rPr>
              <a:t>Informational Efficiency: </a:t>
            </a:r>
            <a:r>
              <a:rPr lang="en-US" sz="3400" dirty="0">
                <a:latin typeface="Cambria" panose="02040503050406030204" pitchFamily="18" charset="0"/>
                <a:ea typeface="Cambria" panose="02040503050406030204" pitchFamily="18" charset="0"/>
              </a:rPr>
              <a:t>Security prices reflect all available info and react to new information quickly and fully.</a:t>
            </a:r>
          </a:p>
          <a:p>
            <a:pPr eaLnBrk="1" hangingPunct="1"/>
            <a:endParaRPr lang="en-US" sz="2800" dirty="0">
              <a:latin typeface="Cambria" panose="02040503050406030204" pitchFamily="18" charset="0"/>
              <a:ea typeface="Cambria" panose="02040503050406030204" pitchFamily="18" charset="0"/>
            </a:endParaRPr>
          </a:p>
        </p:txBody>
      </p:sp>
      <p:sp>
        <p:nvSpPr>
          <p:cNvPr id="7"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C41176C8-643A-482C-900C-88A82C36DB13}" type="slidenum">
              <a:rPr lang="en-US"/>
              <a:pPr>
                <a:defRPr/>
              </a:pPr>
              <a:t>17</a:t>
            </a:fld>
            <a:endParaRPr lang="en-US"/>
          </a:p>
        </p:txBody>
      </p:sp>
      <p:sp>
        <p:nvSpPr>
          <p:cNvPr id="25603"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25604"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Tree>
    <p:extLst>
      <p:ext uri="{BB962C8B-B14F-4D97-AF65-F5344CB8AC3E}">
        <p14:creationId xmlns:p14="http://schemas.microsoft.com/office/powerpoint/2010/main" val="3797698374"/>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4"/>
          <p:cNvSpPr>
            <a:spLocks noGrp="1" noChangeArrowheads="1"/>
          </p:cNvSpPr>
          <p:nvPr>
            <p:ph type="title"/>
          </p:nvPr>
        </p:nvSpPr>
        <p:spPr>
          <a:xfrm>
            <a:off x="435244" y="424389"/>
            <a:ext cx="8229600" cy="1243821"/>
          </a:xfrm>
        </p:spPr>
        <p:txBody>
          <a:bodyPr>
            <a:noAutofit/>
          </a:bodyPr>
          <a:lstStyle/>
          <a:p>
            <a:pPr algn="ctr" eaLnBrk="1" hangingPunct="1"/>
            <a:r>
              <a:rPr lang="en-US" sz="4000" b="1" dirty="0">
                <a:solidFill>
                  <a:srgbClr val="0000FF"/>
                </a:solidFill>
              </a:rPr>
              <a:t>Transfer of Capital from Savers to Borrowers</a:t>
            </a:r>
          </a:p>
        </p:txBody>
      </p:sp>
      <p:sp>
        <p:nvSpPr>
          <p:cNvPr id="26630" name="Rectangle 5"/>
          <p:cNvSpPr>
            <a:spLocks noGrp="1" noChangeArrowheads="1"/>
          </p:cNvSpPr>
          <p:nvPr>
            <p:ph idx="1"/>
          </p:nvPr>
        </p:nvSpPr>
        <p:spPr>
          <a:xfrm>
            <a:off x="634080" y="1981200"/>
            <a:ext cx="7595520" cy="4724400"/>
          </a:xfrm>
        </p:spPr>
        <p:txBody>
          <a:bodyPr/>
          <a:lstStyle/>
          <a:p>
            <a:pPr eaLnBrk="1" hangingPunct="1">
              <a:spcBef>
                <a:spcPts val="0"/>
              </a:spcBef>
            </a:pPr>
            <a:r>
              <a:rPr lang="en-US" sz="2400" b="1" dirty="0">
                <a:latin typeface="Cambria" panose="02040503050406030204" pitchFamily="18" charset="0"/>
                <a:ea typeface="Cambria" panose="02040503050406030204" pitchFamily="18" charset="0"/>
              </a:rPr>
              <a:t>Direct transfer </a:t>
            </a:r>
            <a:r>
              <a:rPr lang="en-US" sz="2400" dirty="0">
                <a:latin typeface="Cambria" panose="02040503050406030204" pitchFamily="18" charset="0"/>
                <a:ea typeface="Cambria" panose="02040503050406030204" pitchFamily="18" charset="0"/>
              </a:rPr>
              <a:t>(e.g., corporation issues commercial papers to insurance companies or shares to investors) </a:t>
            </a:r>
          </a:p>
          <a:p>
            <a:pPr marL="0" indent="0" eaLnBrk="1" hangingPunct="1">
              <a:spcBef>
                <a:spcPts val="0"/>
              </a:spcBef>
              <a:buNone/>
            </a:pPr>
            <a:endParaRPr lang="en-US" sz="2400" dirty="0">
              <a:latin typeface="Cambria" panose="02040503050406030204" pitchFamily="18" charset="0"/>
              <a:ea typeface="Cambria" panose="02040503050406030204" pitchFamily="18" charset="0"/>
            </a:endParaRPr>
          </a:p>
          <a:p>
            <a:pPr eaLnBrk="1" hangingPunct="1">
              <a:spcBef>
                <a:spcPts val="0"/>
              </a:spcBef>
            </a:pPr>
            <a:r>
              <a:rPr lang="en-US" sz="2400" b="1" dirty="0">
                <a:latin typeface="Cambria" panose="02040503050406030204" pitchFamily="18" charset="0"/>
                <a:ea typeface="Cambria" panose="02040503050406030204" pitchFamily="18" charset="0"/>
              </a:rPr>
              <a:t>Indirect transfer:</a:t>
            </a:r>
            <a:r>
              <a:rPr lang="en-US" sz="2400" dirty="0">
                <a:latin typeface="Cambria" panose="02040503050406030204" pitchFamily="18" charset="0"/>
                <a:ea typeface="Cambria" panose="02040503050406030204" pitchFamily="18" charset="0"/>
              </a:rPr>
              <a:t> through an investment banking house (e.g., IPO, seasoned equity offering, or debt placement). Investment banks merely transfer securities (claims) for a margin/fees.</a:t>
            </a:r>
          </a:p>
          <a:p>
            <a:pPr marL="0" indent="0" eaLnBrk="1" hangingPunct="1">
              <a:spcBef>
                <a:spcPts val="0"/>
              </a:spcBef>
              <a:buNone/>
            </a:pPr>
            <a:endParaRPr lang="en-US" sz="2400" dirty="0">
              <a:latin typeface="Cambria" panose="02040503050406030204" pitchFamily="18" charset="0"/>
              <a:ea typeface="Cambria" panose="02040503050406030204" pitchFamily="18" charset="0"/>
            </a:endParaRPr>
          </a:p>
          <a:p>
            <a:pPr eaLnBrk="1" hangingPunct="1">
              <a:spcBef>
                <a:spcPts val="0"/>
              </a:spcBef>
            </a:pPr>
            <a:r>
              <a:rPr lang="en-US" sz="2400" b="1" dirty="0">
                <a:latin typeface="Cambria" panose="02040503050406030204" pitchFamily="18" charset="0"/>
                <a:ea typeface="Cambria" panose="02040503050406030204" pitchFamily="18" charset="0"/>
              </a:rPr>
              <a:t>Indirect transfer: </a:t>
            </a:r>
            <a:r>
              <a:rPr lang="en-US" sz="2400" dirty="0">
                <a:latin typeface="Cambria" panose="02040503050406030204" pitchFamily="18" charset="0"/>
                <a:ea typeface="Cambria" panose="02040503050406030204" pitchFamily="18" charset="0"/>
              </a:rPr>
              <a:t>through a financial intermediary (e.g., individual deposits money in bank, bank makes commercial loan to a company). Financial intermediaries create their own securities (claims).</a:t>
            </a:r>
          </a:p>
        </p:txBody>
      </p:sp>
      <p:sp>
        <p:nvSpPr>
          <p:cNvPr id="7"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C7340A71-B465-40E6-80CD-478CA0240D92}" type="slidenum">
              <a:rPr lang="en-US"/>
              <a:pPr>
                <a:defRPr/>
              </a:pPr>
              <a:t>18</a:t>
            </a:fld>
            <a:endParaRPr lang="en-US"/>
          </a:p>
        </p:txBody>
      </p:sp>
      <p:sp>
        <p:nvSpPr>
          <p:cNvPr id="26627"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26628"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Tree>
    <p:extLst>
      <p:ext uri="{BB962C8B-B14F-4D97-AF65-F5344CB8AC3E}">
        <p14:creationId xmlns:p14="http://schemas.microsoft.com/office/powerpoint/2010/main" val="2844192527"/>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408"/>
            <a:ext cx="8229600" cy="1017991"/>
          </a:xfrm>
        </p:spPr>
        <p:txBody>
          <a:bodyPr>
            <a:noAutofit/>
          </a:bodyPr>
          <a:lstStyle/>
          <a:p>
            <a:pPr algn="ctr"/>
            <a:r>
              <a:rPr lang="en-US" b="1" dirty="0">
                <a:solidFill>
                  <a:srgbClr val="0000FF"/>
                </a:solidFill>
              </a:rPr>
              <a:t>Transfer of Capital from Savers to Borrowers </a:t>
            </a:r>
          </a:p>
        </p:txBody>
      </p:sp>
      <p:pic>
        <p:nvPicPr>
          <p:cNvPr id="266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612" y="1600200"/>
            <a:ext cx="9045956" cy="53678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p:cNvSpPr>
            <a:spLocks noGrp="1"/>
          </p:cNvSpPr>
          <p:nvPr>
            <p:ph type="sldNum" sz="quarter" idx="12"/>
          </p:nvPr>
        </p:nvSpPr>
        <p:spPr/>
        <p:txBody>
          <a:bodyPr/>
          <a:lstStyle/>
          <a:p>
            <a:pPr>
              <a:defRPr/>
            </a:pPr>
            <a:fld id="{7CD637C6-3A19-4914-A616-01A59BB83BF2}" type="slidenum">
              <a:rPr lang="en-US" smtClean="0"/>
              <a:pPr>
                <a:defRPr/>
              </a:pPr>
              <a:t>19</a:t>
            </a:fld>
            <a:endParaRPr lang="en-US"/>
          </a:p>
        </p:txBody>
      </p:sp>
    </p:spTree>
    <p:extLst>
      <p:ext uri="{BB962C8B-B14F-4D97-AF65-F5344CB8AC3E}">
        <p14:creationId xmlns:p14="http://schemas.microsoft.com/office/powerpoint/2010/main" val="32320931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7"/>
          <p:cNvSpPr>
            <a:spLocks noGrp="1" noChangeArrowheads="1"/>
          </p:cNvSpPr>
          <p:nvPr>
            <p:ph type="title"/>
          </p:nvPr>
        </p:nvSpPr>
        <p:spPr>
          <a:xfrm>
            <a:off x="152400" y="345085"/>
            <a:ext cx="9144000" cy="609600"/>
          </a:xfrm>
        </p:spPr>
        <p:txBody>
          <a:bodyPr>
            <a:noAutofit/>
          </a:bodyPr>
          <a:lstStyle/>
          <a:p>
            <a:pPr algn="ctr" eaLnBrk="1" hangingPunct="1"/>
            <a:r>
              <a:rPr lang="en-US" sz="4000" b="1" dirty="0">
                <a:solidFill>
                  <a:srgbClr val="0000FF"/>
                </a:solidFill>
              </a:rPr>
              <a:t>What are Some Financial Institutions?</a:t>
            </a:r>
          </a:p>
        </p:txBody>
      </p:sp>
      <p:sp>
        <p:nvSpPr>
          <p:cNvPr id="35846" name="Rectangle 8"/>
          <p:cNvSpPr>
            <a:spLocks noGrp="1" noChangeArrowheads="1"/>
          </p:cNvSpPr>
          <p:nvPr>
            <p:ph idx="1"/>
          </p:nvPr>
        </p:nvSpPr>
        <p:spPr>
          <a:xfrm>
            <a:off x="381000" y="1395662"/>
            <a:ext cx="8229600" cy="5309937"/>
          </a:xfrm>
        </p:spPr>
        <p:txBody>
          <a:bodyPr>
            <a:noAutofit/>
          </a:bodyPr>
          <a:lstStyle/>
          <a:p>
            <a:pPr eaLnBrk="1" hangingPunct="1">
              <a:spcBef>
                <a:spcPts val="0"/>
              </a:spcBef>
            </a:pPr>
            <a:r>
              <a:rPr lang="en-US" sz="2400" b="1" dirty="0"/>
              <a:t>Commercial banks</a:t>
            </a:r>
          </a:p>
          <a:p>
            <a:pPr marL="0" indent="0" eaLnBrk="1" hangingPunct="1">
              <a:spcBef>
                <a:spcPts val="0"/>
              </a:spcBef>
              <a:buNone/>
            </a:pPr>
            <a:endParaRPr lang="en-US" sz="1000" b="1" dirty="0"/>
          </a:p>
          <a:p>
            <a:pPr eaLnBrk="1" hangingPunct="1">
              <a:spcBef>
                <a:spcPts val="0"/>
              </a:spcBef>
            </a:pPr>
            <a:r>
              <a:rPr lang="en-US" sz="2400" b="1" dirty="0"/>
              <a:t>Investment banks </a:t>
            </a:r>
            <a:r>
              <a:rPr lang="en-US" sz="2000" dirty="0"/>
              <a:t>– Specialized financial institutions (or division of banks) that assist in raising and management of capital and provide advisory services. They do underwriting, M&amp;A consulting, wealth management for individuals/institutions.</a:t>
            </a:r>
          </a:p>
          <a:p>
            <a:pPr marL="0" indent="0" eaLnBrk="1" hangingPunct="1">
              <a:spcBef>
                <a:spcPts val="0"/>
              </a:spcBef>
              <a:buNone/>
            </a:pPr>
            <a:endParaRPr lang="en-US" sz="1000" dirty="0"/>
          </a:p>
          <a:p>
            <a:pPr eaLnBrk="1" hangingPunct="1">
              <a:spcBef>
                <a:spcPts val="0"/>
              </a:spcBef>
            </a:pPr>
            <a:r>
              <a:rPr lang="en-US" sz="2400" b="1" dirty="0"/>
              <a:t>Investment funds / companies</a:t>
            </a:r>
          </a:p>
          <a:p>
            <a:pPr lvl="1" eaLnBrk="1" hangingPunct="1">
              <a:spcBef>
                <a:spcPts val="0"/>
              </a:spcBef>
            </a:pPr>
            <a:r>
              <a:rPr lang="en-US" sz="2000" dirty="0"/>
              <a:t>Mutual Funds (open) and Exchanged Traded Funds (ETFs)</a:t>
            </a:r>
          </a:p>
          <a:p>
            <a:pPr lvl="1" eaLnBrk="1" hangingPunct="1">
              <a:spcBef>
                <a:spcPts val="0"/>
              </a:spcBef>
            </a:pPr>
            <a:r>
              <a:rPr lang="en-US" sz="2000" dirty="0"/>
              <a:t>Hedge funds - Small number of large investors invests in many securities including derivatives)</a:t>
            </a:r>
          </a:p>
          <a:p>
            <a:pPr marL="457200" lvl="1" indent="0" eaLnBrk="1" hangingPunct="1">
              <a:spcBef>
                <a:spcPts val="0"/>
              </a:spcBef>
              <a:buNone/>
            </a:pPr>
            <a:endParaRPr lang="en-US" sz="1000" dirty="0"/>
          </a:p>
          <a:p>
            <a:pPr eaLnBrk="1" hangingPunct="1">
              <a:spcBef>
                <a:spcPts val="0"/>
              </a:spcBef>
            </a:pPr>
            <a:r>
              <a:rPr lang="en-US" sz="2400" b="1" dirty="0"/>
              <a:t>Private equity funds </a:t>
            </a:r>
            <a:r>
              <a:rPr lang="en-US" sz="2000" dirty="0"/>
              <a:t>- Small number of investors typically owns virtually all shares in a firm).</a:t>
            </a:r>
          </a:p>
          <a:p>
            <a:pPr marL="0" indent="0" eaLnBrk="1" hangingPunct="1">
              <a:spcBef>
                <a:spcPts val="0"/>
              </a:spcBef>
              <a:buNone/>
            </a:pPr>
            <a:endParaRPr lang="en-US" sz="1000" dirty="0"/>
          </a:p>
          <a:p>
            <a:pPr eaLnBrk="1" hangingPunct="1">
              <a:spcBef>
                <a:spcPts val="0"/>
              </a:spcBef>
            </a:pPr>
            <a:r>
              <a:rPr lang="en-US" sz="2400" b="1" dirty="0"/>
              <a:t>Life insurance companies</a:t>
            </a:r>
          </a:p>
          <a:p>
            <a:pPr marL="0" indent="0" eaLnBrk="1" hangingPunct="1">
              <a:spcBef>
                <a:spcPts val="0"/>
              </a:spcBef>
              <a:buNone/>
            </a:pPr>
            <a:endParaRPr lang="en-US" sz="1000" b="1" dirty="0"/>
          </a:p>
          <a:p>
            <a:pPr eaLnBrk="1" hangingPunct="1">
              <a:spcBef>
                <a:spcPts val="0"/>
              </a:spcBef>
            </a:pPr>
            <a:r>
              <a:rPr lang="en-US" sz="2400" b="1" dirty="0"/>
              <a:t>Pension funds</a:t>
            </a:r>
          </a:p>
        </p:txBody>
      </p:sp>
      <p:sp>
        <p:nvSpPr>
          <p:cNvPr id="7"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914B05C7-69F3-4D31-AA63-2BF334D0F87B}" type="slidenum">
              <a:rPr lang="en-US"/>
              <a:pPr>
                <a:defRPr/>
              </a:pPr>
              <a:t>20</a:t>
            </a:fld>
            <a:endParaRPr lang="en-US"/>
          </a:p>
        </p:txBody>
      </p:sp>
      <p:sp>
        <p:nvSpPr>
          <p:cNvPr id="35843"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35844"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Tree>
    <p:extLst>
      <p:ext uri="{BB962C8B-B14F-4D97-AF65-F5344CB8AC3E}">
        <p14:creationId xmlns:p14="http://schemas.microsoft.com/office/powerpoint/2010/main" val="1265141996"/>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953" y="589293"/>
            <a:ext cx="8229600" cy="743712"/>
          </a:xfrm>
        </p:spPr>
        <p:txBody>
          <a:bodyPr/>
          <a:lstStyle/>
          <a:p>
            <a:pPr algn="ctr"/>
            <a:r>
              <a:rPr lang="en-US" sz="4000" b="1" dirty="0">
                <a:solidFill>
                  <a:srgbClr val="0000FF"/>
                </a:solidFill>
              </a:rPr>
              <a:t>Financial Securities</a:t>
            </a:r>
          </a:p>
        </p:txBody>
      </p:sp>
      <p:sp>
        <p:nvSpPr>
          <p:cNvPr id="3" name="Content Placeholder 2"/>
          <p:cNvSpPr>
            <a:spLocks noGrp="1"/>
          </p:cNvSpPr>
          <p:nvPr>
            <p:ph idx="1"/>
          </p:nvPr>
        </p:nvSpPr>
        <p:spPr>
          <a:xfrm>
            <a:off x="457200" y="1905000"/>
            <a:ext cx="7924800" cy="4724400"/>
          </a:xfrm>
        </p:spPr>
        <p:txBody>
          <a:bodyPr>
            <a:normAutofit/>
          </a:bodyPr>
          <a:lstStyle/>
          <a:p>
            <a:pPr>
              <a:spcBef>
                <a:spcPts val="0"/>
              </a:spcBef>
            </a:pPr>
            <a:r>
              <a:rPr lang="en-US" sz="2800" dirty="0">
                <a:solidFill>
                  <a:schemeClr val="tx1">
                    <a:lumMod val="85000"/>
                    <a:lumOff val="15000"/>
                  </a:schemeClr>
                </a:solidFill>
                <a:latin typeface="Cambria" panose="02040503050406030204" pitchFamily="18" charset="0"/>
                <a:ea typeface="Cambria" panose="02040503050406030204" pitchFamily="18" charset="0"/>
              </a:rPr>
              <a:t>Financial securities are pieces of paper (or even computer entries) with contractual provisions that entitle their owners to specific rights and claims (ownership/creditor) on specific cash flows.</a:t>
            </a:r>
          </a:p>
          <a:p>
            <a:pPr marL="0" indent="0">
              <a:spcBef>
                <a:spcPts val="0"/>
              </a:spcBef>
              <a:buNone/>
            </a:pPr>
            <a:endParaRPr lang="en-US" sz="2800" dirty="0">
              <a:solidFill>
                <a:schemeClr val="tx1">
                  <a:lumMod val="85000"/>
                  <a:lumOff val="15000"/>
                </a:schemeClr>
              </a:solidFill>
              <a:latin typeface="Cambria" panose="02040503050406030204" pitchFamily="18" charset="0"/>
              <a:ea typeface="Cambria" panose="02040503050406030204" pitchFamily="18" charset="0"/>
            </a:endParaRPr>
          </a:p>
          <a:p>
            <a:pPr>
              <a:spcBef>
                <a:spcPts val="0"/>
              </a:spcBef>
            </a:pPr>
            <a:r>
              <a:rPr lang="en-US" sz="2800" dirty="0">
                <a:solidFill>
                  <a:schemeClr val="tx1">
                    <a:lumMod val="85000"/>
                    <a:lumOff val="15000"/>
                  </a:schemeClr>
                </a:solidFill>
                <a:latin typeface="Cambria" panose="02040503050406030204" pitchFamily="18" charset="0"/>
                <a:ea typeface="Cambria" panose="02040503050406030204" pitchFamily="18" charset="0"/>
              </a:rPr>
              <a:t>Notice that debt and equity represent claims upon the cash flows generated by real assets, such as the cash flows generated by a firm’s factories and operations.</a:t>
            </a:r>
          </a:p>
        </p:txBody>
      </p:sp>
      <p:sp>
        <p:nvSpPr>
          <p:cNvPr id="4" name="Slide Number Placeholder 3"/>
          <p:cNvSpPr>
            <a:spLocks noGrp="1"/>
          </p:cNvSpPr>
          <p:nvPr>
            <p:ph type="sldNum" sz="quarter" idx="12"/>
          </p:nvPr>
        </p:nvSpPr>
        <p:spPr/>
        <p:txBody>
          <a:bodyPr/>
          <a:lstStyle/>
          <a:p>
            <a:pPr>
              <a:defRPr/>
            </a:pPr>
            <a:fld id="{7CD637C6-3A19-4914-A616-01A59BB83BF2}" type="slidenum">
              <a:rPr lang="en-US" smtClean="0"/>
              <a:pPr>
                <a:defRPr/>
              </a:pPr>
              <a:t>21</a:t>
            </a:fld>
            <a:endParaRPr lang="en-US"/>
          </a:p>
        </p:txBody>
      </p:sp>
    </p:spTree>
    <p:extLst>
      <p:ext uri="{BB962C8B-B14F-4D97-AF65-F5344CB8AC3E}">
        <p14:creationId xmlns:p14="http://schemas.microsoft.com/office/powerpoint/2010/main" val="1684199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457200" y="463649"/>
            <a:ext cx="8229600" cy="653859"/>
          </a:xfrm>
        </p:spPr>
        <p:txBody>
          <a:bodyPr>
            <a:noAutofit/>
          </a:bodyPr>
          <a:lstStyle/>
          <a:p>
            <a:pPr algn="ctr" eaLnBrk="1" hangingPunct="1"/>
            <a:r>
              <a:rPr lang="en-US" sz="4000" b="1" dirty="0">
                <a:solidFill>
                  <a:srgbClr val="0000FF"/>
                </a:solidFill>
              </a:rPr>
              <a:t>Financial Securities</a:t>
            </a:r>
          </a:p>
        </p:txBody>
      </p:sp>
      <p:graphicFrame>
        <p:nvGraphicFramePr>
          <p:cNvPr id="967739" name="Group 59"/>
          <p:cNvGraphicFramePr>
            <a:graphicFrameLocks noGrp="1"/>
          </p:cNvGraphicFramePr>
          <p:nvPr>
            <p:ph idx="1"/>
            <p:extLst>
              <p:ext uri="{D42A27DB-BD31-4B8C-83A1-F6EECF244321}">
                <p14:modId xmlns:p14="http://schemas.microsoft.com/office/powerpoint/2010/main" val="2834893684"/>
              </p:ext>
            </p:extLst>
          </p:nvPr>
        </p:nvGraphicFramePr>
        <p:xfrm>
          <a:off x="457200" y="1447800"/>
          <a:ext cx="8458200" cy="5002784"/>
        </p:xfrm>
        <a:graphic>
          <a:graphicData uri="http://schemas.openxmlformats.org/drawingml/2006/table">
            <a:tbl>
              <a:tblPr/>
              <a:tblGrid>
                <a:gridCol w="2286000">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gridCol w="2019731">
                  <a:extLst>
                    <a:ext uri="{9D8B030D-6E8A-4147-A177-3AD203B41FA5}">
                      <a16:colId xmlns:a16="http://schemas.microsoft.com/office/drawing/2014/main" val="20002"/>
                    </a:ext>
                  </a:extLst>
                </a:gridCol>
                <a:gridCol w="1790269">
                  <a:extLst>
                    <a:ext uri="{9D8B030D-6E8A-4147-A177-3AD203B41FA5}">
                      <a16:colId xmlns:a16="http://schemas.microsoft.com/office/drawing/2014/main" val="20003"/>
                    </a:ext>
                  </a:extLst>
                </a:gridCol>
              </a:tblGrid>
              <a:tr h="1219200">
                <a:tc>
                  <a:txBody>
                    <a:bodyPr/>
                    <a:lstStyle/>
                    <a:p>
                      <a:pPr marL="0" marR="0" lvl="0" indent="0" algn="ctr" defTabSz="914400" rtl="0" eaLnBrk="1" fontAlgn="base" latinLnBrk="0" hangingPunct="1">
                        <a:lnSpc>
                          <a:spcPct val="100000"/>
                        </a:lnSpc>
                        <a:spcBef>
                          <a:spcPts val="600"/>
                        </a:spcBef>
                        <a:spcAft>
                          <a:spcPct val="0"/>
                        </a:spcAft>
                        <a:buClrTx/>
                        <a:buSzTx/>
                        <a:buFontTx/>
                        <a:buNone/>
                        <a:tabLst/>
                      </a:pPr>
                      <a:endPar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marL="90488" marR="90488" marT="44450" marB="4445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Tx/>
                        <a:buSzTx/>
                        <a:buFontTx/>
                        <a:buNone/>
                        <a:tabLst/>
                      </a:pPr>
                      <a:r>
                        <a:rPr kumimoji="0" 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Debt</a:t>
                      </a:r>
                    </a:p>
                  </a:txBody>
                  <a:tcPr marL="90488" marR="90488" marT="44450" marB="444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Tx/>
                        <a:buSzTx/>
                        <a:buFontTx/>
                        <a:buNone/>
                        <a:tabLst/>
                      </a:pPr>
                      <a:r>
                        <a:rPr kumimoji="0" 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Equity</a:t>
                      </a:r>
                    </a:p>
                  </a:txBody>
                  <a:tcPr marL="90488" marR="90488" marT="44450" marB="4445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Tx/>
                        <a:buSzTx/>
                        <a:buFontTx/>
                        <a:buNone/>
                        <a:tabLst/>
                      </a:pPr>
                      <a:r>
                        <a:rPr kumimoji="0" 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Derivatives</a:t>
                      </a:r>
                    </a:p>
                  </a:txBody>
                  <a:tcPr marL="90488" marR="90488" marT="44450" marB="4445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480">
                <a:tc>
                  <a:txBody>
                    <a:bodyPr/>
                    <a:lstStyle/>
                    <a:p>
                      <a:pPr marL="0" marR="0" lvl="0" indent="0" algn="ctr" defTabSz="914400" rtl="0" eaLnBrk="1" fontAlgn="base" latinLnBrk="0" hangingPunct="1">
                        <a:lnSpc>
                          <a:spcPct val="70000"/>
                        </a:lnSpc>
                        <a:spcBef>
                          <a:spcPts val="600"/>
                        </a:spcBef>
                        <a:spcAft>
                          <a:spcPct val="0"/>
                        </a:spcAft>
                        <a:buClrTx/>
                        <a:buSzTx/>
                        <a:buFontTx/>
                        <a:buNone/>
                        <a:tabLst/>
                      </a:pPr>
                      <a:endParaRPr kumimoji="0" 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ctr" defTabSz="914400" rtl="0" eaLnBrk="1" fontAlgn="base" latinLnBrk="0" hangingPunct="1">
                        <a:lnSpc>
                          <a:spcPct val="70000"/>
                        </a:lnSpc>
                        <a:spcBef>
                          <a:spcPts val="600"/>
                        </a:spcBef>
                        <a:spcAft>
                          <a:spcPct val="0"/>
                        </a:spcAft>
                        <a:buClrTx/>
                        <a:buSzTx/>
                        <a:buFontTx/>
                        <a:buNone/>
                        <a:tabLst/>
                      </a:pPr>
                      <a:r>
                        <a:rPr kumimoji="0" 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Money</a:t>
                      </a:r>
                    </a:p>
                    <a:p>
                      <a:pPr marL="0" marR="0" lvl="0" indent="0" algn="ctr" defTabSz="914400" rtl="0" eaLnBrk="1" fontAlgn="base" latinLnBrk="0" hangingPunct="1">
                        <a:lnSpc>
                          <a:spcPct val="70000"/>
                        </a:lnSpc>
                        <a:spcBef>
                          <a:spcPts val="600"/>
                        </a:spcBef>
                        <a:spcAft>
                          <a:spcPct val="0"/>
                        </a:spcAft>
                        <a:buClrTx/>
                        <a:buSzTx/>
                        <a:buFontTx/>
                        <a:buNone/>
                        <a:tabLst/>
                      </a:pPr>
                      <a:r>
                        <a:rPr kumimoji="0" lang="en-US" sz="24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Market</a:t>
                      </a:r>
                    </a:p>
                    <a:p>
                      <a:pPr marL="0" marR="0" lvl="0" indent="0" algn="ctr" defTabSz="914400" rtl="0" eaLnBrk="1" fontAlgn="base" latinLnBrk="0" hangingPunct="1">
                        <a:lnSpc>
                          <a:spcPct val="70000"/>
                        </a:lnSpc>
                        <a:spcBef>
                          <a:spcPts val="600"/>
                        </a:spcBef>
                        <a:spcAft>
                          <a:spcPct val="0"/>
                        </a:spcAft>
                        <a:buClrTx/>
                        <a:buSzTx/>
                        <a:buFontTx/>
                        <a:buNone/>
                        <a:tabLst/>
                      </a:pPr>
                      <a:r>
                        <a:rPr kumimoji="0" lang="en-US" sz="24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(short-term maturity, less than 1 year)</a:t>
                      </a:r>
                      <a:endPar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marL="90488" marR="90488" marT="44450" marB="444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0000"/>
                        </a:lnSpc>
                        <a:spcBef>
                          <a:spcPts val="600"/>
                        </a:spcBef>
                        <a:spcAft>
                          <a:spcPct val="0"/>
                        </a:spcAft>
                        <a:buClrTx/>
                        <a:buSzTx/>
                        <a:buFontTx/>
                        <a:buChar char="•"/>
                        <a:tabLst/>
                      </a:pPr>
                      <a:endPar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ctr" defTabSz="914400" rtl="0" eaLnBrk="1" fontAlgn="base" latinLnBrk="0" hangingPunct="1">
                        <a:lnSpc>
                          <a:spcPct val="70000"/>
                        </a:lnSpc>
                        <a:spcBef>
                          <a:spcPts val="600"/>
                        </a:spcBef>
                        <a:spcAft>
                          <a:spcPct val="0"/>
                        </a:spcAft>
                        <a:buClrTx/>
                        <a:buSzTx/>
                        <a:buFontTx/>
                        <a:buChar char="•"/>
                        <a:tabLst/>
                      </a:pPr>
                      <a:r>
                        <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T-Bills</a:t>
                      </a:r>
                    </a:p>
                    <a:p>
                      <a:pPr marL="0" marR="0" lvl="0" indent="0" algn="ctr" defTabSz="914400" rtl="0" eaLnBrk="1" fontAlgn="base" latinLnBrk="0" hangingPunct="1">
                        <a:lnSpc>
                          <a:spcPct val="70000"/>
                        </a:lnSpc>
                        <a:spcBef>
                          <a:spcPts val="600"/>
                        </a:spcBef>
                        <a:spcAft>
                          <a:spcPct val="0"/>
                        </a:spcAft>
                        <a:buClrTx/>
                        <a:buSzTx/>
                        <a:buFontTx/>
                        <a:buChar char="•"/>
                        <a:tabLst/>
                      </a:pPr>
                      <a:r>
                        <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CD’s</a:t>
                      </a:r>
                    </a:p>
                    <a:p>
                      <a:pPr marL="0" marR="0" lvl="0" indent="0" algn="ctr" defTabSz="914400" rtl="0" eaLnBrk="1" fontAlgn="base" latinLnBrk="0" hangingPunct="1">
                        <a:lnSpc>
                          <a:spcPct val="70000"/>
                        </a:lnSpc>
                        <a:spcBef>
                          <a:spcPts val="600"/>
                        </a:spcBef>
                        <a:spcAft>
                          <a:spcPct val="0"/>
                        </a:spcAft>
                        <a:buClrTx/>
                        <a:buSzTx/>
                        <a:buFontTx/>
                        <a:buChar char="•"/>
                        <a:tabLst/>
                      </a:pPr>
                      <a:r>
                        <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Eurodollars</a:t>
                      </a:r>
                    </a:p>
                    <a:p>
                      <a:pPr marL="0" marR="0" lvl="0" indent="0" algn="ctr" defTabSz="914400" rtl="0" eaLnBrk="1" fontAlgn="base" latinLnBrk="0" hangingPunct="1">
                        <a:lnSpc>
                          <a:spcPct val="70000"/>
                        </a:lnSpc>
                        <a:spcBef>
                          <a:spcPts val="600"/>
                        </a:spcBef>
                        <a:spcAft>
                          <a:spcPct val="0"/>
                        </a:spcAft>
                        <a:buClrTx/>
                        <a:buSzTx/>
                        <a:buFontTx/>
                        <a:buChar char="•"/>
                        <a:tabLst/>
                      </a:pPr>
                      <a:r>
                        <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Fed Funds</a:t>
                      </a:r>
                    </a:p>
                  </a:txBody>
                  <a:tcPr marL="90488" marR="90488"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Tx/>
                        <a:buSzTx/>
                        <a:buFontTx/>
                        <a:buNone/>
                        <a:tabLst/>
                      </a:pPr>
                      <a:endPar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marL="90488" marR="90488"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0000"/>
                        </a:lnSpc>
                        <a:spcBef>
                          <a:spcPts val="600"/>
                        </a:spcBef>
                        <a:spcAft>
                          <a:spcPct val="0"/>
                        </a:spcAft>
                        <a:buClrTx/>
                        <a:buSzTx/>
                        <a:buFontTx/>
                        <a:buNone/>
                        <a:tabLst/>
                      </a:pPr>
                      <a:endPar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ctr" defTabSz="914400" rtl="0" eaLnBrk="1" fontAlgn="base" latinLnBrk="0" hangingPunct="1">
                        <a:lnSpc>
                          <a:spcPct val="70000"/>
                        </a:lnSpc>
                        <a:spcBef>
                          <a:spcPts val="600"/>
                        </a:spcBef>
                        <a:spcAft>
                          <a:spcPct val="0"/>
                        </a:spcAft>
                        <a:buClrTx/>
                        <a:buSzTx/>
                        <a:buFontTx/>
                        <a:buChar char="•"/>
                        <a:tabLst/>
                      </a:pPr>
                      <a:r>
                        <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Options</a:t>
                      </a:r>
                    </a:p>
                    <a:p>
                      <a:pPr marL="0" marR="0" lvl="0" indent="0" algn="ctr" defTabSz="914400" rtl="0" eaLnBrk="1" fontAlgn="base" latinLnBrk="0" hangingPunct="1">
                        <a:lnSpc>
                          <a:spcPct val="70000"/>
                        </a:lnSpc>
                        <a:spcBef>
                          <a:spcPts val="600"/>
                        </a:spcBef>
                        <a:spcAft>
                          <a:spcPct val="0"/>
                        </a:spcAft>
                        <a:buClrTx/>
                        <a:buSzTx/>
                        <a:buFontTx/>
                        <a:buChar char="•"/>
                        <a:tabLst/>
                      </a:pPr>
                      <a:r>
                        <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Futures</a:t>
                      </a:r>
                    </a:p>
                    <a:p>
                      <a:pPr marL="0" marR="0" lvl="0" indent="0" algn="ctr" defTabSz="914400" rtl="0" eaLnBrk="1" fontAlgn="base" latinLnBrk="0" hangingPunct="1">
                        <a:lnSpc>
                          <a:spcPct val="70000"/>
                        </a:lnSpc>
                        <a:spcBef>
                          <a:spcPts val="600"/>
                        </a:spcBef>
                        <a:spcAft>
                          <a:spcPct val="0"/>
                        </a:spcAft>
                        <a:buClrTx/>
                        <a:buSzTx/>
                        <a:buFontTx/>
                        <a:buChar char="•"/>
                        <a:tabLst/>
                      </a:pPr>
                      <a:r>
                        <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Forward</a:t>
                      </a:r>
                    </a:p>
                  </a:txBody>
                  <a:tcPr marL="90488" marR="90488" marT="44450" marB="444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480">
                <a:tc>
                  <a:txBody>
                    <a:bodyPr/>
                    <a:lstStyle/>
                    <a:p>
                      <a:pPr marL="0" marR="0" lvl="0" indent="0" algn="ctr" defTabSz="914400" rtl="0" eaLnBrk="1" fontAlgn="base" latinLnBrk="0" hangingPunct="1">
                        <a:lnSpc>
                          <a:spcPct val="70000"/>
                        </a:lnSpc>
                        <a:spcBef>
                          <a:spcPts val="600"/>
                        </a:spcBef>
                        <a:spcAft>
                          <a:spcPct val="0"/>
                        </a:spcAft>
                        <a:buClrTx/>
                        <a:buSzTx/>
                        <a:buFontTx/>
                        <a:buNone/>
                        <a:tabLst/>
                      </a:pPr>
                      <a:endParaRPr kumimoji="0" 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ctr" defTabSz="914400" rtl="0" eaLnBrk="1" fontAlgn="base" latinLnBrk="0" hangingPunct="1">
                        <a:lnSpc>
                          <a:spcPct val="70000"/>
                        </a:lnSpc>
                        <a:spcBef>
                          <a:spcPts val="600"/>
                        </a:spcBef>
                        <a:spcAft>
                          <a:spcPct val="0"/>
                        </a:spcAft>
                        <a:buClrTx/>
                        <a:buSzTx/>
                        <a:buFontTx/>
                        <a:buNone/>
                        <a:tabLst/>
                      </a:pPr>
                      <a:r>
                        <a:rPr kumimoji="0" 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Capital</a:t>
                      </a:r>
                    </a:p>
                    <a:p>
                      <a:pPr marL="0" marR="0" lvl="0" indent="0" algn="ctr" defTabSz="914400" rtl="0" eaLnBrk="1" fontAlgn="base" latinLnBrk="0" hangingPunct="1">
                        <a:lnSpc>
                          <a:spcPct val="70000"/>
                        </a:lnSpc>
                        <a:spcBef>
                          <a:spcPts val="600"/>
                        </a:spcBef>
                        <a:spcAft>
                          <a:spcPct val="0"/>
                        </a:spcAft>
                        <a:buClrTx/>
                        <a:buSzTx/>
                        <a:buFontTx/>
                        <a:buNone/>
                        <a:tabLst/>
                      </a:pPr>
                      <a:r>
                        <a:rPr kumimoji="0" lang="en-US" sz="24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Market</a:t>
                      </a:r>
                    </a:p>
                    <a:p>
                      <a:pPr marL="0" marR="0" lvl="0" indent="0" algn="ctr" defTabSz="914400" rtl="0" eaLnBrk="1" fontAlgn="base" latinLnBrk="0" hangingPunct="1">
                        <a:lnSpc>
                          <a:spcPct val="70000"/>
                        </a:lnSpc>
                        <a:spcBef>
                          <a:spcPts val="600"/>
                        </a:spcBef>
                        <a:spcAft>
                          <a:spcPct val="0"/>
                        </a:spcAft>
                        <a:buClrTx/>
                        <a:buSzTx/>
                        <a:buFontTx/>
                        <a:buNone/>
                        <a:tabLst/>
                        <a:defRPr/>
                      </a:pPr>
                      <a:r>
                        <a:rPr kumimoji="0" lang="en-US" sz="24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(long-term maturity, more than 1 year)</a:t>
                      </a:r>
                    </a:p>
                  </a:txBody>
                  <a:tcPr marL="90488" marR="90488" marT="44450" marB="444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0000"/>
                        </a:lnSpc>
                        <a:spcBef>
                          <a:spcPts val="600"/>
                        </a:spcBef>
                        <a:spcAft>
                          <a:spcPct val="0"/>
                        </a:spcAft>
                        <a:buClrTx/>
                        <a:buSzPct val="65000"/>
                        <a:buFontTx/>
                        <a:buChar char="•"/>
                        <a:tabLst/>
                      </a:pPr>
                      <a:endPar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ctr" defTabSz="914400" rtl="0" eaLnBrk="1" fontAlgn="base" latinLnBrk="0" hangingPunct="1">
                        <a:lnSpc>
                          <a:spcPct val="70000"/>
                        </a:lnSpc>
                        <a:spcBef>
                          <a:spcPts val="600"/>
                        </a:spcBef>
                        <a:spcAft>
                          <a:spcPct val="0"/>
                        </a:spcAft>
                        <a:buClrTx/>
                        <a:buSzPct val="65000"/>
                        <a:buFontTx/>
                        <a:buChar char="•"/>
                        <a:tabLst/>
                      </a:pPr>
                      <a:r>
                        <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sz="24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Govt. Bonds</a:t>
                      </a:r>
                      <a:endPar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ctr" defTabSz="914400" rtl="0" eaLnBrk="1" fontAlgn="base" latinLnBrk="0" hangingPunct="1">
                        <a:lnSpc>
                          <a:spcPct val="70000"/>
                        </a:lnSpc>
                        <a:spcBef>
                          <a:spcPts val="600"/>
                        </a:spcBef>
                        <a:spcAft>
                          <a:spcPct val="0"/>
                        </a:spcAft>
                        <a:buClrTx/>
                        <a:buSzPct val="65000"/>
                        <a:buFontTx/>
                        <a:buChar char="•"/>
                        <a:tabLst/>
                      </a:pPr>
                      <a:r>
                        <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Agency bonds</a:t>
                      </a:r>
                    </a:p>
                    <a:p>
                      <a:pPr marL="0" marR="0" lvl="0" indent="0" algn="ctr" defTabSz="914400" rtl="0" eaLnBrk="1" fontAlgn="base" latinLnBrk="0" hangingPunct="1">
                        <a:lnSpc>
                          <a:spcPct val="70000"/>
                        </a:lnSpc>
                        <a:spcBef>
                          <a:spcPts val="600"/>
                        </a:spcBef>
                        <a:spcAft>
                          <a:spcPct val="0"/>
                        </a:spcAft>
                        <a:buClrTx/>
                        <a:buSzPct val="65000"/>
                        <a:buFontTx/>
                        <a:buChar char="•"/>
                        <a:tabLst/>
                      </a:pPr>
                      <a:r>
                        <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Municipals</a:t>
                      </a:r>
                    </a:p>
                    <a:p>
                      <a:pPr marL="0" marR="0" lvl="0" indent="0" algn="ctr" defTabSz="914400" rtl="0" eaLnBrk="1" fontAlgn="base" latinLnBrk="0" hangingPunct="1">
                        <a:lnSpc>
                          <a:spcPct val="70000"/>
                        </a:lnSpc>
                        <a:spcBef>
                          <a:spcPts val="600"/>
                        </a:spcBef>
                        <a:spcAft>
                          <a:spcPct val="0"/>
                        </a:spcAft>
                        <a:buClrTx/>
                        <a:buSzPct val="65000"/>
                        <a:buFontTx/>
                        <a:buChar char="•"/>
                        <a:tabLst/>
                      </a:pPr>
                      <a:r>
                        <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Corporate bonds</a:t>
                      </a:r>
                    </a:p>
                  </a:txBody>
                  <a:tcPr marL="90488" marR="90488"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ts val="600"/>
                        </a:spcBef>
                        <a:spcAft>
                          <a:spcPct val="0"/>
                        </a:spcAft>
                        <a:buClrTx/>
                        <a:buSzTx/>
                        <a:buFontTx/>
                        <a:buChar char="•"/>
                        <a:tabLst/>
                      </a:pPr>
                      <a:endPar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ctr" defTabSz="914400" rtl="0" eaLnBrk="1" fontAlgn="base" latinLnBrk="0" hangingPunct="1">
                        <a:lnSpc>
                          <a:spcPct val="80000"/>
                        </a:lnSpc>
                        <a:spcBef>
                          <a:spcPts val="60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a:t>
                      </a:r>
                      <a:r>
                        <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Common Stock</a:t>
                      </a:r>
                    </a:p>
                    <a:p>
                      <a:pPr marL="0" marR="0" lvl="0" indent="0" algn="ctr" defTabSz="914400" rtl="0" eaLnBrk="1" fontAlgn="base" latinLnBrk="0" hangingPunct="1">
                        <a:lnSpc>
                          <a:spcPct val="80000"/>
                        </a:lnSpc>
                        <a:spcBef>
                          <a:spcPts val="600"/>
                        </a:spcBef>
                        <a:spcAft>
                          <a:spcPct val="0"/>
                        </a:spcAft>
                        <a:buClrTx/>
                        <a:buSzTx/>
                        <a:buFontTx/>
                        <a:buChar char="•"/>
                        <a:tabLst/>
                      </a:pPr>
                      <a:r>
                        <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Preferred stock</a:t>
                      </a:r>
                    </a:p>
                  </a:txBody>
                  <a:tcPr marL="90488" marR="90488"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Tx/>
                        <a:buSzTx/>
                        <a:buFontTx/>
                        <a:buChar char="•"/>
                        <a:tabLst/>
                      </a:pPr>
                      <a:endPar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ctr" defTabSz="914400" rtl="0" eaLnBrk="1" fontAlgn="base" latinLnBrk="0" hangingPunct="1">
                        <a:lnSpc>
                          <a:spcPct val="100000"/>
                        </a:lnSpc>
                        <a:spcBef>
                          <a:spcPts val="600"/>
                        </a:spcBef>
                        <a:spcAft>
                          <a:spcPct val="0"/>
                        </a:spcAft>
                        <a:buClrTx/>
                        <a:buSzTx/>
                        <a:buFontTx/>
                        <a:buChar char="•"/>
                        <a:tabLst/>
                      </a:pPr>
                      <a:r>
                        <a:rPr kumimoji="0" 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sz="24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Swaps</a:t>
                      </a:r>
                    </a:p>
                    <a:p>
                      <a:pPr marL="0" marR="0" lvl="0" indent="0" algn="ctr" defTabSz="914400" rtl="0" eaLnBrk="1" fontAlgn="base" latinLnBrk="0" hangingPunct="1">
                        <a:lnSpc>
                          <a:spcPct val="70000"/>
                        </a:lnSpc>
                        <a:spcBef>
                          <a:spcPts val="60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Options</a:t>
                      </a:r>
                    </a:p>
                    <a:p>
                      <a:pPr marL="0" marR="0" lvl="0" indent="0" algn="ctr" defTabSz="914400" rtl="0" eaLnBrk="1" fontAlgn="base" latinLnBrk="0" hangingPunct="1">
                        <a:lnSpc>
                          <a:spcPct val="70000"/>
                        </a:lnSpc>
                        <a:spcBef>
                          <a:spcPts val="60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Futures</a:t>
                      </a:r>
                    </a:p>
                    <a:p>
                      <a:pPr marL="0" marR="0" lvl="0" indent="0" algn="ctr" defTabSz="914400" rtl="0" eaLnBrk="1" fontAlgn="base" latinLnBrk="0" hangingPunct="1">
                        <a:lnSpc>
                          <a:spcPct val="70000"/>
                        </a:lnSpc>
                        <a:spcBef>
                          <a:spcPts val="60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Forward</a:t>
                      </a:r>
                    </a:p>
                  </a:txBody>
                  <a:tcPr marL="90488" marR="90488" marT="44450" marB="444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6"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651F5095-37B7-4D8C-8F65-7BCCA357A2EE}" type="slidenum">
              <a:rPr lang="en-US"/>
              <a:pPr>
                <a:defRPr/>
              </a:pPr>
              <a:t>22</a:t>
            </a:fld>
            <a:endParaRPr lang="en-US"/>
          </a:p>
        </p:txBody>
      </p:sp>
    </p:spTree>
    <p:extLst>
      <p:ext uri="{BB962C8B-B14F-4D97-AF65-F5344CB8AC3E}">
        <p14:creationId xmlns:p14="http://schemas.microsoft.com/office/powerpoint/2010/main" val="230844233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7"/>
          <p:cNvSpPr>
            <a:spLocks noGrp="1" noChangeArrowheads="1"/>
          </p:cNvSpPr>
          <p:nvPr>
            <p:ph type="title"/>
          </p:nvPr>
        </p:nvSpPr>
        <p:spPr>
          <a:xfrm>
            <a:off x="457200" y="478454"/>
            <a:ext cx="8229600" cy="722314"/>
          </a:xfrm>
        </p:spPr>
        <p:txBody>
          <a:bodyPr>
            <a:normAutofit/>
          </a:bodyPr>
          <a:lstStyle/>
          <a:p>
            <a:pPr algn="ctr" eaLnBrk="1" hangingPunct="1"/>
            <a:r>
              <a:rPr lang="en-US" sz="4000" b="1" dirty="0" smtClean="0">
                <a:solidFill>
                  <a:srgbClr val="0000FF"/>
                </a:solidFill>
              </a:rPr>
              <a:t>Financial </a:t>
            </a:r>
            <a:r>
              <a:rPr lang="en-US" sz="4000" b="1" dirty="0">
                <a:solidFill>
                  <a:srgbClr val="0000FF"/>
                </a:solidFill>
              </a:rPr>
              <a:t>Markets</a:t>
            </a:r>
          </a:p>
        </p:txBody>
      </p:sp>
      <p:sp>
        <p:nvSpPr>
          <p:cNvPr id="36870" name="Rectangle 8"/>
          <p:cNvSpPr>
            <a:spLocks noGrp="1" noChangeArrowheads="1"/>
          </p:cNvSpPr>
          <p:nvPr>
            <p:ph idx="1"/>
          </p:nvPr>
        </p:nvSpPr>
        <p:spPr>
          <a:xfrm>
            <a:off x="494071" y="1828800"/>
            <a:ext cx="7199312" cy="4724400"/>
          </a:xfrm>
        </p:spPr>
        <p:txBody>
          <a:bodyPr/>
          <a:lstStyle/>
          <a:p>
            <a:pPr algn="just" eaLnBrk="1" hangingPunct="1">
              <a:spcBef>
                <a:spcPts val="0"/>
              </a:spcBef>
            </a:pPr>
            <a:r>
              <a:rPr lang="en-US" sz="2800" dirty="0">
                <a:solidFill>
                  <a:schemeClr val="tx1">
                    <a:lumMod val="85000"/>
                    <a:lumOff val="15000"/>
                  </a:schemeClr>
                </a:solidFill>
                <a:latin typeface="Cambria" panose="02040503050406030204" pitchFamily="18" charset="0"/>
                <a:ea typeface="Cambria" panose="02040503050406030204" pitchFamily="18" charset="0"/>
              </a:rPr>
              <a:t>A market is a place (physical or virtual) of exchanging one asset (usually cash) for another asset</a:t>
            </a:r>
            <a:r>
              <a:rPr lang="en-US" sz="2800" dirty="0" smtClean="0">
                <a:solidFill>
                  <a:schemeClr val="tx1">
                    <a:lumMod val="85000"/>
                    <a:lumOff val="15000"/>
                  </a:schemeClr>
                </a:solidFill>
                <a:latin typeface="Cambria" panose="02040503050406030204" pitchFamily="18" charset="0"/>
                <a:ea typeface="Cambria" panose="02040503050406030204" pitchFamily="18" charset="0"/>
              </a:rPr>
              <a:t>.</a:t>
            </a:r>
          </a:p>
          <a:p>
            <a:pPr marL="0" indent="0" algn="just" eaLnBrk="1" hangingPunct="1">
              <a:spcBef>
                <a:spcPts val="0"/>
              </a:spcBef>
              <a:buNone/>
            </a:pPr>
            <a:endParaRPr lang="en-US" sz="2800" dirty="0" smtClean="0">
              <a:solidFill>
                <a:schemeClr val="tx1">
                  <a:lumMod val="85000"/>
                  <a:lumOff val="15000"/>
                </a:schemeClr>
              </a:solidFill>
              <a:latin typeface="Cambria" panose="02040503050406030204" pitchFamily="18" charset="0"/>
              <a:ea typeface="Cambria" panose="02040503050406030204" pitchFamily="18" charset="0"/>
            </a:endParaRPr>
          </a:p>
          <a:p>
            <a:pPr algn="just" eaLnBrk="1" hangingPunct="1">
              <a:spcBef>
                <a:spcPts val="0"/>
              </a:spcBef>
            </a:pPr>
            <a:r>
              <a:rPr lang="en-US" sz="2800" dirty="0" smtClean="0">
                <a:solidFill>
                  <a:schemeClr val="tx1">
                    <a:lumMod val="85000"/>
                    <a:lumOff val="15000"/>
                  </a:schemeClr>
                </a:solidFill>
                <a:latin typeface="Cambria" panose="02040503050406030204" pitchFamily="18" charset="0"/>
                <a:ea typeface="Cambria" panose="02040503050406030204" pitchFamily="18" charset="0"/>
              </a:rPr>
              <a:t>Types of financial markets</a:t>
            </a:r>
          </a:p>
          <a:p>
            <a:pPr marL="457200" lvl="1" indent="0">
              <a:spcBef>
                <a:spcPts val="0"/>
              </a:spcBef>
              <a:buNone/>
            </a:pPr>
            <a:endParaRPr lang="en-US" sz="2600" dirty="0" smtClean="0">
              <a:solidFill>
                <a:schemeClr val="tx1">
                  <a:lumMod val="85000"/>
                  <a:lumOff val="15000"/>
                </a:schemeClr>
              </a:solidFill>
              <a:latin typeface="Cambria" panose="02040503050406030204" pitchFamily="18" charset="0"/>
              <a:ea typeface="Cambria" panose="02040503050406030204" pitchFamily="18" charset="0"/>
            </a:endParaRPr>
          </a:p>
          <a:p>
            <a:pPr lvl="1">
              <a:spcBef>
                <a:spcPts val="0"/>
              </a:spcBef>
            </a:pPr>
            <a:r>
              <a:rPr lang="en-US" sz="2600" dirty="0" smtClean="0">
                <a:solidFill>
                  <a:schemeClr val="tx1">
                    <a:lumMod val="85000"/>
                    <a:lumOff val="15000"/>
                  </a:schemeClr>
                </a:solidFill>
                <a:latin typeface="Cambria" panose="02040503050406030204" pitchFamily="18" charset="0"/>
                <a:ea typeface="Cambria" panose="02040503050406030204" pitchFamily="18" charset="0"/>
              </a:rPr>
              <a:t>Physical </a:t>
            </a:r>
            <a:r>
              <a:rPr lang="en-US" sz="2600" dirty="0">
                <a:solidFill>
                  <a:schemeClr val="tx1">
                    <a:lumMod val="85000"/>
                    <a:lumOff val="15000"/>
                  </a:schemeClr>
                </a:solidFill>
                <a:latin typeface="Cambria" panose="02040503050406030204" pitchFamily="18" charset="0"/>
                <a:ea typeface="Cambria" panose="02040503050406030204" pitchFamily="18" charset="0"/>
              </a:rPr>
              <a:t>assets vs. financial </a:t>
            </a:r>
            <a:r>
              <a:rPr lang="en-US" sz="2600" dirty="0" smtClean="0">
                <a:solidFill>
                  <a:schemeClr val="tx1">
                    <a:lumMod val="85000"/>
                    <a:lumOff val="15000"/>
                  </a:schemeClr>
                </a:solidFill>
                <a:latin typeface="Cambria" panose="02040503050406030204" pitchFamily="18" charset="0"/>
                <a:ea typeface="Cambria" panose="02040503050406030204" pitchFamily="18" charset="0"/>
              </a:rPr>
              <a:t>assets</a:t>
            </a:r>
          </a:p>
          <a:p>
            <a:pPr lvl="1">
              <a:spcBef>
                <a:spcPts val="0"/>
              </a:spcBef>
            </a:pPr>
            <a:r>
              <a:rPr lang="en-US" sz="2600" dirty="0">
                <a:solidFill>
                  <a:schemeClr val="tx1">
                    <a:lumMod val="85000"/>
                    <a:lumOff val="15000"/>
                  </a:schemeClr>
                </a:solidFill>
                <a:latin typeface="Cambria" panose="02040503050406030204" pitchFamily="18" charset="0"/>
                <a:ea typeface="Cambria" panose="02040503050406030204" pitchFamily="18" charset="0"/>
              </a:rPr>
              <a:t>Money versus capital </a:t>
            </a:r>
            <a:r>
              <a:rPr lang="en-US" sz="2600" dirty="0" smtClean="0">
                <a:solidFill>
                  <a:schemeClr val="tx1">
                    <a:lumMod val="85000"/>
                    <a:lumOff val="15000"/>
                  </a:schemeClr>
                </a:solidFill>
                <a:latin typeface="Cambria" panose="02040503050406030204" pitchFamily="18" charset="0"/>
                <a:ea typeface="Cambria" panose="02040503050406030204" pitchFamily="18" charset="0"/>
              </a:rPr>
              <a:t>markets</a:t>
            </a:r>
            <a:endParaRPr lang="en-US" sz="2600" dirty="0">
              <a:solidFill>
                <a:schemeClr val="tx1">
                  <a:lumMod val="85000"/>
                  <a:lumOff val="15000"/>
                </a:schemeClr>
              </a:solidFill>
              <a:latin typeface="Cambria" panose="02040503050406030204" pitchFamily="18" charset="0"/>
              <a:ea typeface="Cambria" panose="02040503050406030204" pitchFamily="18" charset="0"/>
            </a:endParaRPr>
          </a:p>
          <a:p>
            <a:pPr lvl="1">
              <a:spcBef>
                <a:spcPts val="0"/>
              </a:spcBef>
            </a:pPr>
            <a:r>
              <a:rPr lang="en-US" sz="2600" dirty="0">
                <a:solidFill>
                  <a:schemeClr val="tx1">
                    <a:lumMod val="85000"/>
                    <a:lumOff val="15000"/>
                  </a:schemeClr>
                </a:solidFill>
                <a:latin typeface="Cambria" panose="02040503050406030204" pitchFamily="18" charset="0"/>
                <a:ea typeface="Cambria" panose="02040503050406030204" pitchFamily="18" charset="0"/>
              </a:rPr>
              <a:t>Spot versus future markets</a:t>
            </a:r>
          </a:p>
          <a:p>
            <a:pPr lvl="1">
              <a:spcBef>
                <a:spcPts val="0"/>
              </a:spcBef>
            </a:pPr>
            <a:r>
              <a:rPr lang="en-US" sz="2600" dirty="0" smtClean="0">
                <a:solidFill>
                  <a:schemeClr val="tx1">
                    <a:lumMod val="85000"/>
                    <a:lumOff val="15000"/>
                  </a:schemeClr>
                </a:solidFill>
                <a:latin typeface="Cambria" panose="02040503050406030204" pitchFamily="18" charset="0"/>
                <a:ea typeface="Cambria" panose="02040503050406030204" pitchFamily="18" charset="0"/>
              </a:rPr>
              <a:t>Primary </a:t>
            </a:r>
            <a:r>
              <a:rPr lang="en-US" sz="2600" dirty="0">
                <a:solidFill>
                  <a:schemeClr val="tx1">
                    <a:lumMod val="85000"/>
                    <a:lumOff val="15000"/>
                  </a:schemeClr>
                </a:solidFill>
                <a:latin typeface="Cambria" panose="02040503050406030204" pitchFamily="18" charset="0"/>
                <a:ea typeface="Cambria" panose="02040503050406030204" pitchFamily="18" charset="0"/>
              </a:rPr>
              <a:t>versus secondary markets</a:t>
            </a:r>
          </a:p>
        </p:txBody>
      </p:sp>
      <p:sp>
        <p:nvSpPr>
          <p:cNvPr id="7"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B6F67E71-8D1A-40EB-8AC0-D7F04F9FBAB6}" type="slidenum">
              <a:rPr lang="en-US"/>
              <a:pPr>
                <a:defRPr/>
              </a:pPr>
              <a:t>23</a:t>
            </a:fld>
            <a:endParaRPr lang="en-US"/>
          </a:p>
        </p:txBody>
      </p:sp>
      <p:sp>
        <p:nvSpPr>
          <p:cNvPr id="36867"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36868"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Tree>
    <p:extLst>
      <p:ext uri="{BB962C8B-B14F-4D97-AF65-F5344CB8AC3E}">
        <p14:creationId xmlns:p14="http://schemas.microsoft.com/office/powerpoint/2010/main" val="330224803"/>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4"/>
          <p:cNvSpPr>
            <a:spLocks noGrp="1" noChangeArrowheads="1"/>
          </p:cNvSpPr>
          <p:nvPr>
            <p:ph type="title"/>
          </p:nvPr>
        </p:nvSpPr>
        <p:spPr>
          <a:xfrm>
            <a:off x="457200" y="457200"/>
            <a:ext cx="8229600" cy="838200"/>
          </a:xfrm>
        </p:spPr>
        <p:txBody>
          <a:bodyPr>
            <a:noAutofit/>
          </a:bodyPr>
          <a:lstStyle/>
          <a:p>
            <a:pPr algn="ctr" eaLnBrk="1" hangingPunct="1"/>
            <a:r>
              <a:rPr lang="en-US" sz="4000" b="1" dirty="0">
                <a:solidFill>
                  <a:srgbClr val="0000FF"/>
                </a:solidFill>
              </a:rPr>
              <a:t>Cost of Money / Fund / Capital</a:t>
            </a:r>
          </a:p>
        </p:txBody>
      </p:sp>
      <p:sp>
        <p:nvSpPr>
          <p:cNvPr id="31750" name="Rectangle 5"/>
          <p:cNvSpPr>
            <a:spLocks noGrp="1" noChangeArrowheads="1"/>
          </p:cNvSpPr>
          <p:nvPr>
            <p:ph idx="1"/>
          </p:nvPr>
        </p:nvSpPr>
        <p:spPr>
          <a:xfrm>
            <a:off x="304800" y="1524000"/>
            <a:ext cx="8153400" cy="5029200"/>
          </a:xfrm>
        </p:spPr>
        <p:txBody>
          <a:bodyPr>
            <a:normAutofit/>
          </a:bodyPr>
          <a:lstStyle/>
          <a:p>
            <a:pPr eaLnBrk="1" hangingPunct="1">
              <a:spcBef>
                <a:spcPts val="0"/>
              </a:spcBef>
            </a:pPr>
            <a:r>
              <a:rPr lang="en-US" sz="2800" dirty="0">
                <a:solidFill>
                  <a:schemeClr val="tx1">
                    <a:lumMod val="85000"/>
                    <a:lumOff val="15000"/>
                  </a:schemeClr>
                </a:solidFill>
                <a:latin typeface="Cambria" panose="02040503050406030204" pitchFamily="18" charset="0"/>
                <a:ea typeface="Cambria" panose="02040503050406030204" pitchFamily="18" charset="0"/>
              </a:rPr>
              <a:t>What do we call the price, or cost, of debt capital?</a:t>
            </a:r>
          </a:p>
          <a:p>
            <a:pPr lvl="1" eaLnBrk="1" hangingPunct="1">
              <a:spcBef>
                <a:spcPts val="0"/>
              </a:spcBef>
            </a:pPr>
            <a:r>
              <a:rPr lang="en-US" sz="2400" dirty="0">
                <a:solidFill>
                  <a:schemeClr val="tx1">
                    <a:lumMod val="85000"/>
                    <a:lumOff val="15000"/>
                  </a:schemeClr>
                </a:solidFill>
                <a:latin typeface="Cambria" panose="02040503050406030204" pitchFamily="18" charset="0"/>
                <a:ea typeface="Cambria" panose="02040503050406030204" pitchFamily="18" charset="0"/>
              </a:rPr>
              <a:t>The interest rate</a:t>
            </a:r>
          </a:p>
          <a:p>
            <a:pPr marL="457200" lvl="1" indent="0" eaLnBrk="1" hangingPunct="1">
              <a:spcBef>
                <a:spcPts val="0"/>
              </a:spcBef>
              <a:buNone/>
            </a:pPr>
            <a:endParaRPr lang="en-US" sz="2400" dirty="0">
              <a:solidFill>
                <a:schemeClr val="tx1">
                  <a:lumMod val="85000"/>
                  <a:lumOff val="15000"/>
                </a:schemeClr>
              </a:solidFill>
              <a:latin typeface="Cambria" panose="02040503050406030204" pitchFamily="18" charset="0"/>
              <a:ea typeface="Cambria" panose="02040503050406030204" pitchFamily="18" charset="0"/>
            </a:endParaRPr>
          </a:p>
          <a:p>
            <a:pPr eaLnBrk="1" hangingPunct="1">
              <a:spcBef>
                <a:spcPts val="0"/>
              </a:spcBef>
            </a:pPr>
            <a:r>
              <a:rPr lang="en-US" sz="2800" dirty="0">
                <a:solidFill>
                  <a:schemeClr val="tx1">
                    <a:lumMod val="85000"/>
                    <a:lumOff val="15000"/>
                  </a:schemeClr>
                </a:solidFill>
                <a:latin typeface="Cambria" panose="02040503050406030204" pitchFamily="18" charset="0"/>
                <a:ea typeface="Cambria" panose="02040503050406030204" pitchFamily="18" charset="0"/>
              </a:rPr>
              <a:t>What do we call the price, or cost, of equity capital?</a:t>
            </a:r>
          </a:p>
          <a:p>
            <a:pPr lvl="1" eaLnBrk="1" hangingPunct="1">
              <a:spcBef>
                <a:spcPts val="0"/>
              </a:spcBef>
            </a:pPr>
            <a:r>
              <a:rPr lang="en-US" sz="2400" dirty="0">
                <a:solidFill>
                  <a:schemeClr val="tx1">
                    <a:lumMod val="85000"/>
                    <a:lumOff val="15000"/>
                  </a:schemeClr>
                </a:solidFill>
                <a:latin typeface="Cambria" panose="02040503050406030204" pitchFamily="18" charset="0"/>
                <a:ea typeface="Cambria" panose="02040503050406030204" pitchFamily="18" charset="0"/>
              </a:rPr>
              <a:t>Cost of equity = Required return = dividend yield + capital gain</a:t>
            </a:r>
          </a:p>
          <a:p>
            <a:pPr marL="457200" lvl="1" indent="0" eaLnBrk="1" hangingPunct="1">
              <a:spcBef>
                <a:spcPts val="0"/>
              </a:spcBef>
              <a:buNone/>
            </a:pPr>
            <a:endParaRPr lang="en-US" sz="2400" dirty="0">
              <a:solidFill>
                <a:schemeClr val="tx1">
                  <a:lumMod val="85000"/>
                  <a:lumOff val="15000"/>
                </a:schemeClr>
              </a:solidFill>
              <a:latin typeface="Cambria" panose="02040503050406030204" pitchFamily="18" charset="0"/>
              <a:ea typeface="Cambria" panose="02040503050406030204" pitchFamily="18" charset="0"/>
            </a:endParaRPr>
          </a:p>
          <a:p>
            <a:pPr eaLnBrk="1" hangingPunct="1">
              <a:spcBef>
                <a:spcPts val="0"/>
              </a:spcBef>
            </a:pPr>
            <a:r>
              <a:rPr lang="en-US" sz="2800" dirty="0">
                <a:solidFill>
                  <a:schemeClr val="tx1">
                    <a:lumMod val="85000"/>
                    <a:lumOff val="15000"/>
                  </a:schemeClr>
                </a:solidFill>
                <a:latin typeface="Cambria" panose="02040503050406030204" pitchFamily="18" charset="0"/>
                <a:ea typeface="Cambria" panose="02040503050406030204" pitchFamily="18" charset="0"/>
              </a:rPr>
              <a:t>Certain fundamental economic factors, economic conditions and policies, and international factors affect the </a:t>
            </a:r>
            <a:r>
              <a:rPr lang="en-US" sz="2800" b="1" dirty="0">
                <a:solidFill>
                  <a:schemeClr val="tx1">
                    <a:lumMod val="85000"/>
                    <a:lumOff val="15000"/>
                  </a:schemeClr>
                </a:solidFill>
                <a:latin typeface="Cambria" panose="02040503050406030204" pitchFamily="18" charset="0"/>
                <a:ea typeface="Cambria" panose="02040503050406030204" pitchFamily="18" charset="0"/>
              </a:rPr>
              <a:t>demand and supply of loanable funds</a:t>
            </a:r>
            <a:r>
              <a:rPr lang="en-US" sz="2800" dirty="0">
                <a:solidFill>
                  <a:schemeClr val="tx1">
                    <a:lumMod val="85000"/>
                    <a:lumOff val="15000"/>
                  </a:schemeClr>
                </a:solidFill>
                <a:latin typeface="Cambria" panose="02040503050406030204" pitchFamily="18" charset="0"/>
                <a:ea typeface="Cambria" panose="02040503050406030204" pitchFamily="18" charset="0"/>
              </a:rPr>
              <a:t> and their cost.</a:t>
            </a:r>
          </a:p>
        </p:txBody>
      </p:sp>
      <p:sp>
        <p:nvSpPr>
          <p:cNvPr id="7"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4409B98D-F38B-4D46-B24E-EC7F35113EC4}" type="slidenum">
              <a:rPr lang="en-US"/>
              <a:pPr>
                <a:defRPr/>
              </a:pPr>
              <a:t>24</a:t>
            </a:fld>
            <a:endParaRPr lang="en-US"/>
          </a:p>
        </p:txBody>
      </p:sp>
      <p:sp>
        <p:nvSpPr>
          <p:cNvPr id="31747"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31748"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Tree>
    <p:extLst>
      <p:ext uri="{BB962C8B-B14F-4D97-AF65-F5344CB8AC3E}">
        <p14:creationId xmlns:p14="http://schemas.microsoft.com/office/powerpoint/2010/main" val="2487377346"/>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839200" cy="2367888"/>
          </a:xfrm>
        </p:spPr>
        <p:txBody>
          <a:bodyPr>
            <a:normAutofit fontScale="90000"/>
          </a:bodyPr>
          <a:lstStyle/>
          <a:p>
            <a:pPr algn="ctr"/>
            <a:r>
              <a:rPr lang="en-US" altLang="en-US" sz="3100" b="1" dirty="0">
                <a:solidFill>
                  <a:srgbClr val="0000FF"/>
                </a:solidFill>
              </a:rPr>
              <a:t>Loanable Funds </a:t>
            </a:r>
            <a:r>
              <a:rPr lang="en-US" altLang="en-US" sz="3100" b="1" dirty="0" smtClean="0">
                <a:solidFill>
                  <a:srgbClr val="0000FF"/>
                </a:solidFill>
              </a:rPr>
              <a:t>Theory of Equilibrium </a:t>
            </a:r>
            <a:r>
              <a:rPr lang="en-US" altLang="en-US" sz="3100" b="1" dirty="0">
                <a:solidFill>
                  <a:srgbClr val="0000FF"/>
                </a:solidFill>
              </a:rPr>
              <a:t>Interest </a:t>
            </a:r>
            <a:r>
              <a:rPr lang="en-US" altLang="en-US" sz="3100" b="1" dirty="0" smtClean="0">
                <a:solidFill>
                  <a:srgbClr val="0000FF"/>
                </a:solidFill>
              </a:rPr>
              <a:t>Rate</a:t>
            </a:r>
            <a:br>
              <a:rPr lang="en-US" altLang="en-US" sz="3100" b="1" dirty="0" smtClean="0">
                <a:solidFill>
                  <a:srgbClr val="0000FF"/>
                </a:solidFill>
              </a:rPr>
            </a:br>
            <a:r>
              <a:rPr lang="en-US" altLang="en-US" sz="3100" b="1" dirty="0">
                <a:solidFill>
                  <a:srgbClr val="0000FF"/>
                </a:solidFill>
              </a:rPr>
              <a:t/>
            </a:r>
            <a:br>
              <a:rPr lang="en-US" altLang="en-US" sz="3100" b="1" dirty="0">
                <a:solidFill>
                  <a:srgbClr val="0000FF"/>
                </a:solidFill>
              </a:rPr>
            </a:br>
            <a:r>
              <a:rPr lang="en-US" altLang="en-US" sz="3100" dirty="0">
                <a:solidFill>
                  <a:schemeClr val="tx1">
                    <a:lumMod val="85000"/>
                    <a:lumOff val="15000"/>
                  </a:schemeClr>
                </a:solidFill>
              </a:rPr>
              <a:t>Aggregate </a:t>
            </a:r>
            <a:r>
              <a:rPr lang="en-US" altLang="en-US" sz="3100" dirty="0" smtClean="0">
                <a:solidFill>
                  <a:schemeClr val="tx1">
                    <a:lumMod val="85000"/>
                    <a:lumOff val="15000"/>
                  </a:schemeClr>
                </a:solidFill>
              </a:rPr>
              <a:t>Demand: D</a:t>
            </a:r>
            <a:r>
              <a:rPr lang="en-US" altLang="en-US" sz="3100" baseline="-25000" dirty="0" smtClean="0">
                <a:solidFill>
                  <a:schemeClr val="tx1">
                    <a:lumMod val="85000"/>
                    <a:lumOff val="15000"/>
                  </a:schemeClr>
                </a:solidFill>
              </a:rPr>
              <a:t>A</a:t>
            </a:r>
            <a:r>
              <a:rPr lang="en-US" altLang="en-US" sz="3100" dirty="0" smtClean="0">
                <a:solidFill>
                  <a:schemeClr val="tx1">
                    <a:lumMod val="85000"/>
                    <a:lumOff val="15000"/>
                  </a:schemeClr>
                </a:solidFill>
              </a:rPr>
              <a:t> </a:t>
            </a:r>
            <a:r>
              <a:rPr lang="en-US" altLang="en-US" sz="3100" dirty="0">
                <a:solidFill>
                  <a:schemeClr val="tx1">
                    <a:lumMod val="85000"/>
                    <a:lumOff val="15000"/>
                  </a:schemeClr>
                </a:solidFill>
              </a:rPr>
              <a:t>= D</a:t>
            </a:r>
            <a:r>
              <a:rPr lang="en-US" altLang="en-US" sz="3100" baseline="-25000" dirty="0">
                <a:solidFill>
                  <a:schemeClr val="tx1">
                    <a:lumMod val="85000"/>
                    <a:lumOff val="15000"/>
                  </a:schemeClr>
                </a:solidFill>
              </a:rPr>
              <a:t>h</a:t>
            </a:r>
            <a:r>
              <a:rPr lang="en-US" altLang="en-US" sz="3100" dirty="0">
                <a:solidFill>
                  <a:schemeClr val="tx1">
                    <a:lumMod val="85000"/>
                    <a:lumOff val="15000"/>
                  </a:schemeClr>
                </a:solidFill>
              </a:rPr>
              <a:t> + D</a:t>
            </a:r>
            <a:r>
              <a:rPr lang="en-US" altLang="en-US" sz="3100" baseline="-25000" dirty="0">
                <a:solidFill>
                  <a:schemeClr val="tx1">
                    <a:lumMod val="85000"/>
                    <a:lumOff val="15000"/>
                  </a:schemeClr>
                </a:solidFill>
              </a:rPr>
              <a:t>b</a:t>
            </a:r>
            <a:r>
              <a:rPr lang="en-US" altLang="en-US" sz="3100" dirty="0">
                <a:solidFill>
                  <a:schemeClr val="tx1">
                    <a:lumMod val="85000"/>
                    <a:lumOff val="15000"/>
                  </a:schemeClr>
                </a:solidFill>
              </a:rPr>
              <a:t> + </a:t>
            </a:r>
            <a:r>
              <a:rPr lang="en-US" altLang="en-US" sz="3100" dirty="0" smtClean="0">
                <a:solidFill>
                  <a:schemeClr val="tx1">
                    <a:lumMod val="85000"/>
                    <a:lumOff val="15000"/>
                  </a:schemeClr>
                </a:solidFill>
              </a:rPr>
              <a:t>D</a:t>
            </a:r>
            <a:r>
              <a:rPr lang="en-US" altLang="en-US" sz="3100" baseline="-25000" dirty="0" smtClean="0">
                <a:solidFill>
                  <a:schemeClr val="tx1">
                    <a:lumMod val="85000"/>
                    <a:lumOff val="15000"/>
                  </a:schemeClr>
                </a:solidFill>
              </a:rPr>
              <a:t>g</a:t>
            </a:r>
            <a:r>
              <a:rPr lang="en-US" altLang="en-US" sz="3100" dirty="0" smtClean="0">
                <a:solidFill>
                  <a:schemeClr val="tx1">
                    <a:lumMod val="85000"/>
                    <a:lumOff val="15000"/>
                  </a:schemeClr>
                </a:solidFill>
              </a:rPr>
              <a:t> </a:t>
            </a:r>
            <a:r>
              <a:rPr lang="en-US" altLang="en-US" sz="3100" dirty="0">
                <a:solidFill>
                  <a:schemeClr val="tx1">
                    <a:lumMod val="85000"/>
                    <a:lumOff val="15000"/>
                  </a:schemeClr>
                </a:solidFill>
              </a:rPr>
              <a:t>+ </a:t>
            </a:r>
            <a:r>
              <a:rPr lang="en-US" altLang="en-US" sz="3100" dirty="0" err="1">
                <a:solidFill>
                  <a:schemeClr val="tx1">
                    <a:lumMod val="85000"/>
                    <a:lumOff val="15000"/>
                  </a:schemeClr>
                </a:solidFill>
              </a:rPr>
              <a:t>D</a:t>
            </a:r>
            <a:r>
              <a:rPr lang="en-US" altLang="en-US" sz="3100" baseline="-25000" dirty="0" err="1">
                <a:solidFill>
                  <a:schemeClr val="tx1">
                    <a:lumMod val="85000"/>
                    <a:lumOff val="15000"/>
                  </a:schemeClr>
                </a:solidFill>
              </a:rPr>
              <a:t>f</a:t>
            </a:r>
            <a:r>
              <a:rPr lang="en-US" altLang="en-US" sz="3100" dirty="0">
                <a:solidFill>
                  <a:schemeClr val="tx1">
                    <a:lumMod val="85000"/>
                    <a:lumOff val="15000"/>
                  </a:schemeClr>
                </a:solidFill>
              </a:rPr>
              <a:t/>
            </a:r>
            <a:br>
              <a:rPr lang="en-US" altLang="en-US" sz="3100" dirty="0">
                <a:solidFill>
                  <a:schemeClr val="tx1">
                    <a:lumMod val="85000"/>
                    <a:lumOff val="15000"/>
                  </a:schemeClr>
                </a:solidFill>
              </a:rPr>
            </a:br>
            <a:r>
              <a:rPr lang="en-US" altLang="en-US" sz="3100" dirty="0">
                <a:solidFill>
                  <a:schemeClr val="tx1">
                    <a:lumMod val="85000"/>
                    <a:lumOff val="15000"/>
                  </a:schemeClr>
                </a:solidFill>
              </a:rPr>
              <a:t>Aggregate </a:t>
            </a:r>
            <a:r>
              <a:rPr lang="en-US" altLang="en-US" sz="3100" dirty="0" smtClean="0">
                <a:solidFill>
                  <a:schemeClr val="tx1">
                    <a:lumMod val="85000"/>
                    <a:lumOff val="15000"/>
                  </a:schemeClr>
                </a:solidFill>
              </a:rPr>
              <a:t>Supply: S</a:t>
            </a:r>
            <a:r>
              <a:rPr lang="en-US" altLang="en-US" sz="3100" baseline="-25000" dirty="0" smtClean="0">
                <a:solidFill>
                  <a:schemeClr val="tx1">
                    <a:lumMod val="85000"/>
                    <a:lumOff val="15000"/>
                  </a:schemeClr>
                </a:solidFill>
              </a:rPr>
              <a:t>A</a:t>
            </a:r>
            <a:r>
              <a:rPr lang="en-US" altLang="en-US" sz="3100" dirty="0" smtClean="0">
                <a:solidFill>
                  <a:schemeClr val="tx1">
                    <a:lumMod val="85000"/>
                    <a:lumOff val="15000"/>
                  </a:schemeClr>
                </a:solidFill>
              </a:rPr>
              <a:t> </a:t>
            </a:r>
            <a:r>
              <a:rPr lang="en-US" altLang="en-US" sz="3100" dirty="0">
                <a:solidFill>
                  <a:schemeClr val="tx1">
                    <a:lumMod val="85000"/>
                    <a:lumOff val="15000"/>
                  </a:schemeClr>
                </a:solidFill>
              </a:rPr>
              <a:t>= </a:t>
            </a:r>
            <a:r>
              <a:rPr lang="en-US" altLang="en-US" sz="3100" dirty="0" err="1">
                <a:solidFill>
                  <a:schemeClr val="tx1">
                    <a:lumMod val="85000"/>
                    <a:lumOff val="15000"/>
                  </a:schemeClr>
                </a:solidFill>
              </a:rPr>
              <a:t>S</a:t>
            </a:r>
            <a:r>
              <a:rPr lang="en-US" altLang="en-US" sz="3100" baseline="-25000" dirty="0" err="1">
                <a:solidFill>
                  <a:schemeClr val="tx1">
                    <a:lumMod val="85000"/>
                    <a:lumOff val="15000"/>
                  </a:schemeClr>
                </a:solidFill>
              </a:rPr>
              <a:t>h</a:t>
            </a:r>
            <a:r>
              <a:rPr lang="en-US" altLang="en-US" sz="3100" dirty="0">
                <a:solidFill>
                  <a:schemeClr val="tx1">
                    <a:lumMod val="85000"/>
                    <a:lumOff val="15000"/>
                  </a:schemeClr>
                </a:solidFill>
              </a:rPr>
              <a:t> + S</a:t>
            </a:r>
            <a:r>
              <a:rPr lang="en-US" altLang="en-US" sz="3100" baseline="-25000" dirty="0">
                <a:solidFill>
                  <a:schemeClr val="tx1">
                    <a:lumMod val="85000"/>
                    <a:lumOff val="15000"/>
                  </a:schemeClr>
                </a:solidFill>
              </a:rPr>
              <a:t>b</a:t>
            </a:r>
            <a:r>
              <a:rPr lang="en-US" altLang="en-US" sz="3100" dirty="0">
                <a:solidFill>
                  <a:schemeClr val="tx1">
                    <a:lumMod val="85000"/>
                    <a:lumOff val="15000"/>
                  </a:schemeClr>
                </a:solidFill>
              </a:rPr>
              <a:t> + </a:t>
            </a:r>
            <a:r>
              <a:rPr lang="en-US" altLang="en-US" sz="3100" dirty="0" smtClean="0">
                <a:solidFill>
                  <a:schemeClr val="tx1">
                    <a:lumMod val="85000"/>
                    <a:lumOff val="15000"/>
                  </a:schemeClr>
                </a:solidFill>
              </a:rPr>
              <a:t>S</a:t>
            </a:r>
            <a:r>
              <a:rPr lang="en-US" altLang="en-US" sz="3100" baseline="-25000" dirty="0" smtClean="0">
                <a:solidFill>
                  <a:schemeClr val="tx1">
                    <a:lumMod val="85000"/>
                    <a:lumOff val="15000"/>
                  </a:schemeClr>
                </a:solidFill>
              </a:rPr>
              <a:t>g </a:t>
            </a:r>
            <a:r>
              <a:rPr lang="en-US" altLang="en-US" sz="3100" dirty="0" smtClean="0">
                <a:solidFill>
                  <a:schemeClr val="tx1">
                    <a:lumMod val="85000"/>
                    <a:lumOff val="15000"/>
                  </a:schemeClr>
                </a:solidFill>
              </a:rPr>
              <a:t>+ </a:t>
            </a:r>
            <a:r>
              <a:rPr lang="en-US" altLang="en-US" sz="3100" dirty="0">
                <a:solidFill>
                  <a:schemeClr val="tx1">
                    <a:lumMod val="85000"/>
                    <a:lumOff val="15000"/>
                  </a:schemeClr>
                </a:solidFill>
              </a:rPr>
              <a:t>S</a:t>
            </a:r>
            <a:r>
              <a:rPr lang="en-US" altLang="en-US" sz="3100" baseline="-25000" dirty="0">
                <a:solidFill>
                  <a:schemeClr val="tx1">
                    <a:lumMod val="85000"/>
                    <a:lumOff val="15000"/>
                  </a:schemeClr>
                </a:solidFill>
              </a:rPr>
              <a:t>f</a:t>
            </a:r>
            <a:br>
              <a:rPr lang="en-US" altLang="en-US" sz="3100" baseline="-25000" dirty="0">
                <a:solidFill>
                  <a:schemeClr val="tx1">
                    <a:lumMod val="85000"/>
                    <a:lumOff val="15000"/>
                  </a:schemeClr>
                </a:solidFill>
              </a:rPr>
            </a:br>
            <a:r>
              <a:rPr lang="en-US" altLang="en-US" sz="3100" i="1" dirty="0" smtClean="0">
                <a:solidFill>
                  <a:schemeClr val="tx1">
                    <a:lumMod val="85000"/>
                    <a:lumOff val="15000"/>
                  </a:schemeClr>
                </a:solidFill>
              </a:rPr>
              <a:t>In </a:t>
            </a:r>
            <a:r>
              <a:rPr lang="en-US" altLang="en-US" sz="3100" i="1" dirty="0">
                <a:solidFill>
                  <a:schemeClr val="tx1">
                    <a:lumMod val="85000"/>
                    <a:lumOff val="15000"/>
                  </a:schemeClr>
                </a:solidFill>
              </a:rPr>
              <a:t>equilibrium, D</a:t>
            </a:r>
            <a:r>
              <a:rPr lang="en-US" altLang="en-US" sz="3100" i="1" baseline="-25000" dirty="0">
                <a:solidFill>
                  <a:schemeClr val="tx1">
                    <a:lumMod val="85000"/>
                    <a:lumOff val="15000"/>
                  </a:schemeClr>
                </a:solidFill>
              </a:rPr>
              <a:t>A</a:t>
            </a:r>
            <a:r>
              <a:rPr lang="en-US" altLang="en-US" sz="3100" i="1" dirty="0">
                <a:solidFill>
                  <a:schemeClr val="tx1">
                    <a:lumMod val="85000"/>
                    <a:lumOff val="15000"/>
                  </a:schemeClr>
                </a:solidFill>
              </a:rPr>
              <a:t> = S</a:t>
            </a:r>
            <a:r>
              <a:rPr lang="en-US" altLang="en-US" sz="3100" i="1" baseline="-25000" dirty="0">
                <a:solidFill>
                  <a:schemeClr val="tx1">
                    <a:lumMod val="85000"/>
                    <a:lumOff val="15000"/>
                  </a:schemeClr>
                </a:solidFill>
              </a:rPr>
              <a:t>A</a:t>
            </a:r>
            <a:br>
              <a:rPr lang="en-US" altLang="en-US" sz="3100" i="1" baseline="-25000" dirty="0">
                <a:solidFill>
                  <a:schemeClr val="tx1">
                    <a:lumMod val="85000"/>
                    <a:lumOff val="15000"/>
                  </a:schemeClr>
                </a:solidFill>
              </a:rPr>
            </a:br>
            <a:r>
              <a:rPr lang="en-US" altLang="en-US" b="1" dirty="0" smtClean="0">
                <a:solidFill>
                  <a:srgbClr val="0000FF"/>
                </a:solidFill>
              </a:rPr>
              <a:t/>
            </a:r>
            <a:br>
              <a:rPr lang="en-US" altLang="en-US" b="1" dirty="0" smtClean="0">
                <a:solidFill>
                  <a:srgbClr val="0000FF"/>
                </a:solidFill>
              </a:rPr>
            </a:br>
            <a:endParaRPr lang="en-US" b="1" dirty="0">
              <a:solidFill>
                <a:srgbClr val="0000FF"/>
              </a:solidFill>
            </a:endParaRPr>
          </a:p>
        </p:txBody>
      </p:sp>
      <p:sp>
        <p:nvSpPr>
          <p:cNvPr id="4" name="Slide Number Placeholder 3"/>
          <p:cNvSpPr>
            <a:spLocks noGrp="1"/>
          </p:cNvSpPr>
          <p:nvPr>
            <p:ph type="sldNum" sz="quarter" idx="12"/>
          </p:nvPr>
        </p:nvSpPr>
        <p:spPr/>
        <p:txBody>
          <a:bodyPr/>
          <a:lstStyle/>
          <a:p>
            <a:pPr>
              <a:defRPr/>
            </a:pPr>
            <a:fld id="{7CD637C6-3A19-4914-A616-01A59BB83BF2}" type="slidenum">
              <a:rPr lang="en-US" smtClean="0"/>
              <a:pPr>
                <a:defRPr/>
              </a:pPr>
              <a:t>25</a:t>
            </a:fld>
            <a:endParaRPr lang="en-US"/>
          </a:p>
        </p:txBody>
      </p:sp>
      <p:pic>
        <p:nvPicPr>
          <p:cNvPr id="5"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2895600"/>
            <a:ext cx="6123432"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764229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4"/>
          <p:cNvSpPr>
            <a:spLocks noGrp="1" noChangeArrowheads="1"/>
          </p:cNvSpPr>
          <p:nvPr>
            <p:ph type="title"/>
          </p:nvPr>
        </p:nvSpPr>
        <p:spPr>
          <a:xfrm>
            <a:off x="457200" y="451512"/>
            <a:ext cx="8229600" cy="1301088"/>
          </a:xfrm>
        </p:spPr>
        <p:txBody>
          <a:bodyPr>
            <a:noAutofit/>
          </a:bodyPr>
          <a:lstStyle/>
          <a:p>
            <a:pPr algn="ctr" eaLnBrk="1" hangingPunct="1"/>
            <a:r>
              <a:rPr lang="en-US" sz="4000" b="1" dirty="0">
                <a:solidFill>
                  <a:srgbClr val="0000FF"/>
                </a:solidFill>
              </a:rPr>
              <a:t>Fundamental Factors Affecting the Cost of Money</a:t>
            </a:r>
          </a:p>
        </p:txBody>
      </p:sp>
      <p:sp>
        <p:nvSpPr>
          <p:cNvPr id="32774" name="Rectangle 5"/>
          <p:cNvSpPr>
            <a:spLocks noGrp="1" noChangeArrowheads="1"/>
          </p:cNvSpPr>
          <p:nvPr>
            <p:ph idx="1"/>
          </p:nvPr>
        </p:nvSpPr>
        <p:spPr>
          <a:xfrm>
            <a:off x="457200" y="1981200"/>
            <a:ext cx="8229600" cy="4572000"/>
          </a:xfrm>
        </p:spPr>
        <p:txBody>
          <a:bodyPr/>
          <a:lstStyle/>
          <a:p>
            <a:pPr eaLnBrk="1" hangingPunct="1">
              <a:spcBef>
                <a:spcPts val="0"/>
              </a:spcBef>
            </a:pPr>
            <a:r>
              <a:rPr lang="en-US" sz="2800" dirty="0">
                <a:latin typeface="Cambria" panose="02040503050406030204" pitchFamily="18" charset="0"/>
                <a:ea typeface="Cambria" panose="02040503050406030204" pitchFamily="18" charset="0"/>
              </a:rPr>
              <a:t>Production opportunities – ability to turn capital into benefits. The benefits are determined by the </a:t>
            </a:r>
            <a:r>
              <a:rPr lang="en-US" sz="2800" b="1" i="1" dirty="0">
                <a:latin typeface="Cambria" panose="02040503050406030204" pitchFamily="18" charset="0"/>
                <a:ea typeface="Cambria" panose="02040503050406030204" pitchFamily="18" charset="0"/>
              </a:rPr>
              <a:t>expected rates of return</a:t>
            </a:r>
            <a:r>
              <a:rPr lang="en-US" sz="2800" dirty="0">
                <a:latin typeface="Cambria" panose="02040503050406030204" pitchFamily="18" charset="0"/>
                <a:ea typeface="Cambria" panose="02040503050406030204" pitchFamily="18" charset="0"/>
              </a:rPr>
              <a:t> on its production opportunities.</a:t>
            </a:r>
          </a:p>
          <a:p>
            <a:pPr marL="0" indent="0" eaLnBrk="1" hangingPunct="1">
              <a:spcBef>
                <a:spcPts val="0"/>
              </a:spcBef>
              <a:buNone/>
            </a:pPr>
            <a:endParaRPr lang="en-US" sz="1000" dirty="0">
              <a:latin typeface="Cambria" panose="02040503050406030204" pitchFamily="18" charset="0"/>
              <a:ea typeface="Cambria" panose="02040503050406030204" pitchFamily="18" charset="0"/>
            </a:endParaRPr>
          </a:p>
          <a:p>
            <a:pPr eaLnBrk="1" hangingPunct="1">
              <a:spcBef>
                <a:spcPts val="0"/>
              </a:spcBef>
            </a:pPr>
            <a:r>
              <a:rPr lang="en-US" sz="2800" dirty="0">
                <a:latin typeface="Cambria" panose="02040503050406030204" pitchFamily="18" charset="0"/>
                <a:ea typeface="Cambria" panose="02040503050406030204" pitchFamily="18" charset="0"/>
              </a:rPr>
              <a:t>Time preferences for </a:t>
            </a:r>
            <a:r>
              <a:rPr lang="en-US" sz="2800" dirty="0" smtClean="0">
                <a:latin typeface="Cambria" panose="02040503050406030204" pitchFamily="18" charset="0"/>
                <a:ea typeface="Cambria" panose="02040503050406030204" pitchFamily="18" charset="0"/>
              </a:rPr>
              <a:t>consumption</a:t>
            </a:r>
            <a:endParaRPr lang="en-US" sz="2800" dirty="0">
              <a:latin typeface="Cambria" panose="02040503050406030204" pitchFamily="18" charset="0"/>
              <a:ea typeface="Cambria" panose="02040503050406030204" pitchFamily="18" charset="0"/>
            </a:endParaRPr>
          </a:p>
          <a:p>
            <a:pPr marL="0" indent="0" eaLnBrk="1" hangingPunct="1">
              <a:spcBef>
                <a:spcPts val="0"/>
              </a:spcBef>
              <a:buNone/>
            </a:pPr>
            <a:endParaRPr lang="en-US" sz="1000" dirty="0">
              <a:latin typeface="Cambria" panose="02040503050406030204" pitchFamily="18" charset="0"/>
              <a:ea typeface="Cambria" panose="02040503050406030204" pitchFamily="18" charset="0"/>
            </a:endParaRPr>
          </a:p>
          <a:p>
            <a:pPr eaLnBrk="1" hangingPunct="1">
              <a:spcBef>
                <a:spcPts val="0"/>
              </a:spcBef>
            </a:pPr>
            <a:r>
              <a:rPr lang="en-US" sz="2800" dirty="0">
                <a:latin typeface="Cambria" panose="02040503050406030204" pitchFamily="18" charset="0"/>
                <a:ea typeface="Cambria" panose="02040503050406030204" pitchFamily="18" charset="0"/>
              </a:rPr>
              <a:t>Risk (of return on investment / </a:t>
            </a:r>
            <a:r>
              <a:rPr lang="en-US" sz="2800" dirty="0" smtClean="0">
                <a:latin typeface="Cambria" panose="02040503050406030204" pitchFamily="18" charset="0"/>
                <a:ea typeface="Cambria" panose="02040503050406030204" pitchFamily="18" charset="0"/>
              </a:rPr>
              <a:t>cash </a:t>
            </a:r>
            <a:r>
              <a:rPr lang="en-US" sz="2800" dirty="0">
                <a:latin typeface="Cambria" panose="02040503050406030204" pitchFamily="18" charset="0"/>
                <a:ea typeface="Cambria" panose="02040503050406030204" pitchFamily="18" charset="0"/>
              </a:rPr>
              <a:t>flows)</a:t>
            </a:r>
          </a:p>
          <a:p>
            <a:pPr marL="0" indent="0" eaLnBrk="1" hangingPunct="1">
              <a:spcBef>
                <a:spcPts val="0"/>
              </a:spcBef>
              <a:buNone/>
            </a:pPr>
            <a:endParaRPr lang="en-US" sz="1000" dirty="0">
              <a:latin typeface="Cambria" panose="02040503050406030204" pitchFamily="18" charset="0"/>
              <a:ea typeface="Cambria" panose="02040503050406030204" pitchFamily="18" charset="0"/>
            </a:endParaRPr>
          </a:p>
          <a:p>
            <a:pPr eaLnBrk="1" hangingPunct="1">
              <a:spcBef>
                <a:spcPts val="0"/>
              </a:spcBef>
            </a:pPr>
            <a:r>
              <a:rPr lang="en-US" sz="2800" dirty="0">
                <a:latin typeface="Cambria" panose="02040503050406030204" pitchFamily="18" charset="0"/>
                <a:ea typeface="Cambria" panose="02040503050406030204" pitchFamily="18" charset="0"/>
              </a:rPr>
              <a:t>Expected inflation</a:t>
            </a:r>
          </a:p>
        </p:txBody>
      </p:sp>
      <p:sp>
        <p:nvSpPr>
          <p:cNvPr id="7"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7AEF970C-7C36-4122-B892-A4C125B25A04}" type="slidenum">
              <a:rPr lang="en-US"/>
              <a:pPr>
                <a:defRPr/>
              </a:pPr>
              <a:t>26</a:t>
            </a:fld>
            <a:endParaRPr lang="en-US"/>
          </a:p>
        </p:txBody>
      </p:sp>
      <p:sp>
        <p:nvSpPr>
          <p:cNvPr id="32771"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32772"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Tree>
    <p:extLst>
      <p:ext uri="{BB962C8B-B14F-4D97-AF65-F5344CB8AC3E}">
        <p14:creationId xmlns:p14="http://schemas.microsoft.com/office/powerpoint/2010/main" val="1784663840"/>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4"/>
          <p:cNvSpPr>
            <a:spLocks noGrp="1" noChangeArrowheads="1"/>
          </p:cNvSpPr>
          <p:nvPr>
            <p:ph type="title"/>
          </p:nvPr>
        </p:nvSpPr>
        <p:spPr>
          <a:xfrm>
            <a:off x="609599" y="451512"/>
            <a:ext cx="8153401" cy="1320800"/>
          </a:xfrm>
        </p:spPr>
        <p:txBody>
          <a:bodyPr>
            <a:normAutofit/>
          </a:bodyPr>
          <a:lstStyle/>
          <a:p>
            <a:pPr algn="ctr" eaLnBrk="1" hangingPunct="1"/>
            <a:r>
              <a:rPr lang="en-US" sz="4000" b="1" dirty="0">
                <a:solidFill>
                  <a:srgbClr val="0000FF"/>
                </a:solidFill>
              </a:rPr>
              <a:t>Economic Conditions and Policies Affecting the Cost of Money</a:t>
            </a:r>
            <a:endParaRPr lang="en-US" sz="3600" b="1" dirty="0">
              <a:solidFill>
                <a:srgbClr val="0000FF"/>
              </a:solidFill>
            </a:endParaRPr>
          </a:p>
        </p:txBody>
      </p:sp>
      <p:sp>
        <p:nvSpPr>
          <p:cNvPr id="33798" name="Rectangle 5"/>
          <p:cNvSpPr>
            <a:spLocks noGrp="1" noChangeArrowheads="1"/>
          </p:cNvSpPr>
          <p:nvPr>
            <p:ph idx="1"/>
          </p:nvPr>
        </p:nvSpPr>
        <p:spPr>
          <a:xfrm>
            <a:off x="381000" y="2286000"/>
            <a:ext cx="8610600" cy="4800600"/>
          </a:xfrm>
        </p:spPr>
        <p:txBody>
          <a:bodyPr>
            <a:normAutofit/>
          </a:bodyPr>
          <a:lstStyle/>
          <a:p>
            <a:pPr marL="403225" indent="-403225">
              <a:spcBef>
                <a:spcPts val="0"/>
              </a:spcBef>
            </a:pPr>
            <a:r>
              <a:rPr lang="en-US" sz="2800" dirty="0">
                <a:latin typeface="Cambria" panose="02040503050406030204" pitchFamily="18" charset="0"/>
                <a:ea typeface="Cambria" panose="02040503050406030204" pitchFamily="18" charset="0"/>
              </a:rPr>
              <a:t>Level of </a:t>
            </a:r>
            <a:r>
              <a:rPr lang="en-US" sz="2800" dirty="0" smtClean="0">
                <a:latin typeface="Cambria" panose="02040503050406030204" pitchFamily="18" charset="0"/>
                <a:ea typeface="Cambria" panose="02040503050406030204" pitchFamily="18" charset="0"/>
              </a:rPr>
              <a:t>individual income and expenditures</a:t>
            </a:r>
          </a:p>
          <a:p>
            <a:pPr marL="403225" indent="-403225">
              <a:spcBef>
                <a:spcPts val="0"/>
              </a:spcBef>
            </a:pPr>
            <a:r>
              <a:rPr lang="en-US" sz="2800" dirty="0" smtClean="0">
                <a:latin typeface="Cambria" panose="02040503050406030204" pitchFamily="18" charset="0"/>
                <a:ea typeface="Cambria" panose="02040503050406030204" pitchFamily="18" charset="0"/>
              </a:rPr>
              <a:t>Level of business activities </a:t>
            </a:r>
            <a:r>
              <a:rPr lang="en-US" sz="2800" dirty="0">
                <a:latin typeface="Cambria" panose="02040503050406030204" pitchFamily="18" charset="0"/>
                <a:ea typeface="Cambria" panose="02040503050406030204" pitchFamily="18" charset="0"/>
              </a:rPr>
              <a:t>(recession or boom</a:t>
            </a:r>
            <a:r>
              <a:rPr lang="en-US" sz="2800" dirty="0" smtClean="0">
                <a:latin typeface="Cambria" panose="02040503050406030204" pitchFamily="18" charset="0"/>
                <a:ea typeface="Cambria" panose="02040503050406030204" pitchFamily="18" charset="0"/>
              </a:rPr>
              <a:t>)</a:t>
            </a:r>
          </a:p>
          <a:p>
            <a:pPr marL="403225" indent="-403225">
              <a:spcBef>
                <a:spcPts val="0"/>
              </a:spcBef>
            </a:pPr>
            <a:r>
              <a:rPr lang="en-US" sz="2800" dirty="0" smtClean="0">
                <a:latin typeface="Cambria" panose="02040503050406030204" pitchFamily="18" charset="0"/>
                <a:ea typeface="Cambria" panose="02040503050406030204" pitchFamily="18" charset="0"/>
              </a:rPr>
              <a:t>Central </a:t>
            </a:r>
            <a:r>
              <a:rPr lang="en-US" sz="2800" dirty="0">
                <a:latin typeface="Cambria" panose="02040503050406030204" pitchFamily="18" charset="0"/>
                <a:ea typeface="Cambria" panose="02040503050406030204" pitchFamily="18" charset="0"/>
              </a:rPr>
              <a:t>Bank (</a:t>
            </a:r>
            <a:r>
              <a:rPr lang="en-US" sz="2800" dirty="0" smtClean="0">
                <a:latin typeface="Cambria" panose="02040503050406030204" pitchFamily="18" charset="0"/>
                <a:ea typeface="Cambria" panose="02040503050406030204" pitchFamily="18" charset="0"/>
              </a:rPr>
              <a:t>Federal Reserve/Bangladesh Bank) Policies:</a:t>
            </a:r>
            <a:endParaRPr lang="en-US" sz="2800" dirty="0">
              <a:latin typeface="Cambria" panose="02040503050406030204" pitchFamily="18" charset="0"/>
              <a:ea typeface="Cambria" panose="02040503050406030204" pitchFamily="18" charset="0"/>
            </a:endParaRPr>
          </a:p>
          <a:p>
            <a:pPr marL="803275" lvl="1" indent="-403225">
              <a:spcBef>
                <a:spcPts val="0"/>
              </a:spcBef>
            </a:pPr>
            <a:r>
              <a:rPr lang="en-US" sz="2400" dirty="0">
                <a:latin typeface="Cambria" panose="02040503050406030204" pitchFamily="18" charset="0"/>
                <a:ea typeface="Cambria" panose="02040503050406030204" pitchFamily="18" charset="0"/>
              </a:rPr>
              <a:t>Open market operation</a:t>
            </a:r>
          </a:p>
          <a:p>
            <a:pPr marL="803275" lvl="1" indent="-403225">
              <a:spcBef>
                <a:spcPts val="0"/>
              </a:spcBef>
            </a:pPr>
            <a:r>
              <a:rPr lang="en-US" sz="2400" dirty="0">
                <a:latin typeface="Cambria" panose="02040503050406030204" pitchFamily="18" charset="0"/>
                <a:ea typeface="Cambria" panose="02040503050406030204" pitchFamily="18" charset="0"/>
              </a:rPr>
              <a:t>Discount lending</a:t>
            </a:r>
          </a:p>
          <a:p>
            <a:pPr marL="803275" lvl="1" indent="-403225">
              <a:spcBef>
                <a:spcPts val="0"/>
              </a:spcBef>
            </a:pPr>
            <a:r>
              <a:rPr lang="en-US" sz="2400" dirty="0">
                <a:latin typeface="Cambria" panose="02040503050406030204" pitchFamily="18" charset="0"/>
                <a:ea typeface="Cambria" panose="02040503050406030204" pitchFamily="18" charset="0"/>
              </a:rPr>
              <a:t>Reserve requirement</a:t>
            </a:r>
          </a:p>
          <a:p>
            <a:pPr marL="403225" indent="-403225" eaLnBrk="1" hangingPunct="1">
              <a:spcBef>
                <a:spcPts val="0"/>
              </a:spcBef>
            </a:pPr>
            <a:endParaRPr lang="en-US" sz="1000" dirty="0">
              <a:latin typeface="Cambria" panose="02040503050406030204" pitchFamily="18" charset="0"/>
              <a:ea typeface="Cambria" panose="02040503050406030204" pitchFamily="18" charset="0"/>
            </a:endParaRPr>
          </a:p>
          <a:p>
            <a:pPr marL="403225" indent="-403225" eaLnBrk="1" hangingPunct="1">
              <a:spcBef>
                <a:spcPts val="0"/>
              </a:spcBef>
            </a:pPr>
            <a:r>
              <a:rPr lang="en-US" sz="2800" dirty="0">
                <a:latin typeface="Cambria" panose="02040503050406030204" pitchFamily="18" charset="0"/>
                <a:ea typeface="Cambria" panose="02040503050406030204" pitchFamily="18" charset="0"/>
              </a:rPr>
              <a:t>Budget deficits/surpluses</a:t>
            </a:r>
          </a:p>
          <a:p>
            <a:pPr marL="403225" indent="-403225" eaLnBrk="1" hangingPunct="1">
              <a:spcBef>
                <a:spcPts val="0"/>
              </a:spcBef>
              <a:buNone/>
            </a:pPr>
            <a:endParaRPr lang="en-US" sz="1000" dirty="0">
              <a:latin typeface="Cambria" panose="02040503050406030204" pitchFamily="18" charset="0"/>
              <a:ea typeface="Cambria" panose="02040503050406030204" pitchFamily="18" charset="0"/>
            </a:endParaRPr>
          </a:p>
          <a:p>
            <a:pPr marL="403225" indent="-403225" eaLnBrk="1" hangingPunct="1">
              <a:spcBef>
                <a:spcPts val="0"/>
              </a:spcBef>
            </a:pPr>
            <a:r>
              <a:rPr lang="en-US" sz="2800" dirty="0">
                <a:latin typeface="Cambria" panose="02040503050406030204" pitchFamily="18" charset="0"/>
                <a:ea typeface="Cambria" panose="02040503050406030204" pitchFamily="18" charset="0"/>
              </a:rPr>
              <a:t>International trade deficits/surpluses</a:t>
            </a:r>
            <a:endParaRPr lang="en-US" sz="2000" dirty="0">
              <a:latin typeface="Cambria" panose="02040503050406030204" pitchFamily="18" charset="0"/>
              <a:ea typeface="Cambria" panose="02040503050406030204" pitchFamily="18" charset="0"/>
            </a:endParaRPr>
          </a:p>
        </p:txBody>
      </p:sp>
      <p:sp>
        <p:nvSpPr>
          <p:cNvPr id="7"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25746D68-6552-4974-9B46-78356C703EDF}" type="slidenum">
              <a:rPr lang="en-US"/>
              <a:pPr>
                <a:defRPr/>
              </a:pPr>
              <a:t>27</a:t>
            </a:fld>
            <a:endParaRPr lang="en-US"/>
          </a:p>
        </p:txBody>
      </p:sp>
      <p:sp>
        <p:nvSpPr>
          <p:cNvPr id="33795"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33796"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Tree>
    <p:extLst>
      <p:ext uri="{BB962C8B-B14F-4D97-AF65-F5344CB8AC3E}">
        <p14:creationId xmlns:p14="http://schemas.microsoft.com/office/powerpoint/2010/main" val="3037025339"/>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4"/>
          <p:cNvSpPr>
            <a:spLocks noGrp="1" noChangeArrowheads="1"/>
          </p:cNvSpPr>
          <p:nvPr>
            <p:ph type="title"/>
          </p:nvPr>
        </p:nvSpPr>
        <p:spPr>
          <a:xfrm>
            <a:off x="449451" y="539088"/>
            <a:ext cx="8229600" cy="1219200"/>
          </a:xfrm>
        </p:spPr>
        <p:txBody>
          <a:bodyPr>
            <a:normAutofit fontScale="90000"/>
          </a:bodyPr>
          <a:lstStyle/>
          <a:p>
            <a:pPr algn="ctr" eaLnBrk="1" hangingPunct="1"/>
            <a:r>
              <a:rPr lang="en-US" sz="4400" b="1" dirty="0">
                <a:solidFill>
                  <a:srgbClr val="0000FF"/>
                </a:solidFill>
              </a:rPr>
              <a:t>International Conditions Affecting the Cost of Money</a:t>
            </a:r>
          </a:p>
        </p:txBody>
      </p:sp>
      <p:sp>
        <p:nvSpPr>
          <p:cNvPr id="34822" name="Rectangle 5"/>
          <p:cNvSpPr>
            <a:spLocks noGrp="1" noChangeArrowheads="1"/>
          </p:cNvSpPr>
          <p:nvPr>
            <p:ph idx="1"/>
          </p:nvPr>
        </p:nvSpPr>
        <p:spPr>
          <a:xfrm>
            <a:off x="442077" y="2438400"/>
            <a:ext cx="7939923" cy="4724400"/>
          </a:xfrm>
        </p:spPr>
        <p:txBody>
          <a:bodyPr/>
          <a:lstStyle/>
          <a:p>
            <a:pPr eaLnBrk="1" hangingPunct="1">
              <a:spcBef>
                <a:spcPts val="0"/>
              </a:spcBef>
            </a:pPr>
            <a:r>
              <a:rPr lang="en-US" sz="2800" b="1" dirty="0">
                <a:latin typeface="Cambria" panose="02040503050406030204" pitchFamily="18" charset="0"/>
                <a:ea typeface="Cambria" panose="02040503050406030204" pitchFamily="18" charset="0"/>
              </a:rPr>
              <a:t>Country risk: </a:t>
            </a:r>
            <a:r>
              <a:rPr lang="en-US" sz="2400" dirty="0">
                <a:latin typeface="Cambria" panose="02040503050406030204" pitchFamily="18" charset="0"/>
                <a:ea typeface="Cambria" panose="02040503050406030204" pitchFamily="18" charset="0"/>
              </a:rPr>
              <a:t>Risk that arises from investing or doing business in a particular country, and it depends on the country’s economic, political, and social environment.</a:t>
            </a:r>
          </a:p>
          <a:p>
            <a:pPr marL="0" indent="0" eaLnBrk="1" hangingPunct="1">
              <a:spcBef>
                <a:spcPts val="0"/>
              </a:spcBef>
              <a:buNone/>
            </a:pPr>
            <a:endParaRPr lang="en-US" sz="2000" dirty="0">
              <a:latin typeface="Cambria" panose="02040503050406030204" pitchFamily="18" charset="0"/>
              <a:ea typeface="Cambria" panose="02040503050406030204" pitchFamily="18" charset="0"/>
            </a:endParaRPr>
          </a:p>
          <a:p>
            <a:pPr eaLnBrk="1" hangingPunct="1">
              <a:spcBef>
                <a:spcPts val="0"/>
              </a:spcBef>
            </a:pPr>
            <a:r>
              <a:rPr lang="en-US" sz="2800" b="1" dirty="0">
                <a:latin typeface="Cambria" panose="02040503050406030204" pitchFamily="18" charset="0"/>
                <a:ea typeface="Cambria" panose="02040503050406030204" pitchFamily="18" charset="0"/>
              </a:rPr>
              <a:t>Exchange rate risk:  </a:t>
            </a:r>
            <a:r>
              <a:rPr lang="en-US" sz="2400" dirty="0">
                <a:latin typeface="Cambria" panose="02040503050406030204" pitchFamily="18" charset="0"/>
                <a:ea typeface="Cambria" panose="02040503050406030204" pitchFamily="18" charset="0"/>
              </a:rPr>
              <a:t>Non-native currency denominated investment’s value depends on what happens to exchange rate.  Exchange rates affected by:</a:t>
            </a:r>
          </a:p>
          <a:p>
            <a:pPr lvl="1" eaLnBrk="1" hangingPunct="1">
              <a:spcBef>
                <a:spcPts val="0"/>
              </a:spcBef>
            </a:pPr>
            <a:r>
              <a:rPr lang="en-US" sz="2400" dirty="0">
                <a:latin typeface="Cambria" panose="02040503050406030204" pitchFamily="18" charset="0"/>
                <a:ea typeface="Cambria" panose="02040503050406030204" pitchFamily="18" charset="0"/>
              </a:rPr>
              <a:t>International trade deficits/surpluses</a:t>
            </a:r>
          </a:p>
          <a:p>
            <a:pPr lvl="1" eaLnBrk="1" hangingPunct="1">
              <a:spcBef>
                <a:spcPts val="0"/>
              </a:spcBef>
            </a:pPr>
            <a:r>
              <a:rPr lang="en-US" sz="2400" dirty="0">
                <a:latin typeface="Cambria" panose="02040503050406030204" pitchFamily="18" charset="0"/>
                <a:ea typeface="Cambria" panose="02040503050406030204" pitchFamily="18" charset="0"/>
              </a:rPr>
              <a:t>Relative inflation and interest rates</a:t>
            </a:r>
          </a:p>
          <a:p>
            <a:pPr lvl="1" eaLnBrk="1" hangingPunct="1">
              <a:spcBef>
                <a:spcPts val="0"/>
              </a:spcBef>
            </a:pPr>
            <a:r>
              <a:rPr lang="en-US" sz="2400" dirty="0">
                <a:latin typeface="Cambria" panose="02040503050406030204" pitchFamily="18" charset="0"/>
                <a:ea typeface="Cambria" panose="02040503050406030204" pitchFamily="18" charset="0"/>
              </a:rPr>
              <a:t>Relative growth rates</a:t>
            </a:r>
          </a:p>
          <a:p>
            <a:pPr lvl="1" eaLnBrk="1" hangingPunct="1"/>
            <a:endParaRPr lang="en-US" sz="2400" dirty="0"/>
          </a:p>
        </p:txBody>
      </p:sp>
      <p:sp>
        <p:nvSpPr>
          <p:cNvPr id="7"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2EE58597-3843-486D-84BB-39A3127D0BE2}" type="slidenum">
              <a:rPr lang="en-US"/>
              <a:pPr>
                <a:defRPr/>
              </a:pPr>
              <a:t>28</a:t>
            </a:fld>
            <a:endParaRPr lang="en-US"/>
          </a:p>
        </p:txBody>
      </p:sp>
      <p:sp>
        <p:nvSpPr>
          <p:cNvPr id="34819"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34820"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Tree>
    <p:extLst>
      <p:ext uri="{BB962C8B-B14F-4D97-AF65-F5344CB8AC3E}">
        <p14:creationId xmlns:p14="http://schemas.microsoft.com/office/powerpoint/2010/main" val="197091961"/>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9"/>
          <p:cNvSpPr>
            <a:spLocks noGrp="1" noChangeArrowheads="1"/>
          </p:cNvSpPr>
          <p:nvPr>
            <p:ph type="title"/>
          </p:nvPr>
        </p:nvSpPr>
        <p:spPr>
          <a:xfrm>
            <a:off x="494432" y="228600"/>
            <a:ext cx="8229600" cy="762000"/>
          </a:xfrm>
        </p:spPr>
        <p:txBody>
          <a:bodyPr>
            <a:noAutofit/>
          </a:bodyPr>
          <a:lstStyle/>
          <a:p>
            <a:pPr algn="ctr" eaLnBrk="1" hangingPunct="1"/>
            <a:r>
              <a:rPr lang="en-US" sz="4000" b="1" dirty="0">
                <a:solidFill>
                  <a:srgbClr val="0000FF"/>
                </a:solidFill>
                <a:effectLst/>
                <a:ea typeface="Times New Roman" panose="02020603050405020304" pitchFamily="18" charset="0"/>
                <a:cs typeface="Times New Roman" panose="02020603050405020304" pitchFamily="18" charset="0"/>
              </a:rPr>
              <a:t>Financial Management</a:t>
            </a:r>
            <a:endParaRPr lang="en-US" sz="4000" b="1" dirty="0">
              <a:solidFill>
                <a:srgbClr val="0000FF"/>
              </a:solidFill>
            </a:endParaRPr>
          </a:p>
        </p:txBody>
      </p:sp>
      <p:sp>
        <p:nvSpPr>
          <p:cNvPr id="14342" name="Rectangle 10"/>
          <p:cNvSpPr>
            <a:spLocks noGrp="1" noChangeArrowheads="1"/>
          </p:cNvSpPr>
          <p:nvPr>
            <p:ph idx="1"/>
          </p:nvPr>
        </p:nvSpPr>
        <p:spPr>
          <a:xfrm>
            <a:off x="493295" y="1143000"/>
            <a:ext cx="7964905" cy="5562600"/>
          </a:xfrm>
        </p:spPr>
        <p:txBody>
          <a:bodyPr>
            <a:normAutofit lnSpcReduction="10000"/>
          </a:bodyPr>
          <a:lstStyle/>
          <a:p>
            <a:r>
              <a:rPr lang="en-US" sz="2400" dirty="0"/>
              <a:t>Part of finance that deals with decisions as to how to raise and use money to maximize value. In a corporate business setting,  Financial Management is often termed as Corporate Finance.</a:t>
            </a:r>
          </a:p>
          <a:p>
            <a:pPr marL="0" indent="0">
              <a:buNone/>
            </a:pPr>
            <a:endParaRPr lang="en-US" sz="1000" dirty="0"/>
          </a:p>
          <a:p>
            <a:r>
              <a:rPr lang="en-US" sz="2400" dirty="0"/>
              <a:t>A business that practices sound financial management can provide better products to its customers at lower prices, pay higher salaries to its employees, and still provide greater returns to investors who put up the funds needed to form and operate the business. </a:t>
            </a:r>
          </a:p>
          <a:p>
            <a:pPr marL="0" indent="0">
              <a:buNone/>
            </a:pPr>
            <a:endParaRPr lang="en-US" sz="1000" dirty="0"/>
          </a:p>
          <a:p>
            <a:r>
              <a:rPr lang="en-US" sz="2400" dirty="0"/>
              <a:t>Because the economy — both national and worldwide — consists of customers, employees, and investors, sound financial management contributes to the well-being of both individuals and the general population.</a:t>
            </a:r>
          </a:p>
          <a:p>
            <a:pPr eaLnBrk="1" hangingPunct="1"/>
            <a:endParaRPr lang="en-US" sz="2400" dirty="0"/>
          </a:p>
        </p:txBody>
      </p:sp>
      <p:sp>
        <p:nvSpPr>
          <p:cNvPr id="7"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7A14E903-C983-4BCF-9DDA-F4CB9E3B85FB}" type="slidenum">
              <a:rPr lang="en-US"/>
              <a:pPr>
                <a:defRPr/>
              </a:pPr>
              <a:t>29</a:t>
            </a:fld>
            <a:endParaRPr lang="en-US" dirty="0"/>
          </a:p>
        </p:txBody>
      </p:sp>
      <p:sp>
        <p:nvSpPr>
          <p:cNvPr id="14339"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14340"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Tree>
    <p:extLst>
      <p:ext uri="{BB962C8B-B14F-4D97-AF65-F5344CB8AC3E}">
        <p14:creationId xmlns:p14="http://schemas.microsoft.com/office/powerpoint/2010/main" val="3460969429"/>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9"/>
          <p:cNvSpPr>
            <a:spLocks noGrp="1" noChangeArrowheads="1"/>
          </p:cNvSpPr>
          <p:nvPr>
            <p:ph type="title"/>
          </p:nvPr>
        </p:nvSpPr>
        <p:spPr>
          <a:xfrm>
            <a:off x="653954" y="507242"/>
            <a:ext cx="8413845" cy="711958"/>
          </a:xfrm>
        </p:spPr>
        <p:txBody>
          <a:bodyPr>
            <a:noAutofit/>
          </a:bodyPr>
          <a:lstStyle/>
          <a:p>
            <a:pPr algn="ctr" eaLnBrk="1" hangingPunct="1"/>
            <a:r>
              <a:rPr lang="en-US" sz="4000" b="1" dirty="0">
                <a:solidFill>
                  <a:srgbClr val="0000FF"/>
                </a:solidFill>
                <a:effectLst/>
                <a:ea typeface="Times New Roman" panose="02020603050405020304" pitchFamily="18" charset="0"/>
                <a:cs typeface="Times New Roman" panose="02020603050405020304" pitchFamily="18" charset="0"/>
              </a:rPr>
              <a:t>The Value Maximization Objective</a:t>
            </a:r>
            <a:endParaRPr lang="en-US" sz="4000" b="1" dirty="0">
              <a:solidFill>
                <a:srgbClr val="0000FF"/>
              </a:solidFill>
            </a:endParaRPr>
          </a:p>
        </p:txBody>
      </p:sp>
      <p:sp>
        <p:nvSpPr>
          <p:cNvPr id="14342" name="Rectangle 10"/>
          <p:cNvSpPr>
            <a:spLocks noGrp="1" noChangeArrowheads="1"/>
          </p:cNvSpPr>
          <p:nvPr>
            <p:ph idx="1"/>
          </p:nvPr>
        </p:nvSpPr>
        <p:spPr>
          <a:xfrm>
            <a:off x="192625" y="1524000"/>
            <a:ext cx="8758749" cy="5181600"/>
          </a:xfrm>
        </p:spPr>
        <p:txBody>
          <a:bodyPr>
            <a:normAutofit fontScale="70000" lnSpcReduction="20000"/>
          </a:bodyPr>
          <a:lstStyle/>
          <a:p>
            <a:pPr algn="just" eaLnBrk="1" hangingPunct="1">
              <a:lnSpc>
                <a:spcPct val="120000"/>
              </a:lnSpc>
              <a:spcBef>
                <a:spcPts val="0"/>
              </a:spcBef>
            </a:pPr>
            <a:r>
              <a:rPr lang="en-US" sz="4000" dirty="0">
                <a:solidFill>
                  <a:schemeClr val="tx1">
                    <a:lumMod val="85000"/>
                    <a:lumOff val="15000"/>
                  </a:schemeClr>
                </a:solidFill>
                <a:latin typeface="Cambria" panose="02040503050406030204" pitchFamily="18" charset="0"/>
                <a:ea typeface="Cambria" panose="02040503050406030204" pitchFamily="18" charset="0"/>
              </a:rPr>
              <a:t>If an objective is not chosen, there is no systematic way of making and evaluating decisions.</a:t>
            </a:r>
          </a:p>
          <a:p>
            <a:pPr marL="0" indent="0" algn="just" eaLnBrk="1" hangingPunct="1">
              <a:lnSpc>
                <a:spcPct val="120000"/>
              </a:lnSpc>
              <a:spcBef>
                <a:spcPts val="0"/>
              </a:spcBef>
              <a:buNone/>
            </a:pPr>
            <a:endParaRPr lang="en-US" sz="1600" dirty="0">
              <a:solidFill>
                <a:schemeClr val="tx1">
                  <a:lumMod val="85000"/>
                  <a:lumOff val="15000"/>
                </a:schemeClr>
              </a:solidFill>
              <a:latin typeface="Cambria" panose="02040503050406030204" pitchFamily="18" charset="0"/>
              <a:ea typeface="Cambria" panose="02040503050406030204" pitchFamily="18" charset="0"/>
            </a:endParaRPr>
          </a:p>
          <a:p>
            <a:pPr algn="just" eaLnBrk="1" hangingPunct="1">
              <a:lnSpc>
                <a:spcPct val="120000"/>
              </a:lnSpc>
              <a:spcBef>
                <a:spcPts val="0"/>
              </a:spcBef>
            </a:pPr>
            <a:r>
              <a:rPr lang="en-US" sz="4000" dirty="0">
                <a:solidFill>
                  <a:schemeClr val="tx1">
                    <a:lumMod val="85000"/>
                    <a:lumOff val="15000"/>
                  </a:schemeClr>
                </a:solidFill>
                <a:latin typeface="Cambria" panose="02040503050406030204" pitchFamily="18" charset="0"/>
                <a:ea typeface="Cambria" panose="02040503050406030204" pitchFamily="18" charset="0"/>
              </a:rPr>
              <a:t>An objective should be (1) clear and unambiguous, (2) easily measureable (timely feedback), and (3) should not be socially costly.</a:t>
            </a:r>
          </a:p>
          <a:p>
            <a:pPr marL="0" indent="0" eaLnBrk="1" hangingPunct="1">
              <a:lnSpc>
                <a:spcPct val="120000"/>
              </a:lnSpc>
              <a:spcBef>
                <a:spcPts val="0"/>
              </a:spcBef>
              <a:buNone/>
            </a:pPr>
            <a:endParaRPr lang="en-US" sz="1400" dirty="0">
              <a:solidFill>
                <a:schemeClr val="tx1">
                  <a:lumMod val="85000"/>
                  <a:lumOff val="15000"/>
                </a:schemeClr>
              </a:solidFill>
              <a:latin typeface="Cambria" panose="02040503050406030204" pitchFamily="18" charset="0"/>
              <a:ea typeface="Cambria" panose="02040503050406030204" pitchFamily="18" charset="0"/>
            </a:endParaRPr>
          </a:p>
          <a:p>
            <a:pPr eaLnBrk="1" hangingPunct="1">
              <a:lnSpc>
                <a:spcPct val="120000"/>
              </a:lnSpc>
              <a:spcBef>
                <a:spcPts val="0"/>
              </a:spcBef>
            </a:pPr>
            <a:r>
              <a:rPr lang="en-US" sz="4000" dirty="0">
                <a:solidFill>
                  <a:schemeClr val="tx1">
                    <a:lumMod val="85000"/>
                    <a:lumOff val="15000"/>
                  </a:schemeClr>
                </a:solidFill>
                <a:latin typeface="Cambria" panose="02040503050406030204" pitchFamily="18" charset="0"/>
                <a:ea typeface="Cambria" panose="02040503050406030204" pitchFamily="18" charset="0"/>
              </a:rPr>
              <a:t>Correct Objective of Effective Financial Management</a:t>
            </a:r>
          </a:p>
          <a:p>
            <a:pPr lvl="1" eaLnBrk="1" hangingPunct="1">
              <a:lnSpc>
                <a:spcPct val="120000"/>
              </a:lnSpc>
              <a:spcBef>
                <a:spcPts val="0"/>
              </a:spcBef>
            </a:pPr>
            <a:r>
              <a:rPr lang="en-US" sz="3100" dirty="0">
                <a:solidFill>
                  <a:schemeClr val="tx1">
                    <a:lumMod val="85000"/>
                    <a:lumOff val="15000"/>
                  </a:schemeClr>
                </a:solidFill>
                <a:latin typeface="Cambria" panose="02040503050406030204" pitchFamily="18" charset="0"/>
                <a:ea typeface="Cambria" panose="02040503050406030204" pitchFamily="18" charset="0"/>
              </a:rPr>
              <a:t>Maximizing customer satisfaction?</a:t>
            </a:r>
          </a:p>
          <a:p>
            <a:pPr lvl="1" eaLnBrk="1" hangingPunct="1">
              <a:lnSpc>
                <a:spcPct val="120000"/>
              </a:lnSpc>
              <a:spcBef>
                <a:spcPts val="0"/>
              </a:spcBef>
            </a:pPr>
            <a:r>
              <a:rPr lang="en-US" sz="3100" dirty="0">
                <a:solidFill>
                  <a:schemeClr val="tx1">
                    <a:lumMod val="85000"/>
                    <a:lumOff val="15000"/>
                  </a:schemeClr>
                </a:solidFill>
                <a:latin typeface="Cambria" panose="02040503050406030204" pitchFamily="18" charset="0"/>
                <a:ea typeface="Cambria" panose="02040503050406030204" pitchFamily="18" charset="0"/>
              </a:rPr>
              <a:t>Maximizing size of the firm?</a:t>
            </a:r>
          </a:p>
          <a:p>
            <a:pPr lvl="1" eaLnBrk="1" hangingPunct="1">
              <a:lnSpc>
                <a:spcPct val="120000"/>
              </a:lnSpc>
              <a:spcBef>
                <a:spcPts val="0"/>
              </a:spcBef>
            </a:pPr>
            <a:r>
              <a:rPr lang="en-US" sz="3100" dirty="0">
                <a:solidFill>
                  <a:schemeClr val="tx1">
                    <a:lumMod val="85000"/>
                    <a:lumOff val="15000"/>
                  </a:schemeClr>
                </a:solidFill>
                <a:latin typeface="Cambria" panose="02040503050406030204" pitchFamily="18" charset="0"/>
                <a:ea typeface="Cambria" panose="02040503050406030204" pitchFamily="18" charset="0"/>
              </a:rPr>
              <a:t>Maximizing market share (sales)?</a:t>
            </a:r>
          </a:p>
          <a:p>
            <a:pPr lvl="1" eaLnBrk="1" hangingPunct="1">
              <a:lnSpc>
                <a:spcPct val="120000"/>
              </a:lnSpc>
              <a:spcBef>
                <a:spcPts val="0"/>
              </a:spcBef>
            </a:pPr>
            <a:r>
              <a:rPr lang="en-US" sz="3100" dirty="0">
                <a:solidFill>
                  <a:schemeClr val="tx1">
                    <a:lumMod val="85000"/>
                    <a:lumOff val="15000"/>
                  </a:schemeClr>
                </a:solidFill>
                <a:latin typeface="Cambria" panose="02040503050406030204" pitchFamily="18" charset="0"/>
                <a:ea typeface="Cambria" panose="02040503050406030204" pitchFamily="18" charset="0"/>
              </a:rPr>
              <a:t>Minimizing costs/maximizing profits or earnings per share?</a:t>
            </a:r>
          </a:p>
          <a:p>
            <a:pPr lvl="1" eaLnBrk="1" hangingPunct="1">
              <a:lnSpc>
                <a:spcPct val="120000"/>
              </a:lnSpc>
              <a:spcBef>
                <a:spcPts val="0"/>
              </a:spcBef>
            </a:pPr>
            <a:r>
              <a:rPr lang="en-US" sz="3100" dirty="0">
                <a:solidFill>
                  <a:schemeClr val="tx1">
                    <a:lumMod val="85000"/>
                    <a:lumOff val="15000"/>
                  </a:schemeClr>
                </a:solidFill>
                <a:latin typeface="Cambria" panose="02040503050406030204" pitchFamily="18" charset="0"/>
                <a:ea typeface="Cambria" panose="02040503050406030204" pitchFamily="18" charset="0"/>
              </a:rPr>
              <a:t>Maximizing Return on Asset (ROA) / Return on Investment (ROI)?</a:t>
            </a:r>
          </a:p>
          <a:p>
            <a:pPr lvl="1">
              <a:lnSpc>
                <a:spcPct val="120000"/>
              </a:lnSpc>
              <a:spcBef>
                <a:spcPts val="0"/>
              </a:spcBef>
            </a:pPr>
            <a:r>
              <a:rPr lang="en-US" sz="3100" dirty="0">
                <a:solidFill>
                  <a:schemeClr val="tx1">
                    <a:lumMod val="85000"/>
                    <a:lumOff val="15000"/>
                  </a:schemeClr>
                </a:solidFill>
                <a:latin typeface="Cambria" panose="02040503050406030204" pitchFamily="18" charset="0"/>
                <a:ea typeface="Cambria" panose="02040503050406030204" pitchFamily="18" charset="0"/>
              </a:rPr>
              <a:t>Maximizing firm value/shareholder value/shareholder wealth</a:t>
            </a:r>
          </a:p>
          <a:p>
            <a:pPr marL="393192" lvl="1" indent="0">
              <a:spcBef>
                <a:spcPct val="0"/>
              </a:spcBef>
              <a:buNone/>
            </a:pPr>
            <a:endParaRPr lang="en-US" sz="1800" dirty="0"/>
          </a:p>
        </p:txBody>
      </p:sp>
      <p:sp>
        <p:nvSpPr>
          <p:cNvPr id="7"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7A14E903-C983-4BCF-9DDA-F4CB9E3B85FB}" type="slidenum">
              <a:rPr lang="en-US"/>
              <a:pPr>
                <a:defRPr/>
              </a:pPr>
              <a:t>30</a:t>
            </a:fld>
            <a:endParaRPr lang="en-US" dirty="0"/>
          </a:p>
        </p:txBody>
      </p:sp>
      <p:sp>
        <p:nvSpPr>
          <p:cNvPr id="14339"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14340"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Tree>
    <p:extLst>
      <p:ext uri="{BB962C8B-B14F-4D97-AF65-F5344CB8AC3E}">
        <p14:creationId xmlns:p14="http://schemas.microsoft.com/office/powerpoint/2010/main" val="2970484637"/>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533400" y="381000"/>
            <a:ext cx="8229600" cy="743712"/>
          </a:xfrm>
        </p:spPr>
        <p:txBody>
          <a:bodyPr>
            <a:normAutofit/>
          </a:bodyPr>
          <a:lstStyle/>
          <a:p>
            <a:pPr algn="ctr" eaLnBrk="1" hangingPunct="1"/>
            <a:r>
              <a:rPr lang="en-US" sz="4000" b="1" dirty="0">
                <a:solidFill>
                  <a:srgbClr val="0000FF"/>
                </a:solidFill>
              </a:rPr>
              <a:t>Management’s Primary Objective</a:t>
            </a:r>
          </a:p>
        </p:txBody>
      </p:sp>
      <p:sp>
        <p:nvSpPr>
          <p:cNvPr id="16387" name="Content Placeholder 2"/>
          <p:cNvSpPr>
            <a:spLocks noGrp="1"/>
          </p:cNvSpPr>
          <p:nvPr>
            <p:ph idx="1"/>
          </p:nvPr>
        </p:nvSpPr>
        <p:spPr>
          <a:xfrm>
            <a:off x="152400" y="1447800"/>
            <a:ext cx="8305800" cy="5181600"/>
          </a:xfrm>
        </p:spPr>
        <p:txBody>
          <a:bodyPr/>
          <a:lstStyle/>
          <a:p>
            <a:pPr algn="just" eaLnBrk="1" hangingPunct="1">
              <a:spcBef>
                <a:spcPts val="0"/>
              </a:spcBef>
            </a:pPr>
            <a:r>
              <a:rPr lang="en-US" sz="3000" dirty="0">
                <a:solidFill>
                  <a:schemeClr val="tx1">
                    <a:lumMod val="85000"/>
                    <a:lumOff val="15000"/>
                  </a:schemeClr>
                </a:solidFill>
                <a:latin typeface="Cambria" panose="02040503050406030204" pitchFamily="18" charset="0"/>
                <a:ea typeface="Cambria" panose="02040503050406030204" pitchFamily="18" charset="0"/>
              </a:rPr>
              <a:t>The primary objective should be shareholder wealth (value) maximization, which, </a:t>
            </a:r>
            <a:r>
              <a:rPr lang="en-US" sz="3000" b="1" dirty="0">
                <a:solidFill>
                  <a:schemeClr val="tx1">
                    <a:lumMod val="85000"/>
                    <a:lumOff val="15000"/>
                  </a:schemeClr>
                </a:solidFill>
                <a:latin typeface="Cambria" panose="02040503050406030204" pitchFamily="18" charset="0"/>
                <a:ea typeface="Cambria" panose="02040503050406030204" pitchFamily="18" charset="0"/>
              </a:rPr>
              <a:t>under certain conditions</a:t>
            </a:r>
            <a:r>
              <a:rPr lang="en-US" sz="3000" dirty="0">
                <a:solidFill>
                  <a:schemeClr val="tx1">
                    <a:lumMod val="85000"/>
                    <a:lumOff val="15000"/>
                  </a:schemeClr>
                </a:solidFill>
                <a:latin typeface="Cambria" panose="02040503050406030204" pitchFamily="18" charset="0"/>
                <a:ea typeface="Cambria" panose="02040503050406030204" pitchFamily="18" charset="0"/>
              </a:rPr>
              <a:t>, translates to maximizing stock price.</a:t>
            </a:r>
          </a:p>
          <a:p>
            <a:pPr marL="0" indent="0" algn="just" eaLnBrk="1" hangingPunct="1">
              <a:spcBef>
                <a:spcPts val="0"/>
              </a:spcBef>
              <a:buNone/>
            </a:pPr>
            <a:endParaRPr lang="en-US" sz="3000" dirty="0">
              <a:solidFill>
                <a:schemeClr val="tx1">
                  <a:lumMod val="85000"/>
                  <a:lumOff val="15000"/>
                </a:schemeClr>
              </a:solidFill>
              <a:latin typeface="Cambria" panose="02040503050406030204" pitchFamily="18" charset="0"/>
              <a:ea typeface="Cambria" panose="02040503050406030204" pitchFamily="18" charset="0"/>
            </a:endParaRPr>
          </a:p>
          <a:p>
            <a:pPr lvl="1" algn="just" eaLnBrk="1" hangingPunct="1">
              <a:spcBef>
                <a:spcPts val="0"/>
              </a:spcBef>
            </a:pPr>
            <a:r>
              <a:rPr lang="en-US" sz="2400" dirty="0">
                <a:solidFill>
                  <a:schemeClr val="tx1">
                    <a:lumMod val="85000"/>
                    <a:lumOff val="15000"/>
                  </a:schemeClr>
                </a:solidFill>
                <a:latin typeface="Cambria" panose="02040503050406030204" pitchFamily="18" charset="0"/>
                <a:ea typeface="Cambria" panose="02040503050406030204" pitchFamily="18" charset="0"/>
              </a:rPr>
              <a:t>When market price of shares reflect all relevant information, then the observed price </a:t>
            </a:r>
            <a:r>
              <a:rPr lang="en-US" sz="2400" dirty="0">
                <a:latin typeface="Cambria" panose="02040503050406030204" pitchFamily="18" charset="0"/>
                <a:ea typeface="Cambria" panose="02040503050406030204" pitchFamily="18" charset="0"/>
              </a:rPr>
              <a:t>is the same as the intrinsic/fundamental value of shares.</a:t>
            </a:r>
          </a:p>
          <a:p>
            <a:pPr marL="457200" lvl="1" indent="0" algn="just" eaLnBrk="1" hangingPunct="1">
              <a:spcBef>
                <a:spcPts val="0"/>
              </a:spcBef>
              <a:buNone/>
            </a:pPr>
            <a:endParaRPr lang="en-US" dirty="0">
              <a:latin typeface="Cambria" panose="02040503050406030204" pitchFamily="18" charset="0"/>
              <a:ea typeface="Cambria" panose="02040503050406030204" pitchFamily="18" charset="0"/>
            </a:endParaRPr>
          </a:p>
          <a:p>
            <a:pPr lvl="1" algn="just" eaLnBrk="1" hangingPunct="1">
              <a:spcBef>
                <a:spcPts val="0"/>
              </a:spcBef>
            </a:pPr>
            <a:r>
              <a:rPr lang="en-US" sz="2400" dirty="0">
                <a:latin typeface="Cambria" panose="02040503050406030204" pitchFamily="18" charset="0"/>
                <a:ea typeface="Cambria" panose="02040503050406030204" pitchFamily="18" charset="0"/>
              </a:rPr>
              <a:t>There may be conflict of interests between stockholders and managers; </a:t>
            </a:r>
            <a:r>
              <a:rPr lang="en-US" sz="2400" b="1" dirty="0">
                <a:latin typeface="Cambria" panose="02040503050406030204" pitchFamily="18" charset="0"/>
                <a:ea typeface="Cambria" panose="02040503050406030204" pitchFamily="18" charset="0"/>
              </a:rPr>
              <a:t>agency problem</a:t>
            </a:r>
            <a:r>
              <a:rPr lang="en-US" sz="2400" dirty="0">
                <a:latin typeface="Cambria" panose="02040503050406030204" pitchFamily="18" charset="0"/>
                <a:ea typeface="Cambria" panose="02040503050406030204" pitchFamily="18" charset="0"/>
              </a:rPr>
              <a:t>. Sometimes managers take deliberate steps (illegal or legal) to influence market price of shares artificially.</a:t>
            </a:r>
          </a:p>
          <a:p>
            <a:pPr eaLnBrk="1" hangingPunct="1"/>
            <a:endParaRPr lang="en-US" dirty="0"/>
          </a:p>
        </p:txBody>
      </p:sp>
      <p:sp>
        <p:nvSpPr>
          <p:cNvPr id="4" name="Slide Number Placeholder 3"/>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C8873DA4-D5DA-47BA-90F6-8CD0149676B9}" type="slidenum">
              <a:rPr lang="en-US"/>
              <a:pPr>
                <a:defRPr/>
              </a:pPr>
              <a:t>31</a:t>
            </a:fld>
            <a:endParaRPr lang="en-US"/>
          </a:p>
        </p:txBody>
      </p:sp>
    </p:spTree>
    <p:extLst>
      <p:ext uri="{BB962C8B-B14F-4D97-AF65-F5344CB8AC3E}">
        <p14:creationId xmlns:p14="http://schemas.microsoft.com/office/powerpoint/2010/main" val="78722333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36871" y="381000"/>
            <a:ext cx="9144000" cy="1102387"/>
          </a:xfrm>
        </p:spPr>
        <p:txBody>
          <a:bodyPr>
            <a:normAutofit fontScale="90000"/>
          </a:bodyPr>
          <a:lstStyle/>
          <a:p>
            <a:pPr algn="ctr" eaLnBrk="1" hangingPunct="1"/>
            <a:r>
              <a:rPr lang="en-US" sz="3600" b="1" dirty="0">
                <a:solidFill>
                  <a:srgbClr val="0000FF"/>
                </a:solidFill>
              </a:rPr>
              <a:t>What Determines a Firm’s Fundamental, or Intrinsic, Value?</a:t>
            </a:r>
          </a:p>
        </p:txBody>
      </p:sp>
      <p:sp>
        <p:nvSpPr>
          <p:cNvPr id="24580" name="Rectangle 3"/>
          <p:cNvSpPr>
            <a:spLocks noGrp="1" noChangeArrowheads="1"/>
          </p:cNvSpPr>
          <p:nvPr>
            <p:ph idx="1"/>
          </p:nvPr>
        </p:nvSpPr>
        <p:spPr>
          <a:xfrm>
            <a:off x="634898" y="2008518"/>
            <a:ext cx="7340600" cy="1352550"/>
          </a:xfrm>
        </p:spPr>
        <p:txBody>
          <a:bodyPr>
            <a:normAutofit/>
          </a:bodyPr>
          <a:lstStyle/>
          <a:p>
            <a:pPr marL="0" indent="0" eaLnBrk="1" hangingPunct="1">
              <a:lnSpc>
                <a:spcPct val="90000"/>
              </a:lnSpc>
              <a:buFont typeface="Wingdings" pitchFamily="2" charset="2"/>
              <a:buNone/>
            </a:pPr>
            <a:r>
              <a:rPr lang="en-US" sz="2800" dirty="0"/>
              <a:t>Intrinsic (fundamental) value of a firm is the sum of all the future expected free cash flows when converted into today’s dollars:</a:t>
            </a:r>
          </a:p>
          <a:p>
            <a:pPr marL="0" indent="0" eaLnBrk="1" hangingPunct="1">
              <a:lnSpc>
                <a:spcPct val="90000"/>
              </a:lnSpc>
              <a:buFont typeface="Wingdings" pitchFamily="2" charset="2"/>
              <a:buNone/>
            </a:pPr>
            <a:endParaRPr lang="en-US" dirty="0"/>
          </a:p>
        </p:txBody>
      </p:sp>
      <p:sp>
        <p:nvSpPr>
          <p:cNvPr id="18"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334F67E0-0B88-415F-AEBD-0E33D3E0E377}" type="slidenum">
              <a:rPr lang="en-US"/>
              <a:pPr>
                <a:defRPr/>
              </a:pPr>
              <a:t>32</a:t>
            </a:fld>
            <a:endParaRPr lang="en-US"/>
          </a:p>
        </p:txBody>
      </p:sp>
      <p:graphicFrame>
        <p:nvGraphicFramePr>
          <p:cNvPr id="24581" name="Object 1"/>
          <p:cNvGraphicFramePr>
            <a:graphicFrameLocks noChangeAspect="1"/>
          </p:cNvGraphicFramePr>
          <p:nvPr>
            <p:extLst>
              <p:ext uri="{D42A27DB-BD31-4B8C-83A1-F6EECF244321}">
                <p14:modId xmlns:p14="http://schemas.microsoft.com/office/powerpoint/2010/main" val="2256610039"/>
              </p:ext>
            </p:extLst>
          </p:nvPr>
        </p:nvGraphicFramePr>
        <p:xfrm>
          <a:off x="631723" y="3886200"/>
          <a:ext cx="7343775" cy="1828800"/>
        </p:xfrm>
        <a:graphic>
          <a:graphicData uri="http://schemas.openxmlformats.org/presentationml/2006/ole">
            <mc:AlternateContent xmlns:mc="http://schemas.openxmlformats.org/markup-compatibility/2006">
              <mc:Choice xmlns:v="urn:schemas-microsoft-com:vml" Requires="v">
                <p:oleObj spid="_x0000_s1192" name="Equation" r:id="rId3" imgW="3632040" imgH="888840" progId="Equation.3">
                  <p:embed/>
                </p:oleObj>
              </mc:Choice>
              <mc:Fallback>
                <p:oleObj name="Equation" r:id="rId3" imgW="3632040" imgH="888840" progId="Equation.3">
                  <p:embed/>
                  <p:pic>
                    <p:nvPicPr>
                      <p:cNvPr id="24581"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723" y="3886200"/>
                        <a:ext cx="7343775"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252000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9"/>
          <p:cNvSpPr>
            <a:spLocks noGrp="1" noChangeArrowheads="1"/>
          </p:cNvSpPr>
          <p:nvPr>
            <p:ph type="title"/>
          </p:nvPr>
        </p:nvSpPr>
        <p:spPr>
          <a:xfrm>
            <a:off x="609599" y="609600"/>
            <a:ext cx="8077201" cy="1320800"/>
          </a:xfrm>
        </p:spPr>
        <p:txBody>
          <a:bodyPr>
            <a:normAutofit/>
          </a:bodyPr>
          <a:lstStyle/>
          <a:p>
            <a:pPr algn="ctr" eaLnBrk="1" hangingPunct="1"/>
            <a:r>
              <a:rPr lang="en-US" sz="3600" b="1" dirty="0">
                <a:solidFill>
                  <a:srgbClr val="0000FF"/>
                </a:solidFill>
              </a:rPr>
              <a:t>Managerial Actions to Maximize Firm/shareholder Value</a:t>
            </a:r>
          </a:p>
        </p:txBody>
      </p:sp>
      <p:sp>
        <p:nvSpPr>
          <p:cNvPr id="93194" name="Rectangle 10"/>
          <p:cNvSpPr>
            <a:spLocks noGrp="1" noChangeArrowheads="1"/>
          </p:cNvSpPr>
          <p:nvPr>
            <p:ph idx="1"/>
          </p:nvPr>
        </p:nvSpPr>
        <p:spPr>
          <a:xfrm>
            <a:off x="304800" y="2160590"/>
            <a:ext cx="8534399" cy="4392610"/>
          </a:xfrm>
        </p:spPr>
        <p:txBody>
          <a:bodyPr>
            <a:normAutofit/>
          </a:bodyPr>
          <a:lstStyle/>
          <a:p>
            <a:pPr>
              <a:spcBef>
                <a:spcPts val="0"/>
              </a:spcBef>
              <a:defRPr/>
            </a:pPr>
            <a:r>
              <a:rPr lang="en-US" sz="3200" dirty="0"/>
              <a:t>The cash flows that matter are called </a:t>
            </a:r>
            <a:r>
              <a:rPr lang="en-US" sz="3200" b="1" dirty="0"/>
              <a:t>free cash flows</a:t>
            </a:r>
            <a:r>
              <a:rPr lang="en-US" sz="3200" dirty="0"/>
              <a:t> (</a:t>
            </a:r>
            <a:r>
              <a:rPr lang="en-US" sz="3200" b="1" dirty="0"/>
              <a:t>FCF</a:t>
            </a:r>
            <a:r>
              <a:rPr lang="en-US" sz="3200" dirty="0"/>
              <a:t>)</a:t>
            </a:r>
          </a:p>
          <a:p>
            <a:pPr marL="0" indent="0" eaLnBrk="1" hangingPunct="1">
              <a:spcBef>
                <a:spcPts val="0"/>
              </a:spcBef>
              <a:buNone/>
              <a:defRPr/>
            </a:pPr>
            <a:endParaRPr lang="en-US" sz="2400" b="1" dirty="0" smtClean="0"/>
          </a:p>
          <a:p>
            <a:pPr lvl="1">
              <a:spcBef>
                <a:spcPts val="0"/>
              </a:spcBef>
              <a:defRPr/>
            </a:pPr>
            <a:r>
              <a:rPr lang="en-US" sz="2600" b="1" dirty="0" smtClean="0"/>
              <a:t>Amount</a:t>
            </a:r>
            <a:r>
              <a:rPr lang="en-US" sz="2600" dirty="0" smtClean="0"/>
              <a:t> </a:t>
            </a:r>
            <a:r>
              <a:rPr lang="en-US" sz="2600" dirty="0"/>
              <a:t>of expected cash flows (bigger is better</a:t>
            </a:r>
            <a:r>
              <a:rPr lang="en-US" sz="2600" dirty="0" smtClean="0"/>
              <a:t>)</a:t>
            </a:r>
          </a:p>
          <a:p>
            <a:pPr marL="457200" lvl="1" indent="0">
              <a:spcBef>
                <a:spcPts val="0"/>
              </a:spcBef>
              <a:buNone/>
              <a:defRPr/>
            </a:pPr>
            <a:endParaRPr lang="en-US" sz="2600" dirty="0"/>
          </a:p>
          <a:p>
            <a:pPr lvl="1">
              <a:spcBef>
                <a:spcPts val="0"/>
              </a:spcBef>
              <a:defRPr/>
            </a:pPr>
            <a:r>
              <a:rPr lang="en-US" sz="2600" b="1" dirty="0"/>
              <a:t>Timing</a:t>
            </a:r>
            <a:r>
              <a:rPr lang="en-US" sz="2600" dirty="0"/>
              <a:t> of the cash flow stream (sooner is better</a:t>
            </a:r>
            <a:r>
              <a:rPr lang="en-US" sz="2600" dirty="0" smtClean="0"/>
              <a:t>)</a:t>
            </a:r>
          </a:p>
          <a:p>
            <a:pPr marL="457200" lvl="1" indent="0">
              <a:spcBef>
                <a:spcPts val="0"/>
              </a:spcBef>
              <a:buNone/>
              <a:defRPr/>
            </a:pPr>
            <a:endParaRPr lang="en-US" sz="2600" dirty="0"/>
          </a:p>
          <a:p>
            <a:pPr lvl="1">
              <a:spcBef>
                <a:spcPts val="0"/>
              </a:spcBef>
              <a:defRPr/>
            </a:pPr>
            <a:r>
              <a:rPr lang="en-US" sz="2600" b="1" dirty="0"/>
              <a:t>Risk</a:t>
            </a:r>
            <a:r>
              <a:rPr lang="en-US" sz="2600" dirty="0"/>
              <a:t> of the cash flows (less risk is </a:t>
            </a:r>
            <a:r>
              <a:rPr lang="en-US" sz="2600" dirty="0" smtClean="0"/>
              <a:t>better)</a:t>
            </a:r>
          </a:p>
          <a:p>
            <a:pPr eaLnBrk="1" hangingPunct="1">
              <a:lnSpc>
                <a:spcPct val="150000"/>
              </a:lnSpc>
              <a:defRPr/>
            </a:pPr>
            <a:endParaRPr lang="en-US" sz="2400" dirty="0" smtClean="0"/>
          </a:p>
        </p:txBody>
      </p:sp>
      <p:sp>
        <p:nvSpPr>
          <p:cNvPr id="7"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80686E18-8796-47C4-8F9D-A6403D16CB4D}" type="slidenum">
              <a:rPr lang="en-US"/>
              <a:pPr>
                <a:defRPr/>
              </a:pPr>
              <a:t>33</a:t>
            </a:fld>
            <a:endParaRPr lang="en-US"/>
          </a:p>
        </p:txBody>
      </p:sp>
      <p:sp>
        <p:nvSpPr>
          <p:cNvPr id="21507"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21508"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Tree>
    <p:extLst>
      <p:ext uri="{BB962C8B-B14F-4D97-AF65-F5344CB8AC3E}">
        <p14:creationId xmlns:p14="http://schemas.microsoft.com/office/powerpoint/2010/main" val="2397984221"/>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4"/>
          <p:cNvSpPr>
            <a:spLocks noGrp="1" noChangeArrowheads="1"/>
          </p:cNvSpPr>
          <p:nvPr>
            <p:ph type="title"/>
          </p:nvPr>
        </p:nvSpPr>
        <p:spPr>
          <a:xfrm>
            <a:off x="725488" y="509496"/>
            <a:ext cx="8229600" cy="838200"/>
          </a:xfrm>
        </p:spPr>
        <p:txBody>
          <a:bodyPr/>
          <a:lstStyle/>
          <a:p>
            <a:pPr algn="ctr" eaLnBrk="1" hangingPunct="1"/>
            <a:r>
              <a:rPr lang="en-US" sz="4000" b="1" dirty="0">
                <a:solidFill>
                  <a:srgbClr val="0000FF"/>
                </a:solidFill>
              </a:rPr>
              <a:t>Free Cash Flows (FCF)</a:t>
            </a:r>
          </a:p>
        </p:txBody>
      </p:sp>
      <p:sp>
        <p:nvSpPr>
          <p:cNvPr id="22532" name="Rectangle 5"/>
          <p:cNvSpPr>
            <a:spLocks noGrp="1" noChangeArrowheads="1"/>
          </p:cNvSpPr>
          <p:nvPr>
            <p:ph idx="1"/>
          </p:nvPr>
        </p:nvSpPr>
        <p:spPr>
          <a:xfrm>
            <a:off x="381000" y="1981200"/>
            <a:ext cx="8574088" cy="4648200"/>
          </a:xfrm>
        </p:spPr>
        <p:txBody>
          <a:bodyPr/>
          <a:lstStyle/>
          <a:p>
            <a:pPr eaLnBrk="1" hangingPunct="1"/>
            <a:r>
              <a:rPr lang="en-US" sz="2800" dirty="0"/>
              <a:t>Free cash flows are the cash flows that are available (or free) for distribution to all investors (stockholders and creditors).</a:t>
            </a:r>
          </a:p>
          <a:p>
            <a:pPr eaLnBrk="1" hangingPunct="1"/>
            <a:endParaRPr lang="en-US" sz="2800" dirty="0"/>
          </a:p>
          <a:p>
            <a:pPr lvl="1" eaLnBrk="1" hangingPunct="1"/>
            <a:r>
              <a:rPr lang="en-US" sz="2400" dirty="0"/>
              <a:t>FCF = sales revenues - operating costs - operating taxes - required investments in operating capital. </a:t>
            </a:r>
          </a:p>
          <a:p>
            <a:pPr eaLnBrk="1" hangingPunct="1">
              <a:buFont typeface="Wingdings" pitchFamily="2" charset="2"/>
              <a:buNone/>
            </a:pPr>
            <a:endParaRPr lang="en-US" dirty="0"/>
          </a:p>
        </p:txBody>
      </p:sp>
      <p:sp>
        <p:nvSpPr>
          <p:cNvPr id="5"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4E03761A-1ED4-446F-AF1B-90B7BC159136}" type="slidenum">
              <a:rPr lang="en-US"/>
              <a:pPr>
                <a:defRPr/>
              </a:pPr>
              <a:t>34</a:t>
            </a:fld>
            <a:endParaRPr lang="en-US"/>
          </a:p>
        </p:txBody>
      </p:sp>
    </p:spTree>
    <p:extLst>
      <p:ext uri="{BB962C8B-B14F-4D97-AF65-F5344CB8AC3E}">
        <p14:creationId xmlns:p14="http://schemas.microsoft.com/office/powerpoint/2010/main" val="258556471"/>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4"/>
          <p:cNvSpPr>
            <a:spLocks noGrp="1" noChangeArrowheads="1"/>
          </p:cNvSpPr>
          <p:nvPr>
            <p:ph type="title"/>
          </p:nvPr>
        </p:nvSpPr>
        <p:spPr>
          <a:xfrm>
            <a:off x="457200" y="363120"/>
            <a:ext cx="8229600" cy="1313280"/>
          </a:xfrm>
        </p:spPr>
        <p:txBody>
          <a:bodyPr>
            <a:normAutofit/>
          </a:bodyPr>
          <a:lstStyle/>
          <a:p>
            <a:pPr algn="ctr" eaLnBrk="1" hangingPunct="1"/>
            <a:r>
              <a:rPr lang="en-US" sz="4000" b="1" dirty="0">
                <a:solidFill>
                  <a:srgbClr val="0000FF"/>
                </a:solidFill>
              </a:rPr>
              <a:t>What is the Weighted Average Cost of Capital (WACC)?  </a:t>
            </a:r>
          </a:p>
        </p:txBody>
      </p:sp>
      <p:sp>
        <p:nvSpPr>
          <p:cNvPr id="23556" name="Rectangle 5"/>
          <p:cNvSpPr>
            <a:spLocks noGrp="1" noChangeArrowheads="1"/>
          </p:cNvSpPr>
          <p:nvPr>
            <p:ph idx="1"/>
          </p:nvPr>
        </p:nvSpPr>
        <p:spPr>
          <a:xfrm>
            <a:off x="304800" y="1676400"/>
            <a:ext cx="8610600" cy="5181600"/>
          </a:xfrm>
        </p:spPr>
        <p:txBody>
          <a:bodyPr/>
          <a:lstStyle/>
          <a:p>
            <a:pPr eaLnBrk="1" hangingPunct="1">
              <a:spcBef>
                <a:spcPts val="0"/>
              </a:spcBef>
            </a:pPr>
            <a:r>
              <a:rPr lang="en-US" sz="2800" dirty="0">
                <a:solidFill>
                  <a:schemeClr val="tx1">
                    <a:lumMod val="85000"/>
                    <a:lumOff val="15000"/>
                  </a:schemeClr>
                </a:solidFill>
              </a:rPr>
              <a:t>To generate cash flows, managers must decide how to finance projects and operations of the firm.</a:t>
            </a:r>
          </a:p>
          <a:p>
            <a:pPr marL="0" indent="0" eaLnBrk="1" hangingPunct="1">
              <a:spcBef>
                <a:spcPts val="0"/>
              </a:spcBef>
              <a:buNone/>
            </a:pPr>
            <a:endParaRPr lang="en-US" sz="2400" dirty="0">
              <a:solidFill>
                <a:schemeClr val="tx1">
                  <a:lumMod val="85000"/>
                  <a:lumOff val="15000"/>
                </a:schemeClr>
              </a:solidFill>
            </a:endParaRPr>
          </a:p>
          <a:p>
            <a:pPr eaLnBrk="1" hangingPunct="1">
              <a:spcBef>
                <a:spcPts val="0"/>
              </a:spcBef>
            </a:pPr>
            <a:r>
              <a:rPr lang="en-US" sz="2800" dirty="0">
                <a:solidFill>
                  <a:schemeClr val="tx1">
                    <a:lumMod val="85000"/>
                    <a:lumOff val="15000"/>
                  </a:schemeClr>
                </a:solidFill>
              </a:rPr>
              <a:t>WACC is the average rate of return required by all of the company’s investors.</a:t>
            </a:r>
          </a:p>
          <a:p>
            <a:pPr marL="0" indent="0" eaLnBrk="1" hangingPunct="1">
              <a:spcBef>
                <a:spcPts val="0"/>
              </a:spcBef>
              <a:buNone/>
            </a:pPr>
            <a:endParaRPr lang="en-US" sz="2400" dirty="0">
              <a:solidFill>
                <a:schemeClr val="tx1">
                  <a:lumMod val="85000"/>
                  <a:lumOff val="15000"/>
                </a:schemeClr>
              </a:solidFill>
            </a:endParaRPr>
          </a:p>
          <a:p>
            <a:pPr eaLnBrk="1" hangingPunct="1">
              <a:spcBef>
                <a:spcPts val="0"/>
              </a:spcBef>
            </a:pPr>
            <a:r>
              <a:rPr lang="en-US" sz="2800" dirty="0">
                <a:solidFill>
                  <a:schemeClr val="tx1">
                    <a:lumMod val="85000"/>
                    <a:lumOff val="15000"/>
                  </a:schemeClr>
                </a:solidFill>
              </a:rPr>
              <a:t>WACC is affected by:</a:t>
            </a:r>
          </a:p>
          <a:p>
            <a:pPr marL="0" indent="0" eaLnBrk="1" hangingPunct="1">
              <a:spcBef>
                <a:spcPts val="0"/>
              </a:spcBef>
              <a:buNone/>
            </a:pPr>
            <a:endParaRPr lang="en-US" sz="1000" dirty="0">
              <a:solidFill>
                <a:schemeClr val="tx1">
                  <a:lumMod val="85000"/>
                  <a:lumOff val="15000"/>
                </a:schemeClr>
              </a:solidFill>
            </a:endParaRPr>
          </a:p>
          <a:p>
            <a:pPr lvl="1" eaLnBrk="1" hangingPunct="1">
              <a:spcBef>
                <a:spcPts val="0"/>
              </a:spcBef>
            </a:pPr>
            <a:r>
              <a:rPr lang="en-US" sz="2000" dirty="0">
                <a:solidFill>
                  <a:schemeClr val="tx1">
                    <a:lumMod val="85000"/>
                    <a:lumOff val="15000"/>
                  </a:schemeClr>
                </a:solidFill>
              </a:rPr>
              <a:t>Capital structure (the firm’s relative mix of debt and equity)</a:t>
            </a:r>
          </a:p>
          <a:p>
            <a:pPr lvl="1" eaLnBrk="1" hangingPunct="1">
              <a:spcBef>
                <a:spcPts val="0"/>
              </a:spcBef>
            </a:pPr>
            <a:r>
              <a:rPr lang="en-US" sz="2000" dirty="0">
                <a:solidFill>
                  <a:schemeClr val="tx1">
                    <a:lumMod val="85000"/>
                    <a:lumOff val="15000"/>
                  </a:schemeClr>
                </a:solidFill>
              </a:rPr>
              <a:t>Interest rates</a:t>
            </a:r>
          </a:p>
          <a:p>
            <a:pPr lvl="1" eaLnBrk="1" hangingPunct="1">
              <a:spcBef>
                <a:spcPts val="0"/>
              </a:spcBef>
            </a:pPr>
            <a:r>
              <a:rPr lang="en-US" sz="2000" dirty="0">
                <a:solidFill>
                  <a:schemeClr val="tx1">
                    <a:lumMod val="85000"/>
                    <a:lumOff val="15000"/>
                  </a:schemeClr>
                </a:solidFill>
              </a:rPr>
              <a:t>Risk of the firm’s operations</a:t>
            </a:r>
          </a:p>
          <a:p>
            <a:pPr lvl="1" eaLnBrk="1" hangingPunct="1">
              <a:spcBef>
                <a:spcPts val="0"/>
              </a:spcBef>
            </a:pPr>
            <a:r>
              <a:rPr lang="en-US" sz="2000" dirty="0">
                <a:solidFill>
                  <a:schemeClr val="tx1">
                    <a:lumMod val="85000"/>
                    <a:lumOff val="15000"/>
                  </a:schemeClr>
                </a:solidFill>
              </a:rPr>
              <a:t>Investors’ overall attitude toward risk</a:t>
            </a:r>
          </a:p>
        </p:txBody>
      </p:sp>
      <p:sp>
        <p:nvSpPr>
          <p:cNvPr id="5"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CD08934A-C713-4100-8A0E-F492CFF0A9BC}" type="slidenum">
              <a:rPr lang="en-US"/>
              <a:pPr>
                <a:defRPr/>
              </a:pPr>
              <a:t>35</a:t>
            </a:fld>
            <a:endParaRPr lang="en-US"/>
          </a:p>
        </p:txBody>
      </p:sp>
    </p:spTree>
    <p:extLst>
      <p:ext uri="{BB962C8B-B14F-4D97-AF65-F5344CB8AC3E}">
        <p14:creationId xmlns:p14="http://schemas.microsoft.com/office/powerpoint/2010/main" val="845975060"/>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609600" y="304800"/>
            <a:ext cx="8229600" cy="1219200"/>
          </a:xfrm>
        </p:spPr>
        <p:txBody>
          <a:bodyPr>
            <a:normAutofit fontScale="90000"/>
          </a:bodyPr>
          <a:lstStyle/>
          <a:p>
            <a:pPr algn="ctr" eaLnBrk="1" hangingPunct="1"/>
            <a:r>
              <a:rPr lang="en-US" sz="4000" b="1" dirty="0">
                <a:solidFill>
                  <a:srgbClr val="0000FF"/>
                </a:solidFill>
              </a:rPr>
              <a:t>Management’s Primary Objective &amp; Corporate Social Responsibility (CSR)</a:t>
            </a:r>
          </a:p>
        </p:txBody>
      </p:sp>
      <p:sp>
        <p:nvSpPr>
          <p:cNvPr id="3" name="Content Placeholder 2"/>
          <p:cNvSpPr>
            <a:spLocks noGrp="1"/>
          </p:cNvSpPr>
          <p:nvPr>
            <p:ph idx="1"/>
          </p:nvPr>
        </p:nvSpPr>
        <p:spPr>
          <a:xfrm>
            <a:off x="76200" y="1524000"/>
            <a:ext cx="9067800" cy="5334000"/>
          </a:xfrm>
        </p:spPr>
        <p:txBody>
          <a:bodyPr>
            <a:normAutofit fontScale="85000" lnSpcReduction="20000"/>
          </a:bodyPr>
          <a:lstStyle/>
          <a:p>
            <a:pPr eaLnBrk="1" hangingPunct="1">
              <a:lnSpc>
                <a:spcPct val="120000"/>
              </a:lnSpc>
              <a:spcBef>
                <a:spcPts val="0"/>
              </a:spcBef>
              <a:defRPr/>
            </a:pPr>
            <a:r>
              <a:rPr lang="en-US" sz="3300" b="1" dirty="0"/>
              <a:t>How about other stakeholders?</a:t>
            </a:r>
          </a:p>
          <a:p>
            <a:pPr lvl="1" eaLnBrk="1" hangingPunct="1">
              <a:lnSpc>
                <a:spcPct val="120000"/>
              </a:lnSpc>
              <a:spcBef>
                <a:spcPts val="0"/>
              </a:spcBef>
              <a:defRPr/>
            </a:pPr>
            <a:r>
              <a:rPr lang="en-US" sz="2400" b="1" i="1" dirty="0"/>
              <a:t>Aside from such illegal actions as fraudulent accounting, exploiting monopoly power, violating environmental safety codes, the same actions that maximize stock values also benefit society.</a:t>
            </a:r>
          </a:p>
          <a:p>
            <a:pPr lvl="2">
              <a:lnSpc>
                <a:spcPct val="120000"/>
              </a:lnSpc>
              <a:spcBef>
                <a:spcPts val="0"/>
              </a:spcBef>
              <a:defRPr/>
            </a:pPr>
            <a:r>
              <a:rPr lang="en-US" sz="2400" dirty="0"/>
              <a:t>To a large extent, the owners of stock are society:</a:t>
            </a:r>
          </a:p>
          <a:p>
            <a:pPr lvl="2">
              <a:lnSpc>
                <a:spcPct val="120000"/>
              </a:lnSpc>
              <a:spcBef>
                <a:spcPts val="0"/>
              </a:spcBef>
              <a:defRPr/>
            </a:pPr>
            <a:r>
              <a:rPr lang="en-US" sz="2400" dirty="0"/>
              <a:t>Consumer benefits: Firms that maximize stockholder value must produce high quality goods and services at the lowest possible cost; charge reasonable price (high consumer value). Price is constrained by competition and consumer activism.</a:t>
            </a:r>
          </a:p>
          <a:p>
            <a:pPr lvl="2">
              <a:lnSpc>
                <a:spcPct val="120000"/>
              </a:lnSpc>
              <a:spcBef>
                <a:spcPts val="0"/>
              </a:spcBef>
              <a:defRPr/>
            </a:pPr>
            <a:r>
              <a:rPr lang="en-US" sz="2400" dirty="0"/>
              <a:t>Employee benefits: Employment growth is higher in firms (attract, develop and retain) that try to maximize stock value. </a:t>
            </a:r>
          </a:p>
          <a:p>
            <a:pPr lvl="1" eaLnBrk="1" hangingPunct="1">
              <a:lnSpc>
                <a:spcPct val="120000"/>
              </a:lnSpc>
              <a:spcBef>
                <a:spcPts val="0"/>
              </a:spcBef>
              <a:defRPr/>
            </a:pPr>
            <a:r>
              <a:rPr lang="en-US" sz="2400" dirty="0"/>
              <a:t>In summary, it is difficult for firms to maximize share price without paying heed to other stakeholders’ wellbeing. Therefore, the firms should preserve to maximize shareholders wealth.</a:t>
            </a:r>
          </a:p>
          <a:p>
            <a:pPr lvl="1" eaLnBrk="1" hangingPunct="1">
              <a:lnSpc>
                <a:spcPct val="120000"/>
              </a:lnSpc>
              <a:spcBef>
                <a:spcPts val="0"/>
              </a:spcBef>
              <a:defRPr/>
            </a:pPr>
            <a:r>
              <a:rPr lang="en-US" sz="2400" dirty="0"/>
              <a:t>Financial Decision-making must strive for sustainable development benefitting the society-at-large.</a:t>
            </a:r>
          </a:p>
          <a:p>
            <a:pPr eaLnBrk="1" hangingPunct="1">
              <a:defRPr/>
            </a:pPr>
            <a:endParaRPr lang="en-US" dirty="0"/>
          </a:p>
        </p:txBody>
      </p:sp>
      <p:sp>
        <p:nvSpPr>
          <p:cNvPr id="4" name="Slide Number Placeholder 3"/>
          <p:cNvSpPr>
            <a:spLocks noGrp="1"/>
          </p:cNvSpPr>
          <p:nvPr>
            <p:ph type="sldNum" sz="quarter" idx="12"/>
          </p:nvPr>
        </p:nvSpPr>
        <p:spPr>
          <a:xfrm>
            <a:off x="6934200" y="6096000"/>
            <a:ext cx="19050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1DC25568-6A39-4218-A1A7-0842A112458A}" type="slidenum">
              <a:rPr lang="en-US"/>
              <a:pPr>
                <a:defRPr/>
              </a:pPr>
              <a:t>36</a:t>
            </a:fld>
            <a:endParaRPr lang="en-US" dirty="0"/>
          </a:p>
        </p:txBody>
      </p:sp>
    </p:spTree>
    <p:extLst>
      <p:ext uri="{BB962C8B-B14F-4D97-AF65-F5344CB8AC3E}">
        <p14:creationId xmlns:p14="http://schemas.microsoft.com/office/powerpoint/2010/main" val="18310359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531812" y="304800"/>
            <a:ext cx="8080375" cy="1219200"/>
          </a:xfrm>
        </p:spPr>
        <p:txBody>
          <a:bodyPr>
            <a:noAutofit/>
          </a:bodyPr>
          <a:lstStyle/>
          <a:p>
            <a:pPr algn="ctr" eaLnBrk="1" hangingPunct="1">
              <a:defRPr/>
            </a:pPr>
            <a:r>
              <a:rPr lang="en-US" sz="4000" b="1" dirty="0">
                <a:solidFill>
                  <a:srgbClr val="0000FF"/>
                </a:solidFill>
              </a:rPr>
              <a:t>Agency Conflict: Between Managers and Stockholders</a:t>
            </a:r>
          </a:p>
        </p:txBody>
      </p:sp>
      <p:sp>
        <p:nvSpPr>
          <p:cNvPr id="11267" name="Rectangle 3"/>
          <p:cNvSpPr>
            <a:spLocks noGrp="1" noChangeArrowheads="1"/>
          </p:cNvSpPr>
          <p:nvPr>
            <p:ph idx="1"/>
          </p:nvPr>
        </p:nvSpPr>
        <p:spPr>
          <a:xfrm>
            <a:off x="304801" y="1828800"/>
            <a:ext cx="8534400" cy="5029200"/>
          </a:xfrm>
        </p:spPr>
        <p:txBody>
          <a:bodyPr>
            <a:normAutofit/>
          </a:bodyPr>
          <a:lstStyle/>
          <a:p>
            <a:pPr eaLnBrk="1" hangingPunct="1">
              <a:spcBef>
                <a:spcPct val="0"/>
              </a:spcBef>
            </a:pPr>
            <a:r>
              <a:rPr lang="en-US" sz="2400" dirty="0">
                <a:solidFill>
                  <a:schemeClr val="tx1">
                    <a:lumMod val="85000"/>
                    <a:lumOff val="15000"/>
                  </a:schemeClr>
                </a:solidFill>
              </a:rPr>
              <a:t>Managers are naturally inclined to act in their own best interest (which is not always the same as the interest of stockholders).</a:t>
            </a:r>
          </a:p>
          <a:p>
            <a:pPr marL="0" indent="0" eaLnBrk="1" hangingPunct="1">
              <a:spcBef>
                <a:spcPct val="0"/>
              </a:spcBef>
              <a:buNone/>
            </a:pPr>
            <a:endParaRPr lang="en-US" sz="1000" dirty="0">
              <a:solidFill>
                <a:schemeClr val="tx1">
                  <a:lumMod val="85000"/>
                  <a:lumOff val="15000"/>
                </a:schemeClr>
              </a:solidFill>
            </a:endParaRPr>
          </a:p>
          <a:p>
            <a:pPr>
              <a:spcBef>
                <a:spcPct val="0"/>
              </a:spcBef>
            </a:pPr>
            <a:r>
              <a:rPr lang="en-US" sz="2400" dirty="0">
                <a:solidFill>
                  <a:schemeClr val="tx1">
                    <a:lumMod val="85000"/>
                    <a:lumOff val="15000"/>
                  </a:schemeClr>
                </a:solidFill>
              </a:rPr>
              <a:t>Principal-Agent Relation: The Agency Problem – The potential conflict of interest between the principal (owners/shareholders) and agent (managers) .</a:t>
            </a:r>
          </a:p>
          <a:p>
            <a:pPr marL="0" indent="0">
              <a:spcBef>
                <a:spcPct val="0"/>
              </a:spcBef>
              <a:buNone/>
            </a:pPr>
            <a:endParaRPr lang="en-US" sz="1000" dirty="0">
              <a:solidFill>
                <a:schemeClr val="tx1">
                  <a:lumMod val="85000"/>
                  <a:lumOff val="15000"/>
                </a:schemeClr>
              </a:solidFill>
            </a:endParaRPr>
          </a:p>
          <a:p>
            <a:pPr eaLnBrk="1" hangingPunct="1">
              <a:spcBef>
                <a:spcPct val="0"/>
              </a:spcBef>
            </a:pPr>
            <a:r>
              <a:rPr lang="en-US" sz="2400" i="1" dirty="0">
                <a:solidFill>
                  <a:schemeClr val="tx1">
                    <a:lumMod val="85000"/>
                    <a:lumOff val="15000"/>
                  </a:schemeClr>
                </a:solidFill>
              </a:rPr>
              <a:t>Appropriate Compensation and Market forces</a:t>
            </a:r>
            <a:r>
              <a:rPr lang="en-US" sz="2400" dirty="0">
                <a:solidFill>
                  <a:schemeClr val="tx1">
                    <a:lumMod val="85000"/>
                    <a:lumOff val="15000"/>
                  </a:schemeClr>
                </a:solidFill>
              </a:rPr>
              <a:t> help mitigate the agency problem:</a:t>
            </a:r>
          </a:p>
          <a:p>
            <a:pPr lvl="1" eaLnBrk="1" hangingPunct="1">
              <a:spcBef>
                <a:spcPct val="0"/>
              </a:spcBef>
            </a:pPr>
            <a:r>
              <a:rPr lang="en-US" sz="2400" dirty="0">
                <a:solidFill>
                  <a:schemeClr val="tx1">
                    <a:lumMod val="85000"/>
                    <a:lumOff val="15000"/>
                  </a:schemeClr>
                </a:solidFill>
              </a:rPr>
              <a:t>Managerial compensation packages tied to stock price</a:t>
            </a:r>
          </a:p>
          <a:p>
            <a:pPr lvl="1" eaLnBrk="1" hangingPunct="1">
              <a:spcBef>
                <a:spcPct val="0"/>
              </a:spcBef>
            </a:pPr>
            <a:r>
              <a:rPr lang="en-US" sz="2400" dirty="0">
                <a:solidFill>
                  <a:schemeClr val="tx1">
                    <a:lumMod val="85000"/>
                    <a:lumOff val="15000"/>
                  </a:schemeClr>
                </a:solidFill>
              </a:rPr>
              <a:t>Direct intervention by (major) shareholders</a:t>
            </a:r>
          </a:p>
          <a:p>
            <a:pPr lvl="1" eaLnBrk="1" hangingPunct="1">
              <a:spcBef>
                <a:spcPct val="0"/>
              </a:spcBef>
            </a:pPr>
            <a:r>
              <a:rPr lang="en-US" sz="2400" dirty="0">
                <a:solidFill>
                  <a:schemeClr val="tx1">
                    <a:lumMod val="85000"/>
                    <a:lumOff val="15000"/>
                  </a:schemeClr>
                </a:solidFill>
              </a:rPr>
              <a:t>The threat of takeover</a:t>
            </a:r>
          </a:p>
        </p:txBody>
      </p:sp>
      <p:sp>
        <p:nvSpPr>
          <p:cNvPr id="6" name="Slide Number Placeholder 3"/>
          <p:cNvSpPr>
            <a:spLocks noGrp="1"/>
          </p:cNvSpPr>
          <p:nvPr>
            <p:ph type="sldNum" sz="quarter" idx="12"/>
          </p:nvPr>
        </p:nvSpPr>
        <p:spPr>
          <a:xfrm>
            <a:off x="6934200" y="6096000"/>
            <a:ext cx="19050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1DC25568-6A39-4218-A1A7-0842A112458A}" type="slidenum">
              <a:rPr lang="en-US"/>
              <a:pPr>
                <a:defRPr/>
              </a:pPr>
              <a:t>37</a:t>
            </a:fld>
            <a:endParaRPr lang="en-US" dirty="0"/>
          </a:p>
        </p:txBody>
      </p:sp>
    </p:spTree>
    <p:extLst>
      <p:ext uri="{BB962C8B-B14F-4D97-AF65-F5344CB8AC3E}">
        <p14:creationId xmlns:p14="http://schemas.microsoft.com/office/powerpoint/2010/main" val="1951154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67">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6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09600" y="304800"/>
            <a:ext cx="8156575" cy="1295400"/>
          </a:xfrm>
        </p:spPr>
        <p:txBody>
          <a:bodyPr>
            <a:noAutofit/>
          </a:bodyPr>
          <a:lstStyle/>
          <a:p>
            <a:pPr algn="ctr" eaLnBrk="1" hangingPunct="1">
              <a:defRPr/>
            </a:pPr>
            <a:r>
              <a:rPr lang="en-US" sz="4400" b="1" dirty="0">
                <a:solidFill>
                  <a:srgbClr val="0000FF"/>
                </a:solidFill>
              </a:rPr>
              <a:t>Conflicts Between Stockholders and Bondholders</a:t>
            </a:r>
          </a:p>
        </p:txBody>
      </p:sp>
      <p:sp>
        <p:nvSpPr>
          <p:cNvPr id="19459" name="Content Placeholder 9"/>
          <p:cNvSpPr>
            <a:spLocks noGrp="1"/>
          </p:cNvSpPr>
          <p:nvPr>
            <p:ph idx="1"/>
          </p:nvPr>
        </p:nvSpPr>
        <p:spPr>
          <a:xfrm>
            <a:off x="304800" y="2057400"/>
            <a:ext cx="8004175" cy="4800600"/>
          </a:xfrm>
        </p:spPr>
        <p:txBody>
          <a:bodyPr>
            <a:normAutofit lnSpcReduction="10000"/>
          </a:bodyPr>
          <a:lstStyle/>
          <a:p>
            <a:pPr algn="just" eaLnBrk="1" hangingPunct="1">
              <a:spcBef>
                <a:spcPts val="600"/>
              </a:spcBef>
              <a:spcAft>
                <a:spcPts val="600"/>
              </a:spcAft>
            </a:pPr>
            <a:r>
              <a:rPr lang="en-US" sz="2800" dirty="0">
                <a:solidFill>
                  <a:schemeClr val="tx1">
                    <a:lumMod val="85000"/>
                    <a:lumOff val="15000"/>
                  </a:schemeClr>
                </a:solidFill>
                <a:latin typeface="Cambria" panose="02040503050406030204" pitchFamily="18" charset="0"/>
                <a:ea typeface="Cambria" panose="02040503050406030204" pitchFamily="18" charset="0"/>
              </a:rPr>
              <a:t>Stockholders are more likely to prefer riskier projects, because they receive more of the upside if the project succeeds.  By contrast, lenders/bondholders receiving fixed payments are more interested in limiting risk.</a:t>
            </a:r>
          </a:p>
          <a:p>
            <a:pPr algn="just" eaLnBrk="1" hangingPunct="1">
              <a:spcBef>
                <a:spcPts val="600"/>
              </a:spcBef>
              <a:spcAft>
                <a:spcPts val="600"/>
              </a:spcAft>
            </a:pPr>
            <a:r>
              <a:rPr lang="en-US" sz="2800" dirty="0">
                <a:solidFill>
                  <a:schemeClr val="tx1">
                    <a:lumMod val="85000"/>
                    <a:lumOff val="15000"/>
                  </a:schemeClr>
                </a:solidFill>
                <a:latin typeface="Cambria" panose="02040503050406030204" pitchFamily="18" charset="0"/>
                <a:ea typeface="Cambria" panose="02040503050406030204" pitchFamily="18" charset="0"/>
              </a:rPr>
              <a:t>Lenders/Bondholders are particularly concerned about the use of additional debt.</a:t>
            </a:r>
          </a:p>
          <a:p>
            <a:pPr algn="just" eaLnBrk="1" hangingPunct="1">
              <a:spcBef>
                <a:spcPts val="600"/>
              </a:spcBef>
              <a:spcAft>
                <a:spcPts val="600"/>
              </a:spcAft>
            </a:pPr>
            <a:r>
              <a:rPr lang="en-US" sz="2800" dirty="0">
                <a:solidFill>
                  <a:schemeClr val="tx1">
                    <a:lumMod val="85000"/>
                    <a:lumOff val="15000"/>
                  </a:schemeClr>
                </a:solidFill>
                <a:latin typeface="Cambria" panose="02040503050406030204" pitchFamily="18" charset="0"/>
                <a:ea typeface="Cambria" panose="02040503050406030204" pitchFamily="18" charset="0"/>
              </a:rPr>
              <a:t>Lenders/Bondholders attempt to protect themselves by including covenants in bond agreements (indenture) that limit the use of additional debt and constrain managers’ actions.</a:t>
            </a:r>
          </a:p>
          <a:p>
            <a:pPr eaLnBrk="1" hangingPunct="1">
              <a:spcBef>
                <a:spcPct val="0"/>
              </a:spcBef>
              <a:spcAft>
                <a:spcPts val="600"/>
              </a:spcAft>
            </a:pPr>
            <a:endParaRPr lang="en-US" dirty="0"/>
          </a:p>
        </p:txBody>
      </p:sp>
      <p:sp>
        <p:nvSpPr>
          <p:cNvPr id="6" name="Slide Number Placeholder 3"/>
          <p:cNvSpPr>
            <a:spLocks noGrp="1"/>
          </p:cNvSpPr>
          <p:nvPr>
            <p:ph type="sldNum" sz="quarter" idx="12"/>
          </p:nvPr>
        </p:nvSpPr>
        <p:spPr>
          <a:xfrm>
            <a:off x="6934200" y="6096000"/>
            <a:ext cx="19050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1DC25568-6A39-4218-A1A7-0842A112458A}" type="slidenum">
              <a:rPr lang="en-US"/>
              <a:pPr>
                <a:defRPr/>
              </a:pPr>
              <a:t>38</a:t>
            </a:fld>
            <a:endParaRPr lang="en-US" dirty="0"/>
          </a:p>
        </p:txBody>
      </p:sp>
    </p:spTree>
    <p:extLst>
      <p:ext uri="{BB962C8B-B14F-4D97-AF65-F5344CB8AC3E}">
        <p14:creationId xmlns:p14="http://schemas.microsoft.com/office/powerpoint/2010/main" val="314864327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4"/>
          <p:cNvSpPr>
            <a:spLocks noGrp="1" noChangeArrowheads="1"/>
          </p:cNvSpPr>
          <p:nvPr>
            <p:ph type="title"/>
          </p:nvPr>
        </p:nvSpPr>
        <p:spPr>
          <a:xfrm>
            <a:off x="457200" y="228600"/>
            <a:ext cx="8229600" cy="1143000"/>
          </a:xfrm>
        </p:spPr>
        <p:txBody>
          <a:bodyPr>
            <a:noAutofit/>
          </a:bodyPr>
          <a:lstStyle/>
          <a:p>
            <a:pPr algn="ctr" eaLnBrk="1" hangingPunct="1"/>
            <a:r>
              <a:rPr lang="en-US" sz="4000" b="1" dirty="0">
                <a:solidFill>
                  <a:srgbClr val="0000FF"/>
                </a:solidFill>
              </a:rPr>
              <a:t>Conflict of Interests and </a:t>
            </a:r>
            <a:br>
              <a:rPr lang="en-US" sz="4000" b="1" dirty="0">
                <a:solidFill>
                  <a:srgbClr val="0000FF"/>
                </a:solidFill>
              </a:rPr>
            </a:br>
            <a:r>
              <a:rPr lang="en-US" sz="4000" b="1" dirty="0">
                <a:solidFill>
                  <a:srgbClr val="0000FF"/>
                </a:solidFill>
              </a:rPr>
              <a:t>Corporate Governance</a:t>
            </a:r>
          </a:p>
        </p:txBody>
      </p:sp>
      <p:sp>
        <p:nvSpPr>
          <p:cNvPr id="20484" name="Rectangle 5"/>
          <p:cNvSpPr>
            <a:spLocks noGrp="1" noChangeArrowheads="1"/>
          </p:cNvSpPr>
          <p:nvPr>
            <p:ph idx="1"/>
          </p:nvPr>
        </p:nvSpPr>
        <p:spPr>
          <a:xfrm>
            <a:off x="457200" y="1828800"/>
            <a:ext cx="7696200" cy="4800600"/>
          </a:xfrm>
        </p:spPr>
        <p:txBody>
          <a:bodyPr/>
          <a:lstStyle/>
          <a:p>
            <a:pPr eaLnBrk="1" hangingPunct="1">
              <a:lnSpc>
                <a:spcPct val="90000"/>
              </a:lnSpc>
            </a:pPr>
            <a:r>
              <a:rPr lang="en-US" sz="2800" dirty="0"/>
              <a:t>Corporate governance can help control potential conflict of interests between stockholders and managers and between stockholders and bondholders.</a:t>
            </a:r>
          </a:p>
          <a:p>
            <a:pPr marL="0" indent="0" eaLnBrk="1" hangingPunct="1">
              <a:lnSpc>
                <a:spcPct val="90000"/>
              </a:lnSpc>
              <a:buNone/>
            </a:pPr>
            <a:endParaRPr lang="en-US" sz="1200" dirty="0"/>
          </a:p>
          <a:p>
            <a:pPr eaLnBrk="1" hangingPunct="1">
              <a:lnSpc>
                <a:spcPct val="90000"/>
              </a:lnSpc>
            </a:pPr>
            <a:r>
              <a:rPr lang="en-US" sz="2800" dirty="0"/>
              <a:t>Corporate governance  is the set of rules that regulates a company’s behavior towards its directors, managers, employees, shareholders, creditors, customers, competitors, and community. </a:t>
            </a:r>
          </a:p>
          <a:p>
            <a:pPr eaLnBrk="1" hangingPunct="1">
              <a:lnSpc>
                <a:spcPct val="90000"/>
              </a:lnSpc>
            </a:pPr>
            <a:endParaRPr lang="en-US" sz="2800" dirty="0"/>
          </a:p>
        </p:txBody>
      </p:sp>
      <p:sp>
        <p:nvSpPr>
          <p:cNvPr id="5"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801688B1-ABEF-424F-B498-64BDABB9B6BB}" type="slidenum">
              <a:rPr lang="en-US"/>
              <a:pPr>
                <a:defRPr/>
              </a:pPr>
              <a:t>39</a:t>
            </a:fld>
            <a:endParaRPr lang="en-US"/>
          </a:p>
        </p:txBody>
      </p:sp>
    </p:spTree>
    <p:extLst>
      <p:ext uri="{BB962C8B-B14F-4D97-AF65-F5344CB8AC3E}">
        <p14:creationId xmlns:p14="http://schemas.microsoft.com/office/powerpoint/2010/main" val="2313873458"/>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D71327C-073E-4E43-A568-0A4C8B3F3E0C}"/>
              </a:ext>
            </a:extLst>
          </p:cNvPr>
          <p:cNvSpPr>
            <a:spLocks noGrp="1" noChangeArrowheads="1"/>
          </p:cNvSpPr>
          <p:nvPr>
            <p:ph type="title"/>
          </p:nvPr>
        </p:nvSpPr>
        <p:spPr>
          <a:xfrm>
            <a:off x="533400" y="308764"/>
            <a:ext cx="8229600" cy="1099603"/>
          </a:xfrm>
        </p:spPr>
        <p:txBody>
          <a:bodyPr>
            <a:noAutofit/>
          </a:bodyPr>
          <a:lstStyle/>
          <a:p>
            <a:pPr algn="ctr" eaLnBrk="1" hangingPunct="1"/>
            <a:r>
              <a:rPr lang="en-US" altLang="en-US" b="1" dirty="0">
                <a:solidFill>
                  <a:srgbClr val="0000FF"/>
                </a:solidFill>
              </a:rPr>
              <a:t>Balance </a:t>
            </a:r>
            <a:r>
              <a:rPr lang="en-US" altLang="en-US" b="1" dirty="0" smtClean="0">
                <a:solidFill>
                  <a:srgbClr val="0000FF"/>
                </a:solidFill>
              </a:rPr>
              <a:t>Sheet Model of the Firm and Financial Decisions</a:t>
            </a:r>
            <a:endParaRPr lang="en-US" altLang="en-US" b="1" dirty="0">
              <a:solidFill>
                <a:srgbClr val="0000FF"/>
              </a:solidFill>
            </a:endParaRPr>
          </a:p>
        </p:txBody>
      </p:sp>
      <p:grpSp>
        <p:nvGrpSpPr>
          <p:cNvPr id="2" name="Group 3">
            <a:extLst>
              <a:ext uri="{FF2B5EF4-FFF2-40B4-BE49-F238E27FC236}">
                <a16:creationId xmlns:a16="http://schemas.microsoft.com/office/drawing/2014/main" id="{D240E8BD-7B70-4B7B-BE5E-70B787E34A3E}"/>
              </a:ext>
            </a:extLst>
          </p:cNvPr>
          <p:cNvGrpSpPr>
            <a:grpSpLocks/>
          </p:cNvGrpSpPr>
          <p:nvPr/>
        </p:nvGrpSpPr>
        <p:grpSpPr bwMode="auto">
          <a:xfrm>
            <a:off x="228600" y="1600200"/>
            <a:ext cx="4114800" cy="4808537"/>
            <a:chOff x="480" y="816"/>
            <a:chExt cx="2592" cy="3409"/>
          </a:xfrm>
        </p:grpSpPr>
        <p:sp>
          <p:nvSpPr>
            <p:cNvPr id="7177" name="Text Box 4">
              <a:extLst>
                <a:ext uri="{FF2B5EF4-FFF2-40B4-BE49-F238E27FC236}">
                  <a16:creationId xmlns:a16="http://schemas.microsoft.com/office/drawing/2014/main" id="{CF747C30-12C0-45C7-9C3A-5BBF7D2E4133}"/>
                </a:ext>
              </a:extLst>
            </p:cNvPr>
            <p:cNvSpPr txBox="1">
              <a:spLocks noChangeArrowheads="1"/>
            </p:cNvSpPr>
            <p:nvPr/>
          </p:nvSpPr>
          <p:spPr bwMode="auto">
            <a:xfrm>
              <a:off x="1056" y="1240"/>
              <a:ext cx="1248" cy="1360"/>
            </a:xfrm>
            <a:prstGeom prst="rect">
              <a:avLst/>
            </a:prstGeom>
            <a:gradFill rotWithShape="0">
              <a:gsLst>
                <a:gs pos="0">
                  <a:srgbClr val="FF9933"/>
                </a:gs>
                <a:gs pos="100000">
                  <a:srgbClr val="B1011E"/>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endParaRPr lang="en-US" altLang="en-US" sz="2400" dirty="0">
                <a:solidFill>
                  <a:schemeClr val="bg2"/>
                </a:solidFill>
              </a:endParaRPr>
            </a:p>
            <a:p>
              <a:pPr algn="ctr">
                <a:spcBef>
                  <a:spcPct val="50000"/>
                </a:spcBef>
              </a:pPr>
              <a:r>
                <a:rPr lang="en-US" altLang="en-US" sz="2400" dirty="0">
                  <a:solidFill>
                    <a:schemeClr val="bg2"/>
                  </a:solidFill>
                </a:rPr>
                <a:t>Current Assets</a:t>
              </a:r>
            </a:p>
            <a:p>
              <a:pPr algn="ctr">
                <a:spcBef>
                  <a:spcPct val="50000"/>
                </a:spcBef>
              </a:pPr>
              <a:endParaRPr lang="en-US" altLang="en-US" sz="2400" dirty="0">
                <a:solidFill>
                  <a:schemeClr val="bg2"/>
                </a:solidFill>
              </a:endParaRPr>
            </a:p>
          </p:txBody>
        </p:sp>
        <p:sp>
          <p:nvSpPr>
            <p:cNvPr id="7178" name="Text Box 5">
              <a:extLst>
                <a:ext uri="{FF2B5EF4-FFF2-40B4-BE49-F238E27FC236}">
                  <a16:creationId xmlns:a16="http://schemas.microsoft.com/office/drawing/2014/main" id="{39CF1ED5-250E-4EED-A4B5-06D6B9AA396D}"/>
                </a:ext>
              </a:extLst>
            </p:cNvPr>
            <p:cNvSpPr txBox="1">
              <a:spLocks noChangeArrowheads="1"/>
            </p:cNvSpPr>
            <p:nvPr/>
          </p:nvSpPr>
          <p:spPr bwMode="auto">
            <a:xfrm>
              <a:off x="1056" y="2736"/>
              <a:ext cx="1248" cy="1489"/>
            </a:xfrm>
            <a:prstGeom prst="rect">
              <a:avLst/>
            </a:prstGeom>
            <a:gradFill rotWithShape="0">
              <a:gsLst>
                <a:gs pos="0">
                  <a:srgbClr val="FF9933"/>
                </a:gs>
                <a:gs pos="100000">
                  <a:srgbClr val="B1011E"/>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sz="2400">
                  <a:solidFill>
                    <a:schemeClr val="bg2"/>
                  </a:solidFill>
                </a:rPr>
                <a:t>Fixed Assets</a:t>
              </a:r>
            </a:p>
            <a:p>
              <a:pPr algn="ctr">
                <a:spcBef>
                  <a:spcPct val="50000"/>
                </a:spcBef>
              </a:pPr>
              <a:r>
                <a:rPr lang="en-US" altLang="en-US" sz="2400">
                  <a:solidFill>
                    <a:schemeClr val="bg2"/>
                  </a:solidFill>
                </a:rPr>
                <a:t>1 Tangible</a:t>
              </a:r>
            </a:p>
            <a:p>
              <a:pPr algn="ctr">
                <a:spcBef>
                  <a:spcPct val="50000"/>
                </a:spcBef>
              </a:pPr>
              <a:r>
                <a:rPr lang="en-US" altLang="en-US" sz="2400">
                  <a:solidFill>
                    <a:schemeClr val="bg2"/>
                  </a:solidFill>
                </a:rPr>
                <a:t>  2 Intangible</a:t>
              </a:r>
            </a:p>
            <a:p>
              <a:pPr algn="ctr">
                <a:spcBef>
                  <a:spcPct val="50000"/>
                </a:spcBef>
              </a:pPr>
              <a:endParaRPr lang="en-US" altLang="en-US" sz="2400">
                <a:solidFill>
                  <a:schemeClr val="bg2"/>
                </a:solidFill>
              </a:endParaRPr>
            </a:p>
          </p:txBody>
        </p:sp>
        <p:sp>
          <p:nvSpPr>
            <p:cNvPr id="7179" name="Text Box 6">
              <a:extLst>
                <a:ext uri="{FF2B5EF4-FFF2-40B4-BE49-F238E27FC236}">
                  <a16:creationId xmlns:a16="http://schemas.microsoft.com/office/drawing/2014/main" id="{B7F8FEE8-F02F-4FF5-9DBE-372C81112D79}"/>
                </a:ext>
              </a:extLst>
            </p:cNvPr>
            <p:cNvSpPr txBox="1">
              <a:spLocks noChangeArrowheads="1"/>
            </p:cNvSpPr>
            <p:nvPr/>
          </p:nvSpPr>
          <p:spPr bwMode="auto">
            <a:xfrm>
              <a:off x="480" y="816"/>
              <a:ext cx="2592"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defRPr>
                  <a:solidFill>
                    <a:schemeClr val="tx1"/>
                  </a:solidFill>
                  <a:latin typeface="Times New Roman" panose="02020603050405020304" pitchFamily="18" charset="0"/>
                </a:defRPr>
              </a:lvl1pPr>
              <a:lvl2pPr>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lvl="1">
                <a:lnSpc>
                  <a:spcPct val="90000"/>
                </a:lnSpc>
                <a:spcBef>
                  <a:spcPct val="20000"/>
                </a:spcBef>
                <a:buSzPct val="70000"/>
                <a:buFont typeface="Symbol" panose="05050102010706020507" pitchFamily="18" charset="2"/>
                <a:buNone/>
              </a:pPr>
              <a:r>
                <a:rPr lang="en-US" altLang="en-US" sz="2400" dirty="0">
                  <a:solidFill>
                    <a:srgbClr val="00B050"/>
                  </a:solidFill>
                </a:rPr>
                <a:t>Total Value of Assets:</a:t>
              </a:r>
            </a:p>
          </p:txBody>
        </p:sp>
      </p:grpSp>
      <p:grpSp>
        <p:nvGrpSpPr>
          <p:cNvPr id="3" name="Group 7">
            <a:extLst>
              <a:ext uri="{FF2B5EF4-FFF2-40B4-BE49-F238E27FC236}">
                <a16:creationId xmlns:a16="http://schemas.microsoft.com/office/drawing/2014/main" id="{E30EF7D7-1913-4FC5-86C2-176E636DC4EB}"/>
              </a:ext>
            </a:extLst>
          </p:cNvPr>
          <p:cNvGrpSpPr>
            <a:grpSpLocks/>
          </p:cNvGrpSpPr>
          <p:nvPr/>
        </p:nvGrpSpPr>
        <p:grpSpPr bwMode="auto">
          <a:xfrm>
            <a:off x="3124200" y="1600200"/>
            <a:ext cx="5257800" cy="4808537"/>
            <a:chOff x="2544" y="816"/>
            <a:chExt cx="3312" cy="3734"/>
          </a:xfrm>
        </p:grpSpPr>
        <p:sp>
          <p:nvSpPr>
            <p:cNvPr id="7173" name="Text Box 8">
              <a:extLst>
                <a:ext uri="{FF2B5EF4-FFF2-40B4-BE49-F238E27FC236}">
                  <a16:creationId xmlns:a16="http://schemas.microsoft.com/office/drawing/2014/main" id="{4150B543-7544-49B6-99DA-A681AE83033B}"/>
                </a:ext>
              </a:extLst>
            </p:cNvPr>
            <p:cNvSpPr txBox="1">
              <a:spLocks noChangeArrowheads="1"/>
            </p:cNvSpPr>
            <p:nvPr/>
          </p:nvSpPr>
          <p:spPr bwMode="auto">
            <a:xfrm>
              <a:off x="3840" y="2797"/>
              <a:ext cx="1248" cy="1753"/>
            </a:xfrm>
            <a:prstGeom prst="rect">
              <a:avLst/>
            </a:prstGeom>
            <a:gradFill rotWithShape="0">
              <a:gsLst>
                <a:gs pos="0">
                  <a:srgbClr val="FF9933"/>
                </a:gs>
                <a:gs pos="100000">
                  <a:srgbClr val="990000"/>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endParaRPr lang="en-US" altLang="en-US" sz="2400" dirty="0">
                <a:solidFill>
                  <a:schemeClr val="bg2"/>
                </a:solidFill>
              </a:endParaRPr>
            </a:p>
            <a:p>
              <a:pPr algn="ctr">
                <a:spcBef>
                  <a:spcPct val="50000"/>
                </a:spcBef>
              </a:pPr>
              <a:endParaRPr lang="en-US" altLang="en-US" sz="2400" dirty="0">
                <a:solidFill>
                  <a:schemeClr val="bg2"/>
                </a:solidFill>
              </a:endParaRPr>
            </a:p>
            <a:p>
              <a:pPr algn="ctr">
                <a:spcBef>
                  <a:spcPct val="50000"/>
                </a:spcBef>
              </a:pPr>
              <a:r>
                <a:rPr lang="en-US" altLang="en-US" sz="2400" dirty="0">
                  <a:solidFill>
                    <a:schemeClr val="bg2"/>
                  </a:solidFill>
                </a:rPr>
                <a:t>Shareholders’ Equity</a:t>
              </a:r>
            </a:p>
            <a:p>
              <a:pPr algn="ctr">
                <a:spcBef>
                  <a:spcPct val="50000"/>
                </a:spcBef>
              </a:pPr>
              <a:endParaRPr lang="en-US" altLang="en-US" sz="2400" dirty="0">
                <a:solidFill>
                  <a:schemeClr val="bg2"/>
                </a:solidFill>
              </a:endParaRPr>
            </a:p>
          </p:txBody>
        </p:sp>
        <p:sp>
          <p:nvSpPr>
            <p:cNvPr id="7174" name="Text Box 9">
              <a:extLst>
                <a:ext uri="{FF2B5EF4-FFF2-40B4-BE49-F238E27FC236}">
                  <a16:creationId xmlns:a16="http://schemas.microsoft.com/office/drawing/2014/main" id="{F87681D6-9837-48AB-98BB-F94975EA4C14}"/>
                </a:ext>
              </a:extLst>
            </p:cNvPr>
            <p:cNvSpPr txBox="1">
              <a:spLocks noChangeArrowheads="1"/>
            </p:cNvSpPr>
            <p:nvPr/>
          </p:nvSpPr>
          <p:spPr bwMode="auto">
            <a:xfrm>
              <a:off x="3840" y="1234"/>
              <a:ext cx="1248" cy="578"/>
            </a:xfrm>
            <a:prstGeom prst="rect">
              <a:avLst/>
            </a:prstGeom>
            <a:gradFill rotWithShape="0">
              <a:gsLst>
                <a:gs pos="0">
                  <a:srgbClr val="FF9933"/>
                </a:gs>
                <a:gs pos="100000">
                  <a:srgbClr val="990000"/>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sz="2400" dirty="0">
                  <a:solidFill>
                    <a:schemeClr val="bg2"/>
                  </a:solidFill>
                </a:rPr>
                <a:t>Current Liabilities</a:t>
              </a:r>
            </a:p>
          </p:txBody>
        </p:sp>
        <p:sp>
          <p:nvSpPr>
            <p:cNvPr id="7175" name="Text Box 10">
              <a:extLst>
                <a:ext uri="{FF2B5EF4-FFF2-40B4-BE49-F238E27FC236}">
                  <a16:creationId xmlns:a16="http://schemas.microsoft.com/office/drawing/2014/main" id="{19F1A042-66CC-477B-B368-F77B103B1942}"/>
                </a:ext>
              </a:extLst>
            </p:cNvPr>
            <p:cNvSpPr txBox="1">
              <a:spLocks noChangeArrowheads="1"/>
            </p:cNvSpPr>
            <p:nvPr/>
          </p:nvSpPr>
          <p:spPr bwMode="auto">
            <a:xfrm>
              <a:off x="3840" y="1834"/>
              <a:ext cx="1248" cy="1364"/>
            </a:xfrm>
            <a:prstGeom prst="rect">
              <a:avLst/>
            </a:prstGeom>
            <a:gradFill rotWithShape="0">
              <a:gsLst>
                <a:gs pos="0">
                  <a:srgbClr val="FF9933"/>
                </a:gs>
                <a:gs pos="100000">
                  <a:srgbClr val="990000"/>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endParaRPr lang="en-US" altLang="en-US" sz="2400" dirty="0">
                <a:solidFill>
                  <a:schemeClr val="bg2"/>
                </a:solidFill>
              </a:endParaRPr>
            </a:p>
            <a:p>
              <a:pPr algn="ctr">
                <a:spcBef>
                  <a:spcPct val="50000"/>
                </a:spcBef>
              </a:pPr>
              <a:r>
                <a:rPr lang="en-US" altLang="en-US" sz="2400" dirty="0">
                  <a:solidFill>
                    <a:schemeClr val="bg2"/>
                  </a:solidFill>
                </a:rPr>
                <a:t>Long-Term Debt</a:t>
              </a:r>
            </a:p>
            <a:p>
              <a:pPr algn="ctr">
                <a:spcBef>
                  <a:spcPct val="50000"/>
                </a:spcBef>
              </a:pPr>
              <a:endParaRPr lang="en-US" altLang="en-US" sz="2400" dirty="0">
                <a:solidFill>
                  <a:schemeClr val="bg2"/>
                </a:solidFill>
              </a:endParaRPr>
            </a:p>
          </p:txBody>
        </p:sp>
        <p:sp>
          <p:nvSpPr>
            <p:cNvPr id="7176" name="Text Box 11">
              <a:extLst>
                <a:ext uri="{FF2B5EF4-FFF2-40B4-BE49-F238E27FC236}">
                  <a16:creationId xmlns:a16="http://schemas.microsoft.com/office/drawing/2014/main" id="{99EA924D-E19C-4936-8F62-D93857CEAD47}"/>
                </a:ext>
              </a:extLst>
            </p:cNvPr>
            <p:cNvSpPr txBox="1">
              <a:spLocks noChangeArrowheads="1"/>
            </p:cNvSpPr>
            <p:nvPr/>
          </p:nvSpPr>
          <p:spPr bwMode="auto">
            <a:xfrm>
              <a:off x="2544" y="816"/>
              <a:ext cx="3312"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marL="342900" indent="-342900">
                <a:defRPr>
                  <a:solidFill>
                    <a:schemeClr val="tx1"/>
                  </a:solidFill>
                  <a:latin typeface="Times New Roman" panose="02020603050405020304" pitchFamily="18" charset="0"/>
                </a:defRPr>
              </a:lvl1pPr>
              <a:lvl2pPr>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lvl="1">
                <a:lnSpc>
                  <a:spcPct val="90000"/>
                </a:lnSpc>
                <a:spcBef>
                  <a:spcPct val="20000"/>
                </a:spcBef>
                <a:buSzPct val="70000"/>
                <a:buFont typeface="Symbol" panose="05050102010706020507" pitchFamily="18" charset="2"/>
                <a:buNone/>
              </a:pPr>
              <a:r>
                <a:rPr lang="en-US" altLang="en-US" sz="2400" dirty="0">
                  <a:solidFill>
                    <a:srgbClr val="00B050"/>
                  </a:solidFill>
                </a:rPr>
                <a:t>Total Firm Value to Investors</a:t>
              </a:r>
              <a:r>
                <a:rPr lang="en-US" altLang="en-US" sz="2400" dirty="0">
                  <a:solidFill>
                    <a:schemeClr val="bg2"/>
                  </a:solidFill>
                </a:rPr>
                <a:t>:</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54503F48-7EB0-480F-B05F-1D9A6D267F37}"/>
              </a:ext>
            </a:extLst>
          </p:cNvPr>
          <p:cNvSpPr>
            <a:spLocks noGrp="1" noChangeArrowheads="1"/>
          </p:cNvSpPr>
          <p:nvPr>
            <p:ph type="title"/>
          </p:nvPr>
        </p:nvSpPr>
        <p:spPr>
          <a:xfrm>
            <a:off x="257175" y="152401"/>
            <a:ext cx="8305800" cy="743708"/>
          </a:xfrm>
        </p:spPr>
        <p:txBody>
          <a:bodyPr>
            <a:normAutofit/>
          </a:bodyPr>
          <a:lstStyle/>
          <a:p>
            <a:pPr algn="ctr" eaLnBrk="1" hangingPunct="1"/>
            <a:r>
              <a:rPr lang="en-US" altLang="en-US" b="1" dirty="0">
                <a:solidFill>
                  <a:srgbClr val="0000FF"/>
                </a:solidFill>
              </a:rPr>
              <a:t>Short-Term Asset Management</a:t>
            </a:r>
          </a:p>
        </p:txBody>
      </p:sp>
      <p:sp>
        <p:nvSpPr>
          <p:cNvPr id="25603" name="AutoShape 3">
            <a:extLst>
              <a:ext uri="{FF2B5EF4-FFF2-40B4-BE49-F238E27FC236}">
                <a16:creationId xmlns:a16="http://schemas.microsoft.com/office/drawing/2014/main" id="{A7C2D456-B21F-4F7E-98AE-00BAAF5CAB01}"/>
              </a:ext>
            </a:extLst>
          </p:cNvPr>
          <p:cNvSpPr>
            <a:spLocks noChangeArrowheads="1"/>
          </p:cNvSpPr>
          <p:nvPr/>
        </p:nvSpPr>
        <p:spPr bwMode="auto">
          <a:xfrm>
            <a:off x="4267200" y="2743200"/>
            <a:ext cx="1752600" cy="1143000"/>
          </a:xfrm>
          <a:prstGeom prst="upDownArrow">
            <a:avLst>
              <a:gd name="adj1" fmla="val 50000"/>
              <a:gd name="adj2" fmla="val 20000"/>
            </a:avLst>
          </a:prstGeom>
          <a:solidFill>
            <a:schemeClr val="accent1"/>
          </a:solidFill>
          <a:ln w="12700">
            <a:solidFill>
              <a:schemeClr val="tx1"/>
            </a:solidFill>
            <a:miter lim="800000"/>
            <a:headEnd type="none" w="sm" len="sm"/>
            <a:tailEnd type="none" w="sm" len="sm"/>
          </a:ln>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endParaRPr lang="en-US" altLang="en-US"/>
          </a:p>
        </p:txBody>
      </p:sp>
      <p:sp>
        <p:nvSpPr>
          <p:cNvPr id="25604" name="Line 4">
            <a:extLst>
              <a:ext uri="{FF2B5EF4-FFF2-40B4-BE49-F238E27FC236}">
                <a16:creationId xmlns:a16="http://schemas.microsoft.com/office/drawing/2014/main" id="{2184BFE3-7E1D-40A9-928F-B65F8F8BEF38}"/>
              </a:ext>
            </a:extLst>
          </p:cNvPr>
          <p:cNvSpPr>
            <a:spLocks noChangeShapeType="1"/>
          </p:cNvSpPr>
          <p:nvPr/>
        </p:nvSpPr>
        <p:spPr bwMode="auto">
          <a:xfrm>
            <a:off x="5162550" y="2743200"/>
            <a:ext cx="1847850" cy="0"/>
          </a:xfrm>
          <a:prstGeom prst="line">
            <a:avLst/>
          </a:prstGeom>
          <a:noFill/>
          <a:ln w="38100">
            <a:solidFill>
              <a:srgbClr val="CC0000"/>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5605" name="Line 5">
            <a:extLst>
              <a:ext uri="{FF2B5EF4-FFF2-40B4-BE49-F238E27FC236}">
                <a16:creationId xmlns:a16="http://schemas.microsoft.com/office/drawing/2014/main" id="{1F59FDB1-3826-4BFB-8D13-AC329F2479F0}"/>
              </a:ext>
            </a:extLst>
          </p:cNvPr>
          <p:cNvSpPr>
            <a:spLocks noChangeShapeType="1"/>
          </p:cNvSpPr>
          <p:nvPr/>
        </p:nvSpPr>
        <p:spPr bwMode="auto">
          <a:xfrm>
            <a:off x="3657600" y="3886200"/>
            <a:ext cx="1504950" cy="0"/>
          </a:xfrm>
          <a:prstGeom prst="line">
            <a:avLst/>
          </a:prstGeom>
          <a:noFill/>
          <a:ln w="38100">
            <a:solidFill>
              <a:srgbClr val="CC0000"/>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5606" name="Text Box 6">
            <a:extLst>
              <a:ext uri="{FF2B5EF4-FFF2-40B4-BE49-F238E27FC236}">
                <a16:creationId xmlns:a16="http://schemas.microsoft.com/office/drawing/2014/main" id="{03DE0C14-BCE2-4C07-8434-604948EFC406}"/>
              </a:ext>
            </a:extLst>
          </p:cNvPr>
          <p:cNvSpPr txBox="1">
            <a:spLocks noChangeArrowheads="1"/>
          </p:cNvSpPr>
          <p:nvPr/>
        </p:nvSpPr>
        <p:spPr bwMode="auto">
          <a:xfrm>
            <a:off x="3810000" y="4191000"/>
            <a:ext cx="2590800" cy="2377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a:solidFill>
                  <a:schemeClr val="tx1"/>
                </a:solidFill>
                <a:latin typeface="Times New Roman" panose="02020603050405020304" pitchFamily="18" charset="0"/>
              </a:defRPr>
            </a:lvl1pPr>
            <a:lvl2pPr>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lvl="1" algn="ctr">
              <a:lnSpc>
                <a:spcPct val="90000"/>
              </a:lnSpc>
              <a:spcBef>
                <a:spcPct val="20000"/>
              </a:spcBef>
              <a:buSzPct val="70000"/>
              <a:buFont typeface="Symbol" panose="05050102010706020507" pitchFamily="18" charset="2"/>
              <a:buNone/>
            </a:pPr>
            <a:r>
              <a:rPr lang="en-US" altLang="en-US" sz="2500" dirty="0">
                <a:solidFill>
                  <a:srgbClr val="00B050"/>
                </a:solidFill>
              </a:rPr>
              <a:t>How should short-term assets be managed and financed?</a:t>
            </a:r>
          </a:p>
          <a:p>
            <a:pPr>
              <a:spcBef>
                <a:spcPct val="50000"/>
              </a:spcBef>
            </a:pPr>
            <a:endParaRPr lang="en-US" altLang="en-US" sz="2400" dirty="0">
              <a:solidFill>
                <a:schemeClr val="bg2"/>
              </a:solidFill>
            </a:endParaRPr>
          </a:p>
        </p:txBody>
      </p:sp>
      <p:sp>
        <p:nvSpPr>
          <p:cNvPr id="25608" name="Text Box 8">
            <a:extLst>
              <a:ext uri="{FF2B5EF4-FFF2-40B4-BE49-F238E27FC236}">
                <a16:creationId xmlns:a16="http://schemas.microsoft.com/office/drawing/2014/main" id="{B83A2E26-39B0-40BE-A3C7-1DD94A3C4ED1}"/>
              </a:ext>
            </a:extLst>
          </p:cNvPr>
          <p:cNvSpPr txBox="1">
            <a:spLocks noChangeArrowheads="1"/>
          </p:cNvSpPr>
          <p:nvPr/>
        </p:nvSpPr>
        <p:spPr bwMode="auto">
          <a:xfrm>
            <a:off x="4514850" y="2803525"/>
            <a:ext cx="12763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a:solidFill>
                  <a:srgbClr val="CC0000"/>
                </a:solidFill>
              </a:rPr>
              <a:t>Net Working Capital</a:t>
            </a:r>
          </a:p>
        </p:txBody>
      </p:sp>
      <p:sp>
        <p:nvSpPr>
          <p:cNvPr id="10248" name="Text Box 9">
            <a:extLst>
              <a:ext uri="{FF2B5EF4-FFF2-40B4-BE49-F238E27FC236}">
                <a16:creationId xmlns:a16="http://schemas.microsoft.com/office/drawing/2014/main" id="{B521ED14-A010-496C-ABB1-E17D04E11F1B}"/>
              </a:ext>
            </a:extLst>
          </p:cNvPr>
          <p:cNvSpPr txBox="1">
            <a:spLocks noChangeArrowheads="1"/>
          </p:cNvSpPr>
          <p:nvPr/>
        </p:nvSpPr>
        <p:spPr bwMode="auto">
          <a:xfrm>
            <a:off x="6934200" y="4495800"/>
            <a:ext cx="1981200" cy="1917700"/>
          </a:xfrm>
          <a:prstGeom prst="rect">
            <a:avLst/>
          </a:prstGeom>
          <a:gradFill rotWithShape="0">
            <a:gsLst>
              <a:gs pos="0">
                <a:srgbClr val="FF9933"/>
              </a:gs>
              <a:gs pos="100000">
                <a:srgbClr val="990000"/>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endParaRPr lang="en-US" altLang="en-US" sz="2400">
              <a:solidFill>
                <a:schemeClr val="bg2"/>
              </a:solidFill>
            </a:endParaRPr>
          </a:p>
          <a:p>
            <a:pPr algn="ctr">
              <a:spcBef>
                <a:spcPct val="50000"/>
              </a:spcBef>
            </a:pPr>
            <a:r>
              <a:rPr lang="en-US" altLang="en-US" sz="2400">
                <a:solidFill>
                  <a:schemeClr val="bg2"/>
                </a:solidFill>
              </a:rPr>
              <a:t>Shareholders’ Equity</a:t>
            </a:r>
          </a:p>
          <a:p>
            <a:pPr algn="ctr">
              <a:spcBef>
                <a:spcPct val="50000"/>
              </a:spcBef>
            </a:pPr>
            <a:endParaRPr lang="en-US" altLang="en-US" sz="2400">
              <a:solidFill>
                <a:schemeClr val="bg2"/>
              </a:solidFill>
            </a:endParaRPr>
          </a:p>
        </p:txBody>
      </p:sp>
      <p:sp>
        <p:nvSpPr>
          <p:cNvPr id="10249" name="Text Box 10">
            <a:extLst>
              <a:ext uri="{FF2B5EF4-FFF2-40B4-BE49-F238E27FC236}">
                <a16:creationId xmlns:a16="http://schemas.microsoft.com/office/drawing/2014/main" id="{1D808606-8466-4DD7-8D37-C4C252DD2AB5}"/>
              </a:ext>
            </a:extLst>
          </p:cNvPr>
          <p:cNvSpPr txBox="1">
            <a:spLocks noChangeArrowheads="1"/>
          </p:cNvSpPr>
          <p:nvPr/>
        </p:nvSpPr>
        <p:spPr bwMode="auto">
          <a:xfrm>
            <a:off x="6934200" y="1905000"/>
            <a:ext cx="1981200" cy="822325"/>
          </a:xfrm>
          <a:prstGeom prst="rect">
            <a:avLst/>
          </a:prstGeom>
          <a:gradFill rotWithShape="0">
            <a:gsLst>
              <a:gs pos="0">
                <a:srgbClr val="FF9933"/>
              </a:gs>
              <a:gs pos="100000">
                <a:srgbClr val="990000"/>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sz="2400">
                <a:solidFill>
                  <a:schemeClr val="bg2"/>
                </a:solidFill>
              </a:rPr>
              <a:t>Current Liabilities</a:t>
            </a:r>
          </a:p>
        </p:txBody>
      </p:sp>
      <p:sp>
        <p:nvSpPr>
          <p:cNvPr id="10250" name="Text Box 11">
            <a:extLst>
              <a:ext uri="{FF2B5EF4-FFF2-40B4-BE49-F238E27FC236}">
                <a16:creationId xmlns:a16="http://schemas.microsoft.com/office/drawing/2014/main" id="{1241BDFA-6A3E-45A5-BE0C-F585E53A4CBD}"/>
              </a:ext>
            </a:extLst>
          </p:cNvPr>
          <p:cNvSpPr txBox="1">
            <a:spLocks noChangeArrowheads="1"/>
          </p:cNvSpPr>
          <p:nvPr/>
        </p:nvSpPr>
        <p:spPr bwMode="auto">
          <a:xfrm>
            <a:off x="6934200" y="2895600"/>
            <a:ext cx="1981200" cy="1370013"/>
          </a:xfrm>
          <a:prstGeom prst="rect">
            <a:avLst/>
          </a:prstGeom>
          <a:gradFill rotWithShape="0">
            <a:gsLst>
              <a:gs pos="0">
                <a:srgbClr val="FF9933"/>
              </a:gs>
              <a:gs pos="100000">
                <a:srgbClr val="990000"/>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sz="2400" dirty="0">
                <a:solidFill>
                  <a:schemeClr val="bg2"/>
                </a:solidFill>
              </a:rPr>
              <a:t>Long-Term Debt</a:t>
            </a:r>
          </a:p>
          <a:p>
            <a:pPr algn="ctr">
              <a:spcBef>
                <a:spcPct val="50000"/>
              </a:spcBef>
            </a:pPr>
            <a:endParaRPr lang="en-US" altLang="en-US" sz="2400" dirty="0">
              <a:solidFill>
                <a:schemeClr val="bg2"/>
              </a:solidFill>
            </a:endParaRPr>
          </a:p>
        </p:txBody>
      </p:sp>
      <p:sp>
        <p:nvSpPr>
          <p:cNvPr id="10251" name="Text Box 12">
            <a:extLst>
              <a:ext uri="{FF2B5EF4-FFF2-40B4-BE49-F238E27FC236}">
                <a16:creationId xmlns:a16="http://schemas.microsoft.com/office/drawing/2014/main" id="{32EE6A92-0326-481E-91AF-2A77DE2404C9}"/>
              </a:ext>
            </a:extLst>
          </p:cNvPr>
          <p:cNvSpPr txBox="1">
            <a:spLocks noChangeArrowheads="1"/>
          </p:cNvSpPr>
          <p:nvPr/>
        </p:nvSpPr>
        <p:spPr bwMode="auto">
          <a:xfrm>
            <a:off x="1676400" y="1968500"/>
            <a:ext cx="1981200" cy="1917700"/>
          </a:xfrm>
          <a:prstGeom prst="rect">
            <a:avLst/>
          </a:prstGeom>
          <a:gradFill rotWithShape="0">
            <a:gsLst>
              <a:gs pos="0">
                <a:srgbClr val="FF9933"/>
              </a:gs>
              <a:gs pos="100000">
                <a:srgbClr val="B1011E"/>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endParaRPr lang="en-US" altLang="en-US" sz="2400" dirty="0">
              <a:solidFill>
                <a:schemeClr val="bg2"/>
              </a:solidFill>
            </a:endParaRPr>
          </a:p>
          <a:p>
            <a:pPr algn="ctr">
              <a:spcBef>
                <a:spcPct val="50000"/>
              </a:spcBef>
            </a:pPr>
            <a:r>
              <a:rPr lang="en-US" altLang="en-US" sz="2400" dirty="0">
                <a:solidFill>
                  <a:schemeClr val="bg2"/>
                </a:solidFill>
              </a:rPr>
              <a:t>Current Assets</a:t>
            </a:r>
          </a:p>
          <a:p>
            <a:pPr algn="ctr">
              <a:spcBef>
                <a:spcPct val="50000"/>
              </a:spcBef>
            </a:pPr>
            <a:endParaRPr lang="en-US" altLang="en-US" sz="2400" dirty="0">
              <a:solidFill>
                <a:schemeClr val="bg2"/>
              </a:solidFill>
            </a:endParaRPr>
          </a:p>
        </p:txBody>
      </p:sp>
      <p:sp>
        <p:nvSpPr>
          <p:cNvPr id="10252" name="Text Box 13">
            <a:extLst>
              <a:ext uri="{FF2B5EF4-FFF2-40B4-BE49-F238E27FC236}">
                <a16:creationId xmlns:a16="http://schemas.microsoft.com/office/drawing/2014/main" id="{00D4AB8F-3269-4091-B102-67AB80CEB52E}"/>
              </a:ext>
            </a:extLst>
          </p:cNvPr>
          <p:cNvSpPr txBox="1">
            <a:spLocks noChangeArrowheads="1"/>
          </p:cNvSpPr>
          <p:nvPr/>
        </p:nvSpPr>
        <p:spPr bwMode="auto">
          <a:xfrm>
            <a:off x="1676400" y="4343400"/>
            <a:ext cx="1981200" cy="2100263"/>
          </a:xfrm>
          <a:prstGeom prst="rect">
            <a:avLst/>
          </a:prstGeom>
          <a:gradFill rotWithShape="0">
            <a:gsLst>
              <a:gs pos="0">
                <a:srgbClr val="FF9933"/>
              </a:gs>
              <a:gs pos="100000">
                <a:srgbClr val="B1011E"/>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sz="2400">
                <a:solidFill>
                  <a:schemeClr val="bg2"/>
                </a:solidFill>
              </a:rPr>
              <a:t>Fixed Assets</a:t>
            </a:r>
          </a:p>
          <a:p>
            <a:pPr algn="ctr">
              <a:spcBef>
                <a:spcPct val="50000"/>
              </a:spcBef>
            </a:pPr>
            <a:r>
              <a:rPr lang="en-US" altLang="en-US" sz="2400">
                <a:solidFill>
                  <a:schemeClr val="bg2"/>
                </a:solidFill>
              </a:rPr>
              <a:t>1 Tangible</a:t>
            </a:r>
          </a:p>
          <a:p>
            <a:pPr algn="ctr">
              <a:spcBef>
                <a:spcPct val="50000"/>
              </a:spcBef>
            </a:pPr>
            <a:r>
              <a:rPr lang="en-US" altLang="en-US" sz="2400">
                <a:solidFill>
                  <a:schemeClr val="bg2"/>
                </a:solidFill>
              </a:rPr>
              <a:t>  2 Intangible</a:t>
            </a:r>
          </a:p>
          <a:p>
            <a:pPr algn="ctr">
              <a:spcBef>
                <a:spcPct val="50000"/>
              </a:spcBef>
            </a:pPr>
            <a:endParaRPr lang="en-US" altLang="en-US" sz="2400">
              <a:solidFill>
                <a:schemeClr val="bg2"/>
              </a:solidFill>
            </a:endParaRPr>
          </a:p>
        </p:txBody>
      </p:sp>
    </p:spTree>
    <p:extLst>
      <p:ext uri="{BB962C8B-B14F-4D97-AF65-F5344CB8AC3E}">
        <p14:creationId xmlns:p14="http://schemas.microsoft.com/office/powerpoint/2010/main" val="26123043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5606"/>
                                        </p:tgtEl>
                                        <p:attrNameLst>
                                          <p:attrName>style.visibility</p:attrName>
                                        </p:attrNameLst>
                                      </p:cBhvr>
                                      <p:to>
                                        <p:strVal val="visible"/>
                                      </p:to>
                                    </p:set>
                                    <p:animEffect transition="in" filter="fade">
                                      <p:cBhvr>
                                        <p:cTn id="7" dur="1000"/>
                                        <p:tgtEl>
                                          <p:spTgt spid="25606"/>
                                        </p:tgtEl>
                                      </p:cBhvr>
                                    </p:animEffect>
                                    <p:anim calcmode="lin" valueType="num">
                                      <p:cBhvr>
                                        <p:cTn id="8" dur="1000" fill="hold"/>
                                        <p:tgtEl>
                                          <p:spTgt spid="25606"/>
                                        </p:tgtEl>
                                        <p:attrNameLst>
                                          <p:attrName>ppt_x</p:attrName>
                                        </p:attrNameLst>
                                      </p:cBhvr>
                                      <p:tavLst>
                                        <p:tav tm="0">
                                          <p:val>
                                            <p:strVal val="#ppt_x"/>
                                          </p:val>
                                        </p:tav>
                                        <p:tav tm="100000">
                                          <p:val>
                                            <p:strVal val="#ppt_x"/>
                                          </p:val>
                                        </p:tav>
                                      </p:tavLst>
                                    </p:anim>
                                    <p:anim calcmode="lin" valueType="num">
                                      <p:cBhvr>
                                        <p:cTn id="9" dur="1000" fill="hold"/>
                                        <p:tgtEl>
                                          <p:spTgt spid="25606"/>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17" presetClass="entr" presetSubtype="10" fill="hold" grpId="0" nodeType="afterEffect">
                                  <p:stCondLst>
                                    <p:cond delay="0"/>
                                  </p:stCondLst>
                                  <p:childTnLst>
                                    <p:set>
                                      <p:cBhvr>
                                        <p:cTn id="12" dur="1" fill="hold">
                                          <p:stCondLst>
                                            <p:cond delay="0"/>
                                          </p:stCondLst>
                                        </p:cTn>
                                        <p:tgtEl>
                                          <p:spTgt spid="25603"/>
                                        </p:tgtEl>
                                        <p:attrNameLst>
                                          <p:attrName>style.visibility</p:attrName>
                                        </p:attrNameLst>
                                      </p:cBhvr>
                                      <p:to>
                                        <p:strVal val="visible"/>
                                      </p:to>
                                    </p:set>
                                    <p:anim calcmode="lin" valueType="num">
                                      <p:cBhvr>
                                        <p:cTn id="13" dur="500" fill="hold"/>
                                        <p:tgtEl>
                                          <p:spTgt spid="25603"/>
                                        </p:tgtEl>
                                        <p:attrNameLst>
                                          <p:attrName>ppt_w</p:attrName>
                                        </p:attrNameLst>
                                      </p:cBhvr>
                                      <p:tavLst>
                                        <p:tav tm="0">
                                          <p:val>
                                            <p:fltVal val="0"/>
                                          </p:val>
                                        </p:tav>
                                        <p:tav tm="100000">
                                          <p:val>
                                            <p:strVal val="#ppt_w"/>
                                          </p:val>
                                        </p:tav>
                                      </p:tavLst>
                                    </p:anim>
                                    <p:anim calcmode="lin" valueType="num">
                                      <p:cBhvr>
                                        <p:cTn id="14" dur="500" fill="hold"/>
                                        <p:tgtEl>
                                          <p:spTgt spid="25603"/>
                                        </p:tgtEl>
                                        <p:attrNameLst>
                                          <p:attrName>ppt_h</p:attrName>
                                        </p:attrNameLst>
                                      </p:cBhvr>
                                      <p:tavLst>
                                        <p:tav tm="0">
                                          <p:val>
                                            <p:strVal val="#ppt_h"/>
                                          </p:val>
                                        </p:tav>
                                        <p:tav tm="100000">
                                          <p:val>
                                            <p:strVal val="#ppt_h"/>
                                          </p:val>
                                        </p:tav>
                                      </p:tavLst>
                                    </p:anim>
                                  </p:childTnLst>
                                </p:cTn>
                              </p:par>
                            </p:childTnLst>
                          </p:cTn>
                        </p:par>
                        <p:par>
                          <p:cTn id="15" fill="hold" nodeType="afterGroup">
                            <p:stCondLst>
                              <p:cond delay="1500"/>
                            </p:stCondLst>
                            <p:childTnLst>
                              <p:par>
                                <p:cTn id="16" presetID="22" presetClass="entr" presetSubtype="8" fill="hold" nodeType="afterEffect">
                                  <p:stCondLst>
                                    <p:cond delay="0"/>
                                  </p:stCondLst>
                                  <p:childTnLst>
                                    <p:set>
                                      <p:cBhvr>
                                        <p:cTn id="17" dur="1" fill="hold">
                                          <p:stCondLst>
                                            <p:cond delay="0"/>
                                          </p:stCondLst>
                                        </p:cTn>
                                        <p:tgtEl>
                                          <p:spTgt spid="25604"/>
                                        </p:tgtEl>
                                        <p:attrNameLst>
                                          <p:attrName>style.visibility</p:attrName>
                                        </p:attrNameLst>
                                      </p:cBhvr>
                                      <p:to>
                                        <p:strVal val="visible"/>
                                      </p:to>
                                    </p:set>
                                    <p:animEffect transition="in" filter="wipe(left)">
                                      <p:cBhvr>
                                        <p:cTn id="18" dur="500"/>
                                        <p:tgtEl>
                                          <p:spTgt spid="25604"/>
                                        </p:tgtEl>
                                      </p:cBhvr>
                                    </p:animEffect>
                                  </p:childTnLst>
                                </p:cTn>
                              </p:par>
                            </p:childTnLst>
                          </p:cTn>
                        </p:par>
                        <p:par>
                          <p:cTn id="19" fill="hold" nodeType="afterGroup">
                            <p:stCondLst>
                              <p:cond delay="2000"/>
                            </p:stCondLst>
                            <p:childTnLst>
                              <p:par>
                                <p:cTn id="20" presetID="22" presetClass="entr" presetSubtype="2" fill="hold" nodeType="afterEffect">
                                  <p:stCondLst>
                                    <p:cond delay="0"/>
                                  </p:stCondLst>
                                  <p:childTnLst>
                                    <p:set>
                                      <p:cBhvr>
                                        <p:cTn id="21" dur="1" fill="hold">
                                          <p:stCondLst>
                                            <p:cond delay="0"/>
                                          </p:stCondLst>
                                        </p:cTn>
                                        <p:tgtEl>
                                          <p:spTgt spid="25605"/>
                                        </p:tgtEl>
                                        <p:attrNameLst>
                                          <p:attrName>style.visibility</p:attrName>
                                        </p:attrNameLst>
                                      </p:cBhvr>
                                      <p:to>
                                        <p:strVal val="visible"/>
                                      </p:to>
                                    </p:set>
                                    <p:animEffect transition="in" filter="wipe(right)">
                                      <p:cBhvr>
                                        <p:cTn id="22" dur="500"/>
                                        <p:tgtEl>
                                          <p:spTgt spid="25605"/>
                                        </p:tgtEl>
                                      </p:cBhvr>
                                    </p:animEffect>
                                  </p:childTnLst>
                                </p:cTn>
                              </p:par>
                            </p:childTnLst>
                          </p:cTn>
                        </p:par>
                        <p:par>
                          <p:cTn id="23" fill="hold" nodeType="afterGroup">
                            <p:stCondLst>
                              <p:cond delay="2500"/>
                            </p:stCondLst>
                            <p:childTnLst>
                              <p:par>
                                <p:cTn id="24" presetID="1" presetClass="entr" presetSubtype="0" fill="hold" grpId="0" nodeType="afterEffect">
                                  <p:stCondLst>
                                    <p:cond delay="0"/>
                                  </p:stCondLst>
                                  <p:childTnLst>
                                    <p:set>
                                      <p:cBhvr>
                                        <p:cTn id="25" dur="1" fill="hold">
                                          <p:stCondLst>
                                            <p:cond delay="499"/>
                                          </p:stCondLst>
                                        </p:cTn>
                                        <p:tgtEl>
                                          <p:spTgt spid="256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animBg="1"/>
      <p:bldP spid="25606" grpId="0" autoUpdateAnimBg="0"/>
      <p:bldP spid="25608"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759FCEAF-FCAB-4171-8BC5-05452EC908C8}"/>
              </a:ext>
            </a:extLst>
          </p:cNvPr>
          <p:cNvSpPr>
            <a:spLocks noGrp="1" noChangeArrowheads="1"/>
          </p:cNvSpPr>
          <p:nvPr>
            <p:ph type="title"/>
          </p:nvPr>
        </p:nvSpPr>
        <p:spPr>
          <a:xfrm>
            <a:off x="419100" y="457199"/>
            <a:ext cx="8305800" cy="822325"/>
          </a:xfrm>
        </p:spPr>
        <p:txBody>
          <a:bodyPr>
            <a:noAutofit/>
          </a:bodyPr>
          <a:lstStyle/>
          <a:p>
            <a:pPr algn="ctr" eaLnBrk="1" hangingPunct="1"/>
            <a:r>
              <a:rPr lang="en-US" altLang="en-US" sz="4000" b="1" dirty="0">
                <a:solidFill>
                  <a:srgbClr val="0000FF"/>
                </a:solidFill>
              </a:rPr>
              <a:t>The Capital Budgeting Decision</a:t>
            </a:r>
          </a:p>
        </p:txBody>
      </p:sp>
      <p:sp>
        <p:nvSpPr>
          <p:cNvPr id="8195" name="Text Box 3">
            <a:extLst>
              <a:ext uri="{FF2B5EF4-FFF2-40B4-BE49-F238E27FC236}">
                <a16:creationId xmlns:a16="http://schemas.microsoft.com/office/drawing/2014/main" id="{077B968D-83A7-499B-8288-313FEF433B4B}"/>
              </a:ext>
            </a:extLst>
          </p:cNvPr>
          <p:cNvSpPr txBox="1">
            <a:spLocks noChangeArrowheads="1"/>
          </p:cNvSpPr>
          <p:nvPr/>
        </p:nvSpPr>
        <p:spPr bwMode="auto">
          <a:xfrm>
            <a:off x="1676400" y="1968500"/>
            <a:ext cx="1981200" cy="1917700"/>
          </a:xfrm>
          <a:prstGeom prst="rect">
            <a:avLst/>
          </a:prstGeom>
          <a:gradFill rotWithShape="0">
            <a:gsLst>
              <a:gs pos="0">
                <a:srgbClr val="FF9933"/>
              </a:gs>
              <a:gs pos="100000">
                <a:srgbClr val="B1011E"/>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endParaRPr lang="en-US" altLang="en-US" sz="2400">
              <a:solidFill>
                <a:schemeClr val="bg2"/>
              </a:solidFill>
            </a:endParaRPr>
          </a:p>
          <a:p>
            <a:pPr algn="ctr">
              <a:spcBef>
                <a:spcPct val="50000"/>
              </a:spcBef>
            </a:pPr>
            <a:r>
              <a:rPr lang="en-US" altLang="en-US" sz="2400">
                <a:solidFill>
                  <a:schemeClr val="bg2"/>
                </a:solidFill>
              </a:rPr>
              <a:t>Current Assets</a:t>
            </a:r>
          </a:p>
          <a:p>
            <a:pPr algn="ctr">
              <a:spcBef>
                <a:spcPct val="50000"/>
              </a:spcBef>
            </a:pPr>
            <a:endParaRPr lang="en-US" altLang="en-US" sz="2400">
              <a:solidFill>
                <a:schemeClr val="bg2"/>
              </a:solidFill>
            </a:endParaRPr>
          </a:p>
        </p:txBody>
      </p:sp>
      <p:sp>
        <p:nvSpPr>
          <p:cNvPr id="8196" name="Text Box 4">
            <a:extLst>
              <a:ext uri="{FF2B5EF4-FFF2-40B4-BE49-F238E27FC236}">
                <a16:creationId xmlns:a16="http://schemas.microsoft.com/office/drawing/2014/main" id="{F2EDB0BB-6BB9-4334-967D-3337F7B87CE2}"/>
              </a:ext>
            </a:extLst>
          </p:cNvPr>
          <p:cNvSpPr txBox="1">
            <a:spLocks noChangeArrowheads="1"/>
          </p:cNvSpPr>
          <p:nvPr/>
        </p:nvSpPr>
        <p:spPr bwMode="auto">
          <a:xfrm>
            <a:off x="1676400" y="4343400"/>
            <a:ext cx="1981200" cy="2100263"/>
          </a:xfrm>
          <a:prstGeom prst="rect">
            <a:avLst/>
          </a:prstGeom>
          <a:gradFill rotWithShape="0">
            <a:gsLst>
              <a:gs pos="0">
                <a:srgbClr val="FF9933"/>
              </a:gs>
              <a:gs pos="100000">
                <a:srgbClr val="B1011E"/>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sz="2400">
                <a:solidFill>
                  <a:schemeClr val="bg2"/>
                </a:solidFill>
              </a:rPr>
              <a:t>Fixed Assets</a:t>
            </a:r>
          </a:p>
          <a:p>
            <a:pPr algn="ctr">
              <a:spcBef>
                <a:spcPct val="50000"/>
              </a:spcBef>
            </a:pPr>
            <a:r>
              <a:rPr lang="en-US" altLang="en-US" sz="2400">
                <a:solidFill>
                  <a:schemeClr val="bg2"/>
                </a:solidFill>
              </a:rPr>
              <a:t>1 Tangible</a:t>
            </a:r>
          </a:p>
          <a:p>
            <a:pPr algn="ctr">
              <a:spcBef>
                <a:spcPct val="50000"/>
              </a:spcBef>
            </a:pPr>
            <a:r>
              <a:rPr lang="en-US" altLang="en-US" sz="2400">
                <a:solidFill>
                  <a:schemeClr val="bg2"/>
                </a:solidFill>
              </a:rPr>
              <a:t>  2 Intangible</a:t>
            </a:r>
          </a:p>
          <a:p>
            <a:pPr algn="ctr">
              <a:spcBef>
                <a:spcPct val="50000"/>
              </a:spcBef>
            </a:pPr>
            <a:endParaRPr lang="en-US" altLang="en-US" sz="2400">
              <a:solidFill>
                <a:schemeClr val="bg2"/>
              </a:solidFill>
            </a:endParaRPr>
          </a:p>
        </p:txBody>
      </p:sp>
      <p:sp>
        <p:nvSpPr>
          <p:cNvPr id="8197" name="Text Box 5">
            <a:extLst>
              <a:ext uri="{FF2B5EF4-FFF2-40B4-BE49-F238E27FC236}">
                <a16:creationId xmlns:a16="http://schemas.microsoft.com/office/drawing/2014/main" id="{9A403C86-8CC9-4617-9D78-0704284547A1}"/>
              </a:ext>
            </a:extLst>
          </p:cNvPr>
          <p:cNvSpPr txBox="1">
            <a:spLocks noChangeArrowheads="1"/>
          </p:cNvSpPr>
          <p:nvPr/>
        </p:nvSpPr>
        <p:spPr bwMode="auto">
          <a:xfrm>
            <a:off x="6934200" y="4495800"/>
            <a:ext cx="1981200" cy="1917700"/>
          </a:xfrm>
          <a:prstGeom prst="rect">
            <a:avLst/>
          </a:prstGeom>
          <a:gradFill rotWithShape="0">
            <a:gsLst>
              <a:gs pos="0">
                <a:srgbClr val="FF9933"/>
              </a:gs>
              <a:gs pos="100000">
                <a:srgbClr val="990000"/>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endParaRPr lang="en-US" altLang="en-US" sz="2400">
              <a:solidFill>
                <a:schemeClr val="bg2"/>
              </a:solidFill>
            </a:endParaRPr>
          </a:p>
          <a:p>
            <a:pPr algn="ctr">
              <a:spcBef>
                <a:spcPct val="50000"/>
              </a:spcBef>
            </a:pPr>
            <a:r>
              <a:rPr lang="en-US" altLang="en-US" sz="2400">
                <a:solidFill>
                  <a:schemeClr val="bg2"/>
                </a:solidFill>
              </a:rPr>
              <a:t>Shareholders’ Equity</a:t>
            </a:r>
          </a:p>
          <a:p>
            <a:pPr algn="ctr">
              <a:spcBef>
                <a:spcPct val="50000"/>
              </a:spcBef>
            </a:pPr>
            <a:endParaRPr lang="en-US" altLang="en-US" sz="2400">
              <a:solidFill>
                <a:schemeClr val="bg2"/>
              </a:solidFill>
            </a:endParaRPr>
          </a:p>
        </p:txBody>
      </p:sp>
      <p:sp>
        <p:nvSpPr>
          <p:cNvPr id="8198" name="Text Box 6">
            <a:extLst>
              <a:ext uri="{FF2B5EF4-FFF2-40B4-BE49-F238E27FC236}">
                <a16:creationId xmlns:a16="http://schemas.microsoft.com/office/drawing/2014/main" id="{228885F6-AC8A-40DF-B85A-6AE5C47F8A27}"/>
              </a:ext>
            </a:extLst>
          </p:cNvPr>
          <p:cNvSpPr txBox="1">
            <a:spLocks noChangeArrowheads="1"/>
          </p:cNvSpPr>
          <p:nvPr/>
        </p:nvSpPr>
        <p:spPr bwMode="auto">
          <a:xfrm>
            <a:off x="6934200" y="1905000"/>
            <a:ext cx="1981200" cy="822325"/>
          </a:xfrm>
          <a:prstGeom prst="rect">
            <a:avLst/>
          </a:prstGeom>
          <a:gradFill rotWithShape="0">
            <a:gsLst>
              <a:gs pos="0">
                <a:srgbClr val="FF9933"/>
              </a:gs>
              <a:gs pos="100000">
                <a:srgbClr val="990000"/>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sz="2400">
                <a:solidFill>
                  <a:schemeClr val="bg2"/>
                </a:solidFill>
              </a:rPr>
              <a:t>Current Liabilities</a:t>
            </a:r>
          </a:p>
        </p:txBody>
      </p:sp>
      <p:sp>
        <p:nvSpPr>
          <p:cNvPr id="8199" name="Text Box 7">
            <a:extLst>
              <a:ext uri="{FF2B5EF4-FFF2-40B4-BE49-F238E27FC236}">
                <a16:creationId xmlns:a16="http://schemas.microsoft.com/office/drawing/2014/main" id="{37BEF735-3C6E-4C50-88EC-A33D079939CA}"/>
              </a:ext>
            </a:extLst>
          </p:cNvPr>
          <p:cNvSpPr txBox="1">
            <a:spLocks noChangeArrowheads="1"/>
          </p:cNvSpPr>
          <p:nvPr/>
        </p:nvSpPr>
        <p:spPr bwMode="auto">
          <a:xfrm>
            <a:off x="6934200" y="2895600"/>
            <a:ext cx="1981200" cy="1370013"/>
          </a:xfrm>
          <a:prstGeom prst="rect">
            <a:avLst/>
          </a:prstGeom>
          <a:gradFill rotWithShape="0">
            <a:gsLst>
              <a:gs pos="0">
                <a:srgbClr val="FF9933"/>
              </a:gs>
              <a:gs pos="100000">
                <a:srgbClr val="990000"/>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sz="2400">
                <a:solidFill>
                  <a:schemeClr val="bg2"/>
                </a:solidFill>
              </a:rPr>
              <a:t>Long-Term Debt</a:t>
            </a:r>
          </a:p>
          <a:p>
            <a:pPr algn="ctr">
              <a:spcBef>
                <a:spcPct val="50000"/>
              </a:spcBef>
            </a:pPr>
            <a:endParaRPr lang="en-US" altLang="en-US" sz="2400">
              <a:solidFill>
                <a:schemeClr val="bg2"/>
              </a:solidFill>
            </a:endParaRPr>
          </a:p>
        </p:txBody>
      </p:sp>
      <p:sp>
        <p:nvSpPr>
          <p:cNvPr id="23560" name="Text Box 8">
            <a:extLst>
              <a:ext uri="{FF2B5EF4-FFF2-40B4-BE49-F238E27FC236}">
                <a16:creationId xmlns:a16="http://schemas.microsoft.com/office/drawing/2014/main" id="{0773E5DE-676A-40EF-9421-0EB03C56AE15}"/>
              </a:ext>
            </a:extLst>
          </p:cNvPr>
          <p:cNvSpPr txBox="1">
            <a:spLocks noChangeArrowheads="1"/>
          </p:cNvSpPr>
          <p:nvPr/>
        </p:nvSpPr>
        <p:spPr bwMode="auto">
          <a:xfrm>
            <a:off x="3886200" y="4572000"/>
            <a:ext cx="26670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defRPr>
                <a:solidFill>
                  <a:schemeClr val="tx1"/>
                </a:solidFill>
                <a:latin typeface="Times New Roman" panose="02020603050405020304" pitchFamily="18" charset="0"/>
              </a:defRPr>
            </a:lvl1pPr>
            <a:lvl2pPr>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lvl="1">
              <a:lnSpc>
                <a:spcPct val="90000"/>
              </a:lnSpc>
              <a:spcBef>
                <a:spcPct val="20000"/>
              </a:spcBef>
              <a:buSzPct val="70000"/>
              <a:buFont typeface="Symbol" panose="05050102010706020507" pitchFamily="18" charset="2"/>
              <a:buNone/>
            </a:pPr>
            <a:r>
              <a:rPr lang="en-US" altLang="en-US" sz="2500" dirty="0">
                <a:solidFill>
                  <a:srgbClr val="00B050"/>
                </a:solidFill>
              </a:rPr>
              <a:t>What long-term investments should the firm choose?</a:t>
            </a:r>
          </a:p>
        </p:txBody>
      </p:sp>
      <p:sp>
        <p:nvSpPr>
          <p:cNvPr id="23561" name="AutoShape 9">
            <a:extLst>
              <a:ext uri="{FF2B5EF4-FFF2-40B4-BE49-F238E27FC236}">
                <a16:creationId xmlns:a16="http://schemas.microsoft.com/office/drawing/2014/main" id="{0EB349E8-18EF-4624-B05B-4C0EAFA61803}"/>
              </a:ext>
            </a:extLst>
          </p:cNvPr>
          <p:cNvSpPr>
            <a:spLocks/>
          </p:cNvSpPr>
          <p:nvPr/>
        </p:nvSpPr>
        <p:spPr bwMode="auto">
          <a:xfrm flipH="1">
            <a:off x="3733800" y="4343400"/>
            <a:ext cx="438150" cy="2057400"/>
          </a:xfrm>
          <a:prstGeom prst="leftBrace">
            <a:avLst>
              <a:gd name="adj1" fmla="val 39130"/>
              <a:gd name="adj2" fmla="val 50000"/>
            </a:avLst>
          </a:prstGeom>
          <a:noFill/>
          <a:ln w="38100">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endParaRPr lang="en-US"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3560"/>
                                        </p:tgtEl>
                                        <p:attrNameLst>
                                          <p:attrName>style.visibility</p:attrName>
                                        </p:attrNameLst>
                                      </p:cBhvr>
                                      <p:to>
                                        <p:strVal val="visible"/>
                                      </p:to>
                                    </p:set>
                                    <p:animEffect transition="in" filter="fade">
                                      <p:cBhvr>
                                        <p:cTn id="7" dur="1000"/>
                                        <p:tgtEl>
                                          <p:spTgt spid="23560"/>
                                        </p:tgtEl>
                                      </p:cBhvr>
                                    </p:animEffect>
                                    <p:anim calcmode="lin" valueType="num">
                                      <p:cBhvr>
                                        <p:cTn id="8" dur="1000" fill="hold"/>
                                        <p:tgtEl>
                                          <p:spTgt spid="23560"/>
                                        </p:tgtEl>
                                        <p:attrNameLst>
                                          <p:attrName>ppt_x</p:attrName>
                                        </p:attrNameLst>
                                      </p:cBhvr>
                                      <p:tavLst>
                                        <p:tav tm="0">
                                          <p:val>
                                            <p:strVal val="#ppt_x"/>
                                          </p:val>
                                        </p:tav>
                                        <p:tav tm="100000">
                                          <p:val>
                                            <p:strVal val="#ppt_x"/>
                                          </p:val>
                                        </p:tav>
                                      </p:tavLst>
                                    </p:anim>
                                    <p:anim calcmode="lin" valueType="num">
                                      <p:cBhvr>
                                        <p:cTn id="9" dur="1000" fill="hold"/>
                                        <p:tgtEl>
                                          <p:spTgt spid="23560"/>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17" presetClass="entr" presetSubtype="8" fill="hold" grpId="0" nodeType="afterEffect">
                                  <p:stCondLst>
                                    <p:cond delay="0"/>
                                  </p:stCondLst>
                                  <p:childTnLst>
                                    <p:set>
                                      <p:cBhvr>
                                        <p:cTn id="12" dur="1" fill="hold">
                                          <p:stCondLst>
                                            <p:cond delay="0"/>
                                          </p:stCondLst>
                                        </p:cTn>
                                        <p:tgtEl>
                                          <p:spTgt spid="23561"/>
                                        </p:tgtEl>
                                        <p:attrNameLst>
                                          <p:attrName>style.visibility</p:attrName>
                                        </p:attrNameLst>
                                      </p:cBhvr>
                                      <p:to>
                                        <p:strVal val="visible"/>
                                      </p:to>
                                    </p:set>
                                    <p:anim calcmode="lin" valueType="num">
                                      <p:cBhvr>
                                        <p:cTn id="13" dur="500" fill="hold"/>
                                        <p:tgtEl>
                                          <p:spTgt spid="23561"/>
                                        </p:tgtEl>
                                        <p:attrNameLst>
                                          <p:attrName>ppt_x</p:attrName>
                                        </p:attrNameLst>
                                      </p:cBhvr>
                                      <p:tavLst>
                                        <p:tav tm="0">
                                          <p:val>
                                            <p:strVal val="#ppt_x-#ppt_w/2"/>
                                          </p:val>
                                        </p:tav>
                                        <p:tav tm="100000">
                                          <p:val>
                                            <p:strVal val="#ppt_x"/>
                                          </p:val>
                                        </p:tav>
                                      </p:tavLst>
                                    </p:anim>
                                    <p:anim calcmode="lin" valueType="num">
                                      <p:cBhvr>
                                        <p:cTn id="14" dur="500" fill="hold"/>
                                        <p:tgtEl>
                                          <p:spTgt spid="23561"/>
                                        </p:tgtEl>
                                        <p:attrNameLst>
                                          <p:attrName>ppt_y</p:attrName>
                                        </p:attrNameLst>
                                      </p:cBhvr>
                                      <p:tavLst>
                                        <p:tav tm="0">
                                          <p:val>
                                            <p:strVal val="#ppt_y"/>
                                          </p:val>
                                        </p:tav>
                                        <p:tav tm="100000">
                                          <p:val>
                                            <p:strVal val="#ppt_y"/>
                                          </p:val>
                                        </p:tav>
                                      </p:tavLst>
                                    </p:anim>
                                    <p:anim calcmode="lin" valueType="num">
                                      <p:cBhvr>
                                        <p:cTn id="15" dur="500" fill="hold"/>
                                        <p:tgtEl>
                                          <p:spTgt spid="23561"/>
                                        </p:tgtEl>
                                        <p:attrNameLst>
                                          <p:attrName>ppt_w</p:attrName>
                                        </p:attrNameLst>
                                      </p:cBhvr>
                                      <p:tavLst>
                                        <p:tav tm="0">
                                          <p:val>
                                            <p:fltVal val="0"/>
                                          </p:val>
                                        </p:tav>
                                        <p:tav tm="100000">
                                          <p:val>
                                            <p:strVal val="#ppt_w"/>
                                          </p:val>
                                        </p:tav>
                                      </p:tavLst>
                                    </p:anim>
                                    <p:anim calcmode="lin" valueType="num">
                                      <p:cBhvr>
                                        <p:cTn id="16" dur="500" fill="hold"/>
                                        <p:tgtEl>
                                          <p:spTgt spid="2356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0" grpId="0" autoUpdateAnimBg="0"/>
      <p:bldP spid="23561"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0418D4B-D51C-4C3A-9DF0-D79C01FF54A6}"/>
              </a:ext>
            </a:extLst>
          </p:cNvPr>
          <p:cNvSpPr>
            <a:spLocks noGrp="1" noChangeArrowheads="1"/>
          </p:cNvSpPr>
          <p:nvPr>
            <p:ph type="title"/>
          </p:nvPr>
        </p:nvSpPr>
        <p:spPr>
          <a:xfrm>
            <a:off x="419100" y="210757"/>
            <a:ext cx="8305800" cy="743712"/>
          </a:xfrm>
        </p:spPr>
        <p:txBody>
          <a:bodyPr>
            <a:normAutofit/>
          </a:bodyPr>
          <a:lstStyle/>
          <a:p>
            <a:pPr algn="ctr" eaLnBrk="1" hangingPunct="1"/>
            <a:r>
              <a:rPr lang="en-US" altLang="en-US" b="1" dirty="0">
                <a:solidFill>
                  <a:srgbClr val="0000FF"/>
                </a:solidFill>
              </a:rPr>
              <a:t>The Capital Structure Decision</a:t>
            </a:r>
          </a:p>
        </p:txBody>
      </p:sp>
      <p:sp>
        <p:nvSpPr>
          <p:cNvPr id="24579" name="Text Box 3">
            <a:extLst>
              <a:ext uri="{FF2B5EF4-FFF2-40B4-BE49-F238E27FC236}">
                <a16:creationId xmlns:a16="http://schemas.microsoft.com/office/drawing/2014/main" id="{E9F9D0A4-D59E-43EE-BF2E-DF95AE2B5909}"/>
              </a:ext>
            </a:extLst>
          </p:cNvPr>
          <p:cNvSpPr txBox="1">
            <a:spLocks noChangeArrowheads="1"/>
          </p:cNvSpPr>
          <p:nvPr/>
        </p:nvSpPr>
        <p:spPr bwMode="auto">
          <a:xfrm>
            <a:off x="3657600" y="3386138"/>
            <a:ext cx="24384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r>
              <a:rPr lang="en-US" altLang="en-US" sz="2500" dirty="0">
                <a:solidFill>
                  <a:srgbClr val="00B050"/>
                </a:solidFill>
              </a:rPr>
              <a:t>How should the firm raise funds for the selected investments?</a:t>
            </a:r>
          </a:p>
        </p:txBody>
      </p:sp>
      <p:sp>
        <p:nvSpPr>
          <p:cNvPr id="24580" name="AutoShape 4">
            <a:extLst>
              <a:ext uri="{FF2B5EF4-FFF2-40B4-BE49-F238E27FC236}">
                <a16:creationId xmlns:a16="http://schemas.microsoft.com/office/drawing/2014/main" id="{54B8BFF4-7094-4402-A470-663CB825E4A8}"/>
              </a:ext>
            </a:extLst>
          </p:cNvPr>
          <p:cNvSpPr>
            <a:spLocks/>
          </p:cNvSpPr>
          <p:nvPr/>
        </p:nvSpPr>
        <p:spPr bwMode="auto">
          <a:xfrm>
            <a:off x="5943600" y="1981200"/>
            <a:ext cx="762000" cy="4419600"/>
          </a:xfrm>
          <a:prstGeom prst="leftBrace">
            <a:avLst>
              <a:gd name="adj1" fmla="val 48333"/>
              <a:gd name="adj2" fmla="val 50000"/>
            </a:avLst>
          </a:prstGeom>
          <a:noFill/>
          <a:ln w="38100">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endParaRPr lang="en-US" altLang="en-US"/>
          </a:p>
        </p:txBody>
      </p:sp>
      <p:sp>
        <p:nvSpPr>
          <p:cNvPr id="9221" name="Text Box 6">
            <a:extLst>
              <a:ext uri="{FF2B5EF4-FFF2-40B4-BE49-F238E27FC236}">
                <a16:creationId xmlns:a16="http://schemas.microsoft.com/office/drawing/2014/main" id="{654CDBC6-3345-4E67-B9CE-B0C3E708178C}"/>
              </a:ext>
            </a:extLst>
          </p:cNvPr>
          <p:cNvSpPr txBox="1">
            <a:spLocks noChangeArrowheads="1"/>
          </p:cNvSpPr>
          <p:nvPr/>
        </p:nvSpPr>
        <p:spPr bwMode="auto">
          <a:xfrm>
            <a:off x="1676400" y="1968500"/>
            <a:ext cx="1981200" cy="1917700"/>
          </a:xfrm>
          <a:prstGeom prst="rect">
            <a:avLst/>
          </a:prstGeom>
          <a:gradFill rotWithShape="0">
            <a:gsLst>
              <a:gs pos="0">
                <a:srgbClr val="FF9933"/>
              </a:gs>
              <a:gs pos="100000">
                <a:srgbClr val="B1011E"/>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endParaRPr lang="en-US" altLang="en-US" sz="2400">
              <a:solidFill>
                <a:schemeClr val="bg2"/>
              </a:solidFill>
            </a:endParaRPr>
          </a:p>
          <a:p>
            <a:pPr algn="ctr">
              <a:spcBef>
                <a:spcPct val="50000"/>
              </a:spcBef>
            </a:pPr>
            <a:r>
              <a:rPr lang="en-US" altLang="en-US" sz="2400">
                <a:solidFill>
                  <a:schemeClr val="bg2"/>
                </a:solidFill>
              </a:rPr>
              <a:t>Current Assets</a:t>
            </a:r>
          </a:p>
          <a:p>
            <a:pPr algn="ctr">
              <a:spcBef>
                <a:spcPct val="50000"/>
              </a:spcBef>
            </a:pPr>
            <a:endParaRPr lang="en-US" altLang="en-US" sz="2400">
              <a:solidFill>
                <a:schemeClr val="bg2"/>
              </a:solidFill>
            </a:endParaRPr>
          </a:p>
        </p:txBody>
      </p:sp>
      <p:sp>
        <p:nvSpPr>
          <p:cNvPr id="9222" name="Text Box 7">
            <a:extLst>
              <a:ext uri="{FF2B5EF4-FFF2-40B4-BE49-F238E27FC236}">
                <a16:creationId xmlns:a16="http://schemas.microsoft.com/office/drawing/2014/main" id="{2C9477A9-C4B7-4981-A545-056841E1587E}"/>
              </a:ext>
            </a:extLst>
          </p:cNvPr>
          <p:cNvSpPr txBox="1">
            <a:spLocks noChangeArrowheads="1"/>
          </p:cNvSpPr>
          <p:nvPr/>
        </p:nvSpPr>
        <p:spPr bwMode="auto">
          <a:xfrm>
            <a:off x="1676400" y="4343400"/>
            <a:ext cx="1981200" cy="2100263"/>
          </a:xfrm>
          <a:prstGeom prst="rect">
            <a:avLst/>
          </a:prstGeom>
          <a:gradFill rotWithShape="0">
            <a:gsLst>
              <a:gs pos="0">
                <a:srgbClr val="FF9933"/>
              </a:gs>
              <a:gs pos="100000">
                <a:srgbClr val="B1011E"/>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sz="2400">
                <a:solidFill>
                  <a:schemeClr val="bg2"/>
                </a:solidFill>
              </a:rPr>
              <a:t>Fixed Assets</a:t>
            </a:r>
          </a:p>
          <a:p>
            <a:pPr algn="ctr">
              <a:spcBef>
                <a:spcPct val="50000"/>
              </a:spcBef>
            </a:pPr>
            <a:r>
              <a:rPr lang="en-US" altLang="en-US" sz="2400">
                <a:solidFill>
                  <a:schemeClr val="bg2"/>
                </a:solidFill>
              </a:rPr>
              <a:t>1 Tangible</a:t>
            </a:r>
          </a:p>
          <a:p>
            <a:pPr algn="ctr">
              <a:spcBef>
                <a:spcPct val="50000"/>
              </a:spcBef>
            </a:pPr>
            <a:r>
              <a:rPr lang="en-US" altLang="en-US" sz="2400">
                <a:solidFill>
                  <a:schemeClr val="bg2"/>
                </a:solidFill>
              </a:rPr>
              <a:t>  2 Intangible</a:t>
            </a:r>
          </a:p>
          <a:p>
            <a:pPr algn="ctr">
              <a:spcBef>
                <a:spcPct val="50000"/>
              </a:spcBef>
            </a:pPr>
            <a:endParaRPr lang="en-US" altLang="en-US" sz="2400">
              <a:solidFill>
                <a:schemeClr val="bg2"/>
              </a:solidFill>
            </a:endParaRPr>
          </a:p>
        </p:txBody>
      </p:sp>
      <p:sp>
        <p:nvSpPr>
          <p:cNvPr id="9223" name="Text Box 8">
            <a:extLst>
              <a:ext uri="{FF2B5EF4-FFF2-40B4-BE49-F238E27FC236}">
                <a16:creationId xmlns:a16="http://schemas.microsoft.com/office/drawing/2014/main" id="{51D3A62F-7D7C-4060-BA47-6A682FF360F8}"/>
              </a:ext>
            </a:extLst>
          </p:cNvPr>
          <p:cNvSpPr txBox="1">
            <a:spLocks noChangeArrowheads="1"/>
          </p:cNvSpPr>
          <p:nvPr/>
        </p:nvSpPr>
        <p:spPr bwMode="auto">
          <a:xfrm>
            <a:off x="6934200" y="4495800"/>
            <a:ext cx="1981200" cy="1917700"/>
          </a:xfrm>
          <a:prstGeom prst="rect">
            <a:avLst/>
          </a:prstGeom>
          <a:gradFill rotWithShape="0">
            <a:gsLst>
              <a:gs pos="0">
                <a:srgbClr val="FF9933"/>
              </a:gs>
              <a:gs pos="100000">
                <a:srgbClr val="990000"/>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endParaRPr lang="en-US" altLang="en-US" sz="2400">
              <a:solidFill>
                <a:schemeClr val="bg2"/>
              </a:solidFill>
            </a:endParaRPr>
          </a:p>
          <a:p>
            <a:pPr algn="ctr">
              <a:spcBef>
                <a:spcPct val="50000"/>
              </a:spcBef>
            </a:pPr>
            <a:r>
              <a:rPr lang="en-US" altLang="en-US" sz="2400">
                <a:solidFill>
                  <a:schemeClr val="bg2"/>
                </a:solidFill>
              </a:rPr>
              <a:t>Shareholders’ Equity</a:t>
            </a:r>
          </a:p>
          <a:p>
            <a:pPr algn="ctr">
              <a:spcBef>
                <a:spcPct val="50000"/>
              </a:spcBef>
            </a:pPr>
            <a:endParaRPr lang="en-US" altLang="en-US" sz="2400">
              <a:solidFill>
                <a:schemeClr val="bg2"/>
              </a:solidFill>
            </a:endParaRPr>
          </a:p>
        </p:txBody>
      </p:sp>
      <p:sp>
        <p:nvSpPr>
          <p:cNvPr id="9224" name="Text Box 9">
            <a:extLst>
              <a:ext uri="{FF2B5EF4-FFF2-40B4-BE49-F238E27FC236}">
                <a16:creationId xmlns:a16="http://schemas.microsoft.com/office/drawing/2014/main" id="{2B30EA76-0CBE-4A4A-B115-25855E4C3DAC}"/>
              </a:ext>
            </a:extLst>
          </p:cNvPr>
          <p:cNvSpPr txBox="1">
            <a:spLocks noChangeArrowheads="1"/>
          </p:cNvSpPr>
          <p:nvPr/>
        </p:nvSpPr>
        <p:spPr bwMode="auto">
          <a:xfrm>
            <a:off x="6934200" y="1905000"/>
            <a:ext cx="1981200" cy="822325"/>
          </a:xfrm>
          <a:prstGeom prst="rect">
            <a:avLst/>
          </a:prstGeom>
          <a:gradFill rotWithShape="0">
            <a:gsLst>
              <a:gs pos="0">
                <a:srgbClr val="FF9933"/>
              </a:gs>
              <a:gs pos="100000">
                <a:srgbClr val="990000"/>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sz="2400">
                <a:solidFill>
                  <a:schemeClr val="bg2"/>
                </a:solidFill>
              </a:rPr>
              <a:t>Current Liabilities</a:t>
            </a:r>
          </a:p>
        </p:txBody>
      </p:sp>
      <p:sp>
        <p:nvSpPr>
          <p:cNvPr id="9225" name="Text Box 10">
            <a:extLst>
              <a:ext uri="{FF2B5EF4-FFF2-40B4-BE49-F238E27FC236}">
                <a16:creationId xmlns:a16="http://schemas.microsoft.com/office/drawing/2014/main" id="{81AF5649-8FD2-4D24-990E-5731DD4E2913}"/>
              </a:ext>
            </a:extLst>
          </p:cNvPr>
          <p:cNvSpPr txBox="1">
            <a:spLocks noChangeArrowheads="1"/>
          </p:cNvSpPr>
          <p:nvPr/>
        </p:nvSpPr>
        <p:spPr bwMode="auto">
          <a:xfrm>
            <a:off x="6934200" y="2895600"/>
            <a:ext cx="1981200" cy="1370013"/>
          </a:xfrm>
          <a:prstGeom prst="rect">
            <a:avLst/>
          </a:prstGeom>
          <a:gradFill rotWithShape="0">
            <a:gsLst>
              <a:gs pos="0">
                <a:srgbClr val="FF9933"/>
              </a:gs>
              <a:gs pos="100000">
                <a:srgbClr val="990000"/>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sz="2400">
                <a:solidFill>
                  <a:schemeClr val="bg2"/>
                </a:solidFill>
              </a:rPr>
              <a:t>Long-Term Debt</a:t>
            </a:r>
          </a:p>
          <a:p>
            <a:pPr algn="ctr">
              <a:spcBef>
                <a:spcPct val="50000"/>
              </a:spcBef>
            </a:pPr>
            <a:endParaRPr lang="en-US" altLang="en-US" sz="2400">
              <a:solidFill>
                <a:schemeClr val="bg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4579"/>
                                        </p:tgtEl>
                                        <p:attrNameLst>
                                          <p:attrName>style.visibility</p:attrName>
                                        </p:attrNameLst>
                                      </p:cBhvr>
                                      <p:to>
                                        <p:strVal val="visible"/>
                                      </p:to>
                                    </p:set>
                                    <p:animEffect transition="in" filter="fade">
                                      <p:cBhvr>
                                        <p:cTn id="7" dur="1000"/>
                                        <p:tgtEl>
                                          <p:spTgt spid="24579"/>
                                        </p:tgtEl>
                                      </p:cBhvr>
                                    </p:animEffect>
                                    <p:anim calcmode="lin" valueType="num">
                                      <p:cBhvr>
                                        <p:cTn id="8" dur="1000" fill="hold"/>
                                        <p:tgtEl>
                                          <p:spTgt spid="24579"/>
                                        </p:tgtEl>
                                        <p:attrNameLst>
                                          <p:attrName>ppt_x</p:attrName>
                                        </p:attrNameLst>
                                      </p:cBhvr>
                                      <p:tavLst>
                                        <p:tav tm="0">
                                          <p:val>
                                            <p:strVal val="#ppt_x"/>
                                          </p:val>
                                        </p:tav>
                                        <p:tav tm="100000">
                                          <p:val>
                                            <p:strVal val="#ppt_x"/>
                                          </p:val>
                                        </p:tav>
                                      </p:tavLst>
                                    </p:anim>
                                    <p:anim calcmode="lin" valueType="num">
                                      <p:cBhvr>
                                        <p:cTn id="9" dur="1000" fill="hold"/>
                                        <p:tgtEl>
                                          <p:spTgt spid="24579"/>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17" presetClass="entr" presetSubtype="8" fill="hold" grpId="0" nodeType="afterEffect">
                                  <p:stCondLst>
                                    <p:cond delay="0"/>
                                  </p:stCondLst>
                                  <p:childTnLst>
                                    <p:set>
                                      <p:cBhvr>
                                        <p:cTn id="12" dur="1" fill="hold">
                                          <p:stCondLst>
                                            <p:cond delay="0"/>
                                          </p:stCondLst>
                                        </p:cTn>
                                        <p:tgtEl>
                                          <p:spTgt spid="24580"/>
                                        </p:tgtEl>
                                        <p:attrNameLst>
                                          <p:attrName>style.visibility</p:attrName>
                                        </p:attrNameLst>
                                      </p:cBhvr>
                                      <p:to>
                                        <p:strVal val="visible"/>
                                      </p:to>
                                    </p:set>
                                    <p:anim calcmode="lin" valueType="num">
                                      <p:cBhvr>
                                        <p:cTn id="13" dur="500" fill="hold"/>
                                        <p:tgtEl>
                                          <p:spTgt spid="24580"/>
                                        </p:tgtEl>
                                        <p:attrNameLst>
                                          <p:attrName>ppt_x</p:attrName>
                                        </p:attrNameLst>
                                      </p:cBhvr>
                                      <p:tavLst>
                                        <p:tav tm="0">
                                          <p:val>
                                            <p:strVal val="#ppt_x-#ppt_w/2"/>
                                          </p:val>
                                        </p:tav>
                                        <p:tav tm="100000">
                                          <p:val>
                                            <p:strVal val="#ppt_x"/>
                                          </p:val>
                                        </p:tav>
                                      </p:tavLst>
                                    </p:anim>
                                    <p:anim calcmode="lin" valueType="num">
                                      <p:cBhvr>
                                        <p:cTn id="14" dur="500" fill="hold"/>
                                        <p:tgtEl>
                                          <p:spTgt spid="24580"/>
                                        </p:tgtEl>
                                        <p:attrNameLst>
                                          <p:attrName>ppt_y</p:attrName>
                                        </p:attrNameLst>
                                      </p:cBhvr>
                                      <p:tavLst>
                                        <p:tav tm="0">
                                          <p:val>
                                            <p:strVal val="#ppt_y"/>
                                          </p:val>
                                        </p:tav>
                                        <p:tav tm="100000">
                                          <p:val>
                                            <p:strVal val="#ppt_y"/>
                                          </p:val>
                                        </p:tav>
                                      </p:tavLst>
                                    </p:anim>
                                    <p:anim calcmode="lin" valueType="num">
                                      <p:cBhvr>
                                        <p:cTn id="15" dur="500" fill="hold"/>
                                        <p:tgtEl>
                                          <p:spTgt spid="24580"/>
                                        </p:tgtEl>
                                        <p:attrNameLst>
                                          <p:attrName>ppt_w</p:attrName>
                                        </p:attrNameLst>
                                      </p:cBhvr>
                                      <p:tavLst>
                                        <p:tav tm="0">
                                          <p:val>
                                            <p:fltVal val="0"/>
                                          </p:val>
                                        </p:tav>
                                        <p:tav tm="100000">
                                          <p:val>
                                            <p:strVal val="#ppt_w"/>
                                          </p:val>
                                        </p:tav>
                                      </p:tavLst>
                                    </p:anim>
                                    <p:anim calcmode="lin" valueType="num">
                                      <p:cBhvr>
                                        <p:cTn id="16" dur="500" fill="hold"/>
                                        <p:tgtEl>
                                          <p:spTgt spid="2458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p:bldP spid="2458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CAC95-3760-4010-8312-744FB96BFFBC}"/>
              </a:ext>
            </a:extLst>
          </p:cNvPr>
          <p:cNvSpPr>
            <a:spLocks noGrp="1"/>
          </p:cNvSpPr>
          <p:nvPr>
            <p:ph type="title"/>
          </p:nvPr>
        </p:nvSpPr>
        <p:spPr>
          <a:xfrm>
            <a:off x="457200" y="565484"/>
            <a:ext cx="8229600" cy="1192804"/>
          </a:xfrm>
        </p:spPr>
        <p:txBody>
          <a:bodyPr>
            <a:normAutofit fontScale="90000"/>
          </a:bodyPr>
          <a:lstStyle/>
          <a:p>
            <a:pPr algn="ctr"/>
            <a:r>
              <a:rPr lang="en-US" sz="4000" b="1" dirty="0">
                <a:solidFill>
                  <a:srgbClr val="0000FF"/>
                </a:solidFill>
                <a:effectLst/>
                <a:ea typeface="Times New Roman" panose="02020603050405020304" pitchFamily="18" charset="0"/>
                <a:cs typeface="Times New Roman" panose="02020603050405020304" pitchFamily="18" charset="0"/>
              </a:rPr>
              <a:t>Ethical Issues for Finance Professionals</a:t>
            </a:r>
            <a:br>
              <a:rPr lang="en-US" sz="4000" b="1" dirty="0">
                <a:solidFill>
                  <a:srgbClr val="0000FF"/>
                </a:solidFill>
                <a:effectLst/>
                <a:ea typeface="Times New Roman" panose="02020603050405020304" pitchFamily="18"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sz="4000" dirty="0"/>
          </a:p>
        </p:txBody>
      </p:sp>
      <p:sp>
        <p:nvSpPr>
          <p:cNvPr id="3" name="Content Placeholder 2">
            <a:extLst>
              <a:ext uri="{FF2B5EF4-FFF2-40B4-BE49-F238E27FC236}">
                <a16:creationId xmlns:a16="http://schemas.microsoft.com/office/drawing/2014/main" id="{0F3EF45F-0B38-494E-917B-D359252F7955}"/>
              </a:ext>
            </a:extLst>
          </p:cNvPr>
          <p:cNvSpPr>
            <a:spLocks noGrp="1"/>
          </p:cNvSpPr>
          <p:nvPr>
            <p:ph idx="1"/>
          </p:nvPr>
        </p:nvSpPr>
        <p:spPr>
          <a:xfrm>
            <a:off x="228600" y="1981200"/>
            <a:ext cx="8229600" cy="4648200"/>
          </a:xfrm>
        </p:spPr>
        <p:txBody>
          <a:bodyPr>
            <a:noAutofit/>
          </a:bodyPr>
          <a:lstStyle/>
          <a:p>
            <a:r>
              <a:rPr lang="en-US" sz="2600" b="1" spc="15" dirty="0">
                <a:solidFill>
                  <a:srgbClr val="000000"/>
                </a:solidFill>
                <a:effectLst/>
                <a:latin typeface="+mj-lt"/>
                <a:ea typeface="Calibri" panose="020F0502020204030204" pitchFamily="34" charset="0"/>
                <a:cs typeface="Calibri" panose="020F0502020204030204" pitchFamily="34" charset="0"/>
              </a:rPr>
              <a:t>Financial managers </a:t>
            </a:r>
            <a:r>
              <a:rPr lang="en-US" sz="2600" spc="15" dirty="0">
                <a:solidFill>
                  <a:srgbClr val="000000"/>
                </a:solidFill>
                <a:effectLst/>
                <a:latin typeface="+mj-lt"/>
                <a:ea typeface="Calibri" panose="020F0502020204030204" pitchFamily="34" charset="0"/>
                <a:cs typeface="Calibri" panose="020F0502020204030204" pitchFamily="34" charset="0"/>
              </a:rPr>
              <a:t>prepare reports, oversee accounting functions, plan investment strategies and direct cash management functions. They also are involved in branch management functions at banks and other financial institutions. </a:t>
            </a:r>
            <a:endParaRPr lang="en-US" sz="2600" spc="15" dirty="0" smtClean="0">
              <a:solidFill>
                <a:srgbClr val="000000"/>
              </a:solidFill>
              <a:effectLst/>
              <a:latin typeface="+mj-lt"/>
              <a:ea typeface="Calibri" panose="020F0502020204030204" pitchFamily="34" charset="0"/>
              <a:cs typeface="Calibri" panose="020F0502020204030204" pitchFamily="34" charset="0"/>
            </a:endParaRPr>
          </a:p>
          <a:p>
            <a:endParaRPr lang="en-US" sz="2600" spc="15" dirty="0" smtClean="0">
              <a:solidFill>
                <a:srgbClr val="000000"/>
              </a:solidFill>
              <a:effectLst/>
              <a:latin typeface="+mj-lt"/>
              <a:ea typeface="Calibri" panose="020F0502020204030204" pitchFamily="34" charset="0"/>
              <a:cs typeface="Calibri" panose="020F0502020204030204" pitchFamily="34" charset="0"/>
            </a:endParaRPr>
          </a:p>
          <a:p>
            <a:r>
              <a:rPr lang="en-US" sz="2600" b="1" i="1" spc="15" dirty="0" smtClean="0">
                <a:solidFill>
                  <a:srgbClr val="000000"/>
                </a:solidFill>
                <a:effectLst/>
                <a:latin typeface="+mj-lt"/>
                <a:ea typeface="Calibri" panose="020F0502020204030204" pitchFamily="34" charset="0"/>
                <a:cs typeface="Calibri" panose="020F0502020204030204" pitchFamily="34" charset="0"/>
              </a:rPr>
              <a:t>They </a:t>
            </a:r>
            <a:r>
              <a:rPr lang="en-US" sz="2600" b="1" i="1" spc="15" dirty="0">
                <a:solidFill>
                  <a:srgbClr val="000000"/>
                </a:solidFill>
                <a:effectLst/>
                <a:latin typeface="+mj-lt"/>
                <a:ea typeface="Calibri" panose="020F0502020204030204" pitchFamily="34" charset="0"/>
                <a:cs typeface="Calibri" panose="020F0502020204030204" pitchFamily="34" charset="0"/>
              </a:rPr>
              <a:t>are required to uphold the highest ethical standards because internal and external stakeholders depend on transparent, timely and complete financial documents to make decisions.</a:t>
            </a:r>
          </a:p>
          <a:p>
            <a:pPr marL="0" indent="0">
              <a:buNone/>
            </a:pPr>
            <a:endParaRPr lang="en-US" sz="1000" dirty="0">
              <a:effectLst/>
              <a:latin typeface="+mj-lt"/>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8A44255-7517-4C17-8603-6CDBBC6A9BFC}"/>
              </a:ext>
            </a:extLst>
          </p:cNvPr>
          <p:cNvSpPr>
            <a:spLocks noGrp="1"/>
          </p:cNvSpPr>
          <p:nvPr>
            <p:ph type="sldNum" sz="quarter" idx="12"/>
          </p:nvPr>
        </p:nvSpPr>
        <p:spPr/>
        <p:txBody>
          <a:bodyPr/>
          <a:lstStyle/>
          <a:p>
            <a:pPr>
              <a:defRPr/>
            </a:pPr>
            <a:fld id="{7CD637C6-3A19-4914-A616-01A59BB83BF2}" type="slidenum">
              <a:rPr lang="en-US" smtClean="0"/>
              <a:pPr>
                <a:defRPr/>
              </a:pPr>
              <a:t>44</a:t>
            </a:fld>
            <a:endParaRPr lang="en-US"/>
          </a:p>
        </p:txBody>
      </p:sp>
    </p:spTree>
    <p:extLst>
      <p:ext uri="{BB962C8B-B14F-4D97-AF65-F5344CB8AC3E}">
        <p14:creationId xmlns:p14="http://schemas.microsoft.com/office/powerpoint/2010/main" val="39806196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CAC95-3760-4010-8312-744FB96BFFBC}"/>
              </a:ext>
            </a:extLst>
          </p:cNvPr>
          <p:cNvSpPr>
            <a:spLocks noGrp="1"/>
          </p:cNvSpPr>
          <p:nvPr>
            <p:ph type="title"/>
          </p:nvPr>
        </p:nvSpPr>
        <p:spPr>
          <a:xfrm>
            <a:off x="457200" y="304800"/>
            <a:ext cx="8229600" cy="1192804"/>
          </a:xfrm>
        </p:spPr>
        <p:txBody>
          <a:bodyPr>
            <a:normAutofit fontScale="90000"/>
          </a:bodyPr>
          <a:lstStyle/>
          <a:p>
            <a:pPr algn="ctr"/>
            <a:r>
              <a:rPr lang="en-US" sz="4000" b="1" dirty="0">
                <a:solidFill>
                  <a:srgbClr val="0000FF"/>
                </a:solidFill>
                <a:effectLst/>
                <a:ea typeface="Times New Roman" panose="02020603050405020304" pitchFamily="18" charset="0"/>
                <a:cs typeface="Times New Roman" panose="02020603050405020304" pitchFamily="18" charset="0"/>
              </a:rPr>
              <a:t>Ethical Issues for Finance Professionals</a:t>
            </a:r>
            <a:br>
              <a:rPr lang="en-US" sz="4000" b="1" dirty="0">
                <a:solidFill>
                  <a:srgbClr val="0000FF"/>
                </a:solidFill>
                <a:effectLst/>
                <a:ea typeface="Times New Roman" panose="02020603050405020304" pitchFamily="18"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sz="4000" dirty="0"/>
          </a:p>
        </p:txBody>
      </p:sp>
      <p:sp>
        <p:nvSpPr>
          <p:cNvPr id="3" name="Content Placeholder 2">
            <a:extLst>
              <a:ext uri="{FF2B5EF4-FFF2-40B4-BE49-F238E27FC236}">
                <a16:creationId xmlns:a16="http://schemas.microsoft.com/office/drawing/2014/main" id="{0F3EF45F-0B38-494E-917B-D359252F7955}"/>
              </a:ext>
            </a:extLst>
          </p:cNvPr>
          <p:cNvSpPr>
            <a:spLocks noGrp="1"/>
          </p:cNvSpPr>
          <p:nvPr>
            <p:ph idx="1"/>
          </p:nvPr>
        </p:nvSpPr>
        <p:spPr>
          <a:xfrm>
            <a:off x="304800" y="1497604"/>
            <a:ext cx="7924800" cy="4648200"/>
          </a:xfrm>
        </p:spPr>
        <p:txBody>
          <a:bodyPr>
            <a:noAutofit/>
          </a:bodyPr>
          <a:lstStyle/>
          <a:p>
            <a:pPr algn="just"/>
            <a:r>
              <a:rPr lang="en-US" sz="2600" b="1" dirty="0">
                <a:solidFill>
                  <a:srgbClr val="111111"/>
                </a:solidFill>
                <a:ea typeface="Calibri" panose="020F0502020204030204" pitchFamily="34" charset="0"/>
                <a:cs typeface="Calibri" panose="020F0502020204030204" pitchFamily="34" charset="0"/>
              </a:rPr>
              <a:t>Financial advisors</a:t>
            </a:r>
            <a:r>
              <a:rPr lang="en-US" sz="2600" dirty="0">
                <a:solidFill>
                  <a:srgbClr val="111111"/>
                </a:solidFill>
                <a:ea typeface="Calibri" panose="020F0502020204030204" pitchFamily="34" charset="0"/>
                <a:cs typeface="Calibri" panose="020F0502020204030204" pitchFamily="34" charset="0"/>
              </a:rPr>
              <a:t> manage assets and money matters for individuals who often have less knowledge and savvy about the markets and finance in general.</a:t>
            </a:r>
            <a:r>
              <a:rPr lang="en-US" sz="2600" dirty="0">
                <a:solidFill>
                  <a:srgbClr val="111111"/>
                </a:solidFill>
                <a:ea typeface="Calibri" panose="020F0502020204030204" pitchFamily="34" charset="0"/>
                <a:cs typeface="Times New Roman" panose="02020603050405020304" pitchFamily="18" charset="0"/>
              </a:rPr>
              <a:t> </a:t>
            </a:r>
            <a:endParaRPr lang="en-US" sz="2600" dirty="0" smtClean="0">
              <a:solidFill>
                <a:srgbClr val="111111"/>
              </a:solidFill>
              <a:ea typeface="Calibri" panose="020F0502020204030204" pitchFamily="34" charset="0"/>
              <a:cs typeface="Times New Roman" panose="02020603050405020304" pitchFamily="18" charset="0"/>
            </a:endParaRPr>
          </a:p>
          <a:p>
            <a:pPr algn="just"/>
            <a:endParaRPr lang="en-US" sz="2600" dirty="0" smtClean="0">
              <a:solidFill>
                <a:srgbClr val="111111"/>
              </a:solidFill>
              <a:ea typeface="Calibri" panose="020F0502020204030204" pitchFamily="34" charset="0"/>
              <a:cs typeface="Times New Roman" panose="02020603050405020304" pitchFamily="18" charset="0"/>
            </a:endParaRPr>
          </a:p>
          <a:p>
            <a:pPr algn="just"/>
            <a:r>
              <a:rPr lang="en-US" sz="2600" b="1" i="1" dirty="0" smtClean="0">
                <a:solidFill>
                  <a:srgbClr val="111111"/>
                </a:solidFill>
                <a:ea typeface="Calibri" panose="020F0502020204030204" pitchFamily="34" charset="0"/>
                <a:cs typeface="Times New Roman" panose="02020603050405020304" pitchFamily="18" charset="0"/>
              </a:rPr>
              <a:t>They </a:t>
            </a:r>
            <a:r>
              <a:rPr lang="en-US" sz="2600" b="1" i="1" dirty="0">
                <a:solidFill>
                  <a:srgbClr val="111111"/>
                </a:solidFill>
                <a:ea typeface="Calibri" panose="020F0502020204030204" pitchFamily="34" charset="0"/>
                <a:cs typeface="Times New Roman" panose="02020603050405020304" pitchFamily="18" charset="0"/>
              </a:rPr>
              <a:t>must undertake </a:t>
            </a:r>
            <a:r>
              <a:rPr lang="en-US" sz="2600" b="1" i="1" dirty="0">
                <a:solidFill>
                  <a:srgbClr val="111111"/>
                </a:solidFill>
                <a:ea typeface="Calibri" panose="020F0502020204030204" pitchFamily="34" charset="0"/>
              </a:rPr>
              <a:t>ethical transaction. It occurs when a client truly understands the ramifications of the advisor’s recommendations and is willing to go forward, assuming that all pertinent laws and regulations are being obeyed.</a:t>
            </a:r>
            <a:endParaRPr lang="en-US" sz="2600" b="1" i="1" dirty="0"/>
          </a:p>
          <a:p>
            <a:pPr marL="0" indent="0">
              <a:buNone/>
            </a:pPr>
            <a:endParaRPr lang="en-US" sz="1000" dirty="0">
              <a:effectLst/>
              <a:latin typeface="+mj-lt"/>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8A44255-7517-4C17-8603-6CDBBC6A9BFC}"/>
              </a:ext>
            </a:extLst>
          </p:cNvPr>
          <p:cNvSpPr>
            <a:spLocks noGrp="1"/>
          </p:cNvSpPr>
          <p:nvPr>
            <p:ph type="sldNum" sz="quarter" idx="12"/>
          </p:nvPr>
        </p:nvSpPr>
        <p:spPr/>
        <p:txBody>
          <a:bodyPr/>
          <a:lstStyle/>
          <a:p>
            <a:pPr>
              <a:defRPr/>
            </a:pPr>
            <a:fld id="{7CD637C6-3A19-4914-A616-01A59BB83BF2}" type="slidenum">
              <a:rPr lang="en-US" smtClean="0"/>
              <a:pPr>
                <a:defRPr/>
              </a:pPr>
              <a:t>45</a:t>
            </a:fld>
            <a:endParaRPr lang="en-US"/>
          </a:p>
        </p:txBody>
      </p:sp>
    </p:spTree>
    <p:extLst>
      <p:ext uri="{BB962C8B-B14F-4D97-AF65-F5344CB8AC3E}">
        <p14:creationId xmlns:p14="http://schemas.microsoft.com/office/powerpoint/2010/main" val="385600555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9DC543-4379-4024-B95F-7E8829716822}"/>
              </a:ext>
            </a:extLst>
          </p:cNvPr>
          <p:cNvSpPr>
            <a:spLocks noGrp="1"/>
          </p:cNvSpPr>
          <p:nvPr>
            <p:ph idx="1"/>
          </p:nvPr>
        </p:nvSpPr>
        <p:spPr>
          <a:xfrm>
            <a:off x="457200" y="647700"/>
            <a:ext cx="8229600" cy="5562600"/>
          </a:xfrm>
        </p:spPr>
        <p:txBody>
          <a:bodyPr>
            <a:normAutofit/>
          </a:bodyPr>
          <a:lstStyle/>
          <a:p>
            <a:pPr marL="0" indent="0" algn="ctr">
              <a:buNone/>
            </a:pPr>
            <a:endParaRPr lang="en-US" sz="4000" dirty="0"/>
          </a:p>
          <a:p>
            <a:pPr marL="0" indent="0" algn="ctr">
              <a:buNone/>
            </a:pPr>
            <a:endParaRPr lang="en-US" sz="4000" dirty="0"/>
          </a:p>
          <a:p>
            <a:pPr marL="0" indent="0" algn="ctr">
              <a:buNone/>
            </a:pPr>
            <a:r>
              <a:rPr lang="en-US" sz="4000" b="1" dirty="0" smtClean="0">
                <a:solidFill>
                  <a:srgbClr val="0000FF"/>
                </a:solidFill>
              </a:rPr>
              <a:t>Questions? / Comments?</a:t>
            </a:r>
            <a:endParaRPr lang="en-US" sz="4000" b="1" dirty="0">
              <a:solidFill>
                <a:srgbClr val="0000FF"/>
              </a:solidFill>
            </a:endParaRPr>
          </a:p>
          <a:p>
            <a:pPr marL="0" indent="0" algn="ctr">
              <a:buNone/>
            </a:pPr>
            <a:endParaRPr lang="en-US" sz="4000" b="1" dirty="0">
              <a:solidFill>
                <a:srgbClr val="0000FF"/>
              </a:solidFill>
            </a:endParaRPr>
          </a:p>
          <a:p>
            <a:pPr marL="0" indent="0" algn="ctr">
              <a:buNone/>
            </a:pPr>
            <a:r>
              <a:rPr lang="en-US" sz="4400" b="1" dirty="0" smtClean="0">
                <a:solidFill>
                  <a:srgbClr val="0000FF"/>
                </a:solidFill>
              </a:rPr>
              <a:t>Welcome!</a:t>
            </a:r>
            <a:endParaRPr lang="en-US" sz="4400" b="1" dirty="0">
              <a:solidFill>
                <a:srgbClr val="0000FF"/>
              </a:solidFill>
            </a:endParaRPr>
          </a:p>
        </p:txBody>
      </p:sp>
      <p:sp>
        <p:nvSpPr>
          <p:cNvPr id="4" name="Slide Number Placeholder 3">
            <a:extLst>
              <a:ext uri="{FF2B5EF4-FFF2-40B4-BE49-F238E27FC236}">
                <a16:creationId xmlns:a16="http://schemas.microsoft.com/office/drawing/2014/main" id="{84EB8ADC-4CA1-4A0C-9F86-F8E6A1B0461B}"/>
              </a:ext>
            </a:extLst>
          </p:cNvPr>
          <p:cNvSpPr>
            <a:spLocks noGrp="1"/>
          </p:cNvSpPr>
          <p:nvPr>
            <p:ph type="sldNum" sz="quarter" idx="12"/>
          </p:nvPr>
        </p:nvSpPr>
        <p:spPr/>
        <p:txBody>
          <a:bodyPr/>
          <a:lstStyle/>
          <a:p>
            <a:pPr>
              <a:defRPr/>
            </a:pPr>
            <a:fld id="{7CD637C6-3A19-4914-A616-01A59BB83BF2}" type="slidenum">
              <a:rPr lang="en-US" smtClean="0"/>
              <a:pPr>
                <a:defRPr/>
              </a:pPr>
              <a:t>46</a:t>
            </a:fld>
            <a:endParaRPr lang="en-US"/>
          </a:p>
        </p:txBody>
      </p:sp>
    </p:spTree>
    <p:extLst>
      <p:ext uri="{BB962C8B-B14F-4D97-AF65-F5344CB8AC3E}">
        <p14:creationId xmlns:p14="http://schemas.microsoft.com/office/powerpoint/2010/main" val="255875569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9"/>
          <p:cNvSpPr>
            <a:spLocks noGrp="1" noChangeArrowheads="1"/>
          </p:cNvSpPr>
          <p:nvPr>
            <p:ph type="title"/>
          </p:nvPr>
        </p:nvSpPr>
        <p:spPr>
          <a:xfrm>
            <a:off x="457200" y="446868"/>
            <a:ext cx="8229600" cy="772332"/>
          </a:xfrm>
        </p:spPr>
        <p:txBody>
          <a:bodyPr>
            <a:normAutofit/>
          </a:bodyPr>
          <a:lstStyle/>
          <a:p>
            <a:pPr algn="ctr" eaLnBrk="1" hangingPunct="1"/>
            <a:r>
              <a:rPr lang="en-US" b="1" dirty="0" smtClean="0">
                <a:solidFill>
                  <a:srgbClr val="0000FF"/>
                </a:solidFill>
              </a:rPr>
              <a:t>A few Simple Problems and Questions</a:t>
            </a:r>
            <a:endParaRPr lang="en-US" b="1" dirty="0">
              <a:solidFill>
                <a:srgbClr val="0000FF"/>
              </a:solidFill>
            </a:endParaRPr>
          </a:p>
        </p:txBody>
      </p:sp>
      <p:sp>
        <p:nvSpPr>
          <p:cNvPr id="4102" name="Rectangle 10"/>
          <p:cNvSpPr>
            <a:spLocks noGrp="1" noChangeArrowheads="1"/>
          </p:cNvSpPr>
          <p:nvPr>
            <p:ph idx="1"/>
          </p:nvPr>
        </p:nvSpPr>
        <p:spPr>
          <a:xfrm>
            <a:off x="457200" y="1371600"/>
            <a:ext cx="8229600" cy="5181600"/>
          </a:xfrm>
        </p:spPr>
        <p:txBody>
          <a:bodyPr>
            <a:normAutofit/>
          </a:bodyPr>
          <a:lstStyle/>
          <a:p>
            <a:pPr marL="457200" marR="0" indent="-457200">
              <a:lnSpc>
                <a:spcPct val="107000"/>
              </a:lnSpc>
              <a:spcBef>
                <a:spcPts val="0"/>
              </a:spcBef>
              <a:spcAft>
                <a:spcPts val="0"/>
              </a:spcAft>
            </a:pPr>
            <a:r>
              <a:rPr lang="en-US" sz="2800" dirty="0" smtClean="0">
                <a:solidFill>
                  <a:schemeClr val="tx1">
                    <a:lumMod val="85000"/>
                    <a:lumOff val="15000"/>
                  </a:schemeClr>
                </a:solidFill>
                <a:effectLst/>
                <a:latin typeface="Cambria" panose="02040503050406030204" pitchFamily="18" charset="0"/>
                <a:ea typeface="Cambria" panose="02040503050406030204" pitchFamily="18" charset="0"/>
                <a:cs typeface="Times New Roman" panose="02020603050405020304" pitchFamily="18" charset="0"/>
              </a:rPr>
              <a:t>Suppose you put Tk10,000 in a deposit account at BRAC </a:t>
            </a:r>
            <a:r>
              <a:rPr lang="en-US" sz="28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Bank. </a:t>
            </a:r>
          </a:p>
          <a:p>
            <a:pPr marL="0" marR="0" indent="0">
              <a:lnSpc>
                <a:spcPct val="107000"/>
              </a:lnSpc>
              <a:spcBef>
                <a:spcPts val="0"/>
              </a:spcBef>
              <a:spcAft>
                <a:spcPts val="0"/>
              </a:spcAft>
              <a:buNone/>
            </a:pPr>
            <a:endParaRPr lang="en-US" sz="16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857250" lvl="1" indent="-457200">
              <a:lnSpc>
                <a:spcPct val="107000"/>
              </a:lnSpc>
              <a:spcBef>
                <a:spcPts val="0"/>
              </a:spcBef>
            </a:pPr>
            <a:r>
              <a:rPr lang="en-US" sz="2400" b="1" i="1"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How much you expect to receive after 5 years if you earn 10% simple interest annually?</a:t>
            </a:r>
          </a:p>
          <a:p>
            <a:pPr marL="400050" lvl="1" indent="0">
              <a:lnSpc>
                <a:spcPct val="107000"/>
              </a:lnSpc>
              <a:spcBef>
                <a:spcPts val="0"/>
              </a:spcBef>
              <a:buNone/>
            </a:pPr>
            <a:r>
              <a:rPr lang="en-US" sz="26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a:t>
            </a:r>
            <a:r>
              <a:rPr lang="en-US" sz="12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a:t>
            </a:r>
          </a:p>
          <a:p>
            <a:pPr marL="400050" lvl="1" indent="0">
              <a:lnSpc>
                <a:spcPct val="107000"/>
              </a:lnSpc>
              <a:spcBef>
                <a:spcPts val="0"/>
              </a:spcBef>
              <a:buNone/>
            </a:pPr>
            <a:r>
              <a:rPr lang="en-US" sz="12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a:t>
            </a:r>
            <a:r>
              <a:rPr lang="en-US" sz="12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a:t>
            </a:r>
            <a:r>
              <a:rPr lang="en-US" sz="26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TK10,000 </a:t>
            </a:r>
            <a:r>
              <a:rPr lang="en-US" sz="26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a:t>
            </a:r>
            <a:r>
              <a:rPr lang="en-US" sz="26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TK10,000 (0.10</a:t>
            </a:r>
            <a:r>
              <a:rPr lang="en-US" sz="26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(5) = TK15,000.00</a:t>
            </a:r>
            <a:endParaRPr lang="en-US" sz="26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400050" lvl="1" indent="0">
              <a:lnSpc>
                <a:spcPct val="107000"/>
              </a:lnSpc>
              <a:spcBef>
                <a:spcPts val="0"/>
              </a:spcBef>
              <a:buNone/>
            </a:pPr>
            <a:endParaRPr lang="en-US" sz="12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857250" lvl="1" indent="-457200">
              <a:lnSpc>
                <a:spcPct val="107000"/>
              </a:lnSpc>
              <a:spcBef>
                <a:spcPts val="0"/>
              </a:spcBef>
            </a:pPr>
            <a:r>
              <a:rPr lang="en-US" sz="2400" b="1" i="1"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How </a:t>
            </a:r>
            <a:r>
              <a:rPr lang="en-US" sz="2400" b="1" i="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much you expect to receive after 5 years if you earn 10</a:t>
            </a:r>
            <a:r>
              <a:rPr lang="en-US" sz="2400" b="1" i="1"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interest compounded annually?</a:t>
            </a:r>
            <a:endParaRPr lang="en-US" sz="2400" b="1" i="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marL="0" indent="0">
              <a:buNone/>
            </a:pPr>
            <a:r>
              <a:rPr lang="en-US" sz="2800" b="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a:t>
            </a:r>
            <a:r>
              <a:rPr lang="en-US" sz="2800" b="1"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a:t>
            </a:r>
            <a:r>
              <a:rPr lang="en-US" sz="1200" b="1"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a:t>
            </a:r>
            <a:r>
              <a:rPr lang="en-US" sz="26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TK10,000 (</a:t>
            </a:r>
            <a:r>
              <a:rPr lang="en-US" sz="26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1</a:t>
            </a:r>
            <a:r>
              <a:rPr lang="en-US" sz="26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.10)</a:t>
            </a:r>
            <a:r>
              <a:rPr lang="en-US" sz="2600" baseline="300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5</a:t>
            </a:r>
            <a:r>
              <a:rPr lang="en-US" sz="2600" dirty="0" smtClean="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rPr>
              <a:t> = TK16,105.10</a:t>
            </a:r>
            <a:endParaRPr lang="en-US" sz="2600" dirty="0">
              <a:solidFill>
                <a:schemeClr val="tx1">
                  <a:lumMod val="85000"/>
                  <a:lumOff val="15000"/>
                </a:schemeClr>
              </a:solidFill>
              <a:latin typeface="Cambria" panose="02040503050406030204" pitchFamily="18" charset="0"/>
              <a:ea typeface="Cambria" panose="02040503050406030204" pitchFamily="18" charset="0"/>
              <a:cs typeface="Times New Roman" panose="02020603050405020304" pitchFamily="18" charset="0"/>
            </a:endParaRPr>
          </a:p>
          <a:p>
            <a:pPr eaLnBrk="1" hangingPunct="1"/>
            <a:endParaRPr lang="en-US" dirty="0"/>
          </a:p>
        </p:txBody>
      </p:sp>
      <p:sp>
        <p:nvSpPr>
          <p:cNvPr id="7"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CF1985C0-D56F-477E-A5B7-B5A717BFBE01}" type="slidenum">
              <a:rPr lang="en-US"/>
              <a:pPr>
                <a:defRPr/>
              </a:pPr>
              <a:t>47</a:t>
            </a:fld>
            <a:endParaRPr lang="en-US" dirty="0"/>
          </a:p>
        </p:txBody>
      </p:sp>
      <p:sp>
        <p:nvSpPr>
          <p:cNvPr id="4099"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dirty="0"/>
          </a:p>
        </p:txBody>
      </p:sp>
      <p:sp>
        <p:nvSpPr>
          <p:cNvPr id="4100"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dirty="0"/>
          </a:p>
        </p:txBody>
      </p:sp>
    </p:spTree>
    <p:extLst>
      <p:ext uri="{BB962C8B-B14F-4D97-AF65-F5344CB8AC3E}">
        <p14:creationId xmlns:p14="http://schemas.microsoft.com/office/powerpoint/2010/main" val="3575911202"/>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4128</TotalTime>
  <Pages>24</Pages>
  <Words>3256</Words>
  <Application>Microsoft Office PowerPoint</Application>
  <PresentationFormat>On-screen Show (4:3)</PresentationFormat>
  <Paragraphs>617</Paragraphs>
  <Slides>47</Slides>
  <Notes>5</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8" baseType="lpstr">
      <vt:lpstr>Algerian</vt:lpstr>
      <vt:lpstr>Arial</vt:lpstr>
      <vt:lpstr>Calibri</vt:lpstr>
      <vt:lpstr>Cambria</vt:lpstr>
      <vt:lpstr>Symbol</vt:lpstr>
      <vt:lpstr>Times New Roman</vt:lpstr>
      <vt:lpstr>Trebuchet MS</vt:lpstr>
      <vt:lpstr>Wingdings</vt:lpstr>
      <vt:lpstr>Wingdings 3</vt:lpstr>
      <vt:lpstr>Facet</vt:lpstr>
      <vt:lpstr>Equation</vt:lpstr>
      <vt:lpstr> BBA Program  BUS102  Fall 2023</vt:lpstr>
      <vt:lpstr>A few Simple Questions</vt:lpstr>
      <vt:lpstr>A few Simple Problems and Questions</vt:lpstr>
      <vt:lpstr>A few Simple Problems and Questions</vt:lpstr>
      <vt:lpstr>Major Topics of Discussion</vt:lpstr>
      <vt:lpstr>PowerPoint Presentation</vt:lpstr>
      <vt:lpstr>PowerPoint Presentation</vt:lpstr>
      <vt:lpstr>What is Finance? Who Cares?!</vt:lpstr>
      <vt:lpstr>Finance: Fundamentals</vt:lpstr>
      <vt:lpstr>Major Fields of Finance</vt:lpstr>
      <vt:lpstr>Interrelationships of Finance with other Fields of  Business Administration</vt:lpstr>
      <vt:lpstr>Career Opportunities in Finance</vt:lpstr>
      <vt:lpstr>Career Opportunities in Finance</vt:lpstr>
      <vt:lpstr>Career Opportunities for BBA Finance Majors in Bangladesh</vt:lpstr>
      <vt:lpstr>Career Opportunities for BBA Finance Majors in Bangladesh</vt:lpstr>
      <vt:lpstr>Essential Knowledge, Skills and Abilities for Success in Finance</vt:lpstr>
      <vt:lpstr>An Overview of Financial Environment/System</vt:lpstr>
      <vt:lpstr>Transfer of Capital from Savers to Borrowers</vt:lpstr>
      <vt:lpstr>Transfer of Capital from Savers to Borrowers </vt:lpstr>
      <vt:lpstr>What are Some Financial Institutions?</vt:lpstr>
      <vt:lpstr>Financial Securities</vt:lpstr>
      <vt:lpstr>Financial Securities</vt:lpstr>
      <vt:lpstr>Financial Markets</vt:lpstr>
      <vt:lpstr>Cost of Money / Fund / Capital</vt:lpstr>
      <vt:lpstr>Loanable Funds Theory of Equilibrium Interest Rate  Aggregate Demand: DA = Dh + Db + Dg + Df Aggregate Supply: SA = Sh + Sb + Sg + Sf In equilibrium, DA = SA  </vt:lpstr>
      <vt:lpstr>Fundamental Factors Affecting the Cost of Money</vt:lpstr>
      <vt:lpstr>Economic Conditions and Policies Affecting the Cost of Money</vt:lpstr>
      <vt:lpstr>International Conditions Affecting the Cost of Money</vt:lpstr>
      <vt:lpstr>Financial Management</vt:lpstr>
      <vt:lpstr>The Value Maximization Objective</vt:lpstr>
      <vt:lpstr>Management’s Primary Objective</vt:lpstr>
      <vt:lpstr>What Determines a Firm’s Fundamental, or Intrinsic, Value?</vt:lpstr>
      <vt:lpstr>Managerial Actions to Maximize Firm/shareholder Value</vt:lpstr>
      <vt:lpstr>Free Cash Flows (FCF)</vt:lpstr>
      <vt:lpstr>What is the Weighted Average Cost of Capital (WACC)?  </vt:lpstr>
      <vt:lpstr>Management’s Primary Objective &amp; Corporate Social Responsibility (CSR)</vt:lpstr>
      <vt:lpstr>Agency Conflict: Between Managers and Stockholders</vt:lpstr>
      <vt:lpstr>Conflicts Between Stockholders and Bondholders</vt:lpstr>
      <vt:lpstr>Conflict of Interests and  Corporate Governance</vt:lpstr>
      <vt:lpstr>Balance Sheet Model of the Firm and Financial Decisions</vt:lpstr>
      <vt:lpstr>Short-Term Asset Management</vt:lpstr>
      <vt:lpstr>The Capital Budgeting Decision</vt:lpstr>
      <vt:lpstr>The Capital Structure Decision</vt:lpstr>
      <vt:lpstr>Ethical Issues for Finance Professionals  </vt:lpstr>
      <vt:lpstr>Ethical Issues for Finance Professionals  </vt:lpstr>
      <vt:lpstr>PowerPoint Presentation</vt:lpstr>
      <vt:lpstr>A few Simple Problems and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Fin and Fin Mkts</dc:title>
  <dc:subject>Powerpoint show</dc:subject>
  <dc:creator>Mike Ehrhardt;arif</dc:creator>
  <cp:lastModifiedBy>Mohammad Mujibul Haque</cp:lastModifiedBy>
  <cp:revision>404</cp:revision>
  <cp:lastPrinted>2022-12-08T04:14:35Z</cp:lastPrinted>
  <dcterms:created xsi:type="dcterms:W3CDTF">1997-09-17T11:48:54Z</dcterms:created>
  <dcterms:modified xsi:type="dcterms:W3CDTF">2023-12-11T14:16:07Z</dcterms:modified>
</cp:coreProperties>
</file>